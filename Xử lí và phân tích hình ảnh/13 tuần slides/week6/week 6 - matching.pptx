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7" r:id="rId2"/>
    <p:sldId id="523" r:id="rId3"/>
    <p:sldId id="524" r:id="rId4"/>
    <p:sldId id="525" r:id="rId5"/>
    <p:sldId id="476" r:id="rId6"/>
    <p:sldId id="450" r:id="rId7"/>
    <p:sldId id="452" r:id="rId8"/>
    <p:sldId id="453" r:id="rId9"/>
    <p:sldId id="454" r:id="rId10"/>
    <p:sldId id="508" r:id="rId11"/>
    <p:sldId id="507" r:id="rId12"/>
    <p:sldId id="509" r:id="rId13"/>
    <p:sldId id="510" r:id="rId14"/>
    <p:sldId id="511" r:id="rId15"/>
    <p:sldId id="465" r:id="rId16"/>
    <p:sldId id="512" r:id="rId17"/>
    <p:sldId id="514" r:id="rId18"/>
    <p:sldId id="515" r:id="rId19"/>
    <p:sldId id="516" r:id="rId20"/>
    <p:sldId id="470" r:id="rId21"/>
    <p:sldId id="518" r:id="rId22"/>
    <p:sldId id="519" r:id="rId23"/>
    <p:sldId id="520" r:id="rId24"/>
    <p:sldId id="521" r:id="rId25"/>
    <p:sldId id="530" r:id="rId26"/>
    <p:sldId id="531" r:id="rId27"/>
    <p:sldId id="532" r:id="rId28"/>
    <p:sldId id="533" r:id="rId29"/>
    <p:sldId id="526" r:id="rId30"/>
    <p:sldId id="528" r:id="rId31"/>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D51AD0-6BAD-124F-9498-34CB19EC708D}" v="8" dt="2024-10-04T22:54:07.2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75"/>
    <p:restoredTop sz="96327"/>
  </p:normalViewPr>
  <p:slideViewPr>
    <p:cSldViewPr snapToGrid="0" snapToObjects="1">
      <p:cViewPr varScale="1">
        <p:scale>
          <a:sx n="128" d="100"/>
          <a:sy n="128" d="100"/>
        </p:scale>
        <p:origin x="6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 Tran" userId="e540d250-70c7-4be3-b4a2-b5ecbc3dd049" providerId="ADAL" clId="{E0D51AD0-6BAD-124F-9498-34CB19EC708D}"/>
    <pc:docChg chg="modSld">
      <pc:chgData name="Long Tran" userId="e540d250-70c7-4be3-b4a2-b5ecbc3dd049" providerId="ADAL" clId="{E0D51AD0-6BAD-124F-9498-34CB19EC708D}" dt="2024-10-04T22:54:07.296" v="7" actId="20577"/>
      <pc:docMkLst>
        <pc:docMk/>
      </pc:docMkLst>
      <pc:sldChg chg="modSp">
        <pc:chgData name="Long Tran" userId="e540d250-70c7-4be3-b4a2-b5ecbc3dd049" providerId="ADAL" clId="{E0D51AD0-6BAD-124F-9498-34CB19EC708D}" dt="2024-10-04T22:54:07.296" v="7" actId="20577"/>
        <pc:sldMkLst>
          <pc:docMk/>
          <pc:sldMk cId="4090813498" sldId="518"/>
        </pc:sldMkLst>
        <pc:spChg chg="mod">
          <ac:chgData name="Long Tran" userId="e540d250-70c7-4be3-b4a2-b5ecbc3dd049" providerId="ADAL" clId="{E0D51AD0-6BAD-124F-9498-34CB19EC708D}" dt="2024-10-04T22:54:07.296" v="7" actId="20577"/>
          <ac:spMkLst>
            <pc:docMk/>
            <pc:sldMk cId="4090813498" sldId="518"/>
            <ac:spMk id="3" creationId="{60A65753-11A6-294D-804D-8B473608B6F6}"/>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3:55:59.967"/>
    </inkml:context>
    <inkml:brush xml:id="br0">
      <inkml:brushProperty name="width" value="0.05" units="cm"/>
      <inkml:brushProperty name="height" value="0.05" units="cm"/>
      <inkml:brushProperty name="color" value="#66CC00"/>
    </inkml:brush>
  </inkml:definitions>
  <inkml:trace contextRef="#ctx0" brushRef="#br0">9 10 24575,'2'4'0,"-3"-1"0,-2-10 0,1 5 0,-2-5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00:12.075"/>
    </inkml:context>
    <inkml:brush xml:id="br0">
      <inkml:brushProperty name="width" value="0.05" units="cm"/>
      <inkml:brushProperty name="height" value="0.05" units="cm"/>
      <inkml:brushProperty name="color" value="#FFC114"/>
    </inkml:brush>
  </inkml:definitions>
  <inkml:trace contextRef="#ctx0" brushRef="#br0">552 79 24575,'-11'-4'0,"-3"-1"0,-6 0 0,-7 1 0,0 1 0,0 2 0,-42 3 0,34 4 0,-43 4 0,55 1 0,-8 3 0,12 3 0,0 1 0,4 16 0,7-8 0,12 21 0,5-15 0,36 18 0,9 0-6784,-12-10 6784,14 4 0,0-6 0,-22-24-311,22-5 1,7-3 310,20-2 0,9-9 0,-1-6 0,-16-4 0,-21-2 0,-7-3 0,-20 0 0,6-24 0,-23 22 0,1-42 6476,-14 35-6476,-13-53 929,5 51-929,-13-24 0,9 38 0,-7-3 0,-2 4 0,5 5 0,-5 4 0,9 0 0,-24-2 0,-34 1 0,-5 1 0,-4-1-699,-16 5 0,4 3 699,38 4 0,-30 4 0,42-2 0,-13 3 0,1 0 0,18 0 0,-48 10 0,81-16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04:57.836"/>
    </inkml:context>
    <inkml:brush xml:id="br0">
      <inkml:brushProperty name="width" value="0.05" units="cm"/>
      <inkml:brushProperty name="height" value="0.05" units="cm"/>
      <inkml:brushProperty name="color" value="#FF0066"/>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04:12.322"/>
    </inkml:context>
    <inkml:brush xml:id="br0">
      <inkml:brushProperty name="width" value="0.05" units="cm"/>
      <inkml:brushProperty name="height" value="0.05" units="cm"/>
      <inkml:brushProperty name="color" value="#FFC114"/>
    </inkml:brush>
  </inkml:definitions>
  <inkml:trace contextRef="#ctx0" brushRef="#br0">1153 35 19888,'-22'-7'0,"6"1"2191,-2 0-2191,4 1 0,-1 1 0,4 0 796,-3 4-796,7-2 411,-11 2-411,6 0 1289,-8 0-1289,5 0 0,-14 0 0,15 0 0,-16 0 0,-29 3 0,12-3 0,-22 3 0,-9 3 0,-2 5 0,-3 2 0,-15 2-259,17-3 1,8 2 258,36 3 0,8-5 0,-31 25 0,37-18 0,-25 30 0,38-28 0,-6 25 517,14-21-517,-3 51 0,7-43 0,3 45 0,0-55 0,6 17 0,-4-24 0,9 18 0,-6-17 0,14 26 0,-13-22 0,10 20 0,-11-27 0,7 19 0,20 9 0,13 7 0,13 4 0,-15-19 0,4-8 0,-1-4 0,-9-6 0,7 6 0,-1-2 0,-12-14-6784,1 2 6784,1-2 0,5-3 0,9 0 0,2-1 0,3-1 0,32-2 0,-2-1 0,-32-2 0,10-1 0,-2-2 0,-22-1 0,41-13 0,-42 5 6784,27-11-6784,-39 13 0,15-13 0,-26 17 0,11-18 0,-19 20 0,5-12 0,-9 11 0,4-5 0,-6 5 0,8-14 0,-5 11 0,5-15 0,-6 18 0,3-11 0,-4 8 0,1-7 0,-1 8 0,2-26 0,-3 18 0,2-15 0,-5 19 0,0 6 0,2-4 0,-1 4 0,1-9 0,-2-15 0,0 11 0,0-31 0,0 38 0,-4-30 0,3 28 0,-5-9 0,2 15 0,-6-14 0,-2 5 0,-7-17 0,5 12 0,2 5 0,-6-4 0,2 9 0,-5-5 0,-2 5 0,13 10 0,-19-12 0,14 11 0,-29-11 0,26 11 0,-32-4 0,3 1-6784,8 1 6784,-4-1-3943,30 7 3943,-1-2-2071,-11 1 2071,11 0 0,-16-1 0,20 2 3805,-6-1-3805,10 1 0,2 2 0,2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52:02.880"/>
    </inkml:context>
    <inkml:brush xml:id="br0">
      <inkml:brushProperty name="width" value="0.05" units="cm"/>
      <inkml:brushProperty name="height" value="0.05" units="cm"/>
      <inkml:brushProperty name="color" value="#66CC00"/>
    </inkml:brush>
  </inkml:definitions>
  <inkml:trace contextRef="#ctx0" brushRef="#br0">1 30 11102,'55'-3'0,"-6"-2"4973,-36 4-4973,8-3 0,-8 1 0,0 1 2344,0-3-2344,-2 3 1339,-2 0-1339,0 0 0,-4 2 4817,-1 0-4817,0 0 0,0 0 0,0 0 0,0 0 0,0 0 0,0 0 0,0 0 0,0 0 0,-2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2T03:10:39.897"/>
    </inkml:context>
    <inkml:brush xml:id="br0">
      <inkml:brushProperty name="width" value="0.05" units="cm"/>
      <inkml:brushProperty name="height" value="0.05" units="cm"/>
      <inkml:brushProperty name="color" value="#66CC00"/>
    </inkml:brush>
  </inkml:definitions>
  <inkml:trace contextRef="#ctx0" brushRef="#br0">1 1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2.949"/>
    </inkml:context>
    <inkml:brush xml:id="br0">
      <inkml:brushProperty name="width" value="0.05" units="cm"/>
      <inkml:brushProperty name="height" value="0.05" units="cm"/>
      <inkml:brushProperty name="color" value="#FF0066"/>
    </inkml:brush>
  </inkml:definitions>
  <inkml:trace contextRef="#ctx0" brushRef="#br0">0 0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3.429"/>
    </inkml:context>
    <inkml:brush xml:id="br0">
      <inkml:brushProperty name="width" value="0.05" units="cm"/>
      <inkml:brushProperty name="height" value="0.05" units="cm"/>
      <inkml:brushProperty name="color" value="#FF0066"/>
    </inkml:brush>
  </inkml:definitions>
  <inkml:trace contextRef="#ctx0" brushRef="#br0">0 0 24575,'5'0'0,"-1"0"0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3.819"/>
    </inkml:context>
    <inkml:brush xml:id="br0">
      <inkml:brushProperty name="width" value="0.05" units="cm"/>
      <inkml:brushProperty name="height" value="0.05" units="cm"/>
      <inkml:brushProperty name="color" value="#FF0066"/>
    </inkml:brush>
  </inkml:definitions>
  <inkml:trace contextRef="#ctx0" brushRef="#br0">1 1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4.847"/>
    </inkml:context>
    <inkml:brush xml:id="br0">
      <inkml:brushProperty name="width" value="0.05" units="cm"/>
      <inkml:brushProperty name="height" value="0.05" units="cm"/>
      <inkml:brushProperty name="color" value="#FF0066"/>
    </inkml:brush>
  </inkml:definitions>
  <inkml:trace contextRef="#ctx0" brushRef="#br0">1 1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5.237"/>
    </inkml:context>
    <inkml:brush xml:id="br0">
      <inkml:brushProperty name="width" value="0.05" units="cm"/>
      <inkml:brushProperty name="height" value="0.05" units="cm"/>
      <inkml:brushProperty name="color" value="#FF0066"/>
    </inkml:brush>
  </inkml:definitions>
  <inkml:trace contextRef="#ctx0" brushRef="#br0">1 0 24575,'0'0'0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5.739"/>
    </inkml:context>
    <inkml:brush xml:id="br0">
      <inkml:brushProperty name="width" value="0.05" units="cm"/>
      <inkml:brushProperty name="height" value="0.05" units="cm"/>
      <inkml:brushProperty name="color" value="#FF0066"/>
    </inkml:brush>
  </inkml:definitions>
  <inkml:trace contextRef="#ctx0" brushRef="#br0">1 1 24575,'0'0'0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6.099"/>
    </inkml:context>
    <inkml:brush xml:id="br0">
      <inkml:brushProperty name="width" value="0.05" units="cm"/>
      <inkml:brushProperty name="height" value="0.05" units="cm"/>
      <inkml:brushProperty name="color" value="#FF0066"/>
    </inkml:brush>
  </inkml:definitions>
  <inkml:trace contextRef="#ctx0" brushRef="#br0">0 1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6.834"/>
    </inkml:context>
    <inkml:brush xml:id="br0">
      <inkml:brushProperty name="width" value="0.05" units="cm"/>
      <inkml:brushProperty name="height" value="0.05" units="cm"/>
      <inkml:brushProperty name="color" value="#FF0066"/>
    </inkml:brush>
  </inkml:definitions>
  <inkml:trace contextRef="#ctx0" brushRef="#br0">0 1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7.309"/>
    </inkml:context>
    <inkml:brush xml:id="br0">
      <inkml:brushProperty name="width" value="0.05" units="cm"/>
      <inkml:brushProperty name="height" value="0.05" units="cm"/>
      <inkml:brushProperty name="color" value="#FF0066"/>
    </inkml:brush>
  </inkml:definitions>
  <inkml:trace contextRef="#ctx0" brushRef="#br0">0 1 24575,'0'0'0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7.712"/>
    </inkml:context>
    <inkml:brush xml:id="br0">
      <inkml:brushProperty name="width" value="0.05" units="cm"/>
      <inkml:brushProperty name="height" value="0.05" units="cm"/>
      <inkml:brushProperty name="color" value="#FF0066"/>
    </inkml:brush>
  </inkml:definitions>
  <inkml:trace contextRef="#ctx0" brushRef="#br0">27 1 24575,'-11'2'0,"2"0"0,5-2 0,2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8.049"/>
    </inkml:context>
    <inkml:brush xml:id="br0">
      <inkml:brushProperty name="width" value="0.05" units="cm"/>
      <inkml:brushProperty name="height" value="0.05" units="cm"/>
      <inkml:brushProperty name="color" value="#FF0066"/>
    </inkml:brush>
  </inkml:definitions>
  <inkml:trace contextRef="#ctx0" brushRef="#br0">0 0 24575,'0'0'0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6:38.424"/>
    </inkml:context>
    <inkml:brush xml:id="br0">
      <inkml:brushProperty name="width" value="0.05" units="cm"/>
      <inkml:brushProperty name="height" value="0.05" units="cm"/>
      <inkml:brushProperty name="color" value="#FF0066"/>
    </inkml:brush>
  </inkml:definitions>
  <inkml:trace contextRef="#ctx0" brushRef="#br0">34 0 24575,'-7'0'0,"1"0"0,2 0 0,-1 0 0,1 0 0,0 0 0,2 0 0,0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5:48.991"/>
    </inkml:context>
    <inkml:brush xml:id="br0">
      <inkml:brushProperty name="width" value="0.05" units="cm"/>
      <inkml:brushProperty name="height" value="0.05" units="cm"/>
      <inkml:brushProperty name="color" value="#CC0066"/>
    </inkml:brush>
  </inkml:definitions>
  <inkml:trace contextRef="#ctx0" brushRef="#br0">28 1 24575,'2'7'0,"0"-1"0,0 1 0,2 7 0,-2-4 0,3 6 0,-4-7 0,2 4 0,0-2 0,-1 9 0,0-9 0,0 10 0,-2-12 0,1 9 0,-1-10 0,1 9 0,0-5 0,0 8 0,-1-9 0,1 4 0,-1-10 0,1 8 0,-1-6 0,1 3 0,1 3 0,-1-3 0,1 2 0,-1 5 0,1-10 0,0 6 0,-1-9 0,0 0 0,0-2 0,-1 0 0,1 1 0,-1-1 0,2 0 0,-2 0 0,2-1 0,-2 2 0,1-2 0,0 2 0,0-2 0,2-1 0,-1 0 0,2 0 0,0 0 0,26 1 0,-17 0 0,28 1 0,-29-1 0,11 0 0,-13-1 0,18 5 0,-17-3 0,18 3 0,-21-2 0,3 0 0,-6-1 0,5 1 0,-4 0 0,8 1 0,-8-1 0,8 1 0,-8-3 0,11 2 0,-10-3 0,8 1 0,-8-1 0,2-2 0,-5 2 0,-1-6 0,-2 4 0,-1-6 0,-1 2 0,-2-5 0,1 3 0,-5-13 0,3 8 0,-3-16 0,5 12-6784,-2-2 6784,2 6 0,-2-4 0,3 6 0,-4-11 0,3 13 0,-1-3 0,1 1 0,-1-9 6784,0 4-6784,-3-9 0,3 13 0,-3-5 0,3 10 0,1-2 0,0 8 0,2-2 0,-1 2 0,1-1 0,0-1 0,0 1 0,0-3 0,0 2 0,-1-2 0,-1 2 0,0 0 0,-2 0 0,-6-4 0,0 2 0,-13-4 0,9 5 0,-7 0 0,9 5 0,-23 2 0,19 0 0,-34 6 0,33-6 0,-21 5 0,23-6 0,-6 1 0,11-3 0,-5 2 0,5-2 0,-5 0 0,6 0 0,2-1 0,4 0 0,2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5T04:45:58.079"/>
    </inkml:context>
    <inkml:brush xml:id="br0">
      <inkml:brushProperty name="width" value="0.05" units="cm"/>
      <inkml:brushProperty name="height" value="0.05" units="cm"/>
      <inkml:brushProperty name="color" value="#CC0066"/>
    </inkml:brush>
  </inkml:definitions>
  <inkml:trace contextRef="#ctx0" brushRef="#br0">97 0 24575,'3'7'0,"-1"-1"0,2 1 0,-2 0 0,7 8 0,-5-5 0,7 14 0,-6-12 0,8 18 0,-6-14 0,9 23 0,-8-22 0,10 25 0,-8-22 0,12 25 0,-11-25 0,5 14 0,-10-22 0,-1 6 0,-2-11 0,0 2 0,-1-4 0,1 4 0,-1-5 0,2 4 0,-4-6 0,2-1 0,-1 0 0,2-1 0,3-1 0,-1-1 0,4-2 0,-4 1 0,8-5 0,-7 5 0,10-3 0,-10 4 0,6 0 0,-6 2 0,8 1 0,-3-1 0,11 3 0,-8-2 0,12 2 0,-8 0 0,9-1 0,-2 0 0,2-1 0,-5 0 0,1-1 0,-9-1 0,-1-1 0,-5-1 0,-1 1 0,-4 0 0,0 0 0,-1 1 0,-1-3 0,0 3 0,0-8 0,-1 6 0,1-15 0,-1 11 0,-1-13 0,1 11 0,-5-17 0,0 10 0,-9-20 0,4 19 0,-13-19 0,13 21 0,-11-11 0,15 18 0,-3-1 0,6 7 0,0 0 0,1 0 0,1 1 0,1-2 0,0 1 0,0 0 0,0 0 0,0 0 0,0 0 0,-2 0 0,0 1 0,-6 3 0,-1-2 0,-6 2 0,-13-1 0,4 0 0,-28-1 0,25 0 0,-31-2 0,29 1 0,-70-5 0,57 3 0,-51 0 0,73 4 0,-6 0 0,21 0 0,-1 1 0,7-1 0,3 1 0,1-2 0,0 1 0,0-1 0,1 0 0,-3 0 0,0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2T03:16:35.681"/>
    </inkml:context>
    <inkml:brush xml:id="br0">
      <inkml:brushProperty name="width" value="0.05" units="cm"/>
      <inkml:brushProperty name="height" value="0.05" units="cm"/>
      <inkml:brushProperty name="color" value="#66CC00"/>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E9EEAF-2C78-0B40-B874-C50D70600A05}" type="datetimeFigureOut">
              <a:rPr lang="en-VN" smtClean="0"/>
              <a:t>5/10/24</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C69939-C8C2-384B-9E53-2227B1D0B49E}" type="slidenum">
              <a:rPr lang="en-VN" smtClean="0"/>
              <a:t>‹#›</a:t>
            </a:fld>
            <a:endParaRPr lang="en-VN"/>
          </a:p>
        </p:txBody>
      </p:sp>
    </p:spTree>
    <p:extLst>
      <p:ext uri="{BB962C8B-B14F-4D97-AF65-F5344CB8AC3E}">
        <p14:creationId xmlns:p14="http://schemas.microsoft.com/office/powerpoint/2010/main" val="1872127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13h00’  13h50’ 10’</a:t>
            </a:r>
          </a:p>
          <a:p>
            <a:r>
              <a:rPr lang="en-US" dirty="0"/>
              <a:t>8 14h00’  14h50’ 10’</a:t>
            </a:r>
          </a:p>
          <a:p>
            <a:r>
              <a:rPr lang="en-US" dirty="0"/>
              <a:t>9 15h00’  15h50’</a:t>
            </a:r>
          </a:p>
        </p:txBody>
      </p:sp>
      <p:sp>
        <p:nvSpPr>
          <p:cNvPr id="4" name="Slide Number Placeholder 3"/>
          <p:cNvSpPr>
            <a:spLocks noGrp="1"/>
          </p:cNvSpPr>
          <p:nvPr>
            <p:ph type="sldNum" sz="quarter" idx="10"/>
          </p:nvPr>
        </p:nvSpPr>
        <p:spPr/>
        <p:txBody>
          <a:bodyPr/>
          <a:lstStyle/>
          <a:p>
            <a:fld id="{6145C7AD-45A0-CE4A-A5EF-5B59D7E64D33}" type="slidenum">
              <a:rPr lang="en-US" smtClean="0"/>
              <a:t>1</a:t>
            </a:fld>
            <a:endParaRPr lang="en-US"/>
          </a:p>
        </p:txBody>
      </p:sp>
    </p:spTree>
    <p:extLst>
      <p:ext uri="{BB962C8B-B14F-4D97-AF65-F5344CB8AC3E}">
        <p14:creationId xmlns:p14="http://schemas.microsoft.com/office/powerpoint/2010/main" val="966865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EF1FD-E1A5-1E47-9FAE-AD3EA5203C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C96BEB26-9D4C-9745-8A20-5159870C98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194B6B9F-6BDD-0941-87A2-CE270609ACED}"/>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5" name="Footer Placeholder 4">
            <a:extLst>
              <a:ext uri="{FF2B5EF4-FFF2-40B4-BE49-F238E27FC236}">
                <a16:creationId xmlns:a16="http://schemas.microsoft.com/office/drawing/2014/main" id="{FC62DAE4-479F-424A-9372-DBF98E511F5B}"/>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84CF26CE-25B1-0B45-B7C7-D67080F7B9BF}"/>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3973667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78533-AA90-0D4D-A1DA-C6AAFFDD5052}"/>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97379474-4A44-1F4C-A0EA-DDE1D5FA4F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F71BDAE-29A6-9742-97A2-EB2E98854E0C}"/>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5" name="Footer Placeholder 4">
            <a:extLst>
              <a:ext uri="{FF2B5EF4-FFF2-40B4-BE49-F238E27FC236}">
                <a16:creationId xmlns:a16="http://schemas.microsoft.com/office/drawing/2014/main" id="{F46B4A89-126E-C448-871C-19AC69FC6502}"/>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55171F1D-4D52-AE47-988E-A730172F971D}"/>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2726902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BA98-8E4D-394D-B84B-DAC85AB13A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7B493B34-53DE-3D4F-AA0A-9CE7B439F2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7F3C2E-C306-8444-B950-AE869C71411C}"/>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5" name="Footer Placeholder 4">
            <a:extLst>
              <a:ext uri="{FF2B5EF4-FFF2-40B4-BE49-F238E27FC236}">
                <a16:creationId xmlns:a16="http://schemas.microsoft.com/office/drawing/2014/main" id="{220B4260-174B-1741-A313-9092D5A5ED4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FBE7DA1-CC8F-814C-8E1F-D642BB93C4D2}"/>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798794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AD6DC-67ED-E244-96F3-4D310E45D65B}"/>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CB711DF1-A75F-BB44-AC12-AE5D3BFCC0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C6617539-80D6-BC46-B66B-F999FD2989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FD2BEB2D-2E42-5E46-94B8-6A746657FECA}"/>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6" name="Footer Placeholder 5">
            <a:extLst>
              <a:ext uri="{FF2B5EF4-FFF2-40B4-BE49-F238E27FC236}">
                <a16:creationId xmlns:a16="http://schemas.microsoft.com/office/drawing/2014/main" id="{BA0F400E-D03C-F241-BD11-0C90F423ABF1}"/>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001BB5B9-C812-F148-9DD1-F340BF82E3FE}"/>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1355629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C306E-F815-B443-B88E-DC758C4F00D7}"/>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D1D91DA8-CBBD-2D46-B398-71049DD6A3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D8E4FE-E96A-F740-8D54-75829EC517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99D80A24-B271-6B41-AF60-EC2151032B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CFF4E4-8301-8341-95D6-35067E5945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6A28EDCD-F6E8-CE49-AAF3-CC410771061D}"/>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8" name="Footer Placeholder 7">
            <a:extLst>
              <a:ext uri="{FF2B5EF4-FFF2-40B4-BE49-F238E27FC236}">
                <a16:creationId xmlns:a16="http://schemas.microsoft.com/office/drawing/2014/main" id="{00E45C58-CA7B-054E-A4A3-BDD2E4343A2F}"/>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ACEEF159-E9A8-CF4D-A9DC-466696481B2F}"/>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3033703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94F16-5FD9-4A4C-8DA2-97B8A3E92B37}"/>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480E7A8E-8840-EE4C-B503-1837858ACA78}"/>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4" name="Footer Placeholder 3">
            <a:extLst>
              <a:ext uri="{FF2B5EF4-FFF2-40B4-BE49-F238E27FC236}">
                <a16:creationId xmlns:a16="http://schemas.microsoft.com/office/drawing/2014/main" id="{63D5F6C4-AC25-4D43-9D79-D91B49A2A1D7}"/>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331A5FDE-F1DD-CA4E-9C87-3BFFD17E6708}"/>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4072746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64BD76-022A-304E-9239-6A021058B9E4}"/>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3" name="Footer Placeholder 2">
            <a:extLst>
              <a:ext uri="{FF2B5EF4-FFF2-40B4-BE49-F238E27FC236}">
                <a16:creationId xmlns:a16="http://schemas.microsoft.com/office/drawing/2014/main" id="{D1924776-2369-BE4E-B67B-C6666EF22D9F}"/>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400095E1-4F91-5943-8480-18265CF8CF05}"/>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2473612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61375-8F01-E74E-82A6-D889971DB4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E14BF2F7-0138-7045-BF0D-A74B30FE49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7B5C715C-3AD9-1441-A85C-3DB44EEAF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0BD8B-B983-294E-BDCD-0EAC2E1AFE82}"/>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6" name="Footer Placeholder 5">
            <a:extLst>
              <a:ext uri="{FF2B5EF4-FFF2-40B4-BE49-F238E27FC236}">
                <a16:creationId xmlns:a16="http://schemas.microsoft.com/office/drawing/2014/main" id="{A44C8306-53FC-6B47-B5A5-D62916E56721}"/>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B023361D-4505-7047-853D-E644190BB92C}"/>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866970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12BC3-338B-4047-952E-1919E3EBAF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4210356E-996E-D243-BAB7-7878F8F526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44752E3A-9138-6E41-B94A-3300EB72F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9D6895-E5A7-3B49-B414-F6D09E667E50}"/>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6" name="Footer Placeholder 5">
            <a:extLst>
              <a:ext uri="{FF2B5EF4-FFF2-40B4-BE49-F238E27FC236}">
                <a16:creationId xmlns:a16="http://schemas.microsoft.com/office/drawing/2014/main" id="{C4F9D344-59D8-4144-9F47-C86C49402C8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F675D904-74DD-FD4E-AF66-D1BA3B054B08}"/>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2588285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144C-489A-F94A-9438-0DF540897B26}"/>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047B1EB0-78C1-F049-ACF1-6558F7721D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A06F69FE-40B7-BA43-BA42-DA1EC2D729C5}"/>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5" name="Footer Placeholder 4">
            <a:extLst>
              <a:ext uri="{FF2B5EF4-FFF2-40B4-BE49-F238E27FC236}">
                <a16:creationId xmlns:a16="http://schemas.microsoft.com/office/drawing/2014/main" id="{D2BBB5B3-D5A9-4542-A6C2-075ABB8D62E7}"/>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D9989110-BE24-2B4A-92C7-2E3BBDF7C561}"/>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938729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920A29-0825-494F-A2C7-FAD58C2D37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88F28299-A98C-674C-AF89-BAC5F739C1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60803E2D-B52D-FE42-8043-21152499DBC4}"/>
              </a:ext>
            </a:extLst>
          </p:cNvPr>
          <p:cNvSpPr>
            <a:spLocks noGrp="1"/>
          </p:cNvSpPr>
          <p:nvPr>
            <p:ph type="dt" sz="half" idx="10"/>
          </p:nvPr>
        </p:nvSpPr>
        <p:spPr/>
        <p:txBody>
          <a:bodyPr/>
          <a:lstStyle/>
          <a:p>
            <a:fld id="{DBFB6E48-2FDA-6149-8CDA-4F06B36FD8AB}" type="datetimeFigureOut">
              <a:rPr lang="en-VN" smtClean="0"/>
              <a:t>5/10/24</a:t>
            </a:fld>
            <a:endParaRPr lang="en-VN"/>
          </a:p>
        </p:txBody>
      </p:sp>
      <p:sp>
        <p:nvSpPr>
          <p:cNvPr id="5" name="Footer Placeholder 4">
            <a:extLst>
              <a:ext uri="{FF2B5EF4-FFF2-40B4-BE49-F238E27FC236}">
                <a16:creationId xmlns:a16="http://schemas.microsoft.com/office/drawing/2014/main" id="{A8546F07-712C-BE4F-97CB-C22EFE194040}"/>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27D5BE6D-A3EB-844C-A61D-D674199DCA69}"/>
              </a:ext>
            </a:extLst>
          </p:cNvPr>
          <p:cNvSpPr>
            <a:spLocks noGrp="1"/>
          </p:cNvSpPr>
          <p:nvPr>
            <p:ph type="sldNum" sz="quarter" idx="12"/>
          </p:nvPr>
        </p:nvSpPr>
        <p:spPr/>
        <p:txBody>
          <a:bodyPr/>
          <a:lstStyle/>
          <a:p>
            <a:fld id="{29E9DFEB-9CED-204E-8C6C-754957583CDA}" type="slidenum">
              <a:rPr lang="en-VN" smtClean="0"/>
              <a:t>‹#›</a:t>
            </a:fld>
            <a:endParaRPr lang="en-VN"/>
          </a:p>
        </p:txBody>
      </p:sp>
    </p:spTree>
    <p:extLst>
      <p:ext uri="{BB962C8B-B14F-4D97-AF65-F5344CB8AC3E}">
        <p14:creationId xmlns:p14="http://schemas.microsoft.com/office/powerpoint/2010/main" val="181191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6F9FA2-9B20-9742-9763-87C03B0944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F4553DAF-E69F-0B4E-8A50-A99C90F0C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1951BC2-E960-6841-851F-29F526A656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FB6E48-2FDA-6149-8CDA-4F06B36FD8AB}" type="datetimeFigureOut">
              <a:rPr lang="en-VN" smtClean="0"/>
              <a:t>5/10/24</a:t>
            </a:fld>
            <a:endParaRPr lang="en-VN"/>
          </a:p>
        </p:txBody>
      </p:sp>
      <p:sp>
        <p:nvSpPr>
          <p:cNvPr id="5" name="Footer Placeholder 4">
            <a:extLst>
              <a:ext uri="{FF2B5EF4-FFF2-40B4-BE49-F238E27FC236}">
                <a16:creationId xmlns:a16="http://schemas.microsoft.com/office/drawing/2014/main" id="{3E3BD0EC-6FA9-5049-B4B7-C2D7BF0A9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a:extLst>
              <a:ext uri="{FF2B5EF4-FFF2-40B4-BE49-F238E27FC236}">
                <a16:creationId xmlns:a16="http://schemas.microsoft.com/office/drawing/2014/main" id="{F7C17035-BFEF-2844-A76C-0D283AE0D3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E9DFEB-9CED-204E-8C6C-754957583CDA}" type="slidenum">
              <a:rPr lang="en-VN" smtClean="0"/>
              <a:t>‹#›</a:t>
            </a:fld>
            <a:endParaRPr lang="en-VN"/>
          </a:p>
        </p:txBody>
      </p:sp>
    </p:spTree>
    <p:extLst>
      <p:ext uri="{BB962C8B-B14F-4D97-AF65-F5344CB8AC3E}">
        <p14:creationId xmlns:p14="http://schemas.microsoft.com/office/powerpoint/2010/main" val="3783013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gocdiep@vnu.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customXml" Target="../ink/ink6.xml"/></Relationships>
</file>

<file path=ppt/slides/_rels/slide26.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customXml" Target="../ink/ink15.xml"/><Relationship Id="rId18" Type="http://schemas.openxmlformats.org/officeDocument/2006/relationships/image" Target="../media/image26.png"/><Relationship Id="rId3" Type="http://schemas.openxmlformats.org/officeDocument/2006/relationships/customXml" Target="../ink/ink7.xml"/><Relationship Id="rId7" Type="http://schemas.openxmlformats.org/officeDocument/2006/relationships/customXml" Target="../ink/ink9.xml"/><Relationship Id="rId12" Type="http://schemas.openxmlformats.org/officeDocument/2006/relationships/customXml" Target="../ink/ink14.xml"/><Relationship Id="rId17" Type="http://schemas.openxmlformats.org/officeDocument/2006/relationships/customXml" Target="../ink/ink18.xml"/><Relationship Id="rId2" Type="http://schemas.openxmlformats.org/officeDocument/2006/relationships/image" Target="../media/image22.jpeg"/><Relationship Id="rId16" Type="http://schemas.openxmlformats.org/officeDocument/2006/relationships/customXml" Target="../ink/ink17.xml"/><Relationship Id="rId1" Type="http://schemas.openxmlformats.org/officeDocument/2006/relationships/slideLayout" Target="../slideLayouts/slideLayout6.xml"/><Relationship Id="rId6" Type="http://schemas.openxmlformats.org/officeDocument/2006/relationships/image" Target="../media/image24.png"/><Relationship Id="rId11" Type="http://schemas.openxmlformats.org/officeDocument/2006/relationships/customXml" Target="../ink/ink13.xml"/><Relationship Id="rId5" Type="http://schemas.openxmlformats.org/officeDocument/2006/relationships/customXml" Target="../ink/ink8.xml"/><Relationship Id="rId15" Type="http://schemas.openxmlformats.org/officeDocument/2006/relationships/image" Target="../media/image25.png"/><Relationship Id="rId10" Type="http://schemas.openxmlformats.org/officeDocument/2006/relationships/customXml" Target="../ink/ink12.xml"/><Relationship Id="rId4" Type="http://schemas.openxmlformats.org/officeDocument/2006/relationships/image" Target="../media/image8.png"/><Relationship Id="rId9" Type="http://schemas.openxmlformats.org/officeDocument/2006/relationships/customXml" Target="../ink/ink11.xml"/><Relationship Id="rId14" Type="http://schemas.openxmlformats.org/officeDocument/2006/relationships/customXml" Target="../ink/ink16.xml"/></Relationships>
</file>

<file path=ppt/slides/_rels/slide2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customXml" Target="../ink/ink19.xml"/><Relationship Id="rId7" Type="http://schemas.openxmlformats.org/officeDocument/2006/relationships/customXml" Target="../ink/ink21.xml"/><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customXml" Target="../ink/ink20.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6D235-B925-8D41-999C-F236334ACD00}"/>
              </a:ext>
            </a:extLst>
          </p:cNvPr>
          <p:cNvSpPr>
            <a:spLocks noGrp="1"/>
          </p:cNvSpPr>
          <p:nvPr>
            <p:ph type="ctrTitle"/>
          </p:nvPr>
        </p:nvSpPr>
        <p:spPr/>
        <p:txBody>
          <a:bodyPr>
            <a:normAutofit fontScale="90000"/>
          </a:bodyPr>
          <a:lstStyle/>
          <a:p>
            <a:r>
              <a:rPr lang="en-US" dirty="0"/>
              <a:t>Image Processing</a:t>
            </a:r>
            <a:br>
              <a:rPr lang="en-US" dirty="0"/>
            </a:br>
            <a:r>
              <a:rPr lang="en-US" dirty="0"/>
              <a:t>INT3404 20</a:t>
            </a:r>
            <a:br>
              <a:rPr lang="en-US" dirty="0"/>
            </a:br>
            <a:r>
              <a:rPr lang="en-US" dirty="0"/>
              <a:t>Week 6: Template Matching</a:t>
            </a:r>
          </a:p>
        </p:txBody>
      </p:sp>
      <p:sp>
        <p:nvSpPr>
          <p:cNvPr id="3" name="Subtitle 2">
            <a:extLst>
              <a:ext uri="{FF2B5EF4-FFF2-40B4-BE49-F238E27FC236}">
                <a16:creationId xmlns:a16="http://schemas.microsoft.com/office/drawing/2014/main" id="{2159A23F-3D8E-AC4C-89F9-7C614FCB4370}"/>
              </a:ext>
            </a:extLst>
          </p:cNvPr>
          <p:cNvSpPr>
            <a:spLocks noGrp="1"/>
          </p:cNvSpPr>
          <p:nvPr>
            <p:ph type="subTitle" idx="1"/>
          </p:nvPr>
        </p:nvSpPr>
        <p:spPr/>
        <p:txBody>
          <a:bodyPr/>
          <a:lstStyle/>
          <a:p>
            <a:r>
              <a:rPr lang="en-US" dirty="0"/>
              <a:t>Lecturer: Nguyen </a:t>
            </a:r>
            <a:r>
              <a:rPr lang="en-US" dirty="0" err="1"/>
              <a:t>Thi</a:t>
            </a:r>
            <a:r>
              <a:rPr lang="en-US" dirty="0"/>
              <a:t> Ngoc Diep, Ph.D.</a:t>
            </a:r>
          </a:p>
          <a:p>
            <a:r>
              <a:rPr lang="en-US" dirty="0"/>
              <a:t>Email: </a:t>
            </a:r>
            <a:r>
              <a:rPr lang="en-US" dirty="0">
                <a:hlinkClick r:id="rId3"/>
              </a:rPr>
              <a:t>ngocdiep@vnu.edu.vn</a:t>
            </a:r>
            <a:endParaRPr lang="en-US" dirty="0"/>
          </a:p>
        </p:txBody>
      </p:sp>
    </p:spTree>
    <p:extLst>
      <p:ext uri="{BB962C8B-B14F-4D97-AF65-F5344CB8AC3E}">
        <p14:creationId xmlns:p14="http://schemas.microsoft.com/office/powerpoint/2010/main" val="2400188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B1458F-294F-7748-B1CE-9D7094EAFE82}"/>
              </a:ext>
            </a:extLst>
          </p:cNvPr>
          <p:cNvSpPr>
            <a:spLocks noGrp="1"/>
          </p:cNvSpPr>
          <p:nvPr>
            <p:ph type="title"/>
          </p:nvPr>
        </p:nvSpPr>
        <p:spPr>
          <a:xfrm>
            <a:off x="838200" y="372724"/>
            <a:ext cx="10515600" cy="1325563"/>
          </a:xfrm>
        </p:spPr>
        <p:txBody>
          <a:bodyPr/>
          <a:lstStyle/>
          <a:p>
            <a:r>
              <a:rPr lang="en-US" dirty="0"/>
              <a:t>Schedule</a:t>
            </a:r>
          </a:p>
        </p:txBody>
      </p:sp>
      <p:sp>
        <p:nvSpPr>
          <p:cNvPr id="5" name="Slide Number Placeholder 4">
            <a:extLst>
              <a:ext uri="{FF2B5EF4-FFF2-40B4-BE49-F238E27FC236}">
                <a16:creationId xmlns:a16="http://schemas.microsoft.com/office/drawing/2014/main" id="{65963160-C336-DE4D-BF17-48EB6D844704}"/>
              </a:ext>
            </a:extLst>
          </p:cNvPr>
          <p:cNvSpPr>
            <a:spLocks noGrp="1"/>
          </p:cNvSpPr>
          <p:nvPr>
            <p:ph type="sldNum" sz="quarter" idx="12"/>
          </p:nvPr>
        </p:nvSpPr>
        <p:spPr/>
        <p:txBody>
          <a:bodyPr/>
          <a:lstStyle/>
          <a:p>
            <a:fld id="{298BB798-0FFE-6D49-972C-07CB5C747B64}" type="slidenum">
              <a:rPr lang="en-US" smtClean="0"/>
              <a:t>2</a:t>
            </a:fld>
            <a:endParaRPr lang="en-US"/>
          </a:p>
        </p:txBody>
      </p:sp>
      <p:graphicFrame>
        <p:nvGraphicFramePr>
          <p:cNvPr id="6" name="Table 5">
            <a:extLst>
              <a:ext uri="{FF2B5EF4-FFF2-40B4-BE49-F238E27FC236}">
                <a16:creationId xmlns:a16="http://schemas.microsoft.com/office/drawing/2014/main" id="{44AFAEF6-56A3-C648-93E2-574B6C2059DA}"/>
              </a:ext>
            </a:extLst>
          </p:cNvPr>
          <p:cNvGraphicFramePr>
            <a:graphicFrameLocks noGrp="1"/>
          </p:cNvGraphicFramePr>
          <p:nvPr/>
        </p:nvGraphicFramePr>
        <p:xfrm>
          <a:off x="838200" y="1780454"/>
          <a:ext cx="10871859" cy="5087081"/>
        </p:xfrm>
        <a:graphic>
          <a:graphicData uri="http://schemas.openxmlformats.org/drawingml/2006/table">
            <a:tbl>
              <a:tblPr firstRow="1" firstCol="1" bandRow="1">
                <a:tableStyleId>{073A0DAA-6AF3-43AB-8588-CEC1D06C72B9}</a:tableStyleId>
              </a:tblPr>
              <a:tblGrid>
                <a:gridCol w="655242">
                  <a:extLst>
                    <a:ext uri="{9D8B030D-6E8A-4147-A177-3AD203B41FA5}">
                      <a16:colId xmlns:a16="http://schemas.microsoft.com/office/drawing/2014/main" val="3803651082"/>
                    </a:ext>
                  </a:extLst>
                </a:gridCol>
                <a:gridCol w="5420609">
                  <a:extLst>
                    <a:ext uri="{9D8B030D-6E8A-4147-A177-3AD203B41FA5}">
                      <a16:colId xmlns:a16="http://schemas.microsoft.com/office/drawing/2014/main" val="2534359574"/>
                    </a:ext>
                  </a:extLst>
                </a:gridCol>
                <a:gridCol w="4796008">
                  <a:extLst>
                    <a:ext uri="{9D8B030D-6E8A-4147-A177-3AD203B41FA5}">
                      <a16:colId xmlns:a16="http://schemas.microsoft.com/office/drawing/2014/main" val="2917458572"/>
                    </a:ext>
                  </a:extLst>
                </a:gridCol>
              </a:tblGrid>
              <a:tr h="192704">
                <a:tc>
                  <a:txBody>
                    <a:bodyPr/>
                    <a:lstStyle/>
                    <a:p>
                      <a:pPr>
                        <a:spcAft>
                          <a:spcPts val="0"/>
                        </a:spcAft>
                      </a:pPr>
                      <a:r>
                        <a:rPr lang="vi-VN" sz="1200">
                          <a:effectLst/>
                        </a:rPr>
                        <a:t>Tuần</a:t>
                      </a:r>
                      <a:endParaRPr lang="en-US" sz="120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spcAft>
                          <a:spcPts val="0"/>
                        </a:spcAft>
                      </a:pPr>
                      <a:r>
                        <a:rPr lang="vi-VN" sz="1200" dirty="0">
                          <a:effectLst/>
                        </a:rPr>
                        <a:t>Nội dung</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tc>
                  <a:txBody>
                    <a:bodyPr/>
                    <a:lstStyle/>
                    <a:p>
                      <a:pPr>
                        <a:spcAft>
                          <a:spcPts val="0"/>
                        </a:spcAft>
                      </a:pPr>
                      <a:r>
                        <a:rPr lang="vi-VN" sz="1200" dirty="0">
                          <a:effectLst/>
                        </a:rPr>
                        <a:t>Yêu cầu đối với sinh viên (ngoài việc đọc tài liệu tham khảo)</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2268104051"/>
                  </a:ext>
                </a:extLst>
              </a:tr>
              <a:tr h="439699">
                <a:tc>
                  <a:txBody>
                    <a:bodyPr/>
                    <a:lstStyle/>
                    <a:p>
                      <a:pPr algn="r">
                        <a:spcAft>
                          <a:spcPts val="0"/>
                        </a:spcAft>
                      </a:pPr>
                      <a:r>
                        <a:rPr lang="en-US" sz="1200" dirty="0">
                          <a:effectLst/>
                        </a:rPr>
                        <a:t>1</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spcAft>
                          <a:spcPts val="0"/>
                        </a:spcAft>
                      </a:pPr>
                      <a:r>
                        <a:rPr lang="vi-VN" sz="1200" dirty="0">
                          <a:effectLst/>
                        </a:rPr>
                        <a:t>Giới thiệu môn học</a:t>
                      </a:r>
                    </a:p>
                  </a:txBody>
                  <a:tcPr marL="38851" marR="38851" marT="0" marB="0" anchor="ctr"/>
                </a:tc>
                <a:tc>
                  <a:txBody>
                    <a:bodyPr/>
                    <a:lstStyle/>
                    <a:p>
                      <a:pPr>
                        <a:spcAft>
                          <a:spcPts val="0"/>
                        </a:spcAft>
                      </a:pPr>
                      <a:r>
                        <a:rPr lang="vi-VN" sz="1200" dirty="0">
                          <a:effectLst/>
                        </a:rPr>
                        <a:t>Cài đặt môi trường: Python 3, OpenCV 3, Numpy, Jupyter Notebook</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1667570547"/>
                  </a:ext>
                </a:extLst>
              </a:tr>
              <a:tr h="223122">
                <a:tc>
                  <a:txBody>
                    <a:bodyPr/>
                    <a:lstStyle/>
                    <a:p>
                      <a:pPr algn="r">
                        <a:spcAft>
                          <a:spcPts val="0"/>
                        </a:spcAft>
                      </a:pPr>
                      <a:r>
                        <a:rPr lang="en-US" sz="1200" dirty="0">
                          <a:solidFill>
                            <a:schemeClr val="bg1"/>
                          </a:solidFill>
                          <a:effectLst/>
                        </a:rPr>
                        <a:t>2</a:t>
                      </a:r>
                      <a:endParaRPr lang="en-US" sz="1200" dirty="0">
                        <a:solidFill>
                          <a:schemeClr val="bg1"/>
                        </a:solidFill>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solidFill>
                      <a:schemeClr val="tx1"/>
                    </a:solidFill>
                  </a:tcPr>
                </a:tc>
                <a:tc>
                  <a:txBody>
                    <a:bodyPr/>
                    <a:lstStyle/>
                    <a:p>
                      <a:pPr>
                        <a:spcAft>
                          <a:spcPts val="0"/>
                        </a:spcAft>
                      </a:pPr>
                      <a:r>
                        <a:rPr lang="vi-VN" sz="1200" dirty="0">
                          <a:solidFill>
                            <a:schemeClr val="tx1"/>
                          </a:solidFill>
                          <a:effectLst/>
                        </a:rPr>
                        <a:t>Ảnh số (Digital image) – Phép toán điểm (Point operations)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rPr>
                        <a:t>Làm quen với OpenCV + Python</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chemeClr val="tx1"/>
                          </a:solidFill>
                          <a:effectLst/>
                          <a:highlight>
                            <a:srgbClr val="FFFF00"/>
                          </a:highlight>
                        </a:rPr>
                        <a:t>Điều chỉnh độ tương phản (Contrast adjust)– Ghép ảnh (Combining images)</a:t>
                      </a:r>
                      <a:endParaRPr lang="en-US" sz="1200" dirty="0">
                        <a:solidFill>
                          <a:schemeClr val="tx1"/>
                        </a:solidFill>
                        <a:effectLst/>
                        <a:highlight>
                          <a:srgbClr val="FFFF00"/>
                        </a:highlight>
                      </a:endParaRPr>
                    </a:p>
                  </a:txBody>
                  <a:tcPr marL="38851" marR="38851" marT="0" marB="0" anchor="ctr">
                    <a:solidFill>
                      <a:schemeClr val="accent3">
                        <a:lumMod val="40000"/>
                        <a:lumOff val="60000"/>
                      </a:schemeClr>
                    </a:solidFill>
                  </a:tcPr>
                </a:tc>
                <a:tc>
                  <a:txBody>
                    <a:bodyPr/>
                    <a:lstStyle/>
                    <a:p>
                      <a:pPr>
                        <a:spcAft>
                          <a:spcPts val="0"/>
                        </a:spcAft>
                      </a:pPr>
                      <a:endParaRPr lang="en-US" sz="1200" dirty="0">
                        <a:solidFill>
                          <a:schemeClr val="tx1"/>
                        </a:solidFill>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solidFill>
                      <a:schemeClr val="accent3">
                        <a:lumMod val="40000"/>
                        <a:lumOff val="60000"/>
                      </a:schemeClr>
                    </a:solidFill>
                  </a:tcPr>
                </a:tc>
                <a:extLst>
                  <a:ext uri="{0D108BD9-81ED-4DB2-BD59-A6C34878D82A}">
                    <a16:rowId xmlns:a16="http://schemas.microsoft.com/office/drawing/2014/main" val="1449354920"/>
                  </a:ext>
                </a:extLst>
              </a:tr>
              <a:tr h="223122">
                <a:tc>
                  <a:txBody>
                    <a:bodyPr/>
                    <a:lstStyle/>
                    <a:p>
                      <a:pPr algn="r">
                        <a:spcAft>
                          <a:spcPts val="0"/>
                        </a:spcAft>
                      </a:pPr>
                      <a:r>
                        <a:rPr lang="en-US" sz="1200" dirty="0">
                          <a:solidFill>
                            <a:schemeClr val="bg1"/>
                          </a:solidFill>
                          <a:effectLst/>
                          <a:latin typeface="Calibri" panose="020F0502020204030204" pitchFamily="34" charset="0"/>
                          <a:ea typeface="Yu Mincho" panose="02020400000000000000" pitchFamily="18" charset="-128"/>
                          <a:cs typeface="Times New Roman" panose="02020603050405020304" pitchFamily="18" charset="0"/>
                        </a:rPr>
                        <a:t>3</a:t>
                      </a:r>
                    </a:p>
                  </a:txBody>
                  <a:tcPr marL="38851" marR="38851" marT="0" marB="0">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rPr>
                        <a:t>Histogram</a:t>
                      </a:r>
                      <a:r>
                        <a:rPr lang="en-US" sz="1200" dirty="0">
                          <a:effectLst/>
                        </a:rPr>
                        <a:t> </a:t>
                      </a:r>
                      <a:r>
                        <a:rPr lang="vi-VN" sz="1200" dirty="0">
                          <a:effectLst/>
                        </a:rPr>
                        <a:t>- Histogram equalization</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chemeClr val="tx1"/>
                          </a:solidFill>
                          <a:effectLst/>
                        </a:rPr>
                        <a:t>Làm bài tập 1: điều chỉnh gamma tìm contrast hợp lý</a:t>
                      </a:r>
                      <a:endParaRPr lang="en-US" sz="1200" dirty="0">
                        <a:solidFill>
                          <a:schemeClr val="tx1"/>
                        </a:solidFill>
                        <a:effectLst/>
                        <a:latin typeface="Calibri" panose="020F0502020204030204" pitchFamily="34" charset="0"/>
                        <a:ea typeface="Yu Mincho" panose="02020400000000000000" pitchFamily="18" charset="-128"/>
                        <a:cs typeface="Times New Roman" panose="02020603050405020304" pitchFamily="18" charset="0"/>
                      </a:endParaRPr>
                    </a:p>
                    <a:p>
                      <a:pPr>
                        <a:spcAft>
                          <a:spcPts val="0"/>
                        </a:spcAft>
                      </a:pPr>
                      <a:endParaRPr lang="en-US" sz="1200" dirty="0">
                        <a:solidFill>
                          <a:schemeClr val="tx1"/>
                        </a:solidFill>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solidFill>
                      <a:schemeClr val="accent3">
                        <a:lumMod val="40000"/>
                        <a:lumOff val="60000"/>
                      </a:schemeClr>
                    </a:solidFill>
                  </a:tcPr>
                </a:tc>
                <a:extLst>
                  <a:ext uri="{0D108BD9-81ED-4DB2-BD59-A6C34878D82A}">
                    <a16:rowId xmlns:a16="http://schemas.microsoft.com/office/drawing/2014/main" val="462644647"/>
                  </a:ext>
                </a:extLst>
              </a:tr>
              <a:tr h="279227">
                <a:tc>
                  <a:txBody>
                    <a:bodyPr/>
                    <a:lstStyle/>
                    <a:p>
                      <a:pPr algn="r">
                        <a:spcAft>
                          <a:spcPts val="0"/>
                        </a:spcAft>
                      </a:pPr>
                      <a:r>
                        <a:rPr lang="en-US" sz="1200" dirty="0">
                          <a:solidFill>
                            <a:schemeClr val="bg1"/>
                          </a:solidFill>
                          <a:effectLst/>
                        </a:rPr>
                        <a:t>4</a:t>
                      </a:r>
                      <a:endParaRPr lang="en-US" sz="1200" dirty="0">
                        <a:solidFill>
                          <a:schemeClr val="bg1"/>
                        </a:solidFill>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rPr>
                        <a:t>Phép lọc trong không gian điểm ảnh (linear processing filtering)</a:t>
                      </a:r>
                    </a:p>
                  </a:txBody>
                  <a:tcPr marL="38851" marR="38851" marT="0" marB="0" anchor="ctr">
                    <a:solidFill>
                      <a:schemeClr val="accent3">
                        <a:lumMod val="60000"/>
                        <a:lumOff val="40000"/>
                      </a:schemeClr>
                    </a:solidFill>
                  </a:tcPr>
                </a:tc>
                <a:tc>
                  <a:txBody>
                    <a:bodyPr/>
                    <a:lstStyle/>
                    <a:p>
                      <a:pPr>
                        <a:spcAft>
                          <a:spcPts val="0"/>
                        </a:spcAft>
                      </a:pPr>
                      <a:r>
                        <a:rPr lang="vi-VN" sz="1200" dirty="0">
                          <a:effectLst/>
                        </a:rPr>
                        <a:t>Thực hành ở nhà</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solidFill>
                      <a:schemeClr val="accent3">
                        <a:lumMod val="60000"/>
                        <a:lumOff val="40000"/>
                      </a:schemeClr>
                    </a:solidFill>
                  </a:tcPr>
                </a:tc>
                <a:extLst>
                  <a:ext uri="{0D108BD9-81ED-4DB2-BD59-A6C34878D82A}">
                    <a16:rowId xmlns:a16="http://schemas.microsoft.com/office/drawing/2014/main" val="2207594523"/>
                  </a:ext>
                </a:extLst>
              </a:tr>
              <a:tr h="204856">
                <a:tc>
                  <a:txBody>
                    <a:bodyPr/>
                    <a:lstStyle/>
                    <a:p>
                      <a:pPr algn="r">
                        <a:spcAft>
                          <a:spcPts val="0"/>
                        </a:spcAft>
                      </a:pPr>
                      <a:r>
                        <a:rPr lang="en-US" sz="1200" dirty="0">
                          <a:effectLst/>
                        </a:rPr>
                        <a:t>5</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rPr>
                        <a:t>Phép lọc trong không gian điểm ảnh (linear processing filtering) (cont.)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rPr>
                        <a:t>Thực hành: Cách tìm filters</a:t>
                      </a:r>
                    </a:p>
                  </a:txBody>
                  <a:tcPr marL="38851" marR="38851" marT="0" marB="0" anchor="ctr"/>
                </a:tc>
                <a:tc>
                  <a:txBody>
                    <a:bodyPr/>
                    <a:lstStyle/>
                    <a:p>
                      <a:pPr>
                        <a:spcAft>
                          <a:spcPts val="0"/>
                        </a:spcAft>
                      </a:pPr>
                      <a:r>
                        <a:rPr lang="vi-VN" sz="1200" dirty="0">
                          <a:effectLst/>
                        </a:rPr>
                        <a:t>Thực hành ở nhà</a:t>
                      </a:r>
                    </a:p>
                  </a:txBody>
                  <a:tcPr marL="38851" marR="38851" marT="0" marB="0" anchor="ctr"/>
                </a:tc>
                <a:extLst>
                  <a:ext uri="{0D108BD9-81ED-4DB2-BD59-A6C34878D82A}">
                    <a16:rowId xmlns:a16="http://schemas.microsoft.com/office/drawing/2014/main" val="402893480"/>
                  </a:ext>
                </a:extLst>
              </a:tr>
              <a:tr h="204856">
                <a:tc>
                  <a:txBody>
                    <a:bodyPr/>
                    <a:lstStyle/>
                    <a:p>
                      <a:pPr algn="r">
                        <a:spcAft>
                          <a:spcPts val="0"/>
                        </a:spcAft>
                      </a:pPr>
                      <a:r>
                        <a:rPr lang="en-US" sz="1200" dirty="0">
                          <a:effectLst/>
                          <a:highlight>
                            <a:srgbClr val="FFFF00"/>
                          </a:highlight>
                          <a:latin typeface="Calibri" panose="020F0502020204030204" pitchFamily="34" charset="0"/>
                          <a:ea typeface="Yu Mincho" panose="02020400000000000000" pitchFamily="18" charset="-128"/>
                          <a:cs typeface="Times New Roman" panose="02020603050405020304" pitchFamily="18" charset="0"/>
                        </a:rPr>
                        <a:t>6</a:t>
                      </a:r>
                    </a:p>
                  </a:txBody>
                  <a:tcPr marL="38851" marR="38851" marT="0" marB="0"/>
                </a:tc>
                <a:tc>
                  <a:txBody>
                    <a:bodyPr/>
                    <a:lstStyle/>
                    <a:p>
                      <a:pPr>
                        <a:spcAft>
                          <a:spcPts val="0"/>
                        </a:spcAft>
                      </a:pPr>
                      <a:r>
                        <a:rPr lang="en-US" sz="1200" dirty="0" err="1">
                          <a:effectLst/>
                          <a:highlight>
                            <a:srgbClr val="FFFF00"/>
                          </a:highlight>
                        </a:rPr>
                        <a:t>Thực</a:t>
                      </a:r>
                      <a:r>
                        <a:rPr lang="en-US" sz="1200" dirty="0">
                          <a:effectLst/>
                          <a:highlight>
                            <a:srgbClr val="FFFF00"/>
                          </a:highlight>
                        </a:rPr>
                        <a:t> </a:t>
                      </a:r>
                      <a:r>
                        <a:rPr lang="en-US" sz="1200" dirty="0" err="1">
                          <a:effectLst/>
                          <a:highlight>
                            <a:srgbClr val="FFFF00"/>
                          </a:highlight>
                        </a:rPr>
                        <a:t>hành</a:t>
                      </a:r>
                      <a:r>
                        <a:rPr lang="en-US" sz="1200" dirty="0">
                          <a:effectLst/>
                          <a:highlight>
                            <a:srgbClr val="FFFF00"/>
                          </a:highlight>
                        </a:rPr>
                        <a:t>: </a:t>
                      </a:r>
                      <a:r>
                        <a:rPr lang="en-US" sz="1200" dirty="0" err="1">
                          <a:effectLst/>
                          <a:highlight>
                            <a:srgbClr val="FFFF00"/>
                          </a:highlight>
                        </a:rPr>
                        <a:t>Ứng</a:t>
                      </a:r>
                      <a:r>
                        <a:rPr lang="en-US" sz="1200" dirty="0">
                          <a:effectLst/>
                          <a:highlight>
                            <a:srgbClr val="FFFF00"/>
                          </a:highlight>
                        </a:rPr>
                        <a:t> </a:t>
                      </a:r>
                      <a:r>
                        <a:rPr lang="en-US" sz="1200" dirty="0" err="1">
                          <a:effectLst/>
                          <a:highlight>
                            <a:srgbClr val="FFFF00"/>
                          </a:highlight>
                        </a:rPr>
                        <a:t>dụng</a:t>
                      </a:r>
                      <a:r>
                        <a:rPr lang="en-US" sz="1200" dirty="0">
                          <a:effectLst/>
                          <a:highlight>
                            <a:srgbClr val="FFFF00"/>
                          </a:highlight>
                        </a:rPr>
                        <a:t> </a:t>
                      </a:r>
                      <a:r>
                        <a:rPr lang="en-US" sz="1200" dirty="0" err="1">
                          <a:effectLst/>
                          <a:highlight>
                            <a:srgbClr val="FFFF00"/>
                          </a:highlight>
                        </a:rPr>
                        <a:t>của</a:t>
                      </a:r>
                      <a:r>
                        <a:rPr lang="en-US" sz="1200" dirty="0">
                          <a:effectLst/>
                          <a:highlight>
                            <a:srgbClr val="FFFF00"/>
                          </a:highlight>
                        </a:rPr>
                        <a:t> histogram; </a:t>
                      </a:r>
                      <a:r>
                        <a:rPr lang="en-US" sz="1200" dirty="0" err="1">
                          <a:effectLst/>
                          <a:highlight>
                            <a:srgbClr val="FFFF00"/>
                          </a:highlight>
                        </a:rPr>
                        <a:t>Tìm</a:t>
                      </a:r>
                      <a:r>
                        <a:rPr lang="en-US" sz="1200" dirty="0">
                          <a:effectLst/>
                          <a:highlight>
                            <a:srgbClr val="FFFF00"/>
                          </a:highlight>
                        </a:rPr>
                        <a:t> </a:t>
                      </a:r>
                      <a:r>
                        <a:rPr lang="en-US" sz="1200" dirty="0" err="1">
                          <a:effectLst/>
                          <a:highlight>
                            <a:srgbClr val="FFFF00"/>
                          </a:highlight>
                        </a:rPr>
                        <a:t>ảnh</a:t>
                      </a:r>
                      <a:r>
                        <a:rPr lang="en-US" sz="1200" dirty="0">
                          <a:effectLst/>
                          <a:highlight>
                            <a:srgbClr val="FFFF00"/>
                          </a:highlight>
                        </a:rPr>
                        <a:t> </a:t>
                      </a:r>
                      <a:r>
                        <a:rPr lang="en-US" sz="1200" dirty="0" err="1">
                          <a:effectLst/>
                          <a:highlight>
                            <a:srgbClr val="FFFF00"/>
                          </a:highlight>
                        </a:rPr>
                        <a:t>mẫu</a:t>
                      </a:r>
                      <a:r>
                        <a:rPr lang="en-US" sz="1200" dirty="0">
                          <a:effectLst/>
                          <a:highlight>
                            <a:srgbClr val="FFFF00"/>
                          </a:highlight>
                        </a:rPr>
                        <a:t> (Template matching)</a:t>
                      </a:r>
                    </a:p>
                  </a:txBody>
                  <a:tcPr marL="38851" marR="38851" marT="0" marB="0" anchor="ctr"/>
                </a:tc>
                <a:tc>
                  <a:txBody>
                    <a:bodyPr/>
                    <a:lstStyle/>
                    <a:p>
                      <a:pPr>
                        <a:spcAft>
                          <a:spcPts val="0"/>
                        </a:spcAft>
                      </a:pPr>
                      <a:r>
                        <a:rPr lang="vi-VN" sz="1200" dirty="0">
                          <a:solidFill>
                            <a:srgbClr val="0070C0"/>
                          </a:solidFill>
                          <a:effectLst/>
                        </a:rPr>
                        <a:t>Bài tập mid-term</a:t>
                      </a:r>
                      <a:endParaRPr lang="vi-VN" sz="1200" dirty="0">
                        <a:effectLst/>
                      </a:endParaRPr>
                    </a:p>
                  </a:txBody>
                  <a:tcPr marL="38851" marR="38851" marT="0" marB="0" anchor="ctr"/>
                </a:tc>
                <a:extLst>
                  <a:ext uri="{0D108BD9-81ED-4DB2-BD59-A6C34878D82A}">
                    <a16:rowId xmlns:a16="http://schemas.microsoft.com/office/drawing/2014/main" val="478418421"/>
                  </a:ext>
                </a:extLst>
              </a:tr>
              <a:tr h="306531">
                <a:tc>
                  <a:txBody>
                    <a:bodyPr/>
                    <a:lstStyle/>
                    <a:p>
                      <a:pPr algn="r">
                        <a:spcAft>
                          <a:spcPts val="0"/>
                        </a:spcAft>
                      </a:pPr>
                      <a:r>
                        <a:rPr lang="en-US" sz="1200" dirty="0">
                          <a:effectLst/>
                        </a:rPr>
                        <a:t>7</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solidFill>
                      <a:schemeClr val="tx1"/>
                    </a:solidFill>
                  </a:tcPr>
                </a:tc>
                <a:tc>
                  <a:txBody>
                    <a:bodyPr/>
                    <a:lstStyle/>
                    <a:p>
                      <a:pPr>
                        <a:spcAft>
                          <a:spcPts val="0"/>
                        </a:spcAft>
                      </a:pPr>
                      <a:r>
                        <a:rPr lang="vi-VN" sz="1200" dirty="0">
                          <a:effectLst/>
                        </a:rPr>
                        <a:t>Trích rút đặc trưng của ảnh</a:t>
                      </a:r>
                    </a:p>
                    <a:p>
                      <a:pPr>
                        <a:spcAft>
                          <a:spcPts val="0"/>
                        </a:spcAft>
                      </a:pPr>
                      <a:r>
                        <a:rPr lang="vi-VN" sz="1200" dirty="0">
                          <a:effectLst/>
                        </a:rPr>
                        <a:t>Cạnh (Edge) và đường (Line) và texture</a:t>
                      </a:r>
                    </a:p>
                  </a:txBody>
                  <a:tcPr marL="38851" marR="38851" marT="0" marB="0" anchor="ctr">
                    <a:solidFill>
                      <a:schemeClr val="bg1">
                        <a:lumMod val="75000"/>
                      </a:schemeClr>
                    </a:solidFill>
                  </a:tcPr>
                </a:tc>
                <a:tc>
                  <a:txBody>
                    <a:bodyPr/>
                    <a:lstStyle/>
                    <a:p>
                      <a:pPr>
                        <a:spcAft>
                          <a:spcPts val="0"/>
                        </a:spcAft>
                      </a:pPr>
                      <a:r>
                        <a:rPr lang="vi-VN" sz="1200" dirty="0">
                          <a:effectLst/>
                        </a:rPr>
                        <a:t>Thực hành ở nhà</a:t>
                      </a:r>
                      <a:endParaRPr lang="en-US" sz="1200" dirty="0">
                        <a:effectLst/>
                      </a:endParaRPr>
                    </a:p>
                  </a:txBody>
                  <a:tcPr marL="38851" marR="38851" marT="0" marB="0" anchor="ctr">
                    <a:solidFill>
                      <a:schemeClr val="bg1">
                        <a:lumMod val="75000"/>
                      </a:schemeClr>
                    </a:solidFill>
                  </a:tcPr>
                </a:tc>
                <a:extLst>
                  <a:ext uri="{0D108BD9-81ED-4DB2-BD59-A6C34878D82A}">
                    <a16:rowId xmlns:a16="http://schemas.microsoft.com/office/drawing/2014/main" val="3495037645"/>
                  </a:ext>
                </a:extLst>
              </a:tr>
              <a:tr h="273207">
                <a:tc>
                  <a:txBody>
                    <a:bodyPr/>
                    <a:lstStyle/>
                    <a:p>
                      <a:pPr algn="r">
                        <a:spcAft>
                          <a:spcPts val="0"/>
                        </a:spcAft>
                      </a:pPr>
                      <a:r>
                        <a:rPr lang="en-US" sz="1200" dirty="0">
                          <a:effectLst/>
                        </a:rPr>
                        <a:t>8</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lgn="l">
                        <a:spcAft>
                          <a:spcPts val="0"/>
                        </a:spcAft>
                      </a:pPr>
                      <a:r>
                        <a:rPr lang="vi-VN" sz="1200" dirty="0">
                          <a:effectLst/>
                        </a:rPr>
                        <a:t>Các phép biến đổi hình thái</a:t>
                      </a:r>
                      <a:r>
                        <a:rPr lang="en-US" sz="1200" dirty="0">
                          <a:effectLst/>
                        </a:rPr>
                        <a:t> (Morphological operations)</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tc>
                  <a:txBody>
                    <a:bodyPr/>
                    <a:lstStyle/>
                    <a:p>
                      <a:pPr>
                        <a:spcAft>
                          <a:spcPts val="0"/>
                        </a:spcAft>
                      </a:pPr>
                      <a:r>
                        <a:rPr lang="vi-VN" sz="1200" dirty="0">
                          <a:effectLst/>
                        </a:rPr>
                        <a:t>Làm bài tập 2: tìm barcode</a:t>
                      </a:r>
                      <a:endParaRPr lang="en-US" sz="1200" dirty="0">
                        <a:solidFill>
                          <a:srgbClr val="0070C0"/>
                        </a:solidFill>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124867615"/>
                  </a:ext>
                </a:extLst>
              </a:tr>
              <a:tr h="329774">
                <a:tc>
                  <a:txBody>
                    <a:bodyPr/>
                    <a:lstStyle/>
                    <a:p>
                      <a:pPr algn="r">
                        <a:spcAft>
                          <a:spcPts val="0"/>
                        </a:spcAft>
                      </a:pPr>
                      <a:r>
                        <a:rPr lang="en-US" sz="1200" dirty="0">
                          <a:effectLst/>
                        </a:rPr>
                        <a:t>9</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spcAft>
                          <a:spcPts val="0"/>
                        </a:spcAft>
                      </a:pPr>
                      <a:r>
                        <a:rPr lang="vi-VN" sz="1200" dirty="0">
                          <a:effectLst/>
                        </a:rPr>
                        <a:t>Chuyển đổi không gian</a:t>
                      </a:r>
                      <a:r>
                        <a:rPr lang="en-US" sz="1200" dirty="0">
                          <a:effectLst/>
                        </a:rPr>
                        <a:t> </a:t>
                      </a:r>
                      <a:r>
                        <a:rPr lang="vi-VN" sz="1200" dirty="0">
                          <a:effectLst/>
                        </a:rPr>
                        <a:t>– Miền tần số – Phép lọc trên miền tần số</a:t>
                      </a:r>
                    </a:p>
                    <a:p>
                      <a:pPr>
                        <a:spcAft>
                          <a:spcPts val="0"/>
                        </a:spcAft>
                      </a:pPr>
                      <a:r>
                        <a:rPr lang="vi-VN" sz="1200" dirty="0">
                          <a:solidFill>
                            <a:srgbClr val="0070C0"/>
                          </a:solidFill>
                          <a:effectLst/>
                          <a:latin typeface="Calibri" panose="020F0502020204030204" pitchFamily="34" charset="0"/>
                          <a:ea typeface="Yu Mincho" panose="02020400000000000000" pitchFamily="18" charset="-128"/>
                          <a:cs typeface="Times New Roman" panose="02020603050405020304" pitchFamily="18" charset="0"/>
                        </a:rPr>
                        <a:t>Thông báo liên quan đồ án môn học</a:t>
                      </a:r>
                      <a:endParaRPr lang="en-US" sz="1200" dirty="0">
                        <a:solidFill>
                          <a:srgbClr val="0070C0"/>
                        </a:solidFill>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tc>
                  <a:txBody>
                    <a:bodyPr/>
                    <a:lstStyle/>
                    <a:p>
                      <a:pPr>
                        <a:spcAft>
                          <a:spcPts val="0"/>
                        </a:spcAft>
                      </a:pPr>
                      <a:r>
                        <a:rPr lang="vi-VN" sz="1200" dirty="0">
                          <a:effectLst/>
                        </a:rPr>
                        <a:t>Đăng ký thực hiện đồ án môn học</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3474009523"/>
                  </a:ext>
                </a:extLst>
              </a:tr>
              <a:tr h="228493">
                <a:tc>
                  <a:txBody>
                    <a:bodyPr/>
                    <a:lstStyle/>
                    <a:p>
                      <a:pPr algn="r">
                        <a:spcAft>
                          <a:spcPts val="0"/>
                        </a:spcAft>
                      </a:pPr>
                      <a:r>
                        <a:rPr lang="en-US" sz="1200" dirty="0">
                          <a:effectLst/>
                        </a:rPr>
                        <a:t>10</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rPr>
                        <a:t>Xử lý ảnh màu (Color digital image)</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tc>
                  <a:txBody>
                    <a:bodyPr/>
                    <a:lstStyle/>
                    <a:p>
                      <a:pPr>
                        <a:spcAft>
                          <a:spcPts val="0"/>
                        </a:spcAft>
                      </a:pPr>
                      <a:r>
                        <a:rPr lang="vi-VN" sz="1200" dirty="0">
                          <a:effectLst/>
                        </a:rPr>
                        <a:t>Làm bài tập 3: Chuyển đổi mô hình màu và thực hiện phân vùng</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3939931096"/>
                  </a:ext>
                </a:extLst>
              </a:tr>
              <a:tr h="414315">
                <a:tc>
                  <a:txBody>
                    <a:bodyPr/>
                    <a:lstStyle/>
                    <a:p>
                      <a:pPr algn="r">
                        <a:spcAft>
                          <a:spcPts val="0"/>
                        </a:spcAft>
                      </a:pPr>
                      <a:r>
                        <a:rPr lang="en-US" sz="1200" dirty="0">
                          <a:effectLst/>
                        </a:rPr>
                        <a:t>11</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spcAft>
                          <a:spcPts val="0"/>
                        </a:spcAft>
                      </a:pPr>
                      <a:r>
                        <a:rPr lang="en-US" sz="1200" dirty="0" err="1">
                          <a:effectLst/>
                          <a:latin typeface="Calibri" panose="020F0502020204030204" pitchFamily="34" charset="0"/>
                          <a:ea typeface="Yu Mincho" panose="02020400000000000000" pitchFamily="18" charset="-128"/>
                          <a:cs typeface="Times New Roman" panose="02020603050405020304" pitchFamily="18" charset="0"/>
                        </a:rPr>
                        <a:t>Các</a:t>
                      </a:r>
                      <a:r>
                        <a:rPr lang="en-US" sz="1200" dirty="0">
                          <a:effectLst/>
                          <a:latin typeface="Calibri" panose="020F0502020204030204" pitchFamily="34" charset="0"/>
                          <a:ea typeface="Yu Mincho" panose="02020400000000000000" pitchFamily="18" charset="-128"/>
                          <a:cs typeface="Times New Roman" panose="02020603050405020304" pitchFamily="18" charset="0"/>
                        </a:rPr>
                        <a:t> </a:t>
                      </a:r>
                      <a:r>
                        <a:rPr lang="en-US" sz="1200" dirty="0" err="1">
                          <a:effectLst/>
                          <a:latin typeface="Calibri" panose="020F0502020204030204" pitchFamily="34" charset="0"/>
                          <a:ea typeface="Yu Mincho" panose="02020400000000000000" pitchFamily="18" charset="-128"/>
                          <a:cs typeface="Times New Roman" panose="02020603050405020304" pitchFamily="18" charset="0"/>
                        </a:rPr>
                        <a:t>phép</a:t>
                      </a:r>
                      <a:r>
                        <a:rPr lang="en-US" sz="1200" dirty="0">
                          <a:effectLst/>
                          <a:latin typeface="Calibri" panose="020F0502020204030204" pitchFamily="34" charset="0"/>
                          <a:ea typeface="Yu Mincho" panose="02020400000000000000" pitchFamily="18" charset="-128"/>
                          <a:cs typeface="Times New Roman" panose="02020603050405020304" pitchFamily="18" charset="0"/>
                        </a:rPr>
                        <a:t> </a:t>
                      </a:r>
                      <a:r>
                        <a:rPr lang="en-US" sz="1200" dirty="0" err="1">
                          <a:effectLst/>
                          <a:latin typeface="Calibri" panose="020F0502020204030204" pitchFamily="34" charset="0"/>
                          <a:ea typeface="Yu Mincho" panose="02020400000000000000" pitchFamily="18" charset="-128"/>
                          <a:cs typeface="Times New Roman" panose="02020603050405020304" pitchFamily="18" charset="0"/>
                        </a:rPr>
                        <a:t>biến</a:t>
                      </a:r>
                      <a:r>
                        <a:rPr lang="en-US" sz="1200" dirty="0">
                          <a:effectLst/>
                          <a:latin typeface="Calibri" panose="020F0502020204030204" pitchFamily="34" charset="0"/>
                          <a:ea typeface="Yu Mincho" panose="02020400000000000000" pitchFamily="18" charset="-128"/>
                          <a:cs typeface="Times New Roman" panose="02020603050405020304" pitchFamily="18" charset="0"/>
                        </a:rPr>
                        <a:t> </a:t>
                      </a:r>
                      <a:r>
                        <a:rPr lang="en-US" sz="1200" dirty="0" err="1">
                          <a:effectLst/>
                          <a:latin typeface="Calibri" panose="020F0502020204030204" pitchFamily="34" charset="0"/>
                          <a:ea typeface="Yu Mincho" panose="02020400000000000000" pitchFamily="18" charset="-128"/>
                          <a:cs typeface="Times New Roman" panose="02020603050405020304" pitchFamily="18" charset="0"/>
                        </a:rPr>
                        <a:t>đổi</a:t>
                      </a:r>
                      <a:r>
                        <a:rPr lang="en-US" sz="1200" dirty="0">
                          <a:effectLst/>
                          <a:latin typeface="Calibri" panose="020F0502020204030204" pitchFamily="34" charset="0"/>
                          <a:ea typeface="Yu Mincho" panose="02020400000000000000" pitchFamily="18" charset="-128"/>
                          <a:cs typeface="Times New Roman" panose="02020603050405020304" pitchFamily="18" charset="0"/>
                        </a:rPr>
                        <a:t> </a:t>
                      </a:r>
                      <a:r>
                        <a:rPr lang="en-US" sz="1200" dirty="0" err="1">
                          <a:effectLst/>
                          <a:latin typeface="Calibri" panose="020F0502020204030204" pitchFamily="34" charset="0"/>
                          <a:ea typeface="Yu Mincho" panose="02020400000000000000" pitchFamily="18" charset="-128"/>
                          <a:cs typeface="Times New Roman" panose="02020603050405020304" pitchFamily="18" charset="0"/>
                        </a:rPr>
                        <a:t>hình</a:t>
                      </a:r>
                      <a:r>
                        <a:rPr lang="en-US" sz="1200" dirty="0">
                          <a:effectLst/>
                          <a:latin typeface="Calibri" panose="020F0502020204030204" pitchFamily="34" charset="0"/>
                          <a:ea typeface="Yu Mincho" panose="02020400000000000000" pitchFamily="18" charset="-128"/>
                          <a:cs typeface="Times New Roman" panose="02020603050405020304" pitchFamily="18" charset="0"/>
                        </a:rPr>
                        <a:t> </a:t>
                      </a:r>
                      <a:r>
                        <a:rPr lang="en-US" sz="1200" dirty="0" err="1">
                          <a:effectLst/>
                          <a:latin typeface="Calibri" panose="020F0502020204030204" pitchFamily="34" charset="0"/>
                          <a:ea typeface="Yu Mincho" panose="02020400000000000000" pitchFamily="18" charset="-128"/>
                          <a:cs typeface="Times New Roman" panose="02020603050405020304" pitchFamily="18" charset="0"/>
                        </a:rPr>
                        <a:t>học</a:t>
                      </a:r>
                      <a:r>
                        <a:rPr lang="en-US" sz="1200" dirty="0">
                          <a:effectLst/>
                          <a:latin typeface="Calibri" panose="020F0502020204030204" pitchFamily="34" charset="0"/>
                          <a:ea typeface="Yu Mincho" panose="02020400000000000000" pitchFamily="18" charset="-128"/>
                          <a:cs typeface="Times New Roman" panose="02020603050405020304" pitchFamily="18" charset="0"/>
                        </a:rPr>
                        <a:t> (Geometric transformations)</a:t>
                      </a:r>
                    </a:p>
                  </a:txBody>
                  <a:tcPr marL="38851" marR="38851"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rPr>
                        <a:t>Thực hành ở nhà</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p>
                      <a:pPr>
                        <a:spcAft>
                          <a:spcPts val="0"/>
                        </a:spcAft>
                      </a:pP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2002170594"/>
                  </a:ext>
                </a:extLst>
              </a:tr>
              <a:tr h="250134">
                <a:tc>
                  <a:txBody>
                    <a:bodyPr/>
                    <a:lstStyle/>
                    <a:p>
                      <a:pPr algn="r">
                        <a:spcAft>
                          <a:spcPts val="0"/>
                        </a:spcAft>
                      </a:pPr>
                      <a:r>
                        <a:rPr lang="en-US" sz="1200" dirty="0">
                          <a:effectLst/>
                        </a:rPr>
                        <a:t>12</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spcAft>
                          <a:spcPts val="0"/>
                        </a:spcAft>
                      </a:pPr>
                      <a:r>
                        <a:rPr lang="vi-VN" sz="1200" dirty="0">
                          <a:effectLst/>
                        </a:rPr>
                        <a:t>Nhiễu – Mô hình nhiễu – Khôi phục ảnh (Noise and restoration)</a:t>
                      </a:r>
                    </a:p>
                  </a:txBody>
                  <a:tcPr marL="38851" marR="38851" marT="0" marB="0" anchor="ctr"/>
                </a:tc>
                <a:tc>
                  <a:txBody>
                    <a:bodyPr/>
                    <a:lstStyle/>
                    <a:p>
                      <a:pPr>
                        <a:spcAft>
                          <a:spcPts val="0"/>
                        </a:spcAft>
                      </a:pPr>
                      <a:r>
                        <a:rPr lang="vi-VN" sz="1200" dirty="0">
                          <a:effectLst/>
                        </a:rPr>
                        <a:t>Thực hành ở nhà</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489213664"/>
                  </a:ext>
                </a:extLst>
              </a:tr>
              <a:tr h="219849">
                <a:tc>
                  <a:txBody>
                    <a:bodyPr/>
                    <a:lstStyle/>
                    <a:p>
                      <a:pPr algn="r">
                        <a:spcAft>
                          <a:spcPts val="0"/>
                        </a:spcAft>
                      </a:pPr>
                      <a:r>
                        <a:rPr lang="en-US" sz="1200" dirty="0">
                          <a:effectLst/>
                        </a:rPr>
                        <a:t>13</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spcAft>
                          <a:spcPts val="0"/>
                        </a:spcAft>
                      </a:pPr>
                      <a:r>
                        <a:rPr lang="vi-VN" sz="1200" dirty="0">
                          <a:effectLst/>
                        </a:rPr>
                        <a:t>Nén ảnh (Compression)</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rPr>
                        <a:t>Thực hành ở nhà</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2835859816"/>
                  </a:ext>
                </a:extLst>
              </a:tr>
              <a:tr h="207157">
                <a:tc>
                  <a:txBody>
                    <a:bodyPr/>
                    <a:lstStyle/>
                    <a:p>
                      <a:pPr algn="r">
                        <a:spcAft>
                          <a:spcPts val="0"/>
                        </a:spcAft>
                      </a:pPr>
                      <a:r>
                        <a:rPr lang="en-US" sz="1200" dirty="0">
                          <a:effectLst/>
                        </a:rPr>
                        <a:t>14</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spcAft>
                          <a:spcPts val="0"/>
                        </a:spcAft>
                      </a:pPr>
                      <a:r>
                        <a:rPr lang="vi-VN" sz="1200" dirty="0">
                          <a:effectLst/>
                        </a:rPr>
                        <a:t>Hướng dẫn thực hiện đồ án môn học</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tc>
                  <a:txBody>
                    <a:bodyPr/>
                    <a:lstStyle/>
                    <a:p>
                      <a:pPr>
                        <a:spcAft>
                          <a:spcPts val="0"/>
                        </a:spcAft>
                      </a:pPr>
                      <a:r>
                        <a:rPr lang="vi-VN" sz="1200" dirty="0">
                          <a:effectLst/>
                        </a:rPr>
                        <a:t>Trình bày đồ án môn học</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2384367590"/>
                  </a:ext>
                </a:extLst>
              </a:tr>
              <a:tr h="219849">
                <a:tc>
                  <a:txBody>
                    <a:bodyPr/>
                    <a:lstStyle/>
                    <a:p>
                      <a:pPr algn="r">
                        <a:spcAft>
                          <a:spcPts val="0"/>
                        </a:spcAft>
                      </a:pPr>
                      <a:r>
                        <a:rPr lang="en-US" sz="1200" dirty="0">
                          <a:effectLst/>
                        </a:rPr>
                        <a:t>15</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tc>
                <a:tc>
                  <a:txBody>
                    <a:bodyPr/>
                    <a:lstStyle/>
                    <a:p>
                      <a:pPr>
                        <a:spcAft>
                          <a:spcPts val="0"/>
                        </a:spcAft>
                      </a:pPr>
                      <a:r>
                        <a:rPr lang="vi-VN" sz="1200" dirty="0">
                          <a:effectLst/>
                        </a:rPr>
                        <a:t>Hướng dẫn thực hiện đồ án môn học </a:t>
                      </a:r>
                    </a:p>
                    <a:p>
                      <a:pPr>
                        <a:spcAft>
                          <a:spcPts val="0"/>
                        </a:spcAft>
                      </a:pPr>
                      <a:r>
                        <a:rPr lang="vi-VN" sz="1200" dirty="0">
                          <a:effectLst/>
                          <a:highlight>
                            <a:srgbClr val="FFFF00"/>
                          </a:highlight>
                          <a:latin typeface="Calibri" panose="020F0502020204030204" pitchFamily="34" charset="0"/>
                          <a:ea typeface="Yu Mincho" panose="02020400000000000000" pitchFamily="18" charset="-128"/>
                          <a:cs typeface="Times New Roman" panose="02020603050405020304" pitchFamily="18" charset="0"/>
                        </a:rPr>
                        <a:t>Tổng kết cuối kỳ</a:t>
                      </a:r>
                      <a:endParaRPr lang="en-US" sz="1200" dirty="0">
                        <a:effectLst/>
                        <a:highlight>
                          <a:srgbClr val="FFFF00"/>
                        </a:highligh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tc>
                  <a:txBody>
                    <a:bodyPr/>
                    <a:lstStyle/>
                    <a:p>
                      <a:pPr>
                        <a:spcAft>
                          <a:spcPts val="0"/>
                        </a:spcAft>
                      </a:pPr>
                      <a:r>
                        <a:rPr lang="vi-VN" sz="1200" dirty="0">
                          <a:effectLst/>
                        </a:rPr>
                        <a:t>Trình bày đồ án môn học</a:t>
                      </a:r>
                      <a:endParaRPr lang="en-US" sz="1200" dirty="0">
                        <a:effectLst/>
                        <a:latin typeface="Calibri" panose="020F0502020204030204" pitchFamily="34" charset="0"/>
                        <a:ea typeface="Yu Mincho" panose="02020400000000000000" pitchFamily="18" charset="-128"/>
                        <a:cs typeface="Times New Roman" panose="02020603050405020304" pitchFamily="18" charset="0"/>
                      </a:endParaRPr>
                    </a:p>
                  </a:txBody>
                  <a:tcPr marL="38851" marR="38851" marT="0" marB="0" anchor="ctr"/>
                </a:tc>
                <a:extLst>
                  <a:ext uri="{0D108BD9-81ED-4DB2-BD59-A6C34878D82A}">
                    <a16:rowId xmlns:a16="http://schemas.microsoft.com/office/drawing/2014/main" val="3521864853"/>
                  </a:ext>
                </a:extLst>
              </a:tr>
            </a:tbl>
          </a:graphicData>
        </a:graphic>
      </p:graphicFrame>
    </p:spTree>
    <p:extLst>
      <p:ext uri="{BB962C8B-B14F-4D97-AF65-F5344CB8AC3E}">
        <p14:creationId xmlns:p14="http://schemas.microsoft.com/office/powerpoint/2010/main" val="527533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F214ED-1D81-9648-80F3-281C56C4B92C}"/>
              </a:ext>
            </a:extLst>
          </p:cNvPr>
          <p:cNvSpPr>
            <a:spLocks noGrp="1"/>
          </p:cNvSpPr>
          <p:nvPr>
            <p:ph type="title"/>
          </p:nvPr>
        </p:nvSpPr>
        <p:spPr/>
        <p:txBody>
          <a:bodyPr/>
          <a:lstStyle/>
          <a:p>
            <a:r>
              <a:rPr lang="en-VN" dirty="0"/>
              <a:t>Recall week 5</a:t>
            </a:r>
          </a:p>
        </p:txBody>
      </p:sp>
      <p:sp>
        <p:nvSpPr>
          <p:cNvPr id="4" name="Content Placeholder 3">
            <a:extLst>
              <a:ext uri="{FF2B5EF4-FFF2-40B4-BE49-F238E27FC236}">
                <a16:creationId xmlns:a16="http://schemas.microsoft.com/office/drawing/2014/main" id="{0EAB76E7-4701-CC4C-933C-ACDF936C8CD6}"/>
              </a:ext>
            </a:extLst>
          </p:cNvPr>
          <p:cNvSpPr>
            <a:spLocks noGrp="1"/>
          </p:cNvSpPr>
          <p:nvPr>
            <p:ph idx="1"/>
          </p:nvPr>
        </p:nvSpPr>
        <p:spPr/>
        <p:txBody>
          <a:bodyPr/>
          <a:lstStyle/>
          <a:p>
            <a:r>
              <a:rPr lang="en-VN" dirty="0"/>
              <a:t>Filter design</a:t>
            </a:r>
          </a:p>
          <a:p>
            <a:r>
              <a:rPr lang="en-VN" dirty="0"/>
              <a:t>Edge-preserving smoothing filter</a:t>
            </a:r>
          </a:p>
          <a:p>
            <a:r>
              <a:rPr lang="en-VN" dirty="0"/>
              <a:t>Automatic filter learning with deep learning</a:t>
            </a:r>
          </a:p>
        </p:txBody>
      </p:sp>
    </p:spTree>
    <p:extLst>
      <p:ext uri="{BB962C8B-B14F-4D97-AF65-F5344CB8AC3E}">
        <p14:creationId xmlns:p14="http://schemas.microsoft.com/office/powerpoint/2010/main" val="480295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033A2-2E3B-4440-B90D-273D3583585C}"/>
              </a:ext>
            </a:extLst>
          </p:cNvPr>
          <p:cNvSpPr>
            <a:spLocks noGrp="1"/>
          </p:cNvSpPr>
          <p:nvPr>
            <p:ph type="title"/>
          </p:nvPr>
        </p:nvSpPr>
        <p:spPr/>
        <p:txBody>
          <a:bodyPr/>
          <a:lstStyle/>
          <a:p>
            <a:r>
              <a:rPr lang="en-VN" dirty="0"/>
              <a:t>Week 6</a:t>
            </a:r>
          </a:p>
        </p:txBody>
      </p:sp>
      <p:sp>
        <p:nvSpPr>
          <p:cNvPr id="5" name="Text Placeholder 4">
            <a:extLst>
              <a:ext uri="{FF2B5EF4-FFF2-40B4-BE49-F238E27FC236}">
                <a16:creationId xmlns:a16="http://schemas.microsoft.com/office/drawing/2014/main" id="{86B15E0A-FCBA-4445-904A-E3119BED12D5}"/>
              </a:ext>
            </a:extLst>
          </p:cNvPr>
          <p:cNvSpPr>
            <a:spLocks noGrp="1"/>
          </p:cNvSpPr>
          <p:nvPr>
            <p:ph type="body" idx="1"/>
          </p:nvPr>
        </p:nvSpPr>
        <p:spPr/>
        <p:txBody>
          <a:bodyPr/>
          <a:lstStyle/>
          <a:p>
            <a:pPr marL="342900" indent="-342900">
              <a:buFontTx/>
              <a:buChar char="-"/>
            </a:pPr>
            <a:r>
              <a:rPr lang="en-VN" dirty="0"/>
              <a:t>Template matching</a:t>
            </a:r>
          </a:p>
          <a:p>
            <a:pPr marL="342900" indent="-342900">
              <a:buFontTx/>
              <a:buChar char="-"/>
            </a:pPr>
            <a:r>
              <a:rPr lang="en-VN" dirty="0"/>
              <a:t>Filters &amp; Histogram</a:t>
            </a:r>
          </a:p>
        </p:txBody>
      </p:sp>
    </p:spTree>
    <p:extLst>
      <p:ext uri="{BB962C8B-B14F-4D97-AF65-F5344CB8AC3E}">
        <p14:creationId xmlns:p14="http://schemas.microsoft.com/office/powerpoint/2010/main" val="1145475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65896-A572-B340-85EE-4A90E720A54F}"/>
              </a:ext>
            </a:extLst>
          </p:cNvPr>
          <p:cNvSpPr>
            <a:spLocks noGrp="1"/>
          </p:cNvSpPr>
          <p:nvPr>
            <p:ph type="title"/>
          </p:nvPr>
        </p:nvSpPr>
        <p:spPr/>
        <p:txBody>
          <a:bodyPr/>
          <a:lstStyle/>
          <a:p>
            <a:r>
              <a:rPr lang="en-US" dirty="0"/>
              <a:t>Template matching</a:t>
            </a:r>
          </a:p>
        </p:txBody>
      </p:sp>
      <p:sp>
        <p:nvSpPr>
          <p:cNvPr id="3" name="Text Placeholder 2">
            <a:extLst>
              <a:ext uri="{FF2B5EF4-FFF2-40B4-BE49-F238E27FC236}">
                <a16:creationId xmlns:a16="http://schemas.microsoft.com/office/drawing/2014/main" id="{2A757EEF-DAD4-9F4D-B7B9-1B4A53DB32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6680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F7A99-4D68-EB4C-BD2E-98926DF9BB0C}"/>
              </a:ext>
            </a:extLst>
          </p:cNvPr>
          <p:cNvSpPr>
            <a:spLocks noGrp="1"/>
          </p:cNvSpPr>
          <p:nvPr>
            <p:ph type="title"/>
          </p:nvPr>
        </p:nvSpPr>
        <p:spPr/>
        <p:txBody>
          <a:bodyPr/>
          <a:lstStyle/>
          <a:p>
            <a:r>
              <a:rPr lang="en-US" dirty="0"/>
              <a:t>Template matching</a:t>
            </a:r>
          </a:p>
        </p:txBody>
      </p:sp>
      <p:sp>
        <p:nvSpPr>
          <p:cNvPr id="3" name="Content Placeholder 2">
            <a:extLst>
              <a:ext uri="{FF2B5EF4-FFF2-40B4-BE49-F238E27FC236}">
                <a16:creationId xmlns:a16="http://schemas.microsoft.com/office/drawing/2014/main" id="{AF3C6AB2-9C2F-1D49-8CBC-8FCA6F80D71D}"/>
              </a:ext>
            </a:extLst>
          </p:cNvPr>
          <p:cNvSpPr>
            <a:spLocks noGrp="1"/>
          </p:cNvSpPr>
          <p:nvPr>
            <p:ph idx="1"/>
          </p:nvPr>
        </p:nvSpPr>
        <p:spPr>
          <a:xfrm>
            <a:off x="838200" y="1825625"/>
            <a:ext cx="10515600" cy="932815"/>
          </a:xfrm>
        </p:spPr>
        <p:txBody>
          <a:bodyPr/>
          <a:lstStyle/>
          <a:p>
            <a:r>
              <a:rPr lang="en-US" dirty="0"/>
              <a:t>What if we cut little pictures out from an image, then tried to do cross correlation them with the same or other images?</a:t>
            </a:r>
          </a:p>
        </p:txBody>
      </p:sp>
      <p:pic>
        <p:nvPicPr>
          <p:cNvPr id="4" name="Picture 3">
            <a:extLst>
              <a:ext uri="{FF2B5EF4-FFF2-40B4-BE49-F238E27FC236}">
                <a16:creationId xmlns:a16="http://schemas.microsoft.com/office/drawing/2014/main" id="{468CA2C7-1FAE-2043-B1A7-C559EF4FE273}"/>
              </a:ext>
            </a:extLst>
          </p:cNvPr>
          <p:cNvPicPr>
            <a:picLocks noChangeAspect="1"/>
          </p:cNvPicPr>
          <p:nvPr/>
        </p:nvPicPr>
        <p:blipFill>
          <a:blip r:embed="rId2"/>
          <a:stretch>
            <a:fillRect/>
          </a:stretch>
        </p:blipFill>
        <p:spPr>
          <a:xfrm>
            <a:off x="3049843" y="2893377"/>
            <a:ext cx="6092313" cy="3810256"/>
          </a:xfrm>
          <a:prstGeom prst="rect">
            <a:avLst/>
          </a:prstGeom>
        </p:spPr>
      </p:pic>
    </p:spTree>
    <p:extLst>
      <p:ext uri="{BB962C8B-B14F-4D97-AF65-F5344CB8AC3E}">
        <p14:creationId xmlns:p14="http://schemas.microsoft.com/office/powerpoint/2010/main" val="1364974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ED9A9F-26EA-7949-B913-729CB8EAC56E}"/>
              </a:ext>
            </a:extLst>
          </p:cNvPr>
          <p:cNvSpPr>
            <a:spLocks noGrp="1"/>
          </p:cNvSpPr>
          <p:nvPr>
            <p:ph type="title"/>
          </p:nvPr>
        </p:nvSpPr>
        <p:spPr/>
        <p:txBody>
          <a:bodyPr/>
          <a:lstStyle/>
          <a:p>
            <a:r>
              <a:rPr lang="en-US" dirty="0"/>
              <a:t>Template matching</a:t>
            </a:r>
          </a:p>
        </p:txBody>
      </p:sp>
      <p:pic>
        <p:nvPicPr>
          <p:cNvPr id="5" name="Picture 4">
            <a:extLst>
              <a:ext uri="{FF2B5EF4-FFF2-40B4-BE49-F238E27FC236}">
                <a16:creationId xmlns:a16="http://schemas.microsoft.com/office/drawing/2014/main" id="{9B306788-85B8-9942-A001-8AC0780266EC}"/>
              </a:ext>
            </a:extLst>
          </p:cNvPr>
          <p:cNvPicPr>
            <a:picLocks noChangeAspect="1"/>
          </p:cNvPicPr>
          <p:nvPr/>
        </p:nvPicPr>
        <p:blipFill>
          <a:blip r:embed="rId2"/>
          <a:stretch>
            <a:fillRect/>
          </a:stretch>
        </p:blipFill>
        <p:spPr>
          <a:xfrm>
            <a:off x="2468880" y="2135816"/>
            <a:ext cx="6407802" cy="4310703"/>
          </a:xfrm>
          <a:prstGeom prst="rect">
            <a:avLst/>
          </a:prstGeom>
        </p:spPr>
      </p:pic>
      <mc:AlternateContent xmlns:mc="http://schemas.openxmlformats.org/markup-compatibility/2006" xmlns:p14="http://schemas.microsoft.com/office/powerpoint/2010/main">
        <mc:Choice Requires="p14">
          <p:contentPart p14:bwMode="auto" r:id="rId3">
            <p14:nvContentPartPr>
              <p14:cNvPr id="84" name="Ink 83">
                <a:extLst>
                  <a:ext uri="{FF2B5EF4-FFF2-40B4-BE49-F238E27FC236}">
                    <a16:creationId xmlns:a16="http://schemas.microsoft.com/office/drawing/2014/main" id="{D6ED2701-4EB4-9541-A07C-689506B1CB40}"/>
                  </a:ext>
                </a:extLst>
              </p14:cNvPr>
              <p14:cNvContentPartPr/>
              <p14:nvPr/>
            </p14:nvContentPartPr>
            <p14:xfrm>
              <a:off x="10867463" y="3140971"/>
              <a:ext cx="3960" cy="6480"/>
            </p14:xfrm>
          </p:contentPart>
        </mc:Choice>
        <mc:Fallback xmlns="">
          <p:pic>
            <p:nvPicPr>
              <p:cNvPr id="84" name="Ink 83">
                <a:extLst>
                  <a:ext uri="{FF2B5EF4-FFF2-40B4-BE49-F238E27FC236}">
                    <a16:creationId xmlns:a16="http://schemas.microsoft.com/office/drawing/2014/main" id="{D6ED2701-4EB4-9541-A07C-689506B1CB40}"/>
                  </a:ext>
                </a:extLst>
              </p:cNvPr>
              <p:cNvPicPr/>
              <p:nvPr/>
            </p:nvPicPr>
            <p:blipFill>
              <a:blip r:embed="rId4"/>
              <a:stretch>
                <a:fillRect/>
              </a:stretch>
            </p:blipFill>
            <p:spPr>
              <a:xfrm>
                <a:off x="10858823" y="3132331"/>
                <a:ext cx="21600" cy="24120"/>
              </a:xfrm>
              <a:prstGeom prst="rect">
                <a:avLst/>
              </a:prstGeom>
            </p:spPr>
          </p:pic>
        </mc:Fallback>
      </mc:AlternateContent>
    </p:spTree>
    <p:extLst>
      <p:ext uri="{BB962C8B-B14F-4D97-AF65-F5344CB8AC3E}">
        <p14:creationId xmlns:p14="http://schemas.microsoft.com/office/powerpoint/2010/main" val="2815450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ED9A9F-26EA-7949-B913-729CB8EAC56E}"/>
              </a:ext>
            </a:extLst>
          </p:cNvPr>
          <p:cNvSpPr>
            <a:spLocks noGrp="1"/>
          </p:cNvSpPr>
          <p:nvPr>
            <p:ph type="title"/>
          </p:nvPr>
        </p:nvSpPr>
        <p:spPr/>
        <p:txBody>
          <a:bodyPr/>
          <a:lstStyle/>
          <a:p>
            <a:r>
              <a:rPr lang="en-US" dirty="0"/>
              <a:t>Template matching</a:t>
            </a:r>
          </a:p>
        </p:txBody>
      </p:sp>
      <p:pic>
        <p:nvPicPr>
          <p:cNvPr id="2" name="Picture 1">
            <a:extLst>
              <a:ext uri="{FF2B5EF4-FFF2-40B4-BE49-F238E27FC236}">
                <a16:creationId xmlns:a16="http://schemas.microsoft.com/office/drawing/2014/main" id="{09886F45-429A-5B45-959B-C4ACA9262045}"/>
              </a:ext>
            </a:extLst>
          </p:cNvPr>
          <p:cNvPicPr>
            <a:picLocks noChangeAspect="1"/>
          </p:cNvPicPr>
          <p:nvPr/>
        </p:nvPicPr>
        <p:blipFill>
          <a:blip r:embed="rId2"/>
          <a:stretch>
            <a:fillRect/>
          </a:stretch>
        </p:blipFill>
        <p:spPr>
          <a:xfrm>
            <a:off x="2491740" y="1690688"/>
            <a:ext cx="6881552" cy="4698439"/>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AEED8FE-72CC-8A46-84E9-61761EFB0D9F}"/>
                  </a:ext>
                </a:extLst>
              </p14:cNvPr>
              <p14:cNvContentPartPr/>
              <p14:nvPr/>
            </p14:nvContentPartPr>
            <p14:xfrm>
              <a:off x="7343063" y="5980291"/>
              <a:ext cx="385920" cy="190440"/>
            </p14:xfrm>
          </p:contentPart>
        </mc:Choice>
        <mc:Fallback xmlns="">
          <p:pic>
            <p:nvPicPr>
              <p:cNvPr id="3" name="Ink 2">
                <a:extLst>
                  <a:ext uri="{FF2B5EF4-FFF2-40B4-BE49-F238E27FC236}">
                    <a16:creationId xmlns:a16="http://schemas.microsoft.com/office/drawing/2014/main" id="{2AEED8FE-72CC-8A46-84E9-61761EFB0D9F}"/>
                  </a:ext>
                </a:extLst>
              </p:cNvPr>
              <p:cNvPicPr/>
              <p:nvPr/>
            </p:nvPicPr>
            <p:blipFill>
              <a:blip r:embed="rId4"/>
              <a:stretch>
                <a:fillRect/>
              </a:stretch>
            </p:blipFill>
            <p:spPr>
              <a:xfrm>
                <a:off x="7334063" y="5971651"/>
                <a:ext cx="403560" cy="208080"/>
              </a:xfrm>
              <a:prstGeom prst="rect">
                <a:avLst/>
              </a:prstGeom>
            </p:spPr>
          </p:pic>
        </mc:Fallback>
      </mc:AlternateContent>
    </p:spTree>
    <p:extLst>
      <p:ext uri="{BB962C8B-B14F-4D97-AF65-F5344CB8AC3E}">
        <p14:creationId xmlns:p14="http://schemas.microsoft.com/office/powerpoint/2010/main" val="672963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2E808-DC38-E247-955C-006A5FC06343}"/>
              </a:ext>
            </a:extLst>
          </p:cNvPr>
          <p:cNvSpPr>
            <a:spLocks noGrp="1"/>
          </p:cNvSpPr>
          <p:nvPr>
            <p:ph type="title"/>
          </p:nvPr>
        </p:nvSpPr>
        <p:spPr/>
        <p:txBody>
          <a:bodyPr/>
          <a:lstStyle/>
          <a:p>
            <a:r>
              <a:rPr lang="en-US" dirty="0"/>
              <a:t>Actually...</a:t>
            </a:r>
          </a:p>
        </p:txBody>
      </p:sp>
      <p:sp>
        <p:nvSpPr>
          <p:cNvPr id="3" name="TextBox 2">
            <a:extLst>
              <a:ext uri="{FF2B5EF4-FFF2-40B4-BE49-F238E27FC236}">
                <a16:creationId xmlns:a16="http://schemas.microsoft.com/office/drawing/2014/main" id="{C6CD28C4-985E-D843-B871-AD49362C3C94}"/>
              </a:ext>
            </a:extLst>
          </p:cNvPr>
          <p:cNvSpPr txBox="1"/>
          <p:nvPr/>
        </p:nvSpPr>
        <p:spPr>
          <a:xfrm>
            <a:off x="815340" y="2339340"/>
            <a:ext cx="9833461" cy="1200329"/>
          </a:xfrm>
          <a:prstGeom prst="rect">
            <a:avLst/>
          </a:prstGeom>
          <a:noFill/>
        </p:spPr>
        <p:txBody>
          <a:bodyPr wrap="none" rtlCol="0">
            <a:spAutoFit/>
          </a:bodyPr>
          <a:lstStyle/>
          <a:p>
            <a:r>
              <a:rPr lang="en-US" dirty="0"/>
              <a:t>I subtracted the mean gray value from both the image and the template before doing cross correlation.</a:t>
            </a:r>
          </a:p>
          <a:p>
            <a:endParaRPr lang="en-US" dirty="0"/>
          </a:p>
          <a:p>
            <a:endParaRPr lang="en-US" dirty="0"/>
          </a:p>
          <a:p>
            <a:r>
              <a:rPr lang="en-US" dirty="0"/>
              <a:t>Why?</a:t>
            </a:r>
          </a:p>
        </p:txBody>
      </p:sp>
    </p:spTree>
    <p:extLst>
      <p:ext uri="{BB962C8B-B14F-4D97-AF65-F5344CB8AC3E}">
        <p14:creationId xmlns:p14="http://schemas.microsoft.com/office/powerpoint/2010/main" val="1640038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7D0D-A349-F74D-A81B-F084DF8FDA19}"/>
              </a:ext>
            </a:extLst>
          </p:cNvPr>
          <p:cNvSpPr>
            <a:spLocks noGrp="1"/>
          </p:cNvSpPr>
          <p:nvPr>
            <p:ph type="title"/>
          </p:nvPr>
        </p:nvSpPr>
        <p:spPr/>
        <p:txBody>
          <a:bodyPr/>
          <a:lstStyle/>
          <a:p>
            <a:r>
              <a:rPr lang="en-US" dirty="0"/>
              <a:t>Problem with correlation of raw image template</a:t>
            </a:r>
          </a:p>
        </p:txBody>
      </p:sp>
      <p:pic>
        <p:nvPicPr>
          <p:cNvPr id="3" name="Picture 2">
            <a:extLst>
              <a:ext uri="{FF2B5EF4-FFF2-40B4-BE49-F238E27FC236}">
                <a16:creationId xmlns:a16="http://schemas.microsoft.com/office/drawing/2014/main" id="{9EEB9A26-B1AA-5E44-9238-44AD7A66067C}"/>
              </a:ext>
            </a:extLst>
          </p:cNvPr>
          <p:cNvPicPr>
            <a:picLocks noChangeAspect="1"/>
          </p:cNvPicPr>
          <p:nvPr/>
        </p:nvPicPr>
        <p:blipFill>
          <a:blip r:embed="rId2"/>
          <a:stretch>
            <a:fillRect/>
          </a:stretch>
        </p:blipFill>
        <p:spPr>
          <a:xfrm>
            <a:off x="2682240" y="3427424"/>
            <a:ext cx="4897469" cy="2912415"/>
          </a:xfrm>
          <a:prstGeom prst="rect">
            <a:avLst/>
          </a:prstGeom>
        </p:spPr>
      </p:pic>
      <p:sp>
        <p:nvSpPr>
          <p:cNvPr id="4" name="TextBox 3">
            <a:extLst>
              <a:ext uri="{FF2B5EF4-FFF2-40B4-BE49-F238E27FC236}">
                <a16:creationId xmlns:a16="http://schemas.microsoft.com/office/drawing/2014/main" id="{A809A948-28E4-4D4A-A5AD-6053B0C19BF5}"/>
              </a:ext>
            </a:extLst>
          </p:cNvPr>
          <p:cNvSpPr txBox="1"/>
          <p:nvPr/>
        </p:nvSpPr>
        <p:spPr>
          <a:xfrm>
            <a:off x="1569720" y="2133600"/>
            <a:ext cx="6821355" cy="369332"/>
          </a:xfrm>
          <a:prstGeom prst="rect">
            <a:avLst/>
          </a:prstGeom>
          <a:noFill/>
        </p:spPr>
        <p:txBody>
          <a:bodyPr wrap="none" rtlCol="0">
            <a:spAutoFit/>
          </a:bodyPr>
          <a:lstStyle/>
          <a:p>
            <a:r>
              <a:rPr lang="en-US" dirty="0"/>
              <a:t>Consider correlation of template with an image of constant grey value:</a:t>
            </a:r>
          </a:p>
        </p:txBody>
      </p:sp>
    </p:spTree>
    <p:extLst>
      <p:ext uri="{BB962C8B-B14F-4D97-AF65-F5344CB8AC3E}">
        <p14:creationId xmlns:p14="http://schemas.microsoft.com/office/powerpoint/2010/main" val="708686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5717A4-9186-F249-83B4-1293A0B708C4}"/>
              </a:ext>
            </a:extLst>
          </p:cNvPr>
          <p:cNvSpPr>
            <a:spLocks noGrp="1"/>
          </p:cNvSpPr>
          <p:nvPr>
            <p:ph type="title"/>
          </p:nvPr>
        </p:nvSpPr>
        <p:spPr/>
        <p:txBody>
          <a:bodyPr/>
          <a:lstStyle/>
          <a:p>
            <a:r>
              <a:rPr lang="en-US" dirty="0"/>
              <a:t>Problem with correlation of raw image template</a:t>
            </a:r>
          </a:p>
        </p:txBody>
      </p:sp>
      <p:sp>
        <p:nvSpPr>
          <p:cNvPr id="7" name="TextBox 6">
            <a:extLst>
              <a:ext uri="{FF2B5EF4-FFF2-40B4-BE49-F238E27FC236}">
                <a16:creationId xmlns:a16="http://schemas.microsoft.com/office/drawing/2014/main" id="{31E4428D-BEF8-B743-ADDA-C22582616908}"/>
              </a:ext>
            </a:extLst>
          </p:cNvPr>
          <p:cNvSpPr txBox="1"/>
          <p:nvPr/>
        </p:nvSpPr>
        <p:spPr>
          <a:xfrm>
            <a:off x="1569720" y="2133600"/>
            <a:ext cx="6728317" cy="369332"/>
          </a:xfrm>
          <a:prstGeom prst="rect">
            <a:avLst/>
          </a:prstGeom>
          <a:noFill/>
        </p:spPr>
        <p:txBody>
          <a:bodyPr wrap="none" rtlCol="0">
            <a:spAutoFit/>
          </a:bodyPr>
          <a:lstStyle/>
          <a:p>
            <a:r>
              <a:rPr lang="en-US" dirty="0"/>
              <a:t>Now consider correlation with a constant image that is twice as bright</a:t>
            </a:r>
          </a:p>
        </p:txBody>
      </p:sp>
      <p:pic>
        <p:nvPicPr>
          <p:cNvPr id="8" name="Picture 7">
            <a:extLst>
              <a:ext uri="{FF2B5EF4-FFF2-40B4-BE49-F238E27FC236}">
                <a16:creationId xmlns:a16="http://schemas.microsoft.com/office/drawing/2014/main" id="{8AA3C6C8-B408-C143-B818-D9217FCAF870}"/>
              </a:ext>
            </a:extLst>
          </p:cNvPr>
          <p:cNvPicPr>
            <a:picLocks noChangeAspect="1"/>
          </p:cNvPicPr>
          <p:nvPr/>
        </p:nvPicPr>
        <p:blipFill>
          <a:blip r:embed="rId2"/>
          <a:stretch>
            <a:fillRect/>
          </a:stretch>
        </p:blipFill>
        <p:spPr>
          <a:xfrm>
            <a:off x="3107301" y="2502932"/>
            <a:ext cx="5190736" cy="3307610"/>
          </a:xfrm>
          <a:prstGeom prst="rect">
            <a:avLst/>
          </a:prstGeom>
        </p:spPr>
      </p:pic>
      <p:sp>
        <p:nvSpPr>
          <p:cNvPr id="9" name="TextBox 8">
            <a:extLst>
              <a:ext uri="{FF2B5EF4-FFF2-40B4-BE49-F238E27FC236}">
                <a16:creationId xmlns:a16="http://schemas.microsoft.com/office/drawing/2014/main" id="{A570C67D-6C2C-3840-B3E2-8D069FA5A26F}"/>
              </a:ext>
            </a:extLst>
          </p:cNvPr>
          <p:cNvSpPr txBox="1"/>
          <p:nvPr/>
        </p:nvSpPr>
        <p:spPr>
          <a:xfrm>
            <a:off x="1264920" y="6294120"/>
            <a:ext cx="4699492" cy="369332"/>
          </a:xfrm>
          <a:prstGeom prst="rect">
            <a:avLst/>
          </a:prstGeom>
          <a:noFill/>
        </p:spPr>
        <p:txBody>
          <a:bodyPr wrap="none" rtlCol="0">
            <a:spAutoFit/>
          </a:bodyPr>
          <a:lstStyle/>
          <a:p>
            <a:r>
              <a:rPr lang="en-US" dirty="0">
                <a:solidFill>
                  <a:srgbClr val="0070C0"/>
                </a:solidFill>
              </a:rPr>
              <a:t>Larger score, regardless of what the template is!</a:t>
            </a:r>
          </a:p>
        </p:txBody>
      </p:sp>
    </p:spTree>
    <p:extLst>
      <p:ext uri="{BB962C8B-B14F-4D97-AF65-F5344CB8AC3E}">
        <p14:creationId xmlns:p14="http://schemas.microsoft.com/office/powerpoint/2010/main" val="1651711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0966-980C-1A49-8E60-1F01D76A1FD1}"/>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B99D7677-B755-224C-9832-39F71A107075}"/>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Subtract off the mean value of the template</a:t>
            </a:r>
          </a:p>
          <a:p>
            <a:endParaRPr lang="en-US"/>
          </a:p>
          <a:p>
            <a:r>
              <a:rPr lang="en-US"/>
              <a:t>In this way, the correlation score is higher only when darker parts of the template overlap darker parts of the image, and the brighter parts of the template overlap brighter parts of the image</a:t>
            </a:r>
            <a:endParaRPr lang="en-US" dirty="0"/>
          </a:p>
        </p:txBody>
      </p: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6D737FF2-7ECB-D44B-8E22-0075B8DF32FA}"/>
                  </a:ext>
                </a:extLst>
              </p14:cNvPr>
              <p14:cNvContentPartPr/>
              <p14:nvPr/>
            </p14:nvContentPartPr>
            <p14:xfrm>
              <a:off x="-267337" y="2860531"/>
              <a:ext cx="360" cy="360"/>
            </p14:xfrm>
          </p:contentPart>
        </mc:Choice>
        <mc:Fallback xmlns="">
          <p:pic>
            <p:nvPicPr>
              <p:cNvPr id="15" name="Ink 14">
                <a:extLst>
                  <a:ext uri="{FF2B5EF4-FFF2-40B4-BE49-F238E27FC236}">
                    <a16:creationId xmlns:a16="http://schemas.microsoft.com/office/drawing/2014/main" id="{6D737FF2-7ECB-D44B-8E22-0075B8DF32FA}"/>
                  </a:ext>
                </a:extLst>
              </p:cNvPr>
              <p:cNvPicPr/>
              <p:nvPr/>
            </p:nvPicPr>
            <p:blipFill>
              <a:blip r:embed="rId3"/>
              <a:stretch>
                <a:fillRect/>
              </a:stretch>
            </p:blipFill>
            <p:spPr>
              <a:xfrm>
                <a:off x="-275977" y="2851531"/>
                <a:ext cx="18000" cy="18000"/>
              </a:xfrm>
              <a:prstGeom prst="rect">
                <a:avLst/>
              </a:prstGeom>
            </p:spPr>
          </p:pic>
        </mc:Fallback>
      </mc:AlternateContent>
    </p:spTree>
    <p:extLst>
      <p:ext uri="{BB962C8B-B14F-4D97-AF65-F5344CB8AC3E}">
        <p14:creationId xmlns:p14="http://schemas.microsoft.com/office/powerpoint/2010/main" val="3913599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294F2-F4C4-D844-9E9F-D492531EAD93}"/>
              </a:ext>
            </a:extLst>
          </p:cNvPr>
          <p:cNvSpPr>
            <a:spLocks noGrp="1"/>
          </p:cNvSpPr>
          <p:nvPr>
            <p:ph type="title"/>
          </p:nvPr>
        </p:nvSpPr>
        <p:spPr/>
        <p:txBody>
          <a:bodyPr/>
          <a:lstStyle/>
          <a:p>
            <a:r>
              <a:rPr lang="en-US" dirty="0"/>
              <a:t>Correspondence problem</a:t>
            </a:r>
          </a:p>
        </p:txBody>
      </p:sp>
      <p:pic>
        <p:nvPicPr>
          <p:cNvPr id="3" name="Picture 2">
            <a:extLst>
              <a:ext uri="{FF2B5EF4-FFF2-40B4-BE49-F238E27FC236}">
                <a16:creationId xmlns:a16="http://schemas.microsoft.com/office/drawing/2014/main" id="{30B22AFB-D8C5-BE45-966C-862FFE9D20C6}"/>
              </a:ext>
            </a:extLst>
          </p:cNvPr>
          <p:cNvPicPr>
            <a:picLocks noChangeAspect="1"/>
          </p:cNvPicPr>
          <p:nvPr/>
        </p:nvPicPr>
        <p:blipFill>
          <a:blip r:embed="rId2"/>
          <a:stretch>
            <a:fillRect/>
          </a:stretch>
        </p:blipFill>
        <p:spPr>
          <a:xfrm>
            <a:off x="2341133" y="2030523"/>
            <a:ext cx="7277100" cy="4090125"/>
          </a:xfrm>
          <a:prstGeom prst="rect">
            <a:avLst/>
          </a:prstGeom>
        </p:spPr>
      </p:pic>
      <p:sp>
        <p:nvSpPr>
          <p:cNvPr id="4" name="TextBox 3">
            <a:extLst>
              <a:ext uri="{FF2B5EF4-FFF2-40B4-BE49-F238E27FC236}">
                <a16:creationId xmlns:a16="http://schemas.microsoft.com/office/drawing/2014/main" id="{F1CD4500-A9F3-424D-BE36-5A7513E2C08F}"/>
              </a:ext>
            </a:extLst>
          </p:cNvPr>
          <p:cNvSpPr txBox="1"/>
          <p:nvPr/>
        </p:nvSpPr>
        <p:spPr>
          <a:xfrm>
            <a:off x="699247" y="6211669"/>
            <a:ext cx="5065361" cy="646331"/>
          </a:xfrm>
          <a:prstGeom prst="rect">
            <a:avLst/>
          </a:prstGeom>
          <a:noFill/>
        </p:spPr>
        <p:txBody>
          <a:bodyPr wrap="none" rtlCol="0">
            <a:spAutoFit/>
          </a:bodyPr>
          <a:lstStyle/>
          <a:p>
            <a:r>
              <a:rPr lang="en-US" dirty="0"/>
              <a:t>Note: this is a stereo pair from the NASA mars rover.</a:t>
            </a:r>
          </a:p>
          <a:p>
            <a:r>
              <a:rPr lang="en-US" dirty="0"/>
              <a:t>The rover is exploring the “El Capitan” formation</a:t>
            </a:r>
          </a:p>
        </p:txBody>
      </p:sp>
      <p:sp>
        <p:nvSpPr>
          <p:cNvPr id="5" name="TextBox 4">
            <a:extLst>
              <a:ext uri="{FF2B5EF4-FFF2-40B4-BE49-F238E27FC236}">
                <a16:creationId xmlns:a16="http://schemas.microsoft.com/office/drawing/2014/main" id="{808FDA4C-866B-FB4F-A96B-17B2387BCCDE}"/>
              </a:ext>
            </a:extLst>
          </p:cNvPr>
          <p:cNvSpPr txBox="1"/>
          <p:nvPr/>
        </p:nvSpPr>
        <p:spPr>
          <a:xfrm>
            <a:off x="954742" y="1597043"/>
            <a:ext cx="5542864" cy="369332"/>
          </a:xfrm>
          <a:prstGeom prst="rect">
            <a:avLst/>
          </a:prstGeom>
          <a:noFill/>
        </p:spPr>
        <p:txBody>
          <a:bodyPr wrap="none" rtlCol="0">
            <a:spAutoFit/>
          </a:bodyPr>
          <a:lstStyle/>
          <a:p>
            <a:r>
              <a:rPr lang="en-US" dirty="0">
                <a:solidFill>
                  <a:srgbClr val="0070C0"/>
                </a:solidFill>
              </a:rPr>
              <a:t>Finding corresponding feature across two or more views</a:t>
            </a:r>
          </a:p>
        </p:txBody>
      </p:sp>
    </p:spTree>
    <p:extLst>
      <p:ext uri="{BB962C8B-B14F-4D97-AF65-F5344CB8AC3E}">
        <p14:creationId xmlns:p14="http://schemas.microsoft.com/office/powerpoint/2010/main" val="396955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9EDCC-0DC7-354D-B531-60AD575757CE}"/>
              </a:ext>
            </a:extLst>
          </p:cNvPr>
          <p:cNvSpPr>
            <a:spLocks noGrp="1"/>
          </p:cNvSpPr>
          <p:nvPr>
            <p:ph type="title"/>
          </p:nvPr>
        </p:nvSpPr>
        <p:spPr/>
        <p:txBody>
          <a:bodyPr/>
          <a:lstStyle/>
          <a:p>
            <a:r>
              <a:rPr lang="en-US" dirty="0"/>
              <a:t>Example</a:t>
            </a:r>
          </a:p>
        </p:txBody>
      </p:sp>
      <p:pic>
        <p:nvPicPr>
          <p:cNvPr id="3" name="Picture 2">
            <a:extLst>
              <a:ext uri="{FF2B5EF4-FFF2-40B4-BE49-F238E27FC236}">
                <a16:creationId xmlns:a16="http://schemas.microsoft.com/office/drawing/2014/main" id="{5DFA7443-E392-AE4F-82C0-052D4C1B2A06}"/>
              </a:ext>
            </a:extLst>
          </p:cNvPr>
          <p:cNvPicPr>
            <a:picLocks noChangeAspect="1"/>
          </p:cNvPicPr>
          <p:nvPr/>
        </p:nvPicPr>
        <p:blipFill>
          <a:blip r:embed="rId2"/>
          <a:stretch>
            <a:fillRect/>
          </a:stretch>
        </p:blipFill>
        <p:spPr>
          <a:xfrm>
            <a:off x="1871382" y="1797147"/>
            <a:ext cx="8689181" cy="4891868"/>
          </a:xfrm>
          <a:prstGeom prst="rect">
            <a:avLst/>
          </a:prstGeom>
        </p:spPr>
      </p:pic>
    </p:spTree>
    <p:extLst>
      <p:ext uri="{BB962C8B-B14F-4D97-AF65-F5344CB8AC3E}">
        <p14:creationId xmlns:p14="http://schemas.microsoft.com/office/powerpoint/2010/main" val="251871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505E2-E5E8-4E43-81A2-79455FBB5C0C}"/>
              </a:ext>
            </a:extLst>
          </p:cNvPr>
          <p:cNvSpPr>
            <a:spLocks noGrp="1"/>
          </p:cNvSpPr>
          <p:nvPr>
            <p:ph type="title"/>
          </p:nvPr>
        </p:nvSpPr>
        <p:spPr/>
        <p:txBody>
          <a:bodyPr/>
          <a:lstStyle/>
          <a:p>
            <a:r>
              <a:rPr lang="en-US" dirty="0"/>
              <a:t>Example:  Raw cross-correlation</a:t>
            </a:r>
          </a:p>
        </p:txBody>
      </p:sp>
      <p:pic>
        <p:nvPicPr>
          <p:cNvPr id="3" name="Picture 2">
            <a:extLst>
              <a:ext uri="{FF2B5EF4-FFF2-40B4-BE49-F238E27FC236}">
                <a16:creationId xmlns:a16="http://schemas.microsoft.com/office/drawing/2014/main" id="{5D9D1F40-66EC-C64E-B41C-63F23DF151C2}"/>
              </a:ext>
            </a:extLst>
          </p:cNvPr>
          <p:cNvPicPr>
            <a:picLocks noChangeAspect="1"/>
          </p:cNvPicPr>
          <p:nvPr/>
        </p:nvPicPr>
        <p:blipFill rotWithShape="1">
          <a:blip r:embed="rId2"/>
          <a:srcRect t="575" b="1"/>
          <a:stretch/>
        </p:blipFill>
        <p:spPr>
          <a:xfrm>
            <a:off x="2518410" y="1830854"/>
            <a:ext cx="7155180" cy="3706459"/>
          </a:xfrm>
          <a:prstGeom prst="rect">
            <a:avLst/>
          </a:prstGeom>
        </p:spPr>
      </p:pic>
      <p:sp>
        <p:nvSpPr>
          <p:cNvPr id="4" name="TextBox 3">
            <a:extLst>
              <a:ext uri="{FF2B5EF4-FFF2-40B4-BE49-F238E27FC236}">
                <a16:creationId xmlns:a16="http://schemas.microsoft.com/office/drawing/2014/main" id="{BD45C803-152F-C04E-AC95-BD589C64E880}"/>
              </a:ext>
            </a:extLst>
          </p:cNvPr>
          <p:cNvSpPr txBox="1"/>
          <p:nvPr/>
        </p:nvSpPr>
        <p:spPr>
          <a:xfrm>
            <a:off x="3131820" y="5951220"/>
            <a:ext cx="929742" cy="369332"/>
          </a:xfrm>
          <a:prstGeom prst="rect">
            <a:avLst/>
          </a:prstGeom>
          <a:noFill/>
        </p:spPr>
        <p:txBody>
          <a:bodyPr wrap="none" rtlCol="0">
            <a:spAutoFit/>
          </a:bodyPr>
          <a:lstStyle/>
          <a:p>
            <a:r>
              <a:rPr lang="en-US" dirty="0"/>
              <a:t>Image 2</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F0E57CAB-C0A2-364B-B8F0-C5A490106443}"/>
                  </a:ext>
                </a:extLst>
              </p14:cNvPr>
              <p14:cNvContentPartPr/>
              <p14:nvPr/>
            </p14:nvContentPartPr>
            <p14:xfrm>
              <a:off x="4343543" y="2152771"/>
              <a:ext cx="617400" cy="390960"/>
            </p14:xfrm>
          </p:contentPart>
        </mc:Choice>
        <mc:Fallback xmlns="">
          <p:pic>
            <p:nvPicPr>
              <p:cNvPr id="5" name="Ink 4">
                <a:extLst>
                  <a:ext uri="{FF2B5EF4-FFF2-40B4-BE49-F238E27FC236}">
                    <a16:creationId xmlns:a16="http://schemas.microsoft.com/office/drawing/2014/main" id="{F0E57CAB-C0A2-364B-B8F0-C5A490106443}"/>
                  </a:ext>
                </a:extLst>
              </p:cNvPr>
              <p:cNvPicPr/>
              <p:nvPr/>
            </p:nvPicPr>
            <p:blipFill>
              <a:blip r:embed="rId4"/>
              <a:stretch>
                <a:fillRect/>
              </a:stretch>
            </p:blipFill>
            <p:spPr>
              <a:xfrm>
                <a:off x="4334543" y="2144131"/>
                <a:ext cx="635040" cy="408600"/>
              </a:xfrm>
              <a:prstGeom prst="rect">
                <a:avLst/>
              </a:prstGeom>
            </p:spPr>
          </p:pic>
        </mc:Fallback>
      </mc:AlternateContent>
    </p:spTree>
    <p:extLst>
      <p:ext uri="{BB962C8B-B14F-4D97-AF65-F5344CB8AC3E}">
        <p14:creationId xmlns:p14="http://schemas.microsoft.com/office/powerpoint/2010/main" val="2287258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EBA88-0091-274E-83FA-86890B562F37}"/>
              </a:ext>
            </a:extLst>
          </p:cNvPr>
          <p:cNvSpPr>
            <a:spLocks noGrp="1"/>
          </p:cNvSpPr>
          <p:nvPr>
            <p:ph type="title"/>
          </p:nvPr>
        </p:nvSpPr>
        <p:spPr/>
        <p:txBody>
          <a:bodyPr/>
          <a:lstStyle/>
          <a:p>
            <a:r>
              <a:rPr lang="en-US" dirty="0"/>
              <a:t>Example: Cross-correlation with zero-mean template</a:t>
            </a:r>
          </a:p>
        </p:txBody>
      </p:sp>
      <p:pic>
        <p:nvPicPr>
          <p:cNvPr id="4" name="Picture 3">
            <a:extLst>
              <a:ext uri="{FF2B5EF4-FFF2-40B4-BE49-F238E27FC236}">
                <a16:creationId xmlns:a16="http://schemas.microsoft.com/office/drawing/2014/main" id="{169554CB-0600-FD49-AD7D-5DA516C82A06}"/>
              </a:ext>
            </a:extLst>
          </p:cNvPr>
          <p:cNvPicPr>
            <a:picLocks noChangeAspect="1"/>
          </p:cNvPicPr>
          <p:nvPr/>
        </p:nvPicPr>
        <p:blipFill>
          <a:blip r:embed="rId2"/>
          <a:stretch>
            <a:fillRect/>
          </a:stretch>
        </p:blipFill>
        <p:spPr>
          <a:xfrm>
            <a:off x="2110740" y="1630679"/>
            <a:ext cx="6355079" cy="3458521"/>
          </a:xfrm>
          <a:prstGeom prst="rect">
            <a:avLst/>
          </a:prstGeom>
        </p:spPr>
      </p:pic>
      <p:sp>
        <p:nvSpPr>
          <p:cNvPr id="5" name="TextBox 4">
            <a:extLst>
              <a:ext uri="{FF2B5EF4-FFF2-40B4-BE49-F238E27FC236}">
                <a16:creationId xmlns:a16="http://schemas.microsoft.com/office/drawing/2014/main" id="{0A070C17-8903-AB42-BFB9-48AA3EB6259C}"/>
              </a:ext>
            </a:extLst>
          </p:cNvPr>
          <p:cNvSpPr txBox="1"/>
          <p:nvPr/>
        </p:nvSpPr>
        <p:spPr>
          <a:xfrm>
            <a:off x="1150620" y="5554980"/>
            <a:ext cx="6788718" cy="646331"/>
          </a:xfrm>
          <a:prstGeom prst="rect">
            <a:avLst/>
          </a:prstGeom>
          <a:noFill/>
        </p:spPr>
        <p:txBody>
          <a:bodyPr wrap="none" rtlCol="0">
            <a:spAutoFit/>
          </a:bodyPr>
          <a:lstStyle/>
          <a:p>
            <a:r>
              <a:rPr lang="en-US" dirty="0"/>
              <a:t>Better! But highest score is still not the correct match.</a:t>
            </a:r>
          </a:p>
          <a:p>
            <a:r>
              <a:rPr lang="en-US" dirty="0"/>
              <a:t>Note: highest score IS best within local neighborhood of correct match.</a:t>
            </a:r>
          </a:p>
        </p:txBody>
      </p:sp>
    </p:spTree>
    <p:extLst>
      <p:ext uri="{BB962C8B-B14F-4D97-AF65-F5344CB8AC3E}">
        <p14:creationId xmlns:p14="http://schemas.microsoft.com/office/powerpoint/2010/main" val="2974065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0638D-3908-8F4A-9780-0117149E4D87}"/>
              </a:ext>
            </a:extLst>
          </p:cNvPr>
          <p:cNvSpPr>
            <a:spLocks noGrp="1"/>
          </p:cNvSpPr>
          <p:nvPr>
            <p:ph type="title"/>
          </p:nvPr>
        </p:nvSpPr>
        <p:spPr/>
        <p:txBody>
          <a:bodyPr/>
          <a:lstStyle/>
          <a:p>
            <a:r>
              <a:rPr lang="en-US" dirty="0"/>
              <a:t>“SSD” or “Block matching”</a:t>
            </a:r>
            <a:br>
              <a:rPr lang="en-US" dirty="0"/>
            </a:br>
            <a:r>
              <a:rPr lang="en-US" dirty="0"/>
              <a:t>(Sum of squared differences)</a:t>
            </a:r>
          </a:p>
        </p:txBody>
      </p:sp>
      <p:pic>
        <p:nvPicPr>
          <p:cNvPr id="3" name="Picture 2">
            <a:extLst>
              <a:ext uri="{FF2B5EF4-FFF2-40B4-BE49-F238E27FC236}">
                <a16:creationId xmlns:a16="http://schemas.microsoft.com/office/drawing/2014/main" id="{70CBCED0-55E6-4341-8D01-763F0E5E0863}"/>
              </a:ext>
            </a:extLst>
          </p:cNvPr>
          <p:cNvPicPr>
            <a:picLocks noChangeAspect="1"/>
          </p:cNvPicPr>
          <p:nvPr/>
        </p:nvPicPr>
        <p:blipFill>
          <a:blip r:embed="rId2"/>
          <a:stretch>
            <a:fillRect/>
          </a:stretch>
        </p:blipFill>
        <p:spPr>
          <a:xfrm>
            <a:off x="2903220" y="1864169"/>
            <a:ext cx="4747260" cy="1653275"/>
          </a:xfrm>
          <a:prstGeom prst="rect">
            <a:avLst/>
          </a:prstGeom>
        </p:spPr>
      </p:pic>
      <p:sp>
        <p:nvSpPr>
          <p:cNvPr id="4" name="TextBox 3">
            <a:extLst>
              <a:ext uri="{FF2B5EF4-FFF2-40B4-BE49-F238E27FC236}">
                <a16:creationId xmlns:a16="http://schemas.microsoft.com/office/drawing/2014/main" id="{EB56B084-7B39-5A4F-9BD9-C9BCE6000FA8}"/>
              </a:ext>
            </a:extLst>
          </p:cNvPr>
          <p:cNvSpPr txBox="1"/>
          <p:nvPr/>
        </p:nvSpPr>
        <p:spPr>
          <a:xfrm>
            <a:off x="891540" y="3977640"/>
            <a:ext cx="5008551" cy="646331"/>
          </a:xfrm>
          <a:prstGeom prst="rect">
            <a:avLst/>
          </a:prstGeom>
          <a:noFill/>
        </p:spPr>
        <p:txBody>
          <a:bodyPr wrap="none" rtlCol="0">
            <a:spAutoFit/>
          </a:bodyPr>
          <a:lstStyle/>
          <a:p>
            <a:r>
              <a:rPr lang="en-US" dirty="0"/>
              <a:t>1 – The most popular matching score</a:t>
            </a:r>
          </a:p>
          <a:p>
            <a:r>
              <a:rPr lang="en-US" dirty="0"/>
              <a:t>2 – T&amp;V claim it works better than cross-correlation</a:t>
            </a:r>
          </a:p>
        </p:txBody>
      </p:sp>
    </p:spTree>
    <p:extLst>
      <p:ext uri="{BB962C8B-B14F-4D97-AF65-F5344CB8AC3E}">
        <p14:creationId xmlns:p14="http://schemas.microsoft.com/office/powerpoint/2010/main" val="2192391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48BD5-81BE-504B-8602-6B178BEBBDB5}"/>
              </a:ext>
            </a:extLst>
          </p:cNvPr>
          <p:cNvSpPr>
            <a:spLocks noGrp="1"/>
          </p:cNvSpPr>
          <p:nvPr>
            <p:ph type="title"/>
          </p:nvPr>
        </p:nvSpPr>
        <p:spPr/>
        <p:txBody>
          <a:bodyPr/>
          <a:lstStyle/>
          <a:p>
            <a:r>
              <a:rPr lang="en-US" dirty="0"/>
              <a:t>Relation between SSD and Correlation</a:t>
            </a:r>
          </a:p>
        </p:txBody>
      </p:sp>
      <p:pic>
        <p:nvPicPr>
          <p:cNvPr id="3" name="Picture 2">
            <a:extLst>
              <a:ext uri="{FF2B5EF4-FFF2-40B4-BE49-F238E27FC236}">
                <a16:creationId xmlns:a16="http://schemas.microsoft.com/office/drawing/2014/main" id="{F4E00035-682A-0447-8F18-575FD60752F2}"/>
              </a:ext>
            </a:extLst>
          </p:cNvPr>
          <p:cNvPicPr>
            <a:picLocks noChangeAspect="1"/>
          </p:cNvPicPr>
          <p:nvPr/>
        </p:nvPicPr>
        <p:blipFill>
          <a:blip r:embed="rId2"/>
          <a:stretch>
            <a:fillRect/>
          </a:stretch>
        </p:blipFill>
        <p:spPr>
          <a:xfrm>
            <a:off x="2255520" y="1778278"/>
            <a:ext cx="8244840" cy="4579398"/>
          </a:xfrm>
          <a:prstGeom prst="rect">
            <a:avLst/>
          </a:prstGeom>
        </p:spPr>
      </p:pic>
    </p:spTree>
    <p:extLst>
      <p:ext uri="{BB962C8B-B14F-4D97-AF65-F5344CB8AC3E}">
        <p14:creationId xmlns:p14="http://schemas.microsoft.com/office/powerpoint/2010/main" val="2174486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D3A3C-6712-F140-A392-71654B4C696D}"/>
              </a:ext>
            </a:extLst>
          </p:cNvPr>
          <p:cNvSpPr>
            <a:spLocks noGrp="1"/>
          </p:cNvSpPr>
          <p:nvPr>
            <p:ph type="title"/>
          </p:nvPr>
        </p:nvSpPr>
        <p:spPr/>
        <p:txBody>
          <a:bodyPr/>
          <a:lstStyle/>
          <a:p>
            <a:r>
              <a:rPr lang="en-US" dirty="0"/>
              <a:t>SSD</a:t>
            </a:r>
          </a:p>
        </p:txBody>
      </p:sp>
      <p:pic>
        <p:nvPicPr>
          <p:cNvPr id="3" name="Picture 2">
            <a:extLst>
              <a:ext uri="{FF2B5EF4-FFF2-40B4-BE49-F238E27FC236}">
                <a16:creationId xmlns:a16="http://schemas.microsoft.com/office/drawing/2014/main" id="{1E4F0D67-40E0-3645-999B-55E1AE59FDC9}"/>
              </a:ext>
            </a:extLst>
          </p:cNvPr>
          <p:cNvPicPr>
            <a:picLocks noChangeAspect="1"/>
          </p:cNvPicPr>
          <p:nvPr/>
        </p:nvPicPr>
        <p:blipFill>
          <a:blip r:embed="rId2"/>
          <a:stretch>
            <a:fillRect/>
          </a:stretch>
        </p:blipFill>
        <p:spPr>
          <a:xfrm>
            <a:off x="1336067" y="1237272"/>
            <a:ext cx="7971731" cy="4637748"/>
          </a:xfrm>
          <a:prstGeom prst="rect">
            <a:avLst/>
          </a:prstGeom>
        </p:spPr>
      </p:pic>
      <p:sp>
        <p:nvSpPr>
          <p:cNvPr id="4" name="TextBox 3">
            <a:extLst>
              <a:ext uri="{FF2B5EF4-FFF2-40B4-BE49-F238E27FC236}">
                <a16:creationId xmlns:a16="http://schemas.microsoft.com/office/drawing/2014/main" id="{785EF429-E5A2-2A4C-B87B-71AA17C495AA}"/>
              </a:ext>
            </a:extLst>
          </p:cNvPr>
          <p:cNvSpPr txBox="1"/>
          <p:nvPr/>
        </p:nvSpPr>
        <p:spPr>
          <a:xfrm>
            <a:off x="480060" y="6233160"/>
            <a:ext cx="7423635" cy="369332"/>
          </a:xfrm>
          <a:prstGeom prst="rect">
            <a:avLst/>
          </a:prstGeom>
          <a:noFill/>
        </p:spPr>
        <p:txBody>
          <a:bodyPr wrap="none" rtlCol="0">
            <a:spAutoFit/>
          </a:bodyPr>
          <a:lstStyle/>
          <a:p>
            <a:r>
              <a:rPr lang="en-US" dirty="0">
                <a:solidFill>
                  <a:srgbClr val="0070C0"/>
                </a:solidFill>
              </a:rPr>
              <a:t>Best match (highest score) in image coincides with correct match in this case!</a:t>
            </a:r>
          </a:p>
        </p:txBody>
      </p:sp>
    </p:spTree>
    <p:extLst>
      <p:ext uri="{BB962C8B-B14F-4D97-AF65-F5344CB8AC3E}">
        <p14:creationId xmlns:p14="http://schemas.microsoft.com/office/powerpoint/2010/main" val="2864452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DF90F-F2E1-F74F-9A59-01FB203DCFDE}"/>
              </a:ext>
            </a:extLst>
          </p:cNvPr>
          <p:cNvSpPr>
            <a:spLocks noGrp="1"/>
          </p:cNvSpPr>
          <p:nvPr>
            <p:ph type="title"/>
          </p:nvPr>
        </p:nvSpPr>
        <p:spPr/>
        <p:txBody>
          <a:bodyPr/>
          <a:lstStyle/>
          <a:p>
            <a:r>
              <a:rPr lang="en-US" dirty="0"/>
              <a:t>Handling intensity changes</a:t>
            </a:r>
          </a:p>
        </p:txBody>
      </p:sp>
      <p:pic>
        <p:nvPicPr>
          <p:cNvPr id="3" name="Picture 2">
            <a:extLst>
              <a:ext uri="{FF2B5EF4-FFF2-40B4-BE49-F238E27FC236}">
                <a16:creationId xmlns:a16="http://schemas.microsoft.com/office/drawing/2014/main" id="{9AADD70A-032A-C446-B9D4-8A3A65E38DFB}"/>
              </a:ext>
            </a:extLst>
          </p:cNvPr>
          <p:cNvPicPr>
            <a:picLocks noChangeAspect="1"/>
          </p:cNvPicPr>
          <p:nvPr/>
        </p:nvPicPr>
        <p:blipFill>
          <a:blip r:embed="rId2"/>
          <a:stretch>
            <a:fillRect/>
          </a:stretch>
        </p:blipFill>
        <p:spPr>
          <a:xfrm>
            <a:off x="8037220" y="876300"/>
            <a:ext cx="3915414" cy="5920740"/>
          </a:xfrm>
          <a:prstGeom prst="rect">
            <a:avLst/>
          </a:prstGeom>
        </p:spPr>
      </p:pic>
      <p:sp>
        <p:nvSpPr>
          <p:cNvPr id="4" name="TextBox 3">
            <a:extLst>
              <a:ext uri="{FF2B5EF4-FFF2-40B4-BE49-F238E27FC236}">
                <a16:creationId xmlns:a16="http://schemas.microsoft.com/office/drawing/2014/main" id="{DAFE35D8-8F84-D34B-89DE-55906DC316A6}"/>
              </a:ext>
            </a:extLst>
          </p:cNvPr>
          <p:cNvSpPr txBox="1"/>
          <p:nvPr/>
        </p:nvSpPr>
        <p:spPr>
          <a:xfrm>
            <a:off x="937261" y="1539240"/>
            <a:ext cx="5433059"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t>the camera taking the second image might have different intensity response characteristics than the camera taking the first image</a:t>
            </a:r>
          </a:p>
          <a:p>
            <a:pPr marL="285750" indent="-285750">
              <a:buFont typeface="Arial" panose="020B0604020202020204" pitchFamily="34" charset="0"/>
              <a:buChar char="•"/>
            </a:pPr>
            <a:r>
              <a:rPr lang="en-US" sz="2800" dirty="0"/>
              <a:t>Illumination in the scene could change</a:t>
            </a:r>
          </a:p>
          <a:p>
            <a:pPr marL="285750" indent="-285750">
              <a:buFont typeface="Arial" panose="020B0604020202020204" pitchFamily="34" charset="0"/>
              <a:buChar char="•"/>
            </a:pPr>
            <a:r>
              <a:rPr lang="en-US" sz="2800" dirty="0"/>
              <a:t>The camera might have auto-gain control set, so that it’s response changes as it moves through the scene.</a:t>
            </a:r>
          </a:p>
        </p:txBody>
      </p:sp>
    </p:spTree>
    <p:extLst>
      <p:ext uri="{BB962C8B-B14F-4D97-AF65-F5344CB8AC3E}">
        <p14:creationId xmlns:p14="http://schemas.microsoft.com/office/powerpoint/2010/main" val="1539096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F1723-1B15-7646-B310-816B6D8F5567}"/>
              </a:ext>
            </a:extLst>
          </p:cNvPr>
          <p:cNvSpPr>
            <a:spLocks noGrp="1"/>
          </p:cNvSpPr>
          <p:nvPr>
            <p:ph type="title"/>
          </p:nvPr>
        </p:nvSpPr>
        <p:spPr/>
        <p:txBody>
          <a:bodyPr/>
          <a:lstStyle/>
          <a:p>
            <a:r>
              <a:rPr lang="en-US" dirty="0"/>
              <a:t>Intensity normalization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0A65753-11A6-294D-804D-8B473608B6F6}"/>
                  </a:ext>
                </a:extLst>
              </p:cNvPr>
              <p:cNvSpPr>
                <a:spLocks noGrp="1"/>
              </p:cNvSpPr>
              <p:nvPr>
                <p:ph idx="1"/>
              </p:nvPr>
            </p:nvSpPr>
            <p:spPr/>
            <p:txBody>
              <a:bodyPr/>
              <a:lstStyle/>
              <a:p>
                <a:r>
                  <a:rPr lang="en-US" dirty="0"/>
                  <a:t>When a scene is imaged by different sensors, or under different illumination intensities, both the SSD and the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𝐶</m:t>
                        </m:r>
                      </m:e>
                      <m:sub>
                        <m:r>
                          <a:rPr lang="vi-VN" b="0" i="1" dirty="0">
                            <a:latin typeface="Cambria Math" panose="02040503050406030204" pitchFamily="18" charset="0"/>
                          </a:rPr>
                          <m:t>𝑓</m:t>
                        </m:r>
                        <m:r>
                          <m:rPr>
                            <m:sty m:val="p"/>
                          </m:rPr>
                          <a:rPr lang="vi-VN" i="1" dirty="0">
                            <a:latin typeface="Cambria Math" panose="02040503050406030204" pitchFamily="18" charset="0"/>
                          </a:rPr>
                          <m:t>g</m:t>
                        </m:r>
                      </m:sub>
                    </m:sSub>
                    <m:r>
                      <a:rPr lang="en-US" i="1" dirty="0">
                        <a:latin typeface="Cambria Math" panose="02040503050406030204" pitchFamily="18" charset="0"/>
                      </a:rPr>
                      <m:t> </m:t>
                    </m:r>
                  </m:oMath>
                </a14:m>
                <a:r>
                  <a:rPr lang="en-US" dirty="0"/>
                  <a:t>can be large for windows representing the same area in the scene!</a:t>
                </a:r>
              </a:p>
              <a:p>
                <a:r>
                  <a:rPr lang="en-US" dirty="0"/>
                  <a:t>A solution is to NORMALIZE the pixels in the windows before comparing them by subtracting the mean of the patch intensities and dividing by the </a:t>
                </a:r>
                <a:r>
                  <a:rPr lang="en-US" dirty="0" err="1"/>
                  <a:t>std.dev</a:t>
                </a:r>
                <a:r>
                  <a:rPr lang="en-US" dirty="0"/>
                  <a:t>.</a:t>
                </a:r>
              </a:p>
            </p:txBody>
          </p:sp>
        </mc:Choice>
        <mc:Fallback>
          <p:sp>
            <p:nvSpPr>
              <p:cNvPr id="3" name="Content Placeholder 2">
                <a:extLst>
                  <a:ext uri="{FF2B5EF4-FFF2-40B4-BE49-F238E27FC236}">
                    <a16:creationId xmlns:a16="http://schemas.microsoft.com/office/drawing/2014/main" id="{60A65753-11A6-294D-804D-8B473608B6F6}"/>
                  </a:ext>
                </a:extLst>
              </p:cNvPr>
              <p:cNvSpPr>
                <a:spLocks noGrp="1" noRot="1" noChangeAspect="1" noMove="1" noResize="1" noEditPoints="1" noAdjustHandles="1" noChangeArrowheads="1" noChangeShapeType="1" noTextEdit="1"/>
              </p:cNvSpPr>
              <p:nvPr>
                <p:ph idx="1"/>
              </p:nvPr>
            </p:nvSpPr>
            <p:spPr>
              <a:blipFill>
                <a:blip r:embed="rId2"/>
                <a:stretch>
                  <a:fillRect l="-1086" t="-2326" r="-84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01499FB-0311-5148-B44F-667247F65212}"/>
              </a:ext>
            </a:extLst>
          </p:cNvPr>
          <p:cNvPicPr>
            <a:picLocks noChangeAspect="1"/>
          </p:cNvPicPr>
          <p:nvPr/>
        </p:nvPicPr>
        <p:blipFill>
          <a:blip r:embed="rId3"/>
          <a:stretch>
            <a:fillRect/>
          </a:stretch>
        </p:blipFill>
        <p:spPr>
          <a:xfrm>
            <a:off x="3901440" y="4610029"/>
            <a:ext cx="4907280" cy="1478187"/>
          </a:xfrm>
          <a:prstGeom prst="rect">
            <a:avLst/>
          </a:prstGeom>
        </p:spPr>
      </p:pic>
    </p:spTree>
    <p:extLst>
      <p:ext uri="{BB962C8B-B14F-4D97-AF65-F5344CB8AC3E}">
        <p14:creationId xmlns:p14="http://schemas.microsoft.com/office/powerpoint/2010/main" val="4090813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47CCD-ACC5-CB43-B040-40931C3F32A6}"/>
              </a:ext>
            </a:extLst>
          </p:cNvPr>
          <p:cNvSpPr>
            <a:spLocks noGrp="1"/>
          </p:cNvSpPr>
          <p:nvPr>
            <p:ph type="title"/>
          </p:nvPr>
        </p:nvSpPr>
        <p:spPr/>
        <p:txBody>
          <a:bodyPr/>
          <a:lstStyle/>
          <a:p>
            <a:r>
              <a:rPr lang="en-US" dirty="0"/>
              <a:t>Normalized cross correlation</a:t>
            </a:r>
          </a:p>
        </p:txBody>
      </p:sp>
      <p:pic>
        <p:nvPicPr>
          <p:cNvPr id="4" name="Picture 3">
            <a:extLst>
              <a:ext uri="{FF2B5EF4-FFF2-40B4-BE49-F238E27FC236}">
                <a16:creationId xmlns:a16="http://schemas.microsoft.com/office/drawing/2014/main" id="{4F9795DF-E8F8-BE45-8FC7-F4700FCFA635}"/>
              </a:ext>
            </a:extLst>
          </p:cNvPr>
          <p:cNvPicPr>
            <a:picLocks noChangeAspect="1"/>
          </p:cNvPicPr>
          <p:nvPr/>
        </p:nvPicPr>
        <p:blipFill>
          <a:blip r:embed="rId2"/>
          <a:stretch>
            <a:fillRect/>
          </a:stretch>
        </p:blipFill>
        <p:spPr>
          <a:xfrm>
            <a:off x="2430780" y="1599800"/>
            <a:ext cx="6943909" cy="5128659"/>
          </a:xfrm>
          <a:prstGeom prst="rect">
            <a:avLst/>
          </a:prstGeom>
        </p:spPr>
      </p:pic>
    </p:spTree>
    <p:extLst>
      <p:ext uri="{BB962C8B-B14F-4D97-AF65-F5344CB8AC3E}">
        <p14:creationId xmlns:p14="http://schemas.microsoft.com/office/powerpoint/2010/main" val="3510212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F7966-58E6-CE46-BC2D-DCE455C5862E}"/>
              </a:ext>
            </a:extLst>
          </p:cNvPr>
          <p:cNvSpPr>
            <a:spLocks noGrp="1"/>
          </p:cNvSpPr>
          <p:nvPr>
            <p:ph type="title"/>
          </p:nvPr>
        </p:nvSpPr>
        <p:spPr/>
        <p:txBody>
          <a:bodyPr/>
          <a:lstStyle/>
          <a:p>
            <a:r>
              <a:rPr lang="en-US" dirty="0"/>
              <a:t>Normalized cross correlation</a:t>
            </a:r>
          </a:p>
        </p:txBody>
      </p:sp>
      <p:pic>
        <p:nvPicPr>
          <p:cNvPr id="3" name="Picture 2">
            <a:extLst>
              <a:ext uri="{FF2B5EF4-FFF2-40B4-BE49-F238E27FC236}">
                <a16:creationId xmlns:a16="http://schemas.microsoft.com/office/drawing/2014/main" id="{9F8CBD28-0117-B943-8A9A-0E089ACEBC14}"/>
              </a:ext>
            </a:extLst>
          </p:cNvPr>
          <p:cNvPicPr>
            <a:picLocks noChangeAspect="1"/>
          </p:cNvPicPr>
          <p:nvPr/>
        </p:nvPicPr>
        <p:blipFill>
          <a:blip r:embed="rId2"/>
          <a:stretch>
            <a:fillRect/>
          </a:stretch>
        </p:blipFill>
        <p:spPr>
          <a:xfrm>
            <a:off x="1661160" y="1460667"/>
            <a:ext cx="8115300" cy="4541856"/>
          </a:xfrm>
          <a:prstGeom prst="rect">
            <a:avLst/>
          </a:prstGeom>
        </p:spPr>
      </p:pic>
      <p:sp>
        <p:nvSpPr>
          <p:cNvPr id="4" name="TextBox 3">
            <a:extLst>
              <a:ext uri="{FF2B5EF4-FFF2-40B4-BE49-F238E27FC236}">
                <a16:creationId xmlns:a16="http://schemas.microsoft.com/office/drawing/2014/main" id="{FDA94F52-6739-324A-AB38-EA2CEBC1173C}"/>
              </a:ext>
            </a:extLst>
          </p:cNvPr>
          <p:cNvSpPr txBox="1"/>
          <p:nvPr/>
        </p:nvSpPr>
        <p:spPr>
          <a:xfrm>
            <a:off x="1493520" y="6073140"/>
            <a:ext cx="5218160" cy="646331"/>
          </a:xfrm>
          <a:prstGeom prst="rect">
            <a:avLst/>
          </a:prstGeom>
          <a:noFill/>
        </p:spPr>
        <p:txBody>
          <a:bodyPr wrap="none" rtlCol="0">
            <a:spAutoFit/>
          </a:bodyPr>
          <a:lstStyle/>
          <a:p>
            <a:r>
              <a:rPr lang="en-US" dirty="0">
                <a:solidFill>
                  <a:srgbClr val="0070C0"/>
                </a:solidFill>
              </a:rPr>
              <a:t>Highest score also coincides with correct match.</a:t>
            </a:r>
          </a:p>
          <a:p>
            <a:r>
              <a:rPr lang="en-US" dirty="0">
                <a:solidFill>
                  <a:srgbClr val="0070C0"/>
                </a:solidFill>
              </a:rPr>
              <a:t>Also, looks like less chances of getting a wrong match.</a:t>
            </a:r>
          </a:p>
        </p:txBody>
      </p:sp>
    </p:spTree>
    <p:extLst>
      <p:ext uri="{BB962C8B-B14F-4D97-AF65-F5344CB8AC3E}">
        <p14:creationId xmlns:p14="http://schemas.microsoft.com/office/powerpoint/2010/main" val="1019518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41C0A-D27C-7147-BA8B-7C34527D89C5}"/>
              </a:ext>
            </a:extLst>
          </p:cNvPr>
          <p:cNvSpPr>
            <a:spLocks noGrp="1"/>
          </p:cNvSpPr>
          <p:nvPr>
            <p:ph type="title"/>
          </p:nvPr>
        </p:nvSpPr>
        <p:spPr/>
        <p:txBody>
          <a:bodyPr/>
          <a:lstStyle/>
          <a:p>
            <a:r>
              <a:rPr lang="en-US" dirty="0"/>
              <a:t>Normalized cross correlation</a:t>
            </a:r>
          </a:p>
        </p:txBody>
      </p:sp>
      <p:sp>
        <p:nvSpPr>
          <p:cNvPr id="3" name="Content Placeholder 2">
            <a:extLst>
              <a:ext uri="{FF2B5EF4-FFF2-40B4-BE49-F238E27FC236}">
                <a16:creationId xmlns:a16="http://schemas.microsoft.com/office/drawing/2014/main" id="{98CAB478-F5D2-5C44-8AEB-9DD9DC02E604}"/>
              </a:ext>
            </a:extLst>
          </p:cNvPr>
          <p:cNvSpPr>
            <a:spLocks noGrp="1"/>
          </p:cNvSpPr>
          <p:nvPr>
            <p:ph idx="1"/>
          </p:nvPr>
        </p:nvSpPr>
        <p:spPr/>
        <p:txBody>
          <a:bodyPr/>
          <a:lstStyle/>
          <a:p>
            <a:r>
              <a:rPr lang="en-US" dirty="0"/>
              <a:t>Important point about NCC:</a:t>
            </a:r>
          </a:p>
          <a:p>
            <a:pPr lvl="1"/>
            <a:r>
              <a:rPr lang="en-US" dirty="0"/>
              <a:t>Score values range from 1 (perfect match) to -1 (completely anti-correlated)</a:t>
            </a:r>
          </a:p>
          <a:p>
            <a:endParaRPr lang="en-US" dirty="0"/>
          </a:p>
          <a:p>
            <a:endParaRPr lang="en-US" dirty="0"/>
          </a:p>
          <a:p>
            <a:r>
              <a:rPr lang="en-US" dirty="0"/>
              <a:t>Intuition: treating the normalized patches as vectors, we see they are unit vectors. Therefore, correlation becomes dot product of unit vectors, and thus must range between -1 and 1</a:t>
            </a:r>
          </a:p>
        </p:txBody>
      </p:sp>
    </p:spTree>
    <p:extLst>
      <p:ext uri="{BB962C8B-B14F-4D97-AF65-F5344CB8AC3E}">
        <p14:creationId xmlns:p14="http://schemas.microsoft.com/office/powerpoint/2010/main" val="1393403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40C96-B3BE-7E47-811A-F830531AC273}"/>
              </a:ext>
            </a:extLst>
          </p:cNvPr>
          <p:cNvSpPr>
            <a:spLocks noGrp="1"/>
          </p:cNvSpPr>
          <p:nvPr>
            <p:ph type="title"/>
          </p:nvPr>
        </p:nvSpPr>
        <p:spPr/>
        <p:txBody>
          <a:bodyPr/>
          <a:lstStyle/>
          <a:p>
            <a:r>
              <a:rPr lang="en-VN" dirty="0"/>
              <a:t>Midterm announcement</a:t>
            </a:r>
          </a:p>
        </p:txBody>
      </p:sp>
      <p:sp>
        <p:nvSpPr>
          <p:cNvPr id="3" name="Content Placeholder 2">
            <a:extLst>
              <a:ext uri="{FF2B5EF4-FFF2-40B4-BE49-F238E27FC236}">
                <a16:creationId xmlns:a16="http://schemas.microsoft.com/office/drawing/2014/main" id="{101AC38C-5138-FB45-A08E-EDF2FE66447E}"/>
              </a:ext>
            </a:extLst>
          </p:cNvPr>
          <p:cNvSpPr>
            <a:spLocks noGrp="1"/>
          </p:cNvSpPr>
          <p:nvPr>
            <p:ph idx="1"/>
          </p:nvPr>
        </p:nvSpPr>
        <p:spPr/>
        <p:txBody>
          <a:bodyPr>
            <a:normAutofit lnSpcReduction="10000"/>
          </a:bodyPr>
          <a:lstStyle/>
          <a:p>
            <a:r>
              <a:rPr lang="en-VN" dirty="0"/>
              <a:t>Problem:</a:t>
            </a:r>
          </a:p>
          <a:p>
            <a:pPr lvl="1"/>
            <a:r>
              <a:rPr lang="en-VN" dirty="0"/>
              <a:t>Finding or Counting objects in images</a:t>
            </a:r>
          </a:p>
          <a:p>
            <a:r>
              <a:rPr lang="en-VN" dirty="0"/>
              <a:t>What to do:</a:t>
            </a:r>
          </a:p>
          <a:p>
            <a:pPr lvl="1"/>
            <a:r>
              <a:rPr lang="en-VN" dirty="0"/>
              <a:t>Choose an image from a given set of images</a:t>
            </a:r>
          </a:p>
          <a:p>
            <a:pPr lvl="1"/>
            <a:r>
              <a:rPr lang="en-VN" dirty="0"/>
              <a:t>Implement it (Python)</a:t>
            </a:r>
          </a:p>
          <a:p>
            <a:r>
              <a:rPr lang="en-VN" dirty="0"/>
              <a:t>Scoring:</a:t>
            </a:r>
          </a:p>
          <a:p>
            <a:pPr lvl="1"/>
            <a:r>
              <a:rPr lang="en-VN" dirty="0"/>
              <a:t>Method explanation: 50%</a:t>
            </a:r>
          </a:p>
          <a:p>
            <a:pPr lvl="1"/>
            <a:r>
              <a:rPr lang="en-VN" dirty="0"/>
              <a:t>Implementation: 50% </a:t>
            </a:r>
          </a:p>
          <a:p>
            <a:r>
              <a:rPr lang="en-VN" dirty="0"/>
              <a:t>Due: 2 weeks</a:t>
            </a:r>
          </a:p>
          <a:p>
            <a:r>
              <a:rPr lang="en-VN" dirty="0"/>
              <a:t>Submission: a pdf + source code</a:t>
            </a:r>
          </a:p>
        </p:txBody>
      </p:sp>
      <mc:AlternateContent xmlns:mc="http://schemas.openxmlformats.org/markup-compatibility/2006" xmlns:p14="http://schemas.microsoft.com/office/powerpoint/2010/main">
        <mc:Choice Requires="p14">
          <p:contentPart p14:bwMode="auto" r:id="rId2">
            <p14:nvContentPartPr>
              <p14:cNvPr id="74" name="Ink 73">
                <a:extLst>
                  <a:ext uri="{FF2B5EF4-FFF2-40B4-BE49-F238E27FC236}">
                    <a16:creationId xmlns:a16="http://schemas.microsoft.com/office/drawing/2014/main" id="{E343D094-9DF4-E043-A254-884E2BBB965C}"/>
                  </a:ext>
                </a:extLst>
              </p14:cNvPr>
              <p14:cNvContentPartPr/>
              <p14:nvPr/>
            </p14:nvContentPartPr>
            <p14:xfrm>
              <a:off x="3834968" y="6297382"/>
              <a:ext cx="90720" cy="10800"/>
            </p14:xfrm>
          </p:contentPart>
        </mc:Choice>
        <mc:Fallback xmlns="">
          <p:pic>
            <p:nvPicPr>
              <p:cNvPr id="74" name="Ink 73">
                <a:extLst>
                  <a:ext uri="{FF2B5EF4-FFF2-40B4-BE49-F238E27FC236}">
                    <a16:creationId xmlns:a16="http://schemas.microsoft.com/office/drawing/2014/main" id="{E343D094-9DF4-E043-A254-884E2BBB965C}"/>
                  </a:ext>
                </a:extLst>
              </p:cNvPr>
              <p:cNvPicPr/>
              <p:nvPr/>
            </p:nvPicPr>
            <p:blipFill>
              <a:blip r:embed="rId3"/>
              <a:stretch>
                <a:fillRect/>
              </a:stretch>
            </p:blipFill>
            <p:spPr>
              <a:xfrm>
                <a:off x="3826328" y="6288742"/>
                <a:ext cx="1083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1" name="Ink 90">
                <a:extLst>
                  <a:ext uri="{FF2B5EF4-FFF2-40B4-BE49-F238E27FC236}">
                    <a16:creationId xmlns:a16="http://schemas.microsoft.com/office/drawing/2014/main" id="{58D64582-EFC6-D543-8EB3-11C9FD2FD972}"/>
                  </a:ext>
                </a:extLst>
              </p14:cNvPr>
              <p14:cNvContentPartPr/>
              <p14:nvPr/>
            </p14:nvContentPartPr>
            <p14:xfrm>
              <a:off x="-184432" y="-4058"/>
              <a:ext cx="360" cy="360"/>
            </p14:xfrm>
          </p:contentPart>
        </mc:Choice>
        <mc:Fallback xmlns="">
          <p:pic>
            <p:nvPicPr>
              <p:cNvPr id="91" name="Ink 90">
                <a:extLst>
                  <a:ext uri="{FF2B5EF4-FFF2-40B4-BE49-F238E27FC236}">
                    <a16:creationId xmlns:a16="http://schemas.microsoft.com/office/drawing/2014/main" id="{58D64582-EFC6-D543-8EB3-11C9FD2FD972}"/>
                  </a:ext>
                </a:extLst>
              </p:cNvPr>
              <p:cNvPicPr/>
              <p:nvPr/>
            </p:nvPicPr>
            <p:blipFill>
              <a:blip r:embed="rId5"/>
              <a:stretch>
                <a:fillRect/>
              </a:stretch>
            </p:blipFill>
            <p:spPr>
              <a:xfrm>
                <a:off x="-193072" y="-12698"/>
                <a:ext cx="18000" cy="18000"/>
              </a:xfrm>
              <a:prstGeom prst="rect">
                <a:avLst/>
              </a:prstGeom>
            </p:spPr>
          </p:pic>
        </mc:Fallback>
      </mc:AlternateContent>
    </p:spTree>
    <p:extLst>
      <p:ext uri="{BB962C8B-B14F-4D97-AF65-F5344CB8AC3E}">
        <p14:creationId xmlns:p14="http://schemas.microsoft.com/office/powerpoint/2010/main" val="2901517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F167CE-818D-C145-AA8C-7251BD88A0D1}"/>
              </a:ext>
            </a:extLst>
          </p:cNvPr>
          <p:cNvSpPr>
            <a:spLocks noGrp="1"/>
          </p:cNvSpPr>
          <p:nvPr>
            <p:ph type="title"/>
          </p:nvPr>
        </p:nvSpPr>
        <p:spPr/>
        <p:txBody>
          <a:bodyPr/>
          <a:lstStyle/>
          <a:p>
            <a:r>
              <a:rPr lang="en-VN" dirty="0"/>
              <a:t>Sample image - counting</a:t>
            </a:r>
          </a:p>
        </p:txBody>
      </p:sp>
      <p:pic>
        <p:nvPicPr>
          <p:cNvPr id="1026" name="Picture 2" descr="Easter-Themed Brainteaser — Can You Find the Chicken Among Rabbits?">
            <a:extLst>
              <a:ext uri="{FF2B5EF4-FFF2-40B4-BE49-F238E27FC236}">
                <a16:creationId xmlns:a16="http://schemas.microsoft.com/office/drawing/2014/main" id="{5B4A06F6-1311-2344-B654-19D98B534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4461" y="1690688"/>
            <a:ext cx="4097977" cy="409797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ADA844B5-BBAA-2F49-9EA8-BF4BE6566BB6}"/>
                  </a:ext>
                </a:extLst>
              </p14:cNvPr>
              <p14:cNvContentPartPr/>
              <p14:nvPr/>
            </p14:nvContentPartPr>
            <p14:xfrm>
              <a:off x="4434728" y="2572462"/>
              <a:ext cx="360" cy="360"/>
            </p14:xfrm>
          </p:contentPart>
        </mc:Choice>
        <mc:Fallback xmlns="">
          <p:pic>
            <p:nvPicPr>
              <p:cNvPr id="11" name="Ink 10">
                <a:extLst>
                  <a:ext uri="{FF2B5EF4-FFF2-40B4-BE49-F238E27FC236}">
                    <a16:creationId xmlns:a16="http://schemas.microsoft.com/office/drawing/2014/main" id="{ADA844B5-BBAA-2F49-9EA8-BF4BE6566BB6}"/>
                  </a:ext>
                </a:extLst>
              </p:cNvPr>
              <p:cNvPicPr/>
              <p:nvPr/>
            </p:nvPicPr>
            <p:blipFill>
              <a:blip r:embed="rId4"/>
              <a:stretch>
                <a:fillRect/>
              </a:stretch>
            </p:blipFill>
            <p:spPr>
              <a:xfrm>
                <a:off x="4425728" y="25634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CFAD923E-ED43-D94E-B340-0F689EDA0BB2}"/>
                  </a:ext>
                </a:extLst>
              </p14:cNvPr>
              <p14:cNvContentPartPr/>
              <p14:nvPr/>
            </p14:nvContentPartPr>
            <p14:xfrm>
              <a:off x="3869528" y="3277342"/>
              <a:ext cx="3240" cy="360"/>
            </p14:xfrm>
          </p:contentPart>
        </mc:Choice>
        <mc:Fallback xmlns="">
          <p:pic>
            <p:nvPicPr>
              <p:cNvPr id="12" name="Ink 11">
                <a:extLst>
                  <a:ext uri="{FF2B5EF4-FFF2-40B4-BE49-F238E27FC236}">
                    <a16:creationId xmlns:a16="http://schemas.microsoft.com/office/drawing/2014/main" id="{CFAD923E-ED43-D94E-B340-0F689EDA0BB2}"/>
                  </a:ext>
                </a:extLst>
              </p:cNvPr>
              <p:cNvPicPr/>
              <p:nvPr/>
            </p:nvPicPr>
            <p:blipFill>
              <a:blip r:embed="rId6"/>
              <a:stretch>
                <a:fillRect/>
              </a:stretch>
            </p:blipFill>
            <p:spPr>
              <a:xfrm>
                <a:off x="3860528" y="3268342"/>
                <a:ext cx="20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1A2972F4-1C20-9047-90DB-54093DD3ACC2}"/>
                  </a:ext>
                </a:extLst>
              </p14:cNvPr>
              <p14:cNvContentPartPr/>
              <p14:nvPr/>
            </p14:nvContentPartPr>
            <p14:xfrm>
              <a:off x="5062208" y="3313342"/>
              <a:ext cx="360" cy="360"/>
            </p14:xfrm>
          </p:contentPart>
        </mc:Choice>
        <mc:Fallback xmlns="">
          <p:pic>
            <p:nvPicPr>
              <p:cNvPr id="13" name="Ink 12">
                <a:extLst>
                  <a:ext uri="{FF2B5EF4-FFF2-40B4-BE49-F238E27FC236}">
                    <a16:creationId xmlns:a16="http://schemas.microsoft.com/office/drawing/2014/main" id="{1A2972F4-1C20-9047-90DB-54093DD3ACC2}"/>
                  </a:ext>
                </a:extLst>
              </p:cNvPr>
              <p:cNvPicPr/>
              <p:nvPr/>
            </p:nvPicPr>
            <p:blipFill>
              <a:blip r:embed="rId4"/>
              <a:stretch>
                <a:fillRect/>
              </a:stretch>
            </p:blipFill>
            <p:spPr>
              <a:xfrm>
                <a:off x="5053568" y="3304702"/>
                <a:ext cx="18000" cy="18000"/>
              </a:xfrm>
              <a:prstGeom prst="rect">
                <a:avLst/>
              </a:prstGeom>
            </p:spPr>
          </p:pic>
        </mc:Fallback>
      </mc:AlternateContent>
      <p:grpSp>
        <p:nvGrpSpPr>
          <p:cNvPr id="24" name="Group 23">
            <a:extLst>
              <a:ext uri="{FF2B5EF4-FFF2-40B4-BE49-F238E27FC236}">
                <a16:creationId xmlns:a16="http://schemas.microsoft.com/office/drawing/2014/main" id="{3A99E0CD-EF7D-164F-AF4D-C1ED0FBE2217}"/>
              </a:ext>
            </a:extLst>
          </p:cNvPr>
          <p:cNvGrpSpPr/>
          <p:nvPr/>
        </p:nvGrpSpPr>
        <p:grpSpPr>
          <a:xfrm>
            <a:off x="6496448" y="2408662"/>
            <a:ext cx="509040" cy="48240"/>
            <a:chOff x="6496448" y="2408662"/>
            <a:chExt cx="509040" cy="48240"/>
          </a:xfrm>
        </p:grpSpPr>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C8A1EF3-8E0E-4546-8FD6-2B7FB693912F}"/>
                    </a:ext>
                  </a:extLst>
                </p14:cNvPr>
                <p14:cNvContentPartPr/>
                <p14:nvPr/>
              </p14:nvContentPartPr>
              <p14:xfrm>
                <a:off x="6496448" y="2408662"/>
                <a:ext cx="360" cy="360"/>
              </p14:xfrm>
            </p:contentPart>
          </mc:Choice>
          <mc:Fallback xmlns="">
            <p:pic>
              <p:nvPicPr>
                <p:cNvPr id="15" name="Ink 14">
                  <a:extLst>
                    <a:ext uri="{FF2B5EF4-FFF2-40B4-BE49-F238E27FC236}">
                      <a16:creationId xmlns:a16="http://schemas.microsoft.com/office/drawing/2014/main" id="{3C8A1EF3-8E0E-4546-8FD6-2B7FB693912F}"/>
                    </a:ext>
                  </a:extLst>
                </p:cNvPr>
                <p:cNvPicPr/>
                <p:nvPr/>
              </p:nvPicPr>
              <p:blipFill>
                <a:blip r:embed="rId4"/>
                <a:stretch>
                  <a:fillRect/>
                </a:stretch>
              </p:blipFill>
              <p:spPr>
                <a:xfrm>
                  <a:off x="6487808" y="240002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F5B13FE3-EFE6-5049-89EA-54DF24488DB4}"/>
                    </a:ext>
                  </a:extLst>
                </p14:cNvPr>
                <p14:cNvContentPartPr/>
                <p14:nvPr/>
              </p14:nvContentPartPr>
              <p14:xfrm>
                <a:off x="7005128" y="2456542"/>
                <a:ext cx="360" cy="360"/>
              </p14:xfrm>
            </p:contentPart>
          </mc:Choice>
          <mc:Fallback xmlns="">
            <p:pic>
              <p:nvPicPr>
                <p:cNvPr id="16" name="Ink 15">
                  <a:extLst>
                    <a:ext uri="{FF2B5EF4-FFF2-40B4-BE49-F238E27FC236}">
                      <a16:creationId xmlns:a16="http://schemas.microsoft.com/office/drawing/2014/main" id="{F5B13FE3-EFE6-5049-89EA-54DF24488DB4}"/>
                    </a:ext>
                  </a:extLst>
                </p:cNvPr>
                <p:cNvPicPr/>
                <p:nvPr/>
              </p:nvPicPr>
              <p:blipFill>
                <a:blip r:embed="rId4"/>
                <a:stretch>
                  <a:fillRect/>
                </a:stretch>
              </p:blipFill>
              <p:spPr>
                <a:xfrm>
                  <a:off x="6996488" y="2447542"/>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0231DC87-2401-5942-AD87-ACEBA2F581C9}"/>
                  </a:ext>
                </a:extLst>
              </p14:cNvPr>
              <p14:cNvContentPartPr/>
              <p14:nvPr/>
            </p14:nvContentPartPr>
            <p14:xfrm>
              <a:off x="6038168" y="3883582"/>
              <a:ext cx="360" cy="360"/>
            </p14:xfrm>
          </p:contentPart>
        </mc:Choice>
        <mc:Fallback xmlns="">
          <p:pic>
            <p:nvPicPr>
              <p:cNvPr id="17" name="Ink 16">
                <a:extLst>
                  <a:ext uri="{FF2B5EF4-FFF2-40B4-BE49-F238E27FC236}">
                    <a16:creationId xmlns:a16="http://schemas.microsoft.com/office/drawing/2014/main" id="{0231DC87-2401-5942-AD87-ACEBA2F581C9}"/>
                  </a:ext>
                </a:extLst>
              </p:cNvPr>
              <p:cNvPicPr/>
              <p:nvPr/>
            </p:nvPicPr>
            <p:blipFill>
              <a:blip r:embed="rId4"/>
              <a:stretch>
                <a:fillRect/>
              </a:stretch>
            </p:blipFill>
            <p:spPr>
              <a:xfrm>
                <a:off x="6029528" y="387494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038A75E7-25A1-CD48-9669-A24C34C3BA65}"/>
                  </a:ext>
                </a:extLst>
              </p14:cNvPr>
              <p14:cNvContentPartPr/>
              <p14:nvPr/>
            </p14:nvContentPartPr>
            <p14:xfrm>
              <a:off x="7050848" y="3818422"/>
              <a:ext cx="360" cy="360"/>
            </p14:xfrm>
          </p:contentPart>
        </mc:Choice>
        <mc:Fallback xmlns="">
          <p:pic>
            <p:nvPicPr>
              <p:cNvPr id="18" name="Ink 17">
                <a:extLst>
                  <a:ext uri="{FF2B5EF4-FFF2-40B4-BE49-F238E27FC236}">
                    <a16:creationId xmlns:a16="http://schemas.microsoft.com/office/drawing/2014/main" id="{038A75E7-25A1-CD48-9669-A24C34C3BA65}"/>
                  </a:ext>
                </a:extLst>
              </p:cNvPr>
              <p:cNvPicPr/>
              <p:nvPr/>
            </p:nvPicPr>
            <p:blipFill>
              <a:blip r:embed="rId4"/>
              <a:stretch>
                <a:fillRect/>
              </a:stretch>
            </p:blipFill>
            <p:spPr>
              <a:xfrm>
                <a:off x="7041848" y="38097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9531CE68-6C69-2843-B898-7236E1454465}"/>
                  </a:ext>
                </a:extLst>
              </p14:cNvPr>
              <p14:cNvContentPartPr/>
              <p14:nvPr/>
            </p14:nvContentPartPr>
            <p14:xfrm>
              <a:off x="7002968" y="4943782"/>
              <a:ext cx="360" cy="360"/>
            </p14:xfrm>
          </p:contentPart>
        </mc:Choice>
        <mc:Fallback xmlns="">
          <p:pic>
            <p:nvPicPr>
              <p:cNvPr id="19" name="Ink 18">
                <a:extLst>
                  <a:ext uri="{FF2B5EF4-FFF2-40B4-BE49-F238E27FC236}">
                    <a16:creationId xmlns:a16="http://schemas.microsoft.com/office/drawing/2014/main" id="{9531CE68-6C69-2843-B898-7236E1454465}"/>
                  </a:ext>
                </a:extLst>
              </p:cNvPr>
              <p:cNvPicPr/>
              <p:nvPr/>
            </p:nvPicPr>
            <p:blipFill>
              <a:blip r:embed="rId4"/>
              <a:stretch>
                <a:fillRect/>
              </a:stretch>
            </p:blipFill>
            <p:spPr>
              <a:xfrm>
                <a:off x="6993968" y="493514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Ink 19">
                <a:extLst>
                  <a:ext uri="{FF2B5EF4-FFF2-40B4-BE49-F238E27FC236}">
                    <a16:creationId xmlns:a16="http://schemas.microsoft.com/office/drawing/2014/main" id="{DBDF5144-4A78-0F4B-BDAA-EAF8AA441536}"/>
                  </a:ext>
                </a:extLst>
              </p14:cNvPr>
              <p14:cNvContentPartPr/>
              <p14:nvPr/>
            </p14:nvContentPartPr>
            <p14:xfrm>
              <a:off x="5701928" y="4932622"/>
              <a:ext cx="360" cy="360"/>
            </p14:xfrm>
          </p:contentPart>
        </mc:Choice>
        <mc:Fallback xmlns="">
          <p:pic>
            <p:nvPicPr>
              <p:cNvPr id="20" name="Ink 19">
                <a:extLst>
                  <a:ext uri="{FF2B5EF4-FFF2-40B4-BE49-F238E27FC236}">
                    <a16:creationId xmlns:a16="http://schemas.microsoft.com/office/drawing/2014/main" id="{DBDF5144-4A78-0F4B-BDAA-EAF8AA441536}"/>
                  </a:ext>
                </a:extLst>
              </p:cNvPr>
              <p:cNvPicPr/>
              <p:nvPr/>
            </p:nvPicPr>
            <p:blipFill>
              <a:blip r:embed="rId4"/>
              <a:stretch>
                <a:fillRect/>
              </a:stretch>
            </p:blipFill>
            <p:spPr>
              <a:xfrm>
                <a:off x="5692928" y="49239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6C7C9A8D-128E-6D47-A891-C6C8BF2038B9}"/>
                  </a:ext>
                </a:extLst>
              </p14:cNvPr>
              <p14:cNvContentPartPr/>
              <p14:nvPr/>
            </p14:nvContentPartPr>
            <p14:xfrm>
              <a:off x="5030888" y="4891942"/>
              <a:ext cx="9720" cy="1800"/>
            </p14:xfrm>
          </p:contentPart>
        </mc:Choice>
        <mc:Fallback xmlns="">
          <p:pic>
            <p:nvPicPr>
              <p:cNvPr id="21" name="Ink 20">
                <a:extLst>
                  <a:ext uri="{FF2B5EF4-FFF2-40B4-BE49-F238E27FC236}">
                    <a16:creationId xmlns:a16="http://schemas.microsoft.com/office/drawing/2014/main" id="{6C7C9A8D-128E-6D47-A891-C6C8BF2038B9}"/>
                  </a:ext>
                </a:extLst>
              </p:cNvPr>
              <p:cNvPicPr/>
              <p:nvPr/>
            </p:nvPicPr>
            <p:blipFill>
              <a:blip r:embed="rId15"/>
              <a:stretch>
                <a:fillRect/>
              </a:stretch>
            </p:blipFill>
            <p:spPr>
              <a:xfrm>
                <a:off x="5022248" y="4883302"/>
                <a:ext cx="2736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20A67CB4-BD37-EB41-BCD5-DAD6D679CD28}"/>
                  </a:ext>
                </a:extLst>
              </p14:cNvPr>
              <p14:cNvContentPartPr/>
              <p14:nvPr/>
            </p14:nvContentPartPr>
            <p14:xfrm>
              <a:off x="4466048" y="4813462"/>
              <a:ext cx="360" cy="360"/>
            </p14:xfrm>
          </p:contentPart>
        </mc:Choice>
        <mc:Fallback xmlns="">
          <p:pic>
            <p:nvPicPr>
              <p:cNvPr id="22" name="Ink 21">
                <a:extLst>
                  <a:ext uri="{FF2B5EF4-FFF2-40B4-BE49-F238E27FC236}">
                    <a16:creationId xmlns:a16="http://schemas.microsoft.com/office/drawing/2014/main" id="{20A67CB4-BD37-EB41-BCD5-DAD6D679CD28}"/>
                  </a:ext>
                </a:extLst>
              </p:cNvPr>
              <p:cNvPicPr/>
              <p:nvPr/>
            </p:nvPicPr>
            <p:blipFill>
              <a:blip r:embed="rId4"/>
              <a:stretch>
                <a:fillRect/>
              </a:stretch>
            </p:blipFill>
            <p:spPr>
              <a:xfrm>
                <a:off x="4457048" y="48044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AF8F2CD4-6146-9044-B088-E12DABD33116}"/>
                  </a:ext>
                </a:extLst>
              </p14:cNvPr>
              <p14:cNvContentPartPr/>
              <p14:nvPr/>
            </p14:nvContentPartPr>
            <p14:xfrm>
              <a:off x="3894368" y="4766662"/>
              <a:ext cx="12600" cy="360"/>
            </p14:xfrm>
          </p:contentPart>
        </mc:Choice>
        <mc:Fallback xmlns="">
          <p:pic>
            <p:nvPicPr>
              <p:cNvPr id="23" name="Ink 22">
                <a:extLst>
                  <a:ext uri="{FF2B5EF4-FFF2-40B4-BE49-F238E27FC236}">
                    <a16:creationId xmlns:a16="http://schemas.microsoft.com/office/drawing/2014/main" id="{AF8F2CD4-6146-9044-B088-E12DABD33116}"/>
                  </a:ext>
                </a:extLst>
              </p:cNvPr>
              <p:cNvPicPr/>
              <p:nvPr/>
            </p:nvPicPr>
            <p:blipFill>
              <a:blip r:embed="rId18"/>
              <a:stretch>
                <a:fillRect/>
              </a:stretch>
            </p:blipFill>
            <p:spPr>
              <a:xfrm>
                <a:off x="3885368" y="4757662"/>
                <a:ext cx="30240" cy="18000"/>
              </a:xfrm>
              <a:prstGeom prst="rect">
                <a:avLst/>
              </a:prstGeom>
            </p:spPr>
          </p:pic>
        </mc:Fallback>
      </mc:AlternateContent>
    </p:spTree>
    <p:extLst>
      <p:ext uri="{BB962C8B-B14F-4D97-AF65-F5344CB8AC3E}">
        <p14:creationId xmlns:p14="http://schemas.microsoft.com/office/powerpoint/2010/main" val="3663431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2C954-E43B-C246-86B4-1866E6BCCC42}"/>
              </a:ext>
            </a:extLst>
          </p:cNvPr>
          <p:cNvSpPr>
            <a:spLocks noGrp="1"/>
          </p:cNvSpPr>
          <p:nvPr>
            <p:ph type="title"/>
          </p:nvPr>
        </p:nvSpPr>
        <p:spPr/>
        <p:txBody>
          <a:bodyPr/>
          <a:lstStyle/>
          <a:p>
            <a:endParaRPr lang="en-VN"/>
          </a:p>
        </p:txBody>
      </p:sp>
      <p:pic>
        <p:nvPicPr>
          <p:cNvPr id="2050" name="Picture 2" descr="Hidden Object - Puzzle Prime">
            <a:extLst>
              <a:ext uri="{FF2B5EF4-FFF2-40B4-BE49-F238E27FC236}">
                <a16:creationId xmlns:a16="http://schemas.microsoft.com/office/drawing/2014/main" id="{8F8DA87E-CE49-214B-B967-60ACFB4D8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CC95F334-28AF-7A4C-9890-1EA47639E851}"/>
                  </a:ext>
                </a:extLst>
              </p14:cNvPr>
              <p14:cNvContentPartPr/>
              <p14:nvPr/>
            </p14:nvContentPartPr>
            <p14:xfrm>
              <a:off x="6628915" y="2946705"/>
              <a:ext cx="158400" cy="159120"/>
            </p14:xfrm>
          </p:contentPart>
        </mc:Choice>
        <mc:Fallback xmlns="">
          <p:pic>
            <p:nvPicPr>
              <p:cNvPr id="11" name="Ink 10">
                <a:extLst>
                  <a:ext uri="{FF2B5EF4-FFF2-40B4-BE49-F238E27FC236}">
                    <a16:creationId xmlns:a16="http://schemas.microsoft.com/office/drawing/2014/main" id="{CC95F334-28AF-7A4C-9890-1EA47639E851}"/>
                  </a:ext>
                </a:extLst>
              </p:cNvPr>
              <p:cNvPicPr/>
              <p:nvPr/>
            </p:nvPicPr>
            <p:blipFill>
              <a:blip r:embed="rId4"/>
              <a:stretch>
                <a:fillRect/>
              </a:stretch>
            </p:blipFill>
            <p:spPr>
              <a:xfrm>
                <a:off x="6619915" y="2938065"/>
                <a:ext cx="1760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1ABA9099-6C36-BE44-87A8-EB2E4B04222D}"/>
                  </a:ext>
                </a:extLst>
              </p14:cNvPr>
              <p14:cNvContentPartPr/>
              <p14:nvPr/>
            </p14:nvContentPartPr>
            <p14:xfrm>
              <a:off x="6939955" y="3852295"/>
              <a:ext cx="237240" cy="154080"/>
            </p14:xfrm>
          </p:contentPart>
        </mc:Choice>
        <mc:Fallback xmlns="">
          <p:pic>
            <p:nvPicPr>
              <p:cNvPr id="12" name="Ink 11">
                <a:extLst>
                  <a:ext uri="{FF2B5EF4-FFF2-40B4-BE49-F238E27FC236}">
                    <a16:creationId xmlns:a16="http://schemas.microsoft.com/office/drawing/2014/main" id="{1ABA9099-6C36-BE44-87A8-EB2E4B04222D}"/>
                  </a:ext>
                </a:extLst>
              </p:cNvPr>
              <p:cNvPicPr/>
              <p:nvPr/>
            </p:nvPicPr>
            <p:blipFill>
              <a:blip r:embed="rId6"/>
              <a:stretch>
                <a:fillRect/>
              </a:stretch>
            </p:blipFill>
            <p:spPr>
              <a:xfrm>
                <a:off x="6931315" y="3843295"/>
                <a:ext cx="2548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5" name="Ink 34">
                <a:extLst>
                  <a:ext uri="{FF2B5EF4-FFF2-40B4-BE49-F238E27FC236}">
                    <a16:creationId xmlns:a16="http://schemas.microsoft.com/office/drawing/2014/main" id="{76F22541-6D23-F249-B9F6-BFA31E382857}"/>
                  </a:ext>
                </a:extLst>
              </p14:cNvPr>
              <p14:cNvContentPartPr/>
              <p14:nvPr/>
            </p14:nvContentPartPr>
            <p14:xfrm>
              <a:off x="-107032" y="1218142"/>
              <a:ext cx="360" cy="360"/>
            </p14:xfrm>
          </p:contentPart>
        </mc:Choice>
        <mc:Fallback xmlns="">
          <p:pic>
            <p:nvPicPr>
              <p:cNvPr id="35" name="Ink 34">
                <a:extLst>
                  <a:ext uri="{FF2B5EF4-FFF2-40B4-BE49-F238E27FC236}">
                    <a16:creationId xmlns:a16="http://schemas.microsoft.com/office/drawing/2014/main" id="{76F22541-6D23-F249-B9F6-BFA31E382857}"/>
                  </a:ext>
                </a:extLst>
              </p:cNvPr>
              <p:cNvPicPr/>
              <p:nvPr/>
            </p:nvPicPr>
            <p:blipFill>
              <a:blip r:embed="rId8"/>
              <a:stretch>
                <a:fillRect/>
              </a:stretch>
            </p:blipFill>
            <p:spPr>
              <a:xfrm>
                <a:off x="-116032" y="1209502"/>
                <a:ext cx="18000" cy="18000"/>
              </a:xfrm>
              <a:prstGeom prst="rect">
                <a:avLst/>
              </a:prstGeom>
            </p:spPr>
          </p:pic>
        </mc:Fallback>
      </mc:AlternateContent>
    </p:spTree>
    <p:extLst>
      <p:ext uri="{BB962C8B-B14F-4D97-AF65-F5344CB8AC3E}">
        <p14:creationId xmlns:p14="http://schemas.microsoft.com/office/powerpoint/2010/main" val="3722578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573EE-2282-E548-91F9-9ECE33612174}"/>
              </a:ext>
            </a:extLst>
          </p:cNvPr>
          <p:cNvSpPr>
            <a:spLocks noGrp="1"/>
          </p:cNvSpPr>
          <p:nvPr>
            <p:ph type="title"/>
          </p:nvPr>
        </p:nvSpPr>
        <p:spPr/>
        <p:txBody>
          <a:bodyPr/>
          <a:lstStyle/>
          <a:p>
            <a:endParaRPr lang="en-VN"/>
          </a:p>
        </p:txBody>
      </p:sp>
    </p:spTree>
    <p:extLst>
      <p:ext uri="{BB962C8B-B14F-4D97-AF65-F5344CB8AC3E}">
        <p14:creationId xmlns:p14="http://schemas.microsoft.com/office/powerpoint/2010/main" val="3179170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40C96-B3BE-7E47-811A-F830531AC273}"/>
              </a:ext>
            </a:extLst>
          </p:cNvPr>
          <p:cNvSpPr>
            <a:spLocks noGrp="1"/>
          </p:cNvSpPr>
          <p:nvPr>
            <p:ph type="title"/>
          </p:nvPr>
        </p:nvSpPr>
        <p:spPr/>
        <p:txBody>
          <a:bodyPr/>
          <a:lstStyle/>
          <a:p>
            <a:r>
              <a:rPr lang="en-VN" dirty="0"/>
              <a:t>Midterm announcement</a:t>
            </a:r>
          </a:p>
        </p:txBody>
      </p:sp>
      <p:sp>
        <p:nvSpPr>
          <p:cNvPr id="3" name="Content Placeholder 2">
            <a:extLst>
              <a:ext uri="{FF2B5EF4-FFF2-40B4-BE49-F238E27FC236}">
                <a16:creationId xmlns:a16="http://schemas.microsoft.com/office/drawing/2014/main" id="{101AC38C-5138-FB45-A08E-EDF2FE66447E}"/>
              </a:ext>
            </a:extLst>
          </p:cNvPr>
          <p:cNvSpPr>
            <a:spLocks noGrp="1"/>
          </p:cNvSpPr>
          <p:nvPr>
            <p:ph idx="1"/>
          </p:nvPr>
        </p:nvSpPr>
        <p:spPr/>
        <p:txBody>
          <a:bodyPr>
            <a:normAutofit fontScale="92500"/>
          </a:bodyPr>
          <a:lstStyle/>
          <a:p>
            <a:r>
              <a:rPr lang="en-VN" dirty="0"/>
              <a:t>Problem:</a:t>
            </a:r>
          </a:p>
          <a:p>
            <a:pPr lvl="1"/>
            <a:r>
              <a:rPr lang="en-VN" dirty="0"/>
              <a:t>How to deal with distortion when doing template matching?</a:t>
            </a:r>
          </a:p>
          <a:p>
            <a:r>
              <a:rPr lang="en-VN" dirty="0"/>
              <a:t>What to do:</a:t>
            </a:r>
          </a:p>
          <a:p>
            <a:pPr lvl="1"/>
            <a:r>
              <a:rPr lang="en-VN" dirty="0"/>
              <a:t>Find/Invent a method </a:t>
            </a:r>
            <a:r>
              <a:rPr lang="en-VN" dirty="0">
                <a:sym typeface="Wingdings" pitchFamily="2" charset="2"/>
              </a:rPr>
              <a:t> do a small research</a:t>
            </a:r>
            <a:endParaRPr lang="en-VN" dirty="0"/>
          </a:p>
          <a:p>
            <a:pPr lvl="1"/>
            <a:r>
              <a:rPr lang="en-VN" dirty="0"/>
              <a:t>Implement it (Python)</a:t>
            </a:r>
          </a:p>
          <a:p>
            <a:r>
              <a:rPr lang="en-VN" dirty="0"/>
              <a:t>Scoring:</a:t>
            </a:r>
          </a:p>
          <a:p>
            <a:pPr lvl="1"/>
            <a:r>
              <a:rPr lang="en-VN" dirty="0"/>
              <a:t>Method explanation: 80%</a:t>
            </a:r>
          </a:p>
          <a:p>
            <a:pPr lvl="1"/>
            <a:r>
              <a:rPr lang="en-VN" dirty="0"/>
              <a:t>Implementation: 20% </a:t>
            </a:r>
            <a:r>
              <a:rPr lang="en-VN" dirty="0">
                <a:sym typeface="Wingdings" pitchFamily="2" charset="2"/>
              </a:rPr>
              <a:t> generate your own data (target and template images)</a:t>
            </a:r>
            <a:endParaRPr lang="en-VN" dirty="0"/>
          </a:p>
          <a:p>
            <a:r>
              <a:rPr lang="en-VN" dirty="0"/>
              <a:t>Due: 2 weeks</a:t>
            </a:r>
          </a:p>
          <a:p>
            <a:r>
              <a:rPr lang="en-VN" dirty="0"/>
              <a:t>Submission: a pdf + source code</a:t>
            </a:r>
          </a:p>
        </p:txBody>
      </p:sp>
    </p:spTree>
    <p:extLst>
      <p:ext uri="{BB962C8B-B14F-4D97-AF65-F5344CB8AC3E}">
        <p14:creationId xmlns:p14="http://schemas.microsoft.com/office/powerpoint/2010/main" val="133796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7E8A-2BCE-DA4D-9EFB-4878BD98EE5D}"/>
              </a:ext>
            </a:extLst>
          </p:cNvPr>
          <p:cNvSpPr>
            <a:spLocks noGrp="1"/>
          </p:cNvSpPr>
          <p:nvPr>
            <p:ph type="title"/>
          </p:nvPr>
        </p:nvSpPr>
        <p:spPr/>
        <p:txBody>
          <a:bodyPr/>
          <a:lstStyle/>
          <a:p>
            <a:r>
              <a:rPr lang="en-VN" dirty="0"/>
              <a:t>Example of “distortion”</a:t>
            </a:r>
          </a:p>
        </p:txBody>
      </p:sp>
      <p:pic>
        <p:nvPicPr>
          <p:cNvPr id="4" name="Picture 3">
            <a:extLst>
              <a:ext uri="{FF2B5EF4-FFF2-40B4-BE49-F238E27FC236}">
                <a16:creationId xmlns:a16="http://schemas.microsoft.com/office/drawing/2014/main" id="{3AF4CAAD-4ED2-A348-917F-97D40E1918F4}"/>
              </a:ext>
            </a:extLst>
          </p:cNvPr>
          <p:cNvPicPr>
            <a:picLocks noChangeAspect="1"/>
          </p:cNvPicPr>
          <p:nvPr/>
        </p:nvPicPr>
        <p:blipFill>
          <a:blip r:embed="rId2"/>
          <a:stretch>
            <a:fillRect/>
          </a:stretch>
        </p:blipFill>
        <p:spPr>
          <a:xfrm>
            <a:off x="739172" y="2101416"/>
            <a:ext cx="3775029" cy="3291272"/>
          </a:xfrm>
          <a:prstGeom prst="rect">
            <a:avLst/>
          </a:prstGeom>
        </p:spPr>
      </p:pic>
      <p:sp>
        <p:nvSpPr>
          <p:cNvPr id="5" name="TextBox 4">
            <a:extLst>
              <a:ext uri="{FF2B5EF4-FFF2-40B4-BE49-F238E27FC236}">
                <a16:creationId xmlns:a16="http://schemas.microsoft.com/office/drawing/2014/main" id="{B78D983A-1B7A-DF4E-AEE0-BE67B065755A}"/>
              </a:ext>
            </a:extLst>
          </p:cNvPr>
          <p:cNvSpPr txBox="1"/>
          <p:nvPr/>
        </p:nvSpPr>
        <p:spPr>
          <a:xfrm>
            <a:off x="1289248" y="1916750"/>
            <a:ext cx="2268442" cy="369332"/>
          </a:xfrm>
          <a:prstGeom prst="rect">
            <a:avLst/>
          </a:prstGeom>
          <a:noFill/>
        </p:spPr>
        <p:txBody>
          <a:bodyPr wrap="none" rtlCol="0">
            <a:spAutoFit/>
          </a:bodyPr>
          <a:lstStyle/>
          <a:p>
            <a:r>
              <a:rPr lang="en-US" dirty="0"/>
              <a:t>C</a:t>
            </a:r>
            <a:r>
              <a:rPr lang="en-VN" dirty="0"/>
              <a:t>hange of perspective</a:t>
            </a:r>
          </a:p>
        </p:txBody>
      </p:sp>
      <p:sp>
        <p:nvSpPr>
          <p:cNvPr id="6" name="TextBox 5">
            <a:extLst>
              <a:ext uri="{FF2B5EF4-FFF2-40B4-BE49-F238E27FC236}">
                <a16:creationId xmlns:a16="http://schemas.microsoft.com/office/drawing/2014/main" id="{9378FBDA-8933-8A4E-96A5-EBBEA7AC0982}"/>
              </a:ext>
            </a:extLst>
          </p:cNvPr>
          <p:cNvSpPr txBox="1"/>
          <p:nvPr/>
        </p:nvSpPr>
        <p:spPr>
          <a:xfrm>
            <a:off x="5409359" y="1455612"/>
            <a:ext cx="2594773" cy="646331"/>
          </a:xfrm>
          <a:prstGeom prst="rect">
            <a:avLst/>
          </a:prstGeom>
          <a:noFill/>
        </p:spPr>
        <p:txBody>
          <a:bodyPr wrap="square" rtlCol="0">
            <a:spAutoFit/>
          </a:bodyPr>
          <a:lstStyle/>
          <a:p>
            <a:r>
              <a:rPr lang="en-US" dirty="0"/>
              <a:t>C</a:t>
            </a:r>
            <a:r>
              <a:rPr lang="en-VN" dirty="0"/>
              <a:t>hange of appearance by time</a:t>
            </a:r>
          </a:p>
        </p:txBody>
      </p:sp>
      <p:sp>
        <p:nvSpPr>
          <p:cNvPr id="7" name="TextBox 6">
            <a:extLst>
              <a:ext uri="{FF2B5EF4-FFF2-40B4-BE49-F238E27FC236}">
                <a16:creationId xmlns:a16="http://schemas.microsoft.com/office/drawing/2014/main" id="{9948E431-ED8F-024B-A3EC-8A3769004C21}"/>
              </a:ext>
            </a:extLst>
          </p:cNvPr>
          <p:cNvSpPr txBox="1"/>
          <p:nvPr/>
        </p:nvSpPr>
        <p:spPr>
          <a:xfrm>
            <a:off x="8861550" y="1916750"/>
            <a:ext cx="2388667" cy="369332"/>
          </a:xfrm>
          <a:prstGeom prst="rect">
            <a:avLst/>
          </a:prstGeom>
          <a:noFill/>
        </p:spPr>
        <p:txBody>
          <a:bodyPr wrap="none" rtlCol="0">
            <a:spAutoFit/>
          </a:bodyPr>
          <a:lstStyle/>
          <a:p>
            <a:r>
              <a:rPr lang="en-US" dirty="0"/>
              <a:t>Geometric transformed</a:t>
            </a:r>
            <a:endParaRPr lang="en-VN" dirty="0"/>
          </a:p>
        </p:txBody>
      </p:sp>
      <p:pic>
        <p:nvPicPr>
          <p:cNvPr id="8" name="Picture 7">
            <a:extLst>
              <a:ext uri="{FF2B5EF4-FFF2-40B4-BE49-F238E27FC236}">
                <a16:creationId xmlns:a16="http://schemas.microsoft.com/office/drawing/2014/main" id="{896ED2BA-0F61-304D-B45F-5ECED87CE67B}"/>
              </a:ext>
            </a:extLst>
          </p:cNvPr>
          <p:cNvPicPr>
            <a:picLocks noChangeAspect="1"/>
          </p:cNvPicPr>
          <p:nvPr/>
        </p:nvPicPr>
        <p:blipFill rotWithShape="1">
          <a:blip r:embed="rId3"/>
          <a:srcRect l="49640"/>
          <a:stretch/>
        </p:blipFill>
        <p:spPr>
          <a:xfrm>
            <a:off x="5409359" y="4448391"/>
            <a:ext cx="2853263" cy="1888593"/>
          </a:xfrm>
          <a:prstGeom prst="rect">
            <a:avLst/>
          </a:prstGeom>
        </p:spPr>
      </p:pic>
      <p:pic>
        <p:nvPicPr>
          <p:cNvPr id="9" name="Picture 8">
            <a:extLst>
              <a:ext uri="{FF2B5EF4-FFF2-40B4-BE49-F238E27FC236}">
                <a16:creationId xmlns:a16="http://schemas.microsoft.com/office/drawing/2014/main" id="{3D1A409A-1F97-B94A-9541-E088E42CC1D6}"/>
              </a:ext>
            </a:extLst>
          </p:cNvPr>
          <p:cNvPicPr>
            <a:picLocks noChangeAspect="1"/>
          </p:cNvPicPr>
          <p:nvPr/>
        </p:nvPicPr>
        <p:blipFill rotWithShape="1">
          <a:blip r:embed="rId3"/>
          <a:srcRect r="51245"/>
          <a:stretch/>
        </p:blipFill>
        <p:spPr>
          <a:xfrm>
            <a:off x="5306702" y="2332775"/>
            <a:ext cx="2762347" cy="1888593"/>
          </a:xfrm>
          <a:prstGeom prst="rect">
            <a:avLst/>
          </a:prstGeom>
        </p:spPr>
      </p:pic>
      <p:pic>
        <p:nvPicPr>
          <p:cNvPr id="1026" name="Picture 2" descr="Generic Geometric Transformations - MATLAB &amp; Simulink">
            <a:extLst>
              <a:ext uri="{FF2B5EF4-FFF2-40B4-BE49-F238E27FC236}">
                <a16:creationId xmlns:a16="http://schemas.microsoft.com/office/drawing/2014/main" id="{3474D0FD-6477-C543-817B-9F22301B72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5585" y="2924826"/>
            <a:ext cx="2950576" cy="2212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04639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11327</TotalTime>
  <Words>1014</Words>
  <Application>Microsoft Macintosh PowerPoint</Application>
  <PresentationFormat>Widescreen</PresentationFormat>
  <Paragraphs>148</Paragraphs>
  <Slides>30</Slides>
  <Notes>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Cambria Math</vt:lpstr>
      <vt:lpstr>Wingdings</vt:lpstr>
      <vt:lpstr>Office Theme</vt:lpstr>
      <vt:lpstr>Image Processing INT3404 20 Week 6: Template Matching</vt:lpstr>
      <vt:lpstr>Schedule</vt:lpstr>
      <vt:lpstr>Recall week 5</vt:lpstr>
      <vt:lpstr>Week 6</vt:lpstr>
      <vt:lpstr>Template matching</vt:lpstr>
      <vt:lpstr>Template matching</vt:lpstr>
      <vt:lpstr>Template matching</vt:lpstr>
      <vt:lpstr>Template matching</vt:lpstr>
      <vt:lpstr>Actually...</vt:lpstr>
      <vt:lpstr>Problem with correlation of raw image template</vt:lpstr>
      <vt:lpstr>Problem with correlation of raw image template</vt:lpstr>
      <vt:lpstr>Solution</vt:lpstr>
      <vt:lpstr>Correspondence problem</vt:lpstr>
      <vt:lpstr>Example</vt:lpstr>
      <vt:lpstr>Example:  Raw cross-correlation</vt:lpstr>
      <vt:lpstr>Example: Cross-correlation with zero-mean template</vt:lpstr>
      <vt:lpstr>“SSD” or “Block matching” (Sum of squared differences)</vt:lpstr>
      <vt:lpstr>Relation between SSD and Correlation</vt:lpstr>
      <vt:lpstr>SSD</vt:lpstr>
      <vt:lpstr>Handling intensity changes</vt:lpstr>
      <vt:lpstr>Intensity normalization</vt:lpstr>
      <vt:lpstr>Normalized cross correlation</vt:lpstr>
      <vt:lpstr>Normalized cross correlation</vt:lpstr>
      <vt:lpstr>Normalized cross correlation</vt:lpstr>
      <vt:lpstr>Midterm announcement</vt:lpstr>
      <vt:lpstr>Sample image - counting</vt:lpstr>
      <vt:lpstr>PowerPoint Presentation</vt:lpstr>
      <vt:lpstr>PowerPoint Presentation</vt:lpstr>
      <vt:lpstr>Midterm announcement</vt:lpstr>
      <vt:lpstr>Example of “distortion”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Processing INT3404 20 Week 5: Spatial filtering (cont)</dc:title>
  <dc:creator>NGUYEN DIEP</dc:creator>
  <cp:lastModifiedBy>Long Tran</cp:lastModifiedBy>
  <cp:revision>17</cp:revision>
  <dcterms:created xsi:type="dcterms:W3CDTF">2020-10-07T15:42:30Z</dcterms:created>
  <dcterms:modified xsi:type="dcterms:W3CDTF">2024-10-04T22:54:15Z</dcterms:modified>
</cp:coreProperties>
</file>