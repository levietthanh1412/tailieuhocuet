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slide" Target="slides/slide20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038ed506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038ed506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038ed50640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038ed50640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038ed50640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038ed50640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1a76eff383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1a76eff383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1a76eff383_0_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1a76eff383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1a76eff383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1a76eff383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3135e618b11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3135e618b11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g3135e618b11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" name="Google Shape;109;g3135e618b11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1a76eff383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1a76eff383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1a76eff383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1a76eff383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1a76eff383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1a76eff383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a76eff38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a76eff38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1a76eff383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1a76eff383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1a76eff383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1" name="Google Shape;161;g31a76eff383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1a76eff383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" name="Google Shape;168;g31a76eff383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1a76eff383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1a76eff383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1a76eff383_0_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1a76eff383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a76eff383_0_1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31a76eff383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038ed50640_0_3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038ed50640_0_3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Relationship Id="rId4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Relationship Id="rId4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bit.ly/4ifiGbh" TargetMode="External"/><Relationship Id="rId4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8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3.png"/><Relationship Id="rId7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github.com/qubvel-org/segmentation_models.pytorch" TargetMode="External"/><Relationship Id="rId4" Type="http://schemas.openxmlformats.org/officeDocument/2006/relationships/hyperlink" Target="https://docs.google.com/spreadsheets/d/1ueg2dOEBXiu-JgMqNJYd3WsTYRdZwSN7WyAUlTQI7x8/edit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</a:t>
            </a:r>
            <a:r>
              <a:rPr lang="en"/>
              <a:t>ử lý và phân tích hình ảnh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Phân vùng ngữ nghĩa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nhiệm vụ phân tích hình ảnh</a:t>
            </a:r>
            <a:endParaRPr/>
          </a:p>
        </p:txBody>
      </p:sp>
      <p:pic>
        <p:nvPicPr>
          <p:cNvPr id="61" name="Google Shape;61;p14"/>
          <p:cNvPicPr preferRelativeResize="0"/>
          <p:nvPr/>
        </p:nvPicPr>
        <p:blipFill rotWithShape="1">
          <a:blip r:embed="rId3">
            <a:alphaModFix/>
          </a:blip>
          <a:srcRect b="0" l="0" r="0" t="12150"/>
          <a:stretch/>
        </p:blipFill>
        <p:spPr>
          <a:xfrm>
            <a:off x="517413" y="1369375"/>
            <a:ext cx="8109174" cy="3356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 nhiệm vụ phân tích hình ảnh</a:t>
            </a:r>
            <a:endParaRPr/>
          </a:p>
        </p:txBody>
      </p:sp>
      <p:sp>
        <p:nvSpPr>
          <p:cNvPr id="67" name="Google Shape;67;p15"/>
          <p:cNvSpPr txBox="1"/>
          <p:nvPr/>
        </p:nvSpPr>
        <p:spPr>
          <a:xfrm>
            <a:off x="5259175" y="1685700"/>
            <a:ext cx="3461400" cy="66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Phân vùng ngữ nghĩa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0000FF"/>
                </a:solidFill>
              </a:rPr>
              <a:t>Semantic segmentation</a:t>
            </a:r>
            <a:endParaRPr b="1" sz="2200">
              <a:solidFill>
                <a:srgbClr val="0000FF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X</a:t>
            </a:r>
            <a:r>
              <a:rPr b="1" lang="en" sz="2200">
                <a:solidFill>
                  <a:schemeClr val="dk2"/>
                </a:solidFill>
              </a:rPr>
              <a:t> = hình ảnh đầu vào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       HxWxC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Y</a:t>
            </a:r>
            <a:r>
              <a:rPr b="1" lang="en" sz="2200">
                <a:solidFill>
                  <a:schemeClr val="dk2"/>
                </a:solidFill>
              </a:rPr>
              <a:t> = ảnh ngữ nghĩa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chemeClr val="dk2"/>
                </a:solidFill>
              </a:rPr>
              <a:t>       HxW</a:t>
            </a:r>
            <a:endParaRPr b="1" sz="22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200">
                <a:solidFill>
                  <a:srgbClr val="FF0000"/>
                </a:solidFill>
              </a:rPr>
              <a:t>Y</a:t>
            </a:r>
            <a:r>
              <a:rPr b="1" baseline="-25000" lang="en" sz="2200">
                <a:solidFill>
                  <a:srgbClr val="FF0000"/>
                </a:solidFill>
              </a:rPr>
              <a:t>ij</a:t>
            </a:r>
            <a:r>
              <a:rPr b="1" lang="en" sz="2200">
                <a:solidFill>
                  <a:schemeClr val="dk2"/>
                </a:solidFill>
              </a:rPr>
              <a:t> = phân lớp của </a:t>
            </a:r>
            <a:r>
              <a:rPr b="1" lang="en" sz="2200">
                <a:solidFill>
                  <a:srgbClr val="FF0000"/>
                </a:solidFill>
              </a:rPr>
              <a:t>X</a:t>
            </a:r>
            <a:r>
              <a:rPr b="1" baseline="-25000" lang="en" sz="2200">
                <a:solidFill>
                  <a:srgbClr val="FF0000"/>
                </a:solidFill>
              </a:rPr>
              <a:t>ij</a:t>
            </a:r>
            <a:endParaRPr b="1" baseline="-25000" sz="2200">
              <a:solidFill>
                <a:srgbClr val="FF0000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200">
              <a:solidFill>
                <a:schemeClr val="dk2"/>
              </a:solidFill>
            </a:endParaRPr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3600" y="1685700"/>
            <a:ext cx="4426025" cy="219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Nội dung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Các khái niệm chính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Cách tiếp cận học sâu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AutoNum type="arabicPeriod"/>
            </a:pPr>
            <a:r>
              <a:rPr lang="en"/>
              <a:t>Một số thuật toán điển hình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Ứng dụng</a:t>
            </a:r>
            <a:endParaRPr/>
          </a:p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1" name="Google Shape;8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694" y="1152475"/>
            <a:ext cx="2434248" cy="2108576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7"/>
          <p:cNvSpPr txBox="1"/>
          <p:nvPr/>
        </p:nvSpPr>
        <p:spPr>
          <a:xfrm>
            <a:off x="1075975" y="3261050"/>
            <a:ext cx="16677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Ả</a:t>
            </a:r>
            <a:r>
              <a:rPr lang="en" sz="1800">
                <a:solidFill>
                  <a:schemeClr val="dk2"/>
                </a:solidFill>
              </a:rPr>
              <a:t>nh y tế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92000" y="1129850"/>
            <a:ext cx="4334902" cy="2153825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 txBox="1"/>
          <p:nvPr/>
        </p:nvSpPr>
        <p:spPr>
          <a:xfrm>
            <a:off x="5249175" y="3261050"/>
            <a:ext cx="2020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Xe tự hành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Ứng dụng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8"/>
          <p:cNvSpPr txBox="1"/>
          <p:nvPr/>
        </p:nvSpPr>
        <p:spPr>
          <a:xfrm>
            <a:off x="1682700" y="3400650"/>
            <a:ext cx="2020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Địa lý, viễn thám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2" name="Google Shape;92;p18"/>
          <p:cNvSpPr txBox="1"/>
          <p:nvPr/>
        </p:nvSpPr>
        <p:spPr>
          <a:xfrm>
            <a:off x="5966113" y="3400650"/>
            <a:ext cx="2020500" cy="44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Công nghiệp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93" name="Google Shape;93;p18"/>
          <p:cNvPicPr preferRelativeResize="0"/>
          <p:nvPr/>
        </p:nvPicPr>
        <p:blipFill rotWithShape="1">
          <a:blip r:embed="rId3">
            <a:alphaModFix/>
          </a:blip>
          <a:srcRect b="6064" l="0" r="0" t="51592"/>
          <a:stretch/>
        </p:blipFill>
        <p:spPr>
          <a:xfrm>
            <a:off x="311700" y="1648225"/>
            <a:ext cx="4762500" cy="1693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18"/>
          <p:cNvPicPr preferRelativeResize="0"/>
          <p:nvPr/>
        </p:nvPicPr>
        <p:blipFill rotWithShape="1">
          <a:blip r:embed="rId4">
            <a:alphaModFix/>
          </a:blip>
          <a:srcRect b="3155" l="15372" r="13031" t="12938"/>
          <a:stretch/>
        </p:blipFill>
        <p:spPr>
          <a:xfrm>
            <a:off x="5169700" y="1648225"/>
            <a:ext cx="3613331" cy="16939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Ứng dụng</a:t>
            </a:r>
            <a:endParaRPr/>
          </a:p>
        </p:txBody>
      </p:sp>
      <p:sp>
        <p:nvSpPr>
          <p:cNvPr id="100" name="Google Shape;10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Augmented / Virtual Reality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Nông nghiệp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Thời trang (try on)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Chỉnh sửa hình ảnh (photoshop)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en"/>
              <a:t>Robot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IoU (Intersection over Union)</a:t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45563" y="1489550"/>
            <a:ext cx="3452875" cy="2693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Hàm mất mát (loss)</a:t>
            </a:r>
            <a:endParaRPr/>
          </a:p>
        </p:txBody>
      </p:sp>
      <p:sp>
        <p:nvSpPr>
          <p:cNvPr id="112" name="Google Shape;112;p21"/>
          <p:cNvSpPr txBox="1"/>
          <p:nvPr>
            <p:ph idx="1" type="body"/>
          </p:nvPr>
        </p:nvSpPr>
        <p:spPr>
          <a:xfrm>
            <a:off x="311700" y="1152475"/>
            <a:ext cx="7390200" cy="3814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Cross entropy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IoU loss cho mỗi phân lớp</a:t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120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IoU loss = trung bình cộng IoU loss của mỗi phân lớp</a:t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Cài đặt: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pred: BxCxHxW (xác suất phân lớp), true-target: BxHxW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Mã One-hot cho target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/>
              <a:t>Thêm hệ số làm trơn (eps) vào cả tử số và mẫu số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Char char="○"/>
            </a:pPr>
            <a:r>
              <a:rPr lang="en" sz="1700" u="sng">
                <a:solidFill>
                  <a:schemeClr val="hlink"/>
                </a:solidFill>
                <a:hlinkClick r:id="rId3"/>
              </a:rPr>
              <a:t>https://bit.ly/4ifiGbh</a:t>
            </a:r>
            <a:endParaRPr sz="1700"/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○"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iou_loss = 1 - iou.mean()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  <a:p>
            <a:pPr indent="-336550" lvl="1" marL="914400" rtl="0" algn="l">
              <a:spcBef>
                <a:spcPts val="0"/>
              </a:spcBef>
              <a:spcAft>
                <a:spcPts val="0"/>
              </a:spcAft>
              <a:buSzPts val="1700"/>
              <a:buFont typeface="Courier New"/>
              <a:buChar char="○"/>
            </a:pP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iou_loss = -log(</a:t>
            </a:r>
            <a:r>
              <a:rPr lang="en" sz="1700">
                <a:latin typeface="Courier New"/>
                <a:ea typeface="Courier New"/>
                <a:cs typeface="Courier New"/>
                <a:sym typeface="Courier New"/>
              </a:rPr>
              <a:t>iou.mean())</a:t>
            </a:r>
            <a:endParaRPr sz="1700">
              <a:latin typeface="Courier New"/>
              <a:ea typeface="Courier New"/>
              <a:cs typeface="Courier New"/>
              <a:sym typeface="Courier New"/>
            </a:endParaRPr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1075" y="1766163"/>
            <a:ext cx="4761851" cy="9082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Cách tiếp cận Học sâu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Đầu ra Y: giá trị logits của các phân lớp (trước softmax)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Encoder: VGG, CNN, VizTransformer, …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Decoder (segmentation head)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Transpose Conv, Upsampling, Skip Connection, Atrous convolution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FCN, UNet, DeepLab, SegNet, SAM</a:t>
            </a:r>
            <a:endParaRPr/>
          </a:p>
        </p:txBody>
      </p:sp>
      <p:grpSp>
        <p:nvGrpSpPr>
          <p:cNvPr id="120" name="Google Shape;120;p22"/>
          <p:cNvGrpSpPr/>
          <p:nvPr/>
        </p:nvGrpSpPr>
        <p:grpSpPr>
          <a:xfrm>
            <a:off x="833550" y="2613325"/>
            <a:ext cx="7318225" cy="2438700"/>
            <a:chOff x="833550" y="1698925"/>
            <a:chExt cx="7318225" cy="2438700"/>
          </a:xfrm>
        </p:grpSpPr>
        <p:sp>
          <p:nvSpPr>
            <p:cNvPr id="121" name="Google Shape;121;p22"/>
            <p:cNvSpPr/>
            <p:nvPr/>
          </p:nvSpPr>
          <p:spPr>
            <a:xfrm>
              <a:off x="1058700" y="2221075"/>
              <a:ext cx="1217400" cy="1279200"/>
            </a:xfrm>
            <a:prstGeom prst="cube">
              <a:avLst>
                <a:gd fmla="val 4349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" name="Google Shape;122;p22"/>
            <p:cNvSpPr/>
            <p:nvPr/>
          </p:nvSpPr>
          <p:spPr>
            <a:xfrm rot="-5400000">
              <a:off x="4592625" y="2089675"/>
              <a:ext cx="1441500" cy="1542000"/>
            </a:xfrm>
            <a:prstGeom prst="trapezoid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" name="Google Shape;123;p22"/>
            <p:cNvSpPr/>
            <p:nvPr/>
          </p:nvSpPr>
          <p:spPr>
            <a:xfrm rot="5400000">
              <a:off x="2980550" y="2089675"/>
              <a:ext cx="1441500" cy="1542000"/>
            </a:xfrm>
            <a:prstGeom prst="trapezoid">
              <a:avLst>
                <a:gd fmla="val 25000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" name="Google Shape;124;p22"/>
            <p:cNvSpPr txBox="1"/>
            <p:nvPr/>
          </p:nvSpPr>
          <p:spPr>
            <a:xfrm>
              <a:off x="833550" y="3696625"/>
              <a:ext cx="1667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 x 3 x H x W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5" name="Google Shape;125;p22"/>
            <p:cNvSpPr/>
            <p:nvPr/>
          </p:nvSpPr>
          <p:spPr>
            <a:xfrm>
              <a:off x="6709225" y="2221075"/>
              <a:ext cx="1217400" cy="1279200"/>
            </a:xfrm>
            <a:prstGeom prst="cube">
              <a:avLst>
                <a:gd fmla="val 4349" name="adj"/>
              </a:avLst>
            </a:pr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22"/>
            <p:cNvSpPr txBox="1"/>
            <p:nvPr/>
          </p:nvSpPr>
          <p:spPr>
            <a:xfrm>
              <a:off x="6484075" y="3696625"/>
              <a:ext cx="1667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B x </a:t>
              </a:r>
              <a:r>
                <a:rPr lang="en" sz="1800">
                  <a:solidFill>
                    <a:schemeClr val="dk2"/>
                  </a:solidFill>
                </a:rPr>
                <a:t>C x </a:t>
              </a:r>
              <a:r>
                <a:rPr lang="en" sz="1800">
                  <a:solidFill>
                    <a:schemeClr val="dk2"/>
                  </a:solidFill>
                </a:rPr>
                <a:t>H x W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27" name="Google Shape;127;p22"/>
            <p:cNvSpPr txBox="1"/>
            <p:nvPr/>
          </p:nvSpPr>
          <p:spPr>
            <a:xfrm>
              <a:off x="833550" y="1698925"/>
              <a:ext cx="1667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X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128" name="Google Shape;128;p22"/>
            <p:cNvSpPr txBox="1"/>
            <p:nvPr/>
          </p:nvSpPr>
          <p:spPr>
            <a:xfrm>
              <a:off x="6484075" y="1698925"/>
              <a:ext cx="1667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rgbClr val="FF0000"/>
                  </a:solidFill>
                </a:rPr>
                <a:t>Y</a:t>
              </a:r>
              <a:endParaRPr sz="1800">
                <a:solidFill>
                  <a:srgbClr val="FF0000"/>
                </a:solidFill>
              </a:endParaRPr>
            </a:p>
          </p:txBody>
        </p:sp>
        <p:sp>
          <p:nvSpPr>
            <p:cNvPr id="129" name="Google Shape;129;p22"/>
            <p:cNvSpPr txBox="1"/>
            <p:nvPr/>
          </p:nvSpPr>
          <p:spPr>
            <a:xfrm>
              <a:off x="2867450" y="2640175"/>
              <a:ext cx="1667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Encoder</a:t>
              </a:r>
              <a:endParaRPr sz="1800">
                <a:solidFill>
                  <a:schemeClr val="dk2"/>
                </a:solidFill>
              </a:endParaRPr>
            </a:p>
          </p:txBody>
        </p:sp>
        <p:sp>
          <p:nvSpPr>
            <p:cNvPr id="130" name="Google Shape;130;p22"/>
            <p:cNvSpPr txBox="1"/>
            <p:nvPr/>
          </p:nvSpPr>
          <p:spPr>
            <a:xfrm>
              <a:off x="4479525" y="2640175"/>
              <a:ext cx="1667700" cy="441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800">
                  <a:solidFill>
                    <a:schemeClr val="dk2"/>
                  </a:solidFill>
                </a:rPr>
                <a:t>Decoder</a:t>
              </a:r>
              <a:endParaRPr sz="1800">
                <a:solidFill>
                  <a:schemeClr val="dk2"/>
                </a:solidFill>
              </a:endParaRPr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Tăng mẫu (Upsampling)</a:t>
            </a:r>
            <a:endParaRPr/>
          </a:p>
        </p:txBody>
      </p:sp>
      <p:sp>
        <p:nvSpPr>
          <p:cNvPr id="136" name="Google Shape;13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Nội suy tuyến tính, song tuyến tính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Láng giềng gần nhất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6975" y="2099925"/>
            <a:ext cx="5710050" cy="282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Tích chập chuyển vị (Transpose Convolution)</a:t>
            </a:r>
            <a:endParaRPr/>
          </a:p>
        </p:txBody>
      </p:sp>
      <p:sp>
        <p:nvSpPr>
          <p:cNvPr id="143" name="Google Shape;14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Conv2D = pixel → feature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TransposeConv2D = feature → pixel</a:t>
            </a:r>
            <a:endParaRPr/>
          </a:p>
        </p:txBody>
      </p:sp>
      <p:pic>
        <p:nvPicPr>
          <p:cNvPr id="144" name="Google Shape;144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853222"/>
            <a:ext cx="9143998" cy="2089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Tích chập giãn nở (Dilated/Atrous Convolution)</a:t>
            </a:r>
            <a:endParaRPr/>
          </a:p>
        </p:txBody>
      </p:sp>
      <p:sp>
        <p:nvSpPr>
          <p:cNvPr id="150" name="Google Shape;15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n"/>
              <a:t>Tích chập trên ma trận giãn nở</a:t>
            </a:r>
            <a:endParaRPr/>
          </a:p>
        </p:txBody>
      </p:sp>
      <p:pic>
        <p:nvPicPr>
          <p:cNvPr id="151" name="Google Shape;151;p25"/>
          <p:cNvPicPr preferRelativeResize="0"/>
          <p:nvPr/>
        </p:nvPicPr>
        <p:blipFill rotWithShape="1">
          <a:blip r:embed="rId3">
            <a:alphaModFix/>
          </a:blip>
          <a:srcRect b="10290" l="0" r="0" t="33634"/>
          <a:stretch/>
        </p:blipFill>
        <p:spPr>
          <a:xfrm>
            <a:off x="633413" y="1914450"/>
            <a:ext cx="7877175" cy="2585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Kết nối bỏ qua (skip connection)</a:t>
            </a:r>
            <a:endParaRPr/>
          </a:p>
        </p:txBody>
      </p:sp>
      <p:sp>
        <p:nvSpPr>
          <p:cNvPr id="157" name="Google Shape;157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Addition: </a:t>
            </a:r>
            <a:r>
              <a:rPr lang="en"/>
              <a:t>y = F(x) + x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Concatenation: y = </a:t>
            </a:r>
            <a:r>
              <a:rPr lang="en"/>
              <a:t>(F(x), x)</a:t>
            </a:r>
            <a:endParaRPr/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17788" y="1980600"/>
            <a:ext cx="5908425" cy="284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UNet</a:t>
            </a:r>
            <a:endParaRPr/>
          </a:p>
        </p:txBody>
      </p:sp>
      <p:sp>
        <p:nvSpPr>
          <p:cNvPr id="164" name="Google Shape;164;p27"/>
          <p:cNvSpPr txBox="1"/>
          <p:nvPr>
            <p:ph idx="1" type="body"/>
          </p:nvPr>
        </p:nvSpPr>
        <p:spPr>
          <a:xfrm>
            <a:off x="311700" y="1152475"/>
            <a:ext cx="309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Backbone → đặc trưng ở các mức phân giải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Kết nối bỏ qua (concat)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Trộn thông tin điểm ảnh và thông tin đặc trưng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TransposeConv hoặc Upsampling: tăng kích thước ảnh đặc trưng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auxiliary loss</a:t>
            </a:r>
            <a:endParaRPr/>
          </a:p>
        </p:txBody>
      </p:sp>
      <p:pic>
        <p:nvPicPr>
          <p:cNvPr id="165" name="Google Shape;165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1025" y="1152475"/>
            <a:ext cx="5511275" cy="3558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FCN (Fully Convolutional Network)</a:t>
            </a:r>
            <a:endParaRPr/>
          </a:p>
        </p:txBody>
      </p:sp>
      <p:sp>
        <p:nvSpPr>
          <p:cNvPr id="171" name="Google Shape;171;p28"/>
          <p:cNvSpPr txBox="1"/>
          <p:nvPr>
            <p:ph idx="1" type="body"/>
          </p:nvPr>
        </p:nvSpPr>
        <p:spPr>
          <a:xfrm>
            <a:off x="311700" y="1152475"/>
            <a:ext cx="4964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Backbone → </a:t>
            </a:r>
            <a:r>
              <a:rPr lang="en"/>
              <a:t>trích chọn </a:t>
            </a:r>
            <a:r>
              <a:rPr lang="en"/>
              <a:t>đặc trưng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1x1 </a:t>
            </a:r>
            <a:r>
              <a:rPr lang="en"/>
              <a:t>Conv: H</a:t>
            </a:r>
            <a:r>
              <a:rPr baseline="-25000" lang="en"/>
              <a:t>R</a:t>
            </a:r>
            <a:r>
              <a:rPr lang="en"/>
              <a:t> x W</a:t>
            </a:r>
            <a:r>
              <a:rPr baseline="-25000" lang="en"/>
              <a:t>R</a:t>
            </a:r>
            <a:r>
              <a:rPr lang="en"/>
              <a:t> x C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TransposeConv: tăng kích thước ảnh đặc trưng </a:t>
            </a:r>
            <a:r>
              <a:rPr lang="en"/>
              <a:t>bằng kích thước ảnh gốc</a:t>
            </a:r>
            <a:endParaRPr/>
          </a:p>
        </p:txBody>
      </p:sp>
      <p:pic>
        <p:nvPicPr>
          <p:cNvPr id="172" name="Google Shape;172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14890" y="0"/>
            <a:ext cx="226647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7" name="Google Shape;177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9550" y="1261450"/>
            <a:ext cx="6324448" cy="309685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Deeplab</a:t>
            </a:r>
            <a:endParaRPr/>
          </a:p>
        </p:txBody>
      </p:sp>
      <p:sp>
        <p:nvSpPr>
          <p:cNvPr id="179" name="Google Shape;179;p29"/>
          <p:cNvSpPr txBox="1"/>
          <p:nvPr>
            <p:ph idx="1" type="body"/>
          </p:nvPr>
        </p:nvSpPr>
        <p:spPr>
          <a:xfrm>
            <a:off x="311700" y="1152475"/>
            <a:ext cx="2838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Atrous Spatial Pyramid Pooling (ASPP):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Dùng nhiều hệ số giãn nở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Backbone = Resnet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Segnet</a:t>
            </a:r>
            <a:endParaRPr/>
          </a:p>
        </p:txBody>
      </p:sp>
      <p:sp>
        <p:nvSpPr>
          <p:cNvPr id="185" name="Google Shape;185;p30"/>
          <p:cNvSpPr txBox="1"/>
          <p:nvPr>
            <p:ph idx="1" type="body"/>
          </p:nvPr>
        </p:nvSpPr>
        <p:spPr>
          <a:xfrm>
            <a:off x="311700" y="1152475"/>
            <a:ext cx="83085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Không dùng kết nối bỏ qua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Lưu trữ chỉ số pool để unpool</a:t>
            </a:r>
            <a:endParaRPr/>
          </a:p>
        </p:txBody>
      </p:sp>
      <p:pic>
        <p:nvPicPr>
          <p:cNvPr id="186" name="Google Shape;186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3875" y="2693738"/>
            <a:ext cx="8096250" cy="2314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14800" y="96400"/>
            <a:ext cx="2316275" cy="105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3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784475" y="244775"/>
            <a:ext cx="1903375" cy="759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3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578025" y="1004105"/>
            <a:ext cx="2316274" cy="78187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3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866875" y="1562200"/>
            <a:ext cx="3012114" cy="1056075"/>
          </a:xfrm>
          <a:prstGeom prst="rect">
            <a:avLst/>
          </a:prstGeom>
          <a:noFill/>
          <a:ln>
            <a:noFill/>
          </a:ln>
        </p:spPr>
      </p:pic>
      <p:sp>
        <p:nvSpPr>
          <p:cNvPr id="191" name="Google Shape;191;p30"/>
          <p:cNvSpPr txBox="1"/>
          <p:nvPr/>
        </p:nvSpPr>
        <p:spPr>
          <a:xfrm>
            <a:off x="6578025" y="439188"/>
            <a:ext cx="968100" cy="370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Maxpool</a:t>
            </a:r>
            <a:endParaRPr sz="1600">
              <a:solidFill>
                <a:schemeClr val="dk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6" name="Google Shape;196;p31"/>
          <p:cNvPicPr preferRelativeResize="0"/>
          <p:nvPr/>
        </p:nvPicPr>
        <p:blipFill rotWithShape="1">
          <a:blip r:embed="rId3">
            <a:alphaModFix/>
          </a:blip>
          <a:srcRect b="4114" l="0" r="1458" t="0"/>
          <a:stretch/>
        </p:blipFill>
        <p:spPr>
          <a:xfrm>
            <a:off x="2827550" y="1486575"/>
            <a:ext cx="6224300" cy="246590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SAM (Segment Anything Model)</a:t>
            </a:r>
            <a:endParaRPr/>
          </a:p>
        </p:txBody>
      </p:sp>
      <p:sp>
        <p:nvSpPr>
          <p:cNvPr id="198" name="Google Shape;198;p31"/>
          <p:cNvSpPr txBox="1"/>
          <p:nvPr>
            <p:ph idx="1" type="body"/>
          </p:nvPr>
        </p:nvSpPr>
        <p:spPr>
          <a:xfrm>
            <a:off x="311700" y="1152475"/>
            <a:ext cx="2846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Ý tưởng chính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Cho phép prompt bằng text, point, box, mask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Cho phép tinh chỉnh (bổ sung prompt)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Huấn luyện trên dữ liệu cực lớn (massive)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Segment Anything 1 Billion Mask (SA-1B)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Hiệu suất zero-shot cao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Đọc thêm</a:t>
            </a:r>
            <a:endParaRPr/>
          </a:p>
        </p:txBody>
      </p:sp>
      <p:sp>
        <p:nvSpPr>
          <p:cNvPr id="204" name="Google Shape;204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Mask R-CNN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SMP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hlink"/>
                </a:solidFill>
                <a:hlinkClick r:id="rId3"/>
              </a:rPr>
              <a:t>https://github.com/qubvel-org/segmentation_models.pytorch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➢"/>
            </a:pPr>
            <a:r>
              <a:rPr lang="en"/>
              <a:t>Đăng ký Bài tập cuối môn học: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4"/>
              </a:rPr>
              <a:t>https://docs.google.com/spreadsheets/d/1ueg2dOEBXiu-JgMqNJYd3WsTYRdZwSN7WyAUlTQI7x8/edit?usp=sharing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