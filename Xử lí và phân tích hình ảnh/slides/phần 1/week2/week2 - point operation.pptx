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7" r:id="rId2"/>
    <p:sldId id="472" r:id="rId3"/>
    <p:sldId id="440" r:id="rId4"/>
    <p:sldId id="441" r:id="rId5"/>
    <p:sldId id="443" r:id="rId6"/>
    <p:sldId id="444" r:id="rId7"/>
    <p:sldId id="445" r:id="rId8"/>
    <p:sldId id="450" r:id="rId9"/>
    <p:sldId id="463" r:id="rId10"/>
    <p:sldId id="446" r:id="rId11"/>
    <p:sldId id="447" r:id="rId12"/>
    <p:sldId id="448" r:id="rId13"/>
    <p:sldId id="449" r:id="rId14"/>
    <p:sldId id="451" r:id="rId15"/>
    <p:sldId id="453" r:id="rId16"/>
    <p:sldId id="454" r:id="rId17"/>
    <p:sldId id="455" r:id="rId18"/>
    <p:sldId id="426" r:id="rId19"/>
    <p:sldId id="414" r:id="rId20"/>
    <p:sldId id="415" r:id="rId21"/>
    <p:sldId id="416" r:id="rId22"/>
    <p:sldId id="417" r:id="rId23"/>
    <p:sldId id="452" r:id="rId24"/>
    <p:sldId id="456" r:id="rId25"/>
    <p:sldId id="458" r:id="rId26"/>
    <p:sldId id="457" r:id="rId27"/>
    <p:sldId id="459" r:id="rId28"/>
    <p:sldId id="263" r:id="rId29"/>
    <p:sldId id="460" r:id="rId30"/>
    <p:sldId id="461" r:id="rId31"/>
    <p:sldId id="462" r:id="rId32"/>
    <p:sldId id="268" r:id="rId33"/>
    <p:sldId id="269" r:id="rId34"/>
    <p:sldId id="270" r:id="rId35"/>
    <p:sldId id="470" r:id="rId36"/>
    <p:sldId id="272" r:id="rId37"/>
    <p:sldId id="279" r:id="rId38"/>
    <p:sldId id="271" r:id="rId39"/>
    <p:sldId id="464" r:id="rId40"/>
    <p:sldId id="465" r:id="rId41"/>
    <p:sldId id="276" r:id="rId42"/>
    <p:sldId id="273" r:id="rId43"/>
    <p:sldId id="274" r:id="rId44"/>
    <p:sldId id="466" r:id="rId45"/>
    <p:sldId id="467" r:id="rId46"/>
    <p:sldId id="469" r:id="rId47"/>
    <p:sldId id="468" r:id="rId48"/>
    <p:sldId id="474" r:id="rId49"/>
    <p:sldId id="47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21"/>
    <p:restoredTop sz="94637"/>
  </p:normalViewPr>
  <p:slideViewPr>
    <p:cSldViewPr snapToGrid="0" snapToObjects="1">
      <p:cViewPr>
        <p:scale>
          <a:sx n="241" d="100"/>
          <a:sy n="241" d="100"/>
        </p:scale>
        <p:origin x="648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DE694-9D4F-C54E-9FAA-CFFD2860DC9A}" type="datetimeFigureOut">
              <a:rPr lang="en-US" smtClean="0"/>
              <a:t>9/17/21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AC6D0-8286-AB47-A982-21E92E972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2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ora.com/How-do-we-perceive-the-color-grey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13h00’  13h50’ 10’</a:t>
            </a:r>
          </a:p>
          <a:p>
            <a:r>
              <a:rPr lang="en-US" dirty="0"/>
              <a:t>8 14h00’  14h50’ 10’</a:t>
            </a:r>
          </a:p>
          <a:p>
            <a:r>
              <a:rPr lang="en-US" dirty="0"/>
              <a:t>9 15h00’  15h50’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https://www.quora.com/How-do-we-perceive-the-color-grey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C6D0-8286-AB47-A982-21E92E9724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CCD: Charge-coupled Device</a:t>
            </a:r>
          </a:p>
          <a:p>
            <a:endParaRPr lang="en-US" dirty="0"/>
          </a:p>
          <a:p>
            <a:r>
              <a:rPr lang="en-US" dirty="0"/>
              <a:t>CAT: computerized axial tomography imaging</a:t>
            </a:r>
          </a:p>
          <a:p>
            <a:endParaRPr lang="en-US" dirty="0"/>
          </a:p>
          <a:p>
            <a:r>
              <a:rPr lang="en-US" dirty="0"/>
              <a:t>MRI: Magnetic resonance imaging</a:t>
            </a:r>
          </a:p>
          <a:p>
            <a:r>
              <a:rPr lang="en-US" dirty="0"/>
              <a:t>PET: positron emission tomography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C6D0-8286-AB47-A982-21E92E9724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9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F3E0-105E-A149-82D4-6D715C2A9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6264D-3980-0B4B-B95F-9D7D2C4AF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B76E-419A-5743-82A5-CEF9783A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1F18E-61C1-5E40-857D-ED41414E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3FFAF-ADB0-1D40-8C04-49F2E99C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8046-167E-C24F-BD1D-01B9A79D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B5F6-B632-7D4F-9C0F-3FEFF1EED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1EFF6-DA84-ED40-8D34-D7FF29FC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35217-332B-DD4F-87EE-450382CF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B98C9-2736-D848-ABF3-3C4A2AB9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1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1C44-0758-C743-B453-C77FF46D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E8CE4-E48D-DD4E-A0D8-07937F312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DD684-9A9F-C447-8EC1-4816947E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28DD7-B8FE-B145-BB6F-7328EE16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114AD-9A64-A04C-A749-DA1DFA8E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1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8B46-8712-A244-B6C3-4887DAA9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3799-7A21-7B4B-AB50-08AB23BDB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D9B21-4538-384A-AC3B-ED6804B23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DA9B8-0F01-5B43-87FE-CA81CF5F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21BD7-23A2-F648-BE05-8528F702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7DA28-BE26-5548-9F7F-CDE62319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DCC1-9969-224C-A162-6E61821E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E09F6-9BBE-C446-850D-C2DE59B7A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160A6-6834-7E45-84AA-E3D7EED06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8A8EF-3383-AA41-AAA9-53E58E576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66FB4-7424-E448-AE6E-D34C64FD7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7C55-9BE9-FD45-86F0-5F80353D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8F0D3-D1A2-6444-B588-375477536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46DB9-11CD-7B4F-B4D2-6D950D77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0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F5A3-8EA5-BF4B-B0B1-DD3ED431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878DC-18C4-B140-B62D-9C78E53B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B6EA3-965C-D341-BB16-63D44E60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B1BF5-5E97-554F-B212-E0BA1B75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4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E6FEC-4E10-144B-8C2B-B3A71DA6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F391B-3257-4A44-B5D0-1EAB68BE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E1C94-F872-3C4F-AD96-7B55E243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4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7698-8FE6-4648-9459-3681ECED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F872A-CB97-4F4F-86BF-16935298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5AC6D-054C-FF42-B3B7-484207DE6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0B3A4-B94B-5D4C-8511-B169B26F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6A505-17B1-5B42-A65A-499F9FA3E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5A5BB-5DB7-0D44-A292-65283C62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7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43E9-CBD3-0543-A474-D51940B3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3C20E-6092-FC4A-9EA3-377EFD93C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492CC-23A0-454C-8254-DE70E4B6D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43E48-5BA0-BD49-96BA-FE425D8C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3D8DB-62DC-6048-A48D-059D968F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E137F-D92C-AD4C-9D31-F3200ADA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0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432A-AA28-6943-856D-28387637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0663E-CB42-EC4D-8738-CDC03C4C3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638E-F8F9-3A4C-A971-3B666EA6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019EF-E74F-5E44-8B3D-EF179EA6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959C-C46E-FA43-B776-00596F3B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99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3065C-CA8B-744D-ADD8-485E07F08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FC446-419F-3E40-A9AD-343421D00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4875E-470C-4344-B5C5-47CD1FAC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3581E-0B64-634E-99A0-CC29BFEC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F7314-10E2-744D-8922-06F8CC94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2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0DC0B-D93A-6A41-8D7E-D9FC880E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DBD51-D1BD-2342-ADEB-7DD5035A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06E1-C661-4B4C-8E3B-A57EBED37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96CBD-3723-EB4C-B179-FE3A2BE20FB4}" type="datetimeFigureOut">
              <a:rPr lang="en-US" smtClean="0"/>
              <a:t>9/17/21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5A498-337D-1142-AC64-7CB0D4698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58F48-3E31-E04D-A525-EE53EAE92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EC007-6462-034A-86D6-5FD7490A9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0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gocdiep@vnu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ainhq.com/brain-resources/cool-brain-facts-myths/how-vision-works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colormatters.com/color-and-design/are-black-and-white-color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cs.wpi.edu/~emmanuel/courses/cs545/S14/slides/lecture01.pdf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D235-B925-8D41-999C-F236334AC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Image Processing</a:t>
            </a:r>
            <a:br>
              <a:rPr lang="en-US" dirty="0"/>
            </a:br>
            <a:r>
              <a:rPr lang="en-US" dirty="0"/>
              <a:t>INT3404 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9A23F-3D8E-AC4C-89F9-7C614FCB43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Nguyen </a:t>
            </a:r>
            <a:r>
              <a:rPr lang="en-US" dirty="0" err="1"/>
              <a:t>Thi</a:t>
            </a:r>
            <a:r>
              <a:rPr lang="en-US" dirty="0"/>
              <a:t> Ngoc Diep, Ph.D.</a:t>
            </a:r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ngocdiep@vnu.edu.vn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25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B1458F-294F-7748-B1CE-9D7094EA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24"/>
            <a:ext cx="10515600" cy="1325563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63160-C336-DE4D-BF17-48EB6D84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798-0FFE-6D49-972C-07CB5C747B6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FAEF6-56A3-C648-93E2-574B6C20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906526"/>
              </p:ext>
            </p:extLst>
          </p:nvPr>
        </p:nvGraphicFramePr>
        <p:xfrm>
          <a:off x="838200" y="1780454"/>
          <a:ext cx="10871859" cy="469967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55242">
                  <a:extLst>
                    <a:ext uri="{9D8B030D-6E8A-4147-A177-3AD203B41FA5}">
                      <a16:colId xmlns:a16="http://schemas.microsoft.com/office/drawing/2014/main" val="3803651082"/>
                    </a:ext>
                  </a:extLst>
                </a:gridCol>
                <a:gridCol w="5420609">
                  <a:extLst>
                    <a:ext uri="{9D8B030D-6E8A-4147-A177-3AD203B41FA5}">
                      <a16:colId xmlns:a16="http://schemas.microsoft.com/office/drawing/2014/main" val="2534359574"/>
                    </a:ext>
                  </a:extLst>
                </a:gridCol>
                <a:gridCol w="4796008">
                  <a:extLst>
                    <a:ext uri="{9D8B030D-6E8A-4147-A177-3AD203B41FA5}">
                      <a16:colId xmlns:a16="http://schemas.microsoft.com/office/drawing/2014/main" val="2917458572"/>
                    </a:ext>
                  </a:extLst>
                </a:gridCol>
              </a:tblGrid>
              <a:tr h="1927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Tuần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Nội dung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Yêu cầu đối với sinh viên (ngoài việc đọc tài liệu tham khảo)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268104051"/>
                  </a:ext>
                </a:extLst>
              </a:tr>
              <a:tr h="43969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Giới thiệu môn học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Cài đặt môi trường: Python 3, OpenCV 3, Numpy, Jupyter Notebook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667570547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Ảnh số (Digital image) – Phép toán điểm (Point operations)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Làm quen với OpenCV + Python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4920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Điều chỉnh độ tương phản (Contrast adjust)– Ghép ảnh (Combining images)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Làm bài tập 1: điều chỉnh gamma tìm contrast hợp lý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4647"/>
                  </a:ext>
                </a:extLst>
              </a:tr>
              <a:tr h="23560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Histogram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- Histogram equalization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94523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02893480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Thực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hành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: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Ứng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dụng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của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histogram;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Tìm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ảnh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US" sz="1200" dirty="0" err="1">
                          <a:effectLst/>
                          <a:highlight>
                            <a:srgbClr val="00FFFF"/>
                          </a:highlight>
                        </a:rPr>
                        <a:t>mẫu</a:t>
                      </a: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 (Template matching)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  <a:highlight>
                            <a:srgbClr val="00FFFF"/>
                          </a:highlight>
                        </a:rPr>
                        <a:t>Bài tập mid-term</a:t>
                      </a:r>
                      <a:endParaRPr lang="vi-VN" sz="1200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78418421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</a:rPr>
                        <a:t>7</a:t>
                      </a:r>
                      <a:endParaRPr lang="en-US" sz="1200" dirty="0">
                        <a:effectLst/>
                        <a:highlight>
                          <a:srgbClr val="00FFFF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highlight>
                            <a:srgbClr val="00FFFF"/>
                          </a:highlight>
                        </a:rPr>
                        <a:t>Trích rút đặc trưng của ảnh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highlight>
                            <a:srgbClr val="00FFFF"/>
                          </a:highlight>
                        </a:rPr>
                        <a:t>Cạnh (Edge) và đường (Line) và texture</a:t>
                      </a: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highlight>
                            <a:srgbClr val="00FFFF"/>
                          </a:highlight>
                        </a:rPr>
                        <a:t>Thực hành ở nhà</a:t>
                      </a:r>
                      <a:endParaRPr lang="en-US" sz="1200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37645"/>
                  </a:ext>
                </a:extLst>
              </a:tr>
              <a:tr h="27320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Các phép biến đổi hình thái</a:t>
                      </a:r>
                      <a:r>
                        <a:rPr lang="en-US" sz="1200" dirty="0">
                          <a:effectLst/>
                        </a:rPr>
                        <a:t> (Morphological operations)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2: tìm barcode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24867615"/>
                  </a:ext>
                </a:extLst>
              </a:tr>
              <a:tr h="32977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Chuyển đổi không gian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– Miền tần số – Phép lọc trên miền tần số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Thông báo liên quan đồ án môn học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Đăng ký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474009523"/>
                  </a:ext>
                </a:extLst>
              </a:tr>
              <a:tr h="22849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Xử lý ảnh màu (Color digital image)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3: Chuyển đổi mô hình màu và thực hiện phân vùng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939931096"/>
                  </a:ext>
                </a:extLst>
              </a:tr>
              <a:tr h="414315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(Geometric transformations)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002170594"/>
                  </a:ext>
                </a:extLst>
              </a:tr>
              <a:tr h="25013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Nhiễu – Mô hình nhiễu – Khôi phục ảnh (Noise and restoration)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89213664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Nén ảnh (Compression)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835859816"/>
                  </a:ext>
                </a:extLst>
              </a:tr>
              <a:tr h="20715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384367590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Tổng kết cuối kỳ</a:t>
                      </a:r>
                      <a:endParaRPr lang="en-US" sz="1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52186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07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9C42-83F1-B341-A693-95231290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week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5000-81F1-A249-8799-753B5C49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main levels in image processing</a:t>
            </a:r>
          </a:p>
          <a:p>
            <a:pPr lvl="1"/>
            <a:r>
              <a:rPr lang="en-US" dirty="0"/>
              <a:t>Low level:</a:t>
            </a:r>
          </a:p>
          <a:p>
            <a:pPr lvl="2"/>
            <a:r>
              <a:rPr lang="en-US" dirty="0"/>
              <a:t>Input:: image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Output:: image</a:t>
            </a:r>
          </a:p>
          <a:p>
            <a:pPr lvl="2"/>
            <a:r>
              <a:rPr lang="en-US" dirty="0"/>
              <a:t>Objective: Change the values of pixels</a:t>
            </a:r>
          </a:p>
          <a:p>
            <a:pPr lvl="1"/>
            <a:r>
              <a:rPr lang="en-US" dirty="0"/>
              <a:t>Middle level:</a:t>
            </a:r>
          </a:p>
          <a:p>
            <a:pPr lvl="2"/>
            <a:r>
              <a:rPr lang="en-US" dirty="0"/>
              <a:t>Input:: image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Output:: features or regions of interest (ROI)</a:t>
            </a:r>
          </a:p>
          <a:p>
            <a:pPr lvl="2"/>
            <a:r>
              <a:rPr lang="en-US" dirty="0"/>
              <a:t>Objective: Extract information from image</a:t>
            </a:r>
          </a:p>
          <a:p>
            <a:pPr lvl="1"/>
            <a:r>
              <a:rPr lang="en-US" dirty="0"/>
              <a:t>High level:</a:t>
            </a:r>
          </a:p>
          <a:p>
            <a:pPr lvl="2"/>
            <a:r>
              <a:rPr lang="en-US" dirty="0"/>
              <a:t>Input:: image </a:t>
            </a:r>
            <a:r>
              <a:rPr lang="en-US" dirty="0">
                <a:sym typeface="Wingdings" pitchFamily="2" charset="2"/>
              </a:rPr>
              <a:t> Output:: description, evaluation</a:t>
            </a:r>
          </a:p>
          <a:p>
            <a:pPr lvl="2"/>
            <a:r>
              <a:rPr lang="en-US" dirty="0">
                <a:sym typeface="Wingdings" pitchFamily="2" charset="2"/>
              </a:rPr>
              <a:t>Objective: Recognize objects, characteristics; describe the information of the image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622A32-BA6E-4F4E-8E7B-BC56F6FB66D4}"/>
              </a:ext>
            </a:extLst>
          </p:cNvPr>
          <p:cNvSpPr/>
          <p:nvPr/>
        </p:nvSpPr>
        <p:spPr>
          <a:xfrm>
            <a:off x="1127185" y="2317630"/>
            <a:ext cx="8045570" cy="20839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6C146-4E59-0D4D-AADE-BC0573E5F5E4}"/>
              </a:ext>
            </a:extLst>
          </p:cNvPr>
          <p:cNvSpPr txBox="1"/>
          <p:nvPr/>
        </p:nvSpPr>
        <p:spPr>
          <a:xfrm>
            <a:off x="8959969" y="1998027"/>
            <a:ext cx="1876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Topics in this class</a:t>
            </a:r>
          </a:p>
        </p:txBody>
      </p:sp>
    </p:spTree>
    <p:extLst>
      <p:ext uri="{BB962C8B-B14F-4D97-AF65-F5344CB8AC3E}">
        <p14:creationId xmlns:p14="http://schemas.microsoft.com/office/powerpoint/2010/main" val="84266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60D04-3467-4241-81AA-B04441E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2:</a:t>
            </a:r>
            <a:br>
              <a:rPr lang="en-US" dirty="0"/>
            </a:br>
            <a:r>
              <a:rPr lang="en-US" dirty="0"/>
              <a:t>Digital image fundamentals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9B5DB-7C5B-DF4F-9A84-A17D18562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Digital image</a:t>
            </a:r>
          </a:p>
          <a:p>
            <a:pPr marL="342900" indent="-342900">
              <a:buFontTx/>
              <a:buChar char="-"/>
            </a:pPr>
            <a:r>
              <a:rPr lang="en-US" dirty="0"/>
              <a:t>Point operations</a:t>
            </a:r>
          </a:p>
        </p:txBody>
      </p:sp>
    </p:spTree>
    <p:extLst>
      <p:ext uri="{BB962C8B-B14F-4D97-AF65-F5344CB8AC3E}">
        <p14:creationId xmlns:p14="http://schemas.microsoft.com/office/powerpoint/2010/main" val="150268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63EEA6-94AB-7B44-8CCE-2AA963D8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en-US" dirty="0"/>
              <a:t>uman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isual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erception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1FB01E-801F-CC4F-99C0-89DBCE89A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study visual perception?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Image processing algorithms are designed based on how our visual system works</a:t>
            </a:r>
          </a:p>
          <a:p>
            <a:pPr lvl="1"/>
            <a:r>
              <a:rPr lang="en-US" dirty="0"/>
              <a:t>In image compression, we need to know what information is not perceptually important and can be ignored</a:t>
            </a:r>
          </a:p>
          <a:p>
            <a:pPr lvl="1"/>
            <a:r>
              <a:rPr lang="en-US" dirty="0"/>
              <a:t>In image enhancement, we need to know what types of operations that are likely to improve an image visually</a:t>
            </a:r>
          </a:p>
        </p:txBody>
      </p:sp>
    </p:spTree>
    <p:extLst>
      <p:ext uri="{BB962C8B-B14F-4D97-AF65-F5344CB8AC3E}">
        <p14:creationId xmlns:p14="http://schemas.microsoft.com/office/powerpoint/2010/main" val="41387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885-D69E-8341-A176-D060B9A2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human visual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B6C72-2E76-BD42-93B7-C179EFFD2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human visual system consists of two primary components – the eye and the brain, which are connected by the optic nerve</a:t>
            </a:r>
          </a:p>
          <a:p>
            <a:pPr lvl="1"/>
            <a:r>
              <a:rPr lang="en-US" dirty="0"/>
              <a:t>Eye: receiving sensor (~ camera, scanner)</a:t>
            </a:r>
          </a:p>
          <a:p>
            <a:pPr lvl="1"/>
            <a:r>
              <a:rPr lang="en-US" dirty="0"/>
              <a:t>Brain: information processing unit ( ~ computer system)</a:t>
            </a:r>
          </a:p>
          <a:p>
            <a:pPr lvl="1"/>
            <a:r>
              <a:rPr lang="en-US" dirty="0"/>
              <a:t>Optic nerve: connection cable (~ physical wire) </a:t>
            </a:r>
          </a:p>
        </p:txBody>
      </p:sp>
    </p:spTree>
    <p:extLst>
      <p:ext uri="{BB962C8B-B14F-4D97-AF65-F5344CB8AC3E}">
        <p14:creationId xmlns:p14="http://schemas.microsoft.com/office/powerpoint/2010/main" val="329756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67CD-E37D-0747-AF17-D1653FC7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visual system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971FBB-DE2A-2E44-80D8-51558C7D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748" y="1590260"/>
            <a:ext cx="6141093" cy="4208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B5A888-8F41-544B-BB55-E643FABBE2D8}"/>
              </a:ext>
            </a:extLst>
          </p:cNvPr>
          <p:cNvSpPr txBox="1"/>
          <p:nvPr/>
        </p:nvSpPr>
        <p:spPr>
          <a:xfrm>
            <a:off x="6235626" y="6527642"/>
            <a:ext cx="5956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3"/>
              </a:rPr>
              <a:t>https://www.brainhq.com/brain-resources/cool-brain-facts-myths/how-vision-works</a:t>
            </a:r>
            <a:endParaRPr lang="en-US" sz="1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4EAD7A-7DB8-E24D-B97E-8E051A76B1C5}"/>
              </a:ext>
            </a:extLst>
          </p:cNvPr>
          <p:cNvSpPr/>
          <p:nvPr/>
        </p:nvSpPr>
        <p:spPr>
          <a:xfrm>
            <a:off x="7513983" y="2915823"/>
            <a:ext cx="363488" cy="40324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EF3102-30A8-F441-BDA5-3C3C1ACDD128}"/>
              </a:ext>
            </a:extLst>
          </p:cNvPr>
          <p:cNvSpPr/>
          <p:nvPr/>
        </p:nvSpPr>
        <p:spPr>
          <a:xfrm>
            <a:off x="8648937" y="2772889"/>
            <a:ext cx="363488" cy="40324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C3EEA2-25CF-0644-B51C-800F76CEFBCA}"/>
              </a:ext>
            </a:extLst>
          </p:cNvPr>
          <p:cNvSpPr/>
          <p:nvPr/>
        </p:nvSpPr>
        <p:spPr>
          <a:xfrm>
            <a:off x="9823648" y="2217934"/>
            <a:ext cx="363488" cy="40324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67CAE-89B7-3A4C-81C9-D5C6245E073B}"/>
              </a:ext>
            </a:extLst>
          </p:cNvPr>
          <p:cNvSpPr txBox="1"/>
          <p:nvPr/>
        </p:nvSpPr>
        <p:spPr>
          <a:xfrm>
            <a:off x="422288" y="2118740"/>
            <a:ext cx="45302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 energy is focused by the lens of the eye into sensors and retina</a:t>
            </a:r>
          </a:p>
          <a:p>
            <a:endParaRPr lang="en-US" dirty="0"/>
          </a:p>
          <a:p>
            <a:r>
              <a:rPr lang="en-US" dirty="0"/>
              <a:t>The sensors respond to the light by an electrochemical reaction that sends an electrical signal to the brain (through the optic nerve)</a:t>
            </a:r>
          </a:p>
          <a:p>
            <a:endParaRPr lang="en-US" dirty="0"/>
          </a:p>
          <a:p>
            <a:r>
              <a:rPr lang="en-US" dirty="0"/>
              <a:t>The brain uses the signals to create neurological patterns that we perceive as images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ABC335-6C47-BA40-9761-528FB4946CA3}"/>
              </a:ext>
            </a:extLst>
          </p:cNvPr>
          <p:cNvSpPr/>
          <p:nvPr/>
        </p:nvSpPr>
        <p:spPr>
          <a:xfrm>
            <a:off x="58800" y="2217934"/>
            <a:ext cx="363488" cy="40324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EE649D-B031-0845-B051-970BF095B48B}"/>
              </a:ext>
            </a:extLst>
          </p:cNvPr>
          <p:cNvSpPr/>
          <p:nvPr/>
        </p:nvSpPr>
        <p:spPr>
          <a:xfrm>
            <a:off x="58800" y="3298589"/>
            <a:ext cx="363488" cy="40324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DC40B7-B02E-6C4C-947A-F149D673CD6E}"/>
              </a:ext>
            </a:extLst>
          </p:cNvPr>
          <p:cNvSpPr/>
          <p:nvPr/>
        </p:nvSpPr>
        <p:spPr>
          <a:xfrm>
            <a:off x="58800" y="4562622"/>
            <a:ext cx="363488" cy="40324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878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2760-564E-0B41-B4A5-64AAFE7A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 spectrum &amp; visible spectrum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A37DF-C69D-004E-BB2B-D200BA03D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861" y="1776530"/>
            <a:ext cx="7467599" cy="4090532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168A7956-3528-BB49-B253-343C1F3783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2" t="12894" r="34476" b="74338"/>
          <a:stretch/>
        </p:blipFill>
        <p:spPr bwMode="auto">
          <a:xfrm>
            <a:off x="4565374" y="4929809"/>
            <a:ext cx="2521432" cy="437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292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433B-0E09-DA4E-9C80-BE07A36A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Grayscale: black – gray – white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35B495-0608-FF41-ACA4-E8F53B0C2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759" y="2180980"/>
            <a:ext cx="7872122" cy="16485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8471E1-95EC-474A-88E8-18C6F218AA7D}"/>
              </a:ext>
            </a:extLst>
          </p:cNvPr>
          <p:cNvSpPr/>
          <p:nvPr/>
        </p:nvSpPr>
        <p:spPr>
          <a:xfrm>
            <a:off x="5804452" y="596830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Ref: </a:t>
            </a:r>
            <a:r>
              <a:rPr lang="en-US" sz="1200" dirty="0">
                <a:hlinkClick r:id="rId4"/>
              </a:rPr>
              <a:t>https://www.colormatters.com/color-and-design/are-black-and-white-colors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5228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9EAF-B13B-F74B-88F2-3F579198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Brightness adaptation and discrimination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EFD44-32AF-1748-BEE4-D8C13129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698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range of light intensity levels to which the HVS can adapt is enormous – on the order of 10^10</a:t>
            </a:r>
          </a:p>
          <a:p>
            <a:r>
              <a:rPr lang="en-US" dirty="0"/>
              <a:t>However, HVS cannot operate over such a range </a:t>
            </a:r>
            <a:r>
              <a:rPr lang="en-US" i="1" dirty="0"/>
              <a:t>simultaneously</a:t>
            </a:r>
          </a:p>
          <a:p>
            <a:pPr lvl="1"/>
            <a:r>
              <a:rPr lang="en-US" i="1" dirty="0"/>
              <a:t>Brightness adaptation</a:t>
            </a:r>
            <a:r>
              <a:rPr lang="en-US" dirty="0"/>
              <a:t>: changing overall sensitivity when perceiving light intensity</a:t>
            </a:r>
          </a:p>
          <a:p>
            <a:pPr lvl="1"/>
            <a:r>
              <a:rPr lang="en-US" dirty="0"/>
              <a:t>At a given light intensity level, HVS can only discriminate between changes of a smaller range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844B3-7669-3648-905F-E727942C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934" y="1891886"/>
            <a:ext cx="3808866" cy="3993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5F8EBB-119D-0F41-9222-0C26A595A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955" y="5296906"/>
            <a:ext cx="1310033" cy="131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3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CC4E-3CF1-C346-B94B-C7440F46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 band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87D27-1026-D342-962A-40AE62ABF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6354" cy="3375853"/>
          </a:xfrm>
        </p:spPr>
        <p:txBody>
          <a:bodyPr>
            <a:normAutofit/>
          </a:bodyPr>
          <a:lstStyle/>
          <a:p>
            <a:r>
              <a:rPr lang="en-US" dirty="0"/>
              <a:t>Perceived brightness is not a simple function of intensity</a:t>
            </a:r>
          </a:p>
          <a:p>
            <a:r>
              <a:rPr lang="en-US" dirty="0"/>
              <a:t>HVS tends to undershoot or overshoot around the boundary of regions of different intensities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96A2D-56F9-EF4E-984A-19E1C3BF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36" y="1152939"/>
            <a:ext cx="4301136" cy="4896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726258-AAF4-5D46-B9F8-714BB8BA7D83}"/>
              </a:ext>
            </a:extLst>
          </p:cNvPr>
          <p:cNvSpPr txBox="1"/>
          <p:nvPr/>
        </p:nvSpPr>
        <p:spPr>
          <a:xfrm>
            <a:off x="7348331" y="6261652"/>
            <a:ext cx="2565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Fig. 2.7, Gonzalez</a:t>
            </a:r>
          </a:p>
        </p:txBody>
      </p:sp>
    </p:spTree>
    <p:extLst>
      <p:ext uri="{BB962C8B-B14F-4D97-AF65-F5344CB8AC3E}">
        <p14:creationId xmlns:p14="http://schemas.microsoft.com/office/powerpoint/2010/main" val="320213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AFB4-F2D7-3A4C-8DE0-14B44C02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Simultaneous contrast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20A9C-ECB2-454A-86D6-E81DC2696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53261" cy="738671"/>
          </a:xfrm>
        </p:spPr>
        <p:txBody>
          <a:bodyPr/>
          <a:lstStyle/>
          <a:p>
            <a:r>
              <a:rPr lang="en-US" dirty="0"/>
              <a:t>A region’s perceived brightness does not depend only on its intensity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C6CBBE-B56F-C841-8C39-DA032F2B1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83" y="2371463"/>
            <a:ext cx="10651434" cy="43827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C5AE61-27CA-4842-ACF7-03912C009FE6}"/>
              </a:ext>
            </a:extLst>
          </p:cNvPr>
          <p:cNvSpPr/>
          <p:nvPr/>
        </p:nvSpPr>
        <p:spPr>
          <a:xfrm>
            <a:off x="1144555" y="2407298"/>
            <a:ext cx="9722498" cy="1069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1C0F9E-FD9C-6342-836F-B565B0D3BB31}"/>
              </a:ext>
            </a:extLst>
          </p:cNvPr>
          <p:cNvSpPr/>
          <p:nvPr/>
        </p:nvSpPr>
        <p:spPr>
          <a:xfrm>
            <a:off x="1144555" y="4512906"/>
            <a:ext cx="9722498" cy="1069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22B640-32BD-794F-99A8-57ED633200EB}"/>
              </a:ext>
            </a:extLst>
          </p:cNvPr>
          <p:cNvSpPr/>
          <p:nvPr/>
        </p:nvSpPr>
        <p:spPr>
          <a:xfrm>
            <a:off x="1113450" y="3442996"/>
            <a:ext cx="1318727" cy="1069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B989C3-12D5-664B-8BD1-A2335CEBB2A3}"/>
              </a:ext>
            </a:extLst>
          </p:cNvPr>
          <p:cNvSpPr/>
          <p:nvPr/>
        </p:nvSpPr>
        <p:spPr>
          <a:xfrm>
            <a:off x="3450771" y="3425890"/>
            <a:ext cx="2142931" cy="1087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1C819-1FA5-5547-89C0-D25F07DF7F33}"/>
              </a:ext>
            </a:extLst>
          </p:cNvPr>
          <p:cNvSpPr/>
          <p:nvPr/>
        </p:nvSpPr>
        <p:spPr>
          <a:xfrm>
            <a:off x="6612296" y="3451549"/>
            <a:ext cx="2142931" cy="1087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32351-DB15-0143-AAA0-68FDB44E6FDC}"/>
              </a:ext>
            </a:extLst>
          </p:cNvPr>
          <p:cNvSpPr/>
          <p:nvPr/>
        </p:nvSpPr>
        <p:spPr>
          <a:xfrm>
            <a:off x="9653058" y="3425890"/>
            <a:ext cx="2142931" cy="1087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76287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7692-A400-5144-AFD7-C86EC6B3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optical illusions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B925A-A047-B94E-80A3-4FCB5264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809" y="1690688"/>
            <a:ext cx="4222474" cy="4152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4939C6-59AB-2F4B-A432-393A6387B87E}"/>
              </a:ext>
            </a:extLst>
          </p:cNvPr>
          <p:cNvSpPr txBox="1"/>
          <p:nvPr/>
        </p:nvSpPr>
        <p:spPr>
          <a:xfrm>
            <a:off x="7348331" y="6261652"/>
            <a:ext cx="2565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Fig. 2.9, Gonzalez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BFF6F-488E-BB4D-88E2-09A78C281218}"/>
              </a:ext>
            </a:extLst>
          </p:cNvPr>
          <p:cNvSpPr txBox="1"/>
          <p:nvPr/>
        </p:nvSpPr>
        <p:spPr>
          <a:xfrm>
            <a:off x="331304" y="2047461"/>
            <a:ext cx="2749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Outline of a square is seen clearly, despite the fact that no lines defining such a figure.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31BA6-AEA1-D746-9D8D-ADEA4CB278E2}"/>
              </a:ext>
            </a:extLst>
          </p:cNvPr>
          <p:cNvSpPr txBox="1"/>
          <p:nvPr/>
        </p:nvSpPr>
        <p:spPr>
          <a:xfrm>
            <a:off x="8116128" y="2047461"/>
            <a:ext cx="274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Outline of a circle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CCF45-D804-504A-A005-B334AD904370}"/>
              </a:ext>
            </a:extLst>
          </p:cNvPr>
          <p:cNvSpPr txBox="1"/>
          <p:nvPr/>
        </p:nvSpPr>
        <p:spPr>
          <a:xfrm>
            <a:off x="331304" y="4179763"/>
            <a:ext cx="2749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horizontal line segments are of the same length, but one appears shorter than the other.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39116-C5BA-2847-B5EF-67D393FF711D}"/>
              </a:ext>
            </a:extLst>
          </p:cNvPr>
          <p:cNvSpPr txBox="1"/>
          <p:nvPr/>
        </p:nvSpPr>
        <p:spPr>
          <a:xfrm>
            <a:off x="8036615" y="3902765"/>
            <a:ext cx="27498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long lines are equidistant and parallel, yet, the crosshatching creates the illusion that those lines are far from being parallel</a:t>
            </a:r>
          </a:p>
        </p:txBody>
      </p:sp>
    </p:spTree>
    <p:extLst>
      <p:ext uri="{BB962C8B-B14F-4D97-AF65-F5344CB8AC3E}">
        <p14:creationId xmlns:p14="http://schemas.microsoft.com/office/powerpoint/2010/main" val="415462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2875CE-030C-9144-AD5D-BA991F8F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D758C-CC14-5D4B-8882-CCF20B341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6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A2180-830B-3B4C-838D-AAB02805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“digital image”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E16FD5-25D5-0845-B18F-8256DE15E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7269"/>
            <a:ext cx="10515600" cy="3009693"/>
          </a:xfrm>
        </p:spPr>
        <p:txBody>
          <a:bodyPr/>
          <a:lstStyle/>
          <a:p>
            <a:r>
              <a:rPr lang="en-US" dirty="0"/>
              <a:t>Value of </a:t>
            </a:r>
            <a:r>
              <a:rPr lang="en-US" i="1" dirty="0"/>
              <a:t>f</a:t>
            </a:r>
            <a:r>
              <a:rPr lang="en-US" dirty="0"/>
              <a:t> at </a:t>
            </a:r>
            <a:r>
              <a:rPr lang="en-US" i="1" dirty="0"/>
              <a:t>(x, y) </a:t>
            </a:r>
            <a:r>
              <a:rPr lang="en-US" dirty="0"/>
              <a:t>: </a:t>
            </a:r>
            <a:r>
              <a:rPr lang="en-US" i="1" dirty="0"/>
              <a:t>picture element, image element, </a:t>
            </a:r>
            <a:r>
              <a:rPr lang="en-US" i="1" dirty="0" err="1"/>
              <a:t>pel</a:t>
            </a:r>
            <a:r>
              <a:rPr lang="en-US" i="1" dirty="0"/>
              <a:t>, </a:t>
            </a:r>
            <a:r>
              <a:rPr lang="en-US" dirty="0"/>
              <a:t>or</a:t>
            </a:r>
            <a:r>
              <a:rPr lang="en-US" i="1" dirty="0"/>
              <a:t> </a:t>
            </a:r>
            <a:r>
              <a:rPr lang="en-US" i="1" dirty="0">
                <a:solidFill>
                  <a:srgbClr val="0070C0"/>
                </a:solidFill>
              </a:rPr>
              <a:t>pixel</a:t>
            </a:r>
          </a:p>
          <a:p>
            <a:pPr lvl="1"/>
            <a:r>
              <a:rPr lang="en-US" dirty="0"/>
              <a:t>Nonnegative and finite</a:t>
            </a:r>
          </a:p>
          <a:p>
            <a:pPr lvl="1"/>
            <a:r>
              <a:rPr lang="en-US" dirty="0"/>
              <a:t>A scalar quantity whose physical meaning is determined by the source of the image, and whose values are  proportional to energy radiated by a physical source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C1BD5-7D69-CC40-8985-8A6857402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35" y="1582327"/>
            <a:ext cx="9400245" cy="132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38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B4BA-1DDF-E84D-BE76-D4EE43D1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acquisition:</a:t>
            </a:r>
            <a:br>
              <a:rPr lang="en-US" dirty="0"/>
            </a:br>
            <a:r>
              <a:rPr lang="en-US" dirty="0"/>
              <a:t>generate digital images from sensed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49516-65B3-0C42-A297-257A5F09B1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1" t="6860" r="7562" b="47826"/>
          <a:stretch/>
        </p:blipFill>
        <p:spPr>
          <a:xfrm>
            <a:off x="2915478" y="1690688"/>
            <a:ext cx="7692887" cy="4928912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6377AD-87C6-DF41-A826-0081F68F01AF}"/>
              </a:ext>
            </a:extLst>
          </p:cNvPr>
          <p:cNvSpPr txBox="1"/>
          <p:nvPr/>
        </p:nvSpPr>
        <p:spPr>
          <a:xfrm>
            <a:off x="258418" y="2067338"/>
            <a:ext cx="22263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Note: There are numerous ways to acquire images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For examples: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Sensor arrays (e.g., CCD)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Sensor strips (e.g., X-ray, CAT, PET, MRI...)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75A53B5-0BC5-694F-ADE7-A899AD839199}"/>
              </a:ext>
            </a:extLst>
          </p:cNvPr>
          <p:cNvSpPr/>
          <p:nvPr/>
        </p:nvSpPr>
        <p:spPr>
          <a:xfrm>
            <a:off x="2073965" y="2645089"/>
            <a:ext cx="3240157" cy="1449833"/>
          </a:xfrm>
          <a:custGeom>
            <a:avLst/>
            <a:gdLst>
              <a:gd name="connsiteX0" fmla="*/ 0 w 3240157"/>
              <a:gd name="connsiteY0" fmla="*/ 78233 h 1449833"/>
              <a:gd name="connsiteX1" fmla="*/ 39757 w 3240157"/>
              <a:gd name="connsiteY1" fmla="*/ 58354 h 1449833"/>
              <a:gd name="connsiteX2" fmla="*/ 119270 w 3240157"/>
              <a:gd name="connsiteY2" fmla="*/ 31850 h 1449833"/>
              <a:gd name="connsiteX3" fmla="*/ 178905 w 3240157"/>
              <a:gd name="connsiteY3" fmla="*/ 18598 h 1449833"/>
              <a:gd name="connsiteX4" fmla="*/ 265044 w 3240157"/>
              <a:gd name="connsiteY4" fmla="*/ 11972 h 1449833"/>
              <a:gd name="connsiteX5" fmla="*/ 563218 w 3240157"/>
              <a:gd name="connsiteY5" fmla="*/ 18598 h 1449833"/>
              <a:gd name="connsiteX6" fmla="*/ 702365 w 3240157"/>
              <a:gd name="connsiteY6" fmla="*/ 38476 h 1449833"/>
              <a:gd name="connsiteX7" fmla="*/ 881270 w 3240157"/>
              <a:gd name="connsiteY7" fmla="*/ 84859 h 1449833"/>
              <a:gd name="connsiteX8" fmla="*/ 1007165 w 3240157"/>
              <a:gd name="connsiteY8" fmla="*/ 137868 h 1449833"/>
              <a:gd name="connsiteX9" fmla="*/ 1152939 w 3240157"/>
              <a:gd name="connsiteY9" fmla="*/ 230633 h 1449833"/>
              <a:gd name="connsiteX10" fmla="*/ 1272209 w 3240157"/>
              <a:gd name="connsiteY10" fmla="*/ 349902 h 1449833"/>
              <a:gd name="connsiteX11" fmla="*/ 1338470 w 3240157"/>
              <a:gd name="connsiteY11" fmla="*/ 489050 h 1449833"/>
              <a:gd name="connsiteX12" fmla="*/ 1345096 w 3240157"/>
              <a:gd name="connsiteY12" fmla="*/ 535433 h 1449833"/>
              <a:gd name="connsiteX13" fmla="*/ 1338470 w 3240157"/>
              <a:gd name="connsiteY13" fmla="*/ 634824 h 1449833"/>
              <a:gd name="connsiteX14" fmla="*/ 1325218 w 3240157"/>
              <a:gd name="connsiteY14" fmla="*/ 687833 h 1449833"/>
              <a:gd name="connsiteX15" fmla="*/ 1318592 w 3240157"/>
              <a:gd name="connsiteY15" fmla="*/ 707711 h 1449833"/>
              <a:gd name="connsiteX16" fmla="*/ 1298713 w 3240157"/>
              <a:gd name="connsiteY16" fmla="*/ 734215 h 1449833"/>
              <a:gd name="connsiteX17" fmla="*/ 1278835 w 3240157"/>
              <a:gd name="connsiteY17" fmla="*/ 754094 h 1449833"/>
              <a:gd name="connsiteX18" fmla="*/ 1232452 w 3240157"/>
              <a:gd name="connsiteY18" fmla="*/ 773972 h 1449833"/>
              <a:gd name="connsiteX19" fmla="*/ 1186070 w 3240157"/>
              <a:gd name="connsiteY19" fmla="*/ 780598 h 1449833"/>
              <a:gd name="connsiteX20" fmla="*/ 1152939 w 3240157"/>
              <a:gd name="connsiteY20" fmla="*/ 773972 h 1449833"/>
              <a:gd name="connsiteX21" fmla="*/ 1133061 w 3240157"/>
              <a:gd name="connsiteY21" fmla="*/ 767346 h 1449833"/>
              <a:gd name="connsiteX22" fmla="*/ 1106557 w 3240157"/>
              <a:gd name="connsiteY22" fmla="*/ 760720 h 1449833"/>
              <a:gd name="connsiteX23" fmla="*/ 1086678 w 3240157"/>
              <a:gd name="connsiteY23" fmla="*/ 747468 h 1449833"/>
              <a:gd name="connsiteX24" fmla="*/ 1060174 w 3240157"/>
              <a:gd name="connsiteY24" fmla="*/ 714337 h 1449833"/>
              <a:gd name="connsiteX25" fmla="*/ 1046922 w 3240157"/>
              <a:gd name="connsiteY25" fmla="*/ 681207 h 1449833"/>
              <a:gd name="connsiteX26" fmla="*/ 1073426 w 3240157"/>
              <a:gd name="connsiteY26" fmla="*/ 628198 h 1449833"/>
              <a:gd name="connsiteX27" fmla="*/ 1126435 w 3240157"/>
              <a:gd name="connsiteY27" fmla="*/ 581815 h 1449833"/>
              <a:gd name="connsiteX28" fmla="*/ 1146313 w 3240157"/>
              <a:gd name="connsiteY28" fmla="*/ 575189 h 1449833"/>
              <a:gd name="connsiteX29" fmla="*/ 1331844 w 3240157"/>
              <a:gd name="connsiteY29" fmla="*/ 515554 h 1449833"/>
              <a:gd name="connsiteX30" fmla="*/ 1437861 w 3240157"/>
              <a:gd name="connsiteY30" fmla="*/ 495676 h 1449833"/>
              <a:gd name="connsiteX31" fmla="*/ 1550505 w 3240157"/>
              <a:gd name="connsiteY31" fmla="*/ 489050 h 1449833"/>
              <a:gd name="connsiteX32" fmla="*/ 1782418 w 3240157"/>
              <a:gd name="connsiteY32" fmla="*/ 495676 h 1449833"/>
              <a:gd name="connsiteX33" fmla="*/ 1941444 w 3240157"/>
              <a:gd name="connsiteY33" fmla="*/ 515554 h 1449833"/>
              <a:gd name="connsiteX34" fmla="*/ 2153478 w 3240157"/>
              <a:gd name="connsiteY34" fmla="*/ 595068 h 1449833"/>
              <a:gd name="connsiteX35" fmla="*/ 2259496 w 3240157"/>
              <a:gd name="connsiteY35" fmla="*/ 661328 h 1449833"/>
              <a:gd name="connsiteX36" fmla="*/ 2392018 w 3240157"/>
              <a:gd name="connsiteY36" fmla="*/ 787224 h 1449833"/>
              <a:gd name="connsiteX37" fmla="*/ 2511287 w 3240157"/>
              <a:gd name="connsiteY37" fmla="*/ 939624 h 1449833"/>
              <a:gd name="connsiteX38" fmla="*/ 2544418 w 3240157"/>
              <a:gd name="connsiteY38" fmla="*/ 1019137 h 1449833"/>
              <a:gd name="connsiteX39" fmla="*/ 2551044 w 3240157"/>
              <a:gd name="connsiteY39" fmla="*/ 1052268 h 1449833"/>
              <a:gd name="connsiteX40" fmla="*/ 2551044 w 3240157"/>
              <a:gd name="connsiteY40" fmla="*/ 1098650 h 1449833"/>
              <a:gd name="connsiteX41" fmla="*/ 2531165 w 3240157"/>
              <a:gd name="connsiteY41" fmla="*/ 1111902 h 1449833"/>
              <a:gd name="connsiteX42" fmla="*/ 2524539 w 3240157"/>
              <a:gd name="connsiteY42" fmla="*/ 1085398 h 1449833"/>
              <a:gd name="connsiteX43" fmla="*/ 2531165 w 3240157"/>
              <a:gd name="connsiteY43" fmla="*/ 1052268 h 1449833"/>
              <a:gd name="connsiteX44" fmla="*/ 2551044 w 3240157"/>
              <a:gd name="connsiteY44" fmla="*/ 1012511 h 1449833"/>
              <a:gd name="connsiteX45" fmla="*/ 2597426 w 3240157"/>
              <a:gd name="connsiteY45" fmla="*/ 979381 h 1449833"/>
              <a:gd name="connsiteX46" fmla="*/ 2630557 w 3240157"/>
              <a:gd name="connsiteY46" fmla="*/ 959502 h 1449833"/>
              <a:gd name="connsiteX47" fmla="*/ 2696818 w 3240157"/>
              <a:gd name="connsiteY47" fmla="*/ 946250 h 1449833"/>
              <a:gd name="connsiteX48" fmla="*/ 2816087 w 3240157"/>
              <a:gd name="connsiteY48" fmla="*/ 959502 h 1449833"/>
              <a:gd name="connsiteX49" fmla="*/ 2935357 w 3240157"/>
              <a:gd name="connsiteY49" fmla="*/ 1052268 h 1449833"/>
              <a:gd name="connsiteX50" fmla="*/ 2975113 w 3240157"/>
              <a:gd name="connsiteY50" fmla="*/ 1105276 h 1449833"/>
              <a:gd name="connsiteX51" fmla="*/ 3028122 w 3240157"/>
              <a:gd name="connsiteY51" fmla="*/ 1184789 h 1449833"/>
              <a:gd name="connsiteX52" fmla="*/ 3034748 w 3240157"/>
              <a:gd name="connsiteY52" fmla="*/ 1204668 h 1449833"/>
              <a:gd name="connsiteX53" fmla="*/ 3048000 w 3240157"/>
              <a:gd name="connsiteY53" fmla="*/ 1231172 h 1449833"/>
              <a:gd name="connsiteX54" fmla="*/ 3034748 w 3240157"/>
              <a:gd name="connsiteY54" fmla="*/ 1330563 h 1449833"/>
              <a:gd name="connsiteX55" fmla="*/ 3087757 w 3240157"/>
              <a:gd name="connsiteY55" fmla="*/ 1343815 h 1449833"/>
              <a:gd name="connsiteX56" fmla="*/ 3114261 w 3240157"/>
              <a:gd name="connsiteY56" fmla="*/ 1350441 h 1449833"/>
              <a:gd name="connsiteX57" fmla="*/ 3154018 w 3240157"/>
              <a:gd name="connsiteY57" fmla="*/ 1363694 h 1449833"/>
              <a:gd name="connsiteX58" fmla="*/ 3173896 w 3240157"/>
              <a:gd name="connsiteY58" fmla="*/ 1370320 h 1449833"/>
              <a:gd name="connsiteX59" fmla="*/ 3187148 w 3240157"/>
              <a:gd name="connsiteY59" fmla="*/ 1390198 h 1449833"/>
              <a:gd name="connsiteX60" fmla="*/ 3173896 w 3240157"/>
              <a:gd name="connsiteY60" fmla="*/ 1350441 h 1449833"/>
              <a:gd name="connsiteX61" fmla="*/ 3167270 w 3240157"/>
              <a:gd name="connsiteY61" fmla="*/ 1330563 h 1449833"/>
              <a:gd name="connsiteX62" fmla="*/ 3147392 w 3240157"/>
              <a:gd name="connsiteY62" fmla="*/ 1317311 h 1449833"/>
              <a:gd name="connsiteX63" fmla="*/ 3220278 w 3240157"/>
              <a:gd name="connsiteY63" fmla="*/ 1383572 h 1449833"/>
              <a:gd name="connsiteX64" fmla="*/ 3240157 w 3240157"/>
              <a:gd name="connsiteY64" fmla="*/ 1390198 h 1449833"/>
              <a:gd name="connsiteX65" fmla="*/ 3220278 w 3240157"/>
              <a:gd name="connsiteY65" fmla="*/ 1403450 h 1449833"/>
              <a:gd name="connsiteX66" fmla="*/ 3134139 w 3240157"/>
              <a:gd name="connsiteY66" fmla="*/ 1423328 h 1449833"/>
              <a:gd name="connsiteX67" fmla="*/ 3107635 w 3240157"/>
              <a:gd name="connsiteY67" fmla="*/ 1429954 h 1449833"/>
              <a:gd name="connsiteX68" fmla="*/ 3014870 w 3240157"/>
              <a:gd name="connsiteY68" fmla="*/ 1449833 h 1449833"/>
              <a:gd name="connsiteX69" fmla="*/ 2988365 w 3240157"/>
              <a:gd name="connsiteY69" fmla="*/ 1436581 h 1449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240157" h="1449833">
                <a:moveTo>
                  <a:pt x="0" y="78233"/>
                </a:moveTo>
                <a:cubicBezTo>
                  <a:pt x="13252" y="71607"/>
                  <a:pt x="26268" y="64485"/>
                  <a:pt x="39757" y="58354"/>
                </a:cubicBezTo>
                <a:cubicBezTo>
                  <a:pt x="67533" y="45728"/>
                  <a:pt x="88872" y="39449"/>
                  <a:pt x="119270" y="31850"/>
                </a:cubicBezTo>
                <a:cubicBezTo>
                  <a:pt x="139025" y="26911"/>
                  <a:pt x="158728" y="21349"/>
                  <a:pt x="178905" y="18598"/>
                </a:cubicBezTo>
                <a:cubicBezTo>
                  <a:pt x="207439" y="14707"/>
                  <a:pt x="236331" y="14181"/>
                  <a:pt x="265044" y="11972"/>
                </a:cubicBezTo>
                <a:cubicBezTo>
                  <a:pt x="384451" y="-7929"/>
                  <a:pt x="326233" y="-1150"/>
                  <a:pt x="563218" y="18598"/>
                </a:cubicBezTo>
                <a:cubicBezTo>
                  <a:pt x="609909" y="22489"/>
                  <a:pt x="656339" y="29709"/>
                  <a:pt x="702365" y="38476"/>
                </a:cubicBezTo>
                <a:cubicBezTo>
                  <a:pt x="728074" y="43373"/>
                  <a:pt x="833497" y="65750"/>
                  <a:pt x="881270" y="84859"/>
                </a:cubicBezTo>
                <a:cubicBezTo>
                  <a:pt x="923547" y="101770"/>
                  <a:pt x="965667" y="119127"/>
                  <a:pt x="1007165" y="137868"/>
                </a:cubicBezTo>
                <a:cubicBezTo>
                  <a:pt x="1083410" y="172301"/>
                  <a:pt x="1090806" y="176267"/>
                  <a:pt x="1152939" y="230633"/>
                </a:cubicBezTo>
                <a:cubicBezTo>
                  <a:pt x="1184134" y="257928"/>
                  <a:pt x="1243453" y="306768"/>
                  <a:pt x="1272209" y="349902"/>
                </a:cubicBezTo>
                <a:cubicBezTo>
                  <a:pt x="1300869" y="392893"/>
                  <a:pt x="1319399" y="441372"/>
                  <a:pt x="1338470" y="489050"/>
                </a:cubicBezTo>
                <a:cubicBezTo>
                  <a:pt x="1340679" y="504511"/>
                  <a:pt x="1345096" y="519815"/>
                  <a:pt x="1345096" y="535433"/>
                </a:cubicBezTo>
                <a:cubicBezTo>
                  <a:pt x="1345096" y="568637"/>
                  <a:pt x="1342765" y="601899"/>
                  <a:pt x="1338470" y="634824"/>
                </a:cubicBezTo>
                <a:cubicBezTo>
                  <a:pt x="1336114" y="652884"/>
                  <a:pt x="1330010" y="670261"/>
                  <a:pt x="1325218" y="687833"/>
                </a:cubicBezTo>
                <a:cubicBezTo>
                  <a:pt x="1323380" y="694571"/>
                  <a:pt x="1322057" y="701647"/>
                  <a:pt x="1318592" y="707711"/>
                </a:cubicBezTo>
                <a:cubicBezTo>
                  <a:pt x="1313113" y="717299"/>
                  <a:pt x="1305900" y="725830"/>
                  <a:pt x="1298713" y="734215"/>
                </a:cubicBezTo>
                <a:cubicBezTo>
                  <a:pt x="1292615" y="741330"/>
                  <a:pt x="1286460" y="748647"/>
                  <a:pt x="1278835" y="754094"/>
                </a:cubicBezTo>
                <a:cubicBezTo>
                  <a:pt x="1270453" y="760081"/>
                  <a:pt x="1244469" y="771569"/>
                  <a:pt x="1232452" y="773972"/>
                </a:cubicBezTo>
                <a:cubicBezTo>
                  <a:pt x="1217138" y="777035"/>
                  <a:pt x="1201531" y="778389"/>
                  <a:pt x="1186070" y="780598"/>
                </a:cubicBezTo>
                <a:cubicBezTo>
                  <a:pt x="1175026" y="778389"/>
                  <a:pt x="1163865" y="776703"/>
                  <a:pt x="1152939" y="773972"/>
                </a:cubicBezTo>
                <a:cubicBezTo>
                  <a:pt x="1146163" y="772278"/>
                  <a:pt x="1139777" y="769265"/>
                  <a:pt x="1133061" y="767346"/>
                </a:cubicBezTo>
                <a:cubicBezTo>
                  <a:pt x="1124305" y="764844"/>
                  <a:pt x="1115392" y="762929"/>
                  <a:pt x="1106557" y="760720"/>
                </a:cubicBezTo>
                <a:cubicBezTo>
                  <a:pt x="1099931" y="756303"/>
                  <a:pt x="1092897" y="752443"/>
                  <a:pt x="1086678" y="747468"/>
                </a:cubicBezTo>
                <a:cubicBezTo>
                  <a:pt x="1076408" y="739252"/>
                  <a:pt x="1065913" y="725814"/>
                  <a:pt x="1060174" y="714337"/>
                </a:cubicBezTo>
                <a:cubicBezTo>
                  <a:pt x="1054855" y="703699"/>
                  <a:pt x="1051339" y="692250"/>
                  <a:pt x="1046922" y="681207"/>
                </a:cubicBezTo>
                <a:cubicBezTo>
                  <a:pt x="1055719" y="659213"/>
                  <a:pt x="1058539" y="645566"/>
                  <a:pt x="1073426" y="628198"/>
                </a:cubicBezTo>
                <a:cubicBezTo>
                  <a:pt x="1085740" y="613832"/>
                  <a:pt x="1109381" y="591561"/>
                  <a:pt x="1126435" y="581815"/>
                </a:cubicBezTo>
                <a:cubicBezTo>
                  <a:pt x="1132499" y="578350"/>
                  <a:pt x="1139855" y="577848"/>
                  <a:pt x="1146313" y="575189"/>
                </a:cubicBezTo>
                <a:cubicBezTo>
                  <a:pt x="1288652" y="516579"/>
                  <a:pt x="1186906" y="548495"/>
                  <a:pt x="1331844" y="515554"/>
                </a:cubicBezTo>
                <a:cubicBezTo>
                  <a:pt x="1390758" y="502164"/>
                  <a:pt x="1377895" y="500473"/>
                  <a:pt x="1437861" y="495676"/>
                </a:cubicBezTo>
                <a:cubicBezTo>
                  <a:pt x="1475354" y="492677"/>
                  <a:pt x="1512957" y="491259"/>
                  <a:pt x="1550505" y="489050"/>
                </a:cubicBezTo>
                <a:cubicBezTo>
                  <a:pt x="1627809" y="491259"/>
                  <a:pt x="1705259" y="490445"/>
                  <a:pt x="1782418" y="495676"/>
                </a:cubicBezTo>
                <a:cubicBezTo>
                  <a:pt x="1835717" y="499289"/>
                  <a:pt x="1941444" y="515554"/>
                  <a:pt x="1941444" y="515554"/>
                </a:cubicBezTo>
                <a:cubicBezTo>
                  <a:pt x="2026716" y="542202"/>
                  <a:pt x="2073511" y="552586"/>
                  <a:pt x="2153478" y="595068"/>
                </a:cubicBezTo>
                <a:cubicBezTo>
                  <a:pt x="2190281" y="614619"/>
                  <a:pt x="2225286" y="637530"/>
                  <a:pt x="2259496" y="661328"/>
                </a:cubicBezTo>
                <a:cubicBezTo>
                  <a:pt x="2293766" y="685168"/>
                  <a:pt x="2377111" y="771125"/>
                  <a:pt x="2392018" y="787224"/>
                </a:cubicBezTo>
                <a:cubicBezTo>
                  <a:pt x="2424703" y="822524"/>
                  <a:pt x="2485531" y="890453"/>
                  <a:pt x="2511287" y="939624"/>
                </a:cubicBezTo>
                <a:cubicBezTo>
                  <a:pt x="2524610" y="965059"/>
                  <a:pt x="2544418" y="1019137"/>
                  <a:pt x="2544418" y="1019137"/>
                </a:cubicBezTo>
                <a:cubicBezTo>
                  <a:pt x="2546627" y="1030181"/>
                  <a:pt x="2548601" y="1041274"/>
                  <a:pt x="2551044" y="1052268"/>
                </a:cubicBezTo>
                <a:cubicBezTo>
                  <a:pt x="2554868" y="1069477"/>
                  <a:pt x="2563998" y="1082458"/>
                  <a:pt x="2551044" y="1098650"/>
                </a:cubicBezTo>
                <a:cubicBezTo>
                  <a:pt x="2546069" y="1104869"/>
                  <a:pt x="2537791" y="1107485"/>
                  <a:pt x="2531165" y="1111902"/>
                </a:cubicBezTo>
                <a:cubicBezTo>
                  <a:pt x="2528956" y="1103067"/>
                  <a:pt x="2524539" y="1094505"/>
                  <a:pt x="2524539" y="1085398"/>
                </a:cubicBezTo>
                <a:cubicBezTo>
                  <a:pt x="2524539" y="1074136"/>
                  <a:pt x="2528433" y="1063194"/>
                  <a:pt x="2531165" y="1052268"/>
                </a:cubicBezTo>
                <a:cubicBezTo>
                  <a:pt x="2534420" y="1039251"/>
                  <a:pt x="2540634" y="1021764"/>
                  <a:pt x="2551044" y="1012511"/>
                </a:cubicBezTo>
                <a:cubicBezTo>
                  <a:pt x="2565245" y="999888"/>
                  <a:pt x="2581617" y="989920"/>
                  <a:pt x="2597426" y="979381"/>
                </a:cubicBezTo>
                <a:cubicBezTo>
                  <a:pt x="2608142" y="972237"/>
                  <a:pt x="2618788" y="964733"/>
                  <a:pt x="2630557" y="959502"/>
                </a:cubicBezTo>
                <a:cubicBezTo>
                  <a:pt x="2642418" y="954230"/>
                  <a:pt x="2688910" y="947568"/>
                  <a:pt x="2696818" y="946250"/>
                </a:cubicBezTo>
                <a:cubicBezTo>
                  <a:pt x="2736574" y="950667"/>
                  <a:pt x="2778389" y="946125"/>
                  <a:pt x="2816087" y="959502"/>
                </a:cubicBezTo>
                <a:cubicBezTo>
                  <a:pt x="2846248" y="970204"/>
                  <a:pt x="2908309" y="1020302"/>
                  <a:pt x="2935357" y="1052268"/>
                </a:cubicBezTo>
                <a:cubicBezTo>
                  <a:pt x="2949624" y="1069129"/>
                  <a:pt x="2962447" y="1087182"/>
                  <a:pt x="2975113" y="1105276"/>
                </a:cubicBezTo>
                <a:cubicBezTo>
                  <a:pt x="2993380" y="1131372"/>
                  <a:pt x="3028122" y="1184789"/>
                  <a:pt x="3028122" y="1184789"/>
                </a:cubicBezTo>
                <a:cubicBezTo>
                  <a:pt x="3030331" y="1191415"/>
                  <a:pt x="3031997" y="1198248"/>
                  <a:pt x="3034748" y="1204668"/>
                </a:cubicBezTo>
                <a:cubicBezTo>
                  <a:pt x="3038639" y="1213747"/>
                  <a:pt x="3047384" y="1221314"/>
                  <a:pt x="3048000" y="1231172"/>
                </a:cubicBezTo>
                <a:cubicBezTo>
                  <a:pt x="3051413" y="1285787"/>
                  <a:pt x="3046996" y="1293820"/>
                  <a:pt x="3034748" y="1330563"/>
                </a:cubicBezTo>
                <a:lnTo>
                  <a:pt x="3087757" y="1343815"/>
                </a:lnTo>
                <a:cubicBezTo>
                  <a:pt x="3096592" y="1346024"/>
                  <a:pt x="3105622" y="1347561"/>
                  <a:pt x="3114261" y="1350441"/>
                </a:cubicBezTo>
                <a:lnTo>
                  <a:pt x="3154018" y="1363694"/>
                </a:lnTo>
                <a:lnTo>
                  <a:pt x="3173896" y="1370320"/>
                </a:lnTo>
                <a:cubicBezTo>
                  <a:pt x="3178313" y="1376946"/>
                  <a:pt x="3187148" y="1398161"/>
                  <a:pt x="3187148" y="1390198"/>
                </a:cubicBezTo>
                <a:cubicBezTo>
                  <a:pt x="3187148" y="1376229"/>
                  <a:pt x="3178313" y="1363693"/>
                  <a:pt x="3173896" y="1350441"/>
                </a:cubicBezTo>
                <a:cubicBezTo>
                  <a:pt x="3171687" y="1343815"/>
                  <a:pt x="3173081" y="1334437"/>
                  <a:pt x="3167270" y="1330563"/>
                </a:cubicBezTo>
                <a:cubicBezTo>
                  <a:pt x="3160644" y="1326146"/>
                  <a:pt x="3142417" y="1311093"/>
                  <a:pt x="3147392" y="1317311"/>
                </a:cubicBezTo>
                <a:cubicBezTo>
                  <a:pt x="3158695" y="1331440"/>
                  <a:pt x="3197944" y="1370810"/>
                  <a:pt x="3220278" y="1383572"/>
                </a:cubicBezTo>
                <a:cubicBezTo>
                  <a:pt x="3226342" y="1387037"/>
                  <a:pt x="3233531" y="1387989"/>
                  <a:pt x="3240157" y="1390198"/>
                </a:cubicBezTo>
                <a:cubicBezTo>
                  <a:pt x="3233531" y="1394615"/>
                  <a:pt x="3227762" y="1400728"/>
                  <a:pt x="3220278" y="1403450"/>
                </a:cubicBezTo>
                <a:cubicBezTo>
                  <a:pt x="3194758" y="1412730"/>
                  <a:pt x="3161375" y="1417276"/>
                  <a:pt x="3134139" y="1423328"/>
                </a:cubicBezTo>
                <a:cubicBezTo>
                  <a:pt x="3125249" y="1425303"/>
                  <a:pt x="3116539" y="1428046"/>
                  <a:pt x="3107635" y="1429954"/>
                </a:cubicBezTo>
                <a:cubicBezTo>
                  <a:pt x="3002368" y="1452512"/>
                  <a:pt x="3075385" y="1434704"/>
                  <a:pt x="3014870" y="1449833"/>
                </a:cubicBezTo>
                <a:cubicBezTo>
                  <a:pt x="2978676" y="1442594"/>
                  <a:pt x="2973775" y="1451171"/>
                  <a:pt x="2988365" y="1436581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29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45F8-7A6F-1D4D-A5BF-951B36B8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sampling and quantization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F7184-D749-5A4E-A75F-B0DF17EAE0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83" t="6763" r="10908" b="52174"/>
          <a:stretch/>
        </p:blipFill>
        <p:spPr>
          <a:xfrm>
            <a:off x="4287078" y="1590261"/>
            <a:ext cx="6488977" cy="522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FC343-9809-7046-86E0-24253F51AD47}"/>
              </a:ext>
            </a:extLst>
          </p:cNvPr>
          <p:cNvSpPr txBox="1"/>
          <p:nvPr/>
        </p:nvSpPr>
        <p:spPr>
          <a:xfrm>
            <a:off x="581820" y="2670312"/>
            <a:ext cx="3127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digitize function f(</a:t>
            </a:r>
            <a:r>
              <a:rPr lang="en-US" dirty="0" err="1">
                <a:solidFill>
                  <a:srgbClr val="0070C0"/>
                </a:solidFill>
              </a:rPr>
              <a:t>x,y</a:t>
            </a:r>
            <a:r>
              <a:rPr lang="en-US" dirty="0">
                <a:solidFill>
                  <a:srgbClr val="0070C0"/>
                </a:solidFill>
              </a:rPr>
              <a:t>), we have to sample the function in both coordinates and amplitude.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Sampling: digitizing the coordinate values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Quantization: digitizing the amplitude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1CE21-031E-B34D-B83A-F2E207D68218}"/>
              </a:ext>
            </a:extLst>
          </p:cNvPr>
          <p:cNvSpPr txBox="1"/>
          <p:nvPr/>
        </p:nvSpPr>
        <p:spPr>
          <a:xfrm>
            <a:off x="5108713" y="4532244"/>
            <a:ext cx="1312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Continuous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AC2D7-9D3A-764A-AEDC-DC906ECB83AB}"/>
              </a:ext>
            </a:extLst>
          </p:cNvPr>
          <p:cNvSpPr txBox="1"/>
          <p:nvPr/>
        </p:nvSpPr>
        <p:spPr>
          <a:xfrm>
            <a:off x="8353201" y="4532244"/>
            <a:ext cx="1060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 scan line AB</a:t>
            </a:r>
          </a:p>
        </p:txBody>
      </p:sp>
    </p:spTree>
    <p:extLst>
      <p:ext uri="{BB962C8B-B14F-4D97-AF65-F5344CB8AC3E}">
        <p14:creationId xmlns:p14="http://schemas.microsoft.com/office/powerpoint/2010/main" val="2600346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24BD-E219-4B47-B711-DEEF2E1E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Digital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E7D5D-4115-F848-A2F4-540185A4B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733" y="1440833"/>
            <a:ext cx="3231005" cy="48897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272F7A-4BEA-E342-A675-B09A18376AD6}"/>
              </a:ext>
            </a:extLst>
          </p:cNvPr>
          <p:cNvSpPr/>
          <p:nvPr/>
        </p:nvSpPr>
        <p:spPr>
          <a:xfrm>
            <a:off x="838200" y="1914436"/>
            <a:ext cx="421277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n-US" dirty="0"/>
              <a:t>Natural landscape </a:t>
            </a:r>
          </a:p>
          <a:p>
            <a:pPr marL="342900" indent="-342900">
              <a:buAutoNum type="alphaLcParenR"/>
            </a:pPr>
            <a:r>
              <a:rPr lang="en-US" dirty="0"/>
              <a:t>Synthetically generated scene </a:t>
            </a:r>
          </a:p>
          <a:p>
            <a:pPr marL="342900" indent="-342900">
              <a:buAutoNum type="alphaLcParenR"/>
            </a:pPr>
            <a:r>
              <a:rPr lang="en-US" dirty="0"/>
              <a:t>Poster graphic </a:t>
            </a:r>
          </a:p>
          <a:p>
            <a:pPr marL="342900" indent="-342900">
              <a:buAutoNum type="alphaLcParenR"/>
            </a:pPr>
            <a:r>
              <a:rPr lang="en-US" dirty="0"/>
              <a:t>Computer screenshot </a:t>
            </a:r>
          </a:p>
          <a:p>
            <a:pPr marL="342900" indent="-342900">
              <a:buAutoNum type="alphaLcParenR"/>
            </a:pPr>
            <a:r>
              <a:rPr lang="en-US" dirty="0"/>
              <a:t>Black and white illustration </a:t>
            </a:r>
          </a:p>
          <a:p>
            <a:pPr marL="342900" indent="-342900">
              <a:buAutoNum type="alphaLcParenR"/>
            </a:pPr>
            <a:r>
              <a:rPr lang="en-US" dirty="0"/>
              <a:t>Barcode </a:t>
            </a:r>
          </a:p>
          <a:p>
            <a:pPr marL="342900" indent="-342900">
              <a:buAutoNum type="alphaLcParenR"/>
            </a:pPr>
            <a:r>
              <a:rPr lang="en-US" dirty="0"/>
              <a:t>Fingerprint </a:t>
            </a:r>
          </a:p>
          <a:p>
            <a:pPr marL="342900" indent="-342900">
              <a:buAutoNum type="alphaLcParenR"/>
            </a:pPr>
            <a:r>
              <a:rPr lang="en-US" dirty="0"/>
              <a:t>X‐ray </a:t>
            </a:r>
          </a:p>
          <a:p>
            <a:pPr marL="342900" indent="-342900">
              <a:buAutoNum type="alphaLcParenR"/>
            </a:pPr>
            <a:r>
              <a:rPr lang="en-US" dirty="0"/>
              <a:t>Microscope slide </a:t>
            </a:r>
          </a:p>
          <a:p>
            <a:pPr marL="342900" indent="-342900">
              <a:buAutoNum type="alphaLcParenR"/>
            </a:pPr>
            <a:r>
              <a:rPr lang="en-US" dirty="0"/>
              <a:t>Satellite Image </a:t>
            </a:r>
          </a:p>
          <a:p>
            <a:pPr marL="342900" indent="-342900">
              <a:buAutoNum type="alphaLcParenR"/>
            </a:pPr>
            <a:r>
              <a:rPr lang="en-US" dirty="0"/>
              <a:t>Radar image </a:t>
            </a:r>
          </a:p>
          <a:p>
            <a:pPr marL="342900" indent="-342900">
              <a:buAutoNum type="alphaLcParenR"/>
            </a:pPr>
            <a:r>
              <a:rPr lang="en-US" dirty="0"/>
              <a:t>Astronomical 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048C9-327D-5243-AFA4-D00F91939546}"/>
              </a:ext>
            </a:extLst>
          </p:cNvPr>
          <p:cNvSpPr txBox="1"/>
          <p:nvPr/>
        </p:nvSpPr>
        <p:spPr>
          <a:xfrm>
            <a:off x="6509027" y="6581001"/>
            <a:ext cx="5259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Ref: </a:t>
            </a:r>
            <a:r>
              <a:rPr lang="en-US" sz="1200" dirty="0">
                <a:hlinkClick r:id="rId3"/>
              </a:rPr>
              <a:t>https://web.cs.wpi.edu/~emmanuel/courses/cs545/S14/slides/lecture01.pdf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75903-0F9E-F041-8EA2-275F2815AB2D}"/>
              </a:ext>
            </a:extLst>
          </p:cNvPr>
          <p:cNvSpPr txBox="1"/>
          <p:nvPr/>
        </p:nvSpPr>
        <p:spPr>
          <a:xfrm>
            <a:off x="198783" y="5796170"/>
            <a:ext cx="60827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Note: although imaging is based predominantly on energy from electromagnetic wave radiation, this is not the only method for generating images.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Others: sound -&gt; ultrasonic images, software -&gt; synthetic images</a:t>
            </a:r>
          </a:p>
        </p:txBody>
      </p:sp>
    </p:spTree>
    <p:extLst>
      <p:ext uri="{BB962C8B-B14F-4D97-AF65-F5344CB8AC3E}">
        <p14:creationId xmlns:p14="http://schemas.microsoft.com/office/powerpoint/2010/main" val="2730510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C0D9-E8BD-1147-81A0-041746F0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 example (1/4)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02ADE-757D-8744-B682-D7D60E38042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5723" y="2236463"/>
            <a:ext cx="2317739" cy="17383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83991-775C-214B-93B4-DB187147F196}"/>
              </a:ext>
            </a:extLst>
          </p:cNvPr>
          <p:cNvSpPr txBox="1"/>
          <p:nvPr/>
        </p:nvSpPr>
        <p:spPr>
          <a:xfrm>
            <a:off x="1972172" y="3983603"/>
            <a:ext cx="2165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 of painting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8B383-ACA3-4042-901D-54D6DE5CDD9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7673" y="2245298"/>
            <a:ext cx="3311056" cy="17383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C18F8B-27F9-294C-A8C4-AD8338800B82}"/>
              </a:ext>
            </a:extLst>
          </p:cNvPr>
          <p:cNvSpPr txBox="1"/>
          <p:nvPr/>
        </p:nvSpPr>
        <p:spPr>
          <a:xfrm>
            <a:off x="5828306" y="4062213"/>
            <a:ext cx="240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Graphical image</a:t>
            </a:r>
          </a:p>
        </p:txBody>
      </p:sp>
    </p:spTree>
    <p:extLst>
      <p:ext uri="{BB962C8B-B14F-4D97-AF65-F5344CB8AC3E}">
        <p14:creationId xmlns:p14="http://schemas.microsoft.com/office/powerpoint/2010/main" val="326763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5C15-D1B5-3C47-A330-BE77EE3C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 example (2/4)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61ADC-35DC-3F4D-B8AD-52977DDA4F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916265"/>
            <a:ext cx="1877171" cy="2957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A8E24F-ECF1-9A4C-9002-8C07E6A53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004" y="1916265"/>
            <a:ext cx="1958773" cy="37569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52E63-A75B-5346-984C-31FF0E765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322" y="1916265"/>
            <a:ext cx="1890248" cy="3845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8E45CB-C523-E04F-A9EF-577AD6EA4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7444" y="1836752"/>
            <a:ext cx="2659529" cy="39250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64687A-E501-114C-9078-86B461EEE40C}"/>
              </a:ext>
            </a:extLst>
          </p:cNvPr>
          <p:cNvSpPr txBox="1"/>
          <p:nvPr/>
        </p:nvSpPr>
        <p:spPr>
          <a:xfrm>
            <a:off x="970059" y="5422790"/>
            <a:ext cx="879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F3169-F81E-CD4E-8BE1-158238F9D161}"/>
              </a:ext>
            </a:extLst>
          </p:cNvPr>
          <p:cNvSpPr txBox="1"/>
          <p:nvPr/>
        </p:nvSpPr>
        <p:spPr>
          <a:xfrm>
            <a:off x="4007457" y="5844209"/>
            <a:ext cx="65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X-ray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2F0B0-0DE6-C240-9872-A0D535361DAD}"/>
              </a:ext>
            </a:extLst>
          </p:cNvPr>
          <p:cNvSpPr txBox="1"/>
          <p:nvPr/>
        </p:nvSpPr>
        <p:spPr>
          <a:xfrm>
            <a:off x="9167854" y="5939624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ultrasound</a:t>
            </a:r>
          </a:p>
        </p:txBody>
      </p:sp>
    </p:spTree>
    <p:extLst>
      <p:ext uri="{BB962C8B-B14F-4D97-AF65-F5344CB8AC3E}">
        <p14:creationId xmlns:p14="http://schemas.microsoft.com/office/powerpoint/2010/main" val="1861092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D6B9-E5CC-F242-B17B-060C8129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 example (3/4)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0D653-3A4D-3940-A325-EFB0C232F0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23" t="6861" r="5767" b="74106"/>
          <a:stretch/>
        </p:blipFill>
        <p:spPr>
          <a:xfrm>
            <a:off x="652646" y="1987823"/>
            <a:ext cx="11003685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25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C684-F598-9945-A66A-C6AB6672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 example (4/4)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C33E5-D0AA-3044-9315-0454806D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72B2B-73E6-0649-8E3D-517BCFD4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8" y="1792405"/>
            <a:ext cx="10959548" cy="35624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3A30B6-A925-3B47-A89D-E665706DBD81}"/>
              </a:ext>
            </a:extLst>
          </p:cNvPr>
          <p:cNvSpPr/>
          <p:nvPr/>
        </p:nvSpPr>
        <p:spPr>
          <a:xfrm>
            <a:off x="6520070" y="5257311"/>
            <a:ext cx="45481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Plante</a:t>
            </a:r>
            <a:r>
              <a:rPr lang="en-US" sz="12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, Ambrose, et al. "A Machine Learning Approach for the Discovery of Ligand-Specific Functional Mechanisms of GPCRs." </a:t>
            </a:r>
            <a:r>
              <a:rPr lang="en-US" sz="1200" b="0" i="1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Molecules</a:t>
            </a:r>
            <a:r>
              <a:rPr lang="en-US" sz="12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 24.11 (2019): 2097.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506B3-F3C9-6140-AB65-20BB8B85B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62" y="5257311"/>
            <a:ext cx="4114528" cy="92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82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006E-33F4-D94B-9FAE-5B3410AF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4EC31-45C7-D144-86F9-3CE734A5A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CC1988-5157-CC49-8F91-41E3CB6F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digital images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A7F6CC-733C-2840-9B98-0A93F2E6D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f(</a:t>
            </a:r>
            <a:r>
              <a:rPr lang="en-US" i="1" dirty="0" err="1"/>
              <a:t>x,y</a:t>
            </a:r>
            <a:r>
              <a:rPr lang="en-US" i="1" dirty="0"/>
              <a:t>) </a:t>
            </a:r>
            <a:r>
              <a:rPr lang="en-US" dirty="0"/>
              <a:t>containing </a:t>
            </a:r>
            <a:r>
              <a:rPr lang="en-US" i="1" dirty="0"/>
              <a:t>M</a:t>
            </a:r>
            <a:r>
              <a:rPr lang="en-US" dirty="0"/>
              <a:t> rows and </a:t>
            </a:r>
            <a:r>
              <a:rPr lang="en-US" i="1" dirty="0"/>
              <a:t>N</a:t>
            </a:r>
            <a:r>
              <a:rPr lang="en-US" dirty="0"/>
              <a:t> columns, where </a:t>
            </a:r>
            <a:r>
              <a:rPr lang="en-US" i="1" dirty="0"/>
              <a:t>(</a:t>
            </a:r>
            <a:r>
              <a:rPr lang="en-US" i="1" dirty="0" err="1"/>
              <a:t>x,y</a:t>
            </a:r>
            <a:r>
              <a:rPr lang="en-US" i="1" dirty="0"/>
              <a:t>)</a:t>
            </a:r>
            <a:r>
              <a:rPr lang="en-US" dirty="0"/>
              <a:t> are discrete coordinates</a:t>
            </a:r>
          </a:p>
          <a:p>
            <a:r>
              <a:rPr lang="en-US" dirty="0"/>
              <a:t>Image origin: f(0,0)</a:t>
            </a:r>
          </a:p>
          <a:p>
            <a:r>
              <a:rPr lang="en-US" i="1" dirty="0"/>
              <a:t>f(</a:t>
            </a:r>
            <a:r>
              <a:rPr lang="en-US" i="1" dirty="0" err="1"/>
              <a:t>x,y</a:t>
            </a:r>
            <a:r>
              <a:rPr lang="en-US" i="1" dirty="0"/>
              <a:t>)</a:t>
            </a:r>
            <a:r>
              <a:rPr lang="en-US" dirty="0"/>
              <a:t> as an </a:t>
            </a:r>
            <a:r>
              <a:rPr lang="en-US" i="1" dirty="0"/>
              <a:t>M x N </a:t>
            </a:r>
            <a:r>
              <a:rPr lang="en-US" dirty="0"/>
              <a:t>numerical array or a 2D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522F0-C5A2-3743-8AD0-93BF33A4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25" y="4253947"/>
            <a:ext cx="4782159" cy="1402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1714B0-A08D-7540-B05B-EF4B04406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10" y="4077054"/>
            <a:ext cx="4359964" cy="1910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4C9A0A-F7CA-904B-A34F-ABE64B436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557" y="6066889"/>
            <a:ext cx="1552851" cy="5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3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67E1-B35C-774E-ADB9-902CAD9A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images - plotting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FB97CF-C5E3-B649-8FBD-C24BCF8FC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112" y="1462339"/>
            <a:ext cx="6715181" cy="534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67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A281-9F1B-1943-A450-47B1662B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coordinate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E047E-C705-8C4D-93B6-0D47D52C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103" y="1570254"/>
            <a:ext cx="7214905" cy="469139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61418B-5583-404F-A1BD-DC5FAD39015D}"/>
              </a:ext>
            </a:extLst>
          </p:cNvPr>
          <p:cNvCxnSpPr/>
          <p:nvPr/>
        </p:nvCxnSpPr>
        <p:spPr>
          <a:xfrm flipV="1">
            <a:off x="613317" y="4622180"/>
            <a:ext cx="2720898" cy="55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A5FC6B-B900-A24E-B8CE-3EE21FCBAC34}"/>
              </a:ext>
            </a:extLst>
          </p:cNvPr>
          <p:cNvCxnSpPr>
            <a:cxnSpLocks/>
          </p:cNvCxnSpPr>
          <p:nvPr/>
        </p:nvCxnSpPr>
        <p:spPr>
          <a:xfrm flipV="1">
            <a:off x="765717" y="2454668"/>
            <a:ext cx="0" cy="2375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55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4754-F7BC-534F-9A84-51B9DCCE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digitization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7A62-A25E-5146-AE54-110F8CC2F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digitization requires that decisions be made regarding the values for M, N, and for the number, L, of discrete intensity levels</a:t>
            </a:r>
          </a:p>
          <a:p>
            <a:pPr lvl="1"/>
            <a:r>
              <a:rPr lang="en-US" dirty="0"/>
              <a:t>M, N: positive integers</a:t>
            </a:r>
          </a:p>
          <a:p>
            <a:pPr lvl="1"/>
            <a:r>
              <a:rPr lang="en-US" dirty="0"/>
              <a:t>L: depends on digital storage, and quantizing hardware considerations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K=8 </a:t>
            </a:r>
            <a:r>
              <a:rPr lang="en-US" dirty="0">
                <a:sym typeface="Wingdings" pitchFamily="2" charset="2"/>
              </a:rPr>
              <a:t>L=256</a:t>
            </a:r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Contrast ratio </a:t>
            </a:r>
            <a:r>
              <a:rPr lang="en-US" dirty="0"/>
              <a:t>= ratio of the highest and lowest intensity levels in an image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2ECB4-47B9-1743-85AB-622CB8E84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031" y="3412435"/>
            <a:ext cx="1035431" cy="59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86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7B3A-851A-FF4D-B3E8-779037A7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BE063-A6BF-8A42-BE1D-0D29C7807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5" t="17334" r="20350" b="32533"/>
          <a:stretch/>
        </p:blipFill>
        <p:spPr>
          <a:xfrm>
            <a:off x="838200" y="1600200"/>
            <a:ext cx="9043416" cy="34381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DD5D37-ABB3-5149-B324-184C86B3EEDD}"/>
              </a:ext>
            </a:extLst>
          </p:cNvPr>
          <p:cNvSpPr txBox="1"/>
          <p:nvPr/>
        </p:nvSpPr>
        <p:spPr>
          <a:xfrm>
            <a:off x="1115568" y="5328015"/>
            <a:ext cx="431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Conventional grayscale image has 256 levels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83794-903E-2E49-BC05-DE534A16F1F1}"/>
              </a:ext>
            </a:extLst>
          </p:cNvPr>
          <p:cNvSpPr txBox="1"/>
          <p:nvPr/>
        </p:nvSpPr>
        <p:spPr>
          <a:xfrm>
            <a:off x="8174736" y="5952744"/>
            <a:ext cx="260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Bernd </a:t>
            </a:r>
            <a:r>
              <a:rPr lang="en-US" dirty="0" err="1"/>
              <a:t>Girod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23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5B91-2592-F34D-9887-09BC41D8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varying number of intensity levels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D52C2D-0E7F-D949-832E-1B1573D01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32" t="7246" r="12702" b="34493"/>
          <a:stretch/>
        </p:blipFill>
        <p:spPr>
          <a:xfrm>
            <a:off x="397565" y="1603513"/>
            <a:ext cx="5526904" cy="48370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ABA904-51F0-EF49-A68F-ED6D7B2999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36" t="7149" r="10311" b="34203"/>
          <a:stretch/>
        </p:blipFill>
        <p:spPr>
          <a:xfrm>
            <a:off x="6208643" y="1603513"/>
            <a:ext cx="5362983" cy="4837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A6036-BA61-AD45-8E9C-EF0EB3EEFCEF}"/>
              </a:ext>
            </a:extLst>
          </p:cNvPr>
          <p:cNvSpPr txBox="1"/>
          <p:nvPr/>
        </p:nvSpPr>
        <p:spPr>
          <a:xfrm>
            <a:off x="7885044" y="6488668"/>
            <a:ext cx="261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Appear “false contouring”</a:t>
            </a:r>
          </a:p>
        </p:txBody>
      </p:sp>
    </p:spTree>
    <p:extLst>
      <p:ext uri="{BB962C8B-B14F-4D97-AF65-F5344CB8AC3E}">
        <p14:creationId xmlns:p14="http://schemas.microsoft.com/office/powerpoint/2010/main" val="2660571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1BA7-FD7E-A24A-BE17-7EFAEA92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D2207-BDE2-9A46-812F-D9365A9CE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7591" cy="4351338"/>
          </a:xfrm>
        </p:spPr>
        <p:txBody>
          <a:bodyPr/>
          <a:lstStyle/>
          <a:p>
            <a:r>
              <a:rPr lang="en-US" dirty="0"/>
              <a:t>Spatial resolution: a measure of the smallest discernible detail in an image</a:t>
            </a:r>
          </a:p>
          <a:p>
            <a:r>
              <a:rPr lang="en-US" dirty="0"/>
              <a:t>Measurement:</a:t>
            </a:r>
          </a:p>
          <a:p>
            <a:pPr lvl="1"/>
            <a:r>
              <a:rPr lang="en-US" i="1" dirty="0"/>
              <a:t>“line pairs per unit distance”, </a:t>
            </a:r>
          </a:p>
          <a:p>
            <a:pPr lvl="1"/>
            <a:r>
              <a:rPr lang="en-US" i="1" dirty="0"/>
              <a:t>“dot (pixels) per unit distance”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C93DA-B6F7-0440-8BBB-51F0879E46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35" t="7296" r="6366" b="40001"/>
          <a:stretch/>
        </p:blipFill>
        <p:spPr>
          <a:xfrm>
            <a:off x="6592957" y="1093304"/>
            <a:ext cx="5599043" cy="54740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E9C1FB-8FFA-CE45-989D-21B0D60F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713" y="4240193"/>
            <a:ext cx="1371600" cy="222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4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655C-4FF4-A64B-BB44-9A8D8200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826B9-CD6F-F94A-968B-31C1F4DDA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42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6AE1B2-ED0E-AA42-95D5-84B14419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Power-law (Gamma) transformations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C5327-EA8D-F941-954A-3A68C6DC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00" y="1690688"/>
            <a:ext cx="4426225" cy="41144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839A80-9618-954C-B82A-BF3A91442F36}"/>
              </a:ext>
            </a:extLst>
          </p:cNvPr>
          <p:cNvSpPr txBox="1"/>
          <p:nvPr/>
        </p:nvSpPr>
        <p:spPr>
          <a:xfrm>
            <a:off x="3517358" y="5805106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intensity levels, </a:t>
            </a:r>
            <a:r>
              <a:rPr lang="en-US" i="1" dirty="0"/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34EAF-A15E-E04B-BDBD-3D6B29F97828}"/>
              </a:ext>
            </a:extLst>
          </p:cNvPr>
          <p:cNvSpPr txBox="1"/>
          <p:nvPr/>
        </p:nvSpPr>
        <p:spPr>
          <a:xfrm rot="16200000">
            <a:off x="682272" y="3392948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intensity levels, </a:t>
            </a:r>
            <a:r>
              <a:rPr lang="en-US" i="1" dirty="0"/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0DEB8-E760-C945-8CAC-D59FC94B36DC}"/>
              </a:ext>
            </a:extLst>
          </p:cNvPr>
          <p:cNvSpPr txBox="1"/>
          <p:nvPr/>
        </p:nvSpPr>
        <p:spPr>
          <a:xfrm>
            <a:off x="448056" y="6169580"/>
            <a:ext cx="2434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Gonzalez et. al. (fig. 3.6)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BFDF7F-5F67-6E43-B0C6-D05346E01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626" y="2878557"/>
            <a:ext cx="1758398" cy="699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59E497-04A8-A547-BDE0-14D1777AB402}"/>
              </a:ext>
            </a:extLst>
          </p:cNvPr>
          <p:cNvSpPr txBox="1"/>
          <p:nvPr/>
        </p:nvSpPr>
        <p:spPr>
          <a:xfrm>
            <a:off x="7891670" y="4200939"/>
            <a:ext cx="4035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- With fractional values of gamma, power-law curves map a narrow range of dark input values into a wider range of output values</a:t>
            </a:r>
          </a:p>
          <a:p>
            <a:r>
              <a:rPr lang="en-US" dirty="0">
                <a:solidFill>
                  <a:srgbClr val="0070C0"/>
                </a:solidFill>
              </a:rPr>
              <a:t>- The opposite being true for higher values of input levels</a:t>
            </a:r>
          </a:p>
        </p:txBody>
      </p:sp>
    </p:spTree>
    <p:extLst>
      <p:ext uri="{BB962C8B-B14F-4D97-AF65-F5344CB8AC3E}">
        <p14:creationId xmlns:p14="http://schemas.microsoft.com/office/powerpoint/2010/main" val="4182582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8B18-97C5-0644-8AFE-DB6C10CF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Gamma transformation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724E3-A9B4-8342-8C29-FA9AE72AD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121" y="1207155"/>
            <a:ext cx="4396310" cy="5639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351FCD-9E22-554A-9D9F-9CDD2A62DC67}"/>
              </a:ext>
            </a:extLst>
          </p:cNvPr>
          <p:cNvSpPr txBox="1"/>
          <p:nvPr/>
        </p:nvSpPr>
        <p:spPr>
          <a:xfrm>
            <a:off x="448056" y="6169580"/>
            <a:ext cx="2434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Gonzalez et. al. (fig. 3.8)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BA760-9D8A-4140-877C-ECA96FFBB4C4}"/>
              </a:ext>
            </a:extLst>
          </p:cNvPr>
          <p:cNvSpPr txBox="1"/>
          <p:nvPr/>
        </p:nvSpPr>
        <p:spPr>
          <a:xfrm>
            <a:off x="10476615" y="2547667"/>
            <a:ext cx="172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gamma = 0.6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D32E6-F7C2-054A-941B-2FDE09D71D22}"/>
              </a:ext>
            </a:extLst>
          </p:cNvPr>
          <p:cNvSpPr txBox="1"/>
          <p:nvPr/>
        </p:nvSpPr>
        <p:spPr>
          <a:xfrm>
            <a:off x="10604205" y="5259573"/>
            <a:ext cx="165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gamma = 0.3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E5E73-707F-214E-8FA3-E253AE5E0EF9}"/>
              </a:ext>
            </a:extLst>
          </p:cNvPr>
          <p:cNvSpPr txBox="1"/>
          <p:nvPr/>
        </p:nvSpPr>
        <p:spPr>
          <a:xfrm>
            <a:off x="4473574" y="5024711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gamma = 0.4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67216-4B86-9E4B-9753-52AF737369F1}"/>
              </a:ext>
            </a:extLst>
          </p:cNvPr>
          <p:cNvSpPr txBox="1"/>
          <p:nvPr/>
        </p:nvSpPr>
        <p:spPr>
          <a:xfrm>
            <a:off x="215440" y="2093844"/>
            <a:ext cx="533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Gamma decreased from 0.6 to 0.4: more detail became visible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A further decrease of gamma to 0.3 enhanced a little more detail in the background, but began to reduce contrast, the image started to have a very slight “washed-out” appearance</a:t>
            </a:r>
          </a:p>
        </p:txBody>
      </p:sp>
    </p:spTree>
    <p:extLst>
      <p:ext uri="{BB962C8B-B14F-4D97-AF65-F5344CB8AC3E}">
        <p14:creationId xmlns:p14="http://schemas.microsoft.com/office/powerpoint/2010/main" val="2018658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8B18-97C5-0644-8AFE-DB6C10CF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Gamma transformation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51FCD-9E22-554A-9D9F-9CDD2A62DC67}"/>
              </a:ext>
            </a:extLst>
          </p:cNvPr>
          <p:cNvSpPr txBox="1"/>
          <p:nvPr/>
        </p:nvSpPr>
        <p:spPr>
          <a:xfrm>
            <a:off x="448056" y="6169580"/>
            <a:ext cx="2434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Gonzalez et. al. (fig. 3.9)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BA760-9D8A-4140-877C-ECA96FFBB4C4}"/>
              </a:ext>
            </a:extLst>
          </p:cNvPr>
          <p:cNvSpPr txBox="1"/>
          <p:nvPr/>
        </p:nvSpPr>
        <p:spPr>
          <a:xfrm>
            <a:off x="10378896" y="2815391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gamma = 3.0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D32E6-F7C2-054A-941B-2FDE09D71D22}"/>
              </a:ext>
            </a:extLst>
          </p:cNvPr>
          <p:cNvSpPr txBox="1"/>
          <p:nvPr/>
        </p:nvSpPr>
        <p:spPr>
          <a:xfrm>
            <a:off x="10441496" y="5558591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gamma = 5.0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E5E73-707F-214E-8FA3-E253AE5E0EF9}"/>
              </a:ext>
            </a:extLst>
          </p:cNvPr>
          <p:cNvSpPr txBox="1"/>
          <p:nvPr/>
        </p:nvSpPr>
        <p:spPr>
          <a:xfrm>
            <a:off x="3734256" y="5467151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gamma = 4.0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117556-963C-2D4D-9ACA-86C0131D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027" y="1479232"/>
            <a:ext cx="5070469" cy="5059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AFEBB6-FDA8-DF40-A0BB-07BA7D2DC95A}"/>
              </a:ext>
            </a:extLst>
          </p:cNvPr>
          <p:cNvSpPr txBox="1"/>
          <p:nvPr/>
        </p:nvSpPr>
        <p:spPr>
          <a:xfrm>
            <a:off x="284922" y="2391172"/>
            <a:ext cx="398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Low contrast is enhanced by gamma &gt; 1</a:t>
            </a:r>
          </a:p>
        </p:txBody>
      </p:sp>
    </p:spTree>
    <p:extLst>
      <p:ext uri="{BB962C8B-B14F-4D97-AF65-F5344CB8AC3E}">
        <p14:creationId xmlns:p14="http://schemas.microsoft.com/office/powerpoint/2010/main" val="2319336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7EF-51BB-0646-94E5-A1DB1525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E98BD-F227-EB46-A7AB-944BABCC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2" y="1994898"/>
            <a:ext cx="6882809" cy="36781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500A22-0593-9447-8EFD-9773450E4C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132" t="1528"/>
          <a:stretch/>
        </p:blipFill>
        <p:spPr>
          <a:xfrm>
            <a:off x="9139585" y="1842976"/>
            <a:ext cx="2214215" cy="4332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9EB49E-E6E6-0D49-99EF-074FD6E668EB}"/>
              </a:ext>
            </a:extLst>
          </p:cNvPr>
          <p:cNvSpPr txBox="1"/>
          <p:nvPr/>
        </p:nvSpPr>
        <p:spPr>
          <a:xfrm>
            <a:off x="8612372" y="1417674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998394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4A5C-E6FA-274C-9537-AF263363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Piecewise linear transformation</a:t>
            </a:r>
            <a:br>
              <a:rPr lang="en-US" dirty="0"/>
            </a:br>
            <a:r>
              <a:rPr lang="vi-VN" dirty="0"/>
              <a:t>Contrast stretching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EDDA5-2674-3041-8E94-99B57668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595" y="1690688"/>
            <a:ext cx="4440108" cy="4399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C362F0-CD9E-8442-A9E0-56FE98B1A341}"/>
              </a:ext>
            </a:extLst>
          </p:cNvPr>
          <p:cNvSpPr txBox="1"/>
          <p:nvPr/>
        </p:nvSpPr>
        <p:spPr>
          <a:xfrm>
            <a:off x="1147016" y="6089968"/>
            <a:ext cx="2551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Gonzalez et. al. (fig. 3.10)</a:t>
            </a:r>
          </a:p>
        </p:txBody>
      </p:sp>
    </p:spTree>
    <p:extLst>
      <p:ext uri="{BB962C8B-B14F-4D97-AF65-F5344CB8AC3E}">
        <p14:creationId xmlns:p14="http://schemas.microsoft.com/office/powerpoint/2010/main" val="43366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637F-2619-F54E-B4A6-3DCBFFB1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negatives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36157-F5A4-C343-B92F-3E4FBA12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798-0FFE-6D49-972C-07CB5C747B64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2A488-46D8-684D-AE0B-BC664E46B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12" y="2255520"/>
            <a:ext cx="3668828" cy="2566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18B70C-CB66-B84C-911F-B658B2530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898" y="2255520"/>
            <a:ext cx="3618902" cy="2531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78C035-36BB-5641-B170-AFF9EFFE26B7}"/>
              </a:ext>
            </a:extLst>
          </p:cNvPr>
          <p:cNvSpPr txBox="1"/>
          <p:nvPr/>
        </p:nvSpPr>
        <p:spPr>
          <a:xfrm>
            <a:off x="6471920" y="5167428"/>
            <a:ext cx="2945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 = L – 1 – in</a:t>
            </a:r>
          </a:p>
          <a:p>
            <a:r>
              <a:rPr lang="en-US" dirty="0"/>
              <a:t>for example: out = 256 - 1 - in</a:t>
            </a:r>
          </a:p>
        </p:txBody>
      </p:sp>
    </p:spTree>
    <p:extLst>
      <p:ext uri="{BB962C8B-B14F-4D97-AF65-F5344CB8AC3E}">
        <p14:creationId xmlns:p14="http://schemas.microsoft.com/office/powerpoint/2010/main" val="32675753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61B59C-8826-9748-81AB-85467D774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Arithmetic operations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00F1B7-B5AD-2B44-88E3-C06E0562B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2CF9B-524E-A14F-834E-AA091314E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Xử lý ảnh - INT3404 1 - DiepNg - 2019 UET.VNU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7288C-AE61-FB4D-9830-DB259F93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798-0FFE-6D49-972C-07CB5C747B6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95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D0D623-6939-C047-825D-C6B7D9C3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36401-5721-C347-96BC-8B45C222A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78" y="2794263"/>
            <a:ext cx="3123372" cy="174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66CD1-6283-9543-82F8-ED8638493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487" y="2086015"/>
            <a:ext cx="5061778" cy="469722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83D309A2-73BC-6347-A98F-A0383EF7DCBA}"/>
              </a:ext>
            </a:extLst>
          </p:cNvPr>
          <p:cNvSpPr/>
          <p:nvPr/>
        </p:nvSpPr>
        <p:spPr>
          <a:xfrm>
            <a:off x="7471144" y="2086016"/>
            <a:ext cx="1325526" cy="24299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945A5-25A0-4D45-8D11-1A5F7328AD2E}"/>
              </a:ext>
            </a:extLst>
          </p:cNvPr>
          <p:cNvSpPr txBox="1"/>
          <p:nvPr/>
        </p:nvSpPr>
        <p:spPr>
          <a:xfrm>
            <a:off x="9080205" y="3116308"/>
            <a:ext cx="144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Element-wise</a:t>
            </a:r>
          </a:p>
        </p:txBody>
      </p:sp>
    </p:spTree>
    <p:extLst>
      <p:ext uri="{BB962C8B-B14F-4D97-AF65-F5344CB8AC3E}">
        <p14:creationId xmlns:p14="http://schemas.microsoft.com/office/powerpoint/2010/main" val="4170666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D7CB-8359-CE4D-9D55-92E1FE18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subtraction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98B9B-F62F-2C41-8106-CB3DCB7FF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24" y="2075214"/>
            <a:ext cx="7193196" cy="3896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34A59-7E5E-CE46-B816-D02D8BC4C5DE}"/>
              </a:ext>
            </a:extLst>
          </p:cNvPr>
          <p:cNvSpPr txBox="1"/>
          <p:nvPr/>
        </p:nvSpPr>
        <p:spPr>
          <a:xfrm>
            <a:off x="1139687" y="1506022"/>
            <a:ext cx="368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differences between two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5EACA-E3F5-4146-A21B-08CCDD340DED}"/>
              </a:ext>
            </a:extLst>
          </p:cNvPr>
          <p:cNvSpPr txBox="1"/>
          <p:nvPr/>
        </p:nvSpPr>
        <p:spPr>
          <a:xfrm>
            <a:off x="680720" y="6451600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Credit: Bernd Girod, CS232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43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C684-8B71-CB47-A972-65ED6035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Video background subtraction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1B5D3-C2F9-FA45-B16F-A9AB1872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720" y="1358412"/>
            <a:ext cx="7247106" cy="4788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E0460A-3FFE-9040-91F5-27094CB12340}"/>
              </a:ext>
            </a:extLst>
          </p:cNvPr>
          <p:cNvSpPr txBox="1"/>
          <p:nvPr/>
        </p:nvSpPr>
        <p:spPr>
          <a:xfrm>
            <a:off x="680720" y="6451600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Credit: Bernd Girod, CS232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79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51395D-DF5A-7343-8A54-AB4F1582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Image Averaging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FD633-D930-7F4F-9C91-2CCC09499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1200"/>
            <a:ext cx="5502799" cy="3846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E7FB31-F8BE-654C-9F0E-8FF31281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542" y="2306320"/>
            <a:ext cx="4001718" cy="29832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CA32C2-C125-2644-A460-EA962D203334}"/>
              </a:ext>
            </a:extLst>
          </p:cNvPr>
          <p:cNvSpPr txBox="1"/>
          <p:nvPr/>
        </p:nvSpPr>
        <p:spPr>
          <a:xfrm>
            <a:off x="609600" y="6055360"/>
            <a:ext cx="2579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sources: Wikipedia</a:t>
            </a:r>
          </a:p>
        </p:txBody>
      </p:sp>
    </p:spTree>
    <p:extLst>
      <p:ext uri="{BB962C8B-B14F-4D97-AF65-F5344CB8AC3E}">
        <p14:creationId xmlns:p14="http://schemas.microsoft.com/office/powerpoint/2010/main" val="42699710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C060-E866-204C-B207-BE85F88B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High-dynamic range imaging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01EBA-F315-914F-83D9-B0A01C71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480" y="1845416"/>
            <a:ext cx="7411720" cy="4555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A8B891-2D9C-BD4D-9BC8-2DBD849D791F}"/>
              </a:ext>
            </a:extLst>
          </p:cNvPr>
          <p:cNvSpPr txBox="1"/>
          <p:nvPr/>
        </p:nvSpPr>
        <p:spPr>
          <a:xfrm>
            <a:off x="680720" y="6451600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Credit: Bernd Girod, CS232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17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C74F-776D-DA4B-B7E0-D1DF2559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Shading correction (image division)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BE97A-D7BD-D048-A602-F77155AFE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476" r="283" b="10222"/>
          <a:stretch/>
        </p:blipFill>
        <p:spPr>
          <a:xfrm>
            <a:off x="4396408" y="2062104"/>
            <a:ext cx="2829340" cy="384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AEC652-5C89-6543-9029-C2CED1C5A6D6}"/>
              </a:ext>
            </a:extLst>
          </p:cNvPr>
          <p:cNvSpPr txBox="1"/>
          <p:nvPr/>
        </p:nvSpPr>
        <p:spPr>
          <a:xfrm>
            <a:off x="8362012" y="3063874"/>
            <a:ext cx="185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f: “perfect image”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6B49F-01C9-0D4D-9E26-52C871EB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47" y="3519582"/>
            <a:ext cx="10144539" cy="30375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9F8C15-0ED0-FC47-9448-D8A2B99759F9}"/>
              </a:ext>
            </a:extLst>
          </p:cNvPr>
          <p:cNvSpPr/>
          <p:nvPr/>
        </p:nvSpPr>
        <p:spPr>
          <a:xfrm>
            <a:off x="4840357" y="2925374"/>
            <a:ext cx="23853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h: shading function</a:t>
            </a:r>
          </a:p>
          <a:p>
            <a:r>
              <a:rPr lang="en-US" dirty="0"/>
              <a:t>(known, or estimated)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327B6-7186-354D-87C4-C6A34442D23A}"/>
              </a:ext>
            </a:extLst>
          </p:cNvPr>
          <p:cNvSpPr/>
          <p:nvPr/>
        </p:nvSpPr>
        <p:spPr>
          <a:xfrm>
            <a:off x="2017734" y="3202373"/>
            <a:ext cx="1686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g: sensed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21D47-080A-E949-86EC-385E9C2C25E8}"/>
              </a:ext>
            </a:extLst>
          </p:cNvPr>
          <p:cNvSpPr txBox="1"/>
          <p:nvPr/>
        </p:nvSpPr>
        <p:spPr>
          <a:xfrm>
            <a:off x="5436781" y="6556744"/>
            <a:ext cx="3177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Gonzalez, fig. 2.33</a:t>
            </a:r>
          </a:p>
        </p:txBody>
      </p:sp>
    </p:spTree>
    <p:extLst>
      <p:ext uri="{BB962C8B-B14F-4D97-AF65-F5344CB8AC3E}">
        <p14:creationId xmlns:p14="http://schemas.microsoft.com/office/powerpoint/2010/main" val="6396402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F5EE-47E7-BD4F-9389-453DCFB0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ROI masking </a:t>
            </a:r>
            <a:r>
              <a:rPr lang="en-US" dirty="0"/>
              <a:t>(image multiplication)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A94F9-1DCF-F340-AD53-352F37D7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1507"/>
            <a:ext cx="12192000" cy="3154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8C7EEB-EA4C-6B42-9AD5-D7656DE23952}"/>
              </a:ext>
            </a:extLst>
          </p:cNvPr>
          <p:cNvSpPr txBox="1"/>
          <p:nvPr/>
        </p:nvSpPr>
        <p:spPr>
          <a:xfrm>
            <a:off x="5436781" y="6556744"/>
            <a:ext cx="3177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Gonzalez, fig. 2.34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8A94D-A47C-DD46-943B-F1E61217B1E0}"/>
              </a:ext>
            </a:extLst>
          </p:cNvPr>
          <p:cNvSpPr txBox="1"/>
          <p:nvPr/>
        </p:nvSpPr>
        <p:spPr>
          <a:xfrm>
            <a:off x="1559441" y="2271087"/>
            <a:ext cx="7869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isolating teeth with fillings (white corresponds to 1 and black corresponds to 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53CCCC-B612-A748-9F88-EB8E6DFB9F61}"/>
              </a:ext>
            </a:extLst>
          </p:cNvPr>
          <p:cNvSpPr txBox="1"/>
          <p:nvPr/>
        </p:nvSpPr>
        <p:spPr>
          <a:xfrm>
            <a:off x="1559441" y="397123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A2F57-79AE-D74B-A8DD-E5D0BF684701}"/>
              </a:ext>
            </a:extLst>
          </p:cNvPr>
          <p:cNvSpPr txBox="1"/>
          <p:nvPr/>
        </p:nvSpPr>
        <p:spPr>
          <a:xfrm>
            <a:off x="9515556" y="406727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2F32A-1810-B74A-83E1-43D16C5D0EA5}"/>
              </a:ext>
            </a:extLst>
          </p:cNvPr>
          <p:cNvSpPr txBox="1"/>
          <p:nvPr/>
        </p:nvSpPr>
        <p:spPr>
          <a:xfrm>
            <a:off x="5436781" y="278704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Masking</a:t>
            </a:r>
          </a:p>
        </p:txBody>
      </p:sp>
    </p:spTree>
    <p:extLst>
      <p:ext uri="{BB962C8B-B14F-4D97-AF65-F5344CB8AC3E}">
        <p14:creationId xmlns:p14="http://schemas.microsoft.com/office/powerpoint/2010/main" val="2663875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85F3BA-A64A-024F-B488-BDD0DFF1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30D49-6AD1-E840-9E7C-CDB79F2C8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585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A7B3-1D52-FA4F-9620-6648571D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Set/Logical operations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7C0AD8-494C-CE44-8C0E-395A6362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46" y="701651"/>
            <a:ext cx="4268568" cy="53887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F4E853-1639-6942-A55C-26BCC0FB52BA}"/>
              </a:ext>
            </a:extLst>
          </p:cNvPr>
          <p:cNvSpPr txBox="1"/>
          <p:nvPr/>
        </p:nvSpPr>
        <p:spPr>
          <a:xfrm>
            <a:off x="5436781" y="6556744"/>
            <a:ext cx="369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Gonzalez, fig. 2.35, 2.37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AF7C5-89A0-1941-849A-74F3F4C02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86" y="1690688"/>
            <a:ext cx="5831185" cy="3160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4D91A2-2ABB-FE4A-A8BB-EFFA37A4C8FA}"/>
              </a:ext>
            </a:extLst>
          </p:cNvPr>
          <p:cNvSpPr txBox="1"/>
          <p:nvPr/>
        </p:nvSpPr>
        <p:spPr>
          <a:xfrm>
            <a:off x="503274" y="5344633"/>
            <a:ext cx="58053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Use set: use the coordinates of individual regions of foreground pixels in a single image as sets</a:t>
            </a:r>
          </a:p>
          <a:p>
            <a:r>
              <a:rPr lang="en-US" dirty="0">
                <a:solidFill>
                  <a:srgbClr val="0070C0"/>
                </a:solidFill>
              </a:rPr>
              <a:t>Use logic: work with images of same size, and operate between corresponding pixels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041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44B8-8853-E24F-B19F-0ADAF042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7587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770CF3-0252-E541-B290-79E23EE9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Homeworks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D77CE-BA08-D543-9E23-5E9283FE4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Run the code!</a:t>
            </a:r>
          </a:p>
        </p:txBody>
      </p:sp>
    </p:spTree>
    <p:extLst>
      <p:ext uri="{BB962C8B-B14F-4D97-AF65-F5344CB8AC3E}">
        <p14:creationId xmlns:p14="http://schemas.microsoft.com/office/powerpoint/2010/main" val="327673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6501</TotalTime>
  <Words>1726</Words>
  <Application>Microsoft Macintosh PowerPoint</Application>
  <PresentationFormat>Widescreen</PresentationFormat>
  <Paragraphs>256</Paragraphs>
  <Slides>49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Times New Roman</vt:lpstr>
      <vt:lpstr>Office Theme</vt:lpstr>
      <vt:lpstr>Image Processing INT3404 20</vt:lpstr>
      <vt:lpstr>Schedule</vt:lpstr>
      <vt:lpstr>Recall week 1</vt:lpstr>
      <vt:lpstr>Week 2: Digital image fundamentals </vt:lpstr>
      <vt:lpstr>Human visual perception</vt:lpstr>
      <vt:lpstr>The human visual system</vt:lpstr>
      <vt:lpstr>How visual system works</vt:lpstr>
      <vt:lpstr>Electromagnetic spectrum &amp; visible spectrum</vt:lpstr>
      <vt:lpstr>Grayscale: black – gray – white </vt:lpstr>
      <vt:lpstr>Brightness adaptation and discrimination</vt:lpstr>
      <vt:lpstr>Mach band effect</vt:lpstr>
      <vt:lpstr>Simultaneous contrast</vt:lpstr>
      <vt:lpstr>Some optical illusions</vt:lpstr>
      <vt:lpstr>Digital image</vt:lpstr>
      <vt:lpstr>Definition of “digital image”</vt:lpstr>
      <vt:lpstr>Image acquisition: generate digital images from sensed data</vt:lpstr>
      <vt:lpstr>Image sampling and quantization</vt:lpstr>
      <vt:lpstr>Examples of Digital images</vt:lpstr>
      <vt:lpstr>Digital image example (1/4)</vt:lpstr>
      <vt:lpstr>Digital image example (2/4)</vt:lpstr>
      <vt:lpstr>Digital image example (3/4)</vt:lpstr>
      <vt:lpstr>Digital image example (4/4)</vt:lpstr>
      <vt:lpstr>Image representation</vt:lpstr>
      <vt:lpstr>Representing digital images</vt:lpstr>
      <vt:lpstr>Representing images - plotting</vt:lpstr>
      <vt:lpstr>Image coordinate</vt:lpstr>
      <vt:lpstr>Image digitization</vt:lpstr>
      <vt:lpstr>Quantization levels</vt:lpstr>
      <vt:lpstr>Effects of varying number of intensity levels</vt:lpstr>
      <vt:lpstr>Spatial resolution</vt:lpstr>
      <vt:lpstr>Point operations</vt:lpstr>
      <vt:lpstr>Power-law (Gamma) transformations</vt:lpstr>
      <vt:lpstr>Gamma transformation</vt:lpstr>
      <vt:lpstr>Gamma transformation</vt:lpstr>
      <vt:lpstr>Thresholding</vt:lpstr>
      <vt:lpstr>Piecewise linear transformation Contrast stretching</vt:lpstr>
      <vt:lpstr>Image negatives</vt:lpstr>
      <vt:lpstr>Arithmetic operations</vt:lpstr>
      <vt:lpstr>Arithmetic operations</vt:lpstr>
      <vt:lpstr>Image subtraction</vt:lpstr>
      <vt:lpstr>Video background subtraction</vt:lpstr>
      <vt:lpstr>Image Averaging</vt:lpstr>
      <vt:lpstr>High-dynamic range imaging</vt:lpstr>
      <vt:lpstr>Shading correction (image division)</vt:lpstr>
      <vt:lpstr>ROI masking (image multiplication)</vt:lpstr>
      <vt:lpstr>Set operations</vt:lpstr>
      <vt:lpstr>Set/Logical operations</vt:lpstr>
      <vt:lpstr>PowerPoint Presentation</vt:lpstr>
      <vt:lpstr>Homeworks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Xử lý ảnh INT3404 1</dc:title>
  <dc:creator>Microsoft Office User</dc:creator>
  <cp:lastModifiedBy>NGUYEN DIEP</cp:lastModifiedBy>
  <cp:revision>45</cp:revision>
  <cp:lastPrinted>2020-09-10T02:21:01Z</cp:lastPrinted>
  <dcterms:created xsi:type="dcterms:W3CDTF">2020-03-08T08:58:18Z</dcterms:created>
  <dcterms:modified xsi:type="dcterms:W3CDTF">2021-09-17T05:40:20Z</dcterms:modified>
</cp:coreProperties>
</file>