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1"/>
  </p:notesMasterIdLst>
  <p:handoutMasterIdLst>
    <p:handoutMasterId r:id="rId42"/>
  </p:handoutMasterIdLst>
  <p:sldIdLst>
    <p:sldId id="256" r:id="rId2"/>
    <p:sldId id="405" r:id="rId3"/>
    <p:sldId id="435" r:id="rId4"/>
    <p:sldId id="437" r:id="rId5"/>
    <p:sldId id="451" r:id="rId6"/>
    <p:sldId id="452" r:id="rId7"/>
    <p:sldId id="453" r:id="rId8"/>
    <p:sldId id="454" r:id="rId9"/>
    <p:sldId id="450" r:id="rId10"/>
    <p:sldId id="436" r:id="rId11"/>
    <p:sldId id="455" r:id="rId12"/>
    <p:sldId id="440" r:id="rId13"/>
    <p:sldId id="441" r:id="rId14"/>
    <p:sldId id="442" r:id="rId15"/>
    <p:sldId id="443" r:id="rId16"/>
    <p:sldId id="444" r:id="rId17"/>
    <p:sldId id="445" r:id="rId18"/>
    <p:sldId id="447" r:id="rId19"/>
    <p:sldId id="449" r:id="rId20"/>
    <p:sldId id="419" r:id="rId21"/>
    <p:sldId id="420" r:id="rId22"/>
    <p:sldId id="421" r:id="rId23"/>
    <p:sldId id="422" r:id="rId24"/>
    <p:sldId id="423" r:id="rId25"/>
    <p:sldId id="400" r:id="rId26"/>
    <p:sldId id="427" r:id="rId27"/>
    <p:sldId id="428" r:id="rId28"/>
    <p:sldId id="429" r:id="rId29"/>
    <p:sldId id="431" r:id="rId30"/>
    <p:sldId id="432" r:id="rId31"/>
    <p:sldId id="433" r:id="rId32"/>
    <p:sldId id="434" r:id="rId33"/>
    <p:sldId id="448" r:id="rId34"/>
    <p:sldId id="257" r:id="rId35"/>
    <p:sldId id="438" r:id="rId36"/>
    <p:sldId id="402" r:id="rId37"/>
    <p:sldId id="403" r:id="rId38"/>
    <p:sldId id="404" r:id="rId39"/>
    <p:sldId id="425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59"/>
    <p:restoredTop sz="94702"/>
  </p:normalViewPr>
  <p:slideViewPr>
    <p:cSldViewPr snapToGrid="0" snapToObjects="1">
      <p:cViewPr>
        <p:scale>
          <a:sx n="156" d="100"/>
          <a:sy n="156" d="100"/>
        </p:scale>
        <p:origin x="3688" y="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94B42A-133C-A342-AEE3-069015EDB2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98BC89-D80B-5E42-A649-7DD45DCA69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0AB70-C47F-334B-B215-4328CB4980CB}" type="datetimeFigureOut">
              <a:rPr lang="en-US" smtClean="0"/>
              <a:t>9/10/21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BEF5F6-0501-F544-BDA7-2A24DE30C1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62741-C1BA-EC47-9ABE-B332ADA01C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AC2D86-ABB1-354E-998D-F75D3B9C71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876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BEFD6A-359D-0A44-85BE-AB1025182E98}" type="datetimeFigureOut">
              <a:rPr lang="en-US" smtClean="0"/>
              <a:t>9/10/21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5C7AD-45A0-CE4A-A5EF-5B59D7E64D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0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PreetiGupta6/image-processing1-introduction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14h00’  14h50’ 10’</a:t>
            </a:r>
          </a:p>
          <a:p>
            <a:r>
              <a:rPr lang="en-US" dirty="0"/>
              <a:t>9 15h00’  15h50’  10’</a:t>
            </a:r>
          </a:p>
          <a:p>
            <a:r>
              <a:rPr lang="en-US" dirty="0"/>
              <a:t>10 16h00 -&gt; 16h50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45C7AD-45A0-CE4A-A5EF-5B59D7E64D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68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Ref: </a:t>
            </a:r>
            <a:r>
              <a:rPr lang="en-US" dirty="0">
                <a:hlinkClick r:id="rId3"/>
              </a:rPr>
              <a:t>https://www.slideshare.net/PreetiGupta6/image-processing1-introduction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5C7AD-45A0-CE4A-A5EF-5B59D7E64D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14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45C7AD-45A0-CE4A-A5EF-5B59D7E64D3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86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38179-B0DB-304E-9E0A-9E861AFB7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noFill/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C15EA-CC5E-E14A-847A-8C39B9ADC6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CCC2C-1D29-9B45-91D6-F35E1A2C3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513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71283-3166-374E-98F8-F70DAF37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BB82E-4A0D-DD4E-8832-A06A48688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83877-DF11-8041-BAA9-F71F6B7FD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EAF44D-F191-9A4A-A168-70890D2F544A}"/>
              </a:ext>
            </a:extLst>
          </p:cNvPr>
          <p:cNvSpPr/>
          <p:nvPr userDrawn="1"/>
        </p:nvSpPr>
        <p:spPr>
          <a:xfrm>
            <a:off x="838200" y="1606890"/>
            <a:ext cx="10515600" cy="786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95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249C-31BD-2241-BC2C-331CE7563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noFill/>
        </p:spPr>
        <p:txBody>
          <a:bodyPr anchor="b"/>
          <a:lstStyle>
            <a:lvl1pPr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6C13B-AEE3-564B-B466-4825D3289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6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A0E2E-58A0-A940-A4FF-128AD000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63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BA98-A67B-D542-85BE-D88145861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A19D8-E1B5-E540-BE21-BB5232B46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78B908-9DEF-5141-B621-F08C857BC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61A6E-FC06-B84D-A736-E985CF671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04A630-0BEF-6D49-BD1C-077FA1D55AC0}"/>
              </a:ext>
            </a:extLst>
          </p:cNvPr>
          <p:cNvSpPr/>
          <p:nvPr userDrawn="1"/>
        </p:nvSpPr>
        <p:spPr>
          <a:xfrm>
            <a:off x="838200" y="1606890"/>
            <a:ext cx="10515600" cy="786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860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F8EFC-434A-BD4A-A839-964F94B55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8E08E-5EE9-7D47-83EE-03604B745E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1B4CE4-7A9F-6B4B-9E60-A5DD5D286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EDAB5D-BBB5-7F49-A528-45092DFE5A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AEA90F-A224-AE46-A9F4-71F14CC826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34C2FC-3AFB-9748-ACEE-EA363DD3F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7DEB09-5B39-3540-8813-0A9E70B2E271}"/>
              </a:ext>
            </a:extLst>
          </p:cNvPr>
          <p:cNvSpPr/>
          <p:nvPr userDrawn="1"/>
        </p:nvSpPr>
        <p:spPr>
          <a:xfrm>
            <a:off x="838200" y="1606890"/>
            <a:ext cx="10515600" cy="786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3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31B09-3310-6745-BAA8-555ADA3CB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5A8052-5FC2-A24F-98B4-84F4A7BE9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A230C2-E4B8-A14E-869D-BAE57D3F2023}"/>
              </a:ext>
            </a:extLst>
          </p:cNvPr>
          <p:cNvSpPr/>
          <p:nvPr userDrawn="1"/>
        </p:nvSpPr>
        <p:spPr>
          <a:xfrm>
            <a:off x="838200" y="1606890"/>
            <a:ext cx="10515600" cy="786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020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B38CF-A1D7-0B40-9730-7671C4DAA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639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E1FAA-941A-8045-A1E4-5B17487F9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F879F-397A-FF4C-B0D7-F65B1B585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09B96-2CB4-664E-9009-BF6B573B5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C95AA-E558-944A-BAF1-5386E0C8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D9EA34-3C8F-7A41-953F-30A2D0356514}"/>
              </a:ext>
            </a:extLst>
          </p:cNvPr>
          <p:cNvSpPr/>
          <p:nvPr userDrawn="1"/>
        </p:nvSpPr>
        <p:spPr>
          <a:xfrm>
            <a:off x="845884" y="1944988"/>
            <a:ext cx="3933825" cy="9128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720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9D2F3-BB2F-1746-8818-4219BD004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18E5DE-2743-8642-9F39-09CD554741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D6B29-4B70-CD40-84DF-FBEB9A5D6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521E04-7E14-064A-B644-2DAAF78B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469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791AD-DDBC-DB40-A731-B700F03E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7C0FD-A76E-6148-A442-F8FAFBAB57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96683-859F-1749-ABA6-50366949A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0EF82E-50C5-9941-ABD0-14487E022450}"/>
              </a:ext>
            </a:extLst>
          </p:cNvPr>
          <p:cNvSpPr/>
          <p:nvPr userDrawn="1"/>
        </p:nvSpPr>
        <p:spPr>
          <a:xfrm>
            <a:off x="838200" y="1606890"/>
            <a:ext cx="10515600" cy="786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09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1D8A-075F-7C49-A449-F10BA55BF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1C7CDE-E90A-B24A-9255-5A4B9CC3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6C77ED-89EF-954A-8957-898B3F2FBB50}"/>
              </a:ext>
            </a:extLst>
          </p:cNvPr>
          <p:cNvSpPr/>
          <p:nvPr userDrawn="1"/>
        </p:nvSpPr>
        <p:spPr>
          <a:xfrm>
            <a:off x="838200" y="1606890"/>
            <a:ext cx="10515600" cy="786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649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57FBE-40DE-364E-A58F-7E4394CE75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298119-94EA-C24D-BD2F-A0960DCE7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68BEB-47DE-2049-9917-EDE3A54C7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295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7395A-D7FF-A141-BFD7-ED3C1A05D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63862-7219-9940-B6B6-15EE2E2A3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06E27-14F9-F74A-B6F3-C8BA3E13D8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8E184-9DB2-6A46-85E4-3F9EDD1BBC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8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2" r:id="rId11"/>
    <p:sldLayoutId id="2147483671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gocdiep@vnu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tif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repository.vnu.edu.vn/handle/VNU_123/58180" TargetMode="External"/><Relationship Id="rId2" Type="http://schemas.openxmlformats.org/officeDocument/2006/relationships/hyperlink" Target="https://web.stanford.edu/class/ee368/index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pyimagesearch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6D235-B925-8D41-999C-F236334ACD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br>
              <a:rPr lang="en-US" dirty="0"/>
            </a:br>
            <a:r>
              <a:rPr lang="en-US" dirty="0"/>
              <a:t>INT3404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59A23F-3D8E-AC4C-89F9-7C614FCB43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: TS. </a:t>
            </a:r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Ngọc</a:t>
            </a:r>
            <a:r>
              <a:rPr lang="en-US" dirty="0"/>
              <a:t> </a:t>
            </a:r>
            <a:r>
              <a:rPr lang="en-US" dirty="0" err="1"/>
              <a:t>Diệp</a:t>
            </a:r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3"/>
              </a:rPr>
              <a:t>ngocdiep@vnu.edu.vn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918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D27C90-A520-164A-B528-B1857EF50B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 err="1"/>
              <a:t>Tuần</a:t>
            </a:r>
            <a:r>
              <a:rPr lang="en-US" sz="6600" b="1" dirty="0"/>
              <a:t> 1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5542368-365C-8240-BA9F-CFE3DBC582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 err="1"/>
              <a:t>Giới</a:t>
            </a:r>
            <a:r>
              <a:rPr lang="en-US" sz="4400" dirty="0"/>
              <a:t> </a:t>
            </a:r>
            <a:r>
              <a:rPr lang="en-US" sz="4400" dirty="0" err="1"/>
              <a:t>thiệu</a:t>
            </a:r>
            <a:r>
              <a:rPr lang="en-US" sz="4400" dirty="0"/>
              <a:t> </a:t>
            </a:r>
            <a:r>
              <a:rPr lang="en-US" sz="4400" dirty="0" err="1"/>
              <a:t>môn</a:t>
            </a:r>
            <a:r>
              <a:rPr lang="en-US" sz="4400" dirty="0"/>
              <a:t> </a:t>
            </a:r>
            <a:r>
              <a:rPr lang="en-US" sz="4400" dirty="0" err="1"/>
              <a:t>học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485802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4F376-6EE0-684F-A2D7-9BBED04A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FE13E-43B4-F645-95B9-5C433CD7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D30569-4C03-1843-9449-C92FB90D4729}"/>
              </a:ext>
            </a:extLst>
          </p:cNvPr>
          <p:cNvSpPr/>
          <p:nvPr/>
        </p:nvSpPr>
        <p:spPr>
          <a:xfrm>
            <a:off x="1163782" y="2125683"/>
            <a:ext cx="4328556" cy="10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(1)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672F0C-1112-A34A-8D1A-742E6488552D}"/>
              </a:ext>
            </a:extLst>
          </p:cNvPr>
          <p:cNvSpPr/>
          <p:nvPr/>
        </p:nvSpPr>
        <p:spPr>
          <a:xfrm>
            <a:off x="1163782" y="3576018"/>
            <a:ext cx="4328556" cy="10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(2)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4AE516-DB76-A849-A5C2-41F104CC4B52}"/>
              </a:ext>
            </a:extLst>
          </p:cNvPr>
          <p:cNvSpPr/>
          <p:nvPr/>
        </p:nvSpPr>
        <p:spPr>
          <a:xfrm>
            <a:off x="6446322" y="3576018"/>
            <a:ext cx="4328556" cy="10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(4)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  <a:p>
            <a:pPr algn="ctr"/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khoa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2A68CF-5B7F-5844-84FD-5DAD76A7688C}"/>
              </a:ext>
            </a:extLst>
          </p:cNvPr>
          <p:cNvSpPr/>
          <p:nvPr/>
        </p:nvSpPr>
        <p:spPr>
          <a:xfrm>
            <a:off x="6446322" y="2125683"/>
            <a:ext cx="4328556" cy="10153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(3)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lai</a:t>
            </a:r>
            <a:endParaRPr lang="en-US" dirty="0"/>
          </a:p>
          <a:p>
            <a:pPr algn="ctr"/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70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6166-A25F-C740-B88A-AC570A81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Q1: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B99F-37EE-0040-9AF4-FE0CB7C3D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b="1" dirty="0" err="1">
                <a:solidFill>
                  <a:srgbClr val="0070C0"/>
                </a:solidFill>
              </a:rPr>
              <a:t>kĩ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thuật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thu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nhận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dirty="0" err="1">
                <a:solidFill>
                  <a:srgbClr val="0070C0"/>
                </a:solidFill>
              </a:rPr>
              <a:t>biểu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diễn</a:t>
            </a:r>
            <a:r>
              <a:rPr lang="en-US" b="1" dirty="0">
                <a:solidFill>
                  <a:srgbClr val="0070C0"/>
                </a:solidFill>
              </a:rPr>
              <a:t>, </a:t>
            </a:r>
            <a:r>
              <a:rPr lang="en-US" b="1" dirty="0" err="1">
                <a:solidFill>
                  <a:srgbClr val="0070C0"/>
                </a:solidFill>
              </a:rPr>
              <a:t>lưu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trữ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và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thao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tác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ra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.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CBA11-E5C0-F24C-BA5B-B525CD83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57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5D060-AF87-004A-B225-BE654A1D3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Thu nhận ảnh?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628A8-DBFB-D742-9BDF-F143869D4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762"/>
            <a:ext cx="10515600" cy="4351338"/>
          </a:xfrm>
        </p:spPr>
        <p:txBody>
          <a:bodyPr/>
          <a:lstStyle/>
          <a:p>
            <a:r>
              <a:rPr lang="en-VN" dirty="0"/>
              <a:t>Ngoài camera thì có những cách nào?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EE124-0724-C14D-8D5E-0B4C51F25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A1B97-18E5-3A43-BE15-8CE8C74D1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Biểu diễn ảnh?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4335C-A1AA-D74B-B81A-A57E2039C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Ảnh đơn sắc</a:t>
            </a:r>
          </a:p>
          <a:p>
            <a:r>
              <a:rPr lang="en-VN" dirty="0"/>
              <a:t>Ảnh đa sắc</a:t>
            </a:r>
          </a:p>
          <a:p>
            <a:r>
              <a:rPr lang="en-VN" dirty="0"/>
              <a:t>Thêm thông tin thời gian</a:t>
            </a:r>
          </a:p>
          <a:p>
            <a:r>
              <a:rPr lang="en-VN" dirty="0"/>
              <a:t>Kích thước</a:t>
            </a:r>
          </a:p>
          <a:p>
            <a:r>
              <a:rPr lang="en-VN" dirty="0"/>
              <a:t>Độ phân giải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1139-3EDB-DF41-A431-5ACB9A0B1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75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4447D-6CC2-A743-91D7-A9D2C192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Lưu trữ ảnh?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EDECF-229D-AB41-9C1D-ABD2589E7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Ma trận</a:t>
            </a:r>
          </a:p>
          <a:p>
            <a:r>
              <a:rPr lang="en-VN" dirty="0"/>
              <a:t>File</a:t>
            </a:r>
          </a:p>
          <a:p>
            <a:r>
              <a:rPr lang="en-VN" dirty="0"/>
              <a:t>Cách lưu</a:t>
            </a:r>
          </a:p>
          <a:p>
            <a:r>
              <a:rPr lang="en-VN" dirty="0"/>
              <a:t>Nén</a:t>
            </a:r>
          </a:p>
          <a:p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5580E-3E0C-8C4D-B159-35BFC355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18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82E8D-E609-AA46-B0F0-63DA7F3DA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Thao tác trên ảnh?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850D2-2E1B-2A4A-86B8-7563CA859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dirty="0"/>
              <a:t>Sửa ảnh</a:t>
            </a:r>
          </a:p>
          <a:p>
            <a:r>
              <a:rPr lang="en-VN" dirty="0"/>
              <a:t>Tìm thông tin/đối tượng</a:t>
            </a:r>
          </a:p>
          <a:p>
            <a:r>
              <a:rPr lang="en-US" dirty="0"/>
              <a:t>P</a:t>
            </a:r>
            <a:r>
              <a:rPr lang="en-VN" dirty="0"/>
              <a:t>hân loại</a:t>
            </a:r>
          </a:p>
          <a:p>
            <a:r>
              <a:rPr lang="en-VN" dirty="0"/>
              <a:t>....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8DEC8-DBA5-4D41-8D84-6285E8958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8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F6166-A25F-C740-B88A-AC570A81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Q1: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B99F-37EE-0040-9AF4-FE0CB7C3D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:</a:t>
            </a:r>
          </a:p>
          <a:p>
            <a:pPr lvl="1"/>
            <a:r>
              <a:rPr lang="en-US" dirty="0" err="1">
                <a:solidFill>
                  <a:srgbClr val="0070C0"/>
                </a:solidFill>
              </a:rPr>
              <a:t>Mức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thấp</a:t>
            </a:r>
            <a:r>
              <a:rPr lang="en-US" dirty="0">
                <a:solidFill>
                  <a:srgbClr val="0070C0"/>
                </a:solidFill>
              </a:rPr>
              <a:t>: </a:t>
            </a:r>
          </a:p>
          <a:p>
            <a:pPr lvl="2"/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::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 err="1">
                <a:sym typeface="Wingdings" pitchFamily="2" charset="2"/>
              </a:rPr>
              <a:t>Đầu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ra</a:t>
            </a:r>
            <a:r>
              <a:rPr lang="en-US" dirty="0">
                <a:sym typeface="Wingdings" pitchFamily="2" charset="2"/>
              </a:rPr>
              <a:t>:: </a:t>
            </a:r>
            <a:r>
              <a:rPr lang="en-US" dirty="0" err="1">
                <a:sym typeface="Wingdings" pitchFamily="2" charset="2"/>
              </a:rPr>
              <a:t>ảnh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hai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chiều</a:t>
            </a:r>
            <a:endParaRPr lang="en-US" dirty="0">
              <a:sym typeface="Wingdings" pitchFamily="2" charset="2"/>
            </a:endParaRPr>
          </a:p>
          <a:p>
            <a:pPr lvl="2"/>
            <a:r>
              <a:rPr lang="en-US" dirty="0" err="1">
                <a:sym typeface="Wingdings" pitchFamily="2" charset="2"/>
              </a:rPr>
              <a:t>Mục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đích</a:t>
            </a:r>
            <a:r>
              <a:rPr lang="en-US" dirty="0">
                <a:sym typeface="Wingdings" pitchFamily="2" charset="2"/>
              </a:rPr>
              <a:t>: </a:t>
            </a:r>
            <a:r>
              <a:rPr lang="en-US" dirty="0" err="1">
                <a:sym typeface="Wingdings" pitchFamily="2" charset="2"/>
              </a:rPr>
              <a:t>Thay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đổi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các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giá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trị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điểm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ảnh</a:t>
            </a:r>
            <a:r>
              <a:rPr lang="en-US" dirty="0">
                <a:sym typeface="Wingdings" pitchFamily="2" charset="2"/>
              </a:rPr>
              <a:t> </a:t>
            </a:r>
          </a:p>
          <a:p>
            <a:pPr lvl="1"/>
            <a:r>
              <a:rPr lang="en-US" dirty="0" err="1">
                <a:solidFill>
                  <a:srgbClr val="0070C0"/>
                </a:solidFill>
                <a:sym typeface="Wingdings" pitchFamily="2" charset="2"/>
              </a:rPr>
              <a:t>Mức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 </a:t>
            </a:r>
            <a:r>
              <a:rPr lang="en-US" dirty="0" err="1">
                <a:solidFill>
                  <a:srgbClr val="0070C0"/>
                </a:solidFill>
                <a:sym typeface="Wingdings" pitchFamily="2" charset="2"/>
              </a:rPr>
              <a:t>trung</a:t>
            </a:r>
            <a:r>
              <a:rPr lang="en-US" dirty="0">
                <a:solidFill>
                  <a:srgbClr val="0070C0"/>
                </a:solidFill>
                <a:sym typeface="Wingdings" pitchFamily="2" charset="2"/>
              </a:rPr>
              <a:t>:</a:t>
            </a:r>
          </a:p>
          <a:p>
            <a:pPr lvl="2"/>
            <a:r>
              <a:rPr lang="en-US" dirty="0" err="1">
                <a:sym typeface="Wingdings" pitchFamily="2" charset="2"/>
              </a:rPr>
              <a:t>ảnh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hai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chiều</a:t>
            </a:r>
            <a:r>
              <a:rPr lang="en-US" dirty="0">
                <a:sym typeface="Wingdings" pitchFamily="2" charset="2"/>
              </a:rPr>
              <a:t>  </a:t>
            </a:r>
            <a:r>
              <a:rPr lang="en-US" dirty="0" err="1">
                <a:sym typeface="Wingdings" pitchFamily="2" charset="2"/>
              </a:rPr>
              <a:t>các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thông</a:t>
            </a:r>
            <a:r>
              <a:rPr lang="en-US" dirty="0">
                <a:sym typeface="Wingdings" pitchFamily="2" charset="2"/>
              </a:rPr>
              <a:t> tin </a:t>
            </a:r>
            <a:r>
              <a:rPr lang="en-US" dirty="0" err="1">
                <a:sym typeface="Wingdings" pitchFamily="2" charset="2"/>
              </a:rPr>
              <a:t>đặc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trưng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 err="1">
                <a:sym typeface="Wingdings" pitchFamily="2" charset="2"/>
              </a:rPr>
              <a:t>phân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vùng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đối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tượng</a:t>
            </a:r>
            <a:r>
              <a:rPr lang="en-US" dirty="0">
                <a:sym typeface="Wingdings" pitchFamily="2" charset="2"/>
              </a:rPr>
              <a:t> (ROI)</a:t>
            </a:r>
          </a:p>
          <a:p>
            <a:pPr lvl="2"/>
            <a:r>
              <a:rPr lang="en-US" dirty="0" err="1">
                <a:sym typeface="Wingdings" pitchFamily="2" charset="2"/>
              </a:rPr>
              <a:t>Mục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đích</a:t>
            </a:r>
            <a:r>
              <a:rPr lang="en-US" dirty="0">
                <a:sym typeface="Wingdings" pitchFamily="2" charset="2"/>
              </a:rPr>
              <a:t>: </a:t>
            </a:r>
            <a:r>
              <a:rPr lang="en-US" dirty="0" err="1">
                <a:sym typeface="Wingdings" pitchFamily="2" charset="2"/>
              </a:rPr>
              <a:t>trích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rút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và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chuẩn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hoá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thông</a:t>
            </a:r>
            <a:r>
              <a:rPr lang="en-US" dirty="0">
                <a:sym typeface="Wingdings" pitchFamily="2" charset="2"/>
              </a:rPr>
              <a:t> tin </a:t>
            </a:r>
            <a:r>
              <a:rPr lang="en-US" dirty="0" err="1">
                <a:sym typeface="Wingdings" pitchFamily="2" charset="2"/>
              </a:rPr>
              <a:t>trong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ảnh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tuỳ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ứng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dụng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cụ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thể</a:t>
            </a:r>
            <a:endParaRPr lang="en-US" dirty="0">
              <a:sym typeface="Wingdings" pitchFamily="2" charset="2"/>
            </a:endParaRPr>
          </a:p>
          <a:p>
            <a:pPr lvl="1"/>
            <a:r>
              <a:rPr lang="en-US" dirty="0" err="1">
                <a:sym typeface="Wingdings" pitchFamily="2" charset="2"/>
              </a:rPr>
              <a:t>Mức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cao</a:t>
            </a:r>
            <a:r>
              <a:rPr lang="en-US" dirty="0">
                <a:sym typeface="Wingdings" pitchFamily="2" charset="2"/>
              </a:rPr>
              <a:t>: </a:t>
            </a:r>
          </a:p>
          <a:p>
            <a:pPr lvl="2"/>
            <a:r>
              <a:rPr lang="en-US" dirty="0" err="1">
                <a:sym typeface="Wingdings" pitchFamily="2" charset="2"/>
              </a:rPr>
              <a:t>Ảnh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hai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chiều</a:t>
            </a:r>
            <a:r>
              <a:rPr lang="en-US" dirty="0">
                <a:sym typeface="Wingdings" pitchFamily="2" charset="2"/>
              </a:rPr>
              <a:t>  </a:t>
            </a:r>
            <a:r>
              <a:rPr lang="en-US" dirty="0" err="1">
                <a:sym typeface="Wingdings" pitchFamily="2" charset="2"/>
              </a:rPr>
              <a:t>đánh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giá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mô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tả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tuỳ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vào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ứng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dụng</a:t>
            </a:r>
            <a:endParaRPr lang="en-US" dirty="0">
              <a:sym typeface="Wingdings" pitchFamily="2" charset="2"/>
            </a:endParaRPr>
          </a:p>
          <a:p>
            <a:pPr lvl="2"/>
            <a:r>
              <a:rPr lang="en-US" dirty="0" err="1">
                <a:sym typeface="Wingdings" pitchFamily="2" charset="2"/>
              </a:rPr>
              <a:t>Mục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đích</a:t>
            </a:r>
            <a:r>
              <a:rPr lang="en-US" dirty="0">
                <a:sym typeface="Wingdings" pitchFamily="2" charset="2"/>
              </a:rPr>
              <a:t>: </a:t>
            </a:r>
            <a:r>
              <a:rPr lang="en-US" dirty="0" err="1">
                <a:sym typeface="Wingdings" pitchFamily="2" charset="2"/>
              </a:rPr>
              <a:t>nhận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thức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các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đối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tượng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 err="1">
                <a:sym typeface="Wingdings" pitchFamily="2" charset="2"/>
              </a:rPr>
              <a:t>các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đặc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trưng</a:t>
            </a:r>
            <a:r>
              <a:rPr lang="en-US" dirty="0">
                <a:sym typeface="Wingdings" pitchFamily="2" charset="2"/>
              </a:rPr>
              <a:t>, </a:t>
            </a:r>
            <a:r>
              <a:rPr lang="en-US" dirty="0" err="1">
                <a:sym typeface="Wingdings" pitchFamily="2" charset="2"/>
              </a:rPr>
              <a:t>mô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tả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lại</a:t>
            </a:r>
            <a:r>
              <a:rPr lang="en-US" dirty="0">
                <a:sym typeface="Wingdings" pitchFamily="2" charset="2"/>
              </a:rPr>
              <a:t> tri </a:t>
            </a:r>
            <a:r>
              <a:rPr lang="en-US" dirty="0" err="1">
                <a:sym typeface="Wingdings" pitchFamily="2" charset="2"/>
              </a:rPr>
              <a:t>thức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trong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 err="1">
                <a:sym typeface="Wingdings" pitchFamily="2" charset="2"/>
              </a:rPr>
              <a:t>ảnh</a:t>
            </a:r>
            <a:endParaRPr lang="en-US" dirty="0">
              <a:sym typeface="Wingdings" pitchFamily="2" charset="2"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DCBA11-E5C0-F24C-BA5B-B525CD83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9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CD05DF-817A-FA40-9D91-CB8661E39A00}"/>
              </a:ext>
            </a:extLst>
          </p:cNvPr>
          <p:cNvSpPr/>
          <p:nvPr/>
        </p:nvSpPr>
        <p:spPr>
          <a:xfrm>
            <a:off x="1165197" y="2272876"/>
            <a:ext cx="9997848" cy="217638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20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FCC8-4380-5541-918D-EE4B13F98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Q2: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43525-AC13-2D47-B932-CDD1FD195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u="sng" dirty="0">
                <a:solidFill>
                  <a:srgbClr val="0070C0"/>
                </a:solidFill>
              </a:rPr>
              <a:t>       </a:t>
            </a:r>
            <a:r>
              <a:rPr lang="en-US" sz="3200" u="sng" dirty="0" err="1">
                <a:solidFill>
                  <a:srgbClr val="0070C0"/>
                </a:solidFill>
              </a:rPr>
              <a:t>Mục</a:t>
            </a:r>
            <a:r>
              <a:rPr lang="en-US" sz="3200" u="sng" dirty="0">
                <a:solidFill>
                  <a:srgbClr val="0070C0"/>
                </a:solidFill>
              </a:rPr>
              <a:t> </a:t>
            </a:r>
            <a:r>
              <a:rPr lang="en-US" sz="3200" u="sng" dirty="0" err="1">
                <a:solidFill>
                  <a:srgbClr val="0070C0"/>
                </a:solidFill>
              </a:rPr>
              <a:t>tiêu</a:t>
            </a:r>
            <a:r>
              <a:rPr lang="en-US" sz="3200" u="sng" dirty="0">
                <a:solidFill>
                  <a:srgbClr val="0070C0"/>
                </a:solidFill>
              </a:rPr>
              <a:t> </a:t>
            </a:r>
            <a:r>
              <a:rPr lang="en-US" sz="3200" u="sng" dirty="0" err="1">
                <a:solidFill>
                  <a:srgbClr val="0070C0"/>
                </a:solidFill>
              </a:rPr>
              <a:t>của</a:t>
            </a:r>
            <a:r>
              <a:rPr lang="en-US" sz="3200" u="sng" dirty="0">
                <a:solidFill>
                  <a:srgbClr val="0070C0"/>
                </a:solidFill>
              </a:rPr>
              <a:t> </a:t>
            </a:r>
            <a:r>
              <a:rPr lang="en-US" sz="3200" u="sng" dirty="0" err="1">
                <a:solidFill>
                  <a:srgbClr val="0070C0"/>
                </a:solidFill>
              </a:rPr>
              <a:t>môn</a:t>
            </a:r>
            <a:r>
              <a:rPr lang="en-US" sz="3200" u="sng" dirty="0">
                <a:solidFill>
                  <a:srgbClr val="0070C0"/>
                </a:solidFill>
              </a:rPr>
              <a:t> </a:t>
            </a:r>
            <a:r>
              <a:rPr lang="en-US" sz="3200" u="sng" dirty="0" err="1">
                <a:solidFill>
                  <a:srgbClr val="0070C0"/>
                </a:solidFill>
              </a:rPr>
              <a:t>học</a:t>
            </a:r>
            <a:r>
              <a:rPr lang="en-US" sz="3200" u="sng" dirty="0">
                <a:solidFill>
                  <a:srgbClr val="0070C0"/>
                </a:solidFill>
              </a:rPr>
              <a:t>:         </a:t>
            </a:r>
          </a:p>
          <a:p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các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kỹ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thuật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xử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lý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ảnh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 err="1">
                <a:solidFill>
                  <a:srgbClr val="0070C0"/>
                </a:solidFill>
              </a:rPr>
              <a:t>Mức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thấp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và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mức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trung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các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bài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toán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thực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tiễn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có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thể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giải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quyết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  <a:p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OpenCV + Python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FCE04-28C0-9644-93FC-42AC8067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7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D1DBC-72C2-9640-ACDD-C356E220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 dirty="0"/>
              <a:t>⭐️</a:t>
            </a:r>
            <a:r>
              <a:rPr lang="ja-JP" altLang="en-US"/>
              <a:t> </a:t>
            </a:r>
            <a:r>
              <a:rPr lang="vi-VN" altLang="ja-JP" dirty="0"/>
              <a:t>Cài đặt môi trường</a:t>
            </a:r>
            <a:endParaRPr lang="en-V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7D3EB-9EAE-024D-89C2-2FEEF79D3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72CAC4-C306-D646-9F70-06155990C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376" y="2135644"/>
            <a:ext cx="8614199" cy="198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505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3B778-BB76-B447-9156-765A6502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Q3: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lai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2F192-8403-E446-B5C9-B0A1C9CF3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1920: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DIP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chí</a:t>
            </a:r>
            <a:endParaRPr lang="en-US" dirty="0"/>
          </a:p>
          <a:p>
            <a:pPr lvl="1"/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London </a:t>
            </a:r>
            <a:r>
              <a:rPr lang="en-US" dirty="0" err="1"/>
              <a:t>đến</a:t>
            </a:r>
            <a:r>
              <a:rPr lang="en-US" dirty="0"/>
              <a:t> New York</a:t>
            </a:r>
          </a:p>
          <a:p>
            <a:pPr lvl="1"/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hoá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qua cable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ở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kia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1BB14-22D0-9243-B148-88F5DF1DD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3C1E20-FD15-2246-B8E0-AB1EA454F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6456" y="3408708"/>
            <a:ext cx="3474434" cy="27211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F79C8E-6C9D-EA49-BBDF-95D72C1F3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546" y="3688013"/>
            <a:ext cx="2597213" cy="21625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073B73-3C1A-C648-91DB-C16A368BA193}"/>
              </a:ext>
            </a:extLst>
          </p:cNvPr>
          <p:cNvSpPr txBox="1"/>
          <p:nvPr/>
        </p:nvSpPr>
        <p:spPr>
          <a:xfrm>
            <a:off x="8416344" y="6497392"/>
            <a:ext cx="2230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Internet</a:t>
            </a:r>
          </a:p>
        </p:txBody>
      </p:sp>
    </p:spTree>
    <p:extLst>
      <p:ext uri="{BB962C8B-B14F-4D97-AF65-F5344CB8AC3E}">
        <p14:creationId xmlns:p14="http://schemas.microsoft.com/office/powerpoint/2010/main" val="2996836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5E7B5-F100-904B-AEC5-91CD96C18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8CC4-BA6F-6B43-9A5A-D66234984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1920s: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Bartlane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hơn</a:t>
            </a:r>
            <a:endParaRPr lang="en-US" dirty="0"/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kĩ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  <a:p>
            <a:pPr lvl="1"/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tone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(5 -&gt; 15)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D7FF7-B5EE-4645-AB0D-01565B12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3952DA-0A45-8141-8D1D-55FC1028CA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0" t="4691" b="939"/>
          <a:stretch/>
        </p:blipFill>
        <p:spPr>
          <a:xfrm>
            <a:off x="2691684" y="2993695"/>
            <a:ext cx="5344787" cy="3727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39BA4F-46AC-3641-AE28-E6DB25D8A7E9}"/>
              </a:ext>
            </a:extLst>
          </p:cNvPr>
          <p:cNvSpPr txBox="1"/>
          <p:nvPr/>
        </p:nvSpPr>
        <p:spPr>
          <a:xfrm>
            <a:off x="8416344" y="6497392"/>
            <a:ext cx="2230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Internet</a:t>
            </a:r>
          </a:p>
        </p:txBody>
      </p:sp>
    </p:spTree>
    <p:extLst>
      <p:ext uri="{BB962C8B-B14F-4D97-AF65-F5344CB8AC3E}">
        <p14:creationId xmlns:p14="http://schemas.microsoft.com/office/powerpoint/2010/main" val="2797933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52017-3398-1D4E-BA13-4BF838454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40580-9B23-4C45-BACC-359625C17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42161" cy="4351338"/>
          </a:xfrm>
        </p:spPr>
        <p:txBody>
          <a:bodyPr/>
          <a:lstStyle/>
          <a:p>
            <a:r>
              <a:rPr lang="en-US" dirty="0"/>
              <a:t>1960s: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đua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(space race) </a:t>
            </a:r>
            <a:r>
              <a:rPr lang="en-US" dirty="0" err="1"/>
              <a:t>làm</a:t>
            </a:r>
            <a:r>
              <a:rPr lang="en-US" dirty="0"/>
              <a:t> DIP </a:t>
            </a:r>
            <a:r>
              <a:rPr lang="en-US" dirty="0" err="1"/>
              <a:t>bùng</a:t>
            </a:r>
            <a:r>
              <a:rPr lang="en-US" dirty="0"/>
              <a:t> </a:t>
            </a:r>
            <a:r>
              <a:rPr lang="en-US" dirty="0" err="1"/>
              <a:t>nổ</a:t>
            </a:r>
            <a:endParaRPr lang="en-US" dirty="0"/>
          </a:p>
          <a:p>
            <a:pPr lvl="1"/>
            <a:r>
              <a:rPr lang="en-US" dirty="0"/>
              <a:t>1964: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trăng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dò</a:t>
            </a:r>
            <a:r>
              <a:rPr lang="en-US" dirty="0"/>
              <a:t> </a:t>
            </a:r>
            <a:r>
              <a:rPr lang="en-US" i="1" dirty="0"/>
              <a:t>Ranger 7</a:t>
            </a:r>
          </a:p>
          <a:p>
            <a:r>
              <a:rPr lang="en-US" dirty="0"/>
              <a:t>1970s:</a:t>
            </a:r>
          </a:p>
          <a:p>
            <a:pPr lvl="1"/>
            <a:r>
              <a:rPr lang="en-US" dirty="0"/>
              <a:t>DIP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y </a:t>
            </a:r>
            <a:r>
              <a:rPr lang="en-US" dirty="0" err="1"/>
              <a:t>tế</a:t>
            </a:r>
            <a:endParaRPr lang="en-US" dirty="0"/>
          </a:p>
          <a:p>
            <a:pPr lvl="1"/>
            <a:r>
              <a:rPr lang="en-US" dirty="0"/>
              <a:t>1979: Sir Godfrey N. Hounsfield &amp; Prof. Allan M. Cormack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thưởng</a:t>
            </a:r>
            <a:r>
              <a:rPr lang="en-US" dirty="0"/>
              <a:t> Nobel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y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chụp</a:t>
            </a:r>
            <a:r>
              <a:rPr lang="en-US" dirty="0"/>
              <a:t> </a:t>
            </a: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vi </a:t>
            </a:r>
            <a:r>
              <a:rPr lang="en-US" dirty="0" err="1"/>
              <a:t>tính</a:t>
            </a:r>
            <a:r>
              <a:rPr lang="en-US" dirty="0"/>
              <a:t> (Tomography)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15B8FF-F3D7-9F48-A004-08A658CF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AFBD9D-65C8-D748-82B6-C7EA348819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27"/>
          <a:stretch/>
        </p:blipFill>
        <p:spPr>
          <a:xfrm>
            <a:off x="9092760" y="1946790"/>
            <a:ext cx="1989785" cy="24357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1BC951-D923-1E49-AB22-CA10944F0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2977" y="4382575"/>
            <a:ext cx="1909568" cy="23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04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3ED78-BCD9-1145-9910-3B05E0FC2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B1563-3144-C946-AD8D-881D3567F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1980s - nay: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kĩ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hầu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sống</a:t>
            </a:r>
            <a:endParaRPr lang="en-US" dirty="0"/>
          </a:p>
          <a:p>
            <a:pPr lvl="1"/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, </a:t>
            </a:r>
            <a:r>
              <a:rPr lang="en-US" dirty="0" err="1"/>
              <a:t>khôi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  <a:p>
            <a:pPr lvl="1"/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mỹ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en-US" dirty="0"/>
          </a:p>
          <a:p>
            <a:pPr lvl="1"/>
            <a:r>
              <a:rPr lang="en-US" dirty="0"/>
              <a:t>Y </a:t>
            </a:r>
            <a:r>
              <a:rPr lang="en-US" dirty="0" err="1"/>
              <a:t>tế</a:t>
            </a:r>
            <a:endParaRPr lang="en-US" dirty="0"/>
          </a:p>
          <a:p>
            <a:pPr lvl="1"/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nghiệp</a:t>
            </a:r>
            <a:endParaRPr lang="en-US" dirty="0"/>
          </a:p>
          <a:p>
            <a:pPr lvl="1"/>
            <a:r>
              <a:rPr lang="en-US" dirty="0" err="1"/>
              <a:t>Luật</a:t>
            </a:r>
            <a:endParaRPr lang="en-US" dirty="0"/>
          </a:p>
          <a:p>
            <a:pPr lvl="1"/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máy</a:t>
            </a:r>
            <a:endParaRPr lang="en-US" dirty="0"/>
          </a:p>
          <a:p>
            <a:pPr lvl="1"/>
            <a:r>
              <a:rPr lang="en-US" dirty="0"/>
              <a:t>v.v...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24C26-5E5F-BE46-9F0C-94D0BB46D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612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62B6B-E498-884D-820C-67C574D32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lai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A523D-DEFF-4647-97D9-793C4FCFD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DIP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mẽ</a:t>
            </a:r>
            <a:r>
              <a:rPr lang="en-US" dirty="0"/>
              <a:t> </a:t>
            </a:r>
            <a:r>
              <a:rPr lang="en-US" dirty="0" err="1"/>
              <a:t>hơn</a:t>
            </a:r>
            <a:endParaRPr lang="en-US" dirty="0"/>
          </a:p>
          <a:p>
            <a:r>
              <a:rPr lang="en-US" dirty="0" err="1">
                <a:solidFill>
                  <a:srgbClr val="0070C0"/>
                </a:solidFill>
              </a:rPr>
              <a:t>Được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hỗ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trợ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bởi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các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kĩ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thuật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mạng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học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sâu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ranh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máy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87B4A-BDD7-034D-8716-473FCBCD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23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8E97-67CF-D74A-9CFE-4621D0F1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Q4: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KHMT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34D5A-656D-C44B-9F23-2F913F564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603798-AC47-B74E-8455-D75E98DF2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630" y="1979216"/>
            <a:ext cx="7887696" cy="43771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C005AD-39E7-E94E-A9AB-0D4926287368}"/>
              </a:ext>
            </a:extLst>
          </p:cNvPr>
          <p:cNvSpPr txBox="1"/>
          <p:nvPr/>
        </p:nvSpPr>
        <p:spPr>
          <a:xfrm>
            <a:off x="8325016" y="6077247"/>
            <a:ext cx="220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70C0"/>
                </a:solidFill>
              </a:rPr>
              <a:t>Bernd </a:t>
            </a:r>
            <a:r>
              <a:rPr lang="en-US" sz="1400" dirty="0" err="1">
                <a:solidFill>
                  <a:srgbClr val="0070C0"/>
                </a:solidFill>
              </a:rPr>
              <a:t>Girod</a:t>
            </a:r>
            <a:r>
              <a:rPr lang="en-US" sz="1400" dirty="0">
                <a:solidFill>
                  <a:srgbClr val="0070C0"/>
                </a:solidFill>
              </a:rPr>
              <a:t>, EE368/CS232</a:t>
            </a:r>
          </a:p>
        </p:txBody>
      </p:sp>
    </p:spTree>
    <p:extLst>
      <p:ext uri="{BB962C8B-B14F-4D97-AF65-F5344CB8AC3E}">
        <p14:creationId xmlns:p14="http://schemas.microsoft.com/office/powerpoint/2010/main" val="1756902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D27C90-A520-164A-B528-B1857EF50B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 err="1"/>
              <a:t>Giới</a:t>
            </a:r>
            <a:r>
              <a:rPr lang="en-US" sz="6600" b="1" dirty="0"/>
              <a:t> </a:t>
            </a:r>
            <a:r>
              <a:rPr lang="en-US" sz="6600" b="1" dirty="0" err="1"/>
              <a:t>thiệu</a:t>
            </a:r>
            <a:r>
              <a:rPr lang="en-US" sz="6600" b="1" dirty="0"/>
              <a:t> </a:t>
            </a:r>
            <a:r>
              <a:rPr lang="en-US" sz="6600" b="1" dirty="0" err="1"/>
              <a:t>ứng</a:t>
            </a:r>
            <a:r>
              <a:rPr lang="en-US" sz="6600" b="1" dirty="0"/>
              <a:t> </a:t>
            </a:r>
            <a:r>
              <a:rPr lang="en-US" sz="6600" b="1" dirty="0" err="1"/>
              <a:t>dụng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94023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4621F-FFA6-5845-AC99-0AEA9B597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/>
              <a:t> DIP: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dạng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ACBE0F-EDD0-0049-9B81-9DF409DB6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B0E88-5147-7F49-99EC-AEA964F1A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1692"/>
            <a:ext cx="4652361" cy="35490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D3139D-E58E-104B-B5D8-19BA5720A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043" y="1890147"/>
            <a:ext cx="6055423" cy="21333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0C18BF-0BD8-144B-8204-3E08F2DAF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043" y="4282702"/>
            <a:ext cx="5935925" cy="214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324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906E-5697-B04E-B5B1-E7C20C725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AE19A-0DD8-C440-B5C4-250CEEDA3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79C19E-3E2D-D04B-BFC8-CDF20E7CC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87" y="1775972"/>
            <a:ext cx="9647583" cy="4684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016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A646-1674-534D-8180-71B7E3E1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C6CBF-6B78-EA42-9686-C5A655EE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B99E3B-4F3B-1446-878D-CD7714A2A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42" y="1814282"/>
            <a:ext cx="9234115" cy="441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2648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A646-1674-534D-8180-71B7E3E1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C6CBF-6B78-EA42-9686-C5A655EE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B18605-EDC4-CD4C-8903-C3C14E90F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057" y="1875863"/>
            <a:ext cx="7598946" cy="429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219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A646-1674-534D-8180-71B7E3E1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C6CBF-6B78-EA42-9686-C5A655EE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E2A896-F048-2343-95C2-EAAAE5D75C5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66407" y="1773141"/>
            <a:ext cx="9146650" cy="4310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576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A646-1674-534D-8180-71B7E3E1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C6CBF-6B78-EA42-9686-C5A655EE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A1088-73A6-4947-AB5D-BD9A04BE529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8516" y="2335217"/>
            <a:ext cx="2438522" cy="32513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F45A71-C13E-254E-8E5B-644E64CBF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986" y="2335217"/>
            <a:ext cx="2584579" cy="32513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06D57C-0BF7-354B-BC08-CC3EB9EF8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8050" y="2987136"/>
            <a:ext cx="1780081" cy="19265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B5A8-BFD0-1846-AEE5-7A3DA1B77B17}"/>
              </a:ext>
            </a:extLst>
          </p:cNvPr>
          <p:cNvSpPr txBox="1"/>
          <p:nvPr/>
        </p:nvSpPr>
        <p:spPr>
          <a:xfrm>
            <a:off x="7195931" y="1828286"/>
            <a:ext cx="3147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Xoay</a:t>
            </a:r>
            <a:r>
              <a:rPr lang="en-US" dirty="0"/>
              <a:t>, </a:t>
            </a: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rồi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hoá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(OCR)</a:t>
            </a:r>
          </a:p>
        </p:txBody>
      </p:sp>
    </p:spTree>
    <p:extLst>
      <p:ext uri="{BB962C8B-B14F-4D97-AF65-F5344CB8AC3E}">
        <p14:creationId xmlns:p14="http://schemas.microsoft.com/office/powerpoint/2010/main" val="1795833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C4192-BCE1-484E-9987-FC3FA5D76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09" y="365125"/>
            <a:ext cx="11394219" cy="1325563"/>
          </a:xfrm>
        </p:spPr>
        <p:txBody>
          <a:bodyPr/>
          <a:lstStyle/>
          <a:p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!=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: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điển</a:t>
            </a:r>
            <a:r>
              <a:rPr lang="en-US" dirty="0"/>
              <a:t> </a:t>
            </a:r>
            <a:r>
              <a:rPr lang="en-US" dirty="0" err="1"/>
              <a:t>hình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3AD06-FF6F-0446-BAE1-2B85E65E56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(Image processing)</a:t>
            </a:r>
          </a:p>
          <a:p>
            <a:pPr lvl="1"/>
            <a:r>
              <a:rPr lang="en-US" dirty="0" err="1"/>
              <a:t>Nén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(compression)</a:t>
            </a:r>
          </a:p>
          <a:p>
            <a:pPr lvl="1"/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 (noise reduction)</a:t>
            </a:r>
          </a:p>
          <a:p>
            <a:pPr lvl="1"/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(contrast enhancement)</a:t>
            </a:r>
          </a:p>
          <a:p>
            <a:pPr lvl="1"/>
            <a:r>
              <a:rPr lang="en-US" dirty="0" err="1"/>
              <a:t>Lọc</a:t>
            </a:r>
            <a:r>
              <a:rPr lang="en-US" dirty="0"/>
              <a:t> (filtering)</a:t>
            </a:r>
          </a:p>
          <a:p>
            <a:pPr lvl="1"/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afin</a:t>
            </a:r>
            <a:r>
              <a:rPr lang="en-US" dirty="0"/>
              <a:t> (affine transformation)</a:t>
            </a:r>
          </a:p>
          <a:p>
            <a:pPr lvl="1"/>
            <a:r>
              <a:rPr lang="en-US" dirty="0" err="1"/>
              <a:t>Khôi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(restoration)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4681DF-99D8-1A45-B475-6E294DE300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(Computer vision)</a:t>
            </a:r>
          </a:p>
          <a:p>
            <a:pPr lvl="1"/>
            <a:r>
              <a:rPr lang="en-US" dirty="0"/>
              <a:t>Theo </a:t>
            </a:r>
            <a:r>
              <a:rPr lang="en-US" dirty="0" err="1"/>
              <a:t>vết</a:t>
            </a:r>
            <a:r>
              <a:rPr lang="en-US" dirty="0"/>
              <a:t> (tracking)</a:t>
            </a:r>
          </a:p>
          <a:p>
            <a:pPr lvl="1"/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(detection)</a:t>
            </a:r>
          </a:p>
          <a:p>
            <a:pPr lvl="1"/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(classification)</a:t>
            </a:r>
          </a:p>
          <a:p>
            <a:pPr lvl="1"/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(recognition)</a:t>
            </a:r>
          </a:p>
          <a:p>
            <a:pPr lvl="1"/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ngữ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(semantic segmentation)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C625CC-E793-F34A-B24C-26D98DA1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E8198-B552-FE47-BD28-8739376C0E3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Xử lý ảnh - NTNDiệp - 2019 UET.VNU</a:t>
            </a:r>
          </a:p>
        </p:txBody>
      </p:sp>
    </p:spTree>
    <p:extLst>
      <p:ext uri="{BB962C8B-B14F-4D97-AF65-F5344CB8AC3E}">
        <p14:creationId xmlns:p14="http://schemas.microsoft.com/office/powerpoint/2010/main" val="26397937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0C3A-6D4E-1849-BBD6-081EFECD0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: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nhiễu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6A5B2-B2F8-6946-B273-20AB50651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22DAC5-696C-4A4B-B70F-418E788FF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770" y="2216448"/>
            <a:ext cx="9360807" cy="372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9886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0C3A-6D4E-1849-BBD6-081EFECD0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: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nhiễu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26A5B2-B2F8-6946-B273-20AB50651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27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A0F4A6-6022-DD4A-84C4-25923F878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029" y="1829937"/>
            <a:ext cx="7183907" cy="452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8972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178FA-08FB-FC48-88AE-9D613D887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: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chỉnh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phản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1F53F-6AC1-A144-80C6-915888BCA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972E68-971C-1041-ADED-B101C60A8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6" y="1839752"/>
            <a:ext cx="8054521" cy="40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935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18DB-4A00-2B42-A8D0-99F033DC0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: </a:t>
            </a:r>
            <a:r>
              <a:rPr lang="en-US" dirty="0" err="1"/>
              <a:t>nén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96D7F-E45C-4A44-8BCD-3A334256C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1C002-692D-DB44-86B3-E037C3CF8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29" y="1754414"/>
            <a:ext cx="11277600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06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7BCA1-98CA-7B48-9E01-C74D63FEA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: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vùng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8C9B3-FE31-EF48-B154-3DB9E2D83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78B24-A189-8B46-BAE2-C14DF6DAF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85" y="1872389"/>
            <a:ext cx="8361136" cy="401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99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DEE5-4F56-9041-9BCF-EB1884422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: </a:t>
            </a:r>
            <a:r>
              <a:rPr lang="en-US" dirty="0" err="1"/>
              <a:t>Khôi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B3573-AB3F-E844-B3D4-7D4538DA1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481846-B9EE-A84A-BFE7-088565269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342" y="2027228"/>
            <a:ext cx="7321835" cy="388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618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FA412-563A-5C47-9C4A-2420C82C6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: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ứng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8B6F9-4476-B240-92C8-E277A49AC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FB099-E9D2-4A4C-801B-DA9C87E126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95130" y="2126908"/>
            <a:ext cx="7248686" cy="422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3266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D27C90-A520-164A-B528-B1857EF50B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b="1" dirty="0" err="1"/>
              <a:t>Thông</a:t>
            </a:r>
            <a:r>
              <a:rPr lang="en-US" sz="6600" b="1" dirty="0"/>
              <a:t> tin </a:t>
            </a:r>
            <a:r>
              <a:rPr lang="en-US" sz="6600" b="1" dirty="0" err="1"/>
              <a:t>về</a:t>
            </a:r>
            <a:r>
              <a:rPr lang="en-US" sz="6600" b="1" dirty="0"/>
              <a:t> </a:t>
            </a:r>
            <a:r>
              <a:rPr lang="en-US" sz="6600" b="1" dirty="0" err="1"/>
              <a:t>môn</a:t>
            </a:r>
            <a:r>
              <a:rPr lang="en-US" sz="6600" b="1" dirty="0"/>
              <a:t> </a:t>
            </a:r>
            <a:r>
              <a:rPr lang="en-US" sz="6600" b="1" dirty="0" err="1"/>
              <a:t>học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3483092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41FAC-75CE-9F4F-B3C8-A906B3191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2073"/>
            <a:ext cx="10515600" cy="1325563"/>
          </a:xfrm>
        </p:spPr>
        <p:txBody>
          <a:bodyPr/>
          <a:lstStyle/>
          <a:p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C9F43-DA1B-8842-91A2-68ABA4337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: 3</a:t>
            </a:r>
          </a:p>
          <a:p>
            <a:r>
              <a:rPr lang="en-US" dirty="0" err="1"/>
              <a:t>Giờ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(LT/</a:t>
            </a:r>
            <a:r>
              <a:rPr lang="en-US" dirty="0" err="1"/>
              <a:t>ThH</a:t>
            </a:r>
            <a:r>
              <a:rPr lang="en-US" dirty="0"/>
              <a:t>/TH): 45/0/0</a:t>
            </a:r>
          </a:p>
          <a:p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: INT2203 –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thuật</a:t>
            </a:r>
            <a:endParaRPr lang="en-US" dirty="0"/>
          </a:p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(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):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số</a:t>
            </a:r>
            <a:endParaRPr lang="en-US" dirty="0"/>
          </a:p>
          <a:p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(INT3412);</a:t>
            </a:r>
          </a:p>
          <a:p>
            <a:pPr lvl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KHMT (INT3121 20 – GV: </a:t>
            </a:r>
            <a:r>
              <a:rPr lang="en-US" dirty="0" err="1"/>
              <a:t>NTNDiệp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(INT3414 22 – GV: </a:t>
            </a:r>
            <a:r>
              <a:rPr lang="en-US" dirty="0" err="1"/>
              <a:t>NTNDiệp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48BDB-B9B3-6F40-92AF-CE1E4820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34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86C02-A6A5-544E-A247-7B2EC750279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Xử lý ảnh - NTNDiệp - 2019 UET.VNU</a:t>
            </a:r>
          </a:p>
        </p:txBody>
      </p:sp>
    </p:spTree>
    <p:extLst>
      <p:ext uri="{BB962C8B-B14F-4D97-AF65-F5344CB8AC3E}">
        <p14:creationId xmlns:p14="http://schemas.microsoft.com/office/powerpoint/2010/main" val="26095337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B1458F-294F-7748-B1CE-9D7094EA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2724"/>
            <a:ext cx="10515600" cy="1325563"/>
          </a:xfrm>
        </p:spPr>
        <p:txBody>
          <a:bodyPr/>
          <a:lstStyle/>
          <a:p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63160-C336-DE4D-BF17-48EB6D84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798-0FFE-6D49-972C-07CB5C747B64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4AFAEF6-56A3-C648-93E2-574B6C2059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117899"/>
              </p:ext>
            </p:extLst>
          </p:nvPr>
        </p:nvGraphicFramePr>
        <p:xfrm>
          <a:off x="838200" y="1780454"/>
          <a:ext cx="10871859" cy="4694704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655242">
                  <a:extLst>
                    <a:ext uri="{9D8B030D-6E8A-4147-A177-3AD203B41FA5}">
                      <a16:colId xmlns:a16="http://schemas.microsoft.com/office/drawing/2014/main" val="3803651082"/>
                    </a:ext>
                  </a:extLst>
                </a:gridCol>
                <a:gridCol w="5420609">
                  <a:extLst>
                    <a:ext uri="{9D8B030D-6E8A-4147-A177-3AD203B41FA5}">
                      <a16:colId xmlns:a16="http://schemas.microsoft.com/office/drawing/2014/main" val="2534359574"/>
                    </a:ext>
                  </a:extLst>
                </a:gridCol>
                <a:gridCol w="4796008">
                  <a:extLst>
                    <a:ext uri="{9D8B030D-6E8A-4147-A177-3AD203B41FA5}">
                      <a16:colId xmlns:a16="http://schemas.microsoft.com/office/drawing/2014/main" val="2917458572"/>
                    </a:ext>
                  </a:extLst>
                </a:gridCol>
              </a:tblGrid>
              <a:tr h="19270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>
                          <a:effectLst/>
                        </a:rPr>
                        <a:t>Tuần</a:t>
                      </a:r>
                      <a:endParaRPr lang="en-US" sz="120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Nội dung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Yêu cầu đối với sinh viên (ngoài việc đọc tài liệu tham khảo)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268104051"/>
                  </a:ext>
                </a:extLst>
              </a:tr>
              <a:tr h="439699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Giới thiệu môn học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Cài đặt môi trường: Python 3, OpenCV 3, Numpy, Jupyter Notebook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1667570547"/>
                  </a:ext>
                </a:extLst>
              </a:tr>
              <a:tr h="22312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</a:rPr>
                        <a:t>Ảnh số (Digital image) – Phép toán điểm (Point operations)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Làm quen với OpenCV + Python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354920"/>
                  </a:ext>
                </a:extLst>
              </a:tr>
              <a:tr h="22312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</a:rPr>
                        <a:t>Điều chỉnh độ tương phản (Contrast adjust)– Ghép ảnh (Combining images)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solidFill>
                            <a:schemeClr val="tx1"/>
                          </a:solidFill>
                          <a:effectLst/>
                        </a:rPr>
                        <a:t>Làm bài tập 1: điều chỉnh gamma tìm contrast hợp lý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644647"/>
                  </a:ext>
                </a:extLst>
              </a:tr>
              <a:tr h="24251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US" sz="12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Histogram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vi-VN" sz="1200" dirty="0">
                          <a:effectLst/>
                        </a:rPr>
                        <a:t>- Histogram equalization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7594523"/>
                  </a:ext>
                </a:extLst>
              </a:tr>
              <a:tr h="204856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Phép lọc trong không gian điểm ảnh (linear processing filtering)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402893480"/>
                  </a:ext>
                </a:extLst>
              </a:tr>
              <a:tr h="204856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Thực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hành</a:t>
                      </a:r>
                      <a:r>
                        <a:rPr lang="en-US" sz="1200" dirty="0">
                          <a:effectLst/>
                        </a:rPr>
                        <a:t>: </a:t>
                      </a:r>
                      <a:r>
                        <a:rPr lang="en-US" sz="1200" dirty="0" err="1">
                          <a:effectLst/>
                        </a:rPr>
                        <a:t>Ứng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dụng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của</a:t>
                      </a:r>
                      <a:r>
                        <a:rPr lang="en-US" sz="1200" dirty="0">
                          <a:effectLst/>
                        </a:rPr>
                        <a:t> histogram; </a:t>
                      </a:r>
                      <a:r>
                        <a:rPr lang="en-US" sz="1200" dirty="0" err="1">
                          <a:effectLst/>
                        </a:rPr>
                        <a:t>Tìm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ảnh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mẫu</a:t>
                      </a:r>
                      <a:r>
                        <a:rPr lang="en-US" sz="1200" dirty="0">
                          <a:effectLst/>
                        </a:rPr>
                        <a:t> (Template matching)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rgbClr val="0070C0"/>
                          </a:solidFill>
                          <a:effectLst/>
                        </a:rPr>
                        <a:t>Bài tập mid-term</a:t>
                      </a:r>
                      <a:endParaRPr lang="vi-VN" sz="1200" dirty="0">
                        <a:effectLst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478418421"/>
                  </a:ext>
                </a:extLst>
              </a:tr>
              <a:tr h="306531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7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Trích rút đặc trưng của ảnh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Cạnh (Edge) và đường (Line) và texture</a:t>
                      </a:r>
                    </a:p>
                  </a:txBody>
                  <a:tcPr marL="38851" marR="38851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</a:endParaRPr>
                    </a:p>
                  </a:txBody>
                  <a:tcPr marL="38851" marR="38851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037645"/>
                  </a:ext>
                </a:extLst>
              </a:tr>
              <a:tr h="273207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8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Các phép biến đổi hình thái</a:t>
                      </a:r>
                      <a:r>
                        <a:rPr lang="en-US" sz="1200" dirty="0">
                          <a:effectLst/>
                        </a:rPr>
                        <a:t> (Morphological operations)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Làm bài tập 2: tìm barcode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124867615"/>
                  </a:ext>
                </a:extLst>
              </a:tr>
              <a:tr h="32088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9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Chuyển đổi không gian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vi-VN" sz="1200" dirty="0">
                          <a:effectLst/>
                        </a:rPr>
                        <a:t>– Miền tần số – Phép lọc trên miền tần số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Thông báo liên quan đồ án môn học</a:t>
                      </a:r>
                      <a:endParaRPr lang="en-US" sz="1200" dirty="0">
                        <a:solidFill>
                          <a:srgbClr val="0070C0"/>
                        </a:solidFill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Đăng ký thực hiện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3474009523"/>
                  </a:ext>
                </a:extLst>
              </a:tr>
              <a:tr h="228493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10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Xử lý ảnh màu (Color digital image)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Làm bài tập 3: Chuyển đổi mô hình màu và thực hiện phân vùng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3939931096"/>
                  </a:ext>
                </a:extLst>
              </a:tr>
              <a:tr h="402437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11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phép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biến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đổi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hình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học</a:t>
                      </a:r>
                      <a:r>
                        <a:rPr lang="en-US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 (Geometric transformations)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002170594"/>
                  </a:ext>
                </a:extLst>
              </a:tr>
              <a:tr h="25013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12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Nhiễu – Mô hình nhiễu – Khôi phục ảnh (Noise and restoration)</a:t>
                      </a: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489213664"/>
                  </a:ext>
                </a:extLst>
              </a:tr>
              <a:tr h="219849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13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Nén ảnh (Compression)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200" dirty="0">
                          <a:effectLst/>
                        </a:rPr>
                        <a:t>Thực hành ở nhà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835859816"/>
                  </a:ext>
                </a:extLst>
              </a:tr>
              <a:tr h="207157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14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Hướng dẫn thực hiện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Trình bày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2384367590"/>
                  </a:ext>
                </a:extLst>
              </a:tr>
              <a:tr h="20669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15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Hướng dẫn thực hiện đồ án môn học 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  <a:latin typeface="Calibri" panose="020F0502020204030204" pitchFamily="34" charset="0"/>
                          <a:ea typeface="Yu Mincho" panose="02020400000000000000" pitchFamily="18" charset="-128"/>
                          <a:cs typeface="Times New Roman" panose="02020603050405020304" pitchFamily="18" charset="0"/>
                        </a:rPr>
                        <a:t>Tổng kết cuối kỳ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vi-VN" sz="1200" dirty="0">
                          <a:effectLst/>
                        </a:rPr>
                        <a:t>Trình bày đồ án môn học</a:t>
                      </a:r>
                      <a:endParaRPr lang="en-US" sz="1200" dirty="0">
                        <a:effectLst/>
                        <a:latin typeface="Calibri" panose="020F0502020204030204" pitchFamily="34" charset="0"/>
                        <a:ea typeface="Yu Mincho" panose="02020400000000000000" pitchFamily="18" charset="-128"/>
                        <a:cs typeface="Times New Roman" panose="02020603050405020304" pitchFamily="18" charset="0"/>
                      </a:endParaRPr>
                    </a:p>
                  </a:txBody>
                  <a:tcPr marL="38851" marR="38851" marT="0" marB="0" anchor="ctr"/>
                </a:tc>
                <a:extLst>
                  <a:ext uri="{0D108BD9-81ED-4DB2-BD59-A6C34878D82A}">
                    <a16:rowId xmlns:a16="http://schemas.microsoft.com/office/drawing/2014/main" val="3521864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7118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146BC4-4DD5-D347-8BC4-54BEAE11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84D6A-E6B9-1D45-90DB-DF498C0D5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nghỉ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20%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buổi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(3 </a:t>
            </a:r>
            <a:r>
              <a:rPr lang="en-US" dirty="0" err="1"/>
              <a:t>buổi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)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</a:t>
            </a:r>
            <a:r>
              <a:rPr lang="en-US" dirty="0" err="1"/>
              <a:t>kỳ</a:t>
            </a:r>
            <a:endParaRPr lang="en-US" dirty="0"/>
          </a:p>
          <a:p>
            <a:pPr lvl="1"/>
            <a:r>
              <a:rPr lang="en-US" strike="sngStrike" dirty="0" err="1"/>
              <a:t>Mỗi</a:t>
            </a:r>
            <a:r>
              <a:rPr lang="en-US" strike="sngStrike" dirty="0"/>
              <a:t> </a:t>
            </a:r>
            <a:r>
              <a:rPr lang="en-US" strike="sngStrike" dirty="0" err="1"/>
              <a:t>buổi</a:t>
            </a:r>
            <a:r>
              <a:rPr lang="en-US" strike="sngStrike" dirty="0"/>
              <a:t> </a:t>
            </a:r>
            <a:r>
              <a:rPr lang="en-US" strike="sngStrike" dirty="0" err="1"/>
              <a:t>học</a:t>
            </a:r>
            <a:r>
              <a:rPr lang="en-US" strike="sngStrike" dirty="0"/>
              <a:t> </a:t>
            </a:r>
            <a:r>
              <a:rPr lang="en-US" strike="sngStrike" dirty="0" err="1"/>
              <a:t>sẽ</a:t>
            </a:r>
            <a:r>
              <a:rPr lang="en-US" strike="sngStrike" dirty="0"/>
              <a:t> </a:t>
            </a:r>
            <a:r>
              <a:rPr lang="en-US" strike="sngStrike" dirty="0" err="1"/>
              <a:t>có</a:t>
            </a:r>
            <a:r>
              <a:rPr lang="en-US" strike="sngStrike" dirty="0"/>
              <a:t> </a:t>
            </a:r>
            <a:r>
              <a:rPr lang="en-US" strike="sngStrike" dirty="0" err="1"/>
              <a:t>điểm</a:t>
            </a:r>
            <a:r>
              <a:rPr lang="en-US" strike="sngStrike" dirty="0"/>
              <a:t> </a:t>
            </a:r>
            <a:r>
              <a:rPr lang="en-US" strike="sngStrike" dirty="0" err="1"/>
              <a:t>danh</a:t>
            </a:r>
            <a:endParaRPr lang="en-US" strike="sngStrike" dirty="0"/>
          </a:p>
          <a:p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,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thảo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,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  <a:p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kì</a:t>
            </a:r>
            <a:r>
              <a:rPr lang="en-US" dirty="0"/>
              <a:t>,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lận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3E99A-6932-8B49-B667-8F5D2492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36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B00F78-75E4-6643-A74E-9D7B9D3218B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Xử lý ảnh - NTNDiệp - 2019 UET.VNU</a:t>
            </a:r>
          </a:p>
        </p:txBody>
      </p:sp>
    </p:spTree>
    <p:extLst>
      <p:ext uri="{BB962C8B-B14F-4D97-AF65-F5344CB8AC3E}">
        <p14:creationId xmlns:p14="http://schemas.microsoft.com/office/powerpoint/2010/main" val="19274065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B0E41-8405-F940-A82F-04D9B9A23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78833F2-DBC8-ED40-9E53-89C2BC614A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515540"/>
              </p:ext>
            </p:extLst>
          </p:nvPr>
        </p:nvGraphicFramePr>
        <p:xfrm>
          <a:off x="1399429" y="1876507"/>
          <a:ext cx="9346392" cy="4414046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2167380">
                  <a:extLst>
                    <a:ext uri="{9D8B030D-6E8A-4147-A177-3AD203B41FA5}">
                      <a16:colId xmlns:a16="http://schemas.microsoft.com/office/drawing/2014/main" val="888569652"/>
                    </a:ext>
                  </a:extLst>
                </a:gridCol>
                <a:gridCol w="2963693">
                  <a:extLst>
                    <a:ext uri="{9D8B030D-6E8A-4147-A177-3AD203B41FA5}">
                      <a16:colId xmlns:a16="http://schemas.microsoft.com/office/drawing/2014/main" val="769179882"/>
                    </a:ext>
                  </a:extLst>
                </a:gridCol>
                <a:gridCol w="2668112">
                  <a:extLst>
                    <a:ext uri="{9D8B030D-6E8A-4147-A177-3AD203B41FA5}">
                      <a16:colId xmlns:a16="http://schemas.microsoft.com/office/drawing/2014/main" val="3934540263"/>
                    </a:ext>
                  </a:extLst>
                </a:gridCol>
                <a:gridCol w="1547207">
                  <a:extLst>
                    <a:ext uri="{9D8B030D-6E8A-4147-A177-3AD203B41FA5}">
                      <a16:colId xmlns:a16="http://schemas.microsoft.com/office/drawing/2014/main" val="1002393951"/>
                    </a:ext>
                  </a:extLst>
                </a:gridCol>
              </a:tblGrid>
              <a:tr h="315289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Hình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thức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</a:rPr>
                        <a:t>Phương pháp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</a:rPr>
                        <a:t>Mục đích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</a:rPr>
                        <a:t>Trọng số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005958"/>
                  </a:ext>
                </a:extLst>
              </a:tr>
              <a:tr h="1261156"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da-DK" sz="1600" dirty="0" err="1">
                          <a:effectLst/>
                        </a:rPr>
                        <a:t>Đồ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án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môn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học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</a:rPr>
                        <a:t>Dự án nhỏ làm việc theo nhóm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</a:rPr>
                        <a:t>Đánh giá kỹ năng lập trình, xây dựng hệ thống dịch vận dụng kiến thức đã học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da-DK" sz="1600" dirty="0">
                          <a:effectLst/>
                        </a:rPr>
                        <a:t>20%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966451"/>
                  </a:ext>
                </a:extLst>
              </a:tr>
              <a:tr h="630578"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da-DK" sz="1600" dirty="0" err="1">
                          <a:effectLst/>
                        </a:rPr>
                        <a:t>Chuyên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cần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</a:rPr>
                        <a:t>Điểm danh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</a:rPr>
                        <a:t>Đánh giá tính chuyên cần của sinh viên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+</a:t>
                      </a: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5809886"/>
                  </a:ext>
                </a:extLst>
              </a:tr>
              <a:tr h="630578"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da-DK" sz="1600" dirty="0" err="1">
                          <a:effectLst/>
                        </a:rPr>
                        <a:t>Bài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tập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giữa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kỳ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da-DK" sz="1600" dirty="0" err="1">
                          <a:effectLst/>
                        </a:rPr>
                        <a:t>Chấm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điểm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bài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tập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về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nhà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da-DK" sz="1600" dirty="0" err="1">
                          <a:effectLst/>
                        </a:rPr>
                        <a:t>Kiểm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tra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khả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năng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tự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học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của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sinh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viên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da-DK" sz="1600" dirty="0">
                          <a:effectLst/>
                        </a:rPr>
                        <a:t>20%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0083816"/>
                  </a:ext>
                </a:extLst>
              </a:tr>
              <a:tr h="1261156"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</a:rPr>
                        <a:t>Thi kết thúc môn học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da-DK" sz="1600" dirty="0">
                          <a:effectLst/>
                        </a:rPr>
                        <a:t>Thi </a:t>
                      </a:r>
                      <a:r>
                        <a:rPr lang="da-DK" sz="1600" dirty="0" err="1">
                          <a:effectLst/>
                        </a:rPr>
                        <a:t>viết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da-DK" sz="1600" dirty="0" err="1">
                          <a:effectLst/>
                        </a:rPr>
                        <a:t>Đánh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giá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kiến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thức</a:t>
                      </a:r>
                      <a:r>
                        <a:rPr lang="da-DK" sz="1600" dirty="0">
                          <a:effectLst/>
                        </a:rPr>
                        <a:t>, </a:t>
                      </a:r>
                      <a:r>
                        <a:rPr lang="da-DK" sz="1600" dirty="0" err="1">
                          <a:effectLst/>
                        </a:rPr>
                        <a:t>kỹ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năng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sinh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viên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đạt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được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khi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kết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thúc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môn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học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da-DK" sz="1600" dirty="0">
                          <a:effectLst/>
                        </a:rPr>
                        <a:t>60%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907021"/>
                  </a:ext>
                </a:extLst>
              </a:tr>
              <a:tr h="315289">
                <a:tc gridSpan="3"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</a:rPr>
                        <a:t>Tổng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da-DK" sz="1600" dirty="0">
                          <a:effectLst/>
                        </a:rPr>
                        <a:t>100%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9730491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1DDD6-1232-CA49-B215-2B5842D74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37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8BA25-20DB-524C-8794-D9816D6AE9B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Xử lý ảnh - NTNDiệp - 2019 UET.VNU</a:t>
            </a:r>
          </a:p>
        </p:txBody>
      </p:sp>
    </p:spTree>
    <p:extLst>
      <p:ext uri="{BB962C8B-B14F-4D97-AF65-F5344CB8AC3E}">
        <p14:creationId xmlns:p14="http://schemas.microsoft.com/office/powerpoint/2010/main" val="4185417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BEAE0C-A5B8-B94D-B6ED-CB23A56B5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436DC-E18F-284A-9F70-B7205B6FE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38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1FD82E0-B3E9-E847-994A-3533692DC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815487"/>
              </p:ext>
            </p:extLst>
          </p:nvPr>
        </p:nvGraphicFramePr>
        <p:xfrm>
          <a:off x="2235970" y="2651918"/>
          <a:ext cx="6577290" cy="18746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85108">
                  <a:extLst>
                    <a:ext uri="{9D8B030D-6E8A-4147-A177-3AD203B41FA5}">
                      <a16:colId xmlns:a16="http://schemas.microsoft.com/office/drawing/2014/main" val="3719460835"/>
                    </a:ext>
                  </a:extLst>
                </a:gridCol>
                <a:gridCol w="3292182">
                  <a:extLst>
                    <a:ext uri="{9D8B030D-6E8A-4147-A177-3AD203B41FA5}">
                      <a16:colId xmlns:a16="http://schemas.microsoft.com/office/drawing/2014/main" val="323452765"/>
                    </a:ext>
                  </a:extLst>
                </a:gridCol>
              </a:tblGrid>
              <a:tr h="3749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a-DK" sz="1600" dirty="0" err="1">
                          <a:effectLst/>
                        </a:rPr>
                        <a:t>Hình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thức</a:t>
                      </a:r>
                      <a:r>
                        <a:rPr lang="da-DK" sz="1600" dirty="0">
                          <a:effectLst/>
                        </a:rPr>
                        <a:t> thi </a:t>
                      </a:r>
                      <a:r>
                        <a:rPr lang="da-DK" sz="1600" dirty="0" err="1">
                          <a:effectLst/>
                        </a:rPr>
                        <a:t>và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kiểm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tra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</a:rPr>
                        <a:t>Thời gian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990757"/>
                  </a:ext>
                </a:extLst>
              </a:tr>
              <a:tr h="3749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a-DK" sz="1600" dirty="0" err="1">
                          <a:effectLst/>
                        </a:rPr>
                        <a:t>Chuyên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cần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a-DK" sz="1600">
                          <a:effectLst/>
                        </a:rPr>
                        <a:t>Tất cả các tuần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970906"/>
                  </a:ext>
                </a:extLst>
              </a:tr>
              <a:tr h="3749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a-DK" sz="1600" dirty="0" err="1">
                          <a:effectLst/>
                        </a:rPr>
                        <a:t>Bài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tập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giữa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kì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a-DK" sz="1600" dirty="0" err="1">
                          <a:effectLst/>
                        </a:rPr>
                        <a:t>Tuần</a:t>
                      </a:r>
                      <a:r>
                        <a:rPr lang="da-DK" sz="1600" dirty="0">
                          <a:effectLst/>
                        </a:rPr>
                        <a:t> 7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5422142"/>
                  </a:ext>
                </a:extLst>
              </a:tr>
              <a:tr h="3749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a-DK" sz="1600" dirty="0" err="1">
                          <a:effectLst/>
                        </a:rPr>
                        <a:t>Báo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cáo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đồ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án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môn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học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a-DK" sz="1600" dirty="0" err="1">
                          <a:effectLst/>
                        </a:rPr>
                        <a:t>Tuần</a:t>
                      </a:r>
                      <a:r>
                        <a:rPr lang="da-DK" sz="1600" dirty="0">
                          <a:effectLst/>
                        </a:rPr>
                        <a:t> 14, 15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1810519"/>
                  </a:ext>
                </a:extLst>
              </a:tr>
              <a:tr h="374937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a-DK" sz="1600" dirty="0">
                          <a:effectLst/>
                        </a:rPr>
                        <a:t>Thi </a:t>
                      </a:r>
                      <a:r>
                        <a:rPr lang="da-DK" sz="1600" dirty="0" err="1">
                          <a:effectLst/>
                        </a:rPr>
                        <a:t>cuối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kỳ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da-DK" sz="1600" dirty="0">
                          <a:effectLst/>
                        </a:rPr>
                        <a:t>Theo </a:t>
                      </a:r>
                      <a:r>
                        <a:rPr lang="da-DK" sz="1600" dirty="0" err="1">
                          <a:effectLst/>
                        </a:rPr>
                        <a:t>lịch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của</a:t>
                      </a:r>
                      <a:r>
                        <a:rPr lang="da-DK" sz="1600" dirty="0">
                          <a:effectLst/>
                        </a:rPr>
                        <a:t> </a:t>
                      </a:r>
                      <a:r>
                        <a:rPr lang="da-DK" sz="1600" dirty="0" err="1">
                          <a:effectLst/>
                        </a:rPr>
                        <a:t>Trường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43958894"/>
                  </a:ext>
                </a:extLst>
              </a:tr>
            </a:tbl>
          </a:graphicData>
        </a:graphic>
      </p:graphicFrame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04809-C7A6-0F4C-B4B4-B55D43337B7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Xử lý ảnh - NTNDiệp - 2019 UET.VNU</a:t>
            </a:r>
          </a:p>
        </p:txBody>
      </p:sp>
    </p:spTree>
    <p:extLst>
      <p:ext uri="{BB962C8B-B14F-4D97-AF65-F5344CB8AC3E}">
        <p14:creationId xmlns:p14="http://schemas.microsoft.com/office/powerpoint/2010/main" val="36595139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FE49D-9C6A-EC4F-81A7-E956870A2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1CD7D-5001-FD49-95E1-A09C49B8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8E184-9DB2-6A46-85E4-3F9EDD1BBC29}" type="slidenum">
              <a:rPr lang="en-US" smtClean="0"/>
              <a:t>39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F22F72-0BA4-7D47-8488-F1720683A2F3}"/>
              </a:ext>
            </a:extLst>
          </p:cNvPr>
          <p:cNvSpPr/>
          <p:nvPr/>
        </p:nvSpPr>
        <p:spPr>
          <a:xfrm>
            <a:off x="965421" y="1690688"/>
            <a:ext cx="9016779" cy="5183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Textbook &amp; Lectures:</a:t>
            </a:r>
            <a:endParaRPr lang="en-US" sz="1400" dirty="0">
              <a:effectLst/>
              <a:latin typeface="Arial" panose="020B060402020202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742950" lvl="1" indent="-285750">
              <a:lnSpc>
                <a:spcPts val="2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R. C. Gonzalez, R. E. Woods, “Digital Image Processing,” 4th edition, Pearson, 2018.</a:t>
            </a:r>
          </a:p>
          <a:p>
            <a:pPr marL="742950" lvl="1" indent="-285750">
              <a:lnSpc>
                <a:spcPts val="2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u="none" strike="noStrike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  <a:hlinkClick r:id="rId2"/>
              </a:rPr>
              <a:t>https://web.stanford.edu/class/ee368/index.html</a:t>
            </a:r>
            <a:endParaRPr lang="en-US" sz="1400" u="none" strike="noStrike" dirty="0">
              <a:effectLst/>
              <a:latin typeface="Arial" panose="020B060402020202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742950" lvl="1" indent="-285750">
              <a:lnSpc>
                <a:spcPts val="28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Lê Thanh </a:t>
            </a:r>
            <a:r>
              <a:rPr lang="en-US" sz="1400" dirty="0" err="1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Hà</a:t>
            </a: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“</a:t>
            </a:r>
            <a:r>
              <a:rPr lang="en-US" sz="1400" dirty="0" err="1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Giáo</a:t>
            </a: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trình</a:t>
            </a: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xử</a:t>
            </a: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lý</a:t>
            </a: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ảnh</a:t>
            </a: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,” </a:t>
            </a:r>
            <a:r>
              <a:rPr lang="en-US" sz="1400" dirty="0" err="1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nhà</a:t>
            </a: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xuất</a:t>
            </a: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bản</a:t>
            </a: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ĐHQGHN, 2016. (</a:t>
            </a:r>
            <a:r>
              <a:rPr lang="en-US" sz="1400" dirty="0">
                <a:hlinkClick r:id="rId3"/>
              </a:rPr>
              <a:t>https://repository.vnu.edu.vn/handle/VNU_123/58180</a:t>
            </a:r>
            <a:r>
              <a:rPr lang="en-US" sz="1400" dirty="0"/>
              <a:t>)</a:t>
            </a: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Software-centric book</a:t>
            </a:r>
            <a:r>
              <a:rPr lang="vi-VN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s</a:t>
            </a:r>
            <a:endParaRPr lang="en-US" sz="1400" dirty="0">
              <a:effectLst/>
              <a:latin typeface="Arial" panose="020B060402020202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742950" lvl="1" indent="-285750">
              <a:lnSpc>
                <a:spcPts val="19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l </a:t>
            </a:r>
            <a:r>
              <a:rPr lang="en-US" sz="1400" dirty="0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R. C. Gonzalez, R. E. Woods, S. L. </a:t>
            </a:r>
            <a:r>
              <a:rPr lang="en-US" sz="1400" dirty="0" err="1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Eddins</a:t>
            </a:r>
            <a:r>
              <a:rPr lang="en-US" sz="1400" dirty="0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“Digital Image Processing using </a:t>
            </a:r>
            <a:r>
              <a:rPr lang="en-US" sz="1400" dirty="0" err="1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Matlab</a:t>
            </a:r>
            <a:r>
              <a:rPr lang="en-US" sz="1400" dirty="0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,” 2nd edition, </a:t>
            </a:r>
            <a:r>
              <a:rPr lang="en-US" sz="1400" dirty="0" err="1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Gatesmark</a:t>
            </a:r>
            <a:r>
              <a:rPr lang="en-US" sz="1400" dirty="0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Publishing, 2009.  </a:t>
            </a:r>
            <a:r>
              <a:rPr lang="en-US" sz="1400" dirty="0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  <a:sym typeface="Wingdings" pitchFamily="2" charset="2"/>
              </a:rPr>
              <a:t> </a:t>
            </a:r>
            <a:r>
              <a:rPr lang="en-US" sz="1400" dirty="0" err="1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  <a:sym typeface="Wingdings" pitchFamily="2" charset="2"/>
              </a:rPr>
              <a:t>Matlab</a:t>
            </a:r>
            <a:endParaRPr lang="en-US" sz="1400" dirty="0">
              <a:effectLst/>
              <a:latin typeface="Arial" panose="020B060402020202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742950" lvl="1" indent="-285750">
              <a:lnSpc>
                <a:spcPts val="19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l </a:t>
            </a:r>
            <a:r>
              <a:rPr lang="en-US" sz="1400" dirty="0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A. </a:t>
            </a:r>
            <a:r>
              <a:rPr lang="en-US" sz="1400" dirty="0" err="1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Kaehler</a:t>
            </a:r>
            <a:r>
              <a:rPr lang="en-US" sz="1400" dirty="0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G. </a:t>
            </a:r>
            <a:r>
              <a:rPr lang="en-US" sz="1400" dirty="0" err="1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Bradski</a:t>
            </a:r>
            <a:r>
              <a:rPr lang="en-US" sz="1400" dirty="0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, “Learning </a:t>
            </a:r>
            <a:r>
              <a:rPr lang="en-US" sz="1400" dirty="0" err="1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OpenCV</a:t>
            </a:r>
            <a:r>
              <a:rPr lang="en-US" sz="1400" dirty="0"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3,” O‘Reilly Media, 2017. </a:t>
            </a: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  </a:t>
            </a: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  <a:sym typeface="Wingdings" pitchFamily="2" charset="2"/>
              </a:rPr>
              <a:t> C++</a:t>
            </a:r>
            <a:endParaRPr lang="en-US" sz="1400" dirty="0">
              <a:effectLst/>
              <a:latin typeface="Arial" panose="020B060402020202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Blog: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u="none" strike="noStrike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  <a:hlinkClick r:id="rId4"/>
              </a:rPr>
              <a:t>https://www.pyimagesearch.com/</a:t>
            </a:r>
            <a:endParaRPr lang="en-US" sz="1400" dirty="0">
              <a:effectLst/>
              <a:latin typeface="Arial" panose="020B060402020202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 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Journals/Conference proceedings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lEEE</a:t>
            </a: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Transactions on Image Processing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lEEE</a:t>
            </a: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International Conference on Image Processing (ICIP)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lEEE</a:t>
            </a: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 Computer Vision and Pattern Recognition (CVPR)</a:t>
            </a:r>
            <a:r>
              <a:rPr lang="ja-JP" sz="1400">
                <a:effectLst/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 </a:t>
            </a:r>
            <a:endParaRPr lang="en-US" sz="1400" dirty="0">
              <a:effectLst/>
              <a:latin typeface="Arial" panose="020B060402020202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  <a:latin typeface="Arial" panose="020B060402020202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IEEE International Conference on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1274893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7433</TotalTime>
  <Words>1812</Words>
  <Application>Microsoft Macintosh PowerPoint</Application>
  <PresentationFormat>Widescreen</PresentationFormat>
  <Paragraphs>276</Paragraphs>
  <Slides>39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Times New Roman</vt:lpstr>
      <vt:lpstr>Office Theme</vt:lpstr>
      <vt:lpstr>Xử lý ảnh INT3404 1</vt:lpstr>
      <vt:lpstr>Tuần 1</vt:lpstr>
      <vt:lpstr>Những câu hỏi lớn</vt:lpstr>
      <vt:lpstr>Q1: Xử lý ảnh là gì?</vt:lpstr>
      <vt:lpstr>Thu nhận ảnh?</vt:lpstr>
      <vt:lpstr>Biểu diễn ảnh?</vt:lpstr>
      <vt:lpstr>Lưu trữ ảnh?</vt:lpstr>
      <vt:lpstr>Thao tác trên ảnh?</vt:lpstr>
      <vt:lpstr>Q1: Xử lý ảnh là gì?</vt:lpstr>
      <vt:lpstr>Q2: Học xử lý ảnh để làm gì?</vt:lpstr>
      <vt:lpstr>⭐️ Cài đặt môi trường</vt:lpstr>
      <vt:lpstr>Q3: Lịch sử và tương lai</vt:lpstr>
      <vt:lpstr>Lịch sử</vt:lpstr>
      <vt:lpstr>Lịch sử</vt:lpstr>
      <vt:lpstr>Lịch sử</vt:lpstr>
      <vt:lpstr>Tương lai</vt:lpstr>
      <vt:lpstr>Q4: Vị trí của Xử lý ảnh trong KHMT </vt:lpstr>
      <vt:lpstr>Giới thiệu ứng dụng</vt:lpstr>
      <vt:lpstr>Ví dụ ứng dụng của DIP: nhận dạng</vt:lpstr>
      <vt:lpstr>Ví dụ các ứng dụng của xử lý ảnh</vt:lpstr>
      <vt:lpstr>Ví dụ các ứng dụng của xử lý ảnh</vt:lpstr>
      <vt:lpstr>Ví dụ các ứng dụng của xử lý ảnh</vt:lpstr>
      <vt:lpstr>Ví dụ các ứng dụng của xử lý ảnh</vt:lpstr>
      <vt:lpstr>Ví dụ các ứng dụng của xử lý ảnh</vt:lpstr>
      <vt:lpstr>Xử lý ảnh != Thị giác máy: Các kỹ thuật điển hình</vt:lpstr>
      <vt:lpstr>Ví dụ xử lý ảnh: giảm nhiễu</vt:lpstr>
      <vt:lpstr>Ví dụ xử lý ảnh: giảm nhiễu</vt:lpstr>
      <vt:lpstr>Ví dụ xử lý ảnh: điều chỉnh độ tương phản</vt:lpstr>
      <vt:lpstr>Ví dụ xử lý ảnh: nén ảnh</vt:lpstr>
      <vt:lpstr>Ví dụ xử lý ảnh: Phân vùng</vt:lpstr>
      <vt:lpstr>Ví dụ xử lý ảnh: Khôi phục ảnh</vt:lpstr>
      <vt:lpstr>Ví dụ xử lý ảnh: tạo hiệu ứng</vt:lpstr>
      <vt:lpstr>Thông tin về môn học</vt:lpstr>
      <vt:lpstr>Thông tin chung về môn học</vt:lpstr>
      <vt:lpstr>Lịch trình</vt:lpstr>
      <vt:lpstr>Chính sách đối với môn học</vt:lpstr>
      <vt:lpstr>Trọng số điểm</vt:lpstr>
      <vt:lpstr>Lịch thi và kiểm tra</vt:lpstr>
      <vt:lpstr>Tài liệu tham khảo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Xử lý ảnh INT3404 1</dc:title>
  <dc:creator>Dao Thanh Chung</dc:creator>
  <cp:lastModifiedBy>NGUYEN DIEP</cp:lastModifiedBy>
  <cp:revision>76</cp:revision>
  <cp:lastPrinted>2019-08-25T15:45:26Z</cp:lastPrinted>
  <dcterms:created xsi:type="dcterms:W3CDTF">2019-08-17T15:12:41Z</dcterms:created>
  <dcterms:modified xsi:type="dcterms:W3CDTF">2021-09-10T05:24:04Z</dcterms:modified>
</cp:coreProperties>
</file>