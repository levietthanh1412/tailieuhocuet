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7" r:id="rId2"/>
    <p:sldId id="523" r:id="rId3"/>
    <p:sldId id="545" r:id="rId4"/>
    <p:sldId id="524" r:id="rId5"/>
    <p:sldId id="485" r:id="rId6"/>
    <p:sldId id="525" r:id="rId7"/>
    <p:sldId id="483" r:id="rId8"/>
    <p:sldId id="526" r:id="rId9"/>
    <p:sldId id="532" r:id="rId10"/>
    <p:sldId id="487" r:id="rId11"/>
    <p:sldId id="534" r:id="rId12"/>
    <p:sldId id="533" r:id="rId13"/>
    <p:sldId id="535" r:id="rId14"/>
    <p:sldId id="527" r:id="rId15"/>
    <p:sldId id="528" r:id="rId16"/>
    <p:sldId id="529" r:id="rId17"/>
    <p:sldId id="530" r:id="rId18"/>
    <p:sldId id="531" r:id="rId19"/>
    <p:sldId id="541" r:id="rId20"/>
    <p:sldId id="537" r:id="rId21"/>
    <p:sldId id="539" r:id="rId22"/>
    <p:sldId id="540" r:id="rId23"/>
    <p:sldId id="538" r:id="rId24"/>
    <p:sldId id="542" r:id="rId25"/>
    <p:sldId id="543" r:id="rId26"/>
    <p:sldId id="544" r:id="rId27"/>
    <p:sldId id="536" r:id="rId2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4694"/>
  </p:normalViewPr>
  <p:slideViewPr>
    <p:cSldViewPr snapToGrid="0" snapToObjects="1">
      <p:cViewPr>
        <p:scale>
          <a:sx n="209" d="100"/>
          <a:sy n="209" d="100"/>
        </p:scale>
        <p:origin x="16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27:28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2:38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17 24575,'0'5'0,"-2"1"0,2-2 0,-2 0 0,2 1 0,0 0 0,0 3 0,0-4 0,0 2 0,4 2 0,3 5 0,2-1 0,5 3 0,-5-6 0,6-1 0,-7-2 0,12-2 0,-13-2 0,12-3 0,-16-2 0,4-7 0,-7 6 0,-9-30 0,4 21 0,-12-20 0,12 27 0,-8-3 0,3 6 0,-5-5 0,3 6 0,-5 0 0,7 0 0,-8 5 0,9 0 0,-6 6 0,7-4 0,-1 5 0,5-8 0,2 5 0,0-4 0,4 0 0,0-1 0,2-2 0,-1 0 0,1 0 0,5-10 0,-5 5 0,2-9 0,-6 10 0,0-3 0,-1 4 0,-2-1 0,0 6 0,-1 0 0,2 2 0,-2 2 0,2-2 0,-2 2 0,2-2 0,0 2 0,2-2 0,0 2 0,0-2 0,1 0 0,0-1 0,6 1 0,-4 0 0,10-2 0,-8 0 0,6-4 0,-6 0 0,-1-4 0,-2 2 0,-4-5 0,-2 0 0,-19-9 0,8 8 0,-10-4 0,18 12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2:39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98 24575,'0'8'0,"0"-2"0,0 0 0,0-2 0,2 3 0,-2 0 0,4 3 0,-2-3 0,2 0 0,6 3 0,-5 0 0,10 3 0,-10-6 0,16 2 0,-15-6 0,10 0 0,-11-3 0,2-5 0,-3 2 0,6-10 0,-7 8 0,4-12 0,-5 9 0,1-15 0,-1 14 0,-6-12 0,3 14 0,-6-6 0,7 6 0,-6 1 0,6 6 0,-2 5 0,2-1 0,0 2 0,0-2 0,0-1 0,2 1 0,-2 4 0,5-1 0,0 2 0,1 0 0,0-6 0,-2 2 0,0-7 0,-2 0 0,1-4 0,0-6 0,-1 2 0,2-10 0,-4 11 0,2-5 0,-2 7 0,-10-13 0,4 10 0,-8-12 0,6 17 0,2 0 0,0 5 0,4 2 0,-2 3 0,4 0 0,-2 8 0,4-8 0,1 12 0,0-10 0,4 7 0,-6-10 0,2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28.8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 9 24575,'-4'-5'0,"0"2"0,0 3 0,0 0 0,-4 0 0,1 0 0,-2 1 0,3 2 0,2 1 0,-2 5 0,-1 12 0,-2 20-6784,3-4 6784,2 4 0,4-15 0,0 8 0,0-5 0,0 39-4537,3-20 4537,-3 5 4537,5 28-4537,-2-17 0,0 12 0,0 5 0,0-26 0,0 22 0,3-18 0,15 30 0,-7-53 0,15 36 0,-13-46 0,15 24 0,-10-22 6784,13 14-6784,-16-23-6784,19 16 6784,-20-19 0,20 12 0,-29-20 0,6 0 0,-12-5 0,1-2 0,-2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30.7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24575,'0'8'0,"1"4"0,2-3 0,1 2 0,-2 0 0,2-3 0,-3-1 0,6 4 0,-4-5 0,7 9 0,-5-10 0,6 17 0,-5-17 0,5 17 0,-8-18 0,9 14 0,-8-10 0,8 6 0,-7-7 0,9 17 0,-8-15 0,11 25 0,-6-17 0,0 4 0,-1-4 0,-6-10 0,3 11 0,0-1 0,1 5 0,3 12 0,-8-11 0,5 8 0,-4-14 0,-1-3 0,3-3 0,-4-2 0,1 4 0,1 3 0,-2-2 0,4 20 0,0-17 0,0 15 0,-4-21 0,0 3 0,0 0 0,-1 1 0,1-1 0,-2 2 0,0-7 0,2 14 0,-2-11 0,2 7 0,-2-10 0,0 23 0,0-18 0,0 34 0,0-31 0,-2 9 0,2-14 0,-2 3 0,2-3 0,-4 9 0,3-9 0,-2 0 0,3-4 0,-2 6 0,-1 12 0,-1-3 0,0 2 0,2-16 0,-2 3 0,3-4 0,-2 9 0,2-7 0,-6 15 0,3-13 0,-6 11 0,8-14 0,-6 5 0,8-8 0,-8 6 0,7-6 0,-6 6 0,2 2 0,0-2 0,-9 10 0,5 0 0,-5 1 0,5-4 0,6-11 0,-5 3 0,4-6 0,-5 8 0,7-9 0,-2 1 0,2-1 0,0 2 0,-2-2 0,0 4 0,0-6 0,-2 5 0,4-4 0,-1 2 0,2-1 0,-2-2 0,2 0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1.6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3.0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 24575,'-11'7'0,"1"0"0,6-5 0,2-1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6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1 170 24575,'0'13'0,"0"3"0,0 24 0,0-9-8503,0 40 8503,0-33-2818,2 23 2818,-1-32 0,4 25 0,-2-2 0,0-2 0,2 5 4537,-2-20-4537,4 1 6784,-4-10-6784,3-1 0,-5-17 0,1-2 0,0-15 0,-2-6 0,2-1 0,-2-3 0,2-10 0,-1 8 0,5-22-6784,-5 24 6784,6-10 0,-5 9 0,8-32 0,-4 24 0,6-55 0,-9 43 0,-1-23 6784,-3 28-6784,-3 6 0,3 14 0,-5-4 0,2 1 0,-4-8 0,3 10 0,-5-8 0,5 15 0,-3-6 0,6 6 0,-2 3 0,0-2 0,1 2 0,-2-3 0,2-3 0,1 3 0,0-5 0,2 7 0,2-4 0,-2 6 0,4-4 0,-4 4 0,4 0 0,-2 1 0,0 0 0,2 3 0,0 21 0,1-4 0,3 23-6784,8 13 6784,-3-9 0,8 24 0,5-8 0,-3-9 0,13 10 0,-14-32 0,7-4 0,-19-19 6784,8-2-6784,-11-3 0,14-5 0,-10-1 0,22-15 0,-10 4 0,14-18 0,-14 15 0,14-21 0,-22 25 0,12-32 0,-22 34 0,4-23 0,-9 26 0,-2-3 0,0 8 0,-4 0 0,3 2 0,-4 0 0,5 2 0,-10 22 0,6-7 0,-8 44 0,7-18 0,-4 50 0,4-40 0,3 3 0,0-1 0,-2-5 0,3 4 0,0 0 0,0-2 0,1 19 0,2-39 0,0 8 0,0-23 0,0 12 0,1-19 0,0-2 0,2-8 0,-2-3 0,2 1 0,-2 4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7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24575,'4'3'0,"2"1"0,-2 0 0,11 3 0,-5-3 0,7 3 0,1-5 0,-1 2 0,13-1 0,-11 0 0,57 1 0,-49-3 0,35 1 0,-49-2 0,-6 0 0,-1 0 0,-5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7.6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1 24575,'-13'20'0,"-2"1"0,4-2 0,-2 5-9831,3-1 8341,-5 26 1490,5-6 0,-2 6 2818,6 5-2818,3-19 1719,-2 32-1719,4-22 0,4 49 0,2 5 0,0-23-272,5 24 0,2-8 272,-2-57 6514,9 17-6514,-9-33 0,11 16 0,-14-23 0,14 7 0,-17-16 0,5 1 0,-5-4 814,0-2-814,0 0 0,2-10 0,-2 6 0,6-15 0,-5 12 0,2-5 0,-4 10 0,-2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8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24575,'0'16'0,"0"3"0,0-1 0,0 10 0,2-10 0,1 14 0,0-8 0,0 29 0,3 26 0,-3-20 0,4 9 0,-5-52 0,-2-1 0,0-5 0,0-4 0,0-9 0,0-6 0,0 0 0,0-4 0,0-1 0,-2-33 0,-1 23 0,1-34 0,0 39 0,2-22 0,0 21 0,0-11 0,0 14 0,4-28 0,-1 24 0,6-19 0,-4 33 0,2-2 0,-3 4 0,7 1 0,-6 3 0,18 6 0,-14 2 0,10 4 0,-4 14 0,-6-8 0,10 24 0,-12-19 0,5 9 0,-3-10 0,2 13 0,-2-13 0,13 48-6784,-16-46 6784,9 24 0,-13-44 0,-2-4 0,0-7 0,0-2 0,2-5 0,3-13 6784,-2 5-6784,8-17 0,-7 14 0,24-54 0,-18 48 0,29-47 0,-28 62 0,31-11-6784,-28 20 6784,13 4 0,-20 10 0,2 9 0,9 17 0,0 4-4537,-1-2 4537,-6-7 4537,-1 8-4537,-6-16 0,3 18 0,-7-29 0,2 6 0,-2-10 1696,2 2 0,-2-4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9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24575,'4'2'0,"1"-2"0,-3 3 0,13 2 0,-4 0 0,9 1 0,0-1 0,-5-3 0,32 2 0,-27-3 0,21 1 0,-17-2 0,-12-2 0,6 2 0,-14-2 0,0 4 0,2-2 0,-4 2 0,2-2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49.9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0 368 24575,'2'-8'0,"-1"2"0,1 0 0,0 0 0,-2 0 0,2-3 0,-2 0 0,0 1 0,0-7 0,0 3 0,0-17 0,0 12 0,0-14 0,0 7 0,0-11 0,0 7 0,0-20 0,2 25 0,-2-14 0,2 30 0,-2 4 0,0 12 0,8 44 0,-6-20 0,9 30 0,-8-31 0,11 45 0,-9-29 0,6 7 0,1-3 0,-6-17 0,11 24 0,-7-37 0,-1 6 0,-3-13 0,-1-9 0,-5-7 0,2-5 0,-2 2 0,0 0 0,0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8T03:37:50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24575,'6'2'0,"-2"0"0,1 0 0,-2 2 0,8 3 0,-6 0 0,10 8 0,2 4 0,5 8 0,3-1 0,-4 3 0,16 12 0,7 18 0,-3-12 0,-5 2 0,-21-29 0,7 21 0,-1-8-6784,6 26 6784,-12-22 0,2 28 0,-13-35 0,5 20 0,-6-38 0,-1 11 0,0-12 6784,-2 20-6784,0-19 0,2 25 0,-2-22 0,2 13 0,-2-4 0,-2 3 0,0-2 0,-5 4 0,4-14 0,-5 8 0,5-9 0,-9 16 0,4-7 0,-2 5 0,2-6 0,5-14 0,-5 9 0,5-9 0,-3 8 0,2-9 0,0 2 0,2-5 0,0-1 0,0 1 0,0-1 0,0 0 0,-2-3 0,4 4 0,-4-2 0,4 0 0,-2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27:18.4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27:52.6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28:03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353 31 24575,'-9'4'0,"2"0"0,-7 3 0,4-4 0,-7 4 0,7-5 0,-16 4 0,12-2 0,-33 10 0,27-5 0,-18 11 0,32 26-6784,3-22 6784,11 28 0,28 0 0,-16-22 0,45 40 0,-38-49 0,33 18 0,-26-29 0,43 9 0,-26-16 0,47 3 0,-48-9 0,48-14 0,-63 3 6784,29-28-6784,-53 17 0,-3-27 0,-14 21 0,-27-43 0,11 38 0,-31-39 0,27 48 0,-30-20 0,32 32 0,-31-4 0,30 16 0,-28 1 0,19 1 0,-43 2 0,26-1 0,-22 7 0,0 0 0,14-2 0,6 2 0,5 0 0,28-2 0,8-3 0,0 3 0,7-5 0,1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39:54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24575,'62'-7'0,"-4"4"0,-1-3 0,23 2-9831,-7-3 8341,-3 3 1490,5-3 2818,-25 4-2818,15-6 1719,-19 3-1719,-15 1 0,-17 2 0,-4 1 0,-2 2 6784,-7 0-6784,-5 2 0,-2 1 0,-6-2 0,7-1 0,-7 2 0,2-1 0,-15 1 0,8-2 0,-16 0 0,15-2 0,-22-1 0,19 0 0,-12 0 0,14 2 0,-5-1 0,10 2 0,-5 0 0,10 0 0,-8 0 0,9 0 0,-6 2 0,10-1 0,-2 0 0,1-1 0,-5 2 0,5-1 0,-25 1 0,16-2 0,-17 0 0,19 0 0,1 0 0,8 0 0,4 0 0,3 0 0,5 0 0,-2 0 0,52 3 0,10 2 0,9 2-1142,5 2 0,2-1 1142,2-1 0,-4 0 0,-23 0 0,-4 0 0,23-4-617,-6 1 617,-11-1 0,1-1 0,8-1 0,-12 3 0,-6 0 0,-19-3 0,9 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33:27.4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24575,'2'3'0,"0"-1"0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33:44.9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24575,'6'0'0,"0"0"0,-2 0 0,-1 2 0,-2-1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39:44.9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03:39:46.1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0B468-6000-4F4F-B23B-BE9676C74908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40394-ACBF-E84E-9304-EF985F464D6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961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13h00’  13h50’ 10’</a:t>
            </a:r>
          </a:p>
          <a:p>
            <a:r>
              <a:rPr lang="en-US" dirty="0"/>
              <a:t>8 14h00’  14h50’ 10’</a:t>
            </a:r>
          </a:p>
          <a:p>
            <a:r>
              <a:rPr lang="en-US" dirty="0"/>
              <a:t>9 15h00’  15h50’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7F2C-93DA-CD47-8C0C-E2E0B94DC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40D78-3CEB-D34B-8AA0-26ABC610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13DCE-95C5-F345-B26F-F2E5E8A1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F0CC7-A192-4F49-AA21-AE86938B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DA9FB-58BC-9D48-9CF1-A5C77D56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957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7122-0597-B84D-8F8C-29733DC9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788BD-5859-A24E-A8DB-E48F2502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F944B-C992-1D40-BEE3-F5D46962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1B33A-8D25-0642-8D94-DF0CE4FD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9C96-7325-A649-B1B4-315F1C4E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5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43D4-58D7-D542-B737-8BFF5767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B7311-0544-164B-917A-F3B1477E4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F2D30-34E2-EF4D-84BE-49CBE0D7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860BF-558D-8444-87A0-C647384F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E951-98BA-674A-85EF-EEC6FBA5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21509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022B-2CA7-3C46-B473-21D2AED2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CB305-9751-5247-8C98-928DF0C4B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674-695C-D943-8282-CC4FD69AA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DC854-B70F-4548-A252-72272EDB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8CFED-F149-7344-B0CC-A8CB2ED2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A8BDA-47D4-824C-99D1-6FD714D2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441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26C9-89DD-8E47-936B-1581E9E3F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FA999-9054-2641-A548-575E25EA8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AC5C4-E624-0B46-9657-EE734FE7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AD042-EA79-B64A-AE1F-442C726AE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7BFAC-F727-DD40-905F-C7FD9FBFD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32E62-1A5C-6E4C-A20E-9A24DE89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08227-26AF-2B44-89DD-02FAD06A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AD7C6-375B-554E-BCD4-A6B7DED8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3533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55CA-C875-D942-AC34-FA80C352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68337-5365-9446-92EE-11317A32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AA39-7E3C-AD4D-BE4F-4B3B26E2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1D828-2959-0041-8FA3-E6EFAEDC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0218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B80A9-C336-0441-9A55-A16381B7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FF13C-918A-6A40-A6BE-1D2B0CB1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A053-61ED-D441-A5B9-1D26B8E7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852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65F1-0B7F-CB45-AD85-5280A856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5AA7-0292-CE45-92DE-50AD65067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8675D-9C29-8343-9AF2-232643D2D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09B74-566C-FD43-A441-566F8385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299B9-A7E3-6E47-92D5-AFE38527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D9C8-13B9-C84C-B723-747B0EEF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1792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162A-5C6A-5245-827B-D0CF38B2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18922-C99F-D84D-A2CD-BC05C3A08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66EFE-1E6C-B34F-9045-1FB195451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CEE24-50E9-1E48-9C0B-DCFBD957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1F8F6-8173-7246-8114-24F957E97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A7B0E-FA8F-A947-97B2-BA5A552E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8902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9BA8-6B36-FD4E-97EF-09EA9958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00F62-8BB2-1149-8E52-4C38C737D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D688-42DE-B740-B69E-FF9BCD88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8B02-CA92-B446-988E-EAD54089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1FA4-C2D1-724E-9830-3A08ED52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7917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D195D-1B7C-9D4D-8F35-634B52443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19A65-34C7-1A4E-BCDA-16A02CEE2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A7089-3CEC-9148-9879-F49A0CD5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2BCF-6DF1-A24C-A259-026A7E7B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59B92-B3ED-5742-8F8F-01313756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2332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B4D30-8E97-7940-AE66-1786092C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50568-1C91-B74C-9FE4-B54870D10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263E9-CE8A-6345-9D5B-D9D9F7931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B77BB-45FC-1D4E-BC6B-EBE1D26769E9}" type="datetimeFigureOut">
              <a:rPr lang="en-VN" smtClean="0"/>
              <a:t>10/15/21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9A5D-6DF5-824A-A7E0-97EED538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E852A-75BD-704C-A3B3-EFE543FB4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8C40A-DBE2-D24C-A200-2146B64D4F8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1788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gocdiep@vn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customXml" Target="../ink/ink15.xml"/><Relationship Id="rId7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7.xml"/><Relationship Id="rId5" Type="http://schemas.openxmlformats.org/officeDocument/2006/relationships/customXml" Target="../ink/ink16.xml"/><Relationship Id="rId4" Type="http://schemas.openxmlformats.org/officeDocument/2006/relationships/image" Target="../media/image33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customXml" Target="../ink/ink2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customXml" Target="../ink/ink19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2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D235-B925-8D41-999C-F236334AC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 Processing</a:t>
            </a:r>
            <a:br>
              <a:rPr lang="en-US" dirty="0"/>
            </a:br>
            <a:r>
              <a:rPr lang="en-US" dirty="0"/>
              <a:t>INT3404 20</a:t>
            </a:r>
            <a:br>
              <a:rPr lang="en-US" dirty="0"/>
            </a:br>
            <a:r>
              <a:rPr lang="en-US" dirty="0"/>
              <a:t>Week 5: Spatial filtering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9A23F-3D8E-AC4C-89F9-7C614FCB4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Nguyen </a:t>
            </a:r>
            <a:r>
              <a:rPr lang="en-US" dirty="0" err="1"/>
              <a:t>Thi</a:t>
            </a:r>
            <a:r>
              <a:rPr lang="en-US" dirty="0"/>
              <a:t> Ngoc Diep, Ph.D.</a:t>
            </a:r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ngocdiep@vnu.edu.vn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76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B1458F-294F-7748-B1CE-9D7094EA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24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63160-C336-DE4D-BF17-48EB6D8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FAEF6-56A3-C648-93E2-574B6C2059D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80454"/>
          <a:ext cx="10871859" cy="50870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55242">
                  <a:extLst>
                    <a:ext uri="{9D8B030D-6E8A-4147-A177-3AD203B41FA5}">
                      <a16:colId xmlns:a16="http://schemas.microsoft.com/office/drawing/2014/main" val="3803651082"/>
                    </a:ext>
                  </a:extLst>
                </a:gridCol>
                <a:gridCol w="5420609">
                  <a:extLst>
                    <a:ext uri="{9D8B030D-6E8A-4147-A177-3AD203B41FA5}">
                      <a16:colId xmlns:a16="http://schemas.microsoft.com/office/drawing/2014/main" val="2534359574"/>
                    </a:ext>
                  </a:extLst>
                </a:gridCol>
                <a:gridCol w="4796008">
                  <a:extLst>
                    <a:ext uri="{9D8B030D-6E8A-4147-A177-3AD203B41FA5}">
                      <a16:colId xmlns:a16="http://schemas.microsoft.com/office/drawing/2014/main" val="2917458572"/>
                    </a:ext>
                  </a:extLst>
                </a:gridCol>
              </a:tblGrid>
              <a:tr h="1927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Tuần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Nội dung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Yêu cầu đối với sinh viên (ngoài việc đọc tài liệu tham khảo)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268104051"/>
                  </a:ext>
                </a:extLst>
              </a:tr>
              <a:tr h="43969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Giới thiệu môn học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Cài đặt môi trường: Python 3, OpenCV 3, Numpy, Jupyter Notebook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667570547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Ảnh số (Digital image) – Phép toán điểm (Point operations)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Làm quen với OpenCV + Python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Điều chỉnh độ tương phản (Contrast adjust)– Ghép ảnh (Combining images)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4920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Histogram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- Histogram equalization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1: điều chỉnh gamma tìm contrast hợp lý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4647"/>
                  </a:ext>
                </a:extLst>
              </a:tr>
              <a:tr h="27922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</a:t>
                      </a: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94523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 (cont.)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hành: Cách tìm filters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02893480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Thực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hành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: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Ứng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dụng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histogram;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Tìm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ảnh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mẫu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(Template matching)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</a:rPr>
                        <a:t>Bài tập mid-term</a:t>
                      </a:r>
                      <a:endParaRPr lang="vi-VN" sz="1200" dirty="0">
                        <a:effectLst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7841842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Trích rút đặc trưng của ảnh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Cạnh (Edge) và đường (Line) và texture</a:t>
                      </a: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7645"/>
                  </a:ext>
                </a:extLst>
              </a:tr>
              <a:tr h="27320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Các phép biến đổi hình thái</a:t>
                      </a:r>
                      <a:r>
                        <a:rPr lang="en-US" sz="1200" dirty="0">
                          <a:effectLst/>
                        </a:rPr>
                        <a:t> (Morphological operations)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2: tìm barcode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24867615"/>
                  </a:ext>
                </a:extLst>
              </a:tr>
              <a:tr h="32977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Chuyển đổi không gian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– Miền tần số – Phép lọc trên miền tần số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Thông báo liên quan đồ án môn học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Đăng ký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474009523"/>
                  </a:ext>
                </a:extLst>
              </a:tr>
              <a:tr h="2284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Xử lý ảnh màu (Color digital image)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3: Chuyển đổi mô hình màu và thực hiện phân vùng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939931096"/>
                  </a:ext>
                </a:extLst>
              </a:tr>
              <a:tr h="414315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(Geometric transformations)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002170594"/>
                  </a:ext>
                </a:extLst>
              </a:tr>
              <a:tr h="25013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Nhiễu – Mô hình nhiễu – Khôi phục ảnh (Noise and restoration)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89213664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Nén ảnh (Compression)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835859816"/>
                  </a:ext>
                </a:extLst>
              </a:tr>
              <a:tr h="20715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384367590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Tổng kết cuối kỳ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52186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2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EAACDF-4B11-EE49-83C8-1F2DC292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This week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3B107-7D1A-2749-9A6F-BE7196CE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VN" dirty="0"/>
              <a:t>Recall Spatial Filtering (Week 4)</a:t>
            </a:r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Some properties of Convolution and correlation</a:t>
            </a:r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Filter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VN" dirty="0"/>
              <a:t>Non-DL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VN" dirty="0"/>
              <a:t>DL</a:t>
            </a:r>
          </a:p>
        </p:txBody>
      </p:sp>
    </p:spTree>
    <p:extLst>
      <p:ext uri="{BB962C8B-B14F-4D97-AF65-F5344CB8AC3E}">
        <p14:creationId xmlns:p14="http://schemas.microsoft.com/office/powerpoint/2010/main" val="246647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FA95-6904-3944-BE38-19832275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Recall week 4: Spatial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62BCE-950D-AA41-8414-0681D0B9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VN" dirty="0"/>
              <a:t>Neighbors of a pixel</a:t>
            </a:r>
          </a:p>
          <a:p>
            <a:r>
              <a:rPr lang="en-VN" dirty="0"/>
              <a:t>Distance between two pixels</a:t>
            </a:r>
          </a:p>
          <a:p>
            <a:r>
              <a:rPr lang="en-VN" dirty="0"/>
              <a:t>Correlation</a:t>
            </a:r>
          </a:p>
          <a:p>
            <a:endParaRPr lang="en-VN" dirty="0"/>
          </a:p>
          <a:p>
            <a:endParaRPr lang="en-VN" dirty="0"/>
          </a:p>
          <a:p>
            <a:r>
              <a:rPr lang="en-VN" dirty="0"/>
              <a:t>Convolution</a:t>
            </a:r>
          </a:p>
          <a:p>
            <a:endParaRPr lang="en-VN" dirty="0"/>
          </a:p>
          <a:p>
            <a:endParaRPr lang="en-VN" dirty="0"/>
          </a:p>
          <a:p>
            <a:r>
              <a:rPr lang="en-VN" dirty="0"/>
              <a:t>Filter kernels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2CD29-1361-F541-B72C-CB825228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23" y="3256978"/>
            <a:ext cx="6603836" cy="1170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B0495-FFA1-FF49-8816-B23519226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732" y="4844488"/>
            <a:ext cx="6086598" cy="105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6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0F1-AD49-A447-8DEA-00A1E89E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and Convolution in 2D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0FCA1-43B2-E446-9B06-69B13CBFD128}"/>
              </a:ext>
            </a:extLst>
          </p:cNvPr>
          <p:cNvSpPr txBox="1"/>
          <p:nvPr/>
        </p:nvSpPr>
        <p:spPr>
          <a:xfrm>
            <a:off x="7812742" y="6337772"/>
            <a:ext cx="1850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Fig. 3.30, Gonzalez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CB59-9250-044F-B146-89F0D43A57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27" t="6862" r="14782" b="46080"/>
          <a:stretch/>
        </p:blipFill>
        <p:spPr>
          <a:xfrm>
            <a:off x="2662517" y="1319324"/>
            <a:ext cx="5038768" cy="515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0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02DA-A2E4-7E4C-9DA5-7893D8E9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Padding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F2213-E975-0740-851B-76F09F169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04" y="2308034"/>
            <a:ext cx="7720853" cy="2780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6D0B5-8CC8-334B-908D-34EDD12C2422}"/>
              </a:ext>
            </a:extLst>
          </p:cNvPr>
          <p:cNvSpPr txBox="1"/>
          <p:nvPr/>
        </p:nvSpPr>
        <p:spPr>
          <a:xfrm>
            <a:off x="457199" y="589192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7E4CB-3665-3A41-A73C-A267FC676EFC}"/>
              </a:ext>
            </a:extLst>
          </p:cNvPr>
          <p:cNvSpPr txBox="1"/>
          <p:nvPr/>
        </p:nvSpPr>
        <p:spPr>
          <a:xfrm>
            <a:off x="457199" y="5183527"/>
            <a:ext cx="1718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size: </a:t>
            </a:r>
            <a:r>
              <a:rPr lang="en-US" dirty="0" err="1"/>
              <a:t>MxN</a:t>
            </a:r>
            <a:endParaRPr lang="en-US" dirty="0"/>
          </a:p>
          <a:p>
            <a:r>
              <a:rPr lang="en-US" dirty="0"/>
              <a:t>Kernel size: </a:t>
            </a:r>
            <a:r>
              <a:rPr lang="en-US" dirty="0" err="1"/>
              <a:t>mxn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962F0-AE34-C541-8FAE-4464F5BECA62}"/>
              </a:ext>
            </a:extLst>
          </p:cNvPr>
          <p:cNvSpPr/>
          <p:nvPr/>
        </p:nvSpPr>
        <p:spPr>
          <a:xfrm>
            <a:off x="2719618" y="5829858"/>
            <a:ext cx="2443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(M + m – 1) x (N +n – 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927C7-9430-E945-A0D9-C358CCFE8380}"/>
              </a:ext>
            </a:extLst>
          </p:cNvPr>
          <p:cNvSpPr/>
          <p:nvPr/>
        </p:nvSpPr>
        <p:spPr>
          <a:xfrm>
            <a:off x="6096000" y="582369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 x 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8EEBE-8BA5-C948-B51B-F51373DF6E56}"/>
              </a:ext>
            </a:extLst>
          </p:cNvPr>
          <p:cNvSpPr txBox="1"/>
          <p:nvPr/>
        </p:nvSpPr>
        <p:spPr>
          <a:xfrm>
            <a:off x="8155641" y="5823692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(M-m+1) x (N – n + 1)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120F0F-783B-E140-BC20-9C76F8E59E55}"/>
                  </a:ext>
                </a:extLst>
              </p14:cNvPr>
              <p14:cNvContentPartPr/>
              <p14:nvPr/>
            </p14:nvContentPartPr>
            <p14:xfrm>
              <a:off x="6292943" y="507093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E120F0F-783B-E140-BC20-9C76F8E59E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3943" y="50622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48A995D-5AF8-E346-AA3B-E87B3A120A6E}"/>
                  </a:ext>
                </a:extLst>
              </p14:cNvPr>
              <p14:cNvContentPartPr/>
              <p14:nvPr/>
            </p14:nvContentPartPr>
            <p14:xfrm>
              <a:off x="4785983" y="2764051"/>
              <a:ext cx="72720" cy="51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48A995D-5AF8-E346-AA3B-E87B3A120A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6983" y="2755051"/>
                <a:ext cx="903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AF7BFE0-4EED-E14D-B4BD-492D76ADC9C2}"/>
                  </a:ext>
                </a:extLst>
              </p14:cNvPr>
              <p14:cNvContentPartPr/>
              <p14:nvPr/>
            </p14:nvContentPartPr>
            <p14:xfrm>
              <a:off x="4806863" y="4794091"/>
              <a:ext cx="58320" cy="77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AF7BFE0-4EED-E14D-B4BD-492D76ADC9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7863" y="4785451"/>
                <a:ext cx="759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6541357-D697-3F4F-B078-B70F3A731119}"/>
                  </a:ext>
                </a:extLst>
              </p14:cNvPr>
              <p14:cNvContentPartPr/>
              <p14:nvPr/>
            </p14:nvContentPartPr>
            <p14:xfrm>
              <a:off x="3256028" y="5796992"/>
              <a:ext cx="120600" cy="4939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6541357-D697-3F4F-B078-B70F3A7311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7388" y="5788352"/>
                <a:ext cx="13824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24E072F-F508-544F-A45A-CE430960C271}"/>
                  </a:ext>
                </a:extLst>
              </p14:cNvPr>
              <p14:cNvContentPartPr/>
              <p14:nvPr/>
            </p14:nvContentPartPr>
            <p14:xfrm>
              <a:off x="3691628" y="5717072"/>
              <a:ext cx="100080" cy="542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24E072F-F508-544F-A45A-CE430960C2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82988" y="5708432"/>
                <a:ext cx="11772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340027B-D7E3-D049-A63A-C65B5CAF4409}"/>
                  </a:ext>
                </a:extLst>
              </p14:cNvPr>
              <p14:cNvContentPartPr/>
              <p14:nvPr/>
            </p14:nvContentPartPr>
            <p14:xfrm>
              <a:off x="10606508" y="1430192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340027B-D7E3-D049-A63A-C65B5CAF44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97868" y="142155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8040C76-B21B-AC4D-99C8-A3B494906C87}"/>
                  </a:ext>
                </a:extLst>
              </p14:cNvPr>
              <p14:cNvContentPartPr/>
              <p14:nvPr/>
            </p14:nvContentPartPr>
            <p14:xfrm>
              <a:off x="11212748" y="4731752"/>
              <a:ext cx="10800" cy="6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8040C76-B21B-AC4D-99C8-A3B494906C8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03748" y="4723112"/>
                <a:ext cx="2844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53BEA540-D7EA-A545-90A1-E38010A9BB99}"/>
              </a:ext>
            </a:extLst>
          </p:cNvPr>
          <p:cNvGrpSpPr/>
          <p:nvPr/>
        </p:nvGrpSpPr>
        <p:grpSpPr>
          <a:xfrm>
            <a:off x="8202428" y="5324672"/>
            <a:ext cx="1273680" cy="460080"/>
            <a:chOff x="8202428" y="5324672"/>
            <a:chExt cx="127368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6D4F3B-74B5-474C-B35D-C0B5AD90E4EB}"/>
                    </a:ext>
                  </a:extLst>
                </p14:cNvPr>
                <p14:cNvContentPartPr/>
                <p14:nvPr/>
              </p14:nvContentPartPr>
              <p14:xfrm>
                <a:off x="8202428" y="5381192"/>
                <a:ext cx="186480" cy="325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6D4F3B-74B5-474C-B35D-C0B5AD90E4E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93788" y="5372192"/>
                  <a:ext cx="2041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BCF594-BCE4-5E44-B568-1E7C1CB2FFAA}"/>
                    </a:ext>
                  </a:extLst>
                </p14:cNvPr>
                <p14:cNvContentPartPr/>
                <p14:nvPr/>
              </p14:nvContentPartPr>
              <p14:xfrm>
                <a:off x="8481428" y="5583152"/>
                <a:ext cx="119880" cy="18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BCF594-BCE4-5E44-B568-1E7C1CB2FF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72428" y="5574512"/>
                  <a:ext cx="137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36989E-5863-3A47-BC13-BF57F4BFCBC0}"/>
                    </a:ext>
                  </a:extLst>
                </p14:cNvPr>
                <p14:cNvContentPartPr/>
                <p14:nvPr/>
              </p14:nvContentPartPr>
              <p14:xfrm>
                <a:off x="8684468" y="5392352"/>
                <a:ext cx="66600" cy="392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36989E-5863-3A47-BC13-BF57F4BFCBC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75468" y="5383712"/>
                  <a:ext cx="842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7AADA47-6D69-2B49-9B01-257F25CA67DE}"/>
                    </a:ext>
                  </a:extLst>
                </p14:cNvPr>
                <p14:cNvContentPartPr/>
                <p14:nvPr/>
              </p14:nvContentPartPr>
              <p14:xfrm>
                <a:off x="8809748" y="5567672"/>
                <a:ext cx="200520" cy="16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7AADA47-6D69-2B49-9B01-257F25CA67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00748" y="5558672"/>
                  <a:ext cx="218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7537320-DE04-284D-827D-4CCB666C2C87}"/>
                    </a:ext>
                  </a:extLst>
                </p14:cNvPr>
                <p14:cNvContentPartPr/>
                <p14:nvPr/>
              </p14:nvContentPartPr>
              <p14:xfrm>
                <a:off x="9083348" y="5595032"/>
                <a:ext cx="99000" cy="12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7537320-DE04-284D-827D-4CCB666C2C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74708" y="5586392"/>
                  <a:ext cx="116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AAE3B2-2CAE-4644-9CBC-B00963316169}"/>
                    </a:ext>
                  </a:extLst>
                </p14:cNvPr>
                <p14:cNvContentPartPr/>
                <p14:nvPr/>
              </p14:nvContentPartPr>
              <p14:xfrm>
                <a:off x="9276308" y="5452832"/>
                <a:ext cx="48600" cy="211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AAE3B2-2CAE-4644-9CBC-B0096331616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67308" y="5444192"/>
                  <a:ext cx="66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9A72F2-3E34-3D41-8278-F7256DB17663}"/>
                    </a:ext>
                  </a:extLst>
                </p14:cNvPr>
                <p14:cNvContentPartPr/>
                <p14:nvPr/>
              </p14:nvContentPartPr>
              <p14:xfrm>
                <a:off x="9319868" y="5324672"/>
                <a:ext cx="156240" cy="429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9A72F2-3E34-3D41-8278-F7256DB1766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11228" y="5315672"/>
                  <a:ext cx="173880" cy="44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638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160F-E995-DD41-BBDC-ABFBAFD0BFF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Pad a constant value (black)</a:t>
            </a:r>
          </a:p>
          <a:p>
            <a:r>
              <a:rPr lang="en-US" dirty="0"/>
              <a:t>Wrap around (circulate the image)</a:t>
            </a:r>
          </a:p>
          <a:p>
            <a:r>
              <a:rPr lang="en-US" dirty="0"/>
              <a:t>Copy edge (replicate the edges’ pixels)</a:t>
            </a:r>
          </a:p>
          <a:p>
            <a:r>
              <a:rPr lang="en-US" dirty="0"/>
              <a:t>Reflect across edges (symmetric)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E58DD-7933-414B-84FB-036DDCE3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 values at borders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98DBF-213B-5E48-B6F2-0379585AA6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" t="196" r="-1"/>
          <a:stretch/>
        </p:blipFill>
        <p:spPr>
          <a:xfrm>
            <a:off x="3838014" y="4141726"/>
            <a:ext cx="2419642" cy="242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8606E9-564E-2F45-A9FE-5683CB6C3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313" y="4141725"/>
            <a:ext cx="2416982" cy="242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A1A074-12F2-EE48-A626-F232E134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953" y="4141728"/>
            <a:ext cx="2416982" cy="242043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76A22F3-6B68-3B49-8D91-72D863C7D3CE}"/>
              </a:ext>
            </a:extLst>
          </p:cNvPr>
          <p:cNvGrpSpPr/>
          <p:nvPr/>
        </p:nvGrpSpPr>
        <p:grpSpPr>
          <a:xfrm>
            <a:off x="905434" y="4141727"/>
            <a:ext cx="2419642" cy="2420435"/>
            <a:chOff x="2835087" y="1936410"/>
            <a:chExt cx="2419642" cy="242043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808557-0E42-6D4F-8817-FA52CED3A660}"/>
                </a:ext>
              </a:extLst>
            </p:cNvPr>
            <p:cNvSpPr/>
            <p:nvPr/>
          </p:nvSpPr>
          <p:spPr>
            <a:xfrm>
              <a:off x="2835087" y="1936410"/>
              <a:ext cx="2419642" cy="24204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DE90A6-56F1-B74A-8772-089963824A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80" t="5184" r="4863" b="4159"/>
            <a:stretch/>
          </p:blipFill>
          <p:spPr>
            <a:xfrm>
              <a:off x="2951629" y="2048717"/>
              <a:ext cx="2198595" cy="21985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660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81FB-799A-104C-ACC8-F585DE4E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Filter 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F56E-1F76-284E-BF30-C1ACF9471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Smoothing/Noise reduction/Blurring</a:t>
            </a:r>
          </a:p>
          <a:p>
            <a:pPr lvl="1"/>
            <a:r>
              <a:rPr lang="en-VN" dirty="0"/>
              <a:t>Box filter</a:t>
            </a:r>
          </a:p>
          <a:p>
            <a:pPr lvl="1"/>
            <a:r>
              <a:rPr lang="en-VN" dirty="0"/>
              <a:t>Lowpass Gaussian filter</a:t>
            </a:r>
          </a:p>
          <a:p>
            <a:pPr lvl="1"/>
            <a:r>
              <a:rPr lang="en-VN" dirty="0"/>
              <a:t>Order-statistic (nonlinear) filter</a:t>
            </a:r>
          </a:p>
          <a:p>
            <a:pPr lvl="2"/>
            <a:r>
              <a:rPr lang="en-VN" dirty="0"/>
              <a:t>Max, min, median</a:t>
            </a:r>
          </a:p>
          <a:p>
            <a:r>
              <a:rPr lang="en-VN" dirty="0"/>
              <a:t>Other applications:</a:t>
            </a:r>
          </a:p>
          <a:p>
            <a:pPr lvl="1"/>
            <a:r>
              <a:rPr lang="en-VN" dirty="0"/>
              <a:t>Shading correction</a:t>
            </a:r>
          </a:p>
          <a:p>
            <a:pPr lvl="1"/>
            <a:r>
              <a:rPr lang="en-VN" dirty="0"/>
              <a:t>Unsharp masking</a:t>
            </a:r>
          </a:p>
          <a:p>
            <a:pPr marL="0" indent="0">
              <a:buNone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3178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6960D-4E05-8645-A3AD-B1A5B629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Properties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8CD16-9C6D-A74C-B745-A1387F2EE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4057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9D04-73A1-6F4F-BBB4-86F1E74A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properties of convolution and correlation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875E2E-797F-5E47-B3E1-73219DB6A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51" y="2411715"/>
            <a:ext cx="11432659" cy="26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3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4F56A9-6477-5F46-86AA-D39858C8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Simpler convolution computation?</a:t>
            </a:r>
          </a:p>
        </p:txBody>
      </p:sp>
      <p:sp>
        <p:nvSpPr>
          <p:cNvPr id="2" name="AutoShape 2" descr="{\frac {1}{3}}{\begin{bmatrix}1\\1\\1\end{bmatrix}}*{\frac {1}{3}}{\begin{bmatrix}1&amp;1&amp;1\end{bmatrix}}={\frac {1}{9}}{\begin{bmatrix}1&amp;1&amp;1\\1&amp;1&amp;1\\1&amp;1&amp;1\end{bmatrix}}">
            <a:extLst>
              <a:ext uri="{FF2B5EF4-FFF2-40B4-BE49-F238E27FC236}">
                <a16:creationId xmlns:a16="http://schemas.microsoft.com/office/drawing/2014/main" id="{A29C2ECF-2D8E-CA4B-902B-C7457DDF87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39C72-8529-8642-AE92-11E14A52F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2019697"/>
            <a:ext cx="6370509" cy="1731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6ED9C-8D06-D54E-921C-AB675C33C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847" y="4091315"/>
            <a:ext cx="6409749" cy="173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6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4F56A9-6477-5F46-86AA-D39858C8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Separable filter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4A632B-945F-044A-B2CF-68A7ACA11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</a:t>
                </a:r>
                <a:r>
                  <a:rPr lang="en-VN" dirty="0"/>
                  <a:t> 2-D function G(x, y) is separable if it can be written as the product of two 1-D functions, G</a:t>
                </a:r>
                <a:r>
                  <a:rPr lang="en-VN" baseline="-25000" dirty="0"/>
                  <a:t>1</a:t>
                </a:r>
                <a:r>
                  <a:rPr lang="en-VN" dirty="0"/>
                  <a:t>(x, y) and G</a:t>
                </a:r>
                <a:r>
                  <a:rPr lang="en-VN" baseline="-25000" dirty="0"/>
                  <a:t>2</a:t>
                </a:r>
                <a:r>
                  <a:rPr lang="en-VN" dirty="0"/>
                  <a:t>(x, y)</a:t>
                </a:r>
              </a:p>
              <a:p>
                <a:endParaRPr lang="en-V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  <a:p>
                <a:r>
                  <a:rPr lang="en-VN" dirty="0"/>
                  <a:t>Associative property of convolution</a:t>
                </a:r>
              </a:p>
              <a:p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4A632B-945F-044A-B2CF-68A7ACA11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7" t="-23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2413FC1-8BA9-484C-AE25-53B93D979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13" y="4369446"/>
            <a:ext cx="910235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59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5E80-3CAD-494B-9BA5-1BFB437E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Computational advantage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A68AF-4DE0-6D4A-9B96-D6BBC01C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55" y="3084985"/>
            <a:ext cx="5887752" cy="1674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2DEC7-BE4A-8144-A734-4F5BF2128E07}"/>
              </a:ext>
            </a:extLst>
          </p:cNvPr>
          <p:cNvSpPr txBox="1"/>
          <p:nvPr/>
        </p:nvSpPr>
        <p:spPr>
          <a:xfrm>
            <a:off x="664502" y="2215006"/>
            <a:ext cx="1702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Input size: MxN</a:t>
            </a:r>
          </a:p>
          <a:p>
            <a:r>
              <a:rPr lang="en-VN" dirty="0"/>
              <a:t>Kernel size: mxn</a:t>
            </a:r>
          </a:p>
        </p:txBody>
      </p:sp>
    </p:spTree>
    <p:extLst>
      <p:ext uri="{BB962C8B-B14F-4D97-AF65-F5344CB8AC3E}">
        <p14:creationId xmlns:p14="http://schemas.microsoft.com/office/powerpoint/2010/main" val="126899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D319A-F448-4244-BAE2-04B67702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Week 5: Filter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9435A-4878-D446-9544-31283D863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74537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8BC4AB-A831-C94B-B746-62E7BF15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DEFE0D53-7258-6740-85AE-CDF1A77A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927" y="2640643"/>
            <a:ext cx="5715000" cy="1714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1A6633-B21E-EF48-9051-DF15E7FD9364}"/>
              </a:ext>
            </a:extLst>
          </p:cNvPr>
          <p:cNvSpPr/>
          <p:nvPr/>
        </p:nvSpPr>
        <p:spPr>
          <a:xfrm>
            <a:off x="6932930" y="2355632"/>
            <a:ext cx="2067339" cy="19995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dirty="0">
                <a:solidFill>
                  <a:srgbClr val="00206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00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0F19-8875-CC49-86B0-1226C4BD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Kernels with negative values?</a:t>
            </a:r>
          </a:p>
        </p:txBody>
      </p:sp>
      <p:pic>
        <p:nvPicPr>
          <p:cNvPr id="1026" name="Picture 2" descr="How to implement Sobel edge detection using Python from scratch adeveloperdiary.com sobel">
            <a:extLst>
              <a:ext uri="{FF2B5EF4-FFF2-40B4-BE49-F238E27FC236}">
                <a16:creationId xmlns:a16="http://schemas.microsoft.com/office/drawing/2014/main" id="{CA2255B1-7F72-5044-9D63-5D61CEAB5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33" y="2071441"/>
            <a:ext cx="9448800" cy="4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13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B4A5-8A4B-8842-80A7-FDE431C9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Edge detection</a:t>
            </a:r>
          </a:p>
        </p:txBody>
      </p:sp>
      <p:pic>
        <p:nvPicPr>
          <p:cNvPr id="2050" name="Picture 2" descr="How to implement Sobel edge detection using Python from scratch adeveloperdiary.com ">
            <a:extLst>
              <a:ext uri="{FF2B5EF4-FFF2-40B4-BE49-F238E27FC236}">
                <a16:creationId xmlns:a16="http://schemas.microsoft.com/office/drawing/2014/main" id="{43AD0BD5-8D0C-F24F-9030-ADA0F86E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637" y="2691028"/>
            <a:ext cx="2728528" cy="272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implement Sobel edge detection using Python from scratch adeveloperdiary.com">
            <a:extLst>
              <a:ext uri="{FF2B5EF4-FFF2-40B4-BE49-F238E27FC236}">
                <a16:creationId xmlns:a16="http://schemas.microsoft.com/office/drawing/2014/main" id="{41F43049-797C-924B-B9A0-AB18A8F23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306" y="2691027"/>
            <a:ext cx="2689829" cy="268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implement Sobel edge detection using Python from scratch">
            <a:extLst>
              <a:ext uri="{FF2B5EF4-FFF2-40B4-BE49-F238E27FC236}">
                <a16:creationId xmlns:a16="http://schemas.microsoft.com/office/drawing/2014/main" id="{7E94C9C0-7F0F-4946-A8A3-95B7B515C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5" y="2691026"/>
            <a:ext cx="2728529" cy="272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57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E121-B17B-404C-BE6E-B7B3DE59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Filter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FFE1-B890-0944-A6FF-065289792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With DL</a:t>
            </a:r>
          </a:p>
          <a:p>
            <a:pPr lvl="1"/>
            <a:r>
              <a:rPr lang="en-VN" dirty="0"/>
              <a:t>Automatic learning    &lt;-- With a lot of engineering skills</a:t>
            </a:r>
          </a:p>
          <a:p>
            <a:r>
              <a:rPr lang="en-VN" dirty="0"/>
              <a:t>Without DL</a:t>
            </a:r>
          </a:p>
          <a:p>
            <a:pPr lvl="1"/>
            <a:r>
              <a:rPr lang="en-VN" dirty="0"/>
              <a:t>With a lot of </a:t>
            </a:r>
            <a:r>
              <a:rPr lang="en-VN" i="1" dirty="0"/>
              <a:t>a priori </a:t>
            </a:r>
            <a:r>
              <a:rPr lang="en-VN" dirty="0"/>
              <a:t>knowledge</a:t>
            </a:r>
          </a:p>
        </p:txBody>
      </p:sp>
    </p:spTree>
    <p:extLst>
      <p:ext uri="{BB962C8B-B14F-4D97-AF65-F5344CB8AC3E}">
        <p14:creationId xmlns:p14="http://schemas.microsoft.com/office/powerpoint/2010/main" val="2607606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B496-243B-9445-A267-545E0990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Topic: </a:t>
            </a:r>
            <a:br>
              <a:rPr lang="en-VN" dirty="0"/>
            </a:br>
            <a:r>
              <a:rPr lang="en-VN" dirty="0"/>
              <a:t>Edge-preserving smoothing filters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24F47-957E-8343-8ABC-7E62341F7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3419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3582-B690-1E42-B39B-0F5C2BB6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Kuwahara-type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3BE79-AF4B-9748-B915-0836B6BF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52" y="1960322"/>
            <a:ext cx="10669688" cy="38937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020DD2-91D1-C041-98E2-B0F600290D38}"/>
              </a:ext>
            </a:extLst>
          </p:cNvPr>
          <p:cNvSpPr/>
          <p:nvPr/>
        </p:nvSpPr>
        <p:spPr>
          <a:xfrm>
            <a:off x="1039660" y="5934670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Ref: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Burger, Wilhelm, and Mark J. Burge. "Edge-Preserving Smoothing Filters."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Digital Image Processing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Springer, London, 2016. 413-451.</a:t>
            </a:r>
            <a:endParaRPr lang="en-VN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6453A13-9271-FD4E-97A0-BAB200CFF349}"/>
                  </a:ext>
                </a:extLst>
              </p14:cNvPr>
              <p14:cNvContentPartPr/>
              <p14:nvPr/>
            </p14:nvContentPartPr>
            <p14:xfrm>
              <a:off x="4316807" y="2686711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6453A13-9271-FD4E-97A0-BAB200CFF3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7807" y="26780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050E755-91A7-3B43-AF35-5E2F298325F2}"/>
                  </a:ext>
                </a:extLst>
              </p14:cNvPr>
              <p14:cNvContentPartPr/>
              <p14:nvPr/>
            </p14:nvContentPartPr>
            <p14:xfrm>
              <a:off x="4046520" y="2767056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050E755-91A7-3B43-AF35-5E2F29832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7520" y="27580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18A4637-DC33-C740-8F24-BD906E3AEDEF}"/>
                  </a:ext>
                </a:extLst>
              </p14:cNvPr>
              <p14:cNvContentPartPr/>
              <p14:nvPr/>
            </p14:nvContentPartPr>
            <p14:xfrm>
              <a:off x="3064800" y="4283736"/>
              <a:ext cx="315000" cy="1742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18A4637-DC33-C740-8F24-BD906E3AED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55800" y="4274736"/>
                <a:ext cx="3326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F53A8C6-CA1E-7A4C-8F4D-4309A62BBE25}"/>
                  </a:ext>
                </a:extLst>
              </p14:cNvPr>
              <p14:cNvContentPartPr/>
              <p14:nvPr/>
            </p14:nvContentPartPr>
            <p14:xfrm>
              <a:off x="1187760" y="6704376"/>
              <a:ext cx="514440" cy="35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F53A8C6-CA1E-7A4C-8F4D-4309A62BBE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9120" y="6695376"/>
                <a:ext cx="532080" cy="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3721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C02C-36E5-944E-812A-C8C742CF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Kuwahara-type filter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EAA62A-FBCF-0148-B2A8-ED52CD46B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61" y="1901210"/>
            <a:ext cx="6222931" cy="488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48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10B0-3EE2-E549-84C6-12478B8C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Kuwahara-type filter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2F45D9-BF95-C54B-9CCD-D17A0B64A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32" y="2436505"/>
            <a:ext cx="5518253" cy="38235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87C62-242E-274E-8145-839832469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582" y="1160676"/>
            <a:ext cx="4868218" cy="4919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A603D2-8D25-B14C-B23B-CB6C52D7F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01" y="6096188"/>
            <a:ext cx="4922236" cy="1638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350A9B-02D5-354A-9B6B-B6683FEFFB47}"/>
                  </a:ext>
                </a:extLst>
              </p14:cNvPr>
              <p14:cNvContentPartPr/>
              <p14:nvPr/>
            </p14:nvContentPartPr>
            <p14:xfrm>
              <a:off x="5400120" y="3344496"/>
              <a:ext cx="1800" cy="1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350A9B-02D5-354A-9B6B-B6683FEFFB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91480" y="3335496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206DC33-0C62-5F4E-A0EF-D28FD9100885}"/>
                  </a:ext>
                </a:extLst>
              </p14:cNvPr>
              <p14:cNvContentPartPr/>
              <p14:nvPr/>
            </p14:nvContentPartPr>
            <p14:xfrm>
              <a:off x="1782840" y="5529336"/>
              <a:ext cx="7920" cy="18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206DC33-0C62-5F4E-A0EF-D28FD91008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4200" y="5520336"/>
                <a:ext cx="25560" cy="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2437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8FAE-1B9A-554B-A099-7A9734D2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Nagao-Matsuyama filter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2991C-D039-B445-A8C6-C2D1AAF4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62" y="2334773"/>
            <a:ext cx="10738981" cy="337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42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EF47C5-125E-464E-8782-11B197B7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Domain filter vs Range filter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BC7D4-3EC9-9C43-A96F-26BEBC9B8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Domain filter: weights depend only on the distance in the spatial domain</a:t>
            </a:r>
          </a:p>
          <a:p>
            <a:pPr marL="457200" lvl="1" indent="0">
              <a:buNone/>
            </a:pPr>
            <a:endParaRPr lang="en-VN" dirty="0"/>
          </a:p>
          <a:p>
            <a:pPr marL="457200" lvl="1" indent="0">
              <a:buNone/>
            </a:pPr>
            <a:endParaRPr lang="en-VN" dirty="0"/>
          </a:p>
          <a:p>
            <a:pPr marL="457200" lvl="1" indent="0">
              <a:buNone/>
            </a:pPr>
            <a:endParaRPr lang="en-VN" dirty="0"/>
          </a:p>
          <a:p>
            <a:pPr marL="457200" lvl="1" indent="0">
              <a:buNone/>
            </a:pPr>
            <a:endParaRPr lang="en-VN" dirty="0"/>
          </a:p>
          <a:p>
            <a:r>
              <a:rPr lang="en-VN" dirty="0"/>
              <a:t>Range filter: weights depend only upon the differences in pixel values or range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064E7-C686-EB42-9030-7BBB8346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46" y="2617689"/>
            <a:ext cx="4041913" cy="1521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48E90-3953-F142-B4A7-B897155E1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946" y="5230824"/>
            <a:ext cx="4347983" cy="879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9406D-AD28-0746-ACFA-CF3A15A39F46}"/>
              </a:ext>
            </a:extLst>
          </p:cNvPr>
          <p:cNvSpPr txBox="1"/>
          <p:nvPr/>
        </p:nvSpPr>
        <p:spPr>
          <a:xfrm>
            <a:off x="8505172" y="3000838"/>
            <a:ext cx="3213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>
                <a:solidFill>
                  <a:srgbClr val="0070C0"/>
                </a:solidFill>
              </a:rPr>
              <a:t>Cause some spatial effect upon the image: blurring or sharpening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D1B8C-E650-6E4D-9431-4293BB551B00}"/>
              </a:ext>
            </a:extLst>
          </p:cNvPr>
          <p:cNvSpPr txBox="1"/>
          <p:nvPr/>
        </p:nvSpPr>
        <p:spPr>
          <a:xfrm>
            <a:off x="8505172" y="5301452"/>
            <a:ext cx="3213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>
                <a:solidFill>
                  <a:srgbClr val="0070C0"/>
                </a:solidFill>
              </a:rPr>
              <a:t>Act as a point opration</a:t>
            </a:r>
          </a:p>
        </p:txBody>
      </p:sp>
    </p:spTree>
    <p:extLst>
      <p:ext uri="{BB962C8B-B14F-4D97-AF65-F5344CB8AC3E}">
        <p14:creationId xmlns:p14="http://schemas.microsoft.com/office/powerpoint/2010/main" val="3403006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EF25-A386-B749-BA1B-8E5A55BD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Bilateral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F8B6-C1D7-424E-B92A-31EB30293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Combining both domain filtering and range filtering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F44BD9-B3E1-A343-A264-0BF30EE28461}"/>
              </a:ext>
            </a:extLst>
          </p:cNvPr>
          <p:cNvGrpSpPr/>
          <p:nvPr/>
        </p:nvGrpSpPr>
        <p:grpSpPr>
          <a:xfrm>
            <a:off x="2379945" y="2414343"/>
            <a:ext cx="6538587" cy="1086682"/>
            <a:chOff x="3137769" y="2414343"/>
            <a:chExt cx="5780763" cy="9301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A7415B-9524-7246-B3D6-088BB7E5C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7769" y="2414343"/>
              <a:ext cx="5747359" cy="92842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ADA036-5686-5F4E-9400-21C8E524DF92}"/>
                </a:ext>
              </a:extLst>
            </p:cNvPr>
            <p:cNvSpPr/>
            <p:nvPr/>
          </p:nvSpPr>
          <p:spPr>
            <a:xfrm>
              <a:off x="8185759" y="3031299"/>
              <a:ext cx="732773" cy="313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405D94C-61DD-AB4D-8D60-B5E87C392D36}"/>
              </a:ext>
            </a:extLst>
          </p:cNvPr>
          <p:cNvGrpSpPr/>
          <p:nvPr/>
        </p:nvGrpSpPr>
        <p:grpSpPr>
          <a:xfrm>
            <a:off x="2379945" y="3706200"/>
            <a:ext cx="6533222" cy="2381449"/>
            <a:chOff x="2379945" y="3706200"/>
            <a:chExt cx="6533222" cy="23814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E3E2FC-B600-8245-8B6D-2F4222D4C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9945" y="3706200"/>
              <a:ext cx="6533222" cy="23814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0507D9-D775-D740-A85A-FDA0F947727C}"/>
                </a:ext>
              </a:extLst>
            </p:cNvPr>
            <p:cNvSpPr/>
            <p:nvPr/>
          </p:nvSpPr>
          <p:spPr>
            <a:xfrm>
              <a:off x="8051914" y="5003624"/>
              <a:ext cx="828835" cy="3658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2813030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C0849-5B7F-BA41-8A81-780B4F5D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ECC98-C910-B74F-BAF1-4EE376DAA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561" y="167303"/>
            <a:ext cx="6619237" cy="652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1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43056D-56B6-924A-B329-2D33F59DC5F4}"/>
              </a:ext>
            </a:extLst>
          </p:cNvPr>
          <p:cNvSpPr/>
          <p:nvPr/>
        </p:nvSpPr>
        <p:spPr>
          <a:xfrm>
            <a:off x="692900" y="1744690"/>
            <a:ext cx="1108638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NimbusRomNo9L"/>
              </a:rPr>
              <a:t>[6] B. Ham, M. Cho, and J. Ponce, “Robust guided image filtering using nonconvex potentials,” </a:t>
            </a:r>
            <a:r>
              <a:rPr lang="en-US" sz="1600" i="1" dirty="0">
                <a:latin typeface="NimbusRomNo9L"/>
              </a:rPr>
              <a:t>IEEE Transactions on Pattern Analysis and Machine Intelligence</a:t>
            </a:r>
            <a:r>
              <a:rPr lang="en-US" sz="1600" dirty="0">
                <a:latin typeface="NimbusRomNo9L"/>
              </a:rPr>
              <a:t>, 2017.</a:t>
            </a:r>
          </a:p>
          <a:p>
            <a:r>
              <a:rPr lang="en-US" sz="1600" dirty="0">
                <a:latin typeface="NimbusRomNo9L"/>
              </a:rPr>
              <a:t> </a:t>
            </a:r>
            <a:endParaRPr lang="en-US" sz="1600" dirty="0"/>
          </a:p>
          <a:p>
            <a:r>
              <a:rPr lang="en-US" sz="1600" dirty="0">
                <a:latin typeface="NimbusRomNo9L"/>
              </a:rPr>
              <a:t>[7] L. Xu, C. Lu, Y. Xu, and J. Jia, “Image smoothing via l 0 gradient minimization,” in </a:t>
            </a:r>
            <a:r>
              <a:rPr lang="en-US" sz="1600" i="1" dirty="0">
                <a:latin typeface="NimbusRomNo9L"/>
              </a:rPr>
              <a:t>ACM Transactions on Graphics (TOG)</a:t>
            </a:r>
            <a:r>
              <a:rPr lang="en-US" sz="1600" dirty="0">
                <a:latin typeface="NimbusRomNo9L"/>
              </a:rPr>
              <a:t>, vol. 30, no. 6. ACM, 2011, p. 174. </a:t>
            </a:r>
          </a:p>
          <a:p>
            <a:endParaRPr lang="en-US" sz="1600" dirty="0"/>
          </a:p>
          <a:p>
            <a:r>
              <a:rPr lang="en-US" sz="1600" dirty="0">
                <a:latin typeface="NimbusRomNo9L"/>
              </a:rPr>
              <a:t>[8] D. Min, S. Choi, J. Lu, B. Ham, K. Sohn, and M. N. Do, “Fast global image smoothing based on weighted least squares,” </a:t>
            </a:r>
            <a:r>
              <a:rPr lang="en-US" sz="1600" i="1" dirty="0">
                <a:latin typeface="NimbusRomNo9L"/>
              </a:rPr>
              <a:t>IEEE Transactions on Image Processing</a:t>
            </a:r>
            <a:r>
              <a:rPr lang="en-US" sz="1600" dirty="0">
                <a:latin typeface="NimbusRomNo9L"/>
              </a:rPr>
              <a:t>, vol. 23, no. 12, pp. 5638–5653, 2014. </a:t>
            </a:r>
          </a:p>
          <a:p>
            <a:endParaRPr lang="en-US" sz="1600" dirty="0"/>
          </a:p>
          <a:p>
            <a:r>
              <a:rPr lang="en-US" sz="1600" dirty="0">
                <a:latin typeface="NimbusRomNo9L"/>
              </a:rPr>
              <a:t>[9] L. Bao, Y. Song, Q. Yang, H. Yuan, and G. Wang, “Tree filtering: Efficient structure-preserving smoothing with a minimum spanning tree,” </a:t>
            </a:r>
            <a:r>
              <a:rPr lang="en-US" sz="1600" i="1" dirty="0">
                <a:latin typeface="NimbusRomNo9L"/>
              </a:rPr>
              <a:t>IEEE Transactions on Image Processing</a:t>
            </a:r>
            <a:r>
              <a:rPr lang="en-US" sz="1600" dirty="0">
                <a:latin typeface="NimbusRomNo9L"/>
              </a:rPr>
              <a:t>, vol. 23, no. 2, pp. 555–569, 2014. </a:t>
            </a:r>
          </a:p>
          <a:p>
            <a:endParaRPr lang="en-US" sz="1600" dirty="0"/>
          </a:p>
          <a:p>
            <a:r>
              <a:rPr lang="en-US" sz="1600" dirty="0">
                <a:latin typeface="NimbusRomNo9L"/>
              </a:rPr>
              <a:t>[10] Q. Zhang, L. Xu, and J. Jia, “100+ times faster weighted median filter (</a:t>
            </a:r>
            <a:r>
              <a:rPr lang="en-US" sz="1600" dirty="0" err="1">
                <a:latin typeface="NimbusRomNo9L"/>
              </a:rPr>
              <a:t>wmf</a:t>
            </a:r>
            <a:r>
              <a:rPr lang="en-US" sz="1600" dirty="0">
                <a:latin typeface="NimbusRomNo9L"/>
              </a:rPr>
              <a:t>),” in </a:t>
            </a:r>
            <a:r>
              <a:rPr lang="en-US" sz="1600" i="1" dirty="0">
                <a:latin typeface="NimbusRomNo9L"/>
              </a:rPr>
              <a:t>Proceedings of the IEEE Conference on Computer Vision and Pattern Recognition</a:t>
            </a:r>
            <a:r>
              <a:rPr lang="en-US" sz="1600" dirty="0">
                <a:latin typeface="NimbusRomNo9L"/>
              </a:rPr>
              <a:t>, 2014, pp. 2830–2837. </a:t>
            </a:r>
          </a:p>
          <a:p>
            <a:endParaRPr lang="en-US" sz="1600" dirty="0"/>
          </a:p>
          <a:p>
            <a:r>
              <a:rPr lang="en-US" sz="1600" dirty="0">
                <a:latin typeface="NimbusRomNo9L"/>
              </a:rPr>
              <a:t>[11] S. Paris, S. W. </a:t>
            </a:r>
            <a:r>
              <a:rPr lang="en-US" sz="1600" dirty="0" err="1">
                <a:latin typeface="NimbusRomNo9L"/>
              </a:rPr>
              <a:t>Hasinoff</a:t>
            </a:r>
            <a:r>
              <a:rPr lang="en-US" sz="1600" dirty="0">
                <a:latin typeface="NimbusRomNo9L"/>
              </a:rPr>
              <a:t>, and J. Kautz, “Local </a:t>
            </a:r>
            <a:r>
              <a:rPr lang="en-US" sz="1600" dirty="0" err="1">
                <a:latin typeface="NimbusRomNo9L"/>
              </a:rPr>
              <a:t>laplacian</a:t>
            </a:r>
            <a:r>
              <a:rPr lang="en-US" sz="1600" dirty="0">
                <a:latin typeface="NimbusRomNo9L"/>
              </a:rPr>
              <a:t> filters: Edge- aware image processing with a </a:t>
            </a:r>
            <a:r>
              <a:rPr lang="en-US" sz="1600" dirty="0" err="1">
                <a:latin typeface="NimbusRomNo9L"/>
              </a:rPr>
              <a:t>laplacian</a:t>
            </a:r>
            <a:r>
              <a:rPr lang="en-US" sz="1600" dirty="0">
                <a:latin typeface="NimbusRomNo9L"/>
              </a:rPr>
              <a:t> pyramid.” </a:t>
            </a:r>
            <a:r>
              <a:rPr lang="en-US" sz="1600" i="1" dirty="0">
                <a:latin typeface="NimbusRomNo9L"/>
              </a:rPr>
              <a:t>ACM Trans. Graph.</a:t>
            </a:r>
            <a:r>
              <a:rPr lang="en-US" sz="1600" dirty="0">
                <a:latin typeface="NimbusRomNo9L"/>
              </a:rPr>
              <a:t>, vol. 30, no. 4, pp. 68–1, 2011. </a:t>
            </a:r>
          </a:p>
          <a:p>
            <a:endParaRPr lang="en-US" sz="1600" dirty="0"/>
          </a:p>
          <a:p>
            <a:r>
              <a:rPr lang="en-US" sz="1600" dirty="0">
                <a:latin typeface="NimbusRomNo9L"/>
              </a:rPr>
              <a:t>[12] S. Bi, X. Han, and Y. Yu, “An l 1 image transform for edge-preserving smoothing and scene-level intrinsic decomposition,” </a:t>
            </a:r>
            <a:r>
              <a:rPr lang="en-US" sz="1600" i="1" dirty="0">
                <a:latin typeface="NimbusRomNo9L"/>
              </a:rPr>
              <a:t>ACM Transactions on Graphics (TOG)</a:t>
            </a:r>
            <a:r>
              <a:rPr lang="en-US" sz="1600" dirty="0">
                <a:latin typeface="NimbusRomNo9L"/>
              </a:rPr>
              <a:t>, vol. 34, no. 4, p. 78, 2015. 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66548-F65D-F747-8E63-862236BC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23" y="194326"/>
            <a:ext cx="9516954" cy="14356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80403D-C939-9748-A9DB-D56101165947}"/>
                  </a:ext>
                </a:extLst>
              </p14:cNvPr>
              <p14:cNvContentPartPr/>
              <p14:nvPr/>
            </p14:nvContentPartPr>
            <p14:xfrm>
              <a:off x="2583840" y="41678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80403D-C939-9748-A9DB-D561011659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5200" y="41591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675F0A-50AF-994A-BD4B-0E6072CFE553}"/>
                  </a:ext>
                </a:extLst>
              </p14:cNvPr>
              <p14:cNvContentPartPr/>
              <p14:nvPr/>
            </p14:nvContentPartPr>
            <p14:xfrm>
              <a:off x="1199280" y="616833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675F0A-50AF-994A-BD4B-0E6072CFE5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0640" y="61593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165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1109</Words>
  <Application>Microsoft Macintosh PowerPoint</Application>
  <PresentationFormat>Widescreen</PresentationFormat>
  <Paragraphs>155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NimbusRomNo9L</vt:lpstr>
      <vt:lpstr>Arial</vt:lpstr>
      <vt:lpstr>Calibri</vt:lpstr>
      <vt:lpstr>Calibri Light</vt:lpstr>
      <vt:lpstr>Cambria Math</vt:lpstr>
      <vt:lpstr>Office Theme</vt:lpstr>
      <vt:lpstr>Image Processing INT3404 20 Week 5: Spatial filtering (cont)</vt:lpstr>
      <vt:lpstr>Schedule</vt:lpstr>
      <vt:lpstr>This week outline</vt:lpstr>
      <vt:lpstr>Recall week 4: Spatial filtering</vt:lpstr>
      <vt:lpstr>Correlation and Convolution in 2D</vt:lpstr>
      <vt:lpstr>Padding</vt:lpstr>
      <vt:lpstr>Padding values at borders</vt:lpstr>
      <vt:lpstr>Filter kernels</vt:lpstr>
      <vt:lpstr>Properties</vt:lpstr>
      <vt:lpstr>Fundamental properties of convolution and correlation</vt:lpstr>
      <vt:lpstr>Simpler convolution computation?</vt:lpstr>
      <vt:lpstr>Separable filter kernels</vt:lpstr>
      <vt:lpstr>Computational advantage</vt:lpstr>
      <vt:lpstr>Week 5: Filter design</vt:lpstr>
      <vt:lpstr>PowerPoint Presentation</vt:lpstr>
      <vt:lpstr>Kernels with negative values?</vt:lpstr>
      <vt:lpstr>Edge detection</vt:lpstr>
      <vt:lpstr>Filter learning</vt:lpstr>
      <vt:lpstr>Topic:  Edge-preserving smoothing filters</vt:lpstr>
      <vt:lpstr>Kuwahara-type filter</vt:lpstr>
      <vt:lpstr>Kuwahara-type filter</vt:lpstr>
      <vt:lpstr>Kuwahara-type filter</vt:lpstr>
      <vt:lpstr>Nagao-Matsuyama filter</vt:lpstr>
      <vt:lpstr>Domain filter vs Range filter</vt:lpstr>
      <vt:lpstr>Bilateral filter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 INT3404 20 Week 5: Spatial filtering (cont)</dc:title>
  <dc:creator>NGUYEN DIEP</dc:creator>
  <cp:lastModifiedBy>NGUYEN DIEP</cp:lastModifiedBy>
  <cp:revision>18</cp:revision>
  <cp:lastPrinted>2020-10-01T04:54:25Z</cp:lastPrinted>
  <dcterms:created xsi:type="dcterms:W3CDTF">2020-09-30T09:56:29Z</dcterms:created>
  <dcterms:modified xsi:type="dcterms:W3CDTF">2021-10-15T03:46:38Z</dcterms:modified>
</cp:coreProperties>
</file>