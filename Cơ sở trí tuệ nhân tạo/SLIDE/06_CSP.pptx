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2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2"/>
  </p:notesMasterIdLst>
  <p:sldIdLst>
    <p:sldId id="258" r:id="rId2"/>
    <p:sldId id="396" r:id="rId3"/>
    <p:sldId id="346" r:id="rId4"/>
    <p:sldId id="395" r:id="rId5"/>
    <p:sldId id="264" r:id="rId6"/>
    <p:sldId id="276" r:id="rId7"/>
    <p:sldId id="267" r:id="rId8"/>
    <p:sldId id="268" r:id="rId9"/>
    <p:sldId id="271" r:id="rId10"/>
    <p:sldId id="265" r:id="rId11"/>
    <p:sldId id="266" r:id="rId12"/>
    <p:sldId id="269" r:id="rId13"/>
    <p:sldId id="270" r:id="rId14"/>
    <p:sldId id="272" r:id="rId15"/>
    <p:sldId id="273" r:id="rId16"/>
    <p:sldId id="279" r:id="rId17"/>
    <p:sldId id="287" r:id="rId18"/>
    <p:sldId id="289" r:id="rId19"/>
    <p:sldId id="288" r:id="rId20"/>
    <p:sldId id="296" r:id="rId21"/>
    <p:sldId id="297" r:id="rId22"/>
    <p:sldId id="352" r:id="rId23"/>
    <p:sldId id="298" r:id="rId24"/>
    <p:sldId id="312" r:id="rId25"/>
    <p:sldId id="313" r:id="rId26"/>
    <p:sldId id="314" r:id="rId27"/>
    <p:sldId id="317" r:id="rId28"/>
    <p:sldId id="301" r:id="rId29"/>
    <p:sldId id="319" r:id="rId30"/>
    <p:sldId id="302" r:id="rId31"/>
    <p:sldId id="336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30" r:id="rId41"/>
    <p:sldId id="328" r:id="rId42"/>
    <p:sldId id="329" r:id="rId43"/>
    <p:sldId id="331" r:id="rId44"/>
    <p:sldId id="332" r:id="rId45"/>
    <p:sldId id="333" r:id="rId46"/>
    <p:sldId id="359" r:id="rId47"/>
    <p:sldId id="360" r:id="rId48"/>
    <p:sldId id="304" r:id="rId49"/>
    <p:sldId id="363" r:id="rId50"/>
    <p:sldId id="307" r:id="rId51"/>
    <p:sldId id="309" r:id="rId52"/>
    <p:sldId id="386" r:id="rId53"/>
    <p:sldId id="339" r:id="rId54"/>
    <p:sldId id="340" r:id="rId55"/>
    <p:sldId id="341" r:id="rId56"/>
    <p:sldId id="371" r:id="rId57"/>
    <p:sldId id="373" r:id="rId58"/>
    <p:sldId id="342" r:id="rId59"/>
    <p:sldId id="372" r:id="rId60"/>
    <p:sldId id="366" r:id="rId61"/>
    <p:sldId id="374" r:id="rId62"/>
    <p:sldId id="338" r:id="rId63"/>
    <p:sldId id="387" r:id="rId64"/>
    <p:sldId id="392" r:id="rId65"/>
    <p:sldId id="388" r:id="rId66"/>
    <p:sldId id="394" r:id="rId67"/>
    <p:sldId id="389" r:id="rId68"/>
    <p:sldId id="393" r:id="rId69"/>
    <p:sldId id="391" r:id="rId70"/>
    <p:sldId id="397" r:id="rId71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2" autoAdjust="0"/>
    <p:restoredTop sz="84121" autoAdjust="0"/>
  </p:normalViewPr>
  <p:slideViewPr>
    <p:cSldViewPr snapToGrid="0" snapToObjects="1">
      <p:cViewPr varScale="1">
        <p:scale>
          <a:sx n="75" d="100"/>
          <a:sy n="75" d="100"/>
        </p:scale>
        <p:origin x="136" y="30"/>
      </p:cViewPr>
      <p:guideLst/>
    </p:cSldViewPr>
  </p:slideViewPr>
  <p:outlineViewPr>
    <p:cViewPr>
      <p:scale>
        <a:sx n="33" d="100"/>
        <a:sy n="33" d="100"/>
      </p:scale>
      <p:origin x="0" y="-32875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DB551213-782B-6740-9159-A15F1071FA56}" type="datetimeFigureOut">
              <a:rPr lang="en-US" smtClean="0"/>
              <a:t>15-9-2025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B373B70-394B-D341-8F66-A712FCAEE1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1F94F5-58D1-42ED-AB38-DD97D2E4947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110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1021992" fontAlgn="base">
              <a:spcBef>
                <a:spcPct val="0"/>
              </a:spcBef>
              <a:spcAft>
                <a:spcPct val="0"/>
              </a:spcAft>
              <a:defRPr/>
            </a:pPr>
            <a:fld id="{951F94F5-58D1-42ED-AB38-DD97D2E49478}" type="slidenum">
              <a:rPr lang="en-US" sz="1400">
                <a:solidFill>
                  <a:srgbClr val="000000"/>
                </a:solidFill>
                <a:latin typeface="Arial" charset="0"/>
              </a:rPr>
              <a:pPr defTabSz="1021992"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z="1400">
              <a:solidFill>
                <a:srgbClr val="000000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7704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test has structure, it ‘s more like a manual describing a</a:t>
            </a:r>
            <a:r>
              <a:rPr lang="en-US" baseline="0" dirty="0"/>
              <a:t> set of constraints that have to hold 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7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Demo:</a:t>
            </a:r>
          </a:p>
          <a:p>
            <a:endParaRPr lang="en-US" baseline="0" dirty="0"/>
          </a:p>
          <a:p>
            <a:r>
              <a:rPr lang="en-US" baseline="0" dirty="0"/>
              <a:t>Run </a:t>
            </a:r>
            <a:r>
              <a:rPr lang="en-US" baseline="0" dirty="0" err="1"/>
              <a:t>constraint.jar</a:t>
            </a:r>
            <a:r>
              <a:rPr lang="en-US" baseline="0" dirty="0"/>
              <a:t> or </a:t>
            </a:r>
            <a:r>
              <a:rPr lang="en-US" baseline="0" dirty="0" err="1"/>
              <a:t>constraint.exe</a:t>
            </a:r>
            <a:r>
              <a:rPr lang="en-US" baseline="0" dirty="0"/>
              <a:t>, load the 5 queens problem.</a:t>
            </a:r>
          </a:p>
          <a:p>
            <a:pPr defTabSz="966612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/>
              <a:t>Demo is just showing the n-queens applet as</a:t>
            </a:r>
            <a:r>
              <a:rPr lang="en-US" baseline="0" dirty="0"/>
              <a:t> illustration of constraint graph, but later in lecture we’ll interact with the applet.</a:t>
            </a:r>
          </a:p>
          <a:p>
            <a:r>
              <a:rPr lang="en-US" dirty="0" err="1"/>
              <a:t>aispace.org</a:t>
            </a:r>
            <a:r>
              <a:rPr lang="en-US" dirty="0"/>
              <a:t> will have the latest version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373B70-394B-D341-8F66-A712FCAEE1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02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41338" y="757238"/>
            <a:ext cx="6719887" cy="3779837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0=7, R=4, W=6, U=2, T=8, F=1; 867 + 867 = 1734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D9CA2C-7D38-4F9B-A2C1-D1432DE939B2}" type="slidenum">
              <a:rPr lang="en-US" smtClean="0">
                <a:latin typeface="Arial" charset="0"/>
              </a:rPr>
              <a:pPr>
                <a:defRPr/>
              </a:pPr>
              <a:t>12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541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373B70-394B-D341-8F66-A712FCAEE1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232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57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5513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4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94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6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222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19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Auto-consistency (note</a:t>
            </a:r>
            <a:r>
              <a:rPr lang="en-US" baseline="0" dirty="0"/>
              <a:t> initially nothing gets deleted/pruned since there are consistent options for all constraints for initial variable domains)</a:t>
            </a:r>
          </a:p>
          <a:p>
            <a:endParaRPr lang="en-US" baseline="0" dirty="0"/>
          </a:p>
          <a:p>
            <a:r>
              <a:rPr lang="en-US" baseline="0" dirty="0"/>
              <a:t>Flashes whenever something needs to be re-checked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5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Complex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Forward Checking  (first) / Arc Consistency (second)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DD6487-14A9-49B8-972D-88A1CCAF324D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42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</a:t>
            </a:r>
          </a:p>
          <a:p>
            <a:endParaRPr lang="en-US" dirty="0"/>
          </a:p>
          <a:p>
            <a:r>
              <a:rPr lang="en-US" dirty="0"/>
              <a:t>CS188 </a:t>
            </a:r>
            <a:r>
              <a:rPr lang="en-US" dirty="0" err="1"/>
              <a:t>javascript</a:t>
            </a:r>
            <a:r>
              <a:rPr lang="en-US" dirty="0"/>
              <a:t> demos -&gt; source -&gt; exercises -&gt; </a:t>
            </a:r>
            <a:r>
              <a:rPr lang="en-US" dirty="0" err="1"/>
              <a:t>csps</a:t>
            </a:r>
            <a:r>
              <a:rPr lang="en-US" dirty="0"/>
              <a:t> -&gt; CSPs demos -&gt; CSPs </a:t>
            </a:r>
            <a:r>
              <a:rPr lang="en-US" dirty="0" err="1"/>
              <a:t>demos.html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Settings:</a:t>
            </a:r>
          </a:p>
          <a:p>
            <a:r>
              <a:rPr lang="en-US" dirty="0"/>
              <a:t>Graph =</a:t>
            </a:r>
            <a:r>
              <a:rPr lang="en-US" baseline="0" dirty="0"/>
              <a:t> Simple</a:t>
            </a:r>
          </a:p>
          <a:p>
            <a:r>
              <a:rPr lang="en-US" baseline="0" dirty="0"/>
              <a:t>Algorithm = Backtracking</a:t>
            </a:r>
          </a:p>
          <a:p>
            <a:r>
              <a:rPr lang="en-US" baseline="0" dirty="0"/>
              <a:t>Ordering = None</a:t>
            </a:r>
          </a:p>
          <a:p>
            <a:r>
              <a:rPr lang="en-US" baseline="0" dirty="0"/>
              <a:t>Filtering = None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66612">
              <a:defRPr/>
            </a:pPr>
            <a:fld id="{08DD6487-14A9-49B8-972D-88A1CCAF324D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6612">
                <a:defRPr/>
              </a:pPr>
              <a:t>49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5602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581376-9A36-40B0-85E2-52E3358E90D5}" type="slidenum">
              <a:rPr lang="en-US" smtClean="0"/>
              <a:pPr>
                <a:defRPr/>
              </a:pPr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994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581376-9A36-40B0-85E2-52E3358E90D5}" type="slidenum">
              <a:rPr lang="en-US" smtClean="0"/>
              <a:pPr>
                <a:defRPr/>
              </a:pPr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775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581376-9A36-40B0-85E2-52E3358E90D5}" type="slidenum">
              <a:rPr lang="en-US" smtClean="0"/>
              <a:pPr>
                <a:defRPr/>
              </a:pPr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242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541338" y="757238"/>
            <a:ext cx="6719887" cy="3779837"/>
          </a:xfrm>
          <a:ln/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latin typeface="Arial" charset="0"/>
              </a:rPr>
              <a:t>0=7, R=4, W=6, U=2, T=8, F=1; 867 + 867 = 1734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5D9CA2C-7D38-4F9B-A2C1-D1432DE939B2}" type="slidenum">
              <a:rPr lang="en-US" smtClean="0">
                <a:latin typeface="Arial" charset="0"/>
              </a:rPr>
              <a:pPr>
                <a:defRPr/>
              </a:pPr>
              <a:t>59</a:t>
            </a:fld>
            <a:endParaRPr lang="en-US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07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23732-5B48-402F-BB84-5FA7A72ED87F}" type="datetime1">
              <a:rPr lang="en-US" smtClean="0"/>
              <a:t>15-9-2025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54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259" y="365125"/>
            <a:ext cx="10515600" cy="565751"/>
          </a:xfrm>
        </p:spPr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259" y="133135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E9047-E8DC-4320-9E73-C8EEFCBF24A1}" type="datetime1">
              <a:rPr lang="en-US" smtClean="0"/>
              <a:t>15-9-2025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758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27B2-4A6F-4171-80E9-7A9139622D37}" type="datetime1">
              <a:rPr lang="en-US" smtClean="0"/>
              <a:t>15-9-2025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65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A7731-7AE7-4226-B22B-AA579BE50DCA}" type="datetime1">
              <a:rPr lang="en-US" smtClean="0"/>
              <a:t>15-9-2025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28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5DE32-2F2F-428B-A9DE-5A3E4689A7EC}" type="datetime1">
              <a:rPr lang="en-US" smtClean="0"/>
              <a:t>15-9-2025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555FC-8B20-4D7A-BACF-9E6D661476B7}" type="datetime1">
              <a:rPr lang="en-US" smtClean="0"/>
              <a:t>15-9-2025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304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DD3C4-493A-4419-ACA1-49A72BA3CC89}" type="datetime1">
              <a:rPr lang="en-US" smtClean="0"/>
              <a:t>15-9-2025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44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3A4B4-6D4B-4E4F-BEBC-1AC8638F661D}" type="datetime1">
              <a:rPr lang="en-US" smtClean="0"/>
              <a:t>15-9-2025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50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FE6A-E228-4454-8554-0CAB0FB468C4}" type="datetime1">
              <a:rPr lang="en-US" smtClean="0"/>
              <a:t>15-9-2025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2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8889B-54AF-462C-8135-372B265137AC}" type="datetime1">
              <a:rPr lang="en-US" smtClean="0"/>
              <a:t>15-9-2025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2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6A2A6-ED80-4647-8646-3A260305CDE0}" type="datetime1">
              <a:rPr lang="en-US" smtClean="0"/>
              <a:t>15-9-2025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504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CDE10-1FE4-40D2-8AD9-49339F1BCB8E}" type="datetime1">
              <a:rPr lang="en-US" smtClean="0"/>
              <a:t>15-9-2025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84970-942D-C344-9E05-4058AA48B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48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tags" Target="../tags/tag3.xml"/><Relationship Id="rId7" Type="http://schemas.openxmlformats.org/officeDocument/2006/relationships/image" Target="../media/image5.wmf"/><Relationship Id="rId12" Type="http://schemas.openxmlformats.org/officeDocument/2006/relationships/image" Target="../media/image10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9.png"/><Relationship Id="rId5" Type="http://schemas.openxmlformats.org/officeDocument/2006/relationships/tags" Target="../tags/tag5.xml"/><Relationship Id="rId10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3" Type="http://schemas.openxmlformats.org/officeDocument/2006/relationships/tags" Target="../tags/tag8.xml"/><Relationship Id="rId7" Type="http://schemas.openxmlformats.org/officeDocument/2006/relationships/notesSlide" Target="../notesSlides/notesSlide5.xml"/><Relationship Id="rId12" Type="http://schemas.openxmlformats.org/officeDocument/2006/relationships/image" Target="../media/image19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8.png"/><Relationship Id="rId5" Type="http://schemas.openxmlformats.org/officeDocument/2006/relationships/tags" Target="../tags/tag10.xml"/><Relationship Id="rId10" Type="http://schemas.openxmlformats.org/officeDocument/2006/relationships/image" Target="../media/image17.png"/><Relationship Id="rId4" Type="http://schemas.openxmlformats.org/officeDocument/2006/relationships/tags" Target="../tags/tag9.xml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24.png"/><Relationship Id="rId18" Type="http://schemas.openxmlformats.org/officeDocument/2006/relationships/image" Target="../media/image28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../media/image23.png"/><Relationship Id="rId17" Type="http://schemas.openxmlformats.org/officeDocument/2006/relationships/image" Target="../media/image27.png"/><Relationship Id="rId2" Type="http://schemas.openxmlformats.org/officeDocument/2006/relationships/tags" Target="../tags/tag12.xml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image" Target="../media/image22.png"/><Relationship Id="rId5" Type="http://schemas.openxmlformats.org/officeDocument/2006/relationships/tags" Target="../tags/tag15.xml"/><Relationship Id="rId15" Type="http://schemas.openxmlformats.org/officeDocument/2006/relationships/image" Target="../media/image15.png"/><Relationship Id="rId10" Type="http://schemas.openxmlformats.org/officeDocument/2006/relationships/slideLayout" Target="../slideLayouts/slideLayout2.xml"/><Relationship Id="rId19" Type="http://schemas.openxmlformats.org/officeDocument/2006/relationships/image" Target="../media/image29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png"/><Relationship Id="rId3" Type="http://schemas.openxmlformats.org/officeDocument/2006/relationships/tags" Target="../tags/tag22.xml"/><Relationship Id="rId7" Type="http://schemas.openxmlformats.org/officeDocument/2006/relationships/notesSlide" Target="../notesSlides/notesSlide6.xml"/><Relationship Id="rId12" Type="http://schemas.openxmlformats.org/officeDocument/2006/relationships/image" Target="../media/image35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4.png"/><Relationship Id="rId5" Type="http://schemas.openxmlformats.org/officeDocument/2006/relationships/tags" Target="../tags/tag24.xml"/><Relationship Id="rId10" Type="http://schemas.openxmlformats.org/officeDocument/2006/relationships/image" Target="../media/image33.png"/><Relationship Id="rId4" Type="http://schemas.openxmlformats.org/officeDocument/2006/relationships/tags" Target="../tags/tag23.xml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27.xml"/><Relationship Id="rId7" Type="http://schemas.openxmlformats.org/officeDocument/2006/relationships/image" Target="../media/image14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1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13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1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13.wmf"/><Relationship Id="rId4" Type="http://schemas.openxmlformats.org/officeDocument/2006/relationships/image" Target="../media/image54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2.png"/><Relationship Id="rId4" Type="http://schemas.openxmlformats.org/officeDocument/2006/relationships/image" Target="../media/image13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w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5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png"/><Relationship Id="rId3" Type="http://schemas.openxmlformats.org/officeDocument/2006/relationships/tags" Target="../tags/tag30.xml"/><Relationship Id="rId7" Type="http://schemas.openxmlformats.org/officeDocument/2006/relationships/notesSlide" Target="../notesSlides/notesSlide21.xml"/><Relationship Id="rId12" Type="http://schemas.openxmlformats.org/officeDocument/2006/relationships/image" Target="../media/image35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34.png"/><Relationship Id="rId5" Type="http://schemas.openxmlformats.org/officeDocument/2006/relationships/tags" Target="../tags/tag32.xml"/><Relationship Id="rId10" Type="http://schemas.openxmlformats.org/officeDocument/2006/relationships/image" Target="../media/image33.png"/><Relationship Id="rId4" Type="http://schemas.openxmlformats.org/officeDocument/2006/relationships/tags" Target="../tags/tag31.xml"/><Relationship Id="rId9" Type="http://schemas.openxmlformats.org/officeDocument/2006/relationships/image" Target="../media/image3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tags" Target="../tags/tag35.xml"/><Relationship Id="rId7" Type="http://schemas.openxmlformats.org/officeDocument/2006/relationships/image" Target="../media/image34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image" Target="../media/image31.wmf"/><Relationship Id="rId5" Type="http://schemas.openxmlformats.org/officeDocument/2006/relationships/image" Target="../media/image69.wmf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1"/>
            <a:ext cx="12192000" cy="1470025"/>
          </a:xfrm>
        </p:spPr>
        <p:txBody>
          <a:bodyPr>
            <a:normAutofit/>
          </a:bodyPr>
          <a:lstStyle/>
          <a:p>
            <a:r>
              <a:rPr kumimoji="0" lang="vi-VN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AIT2004: </a:t>
            </a:r>
            <a:r>
              <a:rPr kumimoji="0" lang="en-US" sz="44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Cơ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</a:t>
            </a:r>
            <a:r>
              <a:rPr kumimoji="0" lang="en-US" sz="4400" b="0" i="0" u="none" strike="noStrike" kern="0" cap="none" spc="0" normalizeH="0" baseline="0" noProof="0" dirty="0" err="1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sở</a:t>
            </a:r>
            <a: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</a:t>
            </a:r>
            <a:r>
              <a:rPr kumimoji="0" lang="vi-VN" sz="4400" b="0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Trí tuệ nhân tạo</a:t>
            </a:r>
            <a:br>
              <a:rPr lang="en-US" dirty="0"/>
            </a:br>
            <a:endParaRPr lang="en-US" sz="360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295400"/>
            <a:ext cx="12192000" cy="1524000"/>
          </a:xfrm>
        </p:spPr>
        <p:txBody>
          <a:bodyPr/>
          <a:lstStyle/>
          <a:p>
            <a:pPr eaLnBrk="1" hangingPunct="1"/>
            <a:r>
              <a:rPr lang="en-US" sz="4267" dirty="0" err="1"/>
              <a:t>Bài</a:t>
            </a:r>
            <a:r>
              <a:rPr lang="en-US" sz="4267" dirty="0"/>
              <a:t> </a:t>
            </a:r>
            <a:r>
              <a:rPr lang="en-US" sz="4267" dirty="0" err="1"/>
              <a:t>toán</a:t>
            </a:r>
            <a:r>
              <a:rPr lang="en-US" sz="4267" dirty="0"/>
              <a:t> </a:t>
            </a:r>
            <a:r>
              <a:rPr lang="en-US" sz="4267" dirty="0" err="1"/>
              <a:t>thỏa</a:t>
            </a:r>
            <a:r>
              <a:rPr lang="en-US" sz="4267" dirty="0"/>
              <a:t> </a:t>
            </a:r>
            <a:r>
              <a:rPr lang="en-US" sz="4267" dirty="0" err="1"/>
              <a:t>mãn</a:t>
            </a:r>
            <a:r>
              <a:rPr lang="en-US" sz="4267" dirty="0"/>
              <a:t> </a:t>
            </a:r>
            <a:r>
              <a:rPr lang="en-US" sz="4267" dirty="0" err="1"/>
              <a:t>ràng</a:t>
            </a:r>
            <a:r>
              <a:rPr lang="en-US" sz="4267" dirty="0"/>
              <a:t> </a:t>
            </a:r>
            <a:r>
              <a:rPr lang="en-US" sz="4267" dirty="0" err="1"/>
              <a:t>buộc</a:t>
            </a:r>
            <a:r>
              <a:rPr lang="en-US" sz="4267" dirty="0"/>
              <a:t> (CSP)</a:t>
            </a:r>
          </a:p>
        </p:txBody>
      </p:sp>
      <p:sp>
        <p:nvSpPr>
          <p:cNvPr id="5125" name="Text Box 8"/>
          <p:cNvSpPr txBox="1">
            <a:spLocks noChangeArrowheads="1"/>
          </p:cNvSpPr>
          <p:nvPr/>
        </p:nvSpPr>
        <p:spPr bwMode="auto">
          <a:xfrm>
            <a:off x="0" y="5880653"/>
            <a:ext cx="12192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9" tIns="45719" rIns="91439" bIns="4571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dirty="0" err="1">
                <a:solidFill>
                  <a:srgbClr val="FF0000"/>
                </a:solidFill>
              </a:rPr>
              <a:t>Sử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dụng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một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err="1">
                <a:solidFill>
                  <a:srgbClr val="FF0000"/>
                </a:solidFill>
              </a:rPr>
              <a:t>số</a:t>
            </a:r>
            <a:r>
              <a:rPr lang="en-US" sz="2000" dirty="0">
                <a:solidFill>
                  <a:srgbClr val="FF0000"/>
                </a:solidFill>
              </a:rPr>
              <a:t> slide </a:t>
            </a:r>
            <a:r>
              <a:rPr lang="en-US" sz="2000" dirty="0" err="1">
                <a:solidFill>
                  <a:srgbClr val="FF0000"/>
                </a:solidFill>
              </a:rPr>
              <a:t>từ</a:t>
            </a:r>
            <a:r>
              <a:rPr lang="en-US" sz="2000" dirty="0">
                <a:solidFill>
                  <a:srgbClr val="FF0000"/>
                </a:solidFill>
              </a:rPr>
              <a:t>: CMU AI, http://ai.berkeley.edu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81418" y="2215823"/>
            <a:ext cx="6355490" cy="2942178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122855-CDC8-403D-929A-B2EB1358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68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liệu</a:t>
            </a:r>
            <a:endParaRPr lang="vi-VN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6400" y="1295400"/>
            <a:ext cx="10337800" cy="4525963"/>
          </a:xfrm>
        </p:spPr>
        <p:txBody>
          <a:bodyPr/>
          <a:lstStyle/>
          <a:p>
            <a:pPr marL="228533" indent="-285750">
              <a:lnSpc>
                <a:spcPct val="80000"/>
              </a:lnSpc>
            </a:pPr>
            <a:r>
              <a:rPr lang="en-US" dirty="0" err="1"/>
              <a:t>Đinh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Tường</a:t>
            </a:r>
            <a:r>
              <a:rPr lang="en-US" dirty="0"/>
              <a:t>, </a:t>
            </a:r>
            <a:r>
              <a:rPr lang="en-US" i="1" dirty="0" err="1"/>
              <a:t>Trí</a:t>
            </a:r>
            <a:r>
              <a:rPr lang="en-US" i="1" dirty="0"/>
              <a:t> </a:t>
            </a:r>
            <a:r>
              <a:rPr lang="en-US" i="1" dirty="0" err="1"/>
              <a:t>tuệ</a:t>
            </a:r>
            <a:r>
              <a:rPr lang="en-US" i="1" dirty="0"/>
              <a:t> </a:t>
            </a:r>
            <a:r>
              <a:rPr lang="en-US" i="1" dirty="0" err="1"/>
              <a:t>nhân</a:t>
            </a:r>
            <a:r>
              <a:rPr lang="en-US" i="1" dirty="0"/>
              <a:t> </a:t>
            </a:r>
            <a:r>
              <a:rPr lang="en-US" i="1" dirty="0" err="1"/>
              <a:t>tạo</a:t>
            </a:r>
            <a:r>
              <a:rPr lang="en-US" i="1" dirty="0"/>
              <a:t> – </a:t>
            </a:r>
            <a:r>
              <a:rPr lang="en-US" i="1" dirty="0" err="1"/>
              <a:t>Cách</a:t>
            </a:r>
            <a:r>
              <a:rPr lang="en-US" i="1" dirty="0"/>
              <a:t> </a:t>
            </a:r>
            <a:r>
              <a:rPr lang="en-US" i="1" dirty="0" err="1"/>
              <a:t>tiếp</a:t>
            </a:r>
            <a:r>
              <a:rPr lang="en-US" i="1" dirty="0"/>
              <a:t> </a:t>
            </a:r>
            <a:r>
              <a:rPr lang="en-US" i="1" dirty="0" err="1"/>
              <a:t>cận</a:t>
            </a:r>
            <a:r>
              <a:rPr lang="en-US" i="1" dirty="0"/>
              <a:t> </a:t>
            </a:r>
            <a:r>
              <a:rPr lang="en-US" i="1" dirty="0" err="1"/>
              <a:t>hiện</a:t>
            </a:r>
            <a:r>
              <a:rPr lang="en-US" i="1" dirty="0"/>
              <a:t> </a:t>
            </a:r>
            <a:r>
              <a:rPr lang="en-US" i="1" dirty="0" err="1"/>
              <a:t>đại</a:t>
            </a:r>
            <a:r>
              <a:rPr lang="en-US" dirty="0"/>
              <a:t>, NXB Khoa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2024</a:t>
            </a:r>
          </a:p>
          <a:p>
            <a:pPr marL="685733" lvl="1" indent="-285750">
              <a:lnSpc>
                <a:spcPct val="80000"/>
              </a:lnSpc>
            </a:pPr>
            <a:r>
              <a:rPr lang="en-US" dirty="0" err="1"/>
              <a:t>Chương</a:t>
            </a:r>
            <a:r>
              <a:rPr lang="en-US" dirty="0"/>
              <a:t> 6.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  <a:p>
            <a:pPr lvl="3"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vi-VN" dirty="0" err="1"/>
              <a:t>Russell</a:t>
            </a:r>
            <a:r>
              <a:rPr lang="vi-VN" dirty="0"/>
              <a:t> &amp; </a:t>
            </a:r>
            <a:r>
              <a:rPr lang="vi-VN" dirty="0" err="1"/>
              <a:t>Norvig</a:t>
            </a:r>
            <a:r>
              <a:rPr lang="vi-VN" dirty="0"/>
              <a:t>, </a:t>
            </a:r>
            <a:r>
              <a:rPr lang="vi-VN" i="1" dirty="0"/>
              <a:t>AI: A </a:t>
            </a:r>
            <a:r>
              <a:rPr lang="vi-VN" i="1" dirty="0" err="1"/>
              <a:t>Modern</a:t>
            </a:r>
            <a:r>
              <a:rPr lang="vi-VN" i="1" dirty="0"/>
              <a:t> </a:t>
            </a:r>
            <a:r>
              <a:rPr lang="vi-VN" i="1" dirty="0" err="1"/>
              <a:t>Approach</a:t>
            </a:r>
            <a:r>
              <a:rPr lang="vi-VN" i="1" dirty="0"/>
              <a:t>, 4</a:t>
            </a:r>
            <a:r>
              <a:rPr lang="vi-VN" i="1" baseline="30000" dirty="0"/>
              <a:t>th</a:t>
            </a:r>
            <a:r>
              <a:rPr lang="vi-VN" i="1" dirty="0"/>
              <a:t> </a:t>
            </a:r>
            <a:r>
              <a:rPr lang="en-US" i="1" dirty="0"/>
              <a:t>ed.</a:t>
            </a:r>
            <a:r>
              <a:rPr lang="en-US" dirty="0"/>
              <a:t>, Pearson 2020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Chapter 6. Constraint Satisfaction Problems</a:t>
            </a:r>
            <a:endParaRPr lang="vi-VN" dirty="0"/>
          </a:p>
          <a:p>
            <a:pPr lvl="1" eaLnBrk="1" hangingPunct="1">
              <a:lnSpc>
                <a:spcPct val="80000"/>
              </a:lnSpc>
            </a:pPr>
            <a:endParaRPr lang="vi-VN" sz="2400" dirty="0"/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696472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2699" y="365125"/>
            <a:ext cx="11557742" cy="56575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b="1" dirty="0" err="1"/>
              <a:t>Bài</a:t>
            </a:r>
            <a:r>
              <a:rPr lang="en-US" sz="4000" b="1" dirty="0"/>
              <a:t> </a:t>
            </a:r>
            <a:r>
              <a:rPr lang="en-US" sz="4000" b="1" dirty="0" err="1"/>
              <a:t>toán</a:t>
            </a:r>
            <a:r>
              <a:rPr lang="en-US" sz="4000" b="1" dirty="0"/>
              <a:t> </a:t>
            </a:r>
            <a:r>
              <a:rPr lang="en-US" sz="4000" b="1" dirty="0" err="1"/>
              <a:t>thỏa</a:t>
            </a:r>
            <a:r>
              <a:rPr lang="en-US" sz="4000" b="1" dirty="0"/>
              <a:t> </a:t>
            </a:r>
            <a:r>
              <a:rPr lang="en-US" sz="4000" b="1" dirty="0" err="1"/>
              <a:t>mã</a:t>
            </a:r>
            <a:r>
              <a:rPr lang="en-US" b="1" dirty="0" err="1"/>
              <a:t>n</a:t>
            </a:r>
            <a:r>
              <a:rPr lang="en-US" b="1" dirty="0"/>
              <a:t> </a:t>
            </a:r>
            <a:r>
              <a:rPr lang="en-US" b="1" dirty="0" err="1"/>
              <a:t>ràng</a:t>
            </a:r>
            <a:r>
              <a:rPr lang="en-US" b="1" dirty="0"/>
              <a:t> </a:t>
            </a:r>
            <a:r>
              <a:rPr lang="en-US" b="1" dirty="0" err="1"/>
              <a:t>buộc</a:t>
            </a:r>
            <a:r>
              <a:rPr lang="en-US" b="1" dirty="0"/>
              <a:t> </a:t>
            </a:r>
            <a:r>
              <a:rPr lang="en-US" sz="4000" b="1" dirty="0"/>
              <a:t>Constraint Satisfaction Problems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199" y="1249907"/>
            <a:ext cx="7239001" cy="5029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CSP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đặc</a:t>
            </a:r>
            <a:r>
              <a:rPr lang="en-US" sz="2400" dirty="0"/>
              <a:t> </a:t>
            </a:r>
            <a:r>
              <a:rPr lang="en-US" sz="2400" dirty="0" err="1"/>
              <a:t>biệt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hết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loại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en-US" dirty="0"/>
          </a:p>
          <a:p>
            <a:pPr lvl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tổng</a:t>
            </a:r>
            <a:r>
              <a:rPr lang="en-US" sz="2400" dirty="0"/>
              <a:t> </a:t>
            </a:r>
            <a:r>
              <a:rPr lang="en-US" sz="2400" dirty="0" err="1"/>
              <a:t>quát</a:t>
            </a: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đích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thỏa</a:t>
            </a:r>
            <a:r>
              <a:rPr lang="en-US" sz="2400" dirty="0"/>
              <a:t> </a:t>
            </a:r>
            <a:r>
              <a:rPr lang="en-US" sz="2400" dirty="0" err="1"/>
              <a:t>mãn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(CSP)</a:t>
            </a:r>
          </a:p>
          <a:p>
            <a:pPr lvl="1">
              <a:lnSpc>
                <a:spcPct val="80000"/>
              </a:lnSpc>
            </a:pP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b="1" i="1" dirty="0">
                <a:solidFill>
                  <a:srgbClr val="CC0000"/>
                </a:solidFill>
                <a:latin typeface="Times New Roman" pitchFamily="18" charset="0"/>
              </a:rPr>
              <a:t>X</a:t>
            </a:r>
            <a:r>
              <a:rPr lang="en-US" b="1" i="1" baseline="-25000" dirty="0">
                <a:solidFill>
                  <a:srgbClr val="CC0000"/>
                </a:solidFill>
                <a:latin typeface="Times New Roman" pitchFamily="18" charset="0"/>
              </a:rPr>
              <a:t>i</a:t>
            </a:r>
            <a:r>
              <a:rPr lang="en-US" dirty="0"/>
              <a:t> 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b="1" i="1" dirty="0">
                <a:solidFill>
                  <a:srgbClr val="CC0000"/>
                </a:solidFill>
                <a:latin typeface="Times New Roman" pitchFamily="18" charset="0"/>
              </a:rPr>
              <a:t>D </a:t>
            </a:r>
            <a:r>
              <a:rPr lang="en-US" dirty="0"/>
              <a:t>(</a:t>
            </a:r>
            <a:r>
              <a:rPr lang="en-US" b="1" i="1" dirty="0">
                <a:latin typeface="Times New Roman" pitchFamily="18" charset="0"/>
              </a:rPr>
              <a:t>D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b="1" i="1" dirty="0" err="1">
                <a:latin typeface="Times New Roman" pitchFamily="18" charset="0"/>
              </a:rPr>
              <a:t>i</a:t>
            </a:r>
            <a:r>
              <a:rPr lang="en-US" dirty="0"/>
              <a:t>)</a:t>
            </a:r>
            <a:endParaRPr lang="en-US" i="1" baseline="-25000" dirty="0">
              <a:solidFill>
                <a:srgbClr val="CC0000"/>
              </a:solidFill>
            </a:endParaRPr>
          </a:p>
          <a:p>
            <a:pPr lvl="1">
              <a:lnSpc>
                <a:spcPct val="80000"/>
              </a:lnSpc>
            </a:pP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72400" y="1159072"/>
            <a:ext cx="3505200" cy="2726810"/>
          </a:xfrm>
          <a:prstGeom prst="rect">
            <a:avLst/>
          </a:prstGeom>
          <a:noFill/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96200" y="4267201"/>
            <a:ext cx="4320801" cy="2000249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6BF4B1-A7B3-42AE-8B17-C4EF9654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835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0DD24-99F1-7880-00F4-E9F86CE6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 err="1"/>
              <a:t>Ví</a:t>
            </a:r>
            <a:r>
              <a:rPr lang="en-US" sz="5400" dirty="0"/>
              <a:t> </a:t>
            </a:r>
            <a:r>
              <a:rPr lang="en-US" sz="5400" dirty="0" err="1"/>
              <a:t>dụ</a:t>
            </a:r>
            <a:r>
              <a:rPr lang="en-US" sz="5400" dirty="0"/>
              <a:t>: </a:t>
            </a:r>
            <a:r>
              <a:rPr lang="en-US" sz="5400" dirty="0" err="1"/>
              <a:t>tô</a:t>
            </a:r>
            <a:r>
              <a:rPr lang="en-US" sz="5400" dirty="0"/>
              <a:t> </a:t>
            </a:r>
            <a:r>
              <a:rPr lang="en-US" sz="5400" dirty="0" err="1"/>
              <a:t>mầu</a:t>
            </a:r>
            <a:r>
              <a:rPr lang="en-US" sz="5400" dirty="0"/>
              <a:t> </a:t>
            </a:r>
            <a:r>
              <a:rPr lang="en-US" sz="5400" dirty="0" err="1"/>
              <a:t>bản</a:t>
            </a:r>
            <a:r>
              <a:rPr lang="en-US" sz="5400" dirty="0"/>
              <a:t> </a:t>
            </a:r>
            <a:r>
              <a:rPr lang="en-US" sz="5400" dirty="0" err="1"/>
              <a:t>đồ</a:t>
            </a:r>
            <a:endParaRPr lang="en-US" sz="5400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58B35-9BDC-202E-8F8A-904C4A1C2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3937099" cy="3320668"/>
          </a:xfrm>
        </p:spPr>
        <p:txBody>
          <a:bodyPr>
            <a:normAutofit/>
          </a:bodyPr>
          <a:lstStyle/>
          <a:p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thế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tô</a:t>
            </a:r>
            <a:r>
              <a:rPr lang="en-US" sz="2400" dirty="0"/>
              <a:t> </a:t>
            </a:r>
            <a:r>
              <a:rPr lang="en-US" sz="2400" dirty="0" err="1"/>
              <a:t>mầu</a:t>
            </a:r>
            <a:r>
              <a:rPr lang="en-US" sz="2400" dirty="0"/>
              <a:t> </a:t>
            </a:r>
            <a:r>
              <a:rPr lang="en-US" sz="2400" dirty="0" err="1"/>
              <a:t>bản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3 </a:t>
            </a:r>
            <a:r>
              <a:rPr lang="en-US" sz="2400" dirty="0" err="1"/>
              <a:t>mầu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vùng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mầu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064F4-E7A3-4887-EBA9-9B1FE7778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39400" y="6356350"/>
            <a:ext cx="914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7B84970-942D-C344-9E05-4058AA48B4F9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CE47C5-774A-C6B8-95C7-7A1C9A17C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339" y="628583"/>
            <a:ext cx="7383453" cy="590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061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Tô</a:t>
            </a:r>
            <a:r>
              <a:rPr lang="en-US" dirty="0"/>
              <a:t> </a:t>
            </a:r>
            <a:r>
              <a:rPr lang="en-US" dirty="0" err="1"/>
              <a:t>mầu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đồ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3776"/>
            <a:ext cx="7564244" cy="4724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 err="1"/>
              <a:t>Biến</a:t>
            </a:r>
            <a:r>
              <a:rPr lang="en-US" sz="2400" dirty="0"/>
              <a:t>: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: 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: </a:t>
            </a:r>
            <a:r>
              <a:rPr lang="en-US" sz="2400" dirty="0" err="1"/>
              <a:t>vùng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mầu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r>
              <a:rPr lang="en-US" sz="2400" dirty="0"/>
              <a:t> </a:t>
            </a:r>
            <a:r>
              <a:rPr lang="en-US" sz="2400" dirty="0" err="1"/>
              <a:t>nhau</a:t>
            </a:r>
            <a:endParaRPr lang="en-US" sz="24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000" dirty="0"/>
          </a:p>
          <a:p>
            <a:pPr eaLnBrk="1" hangingPunct="1">
              <a:lnSpc>
                <a:spcPct val="80000"/>
              </a:lnSpc>
            </a:pPr>
            <a:r>
              <a:rPr lang="en-US" sz="2400" dirty="0" err="1"/>
              <a:t>Lời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thỏa</a:t>
            </a:r>
            <a:r>
              <a:rPr lang="en-US" sz="2400" dirty="0"/>
              <a:t> </a:t>
            </a:r>
            <a:r>
              <a:rPr lang="en-US" sz="2400" dirty="0" err="1"/>
              <a:t>mãn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, </a:t>
            </a: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7" cstate="print"/>
          <a:srcRect l="1140" t="1105"/>
          <a:stretch>
            <a:fillRect/>
          </a:stretch>
        </p:blipFill>
        <p:spPr bwMode="auto">
          <a:xfrm>
            <a:off x="8408893" y="1228165"/>
            <a:ext cx="3021107" cy="2505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2376413" y="1599601"/>
            <a:ext cx="4281583" cy="258601"/>
          </a:xfrm>
          <a:prstGeom prst="rect">
            <a:avLst/>
          </a:prstGeom>
          <a:noFill/>
          <a:ln/>
          <a:effectLst/>
        </p:spPr>
      </p:pic>
      <p:pic>
        <p:nvPicPr>
          <p:cNvPr id="14" name="Picture 13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2454050" y="2019996"/>
            <a:ext cx="3023521" cy="296673"/>
          </a:xfrm>
          <a:prstGeom prst="rect">
            <a:avLst/>
          </a:prstGeom>
          <a:noFill/>
          <a:ln/>
          <a:effectLst/>
        </p:spPr>
      </p:pic>
      <p:pic>
        <p:nvPicPr>
          <p:cNvPr id="22" name="Picture 21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1023725" y="4623939"/>
            <a:ext cx="5983475" cy="629393"/>
          </a:xfrm>
          <a:prstGeom prst="rect">
            <a:avLst/>
          </a:prstGeom>
          <a:noFill/>
          <a:ln/>
          <a:effectLst/>
        </p:spPr>
      </p:pic>
      <p:pic>
        <p:nvPicPr>
          <p:cNvPr id="15" name="Picture 14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2348947" y="2904870"/>
            <a:ext cx="1201079" cy="223965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2327080" y="3447236"/>
            <a:ext cx="4759520" cy="259431"/>
          </a:xfrm>
          <a:prstGeom prst="rect">
            <a:avLst/>
          </a:prstGeom>
          <a:noFill/>
          <a:ln/>
          <a:effectLst/>
        </p:spPr>
      </p:pic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5019" y="4178525"/>
            <a:ext cx="3929781" cy="2069651"/>
          </a:xfrm>
          <a:prstGeom prst="rect">
            <a:avLst/>
          </a:prstGeom>
          <a:noFill/>
        </p:spPr>
      </p:pic>
      <p:sp>
        <p:nvSpPr>
          <p:cNvPr id="17" name="TextBox 19"/>
          <p:cNvSpPr txBox="1">
            <a:spLocks noChangeArrowheads="1"/>
          </p:cNvSpPr>
          <p:nvPr/>
        </p:nvSpPr>
        <p:spPr bwMode="auto">
          <a:xfrm>
            <a:off x="1187825" y="2791632"/>
            <a:ext cx="19050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Implicit:</a:t>
            </a:r>
          </a:p>
        </p:txBody>
      </p:sp>
      <p:sp>
        <p:nvSpPr>
          <p:cNvPr id="18" name="TextBox 20"/>
          <p:cNvSpPr txBox="1">
            <a:spLocks noChangeArrowheads="1"/>
          </p:cNvSpPr>
          <p:nvPr/>
        </p:nvSpPr>
        <p:spPr bwMode="auto">
          <a:xfrm>
            <a:off x="1187825" y="3344140"/>
            <a:ext cx="1371600" cy="400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sz="2000" dirty="0">
                <a:latin typeface="Calibri" pitchFamily="34" charset="0"/>
              </a:rPr>
              <a:t>Explicit: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2D3945-110E-49D6-B19B-A606BA50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91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CSP?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788020" y="2020771"/>
            <a:ext cx="10515600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: </a:t>
            </a: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, ai </a:t>
            </a:r>
            <a:r>
              <a:rPr lang="en-US" sz="2400" dirty="0" err="1"/>
              <a:t>dậy</a:t>
            </a:r>
            <a:r>
              <a:rPr lang="en-US" sz="2400" dirty="0"/>
              <a:t> </a:t>
            </a:r>
            <a:r>
              <a:rPr lang="en-US" sz="2400" dirty="0" err="1"/>
              <a:t>lớp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: </a:t>
            </a: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, </a:t>
            </a:r>
            <a:r>
              <a:rPr lang="en-US" sz="2400" dirty="0" err="1"/>
              <a:t>lớp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dạy</a:t>
            </a:r>
            <a:r>
              <a:rPr lang="en-US" sz="2400" dirty="0"/>
              <a:t> ở </a:t>
            </a:r>
            <a:r>
              <a:rPr lang="en-US" sz="2400" dirty="0" err="1"/>
              <a:t>đâu</a:t>
            </a:r>
            <a:r>
              <a:rPr lang="en-US" sz="2400" dirty="0"/>
              <a:t>, bao </a:t>
            </a:r>
            <a:r>
              <a:rPr lang="en-US" sz="2400" dirty="0" err="1"/>
              <a:t>giờ</a:t>
            </a:r>
            <a:r>
              <a:rPr lang="en-US" sz="2400" dirty="0"/>
              <a:t>?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cứng</a:t>
            </a: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lịch</a:t>
            </a:r>
            <a:r>
              <a:rPr lang="en-US" sz="2400" dirty="0"/>
              <a:t> </a:t>
            </a:r>
            <a:r>
              <a:rPr lang="en-US" sz="2400" dirty="0" err="1"/>
              <a:t>vận</a:t>
            </a:r>
            <a:r>
              <a:rPr lang="en-US" sz="2400" dirty="0"/>
              <a:t> </a:t>
            </a:r>
            <a:r>
              <a:rPr lang="en-US" sz="2400" dirty="0" err="1"/>
              <a:t>chuyển</a:t>
            </a:r>
            <a:r>
              <a:rPr lang="en-US" sz="2400" dirty="0"/>
              <a:t>, </a:t>
            </a:r>
            <a:r>
              <a:rPr lang="en-US" sz="2400" dirty="0" err="1"/>
              <a:t>lịch</a:t>
            </a:r>
            <a:r>
              <a:rPr lang="en-US" sz="2400" dirty="0"/>
              <a:t> </a:t>
            </a:r>
            <a:br>
              <a:rPr lang="en-US" sz="2400" dirty="0"/>
            </a:br>
            <a:r>
              <a:rPr lang="en-US" sz="2400" dirty="0" err="1"/>
              <a:t>sản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Thiết</a:t>
            </a:r>
            <a:r>
              <a:rPr lang="en-US" sz="2400" dirty="0"/>
              <a:t> </a:t>
            </a:r>
            <a:r>
              <a:rPr lang="en-US" sz="2400" dirty="0" err="1"/>
              <a:t>kế</a:t>
            </a:r>
            <a:r>
              <a:rPr lang="en-US" sz="2400" dirty="0"/>
              <a:t> </a:t>
            </a:r>
            <a:r>
              <a:rPr lang="en-US" sz="2400" dirty="0" err="1"/>
              <a:t>mạch</a:t>
            </a:r>
            <a:r>
              <a:rPr lang="en-US" sz="2400" dirty="0"/>
              <a:t> </a:t>
            </a: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Chẩn</a:t>
            </a:r>
            <a:r>
              <a:rPr lang="en-US" sz="2400" dirty="0"/>
              <a:t> </a:t>
            </a:r>
            <a:r>
              <a:rPr lang="en-US" sz="2400" dirty="0" err="1"/>
              <a:t>đoán</a:t>
            </a:r>
            <a:r>
              <a:rPr lang="en-US" sz="2400" dirty="0"/>
              <a:t> </a:t>
            </a:r>
            <a:r>
              <a:rPr lang="en-US" sz="2400" dirty="0" err="1"/>
              <a:t>lỗi</a:t>
            </a: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… 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00601" y="2942272"/>
            <a:ext cx="6248398" cy="2777687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838200" y="1456293"/>
            <a:ext cx="60806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Nhiều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bài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toán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thực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tế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có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thể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mô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tả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thành</a:t>
            </a:r>
            <a:r>
              <a:rPr lang="en-US" sz="2400" dirty="0">
                <a:solidFill>
                  <a:srgbClr val="0070C0"/>
                </a:solidFill>
              </a:rPr>
              <a:t> CSP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55D1F0-5873-47B1-92F7-D15E8FB5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30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0991" y="1756317"/>
            <a:ext cx="4802809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/>
          <a:srcRect l="1140" t="1105"/>
          <a:stretch>
            <a:fillRect/>
          </a:stretch>
        </p:blipFill>
        <p:spPr bwMode="auto">
          <a:xfrm>
            <a:off x="976605" y="1806497"/>
            <a:ext cx="5229049" cy="43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416D2B-3D52-4403-B0AC-1215FB4CF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76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70104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nhị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: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2 </a:t>
            </a:r>
            <a:r>
              <a:rPr lang="en-US" sz="2400" dirty="0" err="1"/>
              <a:t>biến</a:t>
            </a:r>
            <a:endParaRPr lang="en-US" sz="2400" dirty="0"/>
          </a:p>
          <a:p>
            <a:pPr lvl="1"/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nhị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: </a:t>
            </a:r>
            <a:r>
              <a:rPr lang="en-US" sz="2400" dirty="0" err="1"/>
              <a:t>nút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, </a:t>
            </a:r>
            <a:r>
              <a:rPr lang="en-US" sz="2400" dirty="0" err="1"/>
              <a:t>cung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quan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endParaRPr lang="en-US" sz="2400" dirty="0"/>
          </a:p>
          <a:p>
            <a:pPr lvl="1"/>
            <a:endParaRPr lang="en-US" sz="2000" dirty="0"/>
          </a:p>
          <a:p>
            <a:pPr eaLnBrk="1" hangingPunct="1">
              <a:lnSpc>
                <a:spcPct val="90000"/>
              </a:lnSpc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</a:t>
            </a:r>
            <a:r>
              <a:rPr lang="en-US" sz="2400" dirty="0" err="1"/>
              <a:t>thác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đồ</a:t>
            </a:r>
            <a:r>
              <a:rPr lang="en-US" sz="2400" dirty="0"/>
              <a:t> </a:t>
            </a:r>
            <a:r>
              <a:rPr lang="en-US" sz="2400" dirty="0" err="1"/>
              <a:t>thị</a:t>
            </a:r>
            <a:r>
              <a:rPr lang="en-US" sz="2400" dirty="0"/>
              <a:t> (</a:t>
            </a:r>
            <a:r>
              <a:rPr lang="en-US" sz="2400" dirty="0" err="1"/>
              <a:t>đặc</a:t>
            </a:r>
            <a:r>
              <a:rPr lang="en-US" sz="2400" dirty="0"/>
              <a:t> </a:t>
            </a:r>
            <a:r>
              <a:rPr lang="en-US" sz="2400" dirty="0" err="1"/>
              <a:t>trưng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)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tăng</a:t>
            </a:r>
            <a:r>
              <a:rPr lang="en-US" sz="2400" dirty="0"/>
              <a:t> </a:t>
            </a:r>
            <a:r>
              <a:rPr lang="en-US" sz="2400" dirty="0" err="1"/>
              <a:t>tốc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endParaRPr lang="en-US" sz="2400" dirty="0"/>
          </a:p>
          <a:p>
            <a:pPr lvl="1"/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: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quyết</a:t>
            </a:r>
            <a:r>
              <a:rPr lang="en-US" sz="2000" dirty="0"/>
              <a:t> </a:t>
            </a:r>
            <a:r>
              <a:rPr lang="en-US" sz="2000" dirty="0" err="1"/>
              <a:t>từng</a:t>
            </a:r>
            <a:r>
              <a:rPr lang="en-US" sz="2000" dirty="0"/>
              <a:t> </a:t>
            </a:r>
            <a:r>
              <a:rPr lang="en-US" sz="2000" dirty="0" err="1"/>
              <a:t>miền</a:t>
            </a:r>
            <a:r>
              <a:rPr lang="en-US" sz="2000" dirty="0"/>
              <a:t>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thông</a:t>
            </a:r>
            <a:r>
              <a:rPr lang="en-US" sz="2000" dirty="0"/>
              <a:t>; hay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r>
              <a:rPr lang="en-US" sz="2000" dirty="0" err="1"/>
              <a:t>cây</a:t>
            </a:r>
            <a:r>
              <a:rPr lang="en-US" sz="2000" dirty="0"/>
              <a:t> (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chu </a:t>
            </a:r>
            <a:r>
              <a:rPr lang="en-US" sz="2000" dirty="0" err="1"/>
              <a:t>trình</a:t>
            </a:r>
            <a:r>
              <a:rPr lang="en-US" sz="2000" dirty="0"/>
              <a:t>)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48600" y="1600201"/>
            <a:ext cx="3327400" cy="290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8D2F0B-940B-442C-A3DC-092A36AF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CSP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01" y="1372103"/>
            <a:ext cx="7316459" cy="4951993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43FB97-C27C-41B6-902A-B377A21E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8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N-Queens</a:t>
            </a:r>
          </a:p>
        </p:txBody>
      </p:sp>
      <p:sp>
        <p:nvSpPr>
          <p:cNvPr id="902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ô </a:t>
            </a:r>
            <a:r>
              <a:rPr lang="en-US" dirty="0" err="1"/>
              <a:t>bàn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/>
              <a:t>Biến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:</a:t>
            </a:r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8" cstate="print"/>
          <a:srcRect l="75101" b="14342"/>
          <a:stretch>
            <a:fillRect/>
          </a:stretch>
        </p:blipFill>
        <p:spPr bwMode="auto">
          <a:xfrm>
            <a:off x="5257800" y="1524000"/>
            <a:ext cx="204628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3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914103" y="2257404"/>
            <a:ext cx="85407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4" name="Picture 1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993954" y="1864219"/>
            <a:ext cx="490537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2157" name="Picture 1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9285288" y="4572001"/>
            <a:ext cx="1763712" cy="7048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1360489" y="4132557"/>
            <a:ext cx="6148585" cy="363244"/>
          </a:xfrm>
          <a:prstGeom prst="rect">
            <a:avLst/>
          </a:prstGeom>
          <a:noFill/>
          <a:ln/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13379" y="1479838"/>
            <a:ext cx="4150020" cy="1948241"/>
          </a:xfrm>
          <a:prstGeom prst="rect">
            <a:avLst/>
          </a:prstGeom>
          <a:noFill/>
        </p:spPr>
      </p:pic>
      <p:pic>
        <p:nvPicPr>
          <p:cNvPr id="13" name="Picture 12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 cstate="print"/>
          <a:stretch>
            <a:fillRect/>
          </a:stretch>
        </p:blipFill>
        <p:spPr bwMode="auto">
          <a:xfrm>
            <a:off x="1360488" y="4572002"/>
            <a:ext cx="7002160" cy="1264239"/>
          </a:xfrm>
          <a:prstGeom prst="rect">
            <a:avLst/>
          </a:prstGeom>
          <a:noFill/>
          <a:ln/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405CF4-5A3D-45EA-A843-828388B1D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56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N-Queens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690688"/>
            <a:ext cx="8229600" cy="4252912"/>
          </a:xfrm>
        </p:spPr>
        <p:txBody>
          <a:bodyPr/>
          <a:lstStyle/>
          <a:p>
            <a:pPr eaLnBrk="1" hangingPunct="1"/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quân</a:t>
            </a:r>
            <a:r>
              <a:rPr lang="en-US" dirty="0"/>
              <a:t> </a:t>
            </a:r>
            <a:r>
              <a:rPr lang="en-US" dirty="0" err="1"/>
              <a:t>hậu</a:t>
            </a:r>
            <a:r>
              <a:rPr lang="en-US" dirty="0"/>
              <a:t>:</a:t>
            </a:r>
          </a:p>
          <a:p>
            <a:pPr lvl="1" eaLnBrk="1" hangingPunct="1"/>
            <a:r>
              <a:rPr lang="en-US" dirty="0" err="1"/>
              <a:t>Biến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 eaLnBrk="1" hangingPunct="1"/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:</a:t>
            </a:r>
          </a:p>
          <a:p>
            <a:pPr lvl="1"/>
            <a:endParaRPr lang="en-US" dirty="0"/>
          </a:p>
          <a:p>
            <a:pPr lvl="1" eaLnBrk="1" hangingPunct="1"/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:</a:t>
            </a:r>
          </a:p>
        </p:txBody>
      </p:sp>
      <p:pic>
        <p:nvPicPr>
          <p:cNvPr id="9220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011608" y="2239862"/>
            <a:ext cx="395288" cy="31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3276600" y="5410202"/>
            <a:ext cx="4394200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08304" name="Picture 16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314700" y="4572001"/>
            <a:ext cx="45212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3" name="Picture 9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2800364" y="3001533"/>
            <a:ext cx="1970087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4" name="Picture 22"/>
          <p:cNvPicPr>
            <a:picLocks noChangeAspect="1" noChangeArrowheads="1"/>
          </p:cNvPicPr>
          <p:nvPr/>
        </p:nvPicPr>
        <p:blipFill>
          <a:blip r:embed="rId15" cstate="print"/>
          <a:srcRect l="75101" b="14342"/>
          <a:stretch>
            <a:fillRect/>
          </a:stretch>
        </p:blipFill>
        <p:spPr bwMode="auto">
          <a:xfrm>
            <a:off x="8389937" y="1600200"/>
            <a:ext cx="204628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5" name="Picture 11" descr="txp_fi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7932737" y="1752602"/>
            <a:ext cx="395288" cy="3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6" name="Picture 13" descr="txp_fi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924801" y="2209802"/>
            <a:ext cx="411163" cy="30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7" name="Picture 15" descr="txp_fi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932739" y="2667002"/>
            <a:ext cx="411163" cy="3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8" name="Picture 17" descr="txp_fi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9" cstate="print"/>
          <a:srcRect/>
          <a:stretch>
            <a:fillRect/>
          </a:stretch>
        </p:blipFill>
        <p:spPr bwMode="auto">
          <a:xfrm>
            <a:off x="7932739" y="3128964"/>
            <a:ext cx="411163" cy="30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9" name="TextBox 19"/>
          <p:cNvSpPr txBox="1">
            <a:spLocks noChangeArrowheads="1"/>
          </p:cNvSpPr>
          <p:nvPr/>
        </p:nvSpPr>
        <p:spPr bwMode="auto">
          <a:xfrm>
            <a:off x="1752600" y="4491338"/>
            <a:ext cx="1905000" cy="461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Implicit:</a:t>
            </a:r>
          </a:p>
        </p:txBody>
      </p:sp>
      <p:sp>
        <p:nvSpPr>
          <p:cNvPr id="9230" name="TextBox 20"/>
          <p:cNvSpPr txBox="1">
            <a:spLocks noChangeArrowheads="1"/>
          </p:cNvSpPr>
          <p:nvPr/>
        </p:nvSpPr>
        <p:spPr bwMode="auto">
          <a:xfrm>
            <a:off x="1752600" y="5345114"/>
            <a:ext cx="1371600" cy="461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Explicit:</a:t>
            </a:r>
          </a:p>
        </p:txBody>
      </p:sp>
      <p:pic>
        <p:nvPicPr>
          <p:cNvPr id="23" name="Picture 22" descr="txp_fi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0" cstate="print"/>
          <a:srcRect/>
          <a:stretch>
            <a:fillRect/>
          </a:stretch>
        </p:blipFill>
        <p:spPr bwMode="auto">
          <a:xfrm>
            <a:off x="3327400" y="6019800"/>
            <a:ext cx="558800" cy="7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1BC191-5468-4024-919B-511A0952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16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(Cryptarithmetic)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4876800" cy="4525963"/>
          </a:xfrm>
        </p:spPr>
        <p:txBody>
          <a:bodyPr/>
          <a:lstStyle/>
          <a:p>
            <a:pPr eaLnBrk="1" hangingPunct="1"/>
            <a:r>
              <a:rPr lang="en-US" sz="2800" dirty="0" err="1"/>
              <a:t>Biến</a:t>
            </a:r>
            <a:r>
              <a:rPr lang="en-US" sz="2800" dirty="0"/>
              <a:t>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 err="1"/>
              <a:t>Miền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sz="2800" dirty="0"/>
              <a:t>:</a:t>
            </a:r>
          </a:p>
          <a:p>
            <a:pPr eaLnBrk="1" hangingPunct="1"/>
            <a:endParaRPr lang="en-US" sz="2800" dirty="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8" cstate="print"/>
          <a:srcRect l="2014" t="2845"/>
          <a:stretch>
            <a:fillRect/>
          </a:stretch>
        </p:blipFill>
        <p:spPr bwMode="auto">
          <a:xfrm>
            <a:off x="6069106" y="1864661"/>
            <a:ext cx="1703295" cy="122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66800" y="2281237"/>
            <a:ext cx="41148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01715" y="3238502"/>
            <a:ext cx="372268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8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28702" y="5021264"/>
            <a:ext cx="33147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1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66800" y="5715000"/>
            <a:ext cx="547688" cy="7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12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17590" y="4344990"/>
            <a:ext cx="3478212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58200" y="1359186"/>
            <a:ext cx="3378200" cy="2057630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E3B61E-6F72-427B-AEEA-DAF888E3D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8294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Sudoku</a:t>
            </a:r>
          </a:p>
        </p:txBody>
      </p:sp>
      <p:pic>
        <p:nvPicPr>
          <p:cNvPr id="12291" name="Picture 2" descr="C:\Documents and Settings\Administrator\My Documents\My Pictures\Sudoku_Board_Fig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2702" y="2227859"/>
            <a:ext cx="40513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49"/>
          <p:cNvGrpSpPr>
            <a:grpSpLocks/>
          </p:cNvGrpSpPr>
          <p:nvPr/>
        </p:nvGrpSpPr>
        <p:grpSpPr bwMode="auto">
          <a:xfrm>
            <a:off x="1752600" y="1503959"/>
            <a:ext cx="2743200" cy="1144588"/>
            <a:chOff x="838200" y="1600200"/>
            <a:chExt cx="2743200" cy="1143794"/>
          </a:xfrm>
        </p:grpSpPr>
        <p:sp>
          <p:nvSpPr>
            <p:cNvPr id="6" name="Rectangle 5"/>
            <p:cNvSpPr/>
            <p:nvPr/>
          </p:nvSpPr>
          <p:spPr>
            <a:xfrm>
              <a:off x="2209800" y="1600200"/>
              <a:ext cx="457200" cy="38073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8" name="Straight Connector 7"/>
            <p:cNvCxnSpPr>
              <a:stCxn id="6" idx="2"/>
            </p:cNvCxnSpPr>
            <p:nvPr/>
          </p:nvCxnSpPr>
          <p:spPr>
            <a:xfrm rot="5400000">
              <a:off x="1257564" y="1561571"/>
              <a:ext cx="761471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6" idx="2"/>
            </p:cNvCxnSpPr>
            <p:nvPr/>
          </p:nvCxnSpPr>
          <p:spPr>
            <a:xfrm rot="5400000">
              <a:off x="1448064" y="1752071"/>
              <a:ext cx="761471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6" idx="2"/>
            </p:cNvCxnSpPr>
            <p:nvPr/>
          </p:nvCxnSpPr>
          <p:spPr>
            <a:xfrm rot="5400000">
              <a:off x="1638564" y="1942571"/>
              <a:ext cx="761471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6" idx="2"/>
            </p:cNvCxnSpPr>
            <p:nvPr/>
          </p:nvCxnSpPr>
          <p:spPr>
            <a:xfrm rot="5400000">
              <a:off x="1829064" y="2133071"/>
              <a:ext cx="761471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6" idx="2"/>
            </p:cNvCxnSpPr>
            <p:nvPr/>
          </p:nvCxnSpPr>
          <p:spPr>
            <a:xfrm rot="5400000">
              <a:off x="2057665" y="2361670"/>
              <a:ext cx="761471" cy="317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6" idx="2"/>
            </p:cNvCxnSpPr>
            <p:nvPr/>
          </p:nvCxnSpPr>
          <p:spPr>
            <a:xfrm rot="16200000" flipH="1">
              <a:off x="2438664" y="1980671"/>
              <a:ext cx="761471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>
              <a:stCxn id="6" idx="2"/>
            </p:cNvCxnSpPr>
            <p:nvPr/>
          </p:nvCxnSpPr>
          <p:spPr>
            <a:xfrm rot="16200000" flipH="1">
              <a:off x="2629164" y="1790171"/>
              <a:ext cx="761471" cy="1143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4951413" y="3104159"/>
            <a:ext cx="915987" cy="2819400"/>
            <a:chOff x="4037806" y="3200400"/>
            <a:chExt cx="915194" cy="2819400"/>
          </a:xfrm>
        </p:grpSpPr>
        <p:sp>
          <p:nvSpPr>
            <p:cNvPr id="21" name="Rectangle 20"/>
            <p:cNvSpPr/>
            <p:nvPr/>
          </p:nvSpPr>
          <p:spPr>
            <a:xfrm rot="5400000">
              <a:off x="4534065" y="4229265"/>
              <a:ext cx="457200" cy="3806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23" name="Straight Connector 22"/>
            <p:cNvCxnSpPr>
              <a:stCxn id="21" idx="2"/>
            </p:cNvCxnSpPr>
            <p:nvPr/>
          </p:nvCxnSpPr>
          <p:spPr>
            <a:xfrm rot="10800000">
              <a:off x="4037806" y="32004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21" idx="2"/>
            </p:cNvCxnSpPr>
            <p:nvPr/>
          </p:nvCxnSpPr>
          <p:spPr>
            <a:xfrm rot="10800000">
              <a:off x="4037806" y="3581400"/>
              <a:ext cx="534524" cy="838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21" idx="2"/>
            </p:cNvCxnSpPr>
            <p:nvPr/>
          </p:nvCxnSpPr>
          <p:spPr>
            <a:xfrm rot="10800000">
              <a:off x="4037806" y="3962400"/>
              <a:ext cx="534524" cy="457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600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21" idx="2"/>
            </p:cNvCxnSpPr>
            <p:nvPr/>
          </p:nvCxnSpPr>
          <p:spPr>
            <a:xfrm flipH="1">
              <a:off x="4037806" y="4419600"/>
              <a:ext cx="534524" cy="762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21" idx="2"/>
            </p:cNvCxnSpPr>
            <p:nvPr/>
          </p:nvCxnSpPr>
          <p:spPr>
            <a:xfrm rot="10800000" flipV="1">
              <a:off x="4037806" y="4419600"/>
              <a:ext cx="534524" cy="12192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4191000" y="1580159"/>
            <a:ext cx="1524000" cy="1828800"/>
            <a:chOff x="3276600" y="1676400"/>
            <a:chExt cx="1524000" cy="1828800"/>
          </a:xfrm>
        </p:grpSpPr>
        <p:sp>
          <p:nvSpPr>
            <p:cNvPr id="33" name="Rectangle 32"/>
            <p:cNvSpPr/>
            <p:nvPr/>
          </p:nvSpPr>
          <p:spPr>
            <a:xfrm rot="5400000">
              <a:off x="4419600" y="1676400"/>
              <a:ext cx="381000" cy="381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" name="Straight Connector 33"/>
            <p:cNvCxnSpPr>
              <a:stCxn id="33" idx="3"/>
            </p:cNvCxnSpPr>
            <p:nvPr/>
          </p:nvCxnSpPr>
          <p:spPr>
            <a:xfrm rot="5400000">
              <a:off x="3600450" y="1733550"/>
              <a:ext cx="685800" cy="1333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0800000" flipV="1">
              <a:off x="3581400" y="2057400"/>
              <a:ext cx="1028700" cy="685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10800000" flipV="1">
              <a:off x="3276600" y="2057400"/>
              <a:ext cx="1333500" cy="10668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3600450" y="2114550"/>
              <a:ext cx="1066800" cy="952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3829050" y="2266950"/>
              <a:ext cx="9906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3429000" y="2362200"/>
              <a:ext cx="1371600" cy="9144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3600450" y="2495550"/>
              <a:ext cx="1447800" cy="5715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7166498" y="4030416"/>
            <a:ext cx="3348216" cy="461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9-way </a:t>
            </a:r>
            <a:r>
              <a:rPr lang="en-US" sz="2400" dirty="0" err="1">
                <a:latin typeface="Calibri" pitchFamily="34" charset="0"/>
              </a:rPr>
              <a:t>alldiff</a:t>
            </a:r>
            <a:r>
              <a:rPr lang="en-US" sz="2400" dirty="0">
                <a:latin typeface="Calibri" pitchFamily="34" charset="0"/>
              </a:rPr>
              <a:t> for each row</a:t>
            </a:r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7166500" y="3553175"/>
            <a:ext cx="3794236" cy="461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400" dirty="0">
                <a:latin typeface="Calibri" pitchFamily="34" charset="0"/>
              </a:rPr>
              <a:t>9-way </a:t>
            </a:r>
            <a:r>
              <a:rPr lang="en-US" sz="2400" dirty="0" err="1">
                <a:latin typeface="Calibri" pitchFamily="34" charset="0"/>
              </a:rPr>
              <a:t>alldiff</a:t>
            </a:r>
            <a:r>
              <a:rPr lang="en-US" sz="2400" dirty="0">
                <a:latin typeface="Calibri" pitchFamily="34" charset="0"/>
              </a:rPr>
              <a:t> for each column</a:t>
            </a:r>
          </a:p>
        </p:txBody>
      </p:sp>
      <p:sp>
        <p:nvSpPr>
          <p:cNvPr id="54" name="TextBox 53"/>
          <p:cNvSpPr txBox="1">
            <a:spLocks noChangeArrowheads="1"/>
          </p:cNvSpPr>
          <p:nvPr/>
        </p:nvSpPr>
        <p:spPr bwMode="auto">
          <a:xfrm>
            <a:off x="7166501" y="4487616"/>
            <a:ext cx="3661315" cy="461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1436" tIns="45718" rIns="91436" bIns="45718">
            <a:spAutoFit/>
          </a:bodyPr>
          <a:lstStyle/>
          <a:p>
            <a:r>
              <a:rPr lang="en-US" sz="2400">
                <a:latin typeface="Calibri" pitchFamily="34" charset="0"/>
              </a:rPr>
              <a:t>9-way alldiff for each region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166498" y="4944816"/>
            <a:ext cx="2971800" cy="1200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6" tIns="45718" rIns="91436" bIns="45718">
            <a:spAutoFit/>
          </a:bodyPr>
          <a:lstStyle/>
          <a:p>
            <a:r>
              <a:rPr lang="en-US" sz="2400">
                <a:latin typeface="Calibri" pitchFamily="34" charset="0"/>
              </a:rPr>
              <a:t>(or can have a bunch of pairwise inequality constraints)</a:t>
            </a:r>
          </a:p>
        </p:txBody>
      </p:sp>
      <p:sp>
        <p:nvSpPr>
          <p:cNvPr id="36" name="Rectangle 3"/>
          <p:cNvSpPr>
            <a:spLocks noGrp="1" noChangeArrowheads="1"/>
          </p:cNvSpPr>
          <p:nvPr>
            <p:ph idx="1"/>
          </p:nvPr>
        </p:nvSpPr>
        <p:spPr>
          <a:xfrm>
            <a:off x="6477000" y="1027906"/>
            <a:ext cx="4876800" cy="4525963"/>
          </a:xfrm>
        </p:spPr>
        <p:txBody>
          <a:bodyPr/>
          <a:lstStyle/>
          <a:p>
            <a:r>
              <a:rPr lang="en-US" dirty="0" err="1"/>
              <a:t>Biến</a:t>
            </a:r>
            <a:r>
              <a:rPr lang="en-US" dirty="0"/>
              <a:t>: </a:t>
            </a:r>
            <a:r>
              <a:rPr lang="en-US" dirty="0" err="1"/>
              <a:t>các</a:t>
            </a:r>
            <a:r>
              <a:rPr lang="en-US" dirty="0"/>
              <a:t> ô </a:t>
            </a:r>
            <a:r>
              <a:rPr lang="en-US" dirty="0" err="1"/>
              <a:t>trống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:  {1,2,…,9}</a:t>
            </a:r>
          </a:p>
          <a:p>
            <a:endParaRPr lang="en-US" dirty="0"/>
          </a:p>
          <a:p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4A89F0-2829-46A9-914D-617FD5FA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907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6800" y="3840355"/>
            <a:ext cx="2817740" cy="2294193"/>
          </a:xfrm>
          <a:prstGeom prst="rect">
            <a:avLst/>
          </a:prstGeom>
          <a:noFill/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89993" y="1364304"/>
            <a:ext cx="2813015" cy="2369495"/>
          </a:xfrm>
          <a:prstGeom prst="rect">
            <a:avLst/>
          </a:prstGeom>
          <a:noFill/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CSPs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138831" y="1203186"/>
            <a:ext cx="7870991" cy="472916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rời</a:t>
            </a:r>
            <a:r>
              <a:rPr lang="en-US" dirty="0"/>
              <a:t> </a:t>
            </a:r>
            <a:r>
              <a:rPr lang="en-US" dirty="0" err="1"/>
              <a:t>rạc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  <a:p>
            <a:pPr lvl="2" eaLnBrk="1" hangingPunct="1">
              <a:lnSpc>
                <a:spcPct val="90000"/>
              </a:lnSpc>
            </a:pP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d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endParaRPr lang="en-US" dirty="0"/>
          </a:p>
          <a:p>
            <a:pPr lvl="2" eaLnBrk="1" hangingPunct="1">
              <a:lnSpc>
                <a:spcPct val="90000"/>
              </a:lnSpc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logic (Boolean CSPs)</a:t>
            </a:r>
          </a:p>
          <a:p>
            <a:pPr lvl="2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vô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(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,...)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endParaRPr lang="en-US" dirty="0"/>
          </a:p>
          <a:p>
            <a:pPr lvl="2" eaLnBrk="1" hangingPunct="1">
              <a:lnSpc>
                <a:spcPct val="90000"/>
              </a:lnSpc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endParaRPr lang="en-US" sz="2800" dirty="0"/>
          </a:p>
          <a:p>
            <a:pPr lvl="2"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  <a:p>
            <a:pPr lvl="1" eaLnBrk="1" hangingPunct="1">
              <a:lnSpc>
                <a:spcPct val="90000"/>
              </a:lnSpc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E2BCDD-4C93-4DBF-9CB6-3FCA55DC4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13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82772" y="1433911"/>
            <a:ext cx="7543641" cy="335566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dạng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tường</a:t>
            </a:r>
            <a:r>
              <a:rPr lang="en-US" sz="2400" dirty="0"/>
              <a:t> </a:t>
            </a:r>
            <a:r>
              <a:rPr lang="en-US" sz="2400" dirty="0" err="1"/>
              <a:t>minh</a:t>
            </a: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(=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),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sz="2400" dirty="0"/>
              <a:t>	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nhị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(2 </a:t>
            </a:r>
            <a:r>
              <a:rPr lang="en-US" dirty="0" err="1"/>
              <a:t>biến</a:t>
            </a:r>
            <a:r>
              <a:rPr lang="en-US" dirty="0"/>
              <a:t>),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(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2 </a:t>
            </a:r>
            <a:r>
              <a:rPr lang="en-US" dirty="0" err="1"/>
              <a:t>biến</a:t>
            </a:r>
            <a:r>
              <a:rPr lang="en-US" dirty="0"/>
              <a:t>),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endParaRPr lang="en-US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8" name="Picture 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2354219" y="2215810"/>
            <a:ext cx="1665615" cy="277895"/>
          </a:xfrm>
          <a:prstGeom prst="rect">
            <a:avLst/>
          </a:prstGeom>
          <a:noFill/>
          <a:ln/>
          <a:effectLst/>
        </p:spPr>
      </p:pic>
      <p:pic>
        <p:nvPicPr>
          <p:cNvPr id="9" name="Picture 8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2375986" y="3013219"/>
            <a:ext cx="1417292" cy="277848"/>
          </a:xfrm>
          <a:prstGeom prst="rect">
            <a:avLst/>
          </a:prstGeom>
          <a:noFill/>
          <a:ln/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30879" y="1990344"/>
            <a:ext cx="4159859" cy="2815514"/>
          </a:xfrm>
          <a:prstGeom prst="rect">
            <a:avLst/>
          </a:prstGeom>
          <a:noFill/>
        </p:spPr>
      </p:pic>
      <p:pic>
        <p:nvPicPr>
          <p:cNvPr id="7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879674" y="3896600"/>
            <a:ext cx="2897839" cy="270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419986" y="4584005"/>
            <a:ext cx="8118963" cy="15212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indent="-228600">
              <a:lnSpc>
                <a:spcPct val="8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mềm</a:t>
            </a:r>
            <a:r>
              <a:rPr lang="en-US" sz="2400" dirty="0"/>
              <a:t> (</a:t>
            </a:r>
            <a:r>
              <a:rPr lang="en-US" sz="2400" dirty="0" err="1"/>
              <a:t>sở</a:t>
            </a:r>
            <a:r>
              <a:rPr lang="en-US" sz="2400" dirty="0"/>
              <a:t> </a:t>
            </a:r>
            <a:r>
              <a:rPr lang="en-US" sz="2400" dirty="0" err="1"/>
              <a:t>thích</a:t>
            </a:r>
            <a:r>
              <a:rPr lang="en-US" sz="2400" dirty="0"/>
              <a:t>):</a:t>
            </a:r>
          </a:p>
          <a:p>
            <a:pPr marL="685800" lvl="1" indent="-228600">
              <a:lnSpc>
                <a:spcPct val="8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, </a:t>
            </a:r>
            <a:r>
              <a:rPr lang="en-US" sz="2400" dirty="0" err="1"/>
              <a:t>mầu</a:t>
            </a:r>
            <a:r>
              <a:rPr lang="en-US" sz="2400" dirty="0"/>
              <a:t> </a:t>
            </a:r>
            <a:r>
              <a:rPr lang="en-US" sz="2400" dirty="0" err="1"/>
              <a:t>đỏ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</a:t>
            </a:r>
            <a:r>
              <a:rPr lang="en-US" sz="2400" dirty="0" err="1"/>
              <a:t>tốt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</a:t>
            </a:r>
            <a:r>
              <a:rPr lang="en-US" sz="2400" dirty="0" err="1"/>
              <a:t>mầu</a:t>
            </a:r>
            <a:r>
              <a:rPr lang="en-US" sz="2400" dirty="0"/>
              <a:t> </a:t>
            </a:r>
            <a:r>
              <a:rPr lang="en-US" sz="2400" dirty="0" err="1"/>
              <a:t>xanh</a:t>
            </a:r>
            <a:endParaRPr lang="en-US" sz="2400" dirty="0"/>
          </a:p>
          <a:p>
            <a:pPr marL="685800" lvl="1" indent="-228600">
              <a:lnSpc>
                <a:spcPct val="8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dirty="0" err="1"/>
              <a:t>Thường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biểu</a:t>
            </a:r>
            <a:r>
              <a:rPr lang="en-US" sz="2400" dirty="0"/>
              <a:t> </a:t>
            </a:r>
            <a:r>
              <a:rPr lang="en-US" sz="2400" dirty="0" err="1"/>
              <a:t>diễn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endParaRPr lang="en-US" sz="2400" dirty="0"/>
          </a:p>
          <a:p>
            <a:pPr marL="685800" lvl="1" indent="-228600">
              <a:lnSpc>
                <a:spcPct val="80000"/>
              </a:lnSpc>
              <a:spcBef>
                <a:spcPts val="500"/>
              </a:spcBef>
              <a:buFont typeface="Arial"/>
              <a:buChar char="•"/>
            </a:pPr>
            <a:r>
              <a:rPr lang="en-US" sz="2400" dirty="0" err="1"/>
              <a:t>Trở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giải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tối</a:t>
            </a:r>
            <a:r>
              <a:rPr lang="en-US" sz="2400" dirty="0"/>
              <a:t> </a:t>
            </a:r>
            <a:r>
              <a:rPr lang="en-US" sz="2400" dirty="0" err="1"/>
              <a:t>ưu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7FA08-5220-44F6-8C13-99E3C258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15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CSPs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0999" y="1338621"/>
            <a:ext cx="7106315" cy="5078260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800" dirty="0" err="1"/>
              <a:t>Mô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hóa</a:t>
            </a:r>
            <a:r>
              <a:rPr lang="en-US" sz="2800" dirty="0"/>
              <a:t> </a:t>
            </a:r>
            <a:r>
              <a:rPr lang="en-US" sz="2800" dirty="0" err="1"/>
              <a:t>thành</a:t>
            </a:r>
            <a:r>
              <a:rPr lang="en-US" sz="2800" dirty="0"/>
              <a:t> </a:t>
            </a:r>
            <a:r>
              <a:rPr lang="en-US" sz="2800" dirty="0" err="1"/>
              <a:t>bài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endParaRPr lang="en-US" dirty="0"/>
          </a:p>
          <a:p>
            <a:pPr eaLnBrk="1" hangingPunct="1">
              <a:lnSpc>
                <a:spcPct val="80000"/>
              </a:lnSpc>
            </a:pPr>
            <a:r>
              <a:rPr lang="en-US" sz="2800" dirty="0" err="1"/>
              <a:t>Trạng</a:t>
            </a:r>
            <a:r>
              <a:rPr lang="en-US" sz="2800" dirty="0"/>
              <a:t> </a:t>
            </a:r>
            <a:r>
              <a:rPr lang="en-US" sz="2800" dirty="0" err="1"/>
              <a:t>thái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nghĩa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 </a:t>
            </a:r>
            <a:r>
              <a:rPr lang="en-US" sz="2800" dirty="0" err="1"/>
              <a:t>phép</a:t>
            </a:r>
            <a:r>
              <a:rPr lang="en-US" sz="2800" dirty="0"/>
              <a:t> </a:t>
            </a:r>
            <a:r>
              <a:rPr lang="en-US" sz="2800" dirty="0" err="1"/>
              <a:t>gán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endParaRPr 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 </a:t>
            </a:r>
            <a:r>
              <a:rPr lang="en-US" sz="2400" dirty="0" err="1"/>
              <a:t>bắt</a:t>
            </a:r>
            <a:r>
              <a:rPr lang="en-US" sz="2400" dirty="0"/>
              <a:t> </a:t>
            </a:r>
            <a:r>
              <a:rPr lang="en-US" sz="2400" dirty="0" err="1"/>
              <a:t>đầu</a:t>
            </a:r>
            <a:r>
              <a:rPr lang="en-US" sz="2400" dirty="0"/>
              <a:t>: </a:t>
            </a:r>
            <a:r>
              <a:rPr lang="en-US" sz="2400" dirty="0" err="1"/>
              <a:t>tập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rỗng</a:t>
            </a:r>
            <a:r>
              <a:rPr lang="en-US" sz="2400" dirty="0"/>
              <a:t> {}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/>
              <a:t>Chuyển</a:t>
            </a:r>
            <a:r>
              <a:rPr lang="en-US" sz="2400" dirty="0"/>
              <a:t> </a:t>
            </a:r>
            <a:r>
              <a:rPr lang="en-US" sz="2400" dirty="0" err="1"/>
              <a:t>trạng</a:t>
            </a:r>
            <a:r>
              <a:rPr lang="en-US" sz="2400" dirty="0"/>
              <a:t> </a:t>
            </a:r>
            <a:r>
              <a:rPr lang="en-US" sz="2400" dirty="0" err="1"/>
              <a:t>thái</a:t>
            </a:r>
            <a:r>
              <a:rPr lang="en-US" sz="2400" dirty="0"/>
              <a:t>: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endParaRPr 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đích</a:t>
            </a:r>
            <a:r>
              <a:rPr lang="en-US" sz="2400" dirty="0"/>
              <a:t>: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sz="2800" dirty="0"/>
          </a:p>
          <a:p>
            <a:pPr eaLnBrk="1" hangingPunct="1">
              <a:lnSpc>
                <a:spcPct val="80000"/>
              </a:lnSpc>
            </a:pPr>
            <a:r>
              <a:rPr lang="en-US" dirty="0" err="1"/>
              <a:t>Á</a:t>
            </a:r>
            <a:r>
              <a:rPr lang="en-US" sz="2800" dirty="0" err="1"/>
              <a:t>p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chiến</a:t>
            </a:r>
            <a:r>
              <a:rPr lang="en-US" sz="2800" dirty="0"/>
              <a:t> </a:t>
            </a:r>
            <a:r>
              <a:rPr lang="en-US" sz="2800" dirty="0" err="1"/>
              <a:t>lược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phù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 (local search)</a:t>
            </a:r>
          </a:p>
          <a:p>
            <a:pPr>
              <a:lnSpc>
                <a:spcPct val="80000"/>
              </a:lnSpc>
            </a:pPr>
            <a:r>
              <a:rPr lang="en-US" dirty="0"/>
              <a:t>Thu </a:t>
            </a:r>
            <a:r>
              <a:rPr lang="en-US" dirty="0" err="1"/>
              <a:t>hẹp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/>
              <a:t>Lan </a:t>
            </a:r>
            <a:r>
              <a:rPr lang="en-US" dirty="0" err="1"/>
              <a:t>chuyền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7315" y="2390361"/>
            <a:ext cx="4273061" cy="332415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98E40-E6F6-401A-8EFD-5FEDE6720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69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Giải</a:t>
            </a:r>
            <a:r>
              <a:rPr lang="en-US" dirty="0"/>
              <a:t> CSP: </a:t>
            </a:r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r>
              <a:rPr lang="en-US" dirty="0"/>
              <a:t> (backtracking search)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9829800" cy="4953000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CSP,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(DFS) </a:t>
            </a:r>
            <a:r>
              <a:rPr lang="en-US" dirty="0" err="1"/>
              <a:t>với</a:t>
            </a:r>
            <a:r>
              <a:rPr lang="en-US" dirty="0"/>
              <a:t> 2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:</a:t>
            </a:r>
          </a:p>
          <a:p>
            <a:pPr>
              <a:lnSpc>
                <a:spcPct val="80000"/>
              </a:lnSpc>
            </a:pPr>
            <a:endParaRPr lang="en-US" sz="16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dirty="0"/>
              <a:t>1)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sz="2400" dirty="0">
                <a:solidFill>
                  <a:srgbClr val="0070C0"/>
                </a:solidFill>
              </a:rPr>
              <a:t>[WA = red, </a:t>
            </a:r>
            <a:r>
              <a:rPr lang="en-US" sz="2400" dirty="0" err="1">
                <a:solidFill>
                  <a:srgbClr val="0070C0"/>
                </a:solidFill>
              </a:rPr>
              <a:t>sau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đó</a:t>
            </a:r>
            <a:r>
              <a:rPr lang="en-US" sz="2400" dirty="0">
                <a:solidFill>
                  <a:srgbClr val="0070C0"/>
                </a:solidFill>
              </a:rPr>
              <a:t> NT = green]</a:t>
            </a:r>
            <a:r>
              <a:rPr lang="en-US" sz="2400" dirty="0"/>
              <a:t> == </a:t>
            </a:r>
            <a:r>
              <a:rPr lang="en-US" sz="2400" dirty="0">
                <a:solidFill>
                  <a:srgbClr val="0070C0"/>
                </a:solidFill>
              </a:rPr>
              <a:t>[NT = green, </a:t>
            </a:r>
            <a:r>
              <a:rPr lang="en-US" sz="2400" dirty="0" err="1">
                <a:solidFill>
                  <a:srgbClr val="0070C0"/>
                </a:solidFill>
              </a:rPr>
              <a:t>sau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đó</a:t>
            </a:r>
            <a:r>
              <a:rPr lang="en-US" sz="2400" dirty="0">
                <a:solidFill>
                  <a:srgbClr val="0070C0"/>
                </a:solidFill>
              </a:rPr>
              <a:t> WA = red]</a:t>
            </a:r>
          </a:p>
          <a:p>
            <a:pPr marL="1371600" lvl="3" indent="0">
              <a:lnSpc>
                <a:spcPct val="80000"/>
              </a:lnSpc>
              <a:buNone/>
            </a:pPr>
            <a:endParaRPr lang="en-US" sz="16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dirty="0"/>
              <a:t>2)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bước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mâu</a:t>
            </a:r>
            <a:r>
              <a:rPr lang="en-US" dirty="0"/>
              <a:t> </a:t>
            </a:r>
            <a:r>
              <a:rPr lang="en-US" dirty="0" err="1"/>
              <a:t>thuẫn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“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”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(incremental goal test)</a:t>
            </a:r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 eaLnBrk="1" hangingPunct="1">
              <a:lnSpc>
                <a:spcPct val="80000"/>
              </a:lnSpc>
            </a:pP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n-queens </a:t>
            </a:r>
            <a:r>
              <a:rPr lang="en-US" dirty="0" err="1"/>
              <a:t>với</a:t>
            </a:r>
            <a:r>
              <a:rPr lang="en-US" dirty="0"/>
              <a:t> n </a:t>
            </a:r>
            <a:r>
              <a:rPr lang="en-US" dirty="0">
                <a:sym typeface="Symbol" pitchFamily="18" charset="2"/>
              </a:rPr>
              <a:t></a:t>
            </a:r>
            <a:r>
              <a:rPr lang="en-US" dirty="0"/>
              <a:t> 25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7" t="3197"/>
          <a:stretch/>
        </p:blipFill>
        <p:spPr bwMode="auto">
          <a:xfrm>
            <a:off x="9186333" y="4654014"/>
            <a:ext cx="2822557" cy="1668512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CA087B-368D-430F-A99C-80416ABA4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25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Backtracking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04DA4-3644-45EA-913E-877E1A56E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35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Backtracking</a:t>
            </a:r>
          </a:p>
        </p:txBody>
      </p:sp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30981" y="1447800"/>
            <a:ext cx="1165225" cy="960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5" name="Picture 5"/>
          <p:cNvPicPr>
            <a:picLocks noChangeAspect="1" noChangeArrowheads="1"/>
          </p:cNvPicPr>
          <p:nvPr/>
        </p:nvPicPr>
        <p:blipFill>
          <a:blip r:embed="rId3" cstate="print"/>
          <a:srcRect l="983" t="1931"/>
          <a:stretch>
            <a:fillRect/>
          </a:stretch>
        </p:blipFill>
        <p:spPr bwMode="auto">
          <a:xfrm>
            <a:off x="4535581" y="1474413"/>
            <a:ext cx="3846420" cy="20488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6" name="Picture 6"/>
          <p:cNvPicPr>
            <a:picLocks noChangeAspect="1" noChangeArrowheads="1"/>
          </p:cNvPicPr>
          <p:nvPr/>
        </p:nvPicPr>
        <p:blipFill>
          <a:blip r:embed="rId4" cstate="print"/>
          <a:srcRect l="645" t="615"/>
          <a:stretch>
            <a:fillRect/>
          </a:stretch>
        </p:blipFill>
        <p:spPr bwMode="auto">
          <a:xfrm>
            <a:off x="3692899" y="1474413"/>
            <a:ext cx="4534647" cy="3365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607" name="Picture 7"/>
          <p:cNvPicPr>
            <a:picLocks noChangeAspect="1" noChangeArrowheads="1"/>
          </p:cNvPicPr>
          <p:nvPr/>
        </p:nvPicPr>
        <p:blipFill>
          <a:blip r:embed="rId5" cstate="print"/>
          <a:srcRect l="578" t="520"/>
          <a:stretch>
            <a:fillRect/>
          </a:stretch>
        </p:blipFill>
        <p:spPr bwMode="auto">
          <a:xfrm>
            <a:off x="2823322" y="1483377"/>
            <a:ext cx="5401049" cy="4684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67602" y="3962400"/>
            <a:ext cx="4571999" cy="2673903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8564F1-74E6-416A-ACE3-1F634167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6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CSP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381001" y="1551809"/>
            <a:ext cx="7546162" cy="4525963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sz="2800" dirty="0" err="1"/>
              <a:t>Vét</a:t>
            </a:r>
            <a:r>
              <a:rPr lang="en-US" sz="2800" dirty="0"/>
              <a:t> </a:t>
            </a:r>
            <a:r>
              <a:rPr lang="en-US" sz="2800" dirty="0" err="1"/>
              <a:t>cạn</a:t>
            </a:r>
            <a:r>
              <a:rPr lang="en-US" sz="2800" dirty="0"/>
              <a:t>/quay </a:t>
            </a:r>
            <a:r>
              <a:rPr lang="en-US" sz="2800" dirty="0" err="1"/>
              <a:t>lui</a:t>
            </a:r>
            <a:r>
              <a:rPr lang="en-US" sz="2800" dirty="0"/>
              <a:t> </a:t>
            </a:r>
            <a:r>
              <a:rPr lang="en-US" sz="2800" dirty="0" err="1"/>
              <a:t>tổng</a:t>
            </a:r>
            <a:r>
              <a:rPr lang="en-US" sz="2800" dirty="0"/>
              <a:t> </a:t>
            </a:r>
            <a:r>
              <a:rPr lang="en-US" sz="2800" dirty="0" err="1"/>
              <a:t>quát</a:t>
            </a:r>
            <a:r>
              <a:rPr lang="en-US" sz="2800" dirty="0"/>
              <a:t> </a:t>
            </a:r>
            <a:r>
              <a:rPr lang="en-US" sz="2800" dirty="0" err="1"/>
              <a:t>tốn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gian</a:t>
            </a:r>
            <a:endParaRPr lang="en-US" sz="2800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endParaRPr lang="en-US" dirty="0"/>
          </a:p>
          <a:p>
            <a:pPr lvl="1" eaLnBrk="1" hangingPunct="1"/>
            <a:endParaRPr lang="en-US" sz="2400" dirty="0"/>
          </a:p>
          <a:p>
            <a:r>
              <a:rPr lang="en-US" dirty="0" err="1"/>
              <a:t>Lọc</a:t>
            </a:r>
            <a:r>
              <a:rPr lang="en-US" dirty="0"/>
              <a:t> (Filtering):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sớm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pPr eaLnBrk="1" hangingPunct="1"/>
            <a:r>
              <a:rPr lang="en-US" sz="2800" dirty="0" err="1"/>
              <a:t>Điều</a:t>
            </a:r>
            <a:r>
              <a:rPr lang="en-US" sz="2800" dirty="0"/>
              <a:t> </a:t>
            </a:r>
            <a:r>
              <a:rPr lang="en-US" sz="2800" dirty="0" err="1"/>
              <a:t>chỉnh</a:t>
            </a:r>
            <a:r>
              <a:rPr lang="en-US" sz="2800" dirty="0"/>
              <a:t> </a:t>
            </a:r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:</a:t>
            </a:r>
          </a:p>
          <a:p>
            <a:pPr lvl="1" eaLnBrk="1" hangingPunct="1"/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sz="2400" dirty="0"/>
              <a:t>?</a:t>
            </a:r>
          </a:p>
          <a:p>
            <a:pPr lvl="1" eaLnBrk="1" hangingPunct="1"/>
            <a:r>
              <a:rPr lang="en-US" sz="2400" dirty="0" err="1"/>
              <a:t>Thử</a:t>
            </a:r>
            <a:r>
              <a:rPr lang="en-US" sz="2400" dirty="0"/>
              <a:t> </a:t>
            </a:r>
            <a:r>
              <a:rPr lang="en-US" sz="2400" dirty="0" err="1"/>
              <a:t>với</a:t>
            </a:r>
            <a:r>
              <a:rPr lang="en-US" sz="2400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sz="2400" dirty="0"/>
              <a:t>?</a:t>
            </a:r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sz="2800" dirty="0" err="1"/>
              <a:t>Tối</a:t>
            </a:r>
            <a:r>
              <a:rPr lang="en-US" sz="2800" dirty="0"/>
              <a:t> </a:t>
            </a:r>
            <a:r>
              <a:rPr lang="en-US" sz="2800" dirty="0" err="1"/>
              <a:t>ưu</a:t>
            </a:r>
            <a:r>
              <a:rPr lang="en-US" sz="2800" dirty="0"/>
              <a:t> </a:t>
            </a:r>
            <a:r>
              <a:rPr lang="en-US" sz="2800" dirty="0" err="1"/>
              <a:t>dựa</a:t>
            </a:r>
            <a:r>
              <a:rPr lang="en-US" sz="2800" dirty="0"/>
              <a:t> </a:t>
            </a:r>
            <a:r>
              <a:rPr lang="en-US" sz="2800" dirty="0" err="1"/>
              <a:t>trên</a:t>
            </a:r>
            <a:r>
              <a:rPr lang="en-US" sz="2800" dirty="0"/>
              <a:t> </a:t>
            </a:r>
            <a:r>
              <a:rPr lang="en-US" sz="2800" dirty="0" err="1"/>
              <a:t>cấu</a:t>
            </a:r>
            <a:r>
              <a:rPr lang="en-US" sz="2800" dirty="0"/>
              <a:t> </a:t>
            </a:r>
            <a:r>
              <a:rPr lang="en-US" sz="2800" dirty="0" err="1"/>
              <a:t>trúc</a:t>
            </a:r>
            <a:r>
              <a:rPr lang="en-US" sz="2800" dirty="0"/>
              <a:t> </a:t>
            </a: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trưng</a:t>
            </a:r>
            <a:r>
              <a:rPr lang="en-US" sz="2800" dirty="0"/>
              <a:t> </a:t>
            </a:r>
            <a:r>
              <a:rPr lang="en-US" dirty="0" err="1"/>
              <a:t>b</a:t>
            </a:r>
            <a:r>
              <a:rPr lang="en-US" sz="2800" dirty="0" err="1"/>
              <a:t>ài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endParaRPr lang="en-US" sz="2800" dirty="0"/>
          </a:p>
          <a:p>
            <a:pPr lvl="1" eaLnBrk="1" hangingPunct="1"/>
            <a:endParaRPr lang="en-US" sz="2400" dirty="0"/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27162" y="1830010"/>
            <a:ext cx="4110079" cy="29602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79F952-6B11-4CEF-AFB2-D94D181C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4564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38402" y="1600646"/>
            <a:ext cx="7237410" cy="4056758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B9E773-DEAF-4652-B632-63FC8E4E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774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err="1"/>
              <a:t>Lọc</a:t>
            </a:r>
            <a:r>
              <a:rPr lang="en-US" dirty="0"/>
              <a:t>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loại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bỏ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: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1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báo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lỗi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Lọc</a:t>
            </a:r>
            <a:r>
              <a:rPr lang="en-US" dirty="0"/>
              <a:t>: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(Forward Checking)</a:t>
            </a:r>
          </a:p>
        </p:txBody>
      </p: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105400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54B9C1-0FB9-492C-8FC0-81E92D4B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42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511683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5725" name="Rectangle 29"/>
          <p:cNvSpPr>
            <a:spLocks noChangeArrowheads="1"/>
          </p:cNvSpPr>
          <p:nvPr/>
        </p:nvSpPr>
        <p:spPr bwMode="auto">
          <a:xfrm>
            <a:off x="2895558" y="4510451"/>
            <a:ext cx="83820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290596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815031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452931" y="3886161"/>
            <a:ext cx="2520847" cy="2139693"/>
            <a:chOff x="-1164271" y="4466108"/>
            <a:chExt cx="2520847" cy="2139693"/>
          </a:xfrm>
        </p:grpSpPr>
        <p:pic>
          <p:nvPicPr>
            <p:cNvPr id="23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10378" r="74444" b="70031"/>
            <a:stretch/>
          </p:blipFill>
          <p:spPr bwMode="auto">
            <a:xfrm>
              <a:off x="-1164271" y="4466108"/>
              <a:ext cx="2443257" cy="21396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-1083009" y="521066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0" name="Text Box 24"/>
            <p:cNvSpPr txBox="1">
              <a:spLocks noChangeArrowheads="1"/>
            </p:cNvSpPr>
            <p:nvPr/>
          </p:nvSpPr>
          <p:spPr bwMode="auto">
            <a:xfrm>
              <a:off x="-175529" y="544372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2" name="Text Box 25"/>
            <p:cNvSpPr txBox="1">
              <a:spLocks noChangeArrowheads="1"/>
            </p:cNvSpPr>
            <p:nvPr/>
          </p:nvSpPr>
          <p:spPr bwMode="auto">
            <a:xfrm>
              <a:off x="-291685" y="493036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452931" y="505828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5" name="Text Box 27"/>
            <p:cNvSpPr txBox="1">
              <a:spLocks noChangeArrowheads="1"/>
            </p:cNvSpPr>
            <p:nvPr/>
          </p:nvSpPr>
          <p:spPr bwMode="auto">
            <a:xfrm>
              <a:off x="490036" y="562461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486695" y="593260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27" name="Text Box 28"/>
            <p:cNvSpPr txBox="1">
              <a:spLocks noChangeArrowheads="1"/>
            </p:cNvSpPr>
            <p:nvPr/>
          </p:nvSpPr>
          <p:spPr bwMode="auto">
            <a:xfrm>
              <a:off x="610586" y="627338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65C33-DD8A-4004-9F8A-88943179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23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D43B10A-9070-F86B-DBD6-5562D52504FD}"/>
              </a:ext>
            </a:extLst>
          </p:cNvPr>
          <p:cNvSpPr txBox="1">
            <a:spLocks noChangeArrowheads="1"/>
          </p:cNvSpPr>
          <p:nvPr/>
        </p:nvSpPr>
        <p:spPr>
          <a:xfrm>
            <a:off x="460992" y="1183672"/>
            <a:ext cx="11630924" cy="4453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Lọc</a:t>
            </a:r>
            <a:r>
              <a:rPr lang="en-US" sz="2400" dirty="0"/>
              <a:t>: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: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lọc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1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báo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lỗi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718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491332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5725" name="Rectangle 29"/>
          <p:cNvSpPr>
            <a:spLocks noChangeArrowheads="1"/>
          </p:cNvSpPr>
          <p:nvPr/>
        </p:nvSpPr>
        <p:spPr bwMode="auto">
          <a:xfrm>
            <a:off x="2895558" y="4983586"/>
            <a:ext cx="8382000" cy="1447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270245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794680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6370" y="507770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Straight Connector 3"/>
          <p:cNvCxnSpPr/>
          <p:nvPr/>
        </p:nvCxnSpPr>
        <p:spPr>
          <a:xfrm flipV="1">
            <a:off x="864671" y="5329406"/>
            <a:ext cx="436594" cy="21062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864671" y="5652116"/>
            <a:ext cx="508882" cy="16001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04" y="3491332"/>
            <a:ext cx="1928273" cy="165615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2838731" y="5888760"/>
            <a:ext cx="90014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70C0"/>
                </a:solidFill>
              </a:rPr>
              <a:t>Ghi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chú</a:t>
            </a:r>
            <a:r>
              <a:rPr lang="en-US" sz="2400" dirty="0">
                <a:solidFill>
                  <a:srgbClr val="0070C0"/>
                </a:solidFill>
              </a:rPr>
              <a:t>: </a:t>
            </a:r>
            <a:r>
              <a:rPr lang="en-US" sz="2400" dirty="0" err="1">
                <a:solidFill>
                  <a:srgbClr val="0070C0"/>
                </a:solidFill>
              </a:rPr>
              <a:t>Đồ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thị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nhị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phân</a:t>
            </a:r>
            <a:r>
              <a:rPr lang="en-US" sz="2400" dirty="0">
                <a:solidFill>
                  <a:srgbClr val="0070C0"/>
                </a:solidFill>
              </a:rPr>
              <a:t> CSP </a:t>
            </a:r>
            <a:r>
              <a:rPr lang="en-US" sz="2400" dirty="0" err="1">
                <a:solidFill>
                  <a:srgbClr val="0070C0"/>
                </a:solidFill>
              </a:rPr>
              <a:t>đỉnh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là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biến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cạnh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biểu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diễn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ràng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buộc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81CF46-7849-4B2B-A911-ED6E9BA9B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24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D5AEA2B-A48E-5C33-C18D-8C693E00D4E4}"/>
              </a:ext>
            </a:extLst>
          </p:cNvPr>
          <p:cNvSpPr txBox="1">
            <a:spLocks noChangeArrowheads="1"/>
          </p:cNvSpPr>
          <p:nvPr/>
        </p:nvSpPr>
        <p:spPr>
          <a:xfrm>
            <a:off x="460991" y="1183672"/>
            <a:ext cx="11603629" cy="4453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Lọc</a:t>
            </a:r>
            <a:r>
              <a:rPr lang="en-US" sz="2400" dirty="0"/>
              <a:t>: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: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lọc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1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báo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lỗi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835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461759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431848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765107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3120" y="5034292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" name="Straight Connector 16"/>
          <p:cNvCxnSpPr/>
          <p:nvPr/>
        </p:nvCxnSpPr>
        <p:spPr>
          <a:xfrm>
            <a:off x="1620085" y="5262714"/>
            <a:ext cx="499850" cy="72555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1666316" y="5442576"/>
            <a:ext cx="482648" cy="339952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283079" y="5503651"/>
            <a:ext cx="123085" cy="237696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25"/>
          <a:stretch/>
        </p:blipFill>
        <p:spPr>
          <a:xfrm>
            <a:off x="760480" y="3490677"/>
            <a:ext cx="1922089" cy="154441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0C25B-6032-4737-81F3-B7A6D3B5F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25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E40E15-BA12-B5DC-2CF2-A28073FD66AC}"/>
              </a:ext>
            </a:extLst>
          </p:cNvPr>
          <p:cNvSpPr txBox="1">
            <a:spLocks noChangeArrowheads="1"/>
          </p:cNvSpPr>
          <p:nvPr/>
        </p:nvSpPr>
        <p:spPr>
          <a:xfrm>
            <a:off x="460992" y="1183672"/>
            <a:ext cx="11558136" cy="4453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Lọc</a:t>
            </a:r>
            <a:r>
              <a:rPr lang="en-US" sz="2400" dirty="0"/>
              <a:t>: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: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lọc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1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báo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lỗi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37512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Filtering: Forward Checking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47242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00" y="50373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Connector 17"/>
          <p:cNvCxnSpPr/>
          <p:nvPr/>
        </p:nvCxnSpPr>
        <p:spPr>
          <a:xfrm flipH="1">
            <a:off x="2263150" y="5939485"/>
            <a:ext cx="153093" cy="161615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721525" y="5916366"/>
            <a:ext cx="341806" cy="213762"/>
          </a:xfrm>
          <a:prstGeom prst="line">
            <a:avLst/>
          </a:prstGeom>
          <a:ln w="5715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43240" y="5897176"/>
            <a:ext cx="479881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 err="1">
                <a:solidFill>
                  <a:srgbClr val="FF0000"/>
                </a:solidFill>
              </a:rPr>
              <a:t>Lỗi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mr-IN" sz="2600" dirty="0">
                <a:solidFill>
                  <a:srgbClr val="FF0000"/>
                </a:solidFill>
              </a:rPr>
              <a:t>–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biến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không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còn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giá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trị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để</a:t>
            </a:r>
            <a:r>
              <a:rPr lang="en-US" sz="2600" dirty="0">
                <a:solidFill>
                  <a:srgbClr val="FF0000"/>
                </a:solidFill>
              </a:rPr>
              <a:t> </a:t>
            </a:r>
            <a:r>
              <a:rPr lang="en-US" sz="2600" dirty="0" err="1">
                <a:solidFill>
                  <a:srgbClr val="FF0000"/>
                </a:solidFill>
              </a:rPr>
              <a:t>gán</a:t>
            </a:r>
            <a:endParaRPr lang="en-US" sz="2600" dirty="0">
              <a:solidFill>
                <a:srgbClr val="FF000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25"/>
          <a:stretch/>
        </p:blipFill>
        <p:spPr>
          <a:xfrm>
            <a:off x="760480" y="3490677"/>
            <a:ext cx="1922089" cy="154441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0D07BE-C73D-4D7B-A97E-DC358AE09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26</a:t>
            </a:fld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27FBB07-276F-4DDD-438A-101ACA152AB7}"/>
              </a:ext>
            </a:extLst>
          </p:cNvPr>
          <p:cNvSpPr txBox="1">
            <a:spLocks noChangeArrowheads="1"/>
          </p:cNvSpPr>
          <p:nvPr/>
        </p:nvSpPr>
        <p:spPr>
          <a:xfrm>
            <a:off x="460992" y="1183672"/>
            <a:ext cx="11571784" cy="4453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Lọc</a:t>
            </a:r>
            <a:r>
              <a:rPr lang="en-US" sz="2400" dirty="0"/>
              <a:t>: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: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</a:t>
            </a:r>
            <a:r>
              <a:rPr lang="en-US" sz="2400" dirty="0" err="1"/>
              <a:t>lọc</a:t>
            </a:r>
            <a:r>
              <a:rPr lang="en-US" sz="2400" dirty="0"/>
              <a:t>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Sau </a:t>
            </a:r>
            <a:r>
              <a:rPr lang="en-US" dirty="0" err="1"/>
              <a:t>khi</a:t>
            </a:r>
            <a:r>
              <a:rPr lang="en-US" dirty="0"/>
              <a:t> 1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báo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lỗi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837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38513"/>
            <a:ext cx="11379200" cy="4453394"/>
          </a:xfrm>
        </p:spPr>
        <p:txBody>
          <a:bodyPr/>
          <a:lstStyle/>
          <a:p>
            <a:r>
              <a:rPr lang="en-US" sz="2400" dirty="0" err="1"/>
              <a:t>Hạn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forward checking </a:t>
            </a:r>
            <a:r>
              <a:rPr lang="en-US" sz="2400" dirty="0" err="1"/>
              <a:t>đơn</a:t>
            </a:r>
            <a:r>
              <a:rPr lang="en-US" sz="2400" dirty="0"/>
              <a:t> </a:t>
            </a:r>
            <a:r>
              <a:rPr lang="en-US" sz="2400" dirty="0" err="1"/>
              <a:t>giản</a:t>
            </a:r>
            <a:r>
              <a:rPr lang="en-US" sz="2400" dirty="0"/>
              <a:t>: </a:t>
            </a:r>
            <a:r>
              <a:rPr lang="en-US" sz="2400" dirty="0" err="1"/>
              <a:t>chuyền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được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tới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, </a:t>
            </a:r>
            <a:r>
              <a:rPr lang="en-US" sz="2400" dirty="0" err="1"/>
              <a:t>nhưng</a:t>
            </a:r>
            <a:r>
              <a:rPr lang="en-US" sz="2400" dirty="0"/>
              <a:t> </a:t>
            </a:r>
            <a:r>
              <a:rPr lang="en-US" sz="2400" dirty="0" err="1"/>
              <a:t>chưa</a:t>
            </a:r>
            <a:r>
              <a:rPr lang="en-US" sz="2400" dirty="0"/>
              <a:t> </a:t>
            </a:r>
            <a:r>
              <a:rPr lang="en-US" sz="2400" dirty="0" err="1"/>
              <a:t>đủ</a:t>
            </a:r>
            <a:r>
              <a:rPr lang="en-US" sz="2400" dirty="0"/>
              <a:t> “</a:t>
            </a:r>
            <a:r>
              <a:rPr lang="en-US" sz="2400" dirty="0" err="1"/>
              <a:t>sâu</a:t>
            </a:r>
            <a:r>
              <a:rPr lang="en-US" sz="2400" dirty="0"/>
              <a:t>”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tất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lỗi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NT </a:t>
            </a:r>
            <a:r>
              <a:rPr lang="en-US" dirty="0" err="1"/>
              <a:t>và</a:t>
            </a:r>
            <a:r>
              <a:rPr lang="en-US" dirty="0"/>
              <a:t> SA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mầu</a:t>
            </a:r>
            <a:r>
              <a:rPr lang="en-US" dirty="0"/>
              <a:t> </a:t>
            </a:r>
            <a:r>
              <a:rPr lang="en-US" dirty="0" err="1"/>
              <a:t>xanh</a:t>
            </a:r>
            <a:r>
              <a:rPr lang="en-US" dirty="0"/>
              <a:t> (blue)! </a:t>
            </a:r>
            <a:endParaRPr lang="en-US" sz="2400" dirty="0"/>
          </a:p>
          <a:p>
            <a:pPr>
              <a:lnSpc>
                <a:spcPct val="80000"/>
              </a:lnSpc>
            </a:pPr>
            <a:r>
              <a:rPr lang="en-US" sz="2400" i="1" dirty="0"/>
              <a:t>Constraint propagation: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suy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kết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khác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21" name="Rectangle 20"/>
          <p:cNvSpPr/>
          <p:nvPr/>
        </p:nvSpPr>
        <p:spPr>
          <a:xfrm>
            <a:off x="11438792" y="0"/>
            <a:ext cx="753208" cy="16617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Filtering: Constraint Propagation (</a:t>
            </a:r>
            <a:r>
              <a:rPr lang="en-US" dirty="0" err="1"/>
              <a:t>lan</a:t>
            </a:r>
            <a:r>
              <a:rPr lang="en-US" dirty="0"/>
              <a:t> </a:t>
            </a:r>
            <a:r>
              <a:rPr lang="en-US" dirty="0" err="1"/>
              <a:t>chuyền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)</a:t>
            </a: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/>
          <a:srcRect t="35036" r="14557"/>
          <a:stretch>
            <a:fillRect/>
          </a:stretch>
        </p:blipFill>
        <p:spPr bwMode="auto">
          <a:xfrm>
            <a:off x="3124159" y="3326487"/>
            <a:ext cx="7122459" cy="2401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5726" name="Rectangle 30"/>
          <p:cNvSpPr>
            <a:spLocks noChangeArrowheads="1"/>
          </p:cNvSpPr>
          <p:nvPr/>
        </p:nvSpPr>
        <p:spPr bwMode="auto">
          <a:xfrm>
            <a:off x="2286000" y="5296576"/>
            <a:ext cx="8382000" cy="106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925727" name="Rectangle 31"/>
          <p:cNvSpPr>
            <a:spLocks noChangeArrowheads="1"/>
          </p:cNvSpPr>
          <p:nvPr/>
        </p:nvSpPr>
        <p:spPr bwMode="auto">
          <a:xfrm>
            <a:off x="2286000" y="5629835"/>
            <a:ext cx="8382000" cy="5334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54" y="3506696"/>
            <a:ext cx="2542252" cy="238983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22BF87-9AE8-42BC-8BAC-EA68F10B6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02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(Arc Consistency)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06400" y="1452841"/>
                <a:ext cx="11379200" cy="1992878"/>
              </a:xfrm>
            </p:spPr>
            <p:txBody>
              <a:bodyPr vert="horz" lIns="91440" tIns="45720" rIns="91440" bIns="45720" rtlCol="0">
                <a:noAutofit/>
              </a:bodyPr>
              <a:lstStyle/>
              <a:p>
                <a:r>
                  <a:rPr lang="en-US" sz="2400" dirty="0" err="1"/>
                  <a:t>Cạnh</a:t>
                </a:r>
                <a:r>
                  <a:rPr lang="en-US" sz="2400" dirty="0"/>
                  <a:t> X </a:t>
                </a:r>
                <a:r>
                  <a:rPr lang="en-US" sz="2400" dirty="0">
                    <a:sym typeface="Symbol" pitchFamily="18" charset="2"/>
                  </a:rPr>
                  <a:t> </a:t>
                </a:r>
                <a:r>
                  <a:rPr lang="en-US" sz="2400" dirty="0"/>
                  <a:t>Y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nếu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x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miền</a:t>
                </a:r>
                <a:r>
                  <a:rPr lang="en-US" sz="2400" dirty="0"/>
                  <a:t> X </a:t>
                </a:r>
                <a:r>
                  <a:rPr lang="en-US" sz="2400" dirty="0" err="1"/>
                  <a:t>tồn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</a:t>
                </a:r>
                <a:r>
                  <a:rPr lang="en-US" sz="2400" dirty="0"/>
                  <a:t> y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miền</a:t>
                </a:r>
                <a:r>
                  <a:rPr lang="en-US" sz="2400" dirty="0"/>
                  <a:t> Y </a:t>
                </a:r>
                <a:r>
                  <a:rPr lang="en-US" sz="2400" dirty="0" err="1"/>
                  <a:t>thỏa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buộc</a:t>
                </a:r>
                <a:endParaRPr lang="en-US" sz="2400" dirty="0"/>
              </a:p>
              <a:p>
                <a:r>
                  <a:rPr lang="en-US" sz="2400" dirty="0" err="1">
                    <a:solidFill>
                      <a:srgbClr val="FF0000"/>
                    </a:solidFill>
                  </a:rPr>
                  <a:t>Làm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phù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hợp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cạnh</a:t>
                </a:r>
                <a:r>
                  <a:rPr lang="en-US" sz="2400" dirty="0">
                    <a:solidFill>
                      <a:srgbClr val="FF0000"/>
                    </a:solidFill>
                  </a:rPr>
                  <a:t>: </a:t>
                </a:r>
                <a:r>
                  <a:rPr lang="en-US" sz="2400" dirty="0" err="1"/>
                  <a:t>Loại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miền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70C0"/>
                    </a:solidFill>
                  </a:rPr>
                  <a:t>X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không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tồn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Y</a:t>
                </a:r>
              </a:p>
              <a:p>
                <a:r>
                  <a:rPr lang="en-US" sz="2400" dirty="0"/>
                  <a:t>Forward checking: </a:t>
                </a:r>
                <a:r>
                  <a:rPr lang="en-US" sz="2400" dirty="0" err="1"/>
                  <a:t>Chỉ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với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gán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mới</a:t>
                </a:r>
                <a:endParaRPr lang="en-US" sz="2400" dirty="0"/>
              </a:p>
            </p:txBody>
          </p:sp>
        </mc:Choice>
        <mc:Fallback xmlns="">
          <p:sp>
            <p:nvSpPr>
              <p:cNvPr id="1536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452841"/>
                <a:ext cx="11379200" cy="1992878"/>
              </a:xfrm>
              <a:blipFill>
                <a:blip r:embed="rId2"/>
                <a:stretch>
                  <a:fillRect l="-750" t="-4893" r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7757" name="Freeform 13"/>
          <p:cNvSpPr>
            <a:spLocks/>
          </p:cNvSpPr>
          <p:nvPr/>
        </p:nvSpPr>
        <p:spPr bwMode="auto">
          <a:xfrm>
            <a:off x="3826613" y="4932331"/>
            <a:ext cx="6032359" cy="620839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927760" name="Freeform 16"/>
          <p:cNvSpPr>
            <a:spLocks/>
          </p:cNvSpPr>
          <p:nvPr/>
        </p:nvSpPr>
        <p:spPr bwMode="auto">
          <a:xfrm>
            <a:off x="3912675" y="4883928"/>
            <a:ext cx="1219200" cy="152400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35036" r="14557" b="37324"/>
          <a:stretch/>
        </p:blipFill>
        <p:spPr bwMode="auto">
          <a:xfrm>
            <a:off x="3279733" y="3842917"/>
            <a:ext cx="7122459" cy="1021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3" name="Picture 4"/>
          <p:cNvPicPr>
            <a:picLocks noChangeAspect="1" noChangeArrowheads="1"/>
          </p:cNvPicPr>
          <p:nvPr/>
        </p:nvPicPr>
        <p:blipFill>
          <a:blip r:embed="rId4" cstate="print"/>
          <a:srcRect l="2042" t="89345" r="86736" b="2664"/>
          <a:stretch>
            <a:fillRect/>
          </a:stretch>
        </p:blipFill>
        <p:spPr bwMode="auto">
          <a:xfrm>
            <a:off x="3435307" y="4493006"/>
            <a:ext cx="943923" cy="257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63600" y="50209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4" name="Straight Connector 33"/>
          <p:cNvCxnSpPr/>
          <p:nvPr/>
        </p:nvCxnSpPr>
        <p:spPr>
          <a:xfrm flipV="1">
            <a:off x="961901" y="5272646"/>
            <a:ext cx="436594" cy="21062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961901" y="5595356"/>
            <a:ext cx="508882" cy="16001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587681" y="3381252"/>
            <a:ext cx="34687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Loại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bỏ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giá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trị</a:t>
            </a:r>
            <a:r>
              <a:rPr lang="en-US" sz="2400" dirty="0">
                <a:solidFill>
                  <a:srgbClr val="0070C0"/>
                </a:solidFill>
              </a:rPr>
              <a:t> ở </a:t>
            </a:r>
            <a:r>
              <a:rPr lang="en-US" sz="2400" dirty="0" err="1">
                <a:solidFill>
                  <a:srgbClr val="0070C0"/>
                </a:solidFill>
              </a:rPr>
              <a:t>nút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r>
              <a:rPr lang="en-US" sz="2400" dirty="0" err="1">
                <a:solidFill>
                  <a:srgbClr val="0070C0"/>
                </a:solidFill>
              </a:rPr>
              <a:t>gốc</a:t>
            </a:r>
            <a:r>
              <a:rPr lang="en-US" sz="2400" dirty="0">
                <a:solidFill>
                  <a:srgbClr val="0070C0"/>
                </a:solidFill>
              </a:rPr>
              <a:t>!)</a:t>
            </a:r>
            <a:r>
              <a:rPr lang="en-US" sz="2400" dirty="0"/>
              <a:t> 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60" y="3377144"/>
            <a:ext cx="1928273" cy="165615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0930ED-6BED-4FC3-819E-0A5EA142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627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757" grpId="0" animBg="1"/>
      <p:bldP spid="927760" grpId="0" animBg="1"/>
      <p:bldP spid="927760" grpId="1" animBg="1"/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70667" t="35036" r="14557" b="37324"/>
          <a:stretch/>
        </p:blipFill>
        <p:spPr bwMode="auto">
          <a:xfrm>
            <a:off x="3785499" y="4270887"/>
            <a:ext cx="1231710" cy="1021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(Arc Consistency )</a:t>
            </a: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t="35037" r="85272" b="37077"/>
          <a:stretch/>
        </p:blipFill>
        <p:spPr bwMode="auto">
          <a:xfrm>
            <a:off x="5083442" y="4263404"/>
            <a:ext cx="1227729" cy="1031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3" name="Picture 4"/>
          <p:cNvPicPr>
            <a:picLocks noChangeAspect="1" noChangeArrowheads="1"/>
          </p:cNvPicPr>
          <p:nvPr/>
        </p:nvPicPr>
        <p:blipFill>
          <a:blip r:embed="rId3" cstate="print"/>
          <a:srcRect l="2042" t="89345" r="86736" b="2664"/>
          <a:stretch>
            <a:fillRect/>
          </a:stretch>
        </p:blipFill>
        <p:spPr bwMode="auto">
          <a:xfrm>
            <a:off x="5268044" y="4913493"/>
            <a:ext cx="943923" cy="257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l="13566" t="35036" r="70705" b="38056"/>
          <a:stretch/>
        </p:blipFill>
        <p:spPr bwMode="auto">
          <a:xfrm>
            <a:off x="7897462" y="4238565"/>
            <a:ext cx="1311046" cy="9948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2" cstate="print"/>
          <a:srcRect t="35037" r="85272" b="37077"/>
          <a:stretch/>
        </p:blipFill>
        <p:spPr bwMode="auto">
          <a:xfrm>
            <a:off x="9361029" y="4267939"/>
            <a:ext cx="1227729" cy="1031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4"/>
          <p:cNvPicPr>
            <a:picLocks noChangeAspect="1" noChangeArrowheads="1"/>
          </p:cNvPicPr>
          <p:nvPr/>
        </p:nvPicPr>
        <p:blipFill>
          <a:blip r:embed="rId3" cstate="print"/>
          <a:srcRect l="2042" t="89345" r="86736" b="2664"/>
          <a:stretch>
            <a:fillRect/>
          </a:stretch>
        </p:blipFill>
        <p:spPr bwMode="auto">
          <a:xfrm>
            <a:off x="9545631" y="4906153"/>
            <a:ext cx="943923" cy="257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Freeform 16"/>
          <p:cNvSpPr>
            <a:spLocks/>
          </p:cNvSpPr>
          <p:nvPr/>
        </p:nvSpPr>
        <p:spPr bwMode="auto">
          <a:xfrm flipH="1">
            <a:off x="4753965" y="5312280"/>
            <a:ext cx="887470" cy="119566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30" name="Freeform 16"/>
          <p:cNvSpPr>
            <a:spLocks/>
          </p:cNvSpPr>
          <p:nvPr/>
        </p:nvSpPr>
        <p:spPr bwMode="auto">
          <a:xfrm flipH="1">
            <a:off x="4348259" y="5322116"/>
            <a:ext cx="1293175" cy="265884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31" name="Freeform 16"/>
          <p:cNvSpPr>
            <a:spLocks/>
          </p:cNvSpPr>
          <p:nvPr/>
        </p:nvSpPr>
        <p:spPr bwMode="auto">
          <a:xfrm flipH="1">
            <a:off x="3959029" y="5331951"/>
            <a:ext cx="1682404" cy="489065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2" name="&quot;No&quot; Symbol 1"/>
          <p:cNvSpPr/>
          <p:nvPr/>
        </p:nvSpPr>
        <p:spPr>
          <a:xfrm>
            <a:off x="3766544" y="4840594"/>
            <a:ext cx="471627" cy="460455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Freeform 16"/>
          <p:cNvSpPr>
            <a:spLocks/>
          </p:cNvSpPr>
          <p:nvPr/>
        </p:nvSpPr>
        <p:spPr bwMode="auto">
          <a:xfrm flipH="1">
            <a:off x="8969460" y="5274760"/>
            <a:ext cx="887470" cy="119566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33" name="Freeform 16"/>
          <p:cNvSpPr>
            <a:spLocks/>
          </p:cNvSpPr>
          <p:nvPr/>
        </p:nvSpPr>
        <p:spPr bwMode="auto">
          <a:xfrm flipH="1">
            <a:off x="8563754" y="5284596"/>
            <a:ext cx="1293175" cy="265884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34" name="Freeform 16"/>
          <p:cNvSpPr>
            <a:spLocks/>
          </p:cNvSpPr>
          <p:nvPr/>
        </p:nvSpPr>
        <p:spPr bwMode="auto">
          <a:xfrm flipH="1">
            <a:off x="8174524" y="5294431"/>
            <a:ext cx="1682404" cy="489065"/>
          </a:xfrm>
          <a:custGeom>
            <a:avLst/>
            <a:gdLst>
              <a:gd name="T0" fmla="*/ 2147483647 w 1440"/>
              <a:gd name="T1" fmla="*/ 0 h 192"/>
              <a:gd name="T2" fmla="*/ 2147483647 w 1440"/>
              <a:gd name="T3" fmla="*/ 2147483647 h 192"/>
              <a:gd name="T4" fmla="*/ 0 w 1440"/>
              <a:gd name="T5" fmla="*/ 0 h 192"/>
              <a:gd name="T6" fmla="*/ 0 60000 65536"/>
              <a:gd name="T7" fmla="*/ 0 60000 65536"/>
              <a:gd name="T8" fmla="*/ 0 60000 65536"/>
              <a:gd name="T9" fmla="*/ 0 w 1440"/>
              <a:gd name="T10" fmla="*/ 0 h 192"/>
              <a:gd name="T11" fmla="*/ 1440 w 1440"/>
              <a:gd name="T12" fmla="*/ 192 h 1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40" h="192">
                <a:moveTo>
                  <a:pt x="1440" y="0"/>
                </a:moveTo>
                <a:cubicBezTo>
                  <a:pt x="1176" y="96"/>
                  <a:pt x="912" y="192"/>
                  <a:pt x="672" y="192"/>
                </a:cubicBezTo>
                <a:cubicBezTo>
                  <a:pt x="432" y="192"/>
                  <a:pt x="216" y="96"/>
                  <a:pt x="0" y="0"/>
                </a:cubicBez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lg" len="med"/>
          </a:ln>
        </p:spPr>
        <p:txBody>
          <a:bodyPr lIns="91436" tIns="45718" rIns="91436" bIns="45718"/>
          <a:lstStyle/>
          <a:p>
            <a:endParaRPr lang="en-US"/>
          </a:p>
        </p:txBody>
      </p:sp>
      <p:sp>
        <p:nvSpPr>
          <p:cNvPr id="35" name="&quot;No&quot; Symbol 34"/>
          <p:cNvSpPr/>
          <p:nvPr/>
        </p:nvSpPr>
        <p:spPr>
          <a:xfrm>
            <a:off x="7982039" y="4803074"/>
            <a:ext cx="471627" cy="460455"/>
          </a:xfrm>
          <a:prstGeom prst="noSmoking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3600" y="5020940"/>
            <a:ext cx="1981431" cy="172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7" name="Straight Connector 36"/>
          <p:cNvCxnSpPr/>
          <p:nvPr/>
        </p:nvCxnSpPr>
        <p:spPr>
          <a:xfrm flipV="1">
            <a:off x="961901" y="5272646"/>
            <a:ext cx="436594" cy="21062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961901" y="5595356"/>
            <a:ext cx="508882" cy="16001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60" y="3377144"/>
            <a:ext cx="1928273" cy="165615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29D52-76F2-4C55-824F-54DBD725C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74B8D566-1346-F3D8-0B5C-E7262A047179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406400" y="1452841"/>
                <a:ext cx="11379200" cy="199287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Cạnh X </a:t>
                </a:r>
                <a:r>
                  <a:rPr lang="en-US" sz="2400" dirty="0">
                    <a:sym typeface="Symbol" pitchFamily="18" charset="2"/>
                  </a:rPr>
                  <a:t> </a:t>
                </a:r>
                <a:r>
                  <a:rPr lang="en-US" sz="2400" dirty="0"/>
                  <a:t>Y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nếu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x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miền</a:t>
                </a:r>
                <a:r>
                  <a:rPr lang="en-US" sz="2400" dirty="0"/>
                  <a:t> X </a:t>
                </a:r>
                <a:r>
                  <a:rPr lang="en-US" sz="2400" dirty="0" err="1"/>
                  <a:t>tồn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</a:t>
                </a:r>
                <a:r>
                  <a:rPr lang="en-US" sz="2400" dirty="0"/>
                  <a:t> y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miền</a:t>
                </a:r>
                <a:r>
                  <a:rPr lang="en-US" sz="2400" dirty="0"/>
                  <a:t> Y </a:t>
                </a:r>
                <a:r>
                  <a:rPr lang="en-US" sz="2400" dirty="0" err="1"/>
                  <a:t>thỏa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ràng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buộc</a:t>
                </a:r>
                <a:endParaRPr lang="en-US" sz="2400" dirty="0"/>
              </a:p>
              <a:p>
                <a:r>
                  <a:rPr lang="en-US" sz="2400" dirty="0" err="1">
                    <a:solidFill>
                      <a:srgbClr val="FF0000"/>
                    </a:solidFill>
                  </a:rPr>
                  <a:t>Làm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phù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hợp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cạnh</a:t>
                </a:r>
                <a:r>
                  <a:rPr lang="en-US" sz="2400" dirty="0">
                    <a:solidFill>
                      <a:srgbClr val="FF0000"/>
                    </a:solidFill>
                  </a:rPr>
                  <a:t>: </a:t>
                </a:r>
                <a:r>
                  <a:rPr lang="en-US" sz="2400" dirty="0" err="1"/>
                  <a:t>Loại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miền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0070C0"/>
                    </a:solidFill>
                  </a:rPr>
                  <a:t>X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không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tồn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thuộc</a:t>
                </a:r>
                <a:r>
                  <a:rPr lang="en-US" sz="2400" dirty="0"/>
                  <a:t> Y</a:t>
                </a:r>
              </a:p>
              <a:p>
                <a:r>
                  <a:rPr lang="en-US" sz="2400" dirty="0"/>
                  <a:t>Forward checking: </a:t>
                </a:r>
                <a:r>
                  <a:rPr lang="en-US" sz="2400" dirty="0" err="1"/>
                  <a:t>Chỉ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hợp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∀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400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với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gán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mới</a:t>
                </a:r>
                <a:endParaRPr lang="en-US" sz="2400" dirty="0"/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74B8D566-1346-F3D8-0B5C-E7262A047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400" y="1452841"/>
                <a:ext cx="11379200" cy="1992878"/>
              </a:xfrm>
              <a:prstGeom prst="rect">
                <a:avLst/>
              </a:prstGeom>
              <a:blipFill>
                <a:blip r:embed="rId6"/>
                <a:stretch>
                  <a:fillRect l="-750" t="-4893" r="-3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506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2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CSP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71173"/>
            <a:ext cx="11379200" cy="4729164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400" dirty="0"/>
              <a:t>Ý </a:t>
            </a:r>
            <a:r>
              <a:rPr lang="en-US" sz="2400" dirty="0" err="1"/>
              <a:t>tưởng</a:t>
            </a:r>
            <a:r>
              <a:rPr lang="en-US" sz="2400" dirty="0"/>
              <a:t>: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mọi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phù</a:t>
            </a:r>
            <a:r>
              <a:rPr lang="en-US" sz="2400" dirty="0"/>
              <a:t> </a:t>
            </a:r>
            <a:r>
              <a:rPr lang="en-US" sz="2400" dirty="0" err="1"/>
              <a:t>hợp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, </a:t>
            </a:r>
            <a:r>
              <a:rPr lang="en-US" sz="2400" dirty="0" err="1"/>
              <a:t>lặp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đến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trong</a:t>
            </a:r>
            <a:r>
              <a:rPr lang="en-US" sz="2400" dirty="0"/>
              <a:t> </a:t>
            </a:r>
            <a:r>
              <a:rPr lang="en-US" sz="2400" dirty="0" err="1"/>
              <a:t>cả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chu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.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AC-3 (</a:t>
            </a:r>
            <a:r>
              <a:rPr lang="en-US" sz="2400" dirty="0">
                <a:solidFill>
                  <a:srgbClr val="FF0000"/>
                </a:solidFill>
              </a:rPr>
              <a:t>A</a:t>
            </a:r>
            <a:r>
              <a:rPr lang="en-US" sz="2400" dirty="0"/>
              <a:t>rc </a:t>
            </a:r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en-US" sz="2400" dirty="0"/>
              <a:t>onsistency Algorithm #</a:t>
            </a:r>
            <a:r>
              <a:rPr lang="en-US" sz="2400" dirty="0">
                <a:solidFill>
                  <a:srgbClr val="FF0000"/>
                </a:solidFill>
              </a:rPr>
              <a:t>3</a:t>
            </a:r>
            <a:r>
              <a:rPr lang="en-US" sz="2400" dirty="0"/>
              <a:t>):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hiệu</a:t>
            </a:r>
            <a:r>
              <a:rPr lang="en-US" sz="2400" dirty="0"/>
              <a:t> </a:t>
            </a:r>
            <a:r>
              <a:rPr lang="en-US" sz="2400" dirty="0" err="1"/>
              <a:t>quả</a:t>
            </a:r>
            <a:r>
              <a:rPr lang="en-US" sz="2400" dirty="0"/>
              <a:t> </a:t>
            </a:r>
            <a:r>
              <a:rPr lang="en-US" sz="2400" dirty="0" err="1"/>
              <a:t>bỏ</a:t>
            </a:r>
            <a:r>
              <a:rPr lang="en-US" sz="2400" dirty="0"/>
              <a:t> qua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miền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bị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lần</a:t>
            </a:r>
            <a:r>
              <a:rPr lang="en-US" sz="2400" dirty="0"/>
              <a:t> </a:t>
            </a:r>
            <a:r>
              <a:rPr lang="en-US" sz="2400" dirty="0" err="1"/>
              <a:t>duyệt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r>
              <a:rPr lang="en-US" sz="2400" dirty="0"/>
              <a:t>.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dirty="0"/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2294" y="3536116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5132036" y="511170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4799305" y="3508445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093410" y="3694013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522909" y="4664875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040198" y="523331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084958" y="5909331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120978" y="4630330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" name="Group 20"/>
          <p:cNvGrpSpPr/>
          <p:nvPr/>
        </p:nvGrpSpPr>
        <p:grpSpPr>
          <a:xfrm>
            <a:off x="1196463" y="3935755"/>
            <a:ext cx="2505180" cy="2103626"/>
            <a:chOff x="1651247" y="2062661"/>
            <a:chExt cx="2505180" cy="2103626"/>
          </a:xfrm>
        </p:grpSpPr>
        <p:pic>
          <p:nvPicPr>
            <p:cNvPr id="22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0C0E11-1C2C-4F86-8F9E-A5658DECB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703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00" y="1371601"/>
            <a:ext cx="6883400" cy="409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1"/>
          <p:cNvSpPr/>
          <p:nvPr/>
        </p:nvSpPr>
        <p:spPr>
          <a:xfrm>
            <a:off x="4480560" y="1960880"/>
            <a:ext cx="4094480" cy="304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261360" y="2778444"/>
            <a:ext cx="4439920" cy="83851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023360" y="5671949"/>
            <a:ext cx="3154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Constraint Propagation!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ED43B-C43E-4804-9B75-49B8A7F61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2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5104216" y="2384388"/>
            <a:ext cx="730527" cy="327435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104216" y="2882048"/>
            <a:ext cx="832127" cy="314991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5421485" y="3517378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5088754" y="191411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82859" y="2099684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2206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dirty="0"/>
              <a:t>SA-&gt;WA</a:t>
            </a:r>
          </a:p>
          <a:p>
            <a:r>
              <a:rPr lang="en-US" sz="2400" dirty="0"/>
              <a:t>NT-&gt;WA</a:t>
            </a:r>
          </a:p>
        </p:txBody>
      </p:sp>
      <p:sp>
        <p:nvSpPr>
          <p:cNvPr id="27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651247" y="2062661"/>
            <a:ext cx="2505180" cy="2103626"/>
            <a:chOff x="1651247" y="2062661"/>
            <a:chExt cx="2505180" cy="2103626"/>
          </a:xfrm>
        </p:grpSpPr>
        <p:pic>
          <p:nvPicPr>
            <p:cNvPr id="31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33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34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35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38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2C3A98-E8CF-4E1F-8FF6-C749FFBED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9499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" name="Straight Connector 18"/>
          <p:cNvCxnSpPr/>
          <p:nvPr/>
        </p:nvCxnSpPr>
        <p:spPr>
          <a:xfrm flipV="1">
            <a:off x="6334179" y="3220569"/>
            <a:ext cx="922392" cy="4223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303781" y="3350183"/>
            <a:ext cx="626488" cy="317218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5088754" y="191411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82859" y="2099684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36159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dirty="0"/>
              <a:t>NT-&gt;WA</a:t>
            </a:r>
          </a:p>
          <a:p>
            <a:r>
              <a:rPr lang="en-US" sz="2400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6284046" y="2596429"/>
            <a:ext cx="765517" cy="525577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V="1">
            <a:off x="6096000" y="2484371"/>
            <a:ext cx="0" cy="559334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 flipV="1">
            <a:off x="5088754" y="2859217"/>
            <a:ext cx="854846" cy="344618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651247" y="2062661"/>
            <a:ext cx="2505180" cy="2103626"/>
            <a:chOff x="1651247" y="2062661"/>
            <a:chExt cx="2505180" cy="2103626"/>
          </a:xfrm>
        </p:grpSpPr>
        <p:pic>
          <p:nvPicPr>
            <p:cNvPr id="50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29A82B-D3D7-4E60-9F1F-A34019F5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33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82859" y="2099684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36159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6303781" y="2276751"/>
            <a:ext cx="626488" cy="12298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6096000" y="2468981"/>
            <a:ext cx="21875" cy="56702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5168470" y="2316480"/>
            <a:ext cx="645441" cy="328021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43" name="Group 42"/>
          <p:cNvGrpSpPr/>
          <p:nvPr/>
        </p:nvGrpSpPr>
        <p:grpSpPr>
          <a:xfrm>
            <a:off x="1651247" y="2062661"/>
            <a:ext cx="2505180" cy="2103626"/>
            <a:chOff x="1651247" y="2062661"/>
            <a:chExt cx="2505180" cy="2103626"/>
          </a:xfrm>
        </p:grpSpPr>
        <p:pic>
          <p:nvPicPr>
            <p:cNvPr id="44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51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52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53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54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08E88C-DAD9-439B-AD0B-6078E8C7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92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82859" y="2099684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36159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b="1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1651247" y="2062661"/>
            <a:ext cx="2505180" cy="2103626"/>
            <a:chOff x="1651247" y="2062661"/>
            <a:chExt cx="2505180" cy="2103626"/>
          </a:xfrm>
        </p:grpSpPr>
        <p:pic>
          <p:nvPicPr>
            <p:cNvPr id="32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43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44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0641E-4AFC-43C8-B2B0-9BBE29CB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369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82859" y="2099684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36159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b="1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651247" y="2062661"/>
            <a:ext cx="2505180" cy="2103626"/>
            <a:chOff x="1651247" y="2062661"/>
            <a:chExt cx="2505180" cy="2103626"/>
          </a:xfrm>
        </p:grpSpPr>
        <p:pic>
          <p:nvPicPr>
            <p:cNvPr id="31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38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43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44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A6DA0C-F147-4B5B-8167-E82D9A4A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5484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82859" y="2099684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36159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b="1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1651247" y="2062661"/>
            <a:ext cx="2505180" cy="2103626"/>
            <a:chOff x="1651247" y="2062661"/>
            <a:chExt cx="2505180" cy="2103626"/>
          </a:xfrm>
        </p:grpSpPr>
        <p:pic>
          <p:nvPicPr>
            <p:cNvPr id="31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2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34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35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38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43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44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98CD87-0EAD-433F-923F-6F78D115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869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82859" y="2099684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38570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b="1" dirty="0"/>
              <a:t>NSW-&gt;SA</a:t>
            </a:r>
          </a:p>
          <a:p>
            <a:r>
              <a:rPr lang="en-US" sz="2400" b="1" dirty="0"/>
              <a:t>V-&gt;SA</a:t>
            </a:r>
          </a:p>
          <a:p>
            <a:r>
              <a:rPr lang="en-US" sz="2400" b="1" dirty="0"/>
              <a:t>WA-&gt;NT</a:t>
            </a:r>
          </a:p>
          <a:p>
            <a:r>
              <a:rPr lang="en-US" sz="2400" b="1" dirty="0"/>
              <a:t>SA-&gt;NT</a:t>
            </a:r>
          </a:p>
          <a:p>
            <a:r>
              <a:rPr lang="en-US" sz="2400" b="1" dirty="0"/>
              <a:t>Q-&gt;NT</a:t>
            </a:r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51247" y="2062661"/>
            <a:ext cx="2505180" cy="2103626"/>
            <a:chOff x="1651247" y="2062661"/>
            <a:chExt cx="2505180" cy="2103626"/>
          </a:xfrm>
        </p:grpSpPr>
        <p:pic>
          <p:nvPicPr>
            <p:cNvPr id="30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31979" t="1377" r="53189" b="70299"/>
            <a:stretch/>
          </p:blipFill>
          <p:spPr bwMode="auto">
            <a:xfrm>
              <a:off x="1651247" y="2062661"/>
              <a:ext cx="2446020" cy="21036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1716842" y="2762870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35" name="Text Box 24"/>
            <p:cNvSpPr txBox="1">
              <a:spLocks noChangeArrowheads="1"/>
            </p:cNvSpPr>
            <p:nvPr/>
          </p:nvSpPr>
          <p:spPr bwMode="auto">
            <a:xfrm>
              <a:off x="2624322" y="299593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38" name="Text Box 25"/>
            <p:cNvSpPr txBox="1">
              <a:spLocks noChangeArrowheads="1"/>
            </p:cNvSpPr>
            <p:nvPr/>
          </p:nvSpPr>
          <p:spPr bwMode="auto">
            <a:xfrm>
              <a:off x="2508166" y="2482578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43" name="Text Box 26"/>
            <p:cNvSpPr txBox="1">
              <a:spLocks noChangeArrowheads="1"/>
            </p:cNvSpPr>
            <p:nvPr/>
          </p:nvSpPr>
          <p:spPr bwMode="auto">
            <a:xfrm>
              <a:off x="3252782" y="2610491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44" name="Text Box 27"/>
            <p:cNvSpPr txBox="1">
              <a:spLocks noChangeArrowheads="1"/>
            </p:cNvSpPr>
            <p:nvPr/>
          </p:nvSpPr>
          <p:spPr bwMode="auto">
            <a:xfrm>
              <a:off x="3289887" y="3176827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50" name="Text Box 28"/>
            <p:cNvSpPr txBox="1">
              <a:spLocks noChangeArrowheads="1"/>
            </p:cNvSpPr>
            <p:nvPr/>
          </p:nvSpPr>
          <p:spPr bwMode="auto">
            <a:xfrm>
              <a:off x="3286546" y="3484818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1" name="Text Box 28"/>
            <p:cNvSpPr txBox="1">
              <a:spLocks noChangeArrowheads="1"/>
            </p:cNvSpPr>
            <p:nvPr/>
          </p:nvSpPr>
          <p:spPr bwMode="auto">
            <a:xfrm>
              <a:off x="3410437" y="382559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0F5B7D-0499-4CF0-A181-A63EC4FB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49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104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endParaRPr lang="en-US" sz="2400" dirty="0"/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68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9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70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71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72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73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74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75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709775-D7D6-4524-85EF-864C528AC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416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9259" y="365125"/>
            <a:ext cx="10515600" cy="10899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olidFill>
                  <a:srgbClr val="C00000"/>
                </a:solidFill>
              </a:rPr>
              <a:t>After assigning Q to Green,</a:t>
            </a:r>
            <a:br>
              <a:rPr lang="en-US" dirty="0">
                <a:solidFill>
                  <a:srgbClr val="C00000"/>
                </a:solidFill>
              </a:rPr>
            </a:br>
            <a:r>
              <a:rPr lang="en-US" dirty="0">
                <a:solidFill>
                  <a:srgbClr val="C00000"/>
                </a:solidFill>
              </a:rPr>
              <a:t>what gets added to the Queue?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Box 37"/>
          <p:cNvSpPr txBox="1"/>
          <p:nvPr/>
        </p:nvSpPr>
        <p:spPr>
          <a:xfrm>
            <a:off x="9372600" y="1973266"/>
            <a:ext cx="11047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endParaRPr lang="en-US" sz="2400" dirty="0"/>
          </a:p>
        </p:txBody>
      </p:sp>
      <p:grpSp>
        <p:nvGrpSpPr>
          <p:cNvPr id="56" name="Group 55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57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60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61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62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63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64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D527C7-D0F3-4E5F-916E-4F5F478C8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1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25162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dirty="0"/>
              <a:t>NT-&gt;Q</a:t>
            </a:r>
          </a:p>
          <a:p>
            <a:r>
              <a:rPr lang="en-US" sz="2400" dirty="0"/>
              <a:t>SA-&gt;Q</a:t>
            </a:r>
          </a:p>
          <a:p>
            <a:r>
              <a:rPr lang="en-US" sz="2400" dirty="0"/>
              <a:t>NSW-&gt;Q</a:t>
            </a:r>
          </a:p>
          <a:p>
            <a:endParaRPr lang="en-US" sz="2400" dirty="0"/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168469" y="1903053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5" name="Straight Connector 34"/>
          <p:cNvCxnSpPr/>
          <p:nvPr/>
        </p:nvCxnSpPr>
        <p:spPr>
          <a:xfrm>
            <a:off x="7280728" y="2698092"/>
            <a:ext cx="150381" cy="306288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H="1">
            <a:off x="6305549" y="2614210"/>
            <a:ext cx="716218" cy="522309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6294275" y="2304516"/>
            <a:ext cx="707751" cy="153428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62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3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64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65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66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67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68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69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7CB2E3-64CA-4EF1-9274-098F55E70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1337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25162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dirty="0"/>
              <a:t>SA-&gt;Q</a:t>
            </a:r>
          </a:p>
          <a:p>
            <a:r>
              <a:rPr lang="en-US" sz="2400" dirty="0"/>
              <a:t>NSW-&gt;Q</a:t>
            </a:r>
          </a:p>
          <a:p>
            <a:r>
              <a:rPr lang="en-US" sz="2400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  <a:p>
            <a:endParaRPr lang="en-US" sz="2400" dirty="0"/>
          </a:p>
        </p:txBody>
      </p:sp>
      <p:pic>
        <p:nvPicPr>
          <p:cNvPr id="33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5319708" y="342144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5" name="Straight Connector 34"/>
          <p:cNvCxnSpPr/>
          <p:nvPr/>
        </p:nvCxnSpPr>
        <p:spPr>
          <a:xfrm>
            <a:off x="6297662" y="2264222"/>
            <a:ext cx="704364" cy="208104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092986" y="2457812"/>
            <a:ext cx="34361" cy="546568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5115314" y="2347534"/>
            <a:ext cx="725702" cy="332776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014285" y="1973212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62" name="Group 61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63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4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65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66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67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68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69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70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111336-36C2-444B-9D7F-7EF97ECE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658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812358" y="3070546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372600" y="1973266"/>
            <a:ext cx="1361591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dirty="0"/>
              <a:t>NSW-&gt;Q</a:t>
            </a:r>
          </a:p>
          <a:p>
            <a:r>
              <a:rPr lang="en-US" sz="2400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  <a:p>
            <a:r>
              <a:rPr lang="en-US" sz="2400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</p:txBody>
      </p:sp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014285" y="1973212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190366" y="3430694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0" name="Straight Connector 49"/>
          <p:cNvCxnSpPr/>
          <p:nvPr/>
        </p:nvCxnSpPr>
        <p:spPr>
          <a:xfrm flipV="1">
            <a:off x="6334179" y="3220569"/>
            <a:ext cx="922392" cy="4223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6303781" y="3350183"/>
            <a:ext cx="626488" cy="317218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6284046" y="2596429"/>
            <a:ext cx="765517" cy="525577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6096000" y="2484371"/>
            <a:ext cx="0" cy="559334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 flipV="1">
            <a:off x="5088754" y="2859217"/>
            <a:ext cx="854846" cy="344618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67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8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69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70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71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72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73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74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4D8F0-8ECC-4C6D-B33E-F707BEF1B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591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014285" y="1973212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190366" y="3430694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0" name="Straight Connector 49"/>
          <p:cNvCxnSpPr/>
          <p:nvPr/>
        </p:nvCxnSpPr>
        <p:spPr>
          <a:xfrm flipH="1" flipV="1">
            <a:off x="6374531" y="3228634"/>
            <a:ext cx="977648" cy="6870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7192589" y="3404427"/>
            <a:ext cx="181818" cy="234343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H="1" flipV="1">
            <a:off x="7326502" y="2682561"/>
            <a:ext cx="145052" cy="374616"/>
          </a:xfrm>
          <a:prstGeom prst="line">
            <a:avLst/>
          </a:prstGeom>
          <a:ln w="5715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42693" t="76345" r="42855" b="12626"/>
          <a:stretch/>
        </p:blipFill>
        <p:spPr bwMode="auto">
          <a:xfrm>
            <a:off x="7813894" y="3009578"/>
            <a:ext cx="840847" cy="28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4" name="TextBox 53"/>
          <p:cNvSpPr txBox="1"/>
          <p:nvPr/>
        </p:nvSpPr>
        <p:spPr>
          <a:xfrm>
            <a:off x="9429532" y="1467196"/>
            <a:ext cx="136159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  <a:p>
            <a:r>
              <a:rPr lang="en-US" sz="2400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V-&gt;NSW</a:t>
            </a:r>
          </a:p>
          <a:p>
            <a:r>
              <a:rPr lang="en-US" sz="2400" dirty="0"/>
              <a:t>Q-&gt;NSW</a:t>
            </a:r>
          </a:p>
          <a:p>
            <a:r>
              <a:rPr lang="en-US" sz="2400" dirty="0"/>
              <a:t>SA-&gt;NSW</a:t>
            </a:r>
          </a:p>
        </p:txBody>
      </p:sp>
      <p:sp>
        <p:nvSpPr>
          <p:cNvPr id="55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56" name="Group 55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57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8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59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60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61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62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63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64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C2E14F-7ED6-4957-B79C-2850B257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3364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429532" y="1467196"/>
            <a:ext cx="136159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b="1" dirty="0"/>
              <a:t>WA-&gt;NT</a:t>
            </a:r>
          </a:p>
          <a:p>
            <a:r>
              <a:rPr lang="en-US" sz="2400" dirty="0"/>
              <a:t>SA-&gt;NT</a:t>
            </a:r>
          </a:p>
          <a:p>
            <a:r>
              <a:rPr lang="en-US" sz="2400" dirty="0"/>
              <a:t>Q-&gt;NT</a:t>
            </a:r>
          </a:p>
          <a:p>
            <a:r>
              <a:rPr lang="en-US" sz="2400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V-&gt;NSW</a:t>
            </a:r>
          </a:p>
          <a:p>
            <a:r>
              <a:rPr lang="en-US" sz="2400" dirty="0"/>
              <a:t>Q-&gt;NSW</a:t>
            </a:r>
          </a:p>
          <a:p>
            <a:r>
              <a:rPr lang="en-US" sz="2400" dirty="0"/>
              <a:t>SA-&gt;NSW</a:t>
            </a:r>
          </a:p>
        </p:txBody>
      </p:sp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014285" y="1973212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190366" y="3430694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42693" t="76345" r="42855" b="12626"/>
          <a:stretch/>
        </p:blipFill>
        <p:spPr bwMode="auto">
          <a:xfrm>
            <a:off x="7813894" y="3009578"/>
            <a:ext cx="840847" cy="28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grpSp>
        <p:nvGrpSpPr>
          <p:cNvPr id="53" name="Group 52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54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5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56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57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58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59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60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61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05F962-EFB1-491C-9EAE-83859768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711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429532" y="1467196"/>
            <a:ext cx="136159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b="1" dirty="0"/>
              <a:t>SA-&gt;NT</a:t>
            </a:r>
          </a:p>
          <a:p>
            <a:r>
              <a:rPr lang="en-US" sz="2400" dirty="0"/>
              <a:t>Q-&gt;NT</a:t>
            </a:r>
          </a:p>
          <a:p>
            <a:r>
              <a:rPr lang="en-US" sz="2400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V-&gt;NSW</a:t>
            </a:r>
          </a:p>
          <a:p>
            <a:r>
              <a:rPr lang="en-US" sz="2400" dirty="0"/>
              <a:t>Q-&gt;NSW</a:t>
            </a:r>
          </a:p>
          <a:p>
            <a:r>
              <a:rPr lang="en-US" sz="2400" dirty="0"/>
              <a:t>SA-&gt;NSW</a:t>
            </a:r>
          </a:p>
        </p:txBody>
      </p:sp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014285" y="1973212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190366" y="3430694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42693" t="76345" r="42855" b="12626"/>
          <a:stretch/>
        </p:blipFill>
        <p:spPr bwMode="auto">
          <a:xfrm>
            <a:off x="7813894" y="3009578"/>
            <a:ext cx="840847" cy="28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0683" y="3835476"/>
            <a:ext cx="785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!!!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43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0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51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52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53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54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56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A30506-C23E-4AC4-9A01-83F1648C1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351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571173"/>
            <a:ext cx="11379200" cy="497477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sz="2400" dirty="0"/>
              <a:t>Quay </a:t>
            </a:r>
            <a:r>
              <a:rPr lang="en-US" sz="2400" dirty="0" err="1"/>
              <a:t>lui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r>
              <a:rPr lang="en-US" sz="2400" dirty="0"/>
              <a:t> </a:t>
            </a:r>
            <a:r>
              <a:rPr lang="en-US" sz="2400" dirty="0" err="1"/>
              <a:t>bước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r>
              <a:rPr lang="en-US" sz="2400" dirty="0"/>
              <a:t> Q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“Arc consistency”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lỗi</a:t>
            </a:r>
            <a:r>
              <a:rPr lang="en-US" sz="2400" dirty="0"/>
              <a:t> </a:t>
            </a:r>
            <a:r>
              <a:rPr lang="en-US" sz="2400" dirty="0" err="1"/>
              <a:t>sớm</a:t>
            </a:r>
            <a:r>
              <a:rPr lang="en-US" sz="2400" dirty="0"/>
              <a:t> </a:t>
            </a:r>
            <a:r>
              <a:rPr lang="en-US" sz="2400" dirty="0" err="1"/>
              <a:t>hơn</a:t>
            </a:r>
            <a:r>
              <a:rPr lang="en-US" sz="2400" dirty="0"/>
              <a:t> “forward checking”</a:t>
            </a:r>
          </a:p>
          <a:p>
            <a:pPr>
              <a:lnSpc>
                <a:spcPct val="80000"/>
              </a:lnSpc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</a:t>
            </a:r>
            <a:r>
              <a:rPr lang="en-US" sz="2400" dirty="0" err="1"/>
              <a:t>độc</a:t>
            </a:r>
            <a:r>
              <a:rPr lang="en-US" sz="2400" dirty="0"/>
              <a:t> </a:t>
            </a:r>
            <a:r>
              <a:rPr lang="en-US" sz="2400" dirty="0" err="1"/>
              <a:t>lập</a:t>
            </a:r>
            <a:r>
              <a:rPr lang="en-US" sz="2400" dirty="0"/>
              <a:t> </a:t>
            </a:r>
            <a:r>
              <a:rPr lang="en-US" sz="2400" dirty="0" err="1"/>
              <a:t>hoặc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mỗi</a:t>
            </a:r>
            <a:r>
              <a:rPr lang="en-US" sz="2400" dirty="0"/>
              <a:t> </a:t>
            </a:r>
            <a:r>
              <a:rPr lang="en-US" sz="2400" dirty="0" err="1"/>
              <a:t>bước</a:t>
            </a:r>
            <a:r>
              <a:rPr lang="en-US" sz="2400" dirty="0"/>
              <a:t> </a:t>
            </a:r>
            <a:r>
              <a:rPr lang="en-US" sz="2400" dirty="0" err="1"/>
              <a:t>gán</a:t>
            </a:r>
            <a:endParaRPr lang="en-US" sz="2400" dirty="0"/>
          </a:p>
          <a:p>
            <a:pPr marL="0" indent="0" eaLnBrk="1" hangingPunct="1">
              <a:lnSpc>
                <a:spcPct val="80000"/>
              </a:lnSpc>
              <a:buNone/>
            </a:pPr>
            <a:endParaRPr lang="en-US" dirty="0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AC-3: Enforce Arc Consistency of Entire CSP</a:t>
            </a:r>
          </a:p>
        </p:txBody>
      </p:sp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31743" y="1941787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29647" y="3638987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7374407" y="4315002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4410427" y="3036001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429532" y="1467196"/>
            <a:ext cx="1361591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Queue:</a:t>
            </a:r>
          </a:p>
          <a:p>
            <a:r>
              <a:rPr lang="en-US" sz="2400" b="1" dirty="0"/>
              <a:t>SA-&gt;NT</a:t>
            </a:r>
          </a:p>
          <a:p>
            <a:r>
              <a:rPr lang="en-US" sz="2400" dirty="0"/>
              <a:t>Q-&gt;NT</a:t>
            </a:r>
          </a:p>
          <a:p>
            <a:r>
              <a:rPr lang="en-US" sz="2400" dirty="0"/>
              <a:t>WA-&gt;SA</a:t>
            </a:r>
          </a:p>
          <a:p>
            <a:r>
              <a:rPr lang="en-US" sz="2400" dirty="0"/>
              <a:t>NT-&gt;SA</a:t>
            </a:r>
          </a:p>
          <a:p>
            <a:r>
              <a:rPr lang="en-US" sz="2400" dirty="0"/>
              <a:t>Q-&gt;SA</a:t>
            </a:r>
          </a:p>
          <a:p>
            <a:r>
              <a:rPr lang="en-US" sz="2400" dirty="0"/>
              <a:t>NSW-&gt;SA</a:t>
            </a:r>
          </a:p>
          <a:p>
            <a:r>
              <a:rPr lang="en-US" sz="2400" dirty="0"/>
              <a:t>V-&gt;SA</a:t>
            </a:r>
          </a:p>
          <a:p>
            <a:r>
              <a:rPr lang="en-US" sz="2400" dirty="0"/>
              <a:t>V-&gt;NSW</a:t>
            </a:r>
          </a:p>
          <a:p>
            <a:r>
              <a:rPr lang="en-US" sz="2400" dirty="0"/>
              <a:t>Q-&gt;NSW</a:t>
            </a:r>
          </a:p>
          <a:p>
            <a:r>
              <a:rPr lang="en-US" sz="2400" dirty="0"/>
              <a:t>SA-&gt;NSW</a:t>
            </a:r>
          </a:p>
        </p:txBody>
      </p:sp>
      <p:pic>
        <p:nvPicPr>
          <p:cNvPr id="3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28512" t="87273" r="56514" b="-1"/>
          <a:stretch/>
        </p:blipFill>
        <p:spPr bwMode="auto">
          <a:xfrm>
            <a:off x="7471554" y="2189692"/>
            <a:ext cx="837373" cy="315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014285" y="1973212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14147" t="88941" r="71092"/>
          <a:stretch/>
        </p:blipFill>
        <p:spPr bwMode="auto">
          <a:xfrm>
            <a:off x="5190366" y="3430694"/>
            <a:ext cx="750019" cy="249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" name="Picture 4"/>
          <p:cNvPicPr>
            <a:picLocks noChangeAspect="1" noChangeArrowheads="1"/>
          </p:cNvPicPr>
          <p:nvPr/>
        </p:nvPicPr>
        <p:blipFill rotWithShape="1">
          <a:blip r:embed="rId3" cstate="print"/>
          <a:srcRect l="42693" t="76345" r="42855" b="12626"/>
          <a:stretch/>
        </p:blipFill>
        <p:spPr bwMode="auto">
          <a:xfrm>
            <a:off x="7813894" y="3009578"/>
            <a:ext cx="840847" cy="28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Box 17"/>
          <p:cNvSpPr txBox="1">
            <a:spLocks noChangeArrowheads="1"/>
          </p:cNvSpPr>
          <p:nvPr/>
        </p:nvSpPr>
        <p:spPr bwMode="auto">
          <a:xfrm>
            <a:off x="7839399" y="6216850"/>
            <a:ext cx="4200201" cy="461661"/>
          </a:xfrm>
          <a:prstGeom prst="rect">
            <a:avLst/>
          </a:prstGeom>
          <a:noFill/>
          <a:ln w="28575">
            <a:solidFill>
              <a:srgbClr val="0070C0"/>
            </a:solidFill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sz="2400" i="1" dirty="0">
                <a:solidFill>
                  <a:srgbClr val="0070C0"/>
                </a:solidFill>
                <a:latin typeface="Calibri" pitchFamily="34" charset="0"/>
              </a:rPr>
              <a:t>Remember: Delete from the tail!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50683" y="3835476"/>
            <a:ext cx="7857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!!!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617851" y="2098844"/>
            <a:ext cx="2538576" cy="2390692"/>
            <a:chOff x="-2786196" y="902482"/>
            <a:chExt cx="2538576" cy="2390692"/>
          </a:xfrm>
        </p:grpSpPr>
        <p:pic>
          <p:nvPicPr>
            <p:cNvPr id="32" name="Picture 4"/>
            <p:cNvPicPr>
              <a:picLocks noChangeAspect="1" noChangeArrowheads="1"/>
            </p:cNvPicPr>
            <p:nvPr/>
          </p:nvPicPr>
          <p:blipFill rotWithShape="1">
            <a:blip r:embed="rId3" cstate="print"/>
            <a:srcRect l="53129" t="1377" r="32041" b="65647"/>
            <a:stretch/>
          </p:blipFill>
          <p:spPr bwMode="auto">
            <a:xfrm>
              <a:off x="-2786196" y="902482"/>
              <a:ext cx="2468879" cy="23906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-2687205" y="1566508"/>
              <a:ext cx="1182664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  WA</a:t>
              </a:r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-1779725" y="179956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SA</a:t>
              </a: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-1895881" y="1286216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NT</a:t>
              </a:r>
            </a:p>
          </p:txBody>
        </p:sp>
        <p:sp>
          <p:nvSpPr>
            <p:cNvPr id="26" name="Text Box 26"/>
            <p:cNvSpPr txBox="1">
              <a:spLocks noChangeArrowheads="1"/>
            </p:cNvSpPr>
            <p:nvPr/>
          </p:nvSpPr>
          <p:spPr bwMode="auto">
            <a:xfrm>
              <a:off x="-1151265" y="1414129"/>
              <a:ext cx="903645" cy="466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  Q</a:t>
              </a:r>
            </a:p>
          </p:txBody>
        </p:sp>
        <p:sp>
          <p:nvSpPr>
            <p:cNvPr id="30" name="Text Box 27"/>
            <p:cNvSpPr txBox="1">
              <a:spLocks noChangeArrowheads="1"/>
            </p:cNvSpPr>
            <p:nvPr/>
          </p:nvSpPr>
          <p:spPr bwMode="auto">
            <a:xfrm>
              <a:off x="-1114160" y="1980465"/>
              <a:ext cx="621271" cy="2769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200" dirty="0">
                  <a:latin typeface="Calibri" pitchFamily="34" charset="0"/>
                </a:rPr>
                <a:t>  NSW</a:t>
              </a:r>
            </a:p>
          </p:txBody>
        </p:sp>
        <p:sp>
          <p:nvSpPr>
            <p:cNvPr id="31" name="Text Box 28"/>
            <p:cNvSpPr txBox="1">
              <a:spLocks noChangeArrowheads="1"/>
            </p:cNvSpPr>
            <p:nvPr/>
          </p:nvSpPr>
          <p:spPr bwMode="auto">
            <a:xfrm>
              <a:off x="-1117501" y="2288456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V</a:t>
              </a:r>
            </a:p>
          </p:txBody>
        </p:sp>
        <p:sp>
          <p:nvSpPr>
            <p:cNvPr id="43" name="Text Box 28"/>
            <p:cNvSpPr txBox="1">
              <a:spLocks noChangeArrowheads="1"/>
            </p:cNvSpPr>
            <p:nvPr/>
          </p:nvSpPr>
          <p:spPr bwMode="auto">
            <a:xfrm>
              <a:off x="-993610" y="2629234"/>
              <a:ext cx="403296" cy="323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1438" tIns="45719" rIns="91438" bIns="45719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500" dirty="0">
                  <a:latin typeface="Calibri" pitchFamily="34" charset="0"/>
                </a:rPr>
                <a:t>T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659BD-7A37-4E0E-BFF6-C8E1053B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1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AC-3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897844" y="1406790"/>
            <a:ext cx="5736507" cy="452596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bộ:</a:t>
            </a:r>
          </a:p>
          <a:p>
            <a:pPr lvl="1" eaLnBrk="1" hangingPunct="1"/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rút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endParaRPr lang="en-US" dirty="0"/>
          </a:p>
          <a:p>
            <a:pPr lvl="1" eaLnBrk="1" hangingPunct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  <a:p>
            <a:pPr lvl="1" eaLnBrk="1" hangingPunct="1"/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endParaRPr lang="en-US" dirty="0"/>
          </a:p>
          <a:p>
            <a:pPr lvl="1"/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AC-3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lvl="1"/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quay </a:t>
            </a:r>
            <a:r>
              <a:rPr lang="en-US" dirty="0" err="1"/>
              <a:t>lui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endParaRPr lang="en-US" dirty="0"/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7543800" y="1141861"/>
            <a:ext cx="3124200" cy="1524000"/>
            <a:chOff x="3552" y="1056"/>
            <a:chExt cx="2016" cy="1056"/>
          </a:xfrm>
        </p:grpSpPr>
        <p:grpSp>
          <p:nvGrpSpPr>
            <p:cNvPr id="31775" name="Group 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85" name="Oval 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786" name="Text Box 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6" name="Group 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83" name="Oval 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784" name="Text Box 1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77" name="Group 1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81" name="Oval 1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782" name="Text Box 1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78" name="Line 1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79" name="Line 1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80" name="Line 1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749" name="Rectangle 18"/>
          <p:cNvSpPr>
            <a:spLocks noChangeArrowheads="1"/>
          </p:cNvSpPr>
          <p:nvPr/>
        </p:nvSpPr>
        <p:spPr bwMode="auto">
          <a:xfrm>
            <a:off x="8001000" y="2284861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0" name="Rectangle 19"/>
          <p:cNvSpPr>
            <a:spLocks noChangeArrowheads="1"/>
          </p:cNvSpPr>
          <p:nvPr/>
        </p:nvSpPr>
        <p:spPr bwMode="auto">
          <a:xfrm>
            <a:off x="8305800" y="2284861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1" name="Rectangle 21"/>
          <p:cNvSpPr>
            <a:spLocks noChangeArrowheads="1"/>
          </p:cNvSpPr>
          <p:nvPr/>
        </p:nvSpPr>
        <p:spPr bwMode="auto">
          <a:xfrm>
            <a:off x="9982200" y="2284861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2" name="Rectangle 22"/>
          <p:cNvSpPr>
            <a:spLocks noChangeArrowheads="1"/>
          </p:cNvSpPr>
          <p:nvPr/>
        </p:nvSpPr>
        <p:spPr bwMode="auto">
          <a:xfrm>
            <a:off x="8686800" y="1294261"/>
            <a:ext cx="8382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3" name="Rectangle 23"/>
          <p:cNvSpPr>
            <a:spLocks noChangeArrowheads="1"/>
          </p:cNvSpPr>
          <p:nvPr/>
        </p:nvSpPr>
        <p:spPr bwMode="auto">
          <a:xfrm>
            <a:off x="10287000" y="2284861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grpSp>
        <p:nvGrpSpPr>
          <p:cNvPr id="31754" name="Group 24"/>
          <p:cNvGrpSpPr>
            <a:grpSpLocks/>
          </p:cNvGrpSpPr>
          <p:nvPr/>
        </p:nvGrpSpPr>
        <p:grpSpPr bwMode="auto">
          <a:xfrm>
            <a:off x="7575643" y="3676935"/>
            <a:ext cx="3124200" cy="1524000"/>
            <a:chOff x="3552" y="1056"/>
            <a:chExt cx="2016" cy="1056"/>
          </a:xfrm>
        </p:grpSpPr>
        <p:grpSp>
          <p:nvGrpSpPr>
            <p:cNvPr id="31763" name="Group 25"/>
            <p:cNvGrpSpPr>
              <a:grpSpLocks/>
            </p:cNvGrpSpPr>
            <p:nvPr/>
          </p:nvGrpSpPr>
          <p:grpSpPr bwMode="auto">
            <a:xfrm>
              <a:off x="4176" y="1056"/>
              <a:ext cx="768" cy="384"/>
              <a:chOff x="2448" y="2736"/>
              <a:chExt cx="768" cy="384"/>
            </a:xfrm>
          </p:grpSpPr>
          <p:sp>
            <p:nvSpPr>
              <p:cNvPr id="31773" name="Oval 26"/>
              <p:cNvSpPr>
                <a:spLocks noChangeArrowheads="1"/>
              </p:cNvSpPr>
              <p:nvPr/>
            </p:nvSpPr>
            <p:spPr bwMode="auto">
              <a:xfrm>
                <a:off x="2448" y="2736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774" name="Text Box 27"/>
              <p:cNvSpPr txBox="1">
                <a:spLocks noChangeArrowheads="1"/>
              </p:cNvSpPr>
              <p:nvPr/>
            </p:nvSpPr>
            <p:spPr bwMode="auto">
              <a:xfrm>
                <a:off x="2772" y="2800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4" name="Group 28"/>
            <p:cNvGrpSpPr>
              <a:grpSpLocks/>
            </p:cNvGrpSpPr>
            <p:nvPr/>
          </p:nvGrpSpPr>
          <p:grpSpPr bwMode="auto">
            <a:xfrm>
              <a:off x="4800" y="1728"/>
              <a:ext cx="768" cy="384"/>
              <a:chOff x="3072" y="3408"/>
              <a:chExt cx="768" cy="384"/>
            </a:xfrm>
          </p:grpSpPr>
          <p:sp>
            <p:nvSpPr>
              <p:cNvPr id="31771" name="Oval 29"/>
              <p:cNvSpPr>
                <a:spLocks noChangeArrowheads="1"/>
              </p:cNvSpPr>
              <p:nvPr/>
            </p:nvSpPr>
            <p:spPr bwMode="auto">
              <a:xfrm>
                <a:off x="3072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772" name="Text Box 30"/>
              <p:cNvSpPr txBox="1">
                <a:spLocks noChangeArrowheads="1"/>
              </p:cNvSpPr>
              <p:nvPr/>
            </p:nvSpPr>
            <p:spPr bwMode="auto">
              <a:xfrm>
                <a:off x="3396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grpSp>
          <p:nvGrpSpPr>
            <p:cNvPr id="31765" name="Group 31"/>
            <p:cNvGrpSpPr>
              <a:grpSpLocks/>
            </p:cNvGrpSpPr>
            <p:nvPr/>
          </p:nvGrpSpPr>
          <p:grpSpPr bwMode="auto">
            <a:xfrm>
              <a:off x="3552" y="1728"/>
              <a:ext cx="768" cy="384"/>
              <a:chOff x="1824" y="3408"/>
              <a:chExt cx="768" cy="384"/>
            </a:xfrm>
          </p:grpSpPr>
          <p:sp>
            <p:nvSpPr>
              <p:cNvPr id="31769" name="Oval 32"/>
              <p:cNvSpPr>
                <a:spLocks noChangeArrowheads="1"/>
              </p:cNvSpPr>
              <p:nvPr/>
            </p:nvSpPr>
            <p:spPr bwMode="auto">
              <a:xfrm>
                <a:off x="1824" y="3408"/>
                <a:ext cx="768" cy="384"/>
              </a:xfrm>
              <a:prstGeom prst="ellipse">
                <a:avLst/>
              </a:prstGeom>
              <a:noFill/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31770" name="Text Box 33"/>
              <p:cNvSpPr txBox="1">
                <a:spLocks noChangeArrowheads="1"/>
              </p:cNvSpPr>
              <p:nvPr/>
            </p:nvSpPr>
            <p:spPr bwMode="auto">
              <a:xfrm>
                <a:off x="2148" y="3472"/>
                <a:ext cx="117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000" tIns="46800" rIns="90000" bIns="46800" anchor="ctr">
                <a:spAutoFit/>
              </a:bodyPr>
              <a:lstStyle/>
              <a:p>
                <a:pPr algn="ctr" eaLnBrk="0" hangingPunct="0">
                  <a:buClr>
                    <a:srgbClr val="000000"/>
                  </a:buClr>
                  <a:buSzPct val="100000"/>
                  <a:tabLst>
                    <a:tab pos="0" algn="l"/>
                    <a:tab pos="914354" algn="l"/>
                    <a:tab pos="1828709" algn="l"/>
                    <a:tab pos="2743062" algn="l"/>
                    <a:tab pos="3657418" algn="l"/>
                    <a:tab pos="4571772" algn="l"/>
                    <a:tab pos="5486126" algn="l"/>
                    <a:tab pos="6400480" algn="l"/>
                    <a:tab pos="7314834" algn="l"/>
                    <a:tab pos="8229189" algn="l"/>
                    <a:tab pos="9143542" algn="l"/>
                    <a:tab pos="10057898" algn="l"/>
                  </a:tabLst>
                </a:pPr>
                <a:endParaRPr lang="en-GB" dirty="0">
                  <a:latin typeface="Times New Roman" pitchFamily="18" charset="0"/>
                </a:endParaRPr>
              </a:p>
            </p:txBody>
          </p:sp>
        </p:grpSp>
        <p:sp>
          <p:nvSpPr>
            <p:cNvPr id="31766" name="Line 34"/>
            <p:cNvSpPr>
              <a:spLocks noChangeShapeType="1"/>
            </p:cNvSpPr>
            <p:nvPr/>
          </p:nvSpPr>
          <p:spPr bwMode="auto">
            <a:xfrm flipH="1">
              <a:off x="3983" y="1440"/>
              <a:ext cx="57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67" name="Line 35"/>
            <p:cNvSpPr>
              <a:spLocks noChangeShapeType="1"/>
            </p:cNvSpPr>
            <p:nvPr/>
          </p:nvSpPr>
          <p:spPr bwMode="auto">
            <a:xfrm>
              <a:off x="4560" y="1440"/>
              <a:ext cx="528" cy="288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68" name="Line 36"/>
            <p:cNvSpPr>
              <a:spLocks noChangeShapeType="1"/>
            </p:cNvSpPr>
            <p:nvPr/>
          </p:nvSpPr>
          <p:spPr bwMode="auto">
            <a:xfrm>
              <a:off x="4320" y="1920"/>
              <a:ext cx="480" cy="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31755" name="Rectangle 37"/>
          <p:cNvSpPr>
            <a:spLocks noChangeArrowheads="1"/>
          </p:cNvSpPr>
          <p:nvPr/>
        </p:nvSpPr>
        <p:spPr bwMode="auto">
          <a:xfrm>
            <a:off x="7728043" y="4819935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6" name="Rectangle 40"/>
          <p:cNvSpPr>
            <a:spLocks noChangeArrowheads="1"/>
          </p:cNvSpPr>
          <p:nvPr/>
        </p:nvSpPr>
        <p:spPr bwMode="auto">
          <a:xfrm>
            <a:off x="9709243" y="4819935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7" name="Rectangle 43"/>
          <p:cNvSpPr>
            <a:spLocks noChangeArrowheads="1"/>
          </p:cNvSpPr>
          <p:nvPr/>
        </p:nvSpPr>
        <p:spPr bwMode="auto">
          <a:xfrm>
            <a:off x="8718643" y="3829335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8" name="Rectangle 45"/>
          <p:cNvSpPr>
            <a:spLocks noChangeArrowheads="1"/>
          </p:cNvSpPr>
          <p:nvPr/>
        </p:nvSpPr>
        <p:spPr bwMode="auto">
          <a:xfrm>
            <a:off x="9328243" y="3829335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59" name="Rectangle 46"/>
          <p:cNvSpPr>
            <a:spLocks noChangeArrowheads="1"/>
          </p:cNvSpPr>
          <p:nvPr/>
        </p:nvSpPr>
        <p:spPr bwMode="auto">
          <a:xfrm>
            <a:off x="8337643" y="4819935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60" name="Rectangle 47"/>
          <p:cNvSpPr>
            <a:spLocks noChangeArrowheads="1"/>
          </p:cNvSpPr>
          <p:nvPr/>
        </p:nvSpPr>
        <p:spPr bwMode="auto">
          <a:xfrm>
            <a:off x="10318843" y="4819935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 dirty="0"/>
          </a:p>
        </p:txBody>
      </p:sp>
      <p:sp>
        <p:nvSpPr>
          <p:cNvPr id="31761" name="Text Box 48"/>
          <p:cNvSpPr txBox="1">
            <a:spLocks noChangeArrowheads="1"/>
          </p:cNvSpPr>
          <p:nvPr/>
        </p:nvSpPr>
        <p:spPr bwMode="auto">
          <a:xfrm>
            <a:off x="8240972" y="5413359"/>
            <a:ext cx="19812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 err="1">
                <a:latin typeface="Calibri" pitchFamily="34" charset="0"/>
              </a:rPr>
              <a:t>Không</a:t>
            </a:r>
            <a:r>
              <a:rPr lang="en-US" i="1" dirty="0">
                <a:latin typeface="Calibri" pitchFamily="34" charset="0"/>
              </a:rPr>
              <a:t> </a:t>
            </a:r>
            <a:r>
              <a:rPr lang="en-US" i="1" dirty="0" err="1">
                <a:latin typeface="Calibri" pitchFamily="34" charset="0"/>
              </a:rPr>
              <a:t>có</a:t>
            </a:r>
            <a:r>
              <a:rPr lang="en-US" i="1" dirty="0">
                <a:latin typeface="Calibri" pitchFamily="34" charset="0"/>
              </a:rPr>
              <a:t> </a:t>
            </a:r>
            <a:r>
              <a:rPr lang="en-US" i="1" dirty="0" err="1">
                <a:latin typeface="Calibri" pitchFamily="34" charset="0"/>
              </a:rPr>
              <a:t>lời</a:t>
            </a:r>
            <a:r>
              <a:rPr lang="en-US" i="1" dirty="0">
                <a:latin typeface="Calibri" pitchFamily="34" charset="0"/>
              </a:rPr>
              <a:t> </a:t>
            </a:r>
            <a:r>
              <a:rPr lang="en-US" i="1" dirty="0" err="1">
                <a:latin typeface="Calibri" pitchFamily="34" charset="0"/>
              </a:rPr>
              <a:t>giải</a:t>
            </a:r>
            <a:endParaRPr lang="en-US" i="1" dirty="0">
              <a:latin typeface="Calibri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52B039-6C19-40E6-9B62-B87C8297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48</a:t>
            </a:fld>
            <a:endParaRPr lang="en-US" dirty="0"/>
          </a:p>
        </p:txBody>
      </p:sp>
      <p:sp>
        <p:nvSpPr>
          <p:cNvPr id="3" name="Text Box 48">
            <a:extLst>
              <a:ext uri="{FF2B5EF4-FFF2-40B4-BE49-F238E27FC236}">
                <a16:creationId xmlns:a16="http://schemas.microsoft.com/office/drawing/2014/main" id="{86ED45C4-DA64-EF54-0BDE-0F219555A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3206" y="2704260"/>
            <a:ext cx="19812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6" tIns="45718" rIns="91436" bIns="45718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i="1" dirty="0" err="1">
                <a:latin typeface="Calibri" pitchFamily="34" charset="0"/>
              </a:rPr>
              <a:t>Có</a:t>
            </a:r>
            <a:r>
              <a:rPr lang="en-US" i="1" dirty="0">
                <a:latin typeface="Calibri" pitchFamily="34" charset="0"/>
              </a:rPr>
              <a:t> </a:t>
            </a:r>
            <a:r>
              <a:rPr lang="en-US" i="1" dirty="0" err="1">
                <a:latin typeface="Calibri" pitchFamily="34" charset="0"/>
              </a:rPr>
              <a:t>lời</a:t>
            </a:r>
            <a:r>
              <a:rPr lang="en-US" i="1" dirty="0">
                <a:latin typeface="Calibri" pitchFamily="34" charset="0"/>
              </a:rPr>
              <a:t> </a:t>
            </a:r>
            <a:r>
              <a:rPr lang="en-US" i="1" dirty="0" err="1">
                <a:latin typeface="Calibri" pitchFamily="34" charset="0"/>
              </a:rPr>
              <a:t>giải</a:t>
            </a:r>
            <a:endParaRPr lang="en-US" i="1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69579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Backtracking </a:t>
            </a:r>
            <a:r>
              <a:rPr lang="en-US" dirty="0" err="1"/>
              <a:t>dùng</a:t>
            </a:r>
            <a:r>
              <a:rPr lang="en-US" dirty="0"/>
              <a:t> AC-3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156460" y="5469709"/>
            <a:ext cx="8229600" cy="999356"/>
          </a:xfrm>
        </p:spPr>
        <p:txBody>
          <a:bodyPr>
            <a:noAutofit/>
          </a:bodyPr>
          <a:lstStyle/>
          <a:p>
            <a:pPr eaLnBrk="1" hangingPunct="1"/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AC-3 ở </a:t>
            </a:r>
            <a:r>
              <a:rPr lang="en-US" sz="2400" dirty="0" err="1"/>
              <a:t>bước</a:t>
            </a:r>
            <a:r>
              <a:rPr lang="en-US" sz="2400" dirty="0"/>
              <a:t> </a:t>
            </a:r>
            <a:r>
              <a:rPr lang="en-US" sz="2400" dirty="0" err="1"/>
              <a:t>nào</a:t>
            </a:r>
            <a:r>
              <a:rPr lang="en-US" sz="2400" dirty="0"/>
              <a:t>?</a:t>
            </a: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9800" y="1500189"/>
            <a:ext cx="7848600" cy="3833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Straight Connector 2"/>
          <p:cNvCxnSpPr/>
          <p:nvPr/>
        </p:nvCxnSpPr>
        <p:spPr>
          <a:xfrm>
            <a:off x="8244840" y="4099560"/>
            <a:ext cx="3429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049003" y="3672840"/>
                <a:ext cx="11123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AC-3(</a:t>
                </a:r>
                <a14:m>
                  <m:oMath xmlns:m="http://schemas.openxmlformats.org/officeDocument/2006/math">
                    <m:r>
                      <a:rPr kumimoji="0" lang="en-US" sz="1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𝑐𝑠𝑝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9003" y="3672840"/>
                <a:ext cx="1112356" cy="369332"/>
              </a:xfrm>
              <a:prstGeom prst="rect">
                <a:avLst/>
              </a:prstGeom>
              <a:blipFill rotWithShape="0">
                <a:blip r:embed="rId4"/>
                <a:stretch>
                  <a:fillRect l="-4372" t="-10000" r="-4918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D2DCC7-DBE2-4B48-A01D-6790AD56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7B84970-942D-C344-9E05-4058AA48B4F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20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: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duyệt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55428" y="2474794"/>
            <a:ext cx="8201041" cy="3936194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2C3C3C-062B-4189-B317-67C93CD09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CAA01-62E0-18A8-2025-C466D079F99F}"/>
              </a:ext>
            </a:extLst>
          </p:cNvPr>
          <p:cNvSpPr txBox="1"/>
          <p:nvPr/>
        </p:nvSpPr>
        <p:spPr>
          <a:xfrm>
            <a:off x="1251045" y="1560394"/>
            <a:ext cx="431560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biến</a:t>
            </a:r>
            <a:r>
              <a:rPr lang="en-US" sz="3200" dirty="0"/>
              <a:t> </a:t>
            </a:r>
            <a:r>
              <a:rPr lang="en-US" sz="3200" dirty="0" err="1"/>
              <a:t>nào</a:t>
            </a:r>
            <a:r>
              <a:rPr lang="en-US" sz="3200" dirty="0"/>
              <a:t> </a:t>
            </a:r>
            <a:r>
              <a:rPr lang="en-US" sz="3200" dirty="0" err="1"/>
              <a:t>trước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Chọn</a:t>
            </a:r>
            <a:r>
              <a:rPr lang="en-US" sz="3200" dirty="0"/>
              <a:t> </a:t>
            </a:r>
            <a:r>
              <a:rPr lang="en-US" sz="3200" dirty="0" err="1"/>
              <a:t>giá</a:t>
            </a:r>
            <a:r>
              <a:rPr lang="en-US" sz="3200" dirty="0"/>
              <a:t> </a:t>
            </a:r>
            <a:r>
              <a:rPr lang="en-US" sz="3200" dirty="0" err="1"/>
              <a:t>trị</a:t>
            </a:r>
            <a:r>
              <a:rPr lang="en-US" sz="3200" dirty="0"/>
              <a:t> </a:t>
            </a:r>
            <a:r>
              <a:rPr lang="en-US" sz="3200" dirty="0" err="1"/>
              <a:t>nào</a:t>
            </a:r>
            <a:r>
              <a:rPr lang="en-US" sz="3200" dirty="0"/>
              <a:t> </a:t>
            </a:r>
            <a:r>
              <a:rPr lang="en-US" sz="3200" dirty="0" err="1"/>
              <a:t>trước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076968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38517" y="4165599"/>
            <a:ext cx="5301081" cy="2539999"/>
          </a:xfrm>
          <a:prstGeom prst="rect">
            <a:avLst/>
          </a:prstGeom>
          <a:noFill/>
        </p:spPr>
      </p:pic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lệ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sp>
        <p:nvSpPr>
          <p:cNvPr id="923651" name="Rectangle 3"/>
          <p:cNvSpPr>
            <a:spLocks noGrp="1" noChangeArrowheads="1"/>
          </p:cNvSpPr>
          <p:nvPr>
            <p:ph idx="1"/>
          </p:nvPr>
        </p:nvSpPr>
        <p:spPr>
          <a:xfrm>
            <a:off x="431800" y="1371601"/>
            <a:ext cx="11379200" cy="4729164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: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tập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hợp</a:t>
            </a:r>
            <a:r>
              <a:rPr lang="en-US" sz="2800" dirty="0"/>
              <a:t> </a:t>
            </a:r>
            <a:r>
              <a:rPr lang="en-US" sz="2800" dirty="0" err="1"/>
              <a:t>lệ</a:t>
            </a:r>
            <a:r>
              <a:rPr lang="en-US" sz="2800" dirty="0"/>
              <a:t> </a:t>
            </a:r>
            <a:r>
              <a:rPr lang="en-US" sz="2800" dirty="0" err="1"/>
              <a:t>còn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nhỏ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 (Minimum remaining values - MRV)</a:t>
            </a:r>
          </a:p>
          <a:p>
            <a:pPr marL="457200" lvl="1" indent="0" eaLnBrk="1" hangingPunct="1">
              <a:buNone/>
            </a:pPr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lvl="1" eaLnBrk="1" hangingPunct="1"/>
            <a:endParaRPr lang="en-US" sz="2400" dirty="0"/>
          </a:p>
          <a:p>
            <a:pPr eaLnBrk="1" hangingPunct="1"/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sz="2800" dirty="0"/>
              <a:t> “min” </a:t>
            </a:r>
            <a:r>
              <a:rPr lang="en-US" sz="2800" dirty="0" err="1"/>
              <a:t>tốt</a:t>
            </a:r>
            <a:r>
              <a:rPr lang="en-US" sz="2800" dirty="0"/>
              <a:t> </a:t>
            </a:r>
            <a:r>
              <a:rPr lang="en-US" sz="2800" dirty="0" err="1"/>
              <a:t>hơn</a:t>
            </a:r>
            <a:r>
              <a:rPr lang="en-US" sz="2800" dirty="0"/>
              <a:t> “max”?</a:t>
            </a:r>
          </a:p>
          <a:p>
            <a:pPr eaLnBrk="1" hangingPunct="1"/>
            <a:r>
              <a:rPr lang="en-US" sz="2800" dirty="0" err="1"/>
              <a:t>Còn</a:t>
            </a:r>
            <a:r>
              <a:rPr lang="en-US" sz="2800" dirty="0"/>
              <a:t> </a:t>
            </a:r>
            <a:r>
              <a:rPr lang="en-US" sz="2800" dirty="0" err="1"/>
              <a:t>gọi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“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bị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nhiều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”</a:t>
            </a:r>
          </a:p>
          <a:p>
            <a:pPr marL="0" indent="0" eaLnBrk="1" hangingPunct="1">
              <a:buNone/>
            </a:pPr>
            <a:endParaRPr lang="en-US" sz="2800" dirty="0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/>
          <a:srcRect l="476" t="2130"/>
          <a:stretch>
            <a:fillRect/>
          </a:stretch>
        </p:blipFill>
        <p:spPr bwMode="auto">
          <a:xfrm>
            <a:off x="1970741" y="2672975"/>
            <a:ext cx="8435323" cy="144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606800" y="2641599"/>
            <a:ext cx="22098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16600" y="2565399"/>
            <a:ext cx="2286000" cy="1524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102600" y="2489198"/>
            <a:ext cx="2286000" cy="1625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F6FB5-446D-45DB-8505-7F467CDB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99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90484" y="4233083"/>
            <a:ext cx="4772915" cy="2285998"/>
          </a:xfrm>
          <a:prstGeom prst="rect">
            <a:avLst/>
          </a:prstGeom>
          <a:noFill/>
        </p:spPr>
      </p:pic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: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7086600" cy="4572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: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ít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endParaRPr lang="en-US" sz="2800" dirty="0"/>
          </a:p>
          <a:p>
            <a:pPr lvl="1">
              <a:lnSpc>
                <a:spcPct val="90000"/>
              </a:lnSpc>
            </a:pPr>
            <a:r>
              <a:rPr lang="en-US" sz="2400" dirty="0" err="1"/>
              <a:t>Chọn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mà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trừ</a:t>
            </a:r>
            <a:r>
              <a:rPr lang="en-US" sz="2400" dirty="0"/>
              <a:t> </a:t>
            </a:r>
            <a:r>
              <a:rPr lang="en-US" sz="2400" dirty="0" err="1"/>
              <a:t>ít</a:t>
            </a:r>
            <a:r>
              <a:rPr lang="en-US" sz="2400" dirty="0"/>
              <a:t> </a:t>
            </a:r>
            <a:r>
              <a:rPr lang="en-US" sz="2400" dirty="0" err="1"/>
              <a:t>giá</a:t>
            </a:r>
            <a:r>
              <a:rPr lang="en-US" sz="2400" dirty="0"/>
              <a:t> </a:t>
            </a:r>
            <a:r>
              <a:rPr lang="en-US" sz="2400" dirty="0" err="1"/>
              <a:t>trị</a:t>
            </a:r>
            <a:r>
              <a:rPr lang="en-US" sz="2400" dirty="0"/>
              <a:t> </a:t>
            </a:r>
            <a:r>
              <a:rPr lang="en-US" sz="2400" dirty="0" err="1"/>
              <a:t>nhất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còn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cần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“</a:t>
            </a:r>
            <a:r>
              <a:rPr lang="en-US" sz="2400" dirty="0" err="1"/>
              <a:t>lọc</a:t>
            </a:r>
            <a:r>
              <a:rPr lang="en-US" sz="2400" dirty="0"/>
              <a:t>” </a:t>
            </a:r>
            <a:r>
              <a:rPr lang="en-US" sz="2400" dirty="0" err="1"/>
              <a:t>biến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xá</a:t>
            </a:r>
            <a:r>
              <a:rPr lang="en-US" dirty="0" err="1"/>
              <a:t>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800" dirty="0" err="1"/>
              <a:t>Tại</a:t>
            </a:r>
            <a:r>
              <a:rPr lang="en-US" sz="2800" dirty="0"/>
              <a:t> </a:t>
            </a:r>
            <a:r>
              <a:rPr lang="en-US" sz="2800" dirty="0" err="1"/>
              <a:t>sao</a:t>
            </a:r>
            <a:r>
              <a:rPr lang="en-US" sz="2800" dirty="0"/>
              <a:t> </a:t>
            </a:r>
            <a:r>
              <a:rPr lang="en-US" sz="2800" dirty="0" err="1"/>
              <a:t>giá</a:t>
            </a:r>
            <a:r>
              <a:rPr lang="en-US" sz="2800" dirty="0"/>
              <a:t> </a:t>
            </a:r>
            <a:r>
              <a:rPr lang="en-US" sz="2800" dirty="0" err="1"/>
              <a:t>trị</a:t>
            </a:r>
            <a:r>
              <a:rPr lang="en-US" sz="2800" dirty="0"/>
              <a:t> </a:t>
            </a:r>
            <a:r>
              <a:rPr lang="en-US" sz="2800" dirty="0" err="1"/>
              <a:t>ít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nhất</a:t>
            </a:r>
            <a:r>
              <a:rPr lang="en-US" sz="2800" dirty="0"/>
              <a:t> </a:t>
            </a:r>
            <a:r>
              <a:rPr lang="en-US" sz="2800" dirty="0" err="1"/>
              <a:t>lại</a:t>
            </a:r>
            <a:r>
              <a:rPr lang="en-US" sz="2800" dirty="0"/>
              <a:t> </a:t>
            </a:r>
            <a:r>
              <a:rPr lang="en-US" sz="2800" dirty="0" err="1"/>
              <a:t>tốt</a:t>
            </a:r>
            <a:r>
              <a:rPr lang="en-US" sz="2800" dirty="0"/>
              <a:t>?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48E87B-FE07-48DF-A831-568DAC26C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52</a:t>
            </a:fld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6491727-F75E-9929-093A-60D745E7D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288" t="900"/>
          <a:stretch>
            <a:fillRect/>
          </a:stretch>
        </p:blipFill>
        <p:spPr bwMode="auto">
          <a:xfrm>
            <a:off x="7655860" y="1470212"/>
            <a:ext cx="3621741" cy="2468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19774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975634" y="1222436"/>
            <a:ext cx="6469334" cy="5458826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5DDC1D-1C14-41CD-BE33-A37B05E67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423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353869" cy="48768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dirty="0" err="1"/>
              <a:t>Với</a:t>
            </a:r>
            <a:r>
              <a:rPr lang="en-US" dirty="0"/>
              <a:t> CSP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backtracking </a:t>
            </a:r>
            <a:r>
              <a:rPr lang="en-US" dirty="0" err="1"/>
              <a:t>là</a:t>
            </a:r>
            <a:r>
              <a:rPr lang="en-US" dirty="0"/>
              <a:t> O(</a:t>
            </a:r>
            <a:r>
              <a:rPr lang="en-US" dirty="0" err="1"/>
              <a:t>d</a:t>
            </a:r>
            <a:r>
              <a:rPr lang="en-US" baseline="30000" dirty="0" err="1"/>
              <a:t>n</a:t>
            </a:r>
            <a:r>
              <a:rPr lang="en-US" dirty="0"/>
              <a:t>)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n: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d: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(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!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rã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con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:</a:t>
            </a: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dirty="0"/>
          </a:p>
          <a:p>
            <a:pPr lvl="1">
              <a:lnSpc>
                <a:spcPct val="80000"/>
              </a:lnSpc>
            </a:pP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thông</a:t>
            </a:r>
            <a:endParaRPr lang="en-US" sz="2400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8601" y="1476377"/>
            <a:ext cx="3614739" cy="317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DE7F80-C79C-4D07-B614-1038BE521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943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CSP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397002"/>
            <a:ext cx="11328400" cy="4729164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  <a:p>
            <a:pPr eaLnBrk="1" hangingPunct="1">
              <a:lnSpc>
                <a:spcPct val="80000"/>
              </a:lnSpc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CSP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O(nd</a:t>
            </a:r>
            <a:r>
              <a:rPr lang="en-US" baseline="30000" dirty="0">
                <a:solidFill>
                  <a:srgbClr val="0070C0"/>
                </a:solidFill>
              </a:rPr>
              <a:t>2</a:t>
            </a:r>
            <a:r>
              <a:rPr lang="en-US" dirty="0">
                <a:solidFill>
                  <a:srgbClr val="0070C0"/>
                </a:solidFill>
              </a:rPr>
              <a:t>)</a:t>
            </a:r>
            <a:r>
              <a:rPr lang="en-US" dirty="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CSP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xấu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O(</a:t>
            </a:r>
            <a:r>
              <a:rPr lang="en-US" dirty="0" err="1">
                <a:solidFill>
                  <a:srgbClr val="0070C0"/>
                </a:solidFill>
              </a:rPr>
              <a:t>d</a:t>
            </a:r>
            <a:r>
              <a:rPr lang="en-US" baseline="30000" dirty="0" err="1">
                <a:solidFill>
                  <a:srgbClr val="0070C0"/>
                </a:solidFill>
              </a:rPr>
              <a:t>n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endParaRPr lang="en-US" dirty="0"/>
          </a:p>
        </p:txBody>
      </p:sp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1371600"/>
            <a:ext cx="4419600" cy="2543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36F9BA-34FB-4D21-8869-5CAD8DF8D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010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CSP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01590"/>
            <a:ext cx="109728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dirty="0" err="1"/>
              <a:t>Sắp</a:t>
            </a:r>
            <a:r>
              <a:rPr lang="en-US" dirty="0"/>
              <a:t> </a:t>
            </a:r>
            <a:r>
              <a:rPr lang="en-US" dirty="0" err="1"/>
              <a:t>xếp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cây</a:t>
            </a:r>
            <a:r>
              <a:rPr lang="en-US" sz="2800" dirty="0"/>
              <a:t>: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</a:t>
            </a:r>
            <a:r>
              <a:rPr lang="en-US" sz="2800" dirty="0" err="1"/>
              <a:t>gốc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đảm</a:t>
            </a:r>
            <a:r>
              <a:rPr lang="en-US" sz="2800" dirty="0"/>
              <a:t> </a:t>
            </a:r>
            <a:r>
              <a:rPr lang="en-US" sz="2800" dirty="0" err="1"/>
              <a:t>bảo</a:t>
            </a:r>
            <a:r>
              <a:rPr lang="en-US" sz="2800" dirty="0"/>
              <a:t> </a:t>
            </a:r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ràng</a:t>
            </a:r>
            <a:r>
              <a:rPr lang="en-US" sz="2800" dirty="0"/>
              <a:t> </a:t>
            </a:r>
            <a:r>
              <a:rPr lang="en-US" sz="2800" dirty="0" err="1"/>
              <a:t>buộc</a:t>
            </a:r>
            <a:r>
              <a:rPr lang="en-US" sz="2800" dirty="0"/>
              <a:t> </a:t>
            </a:r>
            <a:r>
              <a:rPr lang="en-US" sz="2800" dirty="0" err="1"/>
              <a:t>nút</a:t>
            </a:r>
            <a:r>
              <a:rPr lang="en-US" sz="2800" dirty="0"/>
              <a:t> cha -&gt; </a:t>
            </a:r>
            <a:r>
              <a:rPr lang="en-US" sz="2800" dirty="0" err="1"/>
              <a:t>nút</a:t>
            </a:r>
            <a:r>
              <a:rPr lang="en-US" sz="2800" dirty="0"/>
              <a:t> con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algn="r" eaLnBrk="1" hangingPunct="1">
              <a:lnSpc>
                <a:spcPct val="80000"/>
              </a:lnSpc>
            </a:pPr>
            <a:endParaRPr lang="en-US" sz="2800" dirty="0"/>
          </a:p>
          <a:p>
            <a:pPr lvl="1" algn="r">
              <a:lnSpc>
                <a:spcPct val="80000"/>
              </a:lnSpc>
            </a:pPr>
            <a:endParaRPr lang="en-US" sz="2400" dirty="0"/>
          </a:p>
        </p:txBody>
      </p:sp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90601" y="2473325"/>
            <a:ext cx="2544763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4132" y="3983193"/>
            <a:ext cx="2403873" cy="2708275"/>
          </a:xfrm>
          <a:prstGeom prst="rect">
            <a:avLst/>
          </a:prstGeom>
          <a:noFill/>
        </p:spPr>
      </p:pic>
      <p:sp>
        <p:nvSpPr>
          <p:cNvPr id="33" name="Right Arrow 32"/>
          <p:cNvSpPr/>
          <p:nvPr/>
        </p:nvSpPr>
        <p:spPr>
          <a:xfrm>
            <a:off x="4191000" y="2778124"/>
            <a:ext cx="990600" cy="1066800"/>
          </a:xfrm>
          <a:prstGeom prst="rightArrow">
            <a:avLst/>
          </a:prstGeom>
          <a:solidFill>
            <a:srgbClr val="6699FF"/>
          </a:solidFill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pic>
        <p:nvPicPr>
          <p:cNvPr id="3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815013" y="2286000"/>
            <a:ext cx="5386388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67734C-3AB7-4A53-ABCA-A282BCF96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48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CSP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01590"/>
            <a:ext cx="109728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lvl="1">
              <a:lnSpc>
                <a:spcPct val="80000"/>
              </a:lnSpc>
            </a:pPr>
            <a:r>
              <a:rPr lang="en-US" sz="2400" dirty="0" err="1"/>
              <a:t>Pha</a:t>
            </a:r>
            <a:r>
              <a:rPr lang="en-US" sz="2400" dirty="0"/>
              <a:t> (1) </a:t>
            </a:r>
            <a:r>
              <a:rPr lang="en-US" sz="2400" dirty="0" err="1"/>
              <a:t>Xóa</a:t>
            </a:r>
            <a:r>
              <a:rPr lang="en-US" sz="2400" dirty="0"/>
              <a:t> </a:t>
            </a:r>
            <a:r>
              <a:rPr lang="en-US" sz="2400" dirty="0" err="1"/>
              <a:t>lùi</a:t>
            </a:r>
            <a:r>
              <a:rPr lang="en-US" sz="2400" dirty="0"/>
              <a:t>: For </a:t>
            </a:r>
            <a:r>
              <a:rPr lang="en-US" sz="2400" dirty="0" err="1"/>
              <a:t>i</a:t>
            </a:r>
            <a:r>
              <a:rPr lang="en-US" sz="2400" dirty="0"/>
              <a:t> = n : 2,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RemoveInconsistent</a:t>
            </a:r>
            <a:r>
              <a:rPr lang="en-US" sz="2400" dirty="0"/>
              <a:t>(Parent(X</a:t>
            </a:r>
            <a:r>
              <a:rPr lang="en-US" sz="2400" baseline="-25000" dirty="0"/>
              <a:t>i</a:t>
            </a:r>
            <a:r>
              <a:rPr lang="en-US" sz="2400" dirty="0"/>
              <a:t>),X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5013" y="2286000"/>
            <a:ext cx="5386388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1" y="2473325"/>
            <a:ext cx="2544763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6119811" y="3387724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5" name="Rectangle 10"/>
          <p:cNvSpPr>
            <a:spLocks noChangeArrowheads="1"/>
          </p:cNvSpPr>
          <p:nvPr/>
        </p:nvSpPr>
        <p:spPr bwMode="auto">
          <a:xfrm>
            <a:off x="70342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6" name="Rectangle 11"/>
          <p:cNvSpPr>
            <a:spLocks noChangeArrowheads="1"/>
          </p:cNvSpPr>
          <p:nvPr/>
        </p:nvSpPr>
        <p:spPr bwMode="auto">
          <a:xfrm>
            <a:off x="70342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7" name="Rectangle 13"/>
          <p:cNvSpPr>
            <a:spLocks noChangeArrowheads="1"/>
          </p:cNvSpPr>
          <p:nvPr/>
        </p:nvSpPr>
        <p:spPr bwMode="auto">
          <a:xfrm>
            <a:off x="79486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8" name="Rectangle 15"/>
          <p:cNvSpPr>
            <a:spLocks noChangeArrowheads="1"/>
          </p:cNvSpPr>
          <p:nvPr/>
        </p:nvSpPr>
        <p:spPr bwMode="auto">
          <a:xfrm>
            <a:off x="8863011" y="3387724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9" name="Rectangle 16"/>
          <p:cNvSpPr>
            <a:spLocks noChangeArrowheads="1"/>
          </p:cNvSpPr>
          <p:nvPr/>
        </p:nvSpPr>
        <p:spPr bwMode="auto">
          <a:xfrm>
            <a:off x="88630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0" name="Rectangle 17"/>
          <p:cNvSpPr>
            <a:spLocks noChangeArrowheads="1"/>
          </p:cNvSpPr>
          <p:nvPr/>
        </p:nvSpPr>
        <p:spPr bwMode="auto">
          <a:xfrm>
            <a:off x="88630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1" name="Rectangle 19"/>
          <p:cNvSpPr>
            <a:spLocks noChangeArrowheads="1"/>
          </p:cNvSpPr>
          <p:nvPr/>
        </p:nvSpPr>
        <p:spPr bwMode="auto">
          <a:xfrm>
            <a:off x="97774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2" name="Rectangle 20"/>
          <p:cNvSpPr>
            <a:spLocks noChangeArrowheads="1"/>
          </p:cNvSpPr>
          <p:nvPr/>
        </p:nvSpPr>
        <p:spPr bwMode="auto">
          <a:xfrm>
            <a:off x="97774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3" name="Rectangle 23"/>
          <p:cNvSpPr>
            <a:spLocks noChangeArrowheads="1"/>
          </p:cNvSpPr>
          <p:nvPr/>
        </p:nvSpPr>
        <p:spPr bwMode="auto">
          <a:xfrm>
            <a:off x="106918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4" name="Rectangle 24"/>
          <p:cNvSpPr>
            <a:spLocks noChangeArrowheads="1"/>
          </p:cNvSpPr>
          <p:nvPr/>
        </p:nvSpPr>
        <p:spPr bwMode="auto">
          <a:xfrm>
            <a:off x="61198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173163" y="3022599"/>
            <a:ext cx="2209800" cy="1004888"/>
            <a:chOff x="6553200" y="1981200"/>
            <a:chExt cx="2209800" cy="1004637"/>
          </a:xfrm>
        </p:grpSpPr>
        <p:sp>
          <p:nvSpPr>
            <p:cNvPr id="18451" name="Rectangle 6"/>
            <p:cNvSpPr>
              <a:spLocks noChangeArrowheads="1"/>
            </p:cNvSpPr>
            <p:nvPr/>
          </p:nvSpPr>
          <p:spPr bwMode="auto">
            <a:xfrm>
              <a:off x="6553200" y="1981200"/>
              <a:ext cx="90237" cy="90237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Rectangle 24"/>
            <p:cNvSpPr>
              <a:spLocks noChangeArrowheads="1"/>
            </p:cNvSpPr>
            <p:nvPr/>
          </p:nvSpPr>
          <p:spPr bwMode="auto">
            <a:xfrm>
              <a:off x="6643437" y="19812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Rectangle 10"/>
            <p:cNvSpPr>
              <a:spLocks noChangeArrowheads="1"/>
            </p:cNvSpPr>
            <p:nvPr/>
          </p:nvSpPr>
          <p:spPr bwMode="auto">
            <a:xfrm>
              <a:off x="8672763" y="1981200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Rectangle 11"/>
            <p:cNvSpPr>
              <a:spLocks noChangeArrowheads="1"/>
            </p:cNvSpPr>
            <p:nvPr/>
          </p:nvSpPr>
          <p:spPr bwMode="auto">
            <a:xfrm>
              <a:off x="8582526" y="19812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Rectangle 13"/>
            <p:cNvSpPr>
              <a:spLocks noChangeArrowheads="1"/>
            </p:cNvSpPr>
            <p:nvPr/>
          </p:nvSpPr>
          <p:spPr bwMode="auto">
            <a:xfrm>
              <a:off x="6553200" y="2895600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Rectangle 15"/>
            <p:cNvSpPr>
              <a:spLocks noChangeArrowheads="1"/>
            </p:cNvSpPr>
            <p:nvPr/>
          </p:nvSpPr>
          <p:spPr bwMode="auto">
            <a:xfrm>
              <a:off x="7882690" y="2424363"/>
              <a:ext cx="90237" cy="90237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Rectangle 16"/>
            <p:cNvSpPr>
              <a:spLocks noChangeArrowheads="1"/>
            </p:cNvSpPr>
            <p:nvPr/>
          </p:nvSpPr>
          <p:spPr bwMode="auto">
            <a:xfrm>
              <a:off x="7972927" y="2424363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Rectangle 17"/>
            <p:cNvSpPr>
              <a:spLocks noChangeArrowheads="1"/>
            </p:cNvSpPr>
            <p:nvPr/>
          </p:nvSpPr>
          <p:spPr bwMode="auto">
            <a:xfrm>
              <a:off x="8063163" y="2424363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Rectangle 19"/>
            <p:cNvSpPr>
              <a:spLocks noChangeArrowheads="1"/>
            </p:cNvSpPr>
            <p:nvPr/>
          </p:nvSpPr>
          <p:spPr bwMode="auto">
            <a:xfrm>
              <a:off x="7148763" y="2424363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Rectangle 20"/>
            <p:cNvSpPr>
              <a:spLocks noChangeArrowheads="1"/>
            </p:cNvSpPr>
            <p:nvPr/>
          </p:nvSpPr>
          <p:spPr bwMode="auto">
            <a:xfrm>
              <a:off x="7239000" y="2424363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Rectangle 23"/>
            <p:cNvSpPr>
              <a:spLocks noChangeArrowheads="1"/>
            </p:cNvSpPr>
            <p:nvPr/>
          </p:nvSpPr>
          <p:spPr bwMode="auto">
            <a:xfrm>
              <a:off x="8610600" y="28956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1854" y="167214"/>
            <a:ext cx="3172946" cy="1326098"/>
          </a:xfrm>
          <a:prstGeom prst="rect">
            <a:avLst/>
          </a:prstGeom>
          <a:noFill/>
        </p:spPr>
      </p:pic>
      <p:sp>
        <p:nvSpPr>
          <p:cNvPr id="31" name="Right Arrow 30"/>
          <p:cNvSpPr/>
          <p:nvPr/>
        </p:nvSpPr>
        <p:spPr>
          <a:xfrm>
            <a:off x="4191000" y="2778124"/>
            <a:ext cx="990600" cy="1066800"/>
          </a:xfrm>
          <a:prstGeom prst="rightArrow">
            <a:avLst/>
          </a:prstGeom>
          <a:solidFill>
            <a:srgbClr val="6699FF"/>
          </a:solidFill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24C3D2-B3A6-43A0-BD3B-334BCDF8D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31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 animBg="1"/>
      <p:bldP spid="22535" grpId="0" animBg="1"/>
      <p:bldP spid="22535" grpId="1" animBg="1"/>
      <p:bldP spid="22536" grpId="0" animBg="1"/>
      <p:bldP spid="22537" grpId="0" animBg="1"/>
      <p:bldP spid="22538" grpId="0" animBg="1"/>
      <p:bldP spid="22539" grpId="0" animBg="1"/>
      <p:bldP spid="22540" grpId="0" animBg="1"/>
      <p:bldP spid="22540" grpId="1" animBg="1"/>
      <p:bldP spid="22541" grpId="0" animBg="1"/>
      <p:bldP spid="22542" grpId="0" animBg="1"/>
      <p:bldP spid="22543" grpId="0" animBg="1"/>
      <p:bldP spid="22544" grpId="0" animBg="1"/>
      <p:bldP spid="22544" grpId="1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/>
              <a:t>Tree-Structured CSPs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01590"/>
            <a:ext cx="10972800" cy="5181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eaLnBrk="1" hangingPunct="1">
              <a:lnSpc>
                <a:spcPct val="80000"/>
              </a:lnSpc>
            </a:pPr>
            <a:endParaRPr lang="en-US" sz="28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endParaRPr lang="en-US" sz="2400" dirty="0"/>
          </a:p>
          <a:p>
            <a:pPr lvl="1">
              <a:lnSpc>
                <a:spcPct val="80000"/>
              </a:lnSpc>
            </a:pPr>
            <a:r>
              <a:rPr lang="en-US" sz="2400" dirty="0" err="1"/>
              <a:t>Pha</a:t>
            </a:r>
            <a:r>
              <a:rPr lang="en-US" sz="2400" dirty="0"/>
              <a:t> (2) </a:t>
            </a:r>
            <a:r>
              <a:rPr lang="en-US" sz="2400" dirty="0" err="1"/>
              <a:t>Gán</a:t>
            </a:r>
            <a:r>
              <a:rPr lang="en-US" sz="2400" dirty="0"/>
              <a:t> </a:t>
            </a:r>
            <a:r>
              <a:rPr lang="en-US" sz="2400" dirty="0" err="1"/>
              <a:t>tiến</a:t>
            </a:r>
            <a:r>
              <a:rPr lang="en-US" sz="2400" dirty="0"/>
              <a:t>: For </a:t>
            </a:r>
            <a:r>
              <a:rPr lang="en-US" sz="2400" dirty="0" err="1"/>
              <a:t>i</a:t>
            </a:r>
            <a:r>
              <a:rPr lang="en-US" sz="2400" dirty="0"/>
              <a:t> = 1 : n, </a:t>
            </a:r>
            <a:r>
              <a:rPr lang="en-US" dirty="0" err="1"/>
              <a:t>gán</a:t>
            </a:r>
            <a:r>
              <a:rPr lang="en-US" sz="2400" dirty="0"/>
              <a:t> X</a:t>
            </a:r>
            <a:r>
              <a:rPr lang="en-US" sz="2400" baseline="-25000" dirty="0"/>
              <a:t>i</a:t>
            </a:r>
            <a:r>
              <a:rPr lang="en-US" sz="2400" dirty="0"/>
              <a:t> </a:t>
            </a:r>
            <a:r>
              <a:rPr lang="en-US" sz="2400" dirty="0" err="1"/>
              <a:t>thỏa</a:t>
            </a:r>
            <a:r>
              <a:rPr lang="en-US" sz="2400" dirty="0"/>
              <a:t> </a:t>
            </a:r>
            <a:r>
              <a:rPr lang="en-US" sz="2400" dirty="0" err="1"/>
              <a:t>mãn</a:t>
            </a:r>
            <a:r>
              <a:rPr lang="en-US" sz="2400" dirty="0"/>
              <a:t> Parent(X</a:t>
            </a:r>
            <a:r>
              <a:rPr lang="en-US" sz="2400" baseline="-25000" dirty="0"/>
              <a:t>i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80000"/>
              </a:lnSpc>
            </a:pPr>
            <a:endParaRPr lang="en-US" sz="1200" dirty="0"/>
          </a:p>
          <a:p>
            <a:pPr eaLnBrk="1" hangingPunct="1">
              <a:lnSpc>
                <a:spcPct val="80000"/>
              </a:lnSpc>
            </a:pPr>
            <a:r>
              <a:rPr lang="en-US" sz="2800" dirty="0"/>
              <a:t>Runtime: O(nd</a:t>
            </a:r>
            <a:r>
              <a:rPr lang="en-US" sz="2800" baseline="30000" dirty="0"/>
              <a:t>2</a:t>
            </a:r>
            <a:r>
              <a:rPr lang="en-US" sz="2800" dirty="0"/>
              <a:t>)</a:t>
            </a:r>
          </a:p>
          <a:p>
            <a:pPr eaLnBrk="1" hangingPunct="1">
              <a:lnSpc>
                <a:spcPct val="80000"/>
              </a:lnSpc>
            </a:pP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(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)</a:t>
            </a:r>
            <a:endParaRPr lang="en-US" sz="2800" dirty="0"/>
          </a:p>
        </p:txBody>
      </p:sp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15013" y="2286000"/>
            <a:ext cx="5386388" cy="110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0601" y="2473325"/>
            <a:ext cx="2544763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6119811" y="3387724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6" name="Rectangle 11"/>
          <p:cNvSpPr>
            <a:spLocks noChangeArrowheads="1"/>
          </p:cNvSpPr>
          <p:nvPr/>
        </p:nvSpPr>
        <p:spPr bwMode="auto">
          <a:xfrm>
            <a:off x="70342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7" name="Rectangle 13"/>
          <p:cNvSpPr>
            <a:spLocks noChangeArrowheads="1"/>
          </p:cNvSpPr>
          <p:nvPr/>
        </p:nvSpPr>
        <p:spPr bwMode="auto">
          <a:xfrm>
            <a:off x="79486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8" name="Rectangle 15"/>
          <p:cNvSpPr>
            <a:spLocks noChangeArrowheads="1"/>
          </p:cNvSpPr>
          <p:nvPr/>
        </p:nvSpPr>
        <p:spPr bwMode="auto">
          <a:xfrm>
            <a:off x="8863011" y="3387724"/>
            <a:ext cx="228600" cy="228600"/>
          </a:xfrm>
          <a:prstGeom prst="rect">
            <a:avLst/>
          </a:prstGeom>
          <a:solidFill>
            <a:srgbClr val="FF33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39" name="Rectangle 16"/>
          <p:cNvSpPr>
            <a:spLocks noChangeArrowheads="1"/>
          </p:cNvSpPr>
          <p:nvPr/>
        </p:nvSpPr>
        <p:spPr bwMode="auto">
          <a:xfrm>
            <a:off x="88630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1" name="Rectangle 19"/>
          <p:cNvSpPr>
            <a:spLocks noChangeArrowheads="1"/>
          </p:cNvSpPr>
          <p:nvPr/>
        </p:nvSpPr>
        <p:spPr bwMode="auto">
          <a:xfrm>
            <a:off x="9777411" y="3692524"/>
            <a:ext cx="228600" cy="228600"/>
          </a:xfrm>
          <a:prstGeom prst="rect">
            <a:avLst/>
          </a:prstGeom>
          <a:solidFill>
            <a:srgbClr val="33CC33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2" name="Rectangle 20"/>
          <p:cNvSpPr>
            <a:spLocks noChangeArrowheads="1"/>
          </p:cNvSpPr>
          <p:nvPr/>
        </p:nvSpPr>
        <p:spPr bwMode="auto">
          <a:xfrm>
            <a:off x="97774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sp>
        <p:nvSpPr>
          <p:cNvPr id="22543" name="Rectangle 23"/>
          <p:cNvSpPr>
            <a:spLocks noChangeArrowheads="1"/>
          </p:cNvSpPr>
          <p:nvPr/>
        </p:nvSpPr>
        <p:spPr bwMode="auto">
          <a:xfrm>
            <a:off x="10691811" y="3997324"/>
            <a:ext cx="228600" cy="228600"/>
          </a:xfrm>
          <a:prstGeom prst="rect">
            <a:avLst/>
          </a:prstGeom>
          <a:solidFill>
            <a:srgbClr val="3333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1436" tIns="45718" rIns="91436" bIns="45718" anchor="ctr"/>
          <a:lstStyle/>
          <a:p>
            <a:endParaRPr lang="en-US"/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173163" y="3022599"/>
            <a:ext cx="2209800" cy="1004888"/>
            <a:chOff x="6553200" y="1981200"/>
            <a:chExt cx="2209800" cy="1004637"/>
          </a:xfrm>
        </p:grpSpPr>
        <p:sp>
          <p:nvSpPr>
            <p:cNvPr id="18451" name="Rectangle 6"/>
            <p:cNvSpPr>
              <a:spLocks noChangeArrowheads="1"/>
            </p:cNvSpPr>
            <p:nvPr/>
          </p:nvSpPr>
          <p:spPr bwMode="auto">
            <a:xfrm>
              <a:off x="6553200" y="1981200"/>
              <a:ext cx="90237" cy="90237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2" name="Rectangle 24"/>
            <p:cNvSpPr>
              <a:spLocks noChangeArrowheads="1"/>
            </p:cNvSpPr>
            <p:nvPr/>
          </p:nvSpPr>
          <p:spPr bwMode="auto">
            <a:xfrm>
              <a:off x="6643437" y="19812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3" name="Rectangle 10"/>
            <p:cNvSpPr>
              <a:spLocks noChangeArrowheads="1"/>
            </p:cNvSpPr>
            <p:nvPr/>
          </p:nvSpPr>
          <p:spPr bwMode="auto">
            <a:xfrm>
              <a:off x="8672763" y="1981200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Rectangle 11"/>
            <p:cNvSpPr>
              <a:spLocks noChangeArrowheads="1"/>
            </p:cNvSpPr>
            <p:nvPr/>
          </p:nvSpPr>
          <p:spPr bwMode="auto">
            <a:xfrm>
              <a:off x="8582526" y="19812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5" name="Rectangle 13"/>
            <p:cNvSpPr>
              <a:spLocks noChangeArrowheads="1"/>
            </p:cNvSpPr>
            <p:nvPr/>
          </p:nvSpPr>
          <p:spPr bwMode="auto">
            <a:xfrm>
              <a:off x="6553200" y="2895600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6" name="Rectangle 15"/>
            <p:cNvSpPr>
              <a:spLocks noChangeArrowheads="1"/>
            </p:cNvSpPr>
            <p:nvPr/>
          </p:nvSpPr>
          <p:spPr bwMode="auto">
            <a:xfrm>
              <a:off x="7882690" y="2424363"/>
              <a:ext cx="90237" cy="90237"/>
            </a:xfrm>
            <a:prstGeom prst="rect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7" name="Rectangle 16"/>
            <p:cNvSpPr>
              <a:spLocks noChangeArrowheads="1"/>
            </p:cNvSpPr>
            <p:nvPr/>
          </p:nvSpPr>
          <p:spPr bwMode="auto">
            <a:xfrm>
              <a:off x="7972927" y="2424363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8" name="Rectangle 17"/>
            <p:cNvSpPr>
              <a:spLocks noChangeArrowheads="1"/>
            </p:cNvSpPr>
            <p:nvPr/>
          </p:nvSpPr>
          <p:spPr bwMode="auto">
            <a:xfrm>
              <a:off x="8063163" y="2424363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9" name="Rectangle 19"/>
            <p:cNvSpPr>
              <a:spLocks noChangeArrowheads="1"/>
            </p:cNvSpPr>
            <p:nvPr/>
          </p:nvSpPr>
          <p:spPr bwMode="auto">
            <a:xfrm>
              <a:off x="7148763" y="2424363"/>
              <a:ext cx="90237" cy="90237"/>
            </a:xfrm>
            <a:prstGeom prst="rect">
              <a:avLst/>
            </a:prstGeom>
            <a:solidFill>
              <a:srgbClr val="33CC33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0" name="Rectangle 20"/>
            <p:cNvSpPr>
              <a:spLocks noChangeArrowheads="1"/>
            </p:cNvSpPr>
            <p:nvPr/>
          </p:nvSpPr>
          <p:spPr bwMode="auto">
            <a:xfrm>
              <a:off x="7239000" y="2424363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1" name="Rectangle 23"/>
            <p:cNvSpPr>
              <a:spLocks noChangeArrowheads="1"/>
            </p:cNvSpPr>
            <p:nvPr/>
          </p:nvSpPr>
          <p:spPr bwMode="auto">
            <a:xfrm>
              <a:off x="8610600" y="2895600"/>
              <a:ext cx="90237" cy="90237"/>
            </a:xfrm>
            <a:prstGeom prst="rect">
              <a:avLst/>
            </a:prstGeom>
            <a:solidFill>
              <a:srgbClr val="3333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61854" y="167214"/>
            <a:ext cx="3172946" cy="1326098"/>
          </a:xfrm>
          <a:prstGeom prst="rect">
            <a:avLst/>
          </a:prstGeom>
          <a:noFill/>
        </p:spPr>
      </p:pic>
      <p:sp>
        <p:nvSpPr>
          <p:cNvPr id="31" name="Right Arrow 30"/>
          <p:cNvSpPr/>
          <p:nvPr/>
        </p:nvSpPr>
        <p:spPr>
          <a:xfrm>
            <a:off x="4191000" y="2778124"/>
            <a:ext cx="990600" cy="1066800"/>
          </a:xfrm>
          <a:prstGeom prst="rightArrow">
            <a:avLst/>
          </a:prstGeom>
          <a:solidFill>
            <a:srgbClr val="6699FF"/>
          </a:solidFill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5A30D-6052-4C9E-A1FA-ABCB3F47C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91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1"/>
            <a:ext cx="4876800" cy="4525963"/>
          </a:xfrm>
        </p:spPr>
        <p:txBody>
          <a:bodyPr/>
          <a:lstStyle/>
          <a:p>
            <a:pPr eaLnBrk="1" hangingPunct="1"/>
            <a:r>
              <a:rPr lang="en-US" dirty="0" err="1"/>
              <a:t>Biến</a:t>
            </a:r>
            <a:r>
              <a:rPr lang="en-US" sz="2800" dirty="0"/>
              <a:t>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sz="2800" dirty="0"/>
              <a:t>: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sz="2800" dirty="0"/>
              <a:t>:</a:t>
            </a:r>
          </a:p>
          <a:p>
            <a:pPr eaLnBrk="1" hangingPunct="1"/>
            <a:endParaRPr lang="en-US" sz="2800" dirty="0"/>
          </a:p>
        </p:txBody>
      </p:sp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8" cstate="print"/>
          <a:srcRect l="2014" t="2845"/>
          <a:stretch>
            <a:fillRect/>
          </a:stretch>
        </p:blipFill>
        <p:spPr bwMode="auto">
          <a:xfrm>
            <a:off x="8162066" y="2281237"/>
            <a:ext cx="1703295" cy="122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6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066800" y="2281237"/>
            <a:ext cx="41148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7" name="Picture 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001715" y="3238502"/>
            <a:ext cx="372268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8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028702" y="5021264"/>
            <a:ext cx="33147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11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066800" y="5715000"/>
            <a:ext cx="547688" cy="7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70" name="Picture 12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017590" y="4344990"/>
            <a:ext cx="3478212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F7506B-EEA8-4A2D-9A4E-707366CBF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037880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9741"/>
            <a:ext cx="10515600" cy="4587221"/>
          </a:xfrm>
        </p:spPr>
        <p:txBody>
          <a:bodyPr/>
          <a:lstStyle/>
          <a:p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: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endParaRPr lang="en-US" dirty="0"/>
          </a:p>
          <a:p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: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  <a:p>
            <a:r>
              <a:rPr lang="en-US" dirty="0" err="1"/>
              <a:t>Cạnh</a:t>
            </a:r>
            <a:r>
              <a:rPr lang="en-US" dirty="0"/>
              <a:t>: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5" cstate="print"/>
          <a:srcRect l="1343" t="1076"/>
          <a:stretch>
            <a:fillRect/>
          </a:stretch>
        </p:blipFill>
        <p:spPr bwMode="auto">
          <a:xfrm>
            <a:off x="7853583" y="3703542"/>
            <a:ext cx="3993776" cy="247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957835" y="5102132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639918" y="5102132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87357" y="5102132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334796" y="5102132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54286" y="3759540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6" cstate="print"/>
          <a:srcRect l="2014" t="2845"/>
          <a:stretch>
            <a:fillRect/>
          </a:stretch>
        </p:blipFill>
        <p:spPr bwMode="auto">
          <a:xfrm>
            <a:off x="642491" y="4100742"/>
            <a:ext cx="1703295" cy="122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424136" y="5170578"/>
            <a:ext cx="3314700" cy="30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462234" y="5864314"/>
            <a:ext cx="547688" cy="74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413024" y="4494304"/>
            <a:ext cx="3478212" cy="327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3233634" y="3840552"/>
            <a:ext cx="15712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Ràng</a:t>
            </a:r>
            <a:r>
              <a:rPr lang="en-US" sz="2400" dirty="0"/>
              <a:t> </a:t>
            </a:r>
            <a:r>
              <a:rPr lang="en-US" sz="2400" dirty="0" err="1"/>
              <a:t>buộc</a:t>
            </a:r>
            <a:r>
              <a:rPr lang="en-US" sz="2400" dirty="0"/>
              <a:t>: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48CCCEF-D520-4E81-B25F-79DA1833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5975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259" y="1331355"/>
            <a:ext cx="6925753" cy="4351338"/>
          </a:xfrm>
        </p:spPr>
        <p:txBody>
          <a:bodyPr>
            <a:normAutofit/>
          </a:bodyPr>
          <a:lstStyle/>
          <a:p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r>
              <a:rPr lang="en-US" dirty="0"/>
              <a:t>,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, AC-3</a:t>
            </a:r>
          </a:p>
          <a:p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 l="1343" t="1076"/>
          <a:stretch>
            <a:fillRect/>
          </a:stretch>
        </p:blipFill>
        <p:spPr bwMode="auto">
          <a:xfrm>
            <a:off x="7816193" y="842759"/>
            <a:ext cx="3993776" cy="24734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7920445" y="2241349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602528" y="2241349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949967" y="2241349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308164" y="2241349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616896" y="898757"/>
            <a:ext cx="250902" cy="2477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379345-E187-47E1-A728-CD93F195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531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33660" y="3293168"/>
            <a:ext cx="6170351" cy="2742992"/>
          </a:xfrm>
          <a:prstGeom prst="rect">
            <a:avLst/>
          </a:prstGeom>
          <a:noFill/>
        </p:spPr>
      </p:pic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(I)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442685" y="1402452"/>
            <a:ext cx="7916123" cy="45259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0"/>
              </a:spcAft>
            </a:pPr>
            <a:r>
              <a:rPr lang="en-US" sz="2800" dirty="0"/>
              <a:t>CSP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một</a:t>
            </a:r>
            <a:r>
              <a:rPr lang="en-US" sz="2800" dirty="0"/>
              <a:t> </a:t>
            </a:r>
            <a:r>
              <a:rPr lang="en-US" sz="2800" dirty="0" err="1"/>
              <a:t>dạng</a:t>
            </a:r>
            <a:r>
              <a:rPr lang="en-US" sz="2800" dirty="0"/>
              <a:t> </a:t>
            </a:r>
            <a:r>
              <a:rPr lang="en-US" sz="2800" dirty="0" err="1"/>
              <a:t>bài</a:t>
            </a:r>
            <a:r>
              <a:rPr lang="en-US" sz="2800" dirty="0"/>
              <a:t> </a:t>
            </a:r>
            <a:r>
              <a:rPr lang="en-US" sz="2800" dirty="0" err="1"/>
              <a:t>toán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đặc</a:t>
            </a:r>
            <a:r>
              <a:rPr lang="en-US" sz="2800" dirty="0"/>
              <a:t> </a:t>
            </a:r>
            <a:r>
              <a:rPr lang="en-US" sz="2800" dirty="0" err="1"/>
              <a:t>thù</a:t>
            </a:r>
            <a:endParaRPr lang="en-US" sz="2800" dirty="0"/>
          </a:p>
          <a:p>
            <a:pPr lvl="1">
              <a:spcBef>
                <a:spcPct val="0"/>
              </a:spcBef>
              <a:spcAft>
                <a:spcPts val="0"/>
              </a:spcAft>
            </a:pP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lvl="1">
              <a:spcBef>
                <a:spcPct val="0"/>
              </a:spcBef>
              <a:spcAft>
                <a:spcPts val="0"/>
              </a:spcAft>
            </a:pP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=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gán</a:t>
            </a:r>
            <a:endParaRPr lang="en-US" dirty="0"/>
          </a:p>
          <a:p>
            <a:pPr lvl="6">
              <a:spcBef>
                <a:spcPct val="0"/>
              </a:spcBef>
              <a:spcAft>
                <a:spcPts val="0"/>
              </a:spcAft>
            </a:pPr>
            <a:endParaRPr lang="en-US" sz="1200" dirty="0"/>
          </a:p>
          <a:p>
            <a:pPr>
              <a:spcAft>
                <a:spcPts val="0"/>
              </a:spcAft>
            </a:pPr>
            <a:r>
              <a:rPr lang="en-US" sz="2800" dirty="0" err="1"/>
              <a:t>Áp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tìm</a:t>
            </a:r>
            <a:r>
              <a:rPr lang="en-US" sz="2800" dirty="0"/>
              <a:t> </a:t>
            </a:r>
            <a:r>
              <a:rPr lang="en-US" sz="2800" dirty="0" err="1"/>
              <a:t>kiếm</a:t>
            </a:r>
            <a:r>
              <a:rPr lang="en-US" sz="2800" dirty="0"/>
              <a:t> </a:t>
            </a:r>
            <a:r>
              <a:rPr lang="en-US" sz="2800" dirty="0" err="1"/>
              <a:t>vét</a:t>
            </a:r>
            <a:r>
              <a:rPr lang="en-US" sz="2800" dirty="0"/>
              <a:t> </a:t>
            </a:r>
            <a:r>
              <a:rPr lang="en-US" sz="2800" dirty="0" err="1"/>
              <a:t>cạn</a:t>
            </a:r>
            <a:r>
              <a:rPr lang="en-US" sz="2800" dirty="0"/>
              <a:t>/quay </a:t>
            </a:r>
            <a:r>
              <a:rPr lang="en-US" sz="2800" dirty="0" err="1"/>
              <a:t>lui</a:t>
            </a:r>
            <a:r>
              <a:rPr lang="en-US" sz="2800" dirty="0"/>
              <a:t>, </a:t>
            </a:r>
            <a:r>
              <a:rPr lang="en-US" sz="2800" dirty="0" err="1"/>
              <a:t>với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cải</a:t>
            </a:r>
            <a:r>
              <a:rPr lang="en-US" sz="2800" dirty="0"/>
              <a:t> </a:t>
            </a:r>
            <a:r>
              <a:rPr lang="en-US" sz="2800" dirty="0" err="1"/>
              <a:t>thiện</a:t>
            </a:r>
            <a:endParaRPr lang="en-US" sz="2800" dirty="0"/>
          </a:p>
          <a:p>
            <a:pPr lvl="1">
              <a:spcBef>
                <a:spcPts val="176"/>
              </a:spcBef>
              <a:spcAft>
                <a:spcPts val="0"/>
              </a:spcAft>
            </a:pP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tự</a:t>
            </a:r>
            <a:endParaRPr lang="en-US" sz="2400" dirty="0"/>
          </a:p>
          <a:p>
            <a:pPr lvl="1">
              <a:spcBef>
                <a:spcPts val="176"/>
              </a:spcBef>
              <a:spcAft>
                <a:spcPts val="0"/>
              </a:spcAft>
            </a:pP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(FC, AC-3)</a:t>
            </a:r>
          </a:p>
          <a:p>
            <a:pPr lvl="1">
              <a:spcBef>
                <a:spcPts val="176"/>
              </a:spcBef>
              <a:spcAft>
                <a:spcPts val="0"/>
              </a:spcAft>
            </a:pP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</a:t>
            </a:r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endParaRPr lang="en-US" sz="2400" dirty="0"/>
          </a:p>
          <a:p>
            <a:pPr lvl="1">
              <a:spcBef>
                <a:spcPts val="176"/>
              </a:spcBef>
              <a:spcAft>
                <a:spcPts val="0"/>
              </a:spcAft>
            </a:pPr>
            <a:endParaRPr lang="en-US" dirty="0"/>
          </a:p>
          <a:p>
            <a:pPr>
              <a:spcBef>
                <a:spcPts val="176"/>
              </a:spcBef>
            </a:pP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chiến</a:t>
            </a:r>
            <a:r>
              <a:rPr lang="en-US" dirty="0"/>
              <a:t> </a:t>
            </a:r>
            <a:r>
              <a:rPr lang="en-US" dirty="0" err="1"/>
              <a:t>lược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pPr lvl="1">
              <a:spcBef>
                <a:spcPts val="176"/>
              </a:spcBef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/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</a:t>
            </a:r>
          </a:p>
          <a:p>
            <a:pPr lvl="1">
              <a:spcBef>
                <a:spcPts val="176"/>
              </a:spcBef>
              <a:spcAft>
                <a:spcPts val="0"/>
              </a:spcAft>
            </a:pPr>
            <a:endParaRPr lang="en-US" sz="15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FE598A-307B-47C0-9986-4B2E3F594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56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674E4-2813-2634-E539-0C1C883A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Ví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dụ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Crossword</a:t>
            </a:r>
          </a:p>
        </p:txBody>
      </p:sp>
      <p:pic>
        <p:nvPicPr>
          <p:cNvPr id="5" name="Picture 4" descr="A crossword puzzle with black squares&#10;&#10;Description automatically generated">
            <a:extLst>
              <a:ext uri="{FF2B5EF4-FFF2-40B4-BE49-F238E27FC236}">
                <a16:creationId xmlns:a16="http://schemas.microsoft.com/office/drawing/2014/main" id="{A7F57E08-89AF-B926-D29C-DEA53BAD6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346" y="1402498"/>
            <a:ext cx="7222484" cy="489323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C563C-906C-0AD4-920C-59F1E526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7B84970-942D-C344-9E05-4058AA48B4F9}" type="slidenum">
              <a:rPr lang="en-US" smtClean="0"/>
              <a:pPr>
                <a:spcAft>
                  <a:spcPts val="600"/>
                </a:spcAft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2287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674E4-2813-2634-E539-0C1C883A3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Ví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dụ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Crossword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C563C-906C-0AD4-920C-59F1E526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7B84970-942D-C344-9E05-4058AA48B4F9}" type="slidenum">
              <a:rPr lang="en-US" smtClean="0"/>
              <a:pPr>
                <a:spcAft>
                  <a:spcPts val="600"/>
                </a:spcAft>
              </a:pPr>
              <a:t>64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B86E2AF-20D4-FAB1-DC96-6DCC38272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73" y="1437698"/>
            <a:ext cx="8024552" cy="5235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939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E33FDD9-BCC2-34C9-9876-F0F7A5F11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87253" y="3015382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B44DEF-F34B-E344-DBBB-B3836E5B3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259" y="319633"/>
            <a:ext cx="10515600" cy="565751"/>
          </a:xfrm>
        </p:spPr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A82CD-C81A-195F-D88B-458C94AF5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446" y="1331355"/>
            <a:ext cx="8341166" cy="5101290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AC-3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(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AC-3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mâu</a:t>
            </a:r>
            <a:r>
              <a:rPr lang="en-US" dirty="0"/>
              <a:t> </a:t>
            </a:r>
            <a:r>
              <a:rPr lang="en-US" dirty="0" err="1"/>
              <a:t>thuẫn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(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1 </a:t>
            </a:r>
            <a:r>
              <a:rPr lang="en-US" dirty="0" err="1"/>
              <a:t>cạnh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: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“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” (path consistency) !?</a:t>
            </a:r>
          </a:p>
          <a:p>
            <a:pPr lvl="1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endParaRPr lang="en-US" dirty="0"/>
          </a:p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,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 (local search)</a:t>
            </a:r>
          </a:p>
          <a:p>
            <a:pPr lvl="1"/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,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,…</a:t>
            </a:r>
          </a:p>
          <a:p>
            <a:pPr lvl="1"/>
            <a:r>
              <a:rPr lang="en-US" dirty="0"/>
              <a:t>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con</a:t>
            </a:r>
          </a:p>
          <a:p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 </a:t>
            </a:r>
            <a:r>
              <a:rPr lang="en-US" dirty="0" err="1"/>
              <a:t>và</a:t>
            </a:r>
            <a:r>
              <a:rPr lang="en-US" dirty="0"/>
              <a:t> “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”</a:t>
            </a:r>
          </a:p>
          <a:p>
            <a:pPr lvl="1"/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chắc</a:t>
            </a:r>
            <a:r>
              <a:rPr lang="en-US" dirty="0"/>
              <a:t> </a:t>
            </a:r>
            <a:r>
              <a:rPr lang="en-US" dirty="0" err="1"/>
              <a:t>chắn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nút</a:t>
            </a:r>
            <a:endParaRPr lang="en-US" dirty="0"/>
          </a:p>
          <a:p>
            <a:pPr lvl="1"/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AE3D1-D15B-4D36-38B0-5E61DCA1C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65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B54828F6-D08C-1BE0-47CD-389C0B1DD8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10965116" y="4984221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8708E3F9-4300-7EB1-533C-07E2999C4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9369341" y="4596700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F8F1A72B-8E0C-BD21-4D02-45829465C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11338111" y="4388005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106257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6DE2-5CE8-7424-835D-D14D34BE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đỉnh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E6566-471F-8BBB-DD26-96C5FFA75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260" y="1331355"/>
            <a:ext cx="7727994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Đỉnh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sz="2800" dirty="0"/>
              <a:t>x</a:t>
            </a:r>
            <a:r>
              <a:rPr lang="en-US" sz="2800" baseline="-25000" dirty="0"/>
              <a:t>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đỉnh</a:t>
            </a:r>
            <a:endParaRPr lang="en-US" dirty="0"/>
          </a:p>
          <a:p>
            <a:pPr lvl="1"/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nào</a:t>
            </a:r>
            <a:endParaRPr lang="en-US" dirty="0"/>
          </a:p>
          <a:p>
            <a:pPr lvl="1"/>
            <a:r>
              <a:rPr lang="en-US" dirty="0" err="1">
                <a:solidFill>
                  <a:srgbClr val="FF0000"/>
                </a:solidFill>
              </a:rPr>
              <a:t>Bằng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cách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nào</a:t>
            </a:r>
            <a:r>
              <a:rPr lang="en-US" dirty="0">
                <a:solidFill>
                  <a:srgbClr val="FF0000"/>
                </a:solidFill>
              </a:rPr>
              <a:t>?</a:t>
            </a:r>
          </a:p>
          <a:p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cục</a:t>
            </a:r>
            <a:r>
              <a:rPr lang="en-US" dirty="0"/>
              <a:t> bộ</a:t>
            </a:r>
          </a:p>
          <a:p>
            <a:pPr lvl="1"/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k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k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chứa</a:t>
            </a:r>
            <a:r>
              <a:rPr lang="en-US" dirty="0"/>
              <a:t> X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sz="2400" dirty="0"/>
              <a:t>x</a:t>
            </a:r>
            <a:r>
              <a:rPr lang="en-US" sz="2400" baseline="-25000" dirty="0"/>
              <a:t>i 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bộ k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này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4BD16-CA9B-1A5F-F23B-6AE70CE97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21085E-E333-D080-F0A5-961F8F304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87253" y="3015382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AB4A5BD-F28C-F439-786D-F836C49EE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9336758" y="464387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2BC4E3B7-14AA-9F68-BBF6-3F207E5BB0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11338111" y="4388005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BF31332C-3651-A5F7-B315-5B164199CA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10902790" y="4943992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072501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77596-0DE8-BCC7-590C-584789A15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dần</a:t>
            </a:r>
            <a:r>
              <a:rPr lang="en-US" dirty="0"/>
              <a:t> (local search)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CSP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F9F3B0-BB3C-690D-97F7-E7F2FE40D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259" y="1331355"/>
            <a:ext cx="7586467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c: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cạnh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k = 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đợi</a:t>
            </a:r>
            <a:r>
              <a:rPr lang="en-US" dirty="0"/>
              <a:t> Q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,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Q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rỗng</a:t>
            </a:r>
            <a:endParaRPr lang="en-US" dirty="0"/>
          </a:p>
          <a:p>
            <a:pPr marL="971550" lvl="1" indent="-514350">
              <a:buFont typeface="+mj-lt"/>
              <a:buAutoNum type="romanLcPeriod"/>
            </a:pP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n </a:t>
            </a:r>
            <a:r>
              <a:rPr lang="en-US" dirty="0" err="1"/>
              <a:t>từ</a:t>
            </a:r>
            <a:r>
              <a:rPr lang="en-US" dirty="0"/>
              <a:t> Q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n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k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miền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n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rút</a:t>
            </a:r>
            <a:r>
              <a:rPr lang="en-US" dirty="0"/>
              <a:t> </a:t>
            </a:r>
            <a:r>
              <a:rPr lang="en-US" dirty="0" err="1"/>
              <a:t>gọn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các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đỉnh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liên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quan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đến</a:t>
            </a:r>
            <a:r>
              <a:rPr lang="en-US" dirty="0">
                <a:solidFill>
                  <a:srgbClr val="FF0000"/>
                </a:solidFill>
              </a:rPr>
              <a:t> n </a:t>
            </a:r>
            <a:r>
              <a:rPr lang="en-US" dirty="0" err="1"/>
              <a:t>vào</a:t>
            </a:r>
            <a:r>
              <a:rPr lang="en-US" dirty="0"/>
              <a:t> Q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Tăng</a:t>
            </a:r>
            <a:r>
              <a:rPr lang="en-US" dirty="0"/>
              <a:t> k </a:t>
            </a:r>
            <a:r>
              <a:rPr lang="en-US" dirty="0" err="1"/>
              <a:t>đến</a:t>
            </a:r>
            <a:r>
              <a:rPr lang="en-US" dirty="0"/>
              <a:t> c-1, </a:t>
            </a:r>
            <a:r>
              <a:rPr lang="en-US" dirty="0" err="1"/>
              <a:t>lặp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lời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đầy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9A292-90BB-E03B-EC94-46F1CEB3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72EE0-F8DD-99A2-36E2-6091368FE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87253" y="3015382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35A8DCA2-4F1D-845B-5A4C-D4FB09783E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9336758" y="4643876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A20F01C7-C6E5-4691-EB41-9BD9F1C2EE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11338111" y="4388005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C7206362-6E0A-1934-A4F9-2232C5931E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62126" r="85110" b="25245"/>
          <a:stretch/>
        </p:blipFill>
        <p:spPr bwMode="auto">
          <a:xfrm>
            <a:off x="10902790" y="4943992"/>
            <a:ext cx="758042" cy="285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864769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77BD-9F4F-FA6C-69BC-3372B39C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59919-9829-0057-10C7-D5323E7FA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đố</a:t>
            </a:r>
            <a:r>
              <a:rPr lang="en-US" dirty="0"/>
              <a:t> Sudoku</a:t>
            </a:r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Crossword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0FA6D-0587-47D6-1922-0AC110B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625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AA15-C732-AF0D-6325-331C61CC7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(path consistency)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E7EF7-3760-09C5-54F5-C9C49709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9260" y="1331355"/>
            <a:ext cx="7652060" cy="48101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(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)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  <a:p>
            <a:pPr lvl="1"/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</a:t>
            </a:r>
            <a:r>
              <a:rPr lang="en-US" dirty="0" err="1"/>
              <a:t>gốc</a:t>
            </a:r>
            <a:r>
              <a:rPr lang="en-US" dirty="0"/>
              <a:t>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chu </a:t>
            </a:r>
            <a:r>
              <a:rPr lang="en-US" dirty="0" err="1"/>
              <a:t>trình</a:t>
            </a:r>
            <a:endParaRPr lang="en-US" dirty="0"/>
          </a:p>
          <a:p>
            <a:pPr lvl="1"/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k (k-consistency)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k</a:t>
            </a:r>
          </a:p>
          <a:p>
            <a:pPr lvl="1"/>
            <a:r>
              <a:rPr lang="en-US" dirty="0" err="1"/>
              <a:t>Nút</a:t>
            </a:r>
            <a:r>
              <a:rPr lang="en-US" dirty="0"/>
              <a:t> A </a:t>
            </a:r>
            <a:r>
              <a:rPr lang="en-US" dirty="0" err="1"/>
              <a:t>và</a:t>
            </a:r>
            <a:r>
              <a:rPr lang="en-US" dirty="0"/>
              <a:t> B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lân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k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k </a:t>
            </a:r>
            <a:r>
              <a:rPr lang="en-US" dirty="0" err="1"/>
              <a:t>nối</a:t>
            </a:r>
            <a:r>
              <a:rPr lang="en-US" dirty="0"/>
              <a:t> A </a:t>
            </a:r>
            <a:r>
              <a:rPr lang="en-US" dirty="0" err="1"/>
              <a:t>với</a:t>
            </a:r>
            <a:r>
              <a:rPr lang="en-US" dirty="0"/>
              <a:t> B</a:t>
            </a:r>
          </a:p>
          <a:p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chuỗi</a:t>
            </a:r>
            <a:endParaRPr lang="en-US" dirty="0"/>
          </a:p>
          <a:p>
            <a:pPr lvl="1"/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đỉnh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 </a:t>
            </a:r>
            <a:r>
              <a:rPr lang="en-US" dirty="0" err="1"/>
              <a:t>thuộc</a:t>
            </a:r>
            <a:r>
              <a:rPr lang="en-US" dirty="0"/>
              <a:t> X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gán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thỏa</a:t>
            </a:r>
            <a:r>
              <a:rPr lang="en-US" dirty="0"/>
              <a:t> </a:t>
            </a:r>
            <a:r>
              <a:rPr lang="en-US" dirty="0" err="1"/>
              <a:t>mãn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buộc</a:t>
            </a:r>
            <a:endParaRPr lang="en-US" dirty="0"/>
          </a:p>
          <a:p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Vét</a:t>
            </a:r>
            <a:r>
              <a:rPr lang="en-US" dirty="0"/>
              <a:t> </a:t>
            </a:r>
            <a:r>
              <a:rPr lang="en-US" dirty="0" err="1"/>
              <a:t>cạn</a:t>
            </a:r>
            <a:r>
              <a:rPr lang="en-US" dirty="0"/>
              <a:t>/quay </a:t>
            </a:r>
            <a:r>
              <a:rPr lang="en-US" dirty="0" err="1"/>
              <a:t>lui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sâu</a:t>
            </a:r>
            <a:r>
              <a:rPr lang="en-US" dirty="0"/>
              <a:t> 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F31E5-0E75-DC85-43AA-5BC8779F1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69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8DA03-F860-B668-E090-5A310EEDE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87253" y="3015382"/>
            <a:ext cx="3207656" cy="2799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9DE9ABFB-8074-0CE9-F555-6046DDEC6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48845" r="84749" b="37324"/>
          <a:stretch/>
        </p:blipFill>
        <p:spPr bwMode="auto">
          <a:xfrm>
            <a:off x="10965116" y="4984221"/>
            <a:ext cx="745989" cy="3000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8CBD9914-3FF0-590B-CC5E-EF58834565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9369341" y="4596700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DC522038-5B54-79B8-E502-FA1A86A493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14613" t="62149" r="71139" b="25117"/>
          <a:stretch/>
        </p:blipFill>
        <p:spPr bwMode="auto">
          <a:xfrm>
            <a:off x="11338111" y="4388005"/>
            <a:ext cx="645442" cy="255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4463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DDE9-F06B-0354-9D90-A5646760C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5EDC6-3E20-9136-56E2-57DD6BD29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,…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F8EF6D-3E82-6BDA-C0C5-10D45437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84970-942D-C344-9E05-4058AA48B4F9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967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WA}$, $\mathrm{NT}$, $\mathrm{Q}$, $\mathrm{NSW}$, $\mathrm{V}$, $\mathrm{SA}$, $\mathrm{T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98"/>
  <p:tag name="PICTUREFILESIZE" val="136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D} = \{\mathrm{red},\mathrm{green},\mathrm{blue}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14"/>
  <p:tag name="PICTUREFILESIZE" val="93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\def\eq{=}&#10;$\{\mathrm{WA}$=$\mathrm{red}$, $\mathrm{NT}$=$\mathrm{green}$, $\mathrm{Q}$=$\mathrm{red}$, $\mathrm{NSW}$=$\mathrm{green}$, $\mathrm{V}$=$\mathrm{red}$, $\mathrm{SA}$=$\mathrm{blue}$, $\mathrm{T}$=$\mathrm{green}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66"/>
  <p:tag name="PICTUREFILESIZE" val="3346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WA}\neq \mathrm{NT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02"/>
  <p:tag name="PICTUREFILESIZE" val="485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(\mathrm{WA},\mathrm{NT}) \in \{(\mathrm{red},\mathrm{green}),(\mathrm{red},\mathrm{blue}),\ldots\}$&#10;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04"/>
  <p:tag name="PICTUREFILESIZE" val="1981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238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X_{ij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31"/>
  <p:tag name="PICTUREFILESIZE" val="237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sum_{i,j} X_{ij} = 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110"/>
  <p:tag name="PICTUREFILESIZE" val="7658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i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389"/>
  <p:tag name="PICTUREFILESIZE" val="2144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forall i,j,k \;\; (X_{ij}, X_{kj}) \in \{(0,0), (0,1), (1,0)\}$\\&#10;$\forall i,j,k \;\; (X_{ij}, X_{i+k,j+k}) \in \{(0,0), (0,1), (1,0)\}$\\&#10;$\forall i,j,k \;\; (X_{ij}, X_{i+k,j-k}) \in \{(0,0), (0,1), (1,0)\}$\\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443"/>
  <p:tag name="PICTUREFILESIZE" val="6969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Q_{k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"/>
  <p:tag name="PICTUREFILESIZE" val="2196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(Q_1, Q_2) \in \{(1, 3), (1, 4), \ldots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78"/>
  <p:tag name="PICTUREFILESIZE" val="1404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forall i,j \;\; \mbox{non-threatening}(Q_i, Q_j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86"/>
  <p:tag name="PICTUREFILESIZE" val="1531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{1, 2, 3, \ldots N\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32"/>
  <p:tag name="PICTUREFILESIZE" val="563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1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5"/>
  <p:tag name="PICTUREFILESIZE" val="174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2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5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3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218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Q_{4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6"/>
  <p:tag name="PICTUREFILESIZE" val="190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ldots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22"/>
  <p:tag name="PICTUREFILESIZE" val="30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\ T\ U\ W\ R\ O\ X_1\ X_2\ X_3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2"/>
  <p:tag name="PICTUREFILESIZE" val="1177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,2,3,4,5,6,7,8,9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8"/>
  <p:tag name="PICTUREFILESIZE" val="105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O + O = R + 10\cdot X_1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3"/>
  <p:tag name="PICTUREFILESIZE" val="735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ldots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box{alldiff}(F,T,U,W,R,O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13"/>
  <p:tag name="PICTUREFILESIZE" val="1087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SA}\neq \mathrm{green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114"/>
  <p:tag name="PICTUREFILESIZE" val="572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begin{document}&#10;$\mathrm{SA}\neq \mathrm{WA}$&#10;\end{document}&#10;"/>
  <p:tag name="FILENAME" val="txp_fig"/>
  <p:tag name="FORMAT" val="pngmono"/>
  <p:tag name="RES" val="1200"/>
  <p:tag name="BLEND" val="0"/>
  <p:tag name="TRANSPARENT" val="0"/>
  <p:tag name="TBUG" val="0"/>
  <p:tag name="ALLOWFS" val="0"/>
  <p:tag name="ORIGWIDTH" val="97"/>
  <p:tag name="PICTUREFILESIZE" val="573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O + O = R + 10\cdot X_1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3"/>
  <p:tag name="PICTUREFILESIZE" val="735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F\ T\ U\ W\ R\ O\ X_1\ X_2\ X_3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52"/>
  <p:tag name="PICTUREFILESIZE" val="1177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{0,1,2,3,4,5,6,7,8,9\}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8"/>
  <p:tag name="PICTUREFILESIZE" val="1051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O + O = R + 10\cdot X_1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3"/>
  <p:tag name="PICTUREFILESIZE" val="735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ldots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box{alldiff}(F,T,U,W,R,O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13"/>
  <p:tag name="PICTUREFILESIZE" val="1087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O + O = R + 10\cdot X_1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03"/>
  <p:tag name="PICTUREFILESIZE" val="735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ldots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2"/>
  <p:tag name="PICTUREFILESIZE" val="30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box{alldiff}(F,T,U,W,R,O)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mono"/>
  <p:tag name="ORIGWIDTH" val="213"/>
  <p:tag name="PICTUREFILESIZE" val="1087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18086</TotalTime>
  <Words>4302</Words>
  <Application>Microsoft Office PowerPoint</Application>
  <PresentationFormat>Widescreen</PresentationFormat>
  <Paragraphs>813</Paragraphs>
  <Slides>70</Slides>
  <Notes>21</Notes>
  <HiddenSlides>2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8" baseType="lpstr">
      <vt:lpstr>Arial</vt:lpstr>
      <vt:lpstr>Calibri</vt:lpstr>
      <vt:lpstr>Calibri Light</vt:lpstr>
      <vt:lpstr>Cambria Math</vt:lpstr>
      <vt:lpstr>Symbol</vt:lpstr>
      <vt:lpstr>Times New Roman</vt:lpstr>
      <vt:lpstr>Wingdings</vt:lpstr>
      <vt:lpstr>Office Theme</vt:lpstr>
      <vt:lpstr>AIT2004: Cơ sở Trí tuệ nhân tạo </vt:lpstr>
      <vt:lpstr>Học liệu</vt:lpstr>
      <vt:lpstr>Bài toán thỏa mãn ràng buộc Constraint Satisfaction Problems</vt:lpstr>
      <vt:lpstr>Ví dụ: tô mầu bản đồ</vt:lpstr>
      <vt:lpstr>Ví dụ: Tô mầu bản đồ</vt:lpstr>
      <vt:lpstr>Tại sao cần tìm hiểu về CSP?</vt:lpstr>
      <vt:lpstr>Biểu diễn bằng Đồ thị ràng buộc</vt:lpstr>
      <vt:lpstr>Đồ thị ràng buộc</vt:lpstr>
      <vt:lpstr>Một số dạng bài toán CSP</vt:lpstr>
      <vt:lpstr>Ví dụ: N-Queens</vt:lpstr>
      <vt:lpstr>Ví dụ: N-Queens</vt:lpstr>
      <vt:lpstr>Ví dụ: Mật mã số học (Cryptarithmetic)</vt:lpstr>
      <vt:lpstr>Ví dụ: Sudoku</vt:lpstr>
      <vt:lpstr>Các dạng CSPs</vt:lpstr>
      <vt:lpstr>Các dạng ràng buộc</vt:lpstr>
      <vt:lpstr>Giải bài toán CSPs</vt:lpstr>
      <vt:lpstr>Giải CSP: Vét cạn/quay lui (backtracking search)</vt:lpstr>
      <vt:lpstr>Thuật toán tìm kiếm Backtracking</vt:lpstr>
      <vt:lpstr>Ví dụ: Backtracking</vt:lpstr>
      <vt:lpstr>Cải tiến cho CSP</vt:lpstr>
      <vt:lpstr>Lọc giá trị của biến</vt:lpstr>
      <vt:lpstr>Lọc: Kiểm tra tiến (Forward Checking)</vt:lpstr>
      <vt:lpstr>Filtering: Forward Checking</vt:lpstr>
      <vt:lpstr>Filtering: Forward Checking</vt:lpstr>
      <vt:lpstr>Filtering: Forward Checking</vt:lpstr>
      <vt:lpstr>Filtering: Forward Checking</vt:lpstr>
      <vt:lpstr>Filtering: Constraint Propagation (lan chuyền ràng buộc)</vt:lpstr>
      <vt:lpstr>Khái niệm Phù hợp cạnh (Arc Consistency) </vt:lpstr>
      <vt:lpstr>Phù hợp cạnh (Arc Consistency )</vt:lpstr>
      <vt:lpstr>Làm sao để làm phù hợp cạnh cho cả đồ thị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After assigning Q to Green, what gets added to the Queue?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AC-3: Enforce Arc Consistency of Entire CSP</vt:lpstr>
      <vt:lpstr>Một số đặc điểm của AC-3</vt:lpstr>
      <vt:lpstr>Thuật toán Backtracking dùng AC-3</vt:lpstr>
      <vt:lpstr>Cải tiến: Thứ tự duyệt</vt:lpstr>
      <vt:lpstr>Thứ tự: Biến có tập giá trị hợp lệ nhỏ nhất</vt:lpstr>
      <vt:lpstr>Thứ tự: Chọn giá trị ràng buộc ít nhất</vt:lpstr>
      <vt:lpstr>Cấu trúc bài toán</vt:lpstr>
      <vt:lpstr>Cấu trúc bài toán</vt:lpstr>
      <vt:lpstr>Trường hợp CSP có cấu trúc cây</vt:lpstr>
      <vt:lpstr>CSP có cấu trúc cây</vt:lpstr>
      <vt:lpstr>CSP có cấu trúc cây</vt:lpstr>
      <vt:lpstr>Tree-Structured CSPs</vt:lpstr>
      <vt:lpstr>Ràng buộc bậc cao</vt:lpstr>
      <vt:lpstr>Đồ thị ràng buộc </vt:lpstr>
      <vt:lpstr>Giải bài toán ràng buộc bậc cao</vt:lpstr>
      <vt:lpstr>Tổng kết (I)</vt:lpstr>
      <vt:lpstr>Ví dụ: Crossword</vt:lpstr>
      <vt:lpstr>Ví dụ: Crossword</vt:lpstr>
      <vt:lpstr>Tìm kiếm toàn cục đủ tốt chưa?</vt:lpstr>
      <vt:lpstr>Phù hợp đỉnh</vt:lpstr>
      <vt:lpstr>Lọc tăng dần (local search) cho cho CSP</vt:lpstr>
      <vt:lpstr>Bài tập</vt:lpstr>
      <vt:lpstr>Chuỗi ràng buộc (path consistency)</vt:lpstr>
      <vt:lpstr>Ghi chú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AI: Representation and Problem Solving</dc:title>
  <dc:creator>Rosenthal, Stephanie</dc:creator>
  <cp:lastModifiedBy>Nguyễn Việt Hà</cp:lastModifiedBy>
  <cp:revision>286</cp:revision>
  <cp:lastPrinted>2024-09-20T09:26:59Z</cp:lastPrinted>
  <dcterms:created xsi:type="dcterms:W3CDTF">2019-01-24T20:17:39Z</dcterms:created>
  <dcterms:modified xsi:type="dcterms:W3CDTF">2025-09-15T02:34:42Z</dcterms:modified>
</cp:coreProperties>
</file>