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64"/>
  </p:notesMasterIdLst>
  <p:handoutMasterIdLst>
    <p:handoutMasterId r:id="rId65"/>
  </p:handoutMasterIdLst>
  <p:sldIdLst>
    <p:sldId id="538" r:id="rId2"/>
    <p:sldId id="327" r:id="rId3"/>
    <p:sldId id="489" r:id="rId4"/>
    <p:sldId id="441" r:id="rId5"/>
    <p:sldId id="585" r:id="rId6"/>
    <p:sldId id="584" r:id="rId7"/>
    <p:sldId id="645" r:id="rId8"/>
    <p:sldId id="258" r:id="rId9"/>
    <p:sldId id="570" r:id="rId10"/>
    <p:sldId id="543" r:id="rId11"/>
    <p:sldId id="687" r:id="rId12"/>
    <p:sldId id="493" r:id="rId13"/>
    <p:sldId id="544" r:id="rId14"/>
    <p:sldId id="646" r:id="rId15"/>
    <p:sldId id="686" r:id="rId16"/>
    <p:sldId id="637" r:id="rId17"/>
    <p:sldId id="650" r:id="rId18"/>
    <p:sldId id="453" r:id="rId19"/>
    <p:sldId id="586" r:id="rId20"/>
    <p:sldId id="587" r:id="rId21"/>
    <p:sldId id="549" r:id="rId22"/>
    <p:sldId id="551" r:id="rId23"/>
    <p:sldId id="490" r:id="rId24"/>
    <p:sldId id="447" r:id="rId25"/>
    <p:sldId id="452" r:id="rId26"/>
    <p:sldId id="571" r:id="rId27"/>
    <p:sldId id="550" r:id="rId28"/>
    <p:sldId id="481" r:id="rId29"/>
    <p:sldId id="572" r:id="rId30"/>
    <p:sldId id="578" r:id="rId31"/>
    <p:sldId id="579" r:id="rId32"/>
    <p:sldId id="580" r:id="rId33"/>
    <p:sldId id="581" r:id="rId34"/>
    <p:sldId id="573" r:id="rId35"/>
    <p:sldId id="436" r:id="rId36"/>
    <p:sldId id="458" r:id="rId37"/>
    <p:sldId id="588" r:id="rId38"/>
    <p:sldId id="597" r:id="rId39"/>
    <p:sldId id="598" r:id="rId40"/>
    <p:sldId id="599" r:id="rId41"/>
    <p:sldId id="605" r:id="rId42"/>
    <p:sldId id="521" r:id="rId43"/>
    <p:sldId id="459" r:id="rId44"/>
    <p:sldId id="491" r:id="rId45"/>
    <p:sldId id="562" r:id="rId46"/>
    <p:sldId id="460" r:id="rId47"/>
    <p:sldId id="463" r:id="rId48"/>
    <p:sldId id="553" r:id="rId49"/>
    <p:sldId id="522" r:id="rId50"/>
    <p:sldId id="523" r:id="rId51"/>
    <p:sldId id="530" r:id="rId52"/>
    <p:sldId id="535" r:id="rId53"/>
    <p:sldId id="582" r:id="rId54"/>
    <p:sldId id="576" r:id="rId55"/>
    <p:sldId id="600" r:id="rId56"/>
    <p:sldId id="601" r:id="rId57"/>
    <p:sldId id="602" r:id="rId58"/>
    <p:sldId id="583" r:id="rId59"/>
    <p:sldId id="527" r:id="rId60"/>
    <p:sldId id="528" r:id="rId61"/>
    <p:sldId id="604" r:id="rId62"/>
    <p:sldId id="520" r:id="rId63"/>
  </p:sldIdLst>
  <p:sldSz cx="12192000" cy="6858000"/>
  <p:notesSz cx="7315200" cy="9601200"/>
  <p:custDataLst>
    <p:tags r:id="rId6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18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37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56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7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5943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131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320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509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2D2D8A"/>
    <a:srgbClr val="FFFFCC"/>
    <a:srgbClr val="CCFFCC"/>
    <a:srgbClr val="FFCCFF"/>
    <a:srgbClr val="FFCC99"/>
    <a:srgbClr val="99CCFF"/>
    <a:srgbClr val="CC6600"/>
    <a:srgbClr val="9966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B3CD07-4705-4F44-9D9A-33C0D430672C}" v="4268" dt="2023-02-02T01:26:59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70" autoAdjust="0"/>
    <p:restoredTop sz="91224" autoAdjust="0"/>
  </p:normalViewPr>
  <p:slideViewPr>
    <p:cSldViewPr>
      <p:cViewPr varScale="1">
        <p:scale>
          <a:sx n="68" d="100"/>
          <a:sy n="68" d="100"/>
        </p:scale>
        <p:origin x="380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28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 Tran" userId="e540d250-70c7-4be3-b4a2-b5ecbc3dd049" providerId="ADAL" clId="{BAB3CD07-4705-4F44-9D9A-33C0D430672C}"/>
    <pc:docChg chg="undo custSel addSld modSld sldOrd">
      <pc:chgData name="Long Tran" userId="e540d250-70c7-4be3-b4a2-b5ecbc3dd049" providerId="ADAL" clId="{BAB3CD07-4705-4F44-9D9A-33C0D430672C}" dt="2023-02-08T08:30:41.378" v="11525" actId="207"/>
      <pc:docMkLst>
        <pc:docMk/>
      </pc:docMkLst>
      <pc:sldChg chg="modSp mod">
        <pc:chgData name="Long Tran" userId="e540d250-70c7-4be3-b4a2-b5ecbc3dd049" providerId="ADAL" clId="{BAB3CD07-4705-4F44-9D9A-33C0D430672C}" dt="2023-02-01T05:26:09.542" v="175" actId="20577"/>
        <pc:sldMkLst>
          <pc:docMk/>
          <pc:sldMk cId="0" sldId="258"/>
        </pc:sldMkLst>
        <pc:spChg chg="mod">
          <ac:chgData name="Long Tran" userId="e540d250-70c7-4be3-b4a2-b5ecbc3dd049" providerId="ADAL" clId="{BAB3CD07-4705-4F44-9D9A-33C0D430672C}" dt="2023-02-01T05:24:56.814" v="52" actId="20577"/>
          <ac:spMkLst>
            <pc:docMk/>
            <pc:sldMk cId="0" sldId="258"/>
            <ac:spMk id="512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6:09.542" v="175" actId="20577"/>
          <ac:spMkLst>
            <pc:docMk/>
            <pc:sldMk cId="0" sldId="258"/>
            <ac:spMk id="5123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5:25:17.409" v="90" actId="167"/>
          <ac:picMkLst>
            <pc:docMk/>
            <pc:sldMk cId="0" sldId="258"/>
            <ac:picMk id="1030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9:49:26.184" v="4250" actId="14100"/>
        <pc:sldMkLst>
          <pc:docMk/>
          <pc:sldMk cId="0" sldId="436"/>
        </pc:sldMkLst>
        <pc:spChg chg="mod">
          <ac:chgData name="Long Tran" userId="e540d250-70c7-4be3-b4a2-b5ecbc3dd049" providerId="ADAL" clId="{BAB3CD07-4705-4F44-9D9A-33C0D430672C}" dt="2023-02-01T09:49:01.563" v="4221"/>
          <ac:spMkLst>
            <pc:docMk/>
            <pc:sldMk cId="0" sldId="436"/>
            <ac:spMk id="2048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9:26.184" v="4250" actId="14100"/>
          <ac:spMkLst>
            <pc:docMk/>
            <pc:sldMk cId="0" sldId="436"/>
            <ac:spMk id="2050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8:22.030" v="1218"/>
        <pc:sldMkLst>
          <pc:docMk/>
          <pc:sldMk cId="0" sldId="441"/>
        </pc:sldMkLst>
        <pc:spChg chg="mod">
          <ac:chgData name="Long Tran" userId="e540d250-70c7-4be3-b4a2-b5ecbc3dd049" providerId="ADAL" clId="{BAB3CD07-4705-4F44-9D9A-33C0D430672C}" dt="2023-02-01T05:37:55.706" v="1217" actId="20577"/>
          <ac:spMkLst>
            <pc:docMk/>
            <pc:sldMk cId="0" sldId="441"/>
            <ac:spMk id="1024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8:22.030" v="1218"/>
          <ac:spMkLst>
            <pc:docMk/>
            <pc:sldMk cId="0" sldId="441"/>
            <ac:spMk id="10245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7:05:05.719" v="2674" actId="207"/>
        <pc:sldMkLst>
          <pc:docMk/>
          <pc:sldMk cId="0" sldId="447"/>
        </pc:sldMkLst>
        <pc:spChg chg="mod">
          <ac:chgData name="Long Tran" userId="e540d250-70c7-4be3-b4a2-b5ecbc3dd049" providerId="ADAL" clId="{BAB3CD07-4705-4F44-9D9A-33C0D430672C}" dt="2023-02-01T07:04:15.685" v="2502" actId="20577"/>
          <ac:spMkLst>
            <pc:docMk/>
            <pc:sldMk cId="0" sldId="447"/>
            <ac:spMk id="1536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7:05:05.719" v="2674" actId="207"/>
          <ac:spMkLst>
            <pc:docMk/>
            <pc:sldMk cId="0" sldId="447"/>
            <ac:spMk id="798748" creationId="{00000000-0000-0000-0000-000000000000}"/>
          </ac:spMkLst>
        </pc:spChg>
      </pc:sldChg>
      <pc:sldChg chg="modSp mod modAnim">
        <pc:chgData name="Long Tran" userId="e540d250-70c7-4be3-b4a2-b5ecbc3dd049" providerId="ADAL" clId="{BAB3CD07-4705-4F44-9D9A-33C0D430672C}" dt="2023-02-01T09:28:01.562" v="2899" actId="20577"/>
        <pc:sldMkLst>
          <pc:docMk/>
          <pc:sldMk cId="0" sldId="452"/>
        </pc:sldMkLst>
        <pc:spChg chg="mod">
          <ac:chgData name="Long Tran" userId="e540d250-70c7-4be3-b4a2-b5ecbc3dd049" providerId="ADAL" clId="{BAB3CD07-4705-4F44-9D9A-33C0D430672C}" dt="2023-02-01T07:05:32.579" v="2693" actId="20577"/>
          <ac:spMkLst>
            <pc:docMk/>
            <pc:sldMk cId="0" sldId="452"/>
            <ac:spMk id="1638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28:01.562" v="2899" actId="20577"/>
          <ac:spMkLst>
            <pc:docMk/>
            <pc:sldMk cId="0" sldId="452"/>
            <ac:spMk id="803856" creationId="{00000000-0000-0000-0000-000000000000}"/>
          </ac:spMkLst>
        </pc:spChg>
      </pc:sldChg>
      <pc:sldChg chg="modSp modAnim">
        <pc:chgData name="Long Tran" userId="e540d250-70c7-4be3-b4a2-b5ecbc3dd049" providerId="ADAL" clId="{BAB3CD07-4705-4F44-9D9A-33C0D430672C}" dt="2023-02-01T05:47:15.793" v="2137" actId="20577"/>
        <pc:sldMkLst>
          <pc:docMk/>
          <pc:sldMk cId="0" sldId="453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453"/>
            <ac:spMk id="13315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7:15.793" v="2137" actId="20577"/>
          <ac:spMkLst>
            <pc:docMk/>
            <pc:sldMk cId="0" sldId="453"/>
            <ac:spMk id="13316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1:03.833" v="4516" actId="14100"/>
        <pc:sldMkLst>
          <pc:docMk/>
          <pc:sldMk cId="0" sldId="458"/>
        </pc:sldMkLst>
        <pc:spChg chg="mod">
          <ac:chgData name="Long Tran" userId="e540d250-70c7-4be3-b4a2-b5ecbc3dd049" providerId="ADAL" clId="{BAB3CD07-4705-4F44-9D9A-33C0D430672C}" dt="2023-02-01T09:49:42.326" v="4281" actId="20577"/>
          <ac:spMkLst>
            <pc:docMk/>
            <pc:sldMk cId="0" sldId="458"/>
            <ac:spMk id="2150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0:33.294" v="4485" actId="20577"/>
          <ac:spMkLst>
            <pc:docMk/>
            <pc:sldMk cId="0" sldId="458"/>
            <ac:spMk id="2150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0:43.357" v="4498" actId="14100"/>
          <ac:spMkLst>
            <pc:docMk/>
            <pc:sldMk cId="0" sldId="458"/>
            <ac:spMk id="2151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0:49.553" v="4511" actId="14100"/>
          <ac:spMkLst>
            <pc:docMk/>
            <pc:sldMk cId="0" sldId="458"/>
            <ac:spMk id="2151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1:03.833" v="4516" actId="14100"/>
          <ac:spMkLst>
            <pc:docMk/>
            <pc:sldMk cId="0" sldId="458"/>
            <ac:spMk id="2151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0:57.477" v="4514" actId="20577"/>
          <ac:spMkLst>
            <pc:docMk/>
            <pc:sldMk cId="0" sldId="458"/>
            <ac:spMk id="21518" creationId="{00000000-0000-0000-0000-000000000000}"/>
          </ac:spMkLst>
        </pc:spChg>
      </pc:sldChg>
      <pc:sldChg chg="modSp mod modAnim">
        <pc:chgData name="Long Tran" userId="e540d250-70c7-4be3-b4a2-b5ecbc3dd049" providerId="ADAL" clId="{BAB3CD07-4705-4F44-9D9A-33C0D430672C}" dt="2023-02-01T09:58:18.783" v="5198" actId="20577"/>
        <pc:sldMkLst>
          <pc:docMk/>
          <pc:sldMk cId="0" sldId="459"/>
        </pc:sldMkLst>
        <pc:spChg chg="mod">
          <ac:chgData name="Long Tran" userId="e540d250-70c7-4be3-b4a2-b5ecbc3dd049" providerId="ADAL" clId="{BAB3CD07-4705-4F44-9D9A-33C0D430672C}" dt="2023-02-01T09:58:18.783" v="5198" actId="20577"/>
          <ac:spMkLst>
            <pc:docMk/>
            <pc:sldMk cId="0" sldId="459"/>
            <ac:spMk id="2150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5:19.556" v="4942" actId="20577"/>
          <ac:spMkLst>
            <pc:docMk/>
            <pc:sldMk cId="0" sldId="459"/>
            <ac:spMk id="22530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07:05.794" v="5959" actId="207"/>
        <pc:sldMkLst>
          <pc:docMk/>
          <pc:sldMk cId="0" sldId="460"/>
        </pc:sldMkLst>
        <pc:spChg chg="mod">
          <ac:chgData name="Long Tran" userId="e540d250-70c7-4be3-b4a2-b5ecbc3dd049" providerId="ADAL" clId="{BAB3CD07-4705-4F44-9D9A-33C0D430672C}" dt="2023-02-01T10:03:27.781" v="5741"/>
          <ac:spMkLst>
            <pc:docMk/>
            <pc:sldMk cId="0" sldId="460"/>
            <ac:spMk id="2560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7:05.794" v="5959" actId="207"/>
          <ac:spMkLst>
            <pc:docMk/>
            <pc:sldMk cId="0" sldId="460"/>
            <ac:spMk id="81305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4:38.817" v="5906" actId="1076"/>
          <ac:spMkLst>
            <pc:docMk/>
            <pc:sldMk cId="0" sldId="460"/>
            <ac:spMk id="813061" creationId="{00000000-0000-0000-0000-000000000000}"/>
          </ac:spMkLst>
        </pc:spChg>
        <pc:graphicFrameChg chg="mod modGraphic">
          <ac:chgData name="Long Tran" userId="e540d250-70c7-4be3-b4a2-b5ecbc3dd049" providerId="ADAL" clId="{BAB3CD07-4705-4F44-9D9A-33C0D430672C}" dt="2023-02-01T10:06:45.257" v="5958" actId="1035"/>
          <ac:graphicFrameMkLst>
            <pc:docMk/>
            <pc:sldMk cId="0" sldId="460"/>
            <ac:graphicFrameMk id="813133" creationId="{00000000-0000-0000-0000-000000000000}"/>
          </ac:graphicFrameMkLst>
        </pc:graphicFrameChg>
      </pc:sldChg>
      <pc:sldChg chg="modSp mod modShow">
        <pc:chgData name="Long Tran" userId="e540d250-70c7-4be3-b4a2-b5ecbc3dd049" providerId="ADAL" clId="{BAB3CD07-4705-4F44-9D9A-33C0D430672C}" dt="2023-02-01T10:09:39.673" v="6419" actId="729"/>
        <pc:sldMkLst>
          <pc:docMk/>
          <pc:sldMk cId="0" sldId="461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461"/>
            <ac:spMk id="2765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461"/>
            <ac:spMk id="27651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09:19.011" v="6417" actId="20577"/>
        <pc:sldMkLst>
          <pc:docMk/>
          <pc:sldMk cId="0" sldId="463"/>
        </pc:sldMkLst>
        <pc:spChg chg="mod">
          <ac:chgData name="Long Tran" userId="e540d250-70c7-4be3-b4a2-b5ecbc3dd049" providerId="ADAL" clId="{BAB3CD07-4705-4F44-9D9A-33C0D430672C}" dt="2023-02-01T10:07:19.046" v="5960"/>
          <ac:spMkLst>
            <pc:docMk/>
            <pc:sldMk cId="0" sldId="463"/>
            <ac:spMk id="2662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9:19.011" v="6417" actId="20577"/>
          <ac:spMkLst>
            <pc:docMk/>
            <pc:sldMk cId="0" sldId="463"/>
            <ac:spMk id="817155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35:18.859" v="3461" actId="20577"/>
        <pc:sldMkLst>
          <pc:docMk/>
          <pc:sldMk cId="0" sldId="481"/>
        </pc:sldMkLst>
        <pc:spChg chg="mod">
          <ac:chgData name="Long Tran" userId="e540d250-70c7-4be3-b4a2-b5ecbc3dd049" providerId="ADAL" clId="{BAB3CD07-4705-4F44-9D9A-33C0D430672C}" dt="2023-02-01T09:35:05.763" v="3412" actId="20577"/>
          <ac:spMkLst>
            <pc:docMk/>
            <pc:sldMk cId="0" sldId="481"/>
            <ac:spMk id="1638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35:18.859" v="3461" actId="20577"/>
          <ac:spMkLst>
            <pc:docMk/>
            <pc:sldMk cId="0" sldId="481"/>
            <ac:spMk id="17410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9:34:27.745" v="3279" actId="1037"/>
          <ac:picMkLst>
            <pc:docMk/>
            <pc:sldMk cId="0" sldId="481"/>
            <ac:picMk id="17413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5:31:32.449" v="759" actId="20577"/>
        <pc:sldMkLst>
          <pc:docMk/>
          <pc:sldMk cId="0" sldId="489"/>
        </pc:sldMkLst>
        <pc:spChg chg="mod">
          <ac:chgData name="Long Tran" userId="e540d250-70c7-4be3-b4a2-b5ecbc3dd049" providerId="ADAL" clId="{BAB3CD07-4705-4F44-9D9A-33C0D430672C}" dt="2023-02-01T05:27:13.651" v="206"/>
          <ac:spMkLst>
            <pc:docMk/>
            <pc:sldMk cId="0" sldId="489"/>
            <ac:spMk id="614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1:32.449" v="759" actId="20577"/>
          <ac:spMkLst>
            <pc:docMk/>
            <pc:sldMk cId="0" sldId="489"/>
            <ac:spMk id="614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7:03:24.314" v="2473" actId="20577"/>
        <pc:sldMkLst>
          <pc:docMk/>
          <pc:sldMk cId="0" sldId="490"/>
        </pc:sldMkLst>
        <pc:spChg chg="mod">
          <ac:chgData name="Long Tran" userId="e540d250-70c7-4be3-b4a2-b5ecbc3dd049" providerId="ADAL" clId="{BAB3CD07-4705-4F44-9D9A-33C0D430672C}" dt="2023-02-01T07:00:51.541" v="2248" actId="20577"/>
          <ac:spMkLst>
            <pc:docMk/>
            <pc:sldMk cId="0" sldId="490"/>
            <ac:spMk id="1434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7:03:24.314" v="2473" actId="20577"/>
          <ac:spMkLst>
            <pc:docMk/>
            <pc:sldMk cId="0" sldId="490"/>
            <ac:spMk id="1437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7:03:18.199" v="2461" actId="20577"/>
          <ac:spMkLst>
            <pc:docMk/>
            <pc:sldMk cId="0" sldId="490"/>
            <ac:spMk id="85299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9:48.281" v="5456" actId="20577"/>
        <pc:sldMkLst>
          <pc:docMk/>
          <pc:sldMk cId="0" sldId="491"/>
        </pc:sldMkLst>
        <pc:spChg chg="mod">
          <ac:chgData name="Long Tran" userId="e540d250-70c7-4be3-b4a2-b5ecbc3dd049" providerId="ADAL" clId="{BAB3CD07-4705-4F44-9D9A-33C0D430672C}" dt="2023-02-01T09:58:52.994" v="5248" actId="14100"/>
          <ac:spMkLst>
            <pc:docMk/>
            <pc:sldMk cId="0" sldId="491"/>
            <ac:spMk id="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9:08.704" v="5293" actId="1037"/>
          <ac:spMkLst>
            <pc:docMk/>
            <pc:sldMk cId="0" sldId="491"/>
            <ac:spMk id="1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8:56.452" v="5261" actId="20577"/>
          <ac:spMkLst>
            <pc:docMk/>
            <pc:sldMk cId="0" sldId="491"/>
            <ac:spMk id="1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8:39.346" v="5222" actId="20577"/>
          <ac:spMkLst>
            <pc:docMk/>
            <pc:sldMk cId="0" sldId="491"/>
            <ac:spMk id="2355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9:48.281" v="5456" actId="20577"/>
          <ac:spMkLst>
            <pc:docMk/>
            <pc:sldMk cId="0" sldId="491"/>
            <ac:spMk id="23555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43:29.275" v="1681" actId="790"/>
        <pc:sldMkLst>
          <pc:docMk/>
          <pc:sldMk cId="0" sldId="493"/>
        </pc:sldMkLst>
        <pc:spChg chg="mod">
          <ac:chgData name="Long Tran" userId="e540d250-70c7-4be3-b4a2-b5ecbc3dd049" providerId="ADAL" clId="{BAB3CD07-4705-4F44-9D9A-33C0D430672C}" dt="2023-02-01T05:43:29.275" v="1681" actId="790"/>
          <ac:spMkLst>
            <pc:docMk/>
            <pc:sldMk cId="0" sldId="493"/>
            <ac:spMk id="10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3:29.275" v="1681" actId="790"/>
          <ac:spMkLst>
            <pc:docMk/>
            <pc:sldMk cId="0" sldId="493"/>
            <ac:spMk id="15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3:29.275" v="1681" actId="790"/>
          <ac:spMkLst>
            <pc:docMk/>
            <pc:sldMk cId="0" sldId="493"/>
            <ac:spMk id="11266" creationId="{00000000-0000-0000-0000-000000000000}"/>
          </ac:spMkLst>
        </pc:s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26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79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81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88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94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96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98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99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301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311" creationId="{00000000-0000-0000-0000-000000000000}"/>
          </ac:grpSpMkLst>
        </pc:grp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8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9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0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1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3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5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6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21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22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23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2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38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2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3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5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6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7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63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65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69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71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79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8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86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06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10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12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15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17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20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22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2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29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30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3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38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42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44" creationId="{00000000-0000-0000-0000-000000000000}"/>
          </ac:cxnSpMkLst>
        </pc:cxnChg>
      </pc:sldChg>
      <pc:sldChg chg="modSp mod modNotesTx">
        <pc:chgData name="Long Tran" userId="e540d250-70c7-4be3-b4a2-b5ecbc3dd049" providerId="ADAL" clId="{BAB3CD07-4705-4F44-9D9A-33C0D430672C}" dt="2023-02-01T05:35:49.798" v="1140" actId="20577"/>
        <pc:sldMkLst>
          <pc:docMk/>
          <pc:sldMk cId="0" sldId="494"/>
        </pc:sldMkLst>
        <pc:spChg chg="mod">
          <ac:chgData name="Long Tran" userId="e540d250-70c7-4be3-b4a2-b5ecbc3dd049" providerId="ADAL" clId="{BAB3CD07-4705-4F44-9D9A-33C0D430672C}" dt="2023-02-01T05:35:45.490" v="1139" actId="20577"/>
          <ac:spMkLst>
            <pc:docMk/>
            <pc:sldMk cId="0" sldId="494"/>
            <ac:spMk id="7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4:36.941" v="1027" actId="20577"/>
          <ac:spMkLst>
            <pc:docMk/>
            <pc:sldMk cId="0" sldId="494"/>
            <ac:spMk id="12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5:17.045" v="1076" actId="14100"/>
          <ac:spMkLst>
            <pc:docMk/>
            <pc:sldMk cId="0" sldId="494"/>
            <ac:spMk id="12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3:32.698" v="965" actId="20577"/>
          <ac:spMkLst>
            <pc:docMk/>
            <pc:sldMk cId="0" sldId="494"/>
            <ac:spMk id="9219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4:01.520" v="990" actId="20577"/>
        <pc:sldMkLst>
          <pc:docMk/>
          <pc:sldMk cId="0" sldId="515"/>
        </pc:sldMkLst>
        <pc:spChg chg="mod">
          <ac:chgData name="Long Tran" userId="e540d250-70c7-4be3-b4a2-b5ecbc3dd049" providerId="ADAL" clId="{BAB3CD07-4705-4F44-9D9A-33C0D430672C}" dt="2023-02-01T05:32:11.314" v="807" actId="20577"/>
          <ac:spMkLst>
            <pc:docMk/>
            <pc:sldMk cId="0" sldId="515"/>
            <ac:spMk id="717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4:01.520" v="990" actId="20577"/>
          <ac:spMkLst>
            <pc:docMk/>
            <pc:sldMk cId="0" sldId="515"/>
            <ac:spMk id="719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3:22.232" v="927" actId="20577"/>
        <pc:sldMkLst>
          <pc:docMk/>
          <pc:sldMk cId="4046642181" sldId="520"/>
        </pc:sldMkLst>
        <pc:spChg chg="mod">
          <ac:chgData name="Long Tran" userId="e540d250-70c7-4be3-b4a2-b5ecbc3dd049" providerId="ADAL" clId="{BAB3CD07-4705-4F44-9D9A-33C0D430672C}" dt="2023-02-01T05:33:01.820" v="843"/>
          <ac:spMkLst>
            <pc:docMk/>
            <pc:sldMk cId="4046642181" sldId="520"/>
            <ac:spMk id="819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3:22.232" v="927" actId="20577"/>
          <ac:spMkLst>
            <pc:docMk/>
            <pc:sldMk cId="4046642181" sldId="520"/>
            <ac:spMk id="8253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3:42.613" v="4809" actId="20577"/>
        <pc:sldMkLst>
          <pc:docMk/>
          <pc:sldMk cId="0" sldId="521"/>
        </pc:sldMkLst>
        <pc:spChg chg="mod">
          <ac:chgData name="Long Tran" userId="e540d250-70c7-4be3-b4a2-b5ecbc3dd049" providerId="ADAL" clId="{BAB3CD07-4705-4F44-9D9A-33C0D430672C}" dt="2023-02-01T09:52:58.990" v="4631"/>
          <ac:spMkLst>
            <pc:docMk/>
            <pc:sldMk cId="0" sldId="521"/>
            <ac:spMk id="2867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3:42.613" v="4809" actId="20577"/>
          <ac:spMkLst>
            <pc:docMk/>
            <pc:sldMk cId="0" sldId="521"/>
            <ac:spMk id="28675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11:54.658" v="6687" actId="20577"/>
        <pc:sldMkLst>
          <pc:docMk/>
          <pc:sldMk cId="0" sldId="522"/>
        </pc:sldMkLst>
        <pc:spChg chg="mod">
          <ac:chgData name="Long Tran" userId="e540d250-70c7-4be3-b4a2-b5ecbc3dd049" providerId="ADAL" clId="{BAB3CD07-4705-4F44-9D9A-33C0D430672C}" dt="2023-02-01T10:11:54.658" v="6687" actId="20577"/>
          <ac:spMkLst>
            <pc:docMk/>
            <pc:sldMk cId="0" sldId="522"/>
            <ac:spMk id="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1:50.499" v="6671" actId="20577"/>
          <ac:spMkLst>
            <pc:docMk/>
            <pc:sldMk cId="0" sldId="522"/>
            <ac:spMk id="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0:49.701" v="6525" actId="20577"/>
          <ac:spMkLst>
            <pc:docMk/>
            <pc:sldMk cId="0" sldId="522"/>
            <ac:spMk id="2969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1:32.915" v="6648" actId="20577"/>
          <ac:spMkLst>
            <pc:docMk/>
            <pc:sldMk cId="0" sldId="522"/>
            <ac:spMk id="29699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12:41.729" v="6820" actId="20577"/>
        <pc:sldMkLst>
          <pc:docMk/>
          <pc:sldMk cId="0" sldId="523"/>
        </pc:sldMkLst>
        <pc:spChg chg="mod">
          <ac:chgData name="Long Tran" userId="e540d250-70c7-4be3-b4a2-b5ecbc3dd049" providerId="ADAL" clId="{BAB3CD07-4705-4F44-9D9A-33C0D430672C}" dt="2023-02-01T10:12:17.081" v="6715" actId="20577"/>
          <ac:spMkLst>
            <pc:docMk/>
            <pc:sldMk cId="0" sldId="523"/>
            <ac:spMk id="3072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2:41.729" v="6820" actId="20577"/>
          <ac:spMkLst>
            <pc:docMk/>
            <pc:sldMk cId="0" sldId="523"/>
            <ac:spMk id="30723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2T01:28:50.465" v="11521" actId="20577"/>
        <pc:sldMkLst>
          <pc:docMk/>
          <pc:sldMk cId="0" sldId="527"/>
        </pc:sldMkLst>
        <pc:spChg chg="mod">
          <ac:chgData name="Long Tran" userId="e540d250-70c7-4be3-b4a2-b5ecbc3dd049" providerId="ADAL" clId="{BAB3CD07-4705-4F44-9D9A-33C0D430672C}" dt="2023-02-01T10:25:48.219" v="8393" actId="20577"/>
          <ac:spMkLst>
            <pc:docMk/>
            <pc:sldMk cId="0" sldId="527"/>
            <ac:spMk id="3686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8:50.465" v="11521" actId="20577"/>
          <ac:spMkLst>
            <pc:docMk/>
            <pc:sldMk cId="0" sldId="527"/>
            <ac:spMk id="3686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2T01:29:02.412" v="11522"/>
        <pc:sldMkLst>
          <pc:docMk/>
          <pc:sldMk cId="0" sldId="528"/>
        </pc:sldMkLst>
        <pc:spChg chg="mod">
          <ac:chgData name="Long Tran" userId="e540d250-70c7-4be3-b4a2-b5ecbc3dd049" providerId="ADAL" clId="{BAB3CD07-4705-4F44-9D9A-33C0D430672C}" dt="2023-02-01T10:30:02.430" v="8771"/>
          <ac:spMkLst>
            <pc:docMk/>
            <pc:sldMk cId="0" sldId="528"/>
            <ac:spMk id="3789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9:02.412" v="11522"/>
          <ac:spMkLst>
            <pc:docMk/>
            <pc:sldMk cId="0" sldId="528"/>
            <ac:spMk id="37891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4:26.590" v="4862" actId="20577"/>
        <pc:sldMkLst>
          <pc:docMk/>
          <pc:sldMk cId="0" sldId="529"/>
        </pc:sldMkLst>
        <pc:spChg chg="mod">
          <ac:chgData name="Long Tran" userId="e540d250-70c7-4be3-b4a2-b5ecbc3dd049" providerId="ADAL" clId="{BAB3CD07-4705-4F44-9D9A-33C0D430672C}" dt="2023-02-01T09:54:26.590" v="4862" actId="20577"/>
          <ac:spMkLst>
            <pc:docMk/>
            <pc:sldMk cId="0" sldId="529"/>
            <ac:spMk id="38914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17:16.217" v="7405" actId="20577"/>
        <pc:sldMkLst>
          <pc:docMk/>
          <pc:sldMk cId="0" sldId="530"/>
        </pc:sldMkLst>
        <pc:spChg chg="mod">
          <ac:chgData name="Long Tran" userId="e540d250-70c7-4be3-b4a2-b5ecbc3dd049" providerId="ADAL" clId="{BAB3CD07-4705-4F44-9D9A-33C0D430672C}" dt="2023-02-01T10:17:16.217" v="7405" actId="20577"/>
          <ac:spMkLst>
            <pc:docMk/>
            <pc:sldMk cId="0" sldId="530"/>
            <ac:spMk id="2969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3:57.942" v="6821"/>
          <ac:spMkLst>
            <pc:docMk/>
            <pc:sldMk cId="0" sldId="530"/>
            <ac:spMk id="31746" creationId="{00000000-0000-0000-0000-000000000000}"/>
          </ac:spMkLst>
        </pc:spChg>
      </pc:sldChg>
      <pc:sldChg chg="modSp">
        <pc:chgData name="Long Tran" userId="e540d250-70c7-4be3-b4a2-b5ecbc3dd049" providerId="ADAL" clId="{BAB3CD07-4705-4F44-9D9A-33C0D430672C}" dt="2023-02-01T05:22:54.888" v="0" actId="790"/>
        <pc:sldMkLst>
          <pc:docMk/>
          <pc:sldMk cId="0" sldId="531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1"/>
            <ac:spMk id="4198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1"/>
            <ac:spMk id="41988" creationId="{00000000-0000-0000-0000-000000000000}"/>
          </ac:spMkLst>
        </pc:spChg>
      </pc:sldChg>
      <pc:sldChg chg="modSp">
        <pc:chgData name="Long Tran" userId="e540d250-70c7-4be3-b4a2-b5ecbc3dd049" providerId="ADAL" clId="{BAB3CD07-4705-4F44-9D9A-33C0D430672C}" dt="2023-02-01T05:22:54.888" v="0" actId="790"/>
        <pc:sldMkLst>
          <pc:docMk/>
          <pc:sldMk cId="0" sldId="533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3"/>
            <ac:spMk id="3584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3"/>
            <ac:spMk id="782339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17:52.821" v="7495" actId="20577"/>
        <pc:sldMkLst>
          <pc:docMk/>
          <pc:sldMk cId="0" sldId="535"/>
        </pc:sldMkLst>
        <pc:spChg chg="mod">
          <ac:chgData name="Long Tran" userId="e540d250-70c7-4be3-b4a2-b5ecbc3dd049" providerId="ADAL" clId="{BAB3CD07-4705-4F44-9D9A-33C0D430672C}" dt="2023-02-01T10:17:52.821" v="7495" actId="20577"/>
          <ac:spMkLst>
            <pc:docMk/>
            <pc:sldMk cId="0" sldId="535"/>
            <ac:spMk id="8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7:43.898" v="7454" actId="20577"/>
          <ac:spMkLst>
            <pc:docMk/>
            <pc:sldMk cId="0" sldId="535"/>
            <ac:spMk id="3379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7:48.583" v="7477" actId="20577"/>
          <ac:spMkLst>
            <pc:docMk/>
            <pc:sldMk cId="0" sldId="535"/>
            <ac:spMk id="33817" creationId="{00000000-0000-0000-0000-000000000000}"/>
          </ac:spMkLst>
        </pc:spChg>
      </pc:sldChg>
      <pc:sldChg chg="modSp">
        <pc:chgData name="Long Tran" userId="e540d250-70c7-4be3-b4a2-b5ecbc3dd049" providerId="ADAL" clId="{BAB3CD07-4705-4F44-9D9A-33C0D430672C}" dt="2023-02-01T05:22:54.888" v="0" actId="790"/>
        <pc:sldMkLst>
          <pc:docMk/>
          <pc:sldMk cId="0" sldId="537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7"/>
            <ac:spMk id="307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7"/>
            <ac:spMk id="614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23:56.086" v="42" actId="1076"/>
        <pc:sldMkLst>
          <pc:docMk/>
          <pc:sldMk cId="0" sldId="538"/>
        </pc:sldMkLst>
        <pc:spChg chg="mod">
          <ac:chgData name="Long Tran" userId="e540d250-70c7-4be3-b4a2-b5ecbc3dd049" providerId="ADAL" clId="{BAB3CD07-4705-4F44-9D9A-33C0D430672C}" dt="2023-02-01T05:23:56.086" v="42" actId="1076"/>
          <ac:spMkLst>
            <pc:docMk/>
            <pc:sldMk cId="0" sldId="538"/>
            <ac:spMk id="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3:27.206" v="2" actId="20577"/>
          <ac:spMkLst>
            <pc:docMk/>
            <pc:sldMk cId="0" sldId="538"/>
            <ac:spMk id="512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3:36.622" v="38" actId="20577"/>
          <ac:spMkLst>
            <pc:docMk/>
            <pc:sldMk cId="0" sldId="538"/>
            <ac:spMk id="5123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2:57.114" v="842"/>
        <pc:sldMkLst>
          <pc:docMk/>
          <pc:sldMk cId="0" sldId="539"/>
        </pc:sldMkLst>
        <pc:spChg chg="mod">
          <ac:chgData name="Long Tran" userId="e540d250-70c7-4be3-b4a2-b5ecbc3dd049" providerId="ADAL" clId="{BAB3CD07-4705-4F44-9D9A-33C0D430672C}" dt="2023-02-01T05:32:57.114" v="842"/>
          <ac:spMkLst>
            <pc:docMk/>
            <pc:sldMk cId="0" sldId="539"/>
            <ac:spMk id="7170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6:44.618" v="1143"/>
        <pc:sldMkLst>
          <pc:docMk/>
          <pc:sldMk cId="0" sldId="541"/>
        </pc:sldMkLst>
        <pc:spChg chg="mod">
          <ac:chgData name="Long Tran" userId="e540d250-70c7-4be3-b4a2-b5ecbc3dd049" providerId="ADAL" clId="{BAB3CD07-4705-4F44-9D9A-33C0D430672C}" dt="2023-02-01T05:36:30.416" v="1141"/>
          <ac:spMkLst>
            <pc:docMk/>
            <pc:sldMk cId="0" sldId="541"/>
            <ac:spMk id="2969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6:44.618" v="1143"/>
          <ac:spMkLst>
            <pc:docMk/>
            <pc:sldMk cId="0" sldId="541"/>
            <ac:spMk id="29711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41:11.468" v="1566" actId="790"/>
        <pc:sldMkLst>
          <pc:docMk/>
          <pc:sldMk cId="0" sldId="543"/>
        </pc:sldMkLst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1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3277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3277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3277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32779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44:05.901" v="1717" actId="20577"/>
        <pc:sldMkLst>
          <pc:docMk/>
          <pc:sldMk cId="0" sldId="544"/>
        </pc:sldMkLst>
        <pc:spChg chg="mod">
          <ac:chgData name="Long Tran" userId="e540d250-70c7-4be3-b4a2-b5ecbc3dd049" providerId="ADAL" clId="{BAB3CD07-4705-4F44-9D9A-33C0D430672C}" dt="2023-02-01T05:44:05.901" v="1717" actId="20577"/>
          <ac:spMkLst>
            <pc:docMk/>
            <pc:sldMk cId="0" sldId="544"/>
            <ac:spMk id="2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5:43:53.141" v="1682" actId="167"/>
          <ac:picMkLst>
            <pc:docMk/>
            <pc:sldMk cId="0" sldId="544"/>
            <ac:picMk id="5" creationId="{00000000-0000-0000-0000-000000000000}"/>
          </ac:picMkLst>
        </pc:picChg>
      </pc:sldChg>
      <pc:sldChg chg="modSp mod modAnim">
        <pc:chgData name="Long Tran" userId="e540d250-70c7-4be3-b4a2-b5ecbc3dd049" providerId="ADAL" clId="{BAB3CD07-4705-4F44-9D9A-33C0D430672C}" dt="2023-02-01T05:45:13.716" v="1821" actId="20577"/>
        <pc:sldMkLst>
          <pc:docMk/>
          <pc:sldMk cId="0" sldId="546"/>
        </pc:sldMkLst>
        <pc:spChg chg="mod">
          <ac:chgData name="Long Tran" userId="e540d250-70c7-4be3-b4a2-b5ecbc3dd049" providerId="ADAL" clId="{BAB3CD07-4705-4F44-9D9A-33C0D430672C}" dt="2023-02-01T05:44:31.405" v="1738" actId="20577"/>
          <ac:spMkLst>
            <pc:docMk/>
            <pc:sldMk cId="0" sldId="546"/>
            <ac:spMk id="3481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5:13.716" v="1821" actId="20577"/>
          <ac:spMkLst>
            <pc:docMk/>
            <pc:sldMk cId="0" sldId="546"/>
            <ac:spMk id="816131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7:02.919" v="1160" actId="20577"/>
        <pc:sldMkLst>
          <pc:docMk/>
          <pc:sldMk cId="0" sldId="547"/>
        </pc:sldMkLst>
        <pc:spChg chg="mod">
          <ac:chgData name="Long Tran" userId="e540d250-70c7-4be3-b4a2-b5ecbc3dd049" providerId="ADAL" clId="{BAB3CD07-4705-4F44-9D9A-33C0D430672C}" dt="2023-02-01T05:37:02.919" v="1160" actId="20577"/>
          <ac:spMkLst>
            <pc:docMk/>
            <pc:sldMk cId="0" sldId="547"/>
            <ac:spMk id="2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5:36:58.590" v="1145" actId="167"/>
          <ac:picMkLst>
            <pc:docMk/>
            <pc:sldMk cId="0" sldId="547"/>
            <ac:picMk id="15364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6:58:19.966" v="2229" actId="20577"/>
        <pc:sldMkLst>
          <pc:docMk/>
          <pc:sldMk cId="0" sldId="549"/>
        </pc:sldMkLst>
        <pc:spChg chg="mod">
          <ac:chgData name="Long Tran" userId="e540d250-70c7-4be3-b4a2-b5ecbc3dd049" providerId="ADAL" clId="{BAB3CD07-4705-4F44-9D9A-33C0D430672C}" dt="2023-02-01T06:58:19.966" v="2229" actId="20577"/>
          <ac:spMkLst>
            <pc:docMk/>
            <pc:sldMk cId="0" sldId="549"/>
            <ac:spMk id="2" creationId="{00000000-0000-0000-0000-000000000000}"/>
          </ac:spMkLst>
        </pc:spChg>
        <pc:picChg chg="mod modCrop">
          <ac:chgData name="Long Tran" userId="e540d250-70c7-4be3-b4a2-b5ecbc3dd049" providerId="ADAL" clId="{BAB3CD07-4705-4F44-9D9A-33C0D430672C}" dt="2023-02-01T06:58:08.455" v="2199" actId="732"/>
          <ac:picMkLst>
            <pc:docMk/>
            <pc:sldMk cId="0" sldId="549"/>
            <ac:picMk id="5123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9:32:03.486" v="3206" actId="20577"/>
        <pc:sldMkLst>
          <pc:docMk/>
          <pc:sldMk cId="0" sldId="550"/>
        </pc:sldMkLst>
        <pc:spChg chg="mod">
          <ac:chgData name="Long Tran" userId="e540d250-70c7-4be3-b4a2-b5ecbc3dd049" providerId="ADAL" clId="{BAB3CD07-4705-4F44-9D9A-33C0D430672C}" dt="2023-02-01T09:28:40.285" v="2978" actId="20577"/>
          <ac:spMkLst>
            <pc:docMk/>
            <pc:sldMk cId="0" sldId="550"/>
            <ac:spMk id="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29:58.282" v="3113" actId="20577"/>
          <ac:spMkLst>
            <pc:docMk/>
            <pc:sldMk cId="0" sldId="550"/>
            <ac:spMk id="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32:03.486" v="3206" actId="20577"/>
          <ac:spMkLst>
            <pc:docMk/>
            <pc:sldMk cId="0" sldId="550"/>
            <ac:spMk id="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7:00:37.359" v="2230"/>
        <pc:sldMkLst>
          <pc:docMk/>
          <pc:sldMk cId="0" sldId="551"/>
        </pc:sldMkLst>
        <pc:spChg chg="mod">
          <ac:chgData name="Long Tran" userId="e540d250-70c7-4be3-b4a2-b5ecbc3dd049" providerId="ADAL" clId="{BAB3CD07-4705-4F44-9D9A-33C0D430672C}" dt="2023-02-01T07:00:37.359" v="2230"/>
          <ac:spMkLst>
            <pc:docMk/>
            <pc:sldMk cId="0" sldId="551"/>
            <ac:spMk id="512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4:42.417" v="4891" actId="20577"/>
        <pc:sldMkLst>
          <pc:docMk/>
          <pc:sldMk cId="0" sldId="552"/>
        </pc:sldMkLst>
        <pc:spChg chg="mod">
          <ac:chgData name="Long Tran" userId="e540d250-70c7-4be3-b4a2-b5ecbc3dd049" providerId="ADAL" clId="{BAB3CD07-4705-4F44-9D9A-33C0D430672C}" dt="2023-02-01T09:54:42.417" v="4891" actId="20577"/>
          <ac:spMkLst>
            <pc:docMk/>
            <pc:sldMk cId="0" sldId="552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09:48.260" v="6447" actId="20577"/>
        <pc:sldMkLst>
          <pc:docMk/>
          <pc:sldMk cId="0" sldId="553"/>
        </pc:sldMkLst>
        <pc:spChg chg="mod">
          <ac:chgData name="Long Tran" userId="e540d250-70c7-4be3-b4a2-b5ecbc3dd049" providerId="ADAL" clId="{BAB3CD07-4705-4F44-9D9A-33C0D430672C}" dt="2023-02-01T10:09:48.260" v="6447" actId="20577"/>
          <ac:spMkLst>
            <pc:docMk/>
            <pc:sldMk cId="0" sldId="553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41:40.466" v="1595" actId="1037"/>
        <pc:sldMkLst>
          <pc:docMk/>
          <pc:sldMk cId="0" sldId="556"/>
        </pc:sldMkLst>
        <pc:spChg chg="mod">
          <ac:chgData name="Long Tran" userId="e540d250-70c7-4be3-b4a2-b5ecbc3dd049" providerId="ADAL" clId="{BAB3CD07-4705-4F44-9D9A-33C0D430672C}" dt="2023-02-01T05:41:40.466" v="1595" actId="1037"/>
          <ac:spMkLst>
            <pc:docMk/>
            <pc:sldMk cId="0" sldId="556"/>
            <ac:spMk id="12290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44:23.019" v="1718"/>
        <pc:sldMkLst>
          <pc:docMk/>
          <pc:sldMk cId="0" sldId="557"/>
        </pc:sldMkLst>
        <pc:spChg chg="mod">
          <ac:chgData name="Long Tran" userId="e540d250-70c7-4be3-b4a2-b5ecbc3dd049" providerId="ADAL" clId="{BAB3CD07-4705-4F44-9D9A-33C0D430672C}" dt="2023-02-01T05:44:23.019" v="1718"/>
          <ac:spMkLst>
            <pc:docMk/>
            <pc:sldMk cId="0" sldId="557"/>
            <ac:spMk id="12290" creationId="{00000000-0000-0000-0000-000000000000}"/>
          </ac:spMkLst>
        </pc:spChg>
      </pc:sldChg>
      <pc:sldChg chg="addSp delSp modSp mod delAnim modAnim">
        <pc:chgData name="Long Tran" userId="e540d250-70c7-4be3-b4a2-b5ecbc3dd049" providerId="ADAL" clId="{BAB3CD07-4705-4F44-9D9A-33C0D430672C}" dt="2023-02-01T10:05:30.092" v="5946" actId="20577"/>
        <pc:sldMkLst>
          <pc:docMk/>
          <pc:sldMk cId="0" sldId="562"/>
        </pc:sldMkLst>
        <pc:spChg chg="add del mod">
          <ac:chgData name="Long Tran" userId="e540d250-70c7-4be3-b4a2-b5ecbc3dd049" providerId="ADAL" clId="{BAB3CD07-4705-4F44-9D9A-33C0D430672C}" dt="2023-02-01T10:01:07.168" v="5542" actId="478"/>
          <ac:spMkLst>
            <pc:docMk/>
            <pc:sldMk cId="0" sldId="562"/>
            <ac:spMk id="2" creationId="{7B48EB91-61BA-8212-8153-6880413B4675}"/>
          </ac:spMkLst>
        </pc:spChg>
        <pc:spChg chg="mod">
          <ac:chgData name="Long Tran" userId="e540d250-70c7-4be3-b4a2-b5ecbc3dd049" providerId="ADAL" clId="{BAB3CD07-4705-4F44-9D9A-33C0D430672C}" dt="2023-02-01T10:01:58.824" v="5611" actId="14100"/>
          <ac:spMkLst>
            <pc:docMk/>
            <pc:sldMk cId="0" sldId="562"/>
            <ac:spMk id="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2:05.825" v="5635" actId="14100"/>
          <ac:spMkLst>
            <pc:docMk/>
            <pc:sldMk cId="0" sldId="562"/>
            <ac:spMk id="1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0:10.852" v="5459"/>
          <ac:spMkLst>
            <pc:docMk/>
            <pc:sldMk cId="0" sldId="562"/>
            <ac:spMk id="2457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1:49.667" v="5585" actId="113"/>
          <ac:spMkLst>
            <pc:docMk/>
            <pc:sldMk cId="0" sldId="562"/>
            <ac:spMk id="81920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1:21.824" v="5544" actId="1035"/>
          <ac:spMkLst>
            <pc:docMk/>
            <pc:sldMk cId="0" sldId="562"/>
            <ac:spMk id="819206" creationId="{00000000-0000-0000-0000-000000000000}"/>
          </ac:spMkLst>
        </pc:spChg>
        <pc:graphicFrameChg chg="mod modGraphic">
          <ac:chgData name="Long Tran" userId="e540d250-70c7-4be3-b4a2-b5ecbc3dd049" providerId="ADAL" clId="{BAB3CD07-4705-4F44-9D9A-33C0D430672C}" dt="2023-02-01T10:05:30.092" v="5946" actId="20577"/>
          <ac:graphicFrameMkLst>
            <pc:docMk/>
            <pc:sldMk cId="0" sldId="562"/>
            <ac:graphicFrameMk id="819294" creationId="{00000000-0000-0000-0000-000000000000}"/>
          </ac:graphicFrameMkLst>
        </pc:graphicFrameChg>
      </pc:sldChg>
      <pc:sldChg chg="modSp mod">
        <pc:chgData name="Long Tran" userId="e540d250-70c7-4be3-b4a2-b5ecbc3dd049" providerId="ADAL" clId="{BAB3CD07-4705-4F44-9D9A-33C0D430672C}" dt="2023-02-01T05:27:03.135" v="205" actId="20577"/>
        <pc:sldMkLst>
          <pc:docMk/>
          <pc:sldMk cId="3639268594" sldId="569"/>
        </pc:sldMkLst>
        <pc:spChg chg="mod">
          <ac:chgData name="Long Tran" userId="e540d250-70c7-4be3-b4a2-b5ecbc3dd049" providerId="ADAL" clId="{BAB3CD07-4705-4F44-9D9A-33C0D430672C}" dt="2023-02-01T05:27:03.135" v="205" actId="20577"/>
          <ac:spMkLst>
            <pc:docMk/>
            <pc:sldMk cId="3639268594" sldId="569"/>
            <ac:spMk id="6146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5:26:52.113" v="177" actId="1076"/>
          <ac:picMkLst>
            <pc:docMk/>
            <pc:sldMk cId="3639268594" sldId="569"/>
            <ac:picMk id="16386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5:39:27.384" v="1315" actId="20577"/>
        <pc:sldMkLst>
          <pc:docMk/>
          <pc:sldMk cId="1518584122" sldId="570"/>
        </pc:sldMkLst>
        <pc:spChg chg="mod">
          <ac:chgData name="Long Tran" userId="e540d250-70c7-4be3-b4a2-b5ecbc3dd049" providerId="ADAL" clId="{BAB3CD07-4705-4F44-9D9A-33C0D430672C}" dt="2023-02-01T05:39:27.384" v="1315" actId="20577"/>
          <ac:spMkLst>
            <pc:docMk/>
            <pc:sldMk cId="1518584122" sldId="570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28:17.166" v="2939" actId="20577"/>
        <pc:sldMkLst>
          <pc:docMk/>
          <pc:sldMk cId="1540661966" sldId="571"/>
        </pc:sldMkLst>
        <pc:spChg chg="mod">
          <ac:chgData name="Long Tran" userId="e540d250-70c7-4be3-b4a2-b5ecbc3dd049" providerId="ADAL" clId="{BAB3CD07-4705-4F44-9D9A-33C0D430672C}" dt="2023-02-01T09:28:17.166" v="2939" actId="20577"/>
          <ac:spMkLst>
            <pc:docMk/>
            <pc:sldMk cId="1540661966" sldId="571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36:00.512" v="3523" actId="20577"/>
        <pc:sldMkLst>
          <pc:docMk/>
          <pc:sldMk cId="742900907" sldId="572"/>
        </pc:sldMkLst>
        <pc:spChg chg="mod">
          <ac:chgData name="Long Tran" userId="e540d250-70c7-4be3-b4a2-b5ecbc3dd049" providerId="ADAL" clId="{BAB3CD07-4705-4F44-9D9A-33C0D430672C}" dt="2023-02-01T09:36:00.512" v="3523" actId="20577"/>
          <ac:spMkLst>
            <pc:docMk/>
            <pc:sldMk cId="742900907" sldId="572"/>
            <ac:spMk id="18435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48:53.291" v="4220" actId="20577"/>
        <pc:sldMkLst>
          <pc:docMk/>
          <pc:sldMk cId="79349485" sldId="573"/>
        </pc:sldMkLst>
        <pc:spChg chg="mod">
          <ac:chgData name="Long Tran" userId="e540d250-70c7-4be3-b4a2-b5ecbc3dd049" providerId="ADAL" clId="{BAB3CD07-4705-4F44-9D9A-33C0D430672C}" dt="2023-02-01T09:48:53.291" v="4220" actId="20577"/>
          <ac:spMkLst>
            <pc:docMk/>
            <pc:sldMk cId="79349485" sldId="573"/>
            <ac:spMk id="2048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2:53.251" v="4630" actId="20577"/>
        <pc:sldMkLst>
          <pc:docMk/>
          <pc:sldMk cId="2979847548" sldId="574"/>
        </pc:sldMkLst>
        <pc:spChg chg="mod">
          <ac:chgData name="Long Tran" userId="e540d250-70c7-4be3-b4a2-b5ecbc3dd049" providerId="ADAL" clId="{BAB3CD07-4705-4F44-9D9A-33C0D430672C}" dt="2023-02-01T09:52:53.251" v="4630" actId="20577"/>
          <ac:spMkLst>
            <pc:docMk/>
            <pc:sldMk cId="2979847548" sldId="574"/>
            <ac:spMk id="28674" creationId="{00000000-0000-0000-0000-000000000000}"/>
          </ac:spMkLst>
        </pc:spChg>
      </pc:sldChg>
      <pc:sldChg chg="modSp mod modShow">
        <pc:chgData name="Long Tran" userId="e540d250-70c7-4be3-b4a2-b5ecbc3dd049" providerId="ADAL" clId="{BAB3CD07-4705-4F44-9D9A-33C0D430672C}" dt="2023-02-01T10:09:31.136" v="6418" actId="729"/>
        <pc:sldMkLst>
          <pc:docMk/>
          <pc:sldMk cId="3887698923" sldId="575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3887698923" sldId="575"/>
            <ac:spMk id="2048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23:21.170" v="7990" actId="20577"/>
        <pc:sldMkLst>
          <pc:docMk/>
          <pc:sldMk cId="3647543317" sldId="576"/>
        </pc:sldMkLst>
        <pc:spChg chg="mod">
          <ac:chgData name="Long Tran" userId="e540d250-70c7-4be3-b4a2-b5ecbc3dd049" providerId="ADAL" clId="{BAB3CD07-4705-4F44-9D9A-33C0D430672C}" dt="2023-02-01T10:23:21.170" v="7990" actId="20577"/>
          <ac:spMkLst>
            <pc:docMk/>
            <pc:sldMk cId="3647543317" sldId="576"/>
            <ac:spMk id="36866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29:56.075" v="8770" actId="20577"/>
        <pc:sldMkLst>
          <pc:docMk/>
          <pc:sldMk cId="3817355224" sldId="577"/>
        </pc:sldMkLst>
        <pc:spChg chg="mod">
          <ac:chgData name="Long Tran" userId="e540d250-70c7-4be3-b4a2-b5ecbc3dd049" providerId="ADAL" clId="{BAB3CD07-4705-4F44-9D9A-33C0D430672C}" dt="2023-02-01T10:29:56.075" v="8770" actId="20577"/>
          <ac:spMkLst>
            <pc:docMk/>
            <pc:sldMk cId="3817355224" sldId="577"/>
            <ac:spMk id="37890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8T08:30:41.378" v="11525" actId="207"/>
        <pc:sldMkLst>
          <pc:docMk/>
          <pc:sldMk cId="3296152515" sldId="578"/>
        </pc:sldMkLst>
        <pc:spChg chg="mod">
          <ac:chgData name="Long Tran" userId="e540d250-70c7-4be3-b4a2-b5ecbc3dd049" providerId="ADAL" clId="{BAB3CD07-4705-4F44-9D9A-33C0D430672C}" dt="2023-02-01T09:36:12.555" v="3524"/>
          <ac:spMkLst>
            <pc:docMk/>
            <pc:sldMk cId="3296152515" sldId="578"/>
            <ac:spMk id="18435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8T08:30:41.378" v="11525" actId="207"/>
          <ac:spMkLst>
            <pc:docMk/>
            <pc:sldMk cId="3296152515" sldId="578"/>
            <ac:spMk id="1844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41:37.506" v="4024"/>
        <pc:sldMkLst>
          <pc:docMk/>
          <pc:sldMk cId="1348260842" sldId="579"/>
        </pc:sldMkLst>
        <pc:spChg chg="mod">
          <ac:chgData name="Long Tran" userId="e540d250-70c7-4be3-b4a2-b5ecbc3dd049" providerId="ADAL" clId="{BAB3CD07-4705-4F44-9D9A-33C0D430672C}" dt="2023-02-01T09:40:36.542" v="3974" actId="20577"/>
          <ac:spMkLst>
            <pc:docMk/>
            <pc:sldMk cId="1348260842" sldId="579"/>
            <ac:spMk id="2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0:51.416" v="4007"/>
          <ac:spMkLst>
            <pc:docMk/>
            <pc:sldMk cId="1348260842" sldId="579"/>
            <ac:spMk id="2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0:58.715" v="4022" actId="20577"/>
          <ac:spMkLst>
            <pc:docMk/>
            <pc:sldMk cId="1348260842" sldId="579"/>
            <ac:spMk id="4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38:23.076" v="3701"/>
          <ac:spMkLst>
            <pc:docMk/>
            <pc:sldMk cId="1348260842" sldId="579"/>
            <ac:spMk id="1945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1:37.506" v="4024"/>
          <ac:spMkLst>
            <pc:docMk/>
            <pc:sldMk cId="1348260842" sldId="579"/>
            <ac:spMk id="782339" creationId="{00000000-0000-0000-0000-000000000000}"/>
          </ac:spMkLst>
        </pc:spChg>
      </pc:sldChg>
      <pc:sldChg chg="modSp modAnim">
        <pc:chgData name="Long Tran" userId="e540d250-70c7-4be3-b4a2-b5ecbc3dd049" providerId="ADAL" clId="{BAB3CD07-4705-4F44-9D9A-33C0D430672C}" dt="2023-02-01T09:48:14.069" v="4197"/>
        <pc:sldMkLst>
          <pc:docMk/>
          <pc:sldMk cId="2893214047" sldId="580"/>
        </pc:sldMkLst>
        <pc:spChg chg="mod">
          <ac:chgData name="Long Tran" userId="e540d250-70c7-4be3-b4a2-b5ecbc3dd049" providerId="ADAL" clId="{BAB3CD07-4705-4F44-9D9A-33C0D430672C}" dt="2023-02-01T09:44:54.885" v="4042" actId="20577"/>
          <ac:spMkLst>
            <pc:docMk/>
            <pc:sldMk cId="2893214047" sldId="580"/>
            <ac:spMk id="25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5:00.682" v="4057" actId="20577"/>
          <ac:spMkLst>
            <pc:docMk/>
            <pc:sldMk cId="2893214047" sldId="580"/>
            <ac:spMk id="2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8:14.069" v="4197"/>
          <ac:spMkLst>
            <pc:docMk/>
            <pc:sldMk cId="2893214047" sldId="580"/>
            <ac:spMk id="1945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4:43.767" v="4027"/>
          <ac:spMkLst>
            <pc:docMk/>
            <pc:sldMk cId="2893214047" sldId="580"/>
            <ac:spMk id="782339" creationId="{00000000-0000-0000-0000-000000000000}"/>
          </ac:spMkLst>
        </pc:spChg>
      </pc:sldChg>
      <pc:sldChg chg="modSp mod modAnim">
        <pc:chgData name="Long Tran" userId="e540d250-70c7-4be3-b4a2-b5ecbc3dd049" providerId="ADAL" clId="{BAB3CD07-4705-4F44-9D9A-33C0D430672C}" dt="2023-02-01T09:48:17.163" v="4198"/>
        <pc:sldMkLst>
          <pc:docMk/>
          <pc:sldMk cId="4225757629" sldId="581"/>
        </pc:sldMkLst>
        <pc:spChg chg="mod">
          <ac:chgData name="Long Tran" userId="e540d250-70c7-4be3-b4a2-b5ecbc3dd049" providerId="ADAL" clId="{BAB3CD07-4705-4F44-9D9A-33C0D430672C}" dt="2023-02-01T09:48:17.163" v="4198"/>
          <ac:spMkLst>
            <pc:docMk/>
            <pc:sldMk cId="4225757629" sldId="581"/>
            <ac:spMk id="1945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6:23.962" v="4194" actId="14100"/>
          <ac:spMkLst>
            <pc:docMk/>
            <pc:sldMk cId="4225757629" sldId="581"/>
            <ac:spMk id="782339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2T01:27:06.510" v="11463" actId="20577"/>
        <pc:sldMkLst>
          <pc:docMk/>
          <pc:sldMk cId="3080973534" sldId="582"/>
        </pc:sldMkLst>
        <pc:spChg chg="mod">
          <ac:chgData name="Long Tran" userId="e540d250-70c7-4be3-b4a2-b5ecbc3dd049" providerId="ADAL" clId="{BAB3CD07-4705-4F44-9D9A-33C0D430672C}" dt="2023-02-02T01:26:59.899" v="11451" actId="20577"/>
          <ac:spMkLst>
            <pc:docMk/>
            <pc:sldMk cId="3080973534" sldId="582"/>
            <ac:spMk id="8195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06.510" v="11463" actId="20577"/>
          <ac:spMkLst>
            <pc:docMk/>
            <pc:sldMk cId="3080973534" sldId="582"/>
            <ac:spMk id="34818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2T01:28:01.447" v="11483" actId="14100"/>
        <pc:sldMkLst>
          <pc:docMk/>
          <pc:sldMk cId="3464164265" sldId="583"/>
        </pc:sldMkLst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8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23:25.455" v="7991"/>
          <ac:spMkLst>
            <pc:docMk/>
            <pc:sldMk cId="3464164265" sldId="583"/>
            <ac:spMk id="4198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8:01.447" v="11483" actId="14100"/>
          <ac:spMkLst>
            <pc:docMk/>
            <pc:sldMk cId="3464164265" sldId="583"/>
            <ac:spMk id="4198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8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5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200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200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200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9:15.697" v="1279" actId="404"/>
        <pc:sldMkLst>
          <pc:docMk/>
          <pc:sldMk cId="2490402382" sldId="584"/>
        </pc:sldMkLst>
        <pc:spChg chg="mod">
          <ac:chgData name="Long Tran" userId="e540d250-70c7-4be3-b4a2-b5ecbc3dd049" providerId="ADAL" clId="{BAB3CD07-4705-4F44-9D9A-33C0D430672C}" dt="2023-02-01T05:39:15.697" v="1279" actId="404"/>
          <ac:spMkLst>
            <pc:docMk/>
            <pc:sldMk cId="2490402382" sldId="584"/>
            <ac:spMk id="6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5:39:11.325" v="1277" actId="1076"/>
          <ac:picMkLst>
            <pc:docMk/>
            <pc:sldMk cId="2490402382" sldId="584"/>
            <ac:picMk id="2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5:38:52.134" v="1265" actId="20577"/>
        <pc:sldMkLst>
          <pc:docMk/>
          <pc:sldMk cId="1198574813" sldId="585"/>
        </pc:sldMkLst>
        <pc:spChg chg="mod">
          <ac:chgData name="Long Tran" userId="e540d250-70c7-4be3-b4a2-b5ecbc3dd049" providerId="ADAL" clId="{BAB3CD07-4705-4F44-9D9A-33C0D430672C}" dt="2023-02-01T05:38:52.134" v="1265" actId="20577"/>
          <ac:spMkLst>
            <pc:docMk/>
            <pc:sldMk cId="1198574813" sldId="585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6:57:23.904" v="2192" actId="20577"/>
        <pc:sldMkLst>
          <pc:docMk/>
          <pc:sldMk cId="2358854174" sldId="586"/>
        </pc:sldMkLst>
        <pc:spChg chg="mod">
          <ac:chgData name="Long Tran" userId="e540d250-70c7-4be3-b4a2-b5ecbc3dd049" providerId="ADAL" clId="{BAB3CD07-4705-4F44-9D9A-33C0D430672C}" dt="2023-02-01T06:57:23.904" v="2192" actId="20577"/>
          <ac:spMkLst>
            <pc:docMk/>
            <pc:sldMk cId="2358854174" sldId="586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6:57:42.689" v="2197" actId="404"/>
        <pc:sldMkLst>
          <pc:docMk/>
          <pc:sldMk cId="1190874024" sldId="587"/>
        </pc:sldMkLst>
        <pc:spChg chg="mod">
          <ac:chgData name="Long Tran" userId="e540d250-70c7-4be3-b4a2-b5ecbc3dd049" providerId="ADAL" clId="{BAB3CD07-4705-4F44-9D9A-33C0D430672C}" dt="2023-02-01T06:57:42.689" v="2197" actId="404"/>
          <ac:spMkLst>
            <pc:docMk/>
            <pc:sldMk cId="1190874024" sldId="587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1:27.407" v="4558" actId="20577"/>
        <pc:sldMkLst>
          <pc:docMk/>
          <pc:sldMk cId="2630822306" sldId="588"/>
        </pc:sldMkLst>
        <pc:spChg chg="mod">
          <ac:chgData name="Long Tran" userId="e540d250-70c7-4be3-b4a2-b5ecbc3dd049" providerId="ADAL" clId="{BAB3CD07-4705-4F44-9D9A-33C0D430672C}" dt="2023-02-01T09:51:27.407" v="4558" actId="20577"/>
          <ac:spMkLst>
            <pc:docMk/>
            <pc:sldMk cId="2630822306" sldId="588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4:05.194" v="4823" actId="20577"/>
        <pc:sldMkLst>
          <pc:docMk/>
          <pc:sldMk cId="3225407652" sldId="590"/>
        </pc:sldMkLst>
        <pc:spChg chg="mod">
          <ac:chgData name="Long Tran" userId="e540d250-70c7-4be3-b4a2-b5ecbc3dd049" providerId="ADAL" clId="{BAB3CD07-4705-4F44-9D9A-33C0D430672C}" dt="2023-02-01T09:54:05.194" v="4823" actId="20577"/>
          <ac:spMkLst>
            <pc:docMk/>
            <pc:sldMk cId="3225407652" sldId="590"/>
            <ac:spMk id="2" creationId="{00000000-0000-0000-0000-000000000000}"/>
          </ac:spMkLst>
        </pc:spChg>
      </pc:sldChg>
      <pc:sldChg chg="modSp">
        <pc:chgData name="Long Tran" userId="e540d250-70c7-4be3-b4a2-b5ecbc3dd049" providerId="ADAL" clId="{BAB3CD07-4705-4F44-9D9A-33C0D430672C}" dt="2023-02-01T05:22:54.888" v="0" actId="790"/>
        <pc:sldMkLst>
          <pc:docMk/>
          <pc:sldMk cId="92539186" sldId="591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92539186" sldId="591"/>
            <ac:spMk id="2" creationId="{00000000-0000-0000-0000-000000000000}"/>
          </ac:spMkLst>
        </pc:spChg>
      </pc:sldChg>
      <pc:sldChg chg="modSp">
        <pc:chgData name="Long Tran" userId="e540d250-70c7-4be3-b4a2-b5ecbc3dd049" providerId="ADAL" clId="{BAB3CD07-4705-4F44-9D9A-33C0D430672C}" dt="2023-02-01T05:22:54.888" v="0" actId="790"/>
        <pc:sldMkLst>
          <pc:docMk/>
          <pc:sldMk cId="795479980" sldId="592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795479980" sldId="592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2:45.292" v="4612" actId="1076"/>
        <pc:sldMkLst>
          <pc:docMk/>
          <pc:sldMk cId="2387485623" sldId="594"/>
        </pc:sldMkLst>
        <pc:spChg chg="mod">
          <ac:chgData name="Long Tran" userId="e540d250-70c7-4be3-b4a2-b5ecbc3dd049" providerId="ADAL" clId="{BAB3CD07-4705-4F44-9D9A-33C0D430672C}" dt="2023-02-01T09:52:29.943" v="4588" actId="20577"/>
          <ac:spMkLst>
            <pc:docMk/>
            <pc:sldMk cId="2387485623" sldId="594"/>
            <ac:spMk id="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2:39.977" v="4607" actId="20577"/>
          <ac:spMkLst>
            <pc:docMk/>
            <pc:sldMk cId="2387485623" sldId="594"/>
            <ac:spMk id="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2:45.292" v="4612" actId="1076"/>
          <ac:spMkLst>
            <pc:docMk/>
            <pc:sldMk cId="2387485623" sldId="594"/>
            <ac:spMk id="8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31:26.090" v="9050" actId="20577"/>
        <pc:sldMkLst>
          <pc:docMk/>
          <pc:sldMk cId="920705821" sldId="595"/>
        </pc:sldMkLst>
        <pc:spChg chg="mod">
          <ac:chgData name="Long Tran" userId="e540d250-70c7-4be3-b4a2-b5ecbc3dd049" providerId="ADAL" clId="{BAB3CD07-4705-4F44-9D9A-33C0D430672C}" dt="2023-02-01T10:31:26.090" v="9050" actId="20577"/>
          <ac:spMkLst>
            <pc:docMk/>
            <pc:sldMk cId="920705821" sldId="595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31:32.809" v="9061" actId="20577"/>
        <pc:sldMkLst>
          <pc:docMk/>
          <pc:sldMk cId="2932126854" sldId="596"/>
        </pc:sldMkLst>
        <pc:spChg chg="mod">
          <ac:chgData name="Long Tran" userId="e540d250-70c7-4be3-b4a2-b5ecbc3dd049" providerId="ADAL" clId="{BAB3CD07-4705-4F44-9D9A-33C0D430672C}" dt="2023-02-01T10:31:32.809" v="9061" actId="20577"/>
          <ac:spMkLst>
            <pc:docMk/>
            <pc:sldMk cId="2932126854" sldId="596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1:37.563" v="4565" actId="20577"/>
        <pc:sldMkLst>
          <pc:docMk/>
          <pc:sldMk cId="2791982410" sldId="597"/>
        </pc:sldMkLst>
        <pc:spChg chg="mod">
          <ac:chgData name="Long Tran" userId="e540d250-70c7-4be3-b4a2-b5ecbc3dd049" providerId="ADAL" clId="{BAB3CD07-4705-4F44-9D9A-33C0D430672C}" dt="2023-02-01T09:51:37.563" v="4565" actId="20577"/>
          <ac:spMkLst>
            <pc:docMk/>
            <pc:sldMk cId="2791982410" sldId="597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1:43.885" v="4568" actId="20577"/>
        <pc:sldMkLst>
          <pc:docMk/>
          <pc:sldMk cId="2791982410" sldId="598"/>
        </pc:sldMkLst>
        <pc:spChg chg="mod">
          <ac:chgData name="Long Tran" userId="e540d250-70c7-4be3-b4a2-b5ecbc3dd049" providerId="ADAL" clId="{BAB3CD07-4705-4F44-9D9A-33C0D430672C}" dt="2023-02-01T09:51:43.885" v="4568" actId="20577"/>
          <ac:spMkLst>
            <pc:docMk/>
            <pc:sldMk cId="2791982410" sldId="598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2:09.338" v="4580" actId="404"/>
        <pc:sldMkLst>
          <pc:docMk/>
          <pc:sldMk cId="2791982410" sldId="599"/>
        </pc:sldMkLst>
        <pc:spChg chg="mod">
          <ac:chgData name="Long Tran" userId="e540d250-70c7-4be3-b4a2-b5ecbc3dd049" providerId="ADAL" clId="{BAB3CD07-4705-4F44-9D9A-33C0D430672C}" dt="2023-02-01T09:52:09.338" v="4580" actId="404"/>
          <ac:spMkLst>
            <pc:docMk/>
            <pc:sldMk cId="2791982410" sldId="599"/>
            <ac:spMk id="2" creationId="{00000000-0000-0000-0000-000000000000}"/>
          </ac:spMkLst>
        </pc:spChg>
      </pc:sldChg>
      <pc:sldChg chg="modSp add mod ord">
        <pc:chgData name="Long Tran" userId="e540d250-70c7-4be3-b4a2-b5ecbc3dd049" providerId="ADAL" clId="{BAB3CD07-4705-4F44-9D9A-33C0D430672C}" dt="2023-02-02T01:27:23.067" v="11477" actId="20577"/>
        <pc:sldMkLst>
          <pc:docMk/>
          <pc:sldMk cId="2636264832" sldId="600"/>
        </pc:sldMkLst>
        <pc:spChg chg="mod">
          <ac:chgData name="Long Tran" userId="e540d250-70c7-4be3-b4a2-b5ecbc3dd049" providerId="ADAL" clId="{BAB3CD07-4705-4F44-9D9A-33C0D430672C}" dt="2023-02-02T01:27:16.831" v="11475" actId="20577"/>
          <ac:spMkLst>
            <pc:docMk/>
            <pc:sldMk cId="2636264832" sldId="600"/>
            <ac:spMk id="4198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23.067" v="11477" actId="20577"/>
          <ac:spMkLst>
            <pc:docMk/>
            <pc:sldMk cId="2636264832" sldId="600"/>
            <ac:spMk id="41988" creationId="{00000000-0000-0000-0000-000000000000}"/>
          </ac:spMkLst>
        </pc:spChg>
      </pc:sldChg>
      <pc:sldChg chg="modSp add mod">
        <pc:chgData name="Long Tran" userId="e540d250-70c7-4be3-b4a2-b5ecbc3dd049" providerId="ADAL" clId="{BAB3CD07-4705-4F44-9D9A-33C0D430672C}" dt="2023-02-02T01:27:31.627" v="11479" actId="20577"/>
        <pc:sldMkLst>
          <pc:docMk/>
          <pc:sldMk cId="3855033788" sldId="601"/>
        </pc:sldMkLst>
        <pc:spChg chg="mod">
          <ac:chgData name="Long Tran" userId="e540d250-70c7-4be3-b4a2-b5ecbc3dd049" providerId="ADAL" clId="{BAB3CD07-4705-4F44-9D9A-33C0D430672C}" dt="2023-02-02T01:27:31.627" v="11479" actId="20577"/>
          <ac:spMkLst>
            <pc:docMk/>
            <pc:sldMk cId="3855033788" sldId="601"/>
            <ac:spMk id="41988" creationId="{00000000-0000-0000-0000-000000000000}"/>
          </ac:spMkLst>
        </pc:spChg>
      </pc:sldChg>
      <pc:sldChg chg="addSp delSp modSp add mod ord modAnim">
        <pc:chgData name="Long Tran" userId="e540d250-70c7-4be3-b4a2-b5ecbc3dd049" providerId="ADAL" clId="{BAB3CD07-4705-4F44-9D9A-33C0D430672C}" dt="2023-02-02T01:27:37.502" v="11480"/>
        <pc:sldMkLst>
          <pc:docMk/>
          <pc:sldMk cId="3910168499" sldId="602"/>
        </pc:sldMkLst>
        <pc:spChg chg="add del mod">
          <ac:chgData name="Long Tran" userId="e540d250-70c7-4be3-b4a2-b5ecbc3dd049" providerId="ADAL" clId="{BAB3CD07-4705-4F44-9D9A-33C0D430672C}" dt="2023-02-01T23:12:56.434" v="10973"/>
          <ac:spMkLst>
            <pc:docMk/>
            <pc:sldMk cId="3910168499" sldId="602"/>
            <ac:spMk id="2" creationId="{434E8073-C2CB-1708-C502-C7E72EA81822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3" creationId="{9007D96D-5932-ADD5-E282-D4B509037924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4" creationId="{EF4659BA-4283-4A17-AEED-CAAB58943201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5" creationId="{B89E6358-C244-4AC1-387E-4465BA6FABE0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6" creationId="{F8B3D514-A43B-1A8A-FF55-ECC55F36613D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7" creationId="{23D49EA1-BB54-00C4-FBC2-88AE1629A523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8" creationId="{D433221B-B1A6-F3D9-7802-752921DF98C7}"/>
          </ac:spMkLst>
        </pc:spChg>
        <pc:spChg chg="mod">
          <ac:chgData name="Long Tran" userId="e540d250-70c7-4be3-b4a2-b5ecbc3dd049" providerId="ADAL" clId="{BAB3CD07-4705-4F44-9D9A-33C0D430672C}" dt="2023-02-01T23:13:07.407" v="10974"/>
          <ac:spMkLst>
            <pc:docMk/>
            <pc:sldMk cId="3910168499" sldId="602"/>
            <ac:spMk id="13" creationId="{31D464BA-7646-A4C3-8F8C-2CD48924BB59}"/>
          </ac:spMkLst>
        </pc:spChg>
        <pc:spChg chg="mod">
          <ac:chgData name="Long Tran" userId="e540d250-70c7-4be3-b4a2-b5ecbc3dd049" providerId="ADAL" clId="{BAB3CD07-4705-4F44-9D9A-33C0D430672C}" dt="2023-02-01T23:13:07.407" v="10974"/>
          <ac:spMkLst>
            <pc:docMk/>
            <pc:sldMk cId="3910168499" sldId="602"/>
            <ac:spMk id="16" creationId="{4DBEF2B9-4216-449D-D010-5B83D641B955}"/>
          </ac:spMkLst>
        </pc:spChg>
        <pc:spChg chg="del">
          <ac:chgData name="Long Tran" userId="e540d250-70c7-4be3-b4a2-b5ecbc3dd049" providerId="ADAL" clId="{BAB3CD07-4705-4F44-9D9A-33C0D430672C}" dt="2023-02-01T23:12:48.917" v="10970" actId="478"/>
          <ac:spMkLst>
            <pc:docMk/>
            <pc:sldMk cId="3910168499" sldId="602"/>
            <ac:spMk id="4198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37.502" v="11480"/>
          <ac:spMkLst>
            <pc:docMk/>
            <pc:sldMk cId="3910168499" sldId="602"/>
            <ac:spMk id="41988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46.535" v="10969" actId="478"/>
          <ac:spMkLst>
            <pc:docMk/>
            <pc:sldMk cId="3910168499" sldId="602"/>
            <ac:spMk id="41989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0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1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2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3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4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5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6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7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8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9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2000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2001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2002" creationId="{00000000-0000-0000-0000-000000000000}"/>
          </ac:spMkLst>
        </pc:spChg>
        <pc:grpChg chg="add mod">
          <ac:chgData name="Long Tran" userId="e540d250-70c7-4be3-b4a2-b5ecbc3dd049" providerId="ADAL" clId="{BAB3CD07-4705-4F44-9D9A-33C0D430672C}" dt="2023-02-01T23:20:13.787" v="11307" actId="1076"/>
          <ac:grpSpMkLst>
            <pc:docMk/>
            <pc:sldMk cId="3910168499" sldId="602"/>
            <ac:grpSpMk id="12" creationId="{89FB114A-53A9-B2B2-E263-124DEEC3B29B}"/>
          </ac:grpSpMkLst>
        </pc:grpChg>
        <pc:grpChg chg="add mod">
          <ac:chgData name="Long Tran" userId="e540d250-70c7-4be3-b4a2-b5ecbc3dd049" providerId="ADAL" clId="{BAB3CD07-4705-4F44-9D9A-33C0D430672C}" dt="2023-02-01T23:20:13.787" v="11307" actId="1076"/>
          <ac:grpSpMkLst>
            <pc:docMk/>
            <pc:sldMk cId="3910168499" sldId="602"/>
            <ac:grpSpMk id="15" creationId="{F793A0E5-B388-65F3-0117-4F5FED83B3D7}"/>
          </ac:grpSpMkLst>
        </pc:grpChg>
        <pc:picChg chg="add mod">
          <ac:chgData name="Long Tran" userId="e540d250-70c7-4be3-b4a2-b5ecbc3dd049" providerId="ADAL" clId="{BAB3CD07-4705-4F44-9D9A-33C0D430672C}" dt="2023-02-01T23:20:13.787" v="11307" actId="1076"/>
          <ac:picMkLst>
            <pc:docMk/>
            <pc:sldMk cId="3910168499" sldId="602"/>
            <ac:picMk id="9" creationId="{D8755C81-5D71-6E25-7B38-413A504C24B2}"/>
          </ac:picMkLst>
        </pc:picChg>
        <pc:picChg chg="add mod">
          <ac:chgData name="Long Tran" userId="e540d250-70c7-4be3-b4a2-b5ecbc3dd049" providerId="ADAL" clId="{BAB3CD07-4705-4F44-9D9A-33C0D430672C}" dt="2023-02-01T23:20:13.787" v="11307" actId="1076"/>
          <ac:picMkLst>
            <pc:docMk/>
            <pc:sldMk cId="3910168499" sldId="602"/>
            <ac:picMk id="10" creationId="{9F420D2B-8ADA-4789-26BE-2A0A13417624}"/>
          </ac:picMkLst>
        </pc:picChg>
        <pc:picChg chg="add mod">
          <ac:chgData name="Long Tran" userId="e540d250-70c7-4be3-b4a2-b5ecbc3dd049" providerId="ADAL" clId="{BAB3CD07-4705-4F44-9D9A-33C0D430672C}" dt="2023-02-01T23:20:13.787" v="11307" actId="1076"/>
          <ac:picMkLst>
            <pc:docMk/>
            <pc:sldMk cId="3910168499" sldId="602"/>
            <ac:picMk id="11" creationId="{22BA84D6-B0DC-83DD-9120-D8C3F71F33C5}"/>
          </ac:picMkLst>
        </pc:picChg>
        <pc:picChg chg="mod">
          <ac:chgData name="Long Tran" userId="e540d250-70c7-4be3-b4a2-b5ecbc3dd049" providerId="ADAL" clId="{BAB3CD07-4705-4F44-9D9A-33C0D430672C}" dt="2023-02-01T23:13:07.407" v="10974"/>
          <ac:picMkLst>
            <pc:docMk/>
            <pc:sldMk cId="3910168499" sldId="602"/>
            <ac:picMk id="14" creationId="{71E0C701-03FF-C100-F067-0F71E4665F95}"/>
          </ac:picMkLst>
        </pc:picChg>
        <pc:picChg chg="mod">
          <ac:chgData name="Long Tran" userId="e540d250-70c7-4be3-b4a2-b5ecbc3dd049" providerId="ADAL" clId="{BAB3CD07-4705-4F44-9D9A-33C0D430672C}" dt="2023-02-01T23:13:07.407" v="10974"/>
          <ac:picMkLst>
            <pc:docMk/>
            <pc:sldMk cId="3910168499" sldId="602"/>
            <ac:picMk id="17" creationId="{E72134FD-7F2A-FBC4-B038-F2C5EF1423D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F38672AD-12AE-4354-8ADE-1E86BC48C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2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9-09-03T18:41:23.53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17678 8712 1209 0,'0'0'108'16,"-4"-6"-87"-16,1 3-21 0,-4-3 0 15,7-4 102-15,-4 7 16 0,4-3 3 0,-3 0 1 16,3 2-106-16,0-2-16 0,0-3-15 0,3 9 3 15,-6-10 12-15,3 10 0 0,3-3 0 0,1-3 0 16,-4-3 11-16,0 9 4 0,7 0 1 0,-7 0 0 0,3-4 28 0,1-2 7 16,-1 0 1-16,4 6 0 0,-3-3 12 0,3-4 4 15,0 7 0-15,4 0 0 0,-1-3-16 0,1-3-4 16,-1 6 0-16,4 0 0 0,4-3-24 0,0-3-4 16,3 6-2-16,0-4 0 0,0-2-10 0,0 6-8 15,8-3 12-15,-5-3-12 0,4 6 8 0,1 0-8 16,2-6 0-16,5 2 0 0,-8 8 0 0,4-4 0 15,-8 6 0-15,5-6 0 0,-5 0 0 0,-3 6 0 16,4-6 0-16,-4 0 0 0,4 3 9 0,-4-3-9 16,-3 0 0-16,3 0 9 0,0 0 6 0,-3 0 1 15,-1 6 0-15,1-2 0 0,0-4 8 0,-1 0 3 16,-3 6 0-16,-3-3 0 0,0 3-14 0,-4-3-2 16,3-3-1-16,-3 7 0 0,-7-7 10 0,7 3 1 15,-7-3 1-15,0 0 0 0,0 0-5 0,0 0-1 16,0 0 0-16,0 6 0 0,0-6-1 0,0 0-1 0,-7 10 0 15,7-10 0-15,0 0-14 0,0 0 0 0,-3 9 0 0,3-9 0 16,-4 6 0-16,4-6 0 0,0 0 8 0,-3 3-8 16,3-3 0-16,0 0 11 0,0 0-11 0,0 0 10 15,0 0-10-15,-7 0 0 0,0 7 9 0,7-7-9 16,-7 0 16-16,7 0-2 0,0 0 0 0,-7 3 0 16,7-3-14-16,0 0 0 0,0 0 0 0,-8 6 0 15,8-6 0-15,0 0 14 0,-7 3-2 0,7-3-1 16,-3 6-11-16,3-6 0 0,-7 10 0 0,3-10 8 15,1 9-8-15,-1 1 0 0,1-4 0 0,-4-3 0 0,3 6 0 0,4-2 0 16,-7 2 0-16,7 1 0 0,-3-4 17 0,3 3 2 16,-4 1 0-16,4 2 0 15,-4-6-19-15,4 10 0 0,-3-3 0 0,3-4 0 0,0 7 9 16,0 3-1-16,0-4-8 0,0 4 12 16,-4 0-12-16,4 0 0 0,-3 0 0 0,-1-4 0 0,4 4 0 15,-3 6 11-15,-1-6-11 0,4 6 10 0,0-3-10 0,-3 3 0 16,3-6 0-16,-4 0 0 0,4 6 0 0,0-6 0 15,0-4-10-15,0 10 10 0,4-6 0 0,-4 0 0 16,0 0 0-16,3 0 0 0,-3-4 11 0,4 4-11 16,-4 0 10-16,3 0-10 0,-3 3 9 0,4-10-9 15,-4 4 8-15,3 3-8 0,-3 0 0 0,0-4 8 16,0-5-8-16,0-1 0 0,0 10 12 0,-3-10-2 0,3 1-1 0,-4 5 0 16,4-5-9-16,0 5 0 0,0-5 0 0,0-1 8 15,0 1-8-15,4-1 0 0,-1 0 9 0,1 1-9 16,-4-10 0-16,0 6 8 0,3 4-8 0,1-1 0 15,-4-9 0-15,0 3 9 0,0-3-9 0,4 13 0 16,-4-13 10-16,0 3-10 0,0-3 8 0,0 9-8 16,0-9 13-16,0 0-2 0,0 0-1 0,0 0 0 15,-4 10 3-15,4-10 1 0,-7 0 0 16,3 6 0-16,-3-6-3 0,0 0-1 0,0-6 0 0,-3 6 0 16,-1-4-2-16,4-2-8 0,-4 3 12 0,1-3-4 15,-1 3-8-15,1-4 10 0,-4 1-10 0,3 3 10 16,-3-6-10-16,0 2 0 0,0-2 0 0,-4-1 0 15,4 1 0-15,0 0 0 0,-4-1 14 0,4 4-4 16,-4-7-10-16,-3 7 0 0,4-3 0 0,-1 6-11 16,-3-4 11-16,3-2 0 0,-3 9 0 0,7-6 0 15,-4 2 0-15,4-2 0 0,0 6 0 0,0 0 0 16,0-3 0-16,3 3 0 0,-3-6 0 0,4 6 0 0,-1 0 0 0,0 0 0 16,4 0 0-16,7 0 0 0,-7 0 0 0,7 0 0 15,-3 9 0-15,3-9-8 0,-4 6 8 0,1 4 0 16,3-7 0-16,0 10-8 0,0-4 8 0,3 0 0 15,1 1 0-15,-1-1-8 0,1 1 8 0,-1-1 0 16,4 7 0-16,0-7 0 0,0 4 0 0,1-4 0 16,-5 7 0-16,4-7 0 0,-3 10 0 15,3-3 0-15,0-7 0 0,-4 10 0 0,1-3 0 0,-1-7 0 16,1 10 0-16,-4-10 0 0,3 10 0 0,1-3 0 16,-4 2 0-16,0 1 0 0,0-3 0 0,0 3 0 15,0 0 0-15,0-1 0 0,0 4 0 0,0-3 0 16,0-6 0-16,0 2 0 0,0 1 0 0,0 3 0 15,0 0 0-15,0-4 0 0,0 4 0 0,0-6 0 0,0 2 0 16,0 4 0-16,0-3 0 0,0-4 0 0,0 4 0 0,0-6 0 16,0 5 0-16,0-2 0 0,3-7 0 0,-3 13 0 15,4-10 0-15,0 1 0 0,-1-1 0 0,1-3 0 16,-4 4 0-16,3-1 0 0,-3 1 0 0,4-1 0 16,-4-3 0-16,3-3 0 0,-3 7 0 0,0-10 8 15,0 0-8-15,0 6 0 0,0 3 8 0,0-9-8 16,0 0 0-16,0 0 9 0,0 0-9 0,-3 10 0 15,3-10 12-15,0 0-12 0,0 0 12 0,0 0-12 0,0 0 11 16,-7 0-11-16,7 0 10 0,-7 0-10 0,-1 0 9 16,1 0-9-16,0 0 8 0,0 0-8 15,4-3 0-15,-8-4 8 0,1 7-8 0,3 0 0 16,-4 0 0-16,0 0 8 0,-3 0-8 0,4-6 0 16,-4 6 0-16,-1-3 0 0,1 3 0 0,0 0 0 15,0 0 0-15,0 0 0 0,-4 0 8 0,4 0-8 0,0 0 0 0,-3 0 0 16,-1 0 0-16,0 0 0 0,1-6 0 0,-5 6 0 15,1 0 0-15,0 0 0 0,0-3 11 0,0-4-3 16,3 7-8-16,-3 0 12 0,-4-3-12 0,4 3 0 16,0 0-12-16,0 0 12 0,-4 0 0 0,4 0 0 15,0 0 0-15,0 3 0 0,-1-3 0 0,5 0 0 16,3 0 0-16,0 7 0 0,-1-4 0 0,1-3 0 0,4 0 0 0,-1 6 0 16,4-6 0-16,-3 3 9 0,2 3 1 0,1-6 0 15,4 0-10-15,-4 7-14 0,0-4 3 0,0-3 1 16,7 0 10-16,-4 6 0 0,-3-3 0 0,4 4 0 15,3-7 0-15,0 0 0 0,-4 3 0 0,4 3 0 16,-3-3 0-16,3-3 0 0,0 6 0 0,0 4 0 16,0-4 0-16,0 3 0 15,0-5 0-15,3 5 0 0,-3 0 0 0,0 1 0 0,0-4 0 16,4 10-8-16,-4-4 8 0,3-2 0 0,-3-1 0 0,0 7 0 16,4-7 0-16,-4 7 0 0,0-4 0 0,0-2 0 15,-4 6 0-15,4-1 0 0,0-5 0 0,0 2 0 16,0 4 0-16,0-7 0 0,0 1 0 0,0 5 0 15,-3-5 0-15,3-1 0 0,0 1 0 0,-4-1 0 16,4 0 0-16,-3 1 0 0,-1-4 0 0,0 3 0 16,1-5 0-16,-1 2 0 0,-3 0 8 0,4-3-8 15,-4 7 0-15,3-10 8 0,-3 6-8 0,-3-6 0 0,3 3 0 0,-4 3 8 16,4-6-8-16,-7 0 0 0,0 0 0 0,0 0 8 16,-4 0-8-16,-3 0 0 0,0 0 0 0,-1 0 8 15,-6 0-8-15,4 0 0 0,-5 0 0 0,-2 0 0 16,2 0 0-16,-2 0 0 0,2 0 0 0,1 0 0 15,0-6 0-15,-4 6 8 0,0 0-8 0,-10-3 0 16,0 3 0-16,-4 0 0 0,-3-6 0 0,-1 12 0 16,4-6 0-16,-3 3 0 0,7-3 0 0,-4 0 0 15,3 0 0-15,-3 0 0 0,-3 0 0 0,0 0 0 16,-8 0 0-16,1 0 0 0,-1 0 0 0,1 0 0 16,3 0 0-16,7 0 0 0,0 0 0 0,-3 0 0 15,0 0 0-15,-4 0-8 0,0 0 8 0,-4 6 0 16,-3-6 0-16,7 3 0 0,0-3 0 0,1 7 0 15,2-4 0-15,1-3 0 0,-4 6 0 0,0-6 0 16,-4 3 0-16,-3 4 0 0,1-1 0 0,2-3 0 0,4 3 0 0,4-3 0 16,-1 4 0-16,1-4 0 0,-4 3 0 0,0-6-8 15,-3 3 8-15,6-3 0 0,4 0 0 0,-3 6 0 16,7-6 0-16,-4 4 0 0,7-4 0 0,0 0 0 16,0 6 0-16,1-6 0 0,-1-6 0 0,0 6 0 15,-3 0 12-15,3 0-1 0,-3 0-1 0,-1 0 0 16,1 0-10-16,0 0-16 0,-1 6 4 0,8-6 1 15,-4 0 11-15,4 6 0 0,3-3 0 0,4-3 0 16,0 0 0-16,3 0 16 0,-3 0-4 0,3 0-1 16,0 7-11-16,4-7-9 0,4 3 9 0,-5-3-13 15,5 0 2-15,3 0 1 0,0 0 0 0,-1 0 0 16,8 6-37-16,0-6-7 16,7 0-2-16,0 0 0 0,-3 0-163 0,3 0-33 15,-14-6-6-15,17-7-2 0</inkml:trace>
  <inkml:trace contextRef="#ctx0" brushRef="#br0" timeOffset="2540.62">28413 8766 691 0,'0'0'61'15,"0"0"-49"-15,-4-7-12 0,-3 7 0 0,0 0 207 16,-3 0 38-16,2 0 8 0,-2 0 2 0,6-3-199 15,4 3-39-15,-7 0-8 0,7 0-1 0,-7 0 24 0,7 0 4 16,0 0 2-16,0 0 0 0,0 0-2 0,7-6-1 16,0 6 0-16,4 0 0 0,0 0 7 0,3-3 2 15,0 3 0-15,0-6 0 0,0 6-3 0,0 0 0 16,4 0 0-16,-4 0 0 0,7 0-8 0,0 0-1 16,4 0-1-16,0-4 0 0,3 4-13 0,4-6-2 15,3 6-1-15,-3 0 0 0,-1-6-2 0,1 6 0 0,0-3 0 0,0 3 0 16,-1 0-1-16,-2 0-1 0,-1 0 0 0,0 0 0 15,-3-7 5-15,-4 7 0 0,4 0 1 0,-4 0 0 16,0-3-8-16,0 3-1 0,0-6-8 16,-3 6 12-16,-1 0 0 0,1-3-1 15,-4 3 0-15,0-6 0 0,-3 6-11 0,-1 6 0 16,1-6 9-16,-4 0-9 0,4 0 30 0,-11 0 2 16,0 0 0-16,0 0 0 0,0 0-32 0,0 0-8 0,0 0-1 0,3 9 0 15,4-6 9-15,-7-3 12 0,0 0-2 0,4 10-1 16,-1 2-1-16,1-2 0 0,-1-1 0 0,-3 1 0 15,0-1-8-15,-3 0 0 0,3 1 0 0,0 9 0 16,-4-10 0-16,4 7 0 0,-3-1 0 0,3 4 0 16,-7 0 0-16,3 0 0 0,-3 0 9 0,4 0-9 15,3-4 8-15,-4 4-8 0,-3 6 8 0,7-6-8 16,-3 9 0-16,-1-9 9 0,0 6-9 0,4 3 0 0,0-6 8 16,0 0-8-16,0 3 0 0,0 0 0 0,-3-3 8 0,3 0-8 15,3 0 0-15,-3-3 0 0,0 6 11 0,0-6-11 16,4 6 10-16,-4 0-10 0,0-6 12 0,0 0-3 15,0-4-1-15,0-2 0 0,0 3 4 0,-4 2 0 16,4-2 0-16,0-3 0 0,4 2 1 0,-4-5 1 16,0 5 0-16,0-2 0 0,0-4 0 15,0 1 0-15,0 2 0 0,0-2 0 16,0-1-6-16,0-6 0 0,0-3-8 0,4 10 12 0,-4-4 1 0,0-6 0 16,0 9 0-16,0-9 0 0,0 0-13 0,0 7 11 15,0-7-11-15,0 0 10 0,0 0 1 0,-8 3 0 16,1-3 0-16,0 0 0 0,-3 6 2 0,3-6 1 15,0 0 0-15,-4 0 0 0,1 0-2 0,2 0-1 16,-2-6 0-16,3 6 0 0,-4-3-11 0,1-4 10 0,-1 7-10 0,0 0 10 16,1 0-10-16,-4-6 0 15,0 3 0-15,3 3 0 0,-3 0 0 0,0-6 0 0,0 6 0 16,-4 0 0-16,0-3 0 0,-6 3 0 0,3-7 0 0,-4 7 0 16,0 0 0-16,4 0 0 0,-4-3 0 0,4 3 0 15,-3 0 0-15,-1 0 0 0,4 0 0 0,-1 0 0 16,1 0 0-16,4 3 0 0,-1-3 0 0,4 0 0 15,0 0 0-15,3 0 0 0,1 0 0 0,-1 7 0 16,4-4 0-16,0-3 0 0,0 0 0 0,0 6 0 16,3-3 0-16,4-3 0 0,-3 6 0 0,-1 4 0 15,1-4 0-15,-1-3 0 0,4-3 0 16,0 10 8-16,-3-1-8 0,3-3 0 0,0 4 0 0,0-1-11 16,3 0 11-16,-3 1 0 0,4-1 8 0,-1 1-8 15,-3-4 8-15,4 3-8 0,-1 7 8 0,1-7-8 16,-1 4 0-16,4-4 8 0,-3 1-8 0,-1 5 0 0,1-5 0 15,0-1 0-15,-1 7 0 0,-3-7 8 0,0 7 0 0,4-3 0 16,-4-4 0-16,0 0 0 0,-4 7-8 0,4 0 0 16,0-4 0-16,-3 4 0 0,3-7 0 0,-4 7 0 15,0-3 0-15,1 2 0 0,-1 1 0 0,4-3 0 16,-3 5 0-16,-1-2 0 0,4 0 0 16,-3-4 0-16,3 4 0 0,-4-7 0 0,4 1 11 0,-3 5-3 15,3-2 0-15,0-7 0 0,-4 4-8 0,4-1 0 16,0 0 0-16,0-2 0 0,0-4 0 0,-3 6 0 0,3-2 0 15,0-7 0-15,-4 9 8 0,1-6 0 0,3-3 0 0,-4 6 0 16,1-3-8-16,3-3-17 16,-4 7 4-16,1 2 1 0,3-9 21 0,0 0 5 15,-7 0 1-15,7 0 0 0,-8 10-15 0,8-10 11 0,-7 0-11 0,0 6 10 16,4-3-10-16,3-3 0 0,-7 0 0 16,0 6 0-16,0-3 8 0,0-3-8 0,0 7 0 15,-1-4 8-15,1-3-8 0,-3 0 8 0,-1 0-8 0,1 0 8 16,-1 6-8-16,-3-6 0 0,-4 0 0 0,8 0 0 15,-4 0 0-15,0 0 13 0,-4 0-3 0,4 0-1 16,3 0-9-16,-3 0 0 0,0 3 0 0,0-3-11 16,-4 0 11-16,1 0 0 0,-1 0 0 0,0 0 0 15,-3 0 0-15,4 0 0 0,-1-3 0 0,4 3 0 16,0 0 0-16,0 0 0 0,-1 0 0 0,5 0 0 16,3 0 0-16,-4 0 0 0,1 0 0 0,3 0 0 0,-4 0 0 0,4-6 0 15,3 6 0-15,-3 0 0 0,4 0 0 0,-4 0 0 16,3 0 0-16,4 0 0 0,-7 0 0 0,7 0 0 15,-3 0 0-15,-4 0 0 0,7 0 0 16,-7 6 0-16,3-6 0 0,4 0 0 0,0 0 0 16,-7 0 0-16,3 3 0 0,-3 3-8 0,7-6 8 15,-3 0 0-15,-1 10 0 0,4-10-8 0,-3 6 8 16,-1-3 0-16,4 7 0 0,-3-4-8 0,3-3 8 16,0-3 0-16,0 10 0 0,0-4 0 0,0 3 0 0,0 1 0 15,0-4 0-15,0-6-8 0,0 9 8 0,0-6 0 16,0 7 0-16,0-4 0 0,0 4 0 0,0-1 0 15,-4 0 0-15,1-2 0 0,3 2 0 0,0 0 0 16,0 1 0-16,0-1 0 0,0 1 0 0,-4-1 0 16,4 0 0-16,0 1 0 0,-3-4 0 0,3 4 0 15,0-1 0-15,0 0 0 0,0 1 0 0,0-10 0 0,-4 9 0 0,1 1 0 16,3 2 0-16,0-2 0 0,-4-1 0 0,4 0 0 16,0-9 0-16,-3 3 0 0,-1 7 0 0,0-4 8 15,-3 4-8-15,4-10 0 0,-4 9 0 0,0-9 0 16,0 6 8-16,0-3-8 0,0-3 10 0,-4 7-10 15,0-4 8-15,4-3-8 0,-7 0 0 0,0 6 0 16,-3-6 8-16,2 3-8 0,-6-3 0 0,4 0 0 16,-5 0 0-16,-2 6 0 0,3-6 0 0,-4 0 0 15,4 4 0-15,-4-4 8 0,0 0-8 0,1 0 0 16,-1 0 0-16,0 0 0 0,1 0 0 0,-8 0 0 16,-3 0 0-16,-4 0 0 0,-4 0 0 0,-2 0 0 15,2 0 0-15,-3 0 0 0,0 0 0 0,4 6 0 16,0-6 0-16,-1 0 0 0,5 0 0 0,-5 0 0 15,-3 0 0-15,4 0 0 0,-7 0 0 0,-4 6 0 0,0-3 0 0,-4-3 0 16,5 0 0-16,2 0 0 0,-3 7 0 0,4-7 0 16,-4 0 0-16,-4 0 0 0,1 0 0 0,0 0 0 15,-4 3 0-15,3-3 0 0,1 0 0 0,3 0 0 16,0 0 0-16,-4 0 0 0,1 0 0 0,0 0 0 16,-8 0 0-16,4 0 0 0,0 0 0 0,4 0 0 15,3 0 0-15,3 6 0 0,1-6 0 0,-4 0 0 16,4 0 0-16,-4 0 0 0,0 0 0 0,0 3 0 15,-4-3 0-15,5 0 0 0,2 6 0 0,4-3 0 16,4-3 0-16,0 0 0 0,-1 0 0 0,5 0 0 16,-5 0 0-16,1 0 0 0,0 0 0 0,-1 0 0 15,4 0 0-15,1 0 0 0,2 7 0 0,1-4 0 16,3-3 0-16,4 6 0 0,3-6 0 0,1 0 0 16,2 3 0-16,5 4 0 0,-1-7-10 0,4 9-2 0,-4-9 0 15,4 9 0 1,4-9-71-16,-4 7-14 0,3-4-3 0,4 6-1 15,0-3-44-15,3-2-9 0,1 8-2 0,3-9-1030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1-20T14:50:39.7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1-20T14:50:56.4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3828 55 24575,'-17'0'0,"-4"0"0,10 0 0,-5 0 0,1 0 0,3 0 0,-8 0 0,8 0 0,-9 0 0,10 0 0,-4 0 0,5 0 0,-1 0 0,-4 0 0,4 0 0,-5 0 0,6 0 0,0 5 0,0-4 0,0 3 0,0 1 0,-6-4 0,5 3 0,-4-4 0,5 0 0,-1 0 0,-4 0 0,4 0 0,-5 4 0,6-2 0,0 2 0,0-4 0,0 0 0,0 4 0,-6-3 0,5 4 0,-4-5 0,5 0 0,-1 4 0,1-3 0,0 4 0,0-5 0,0 0 0,0 0 0,-5 0 0,3 0 0,-3 0 0,5 0 0,0 0 0,0 0 0,0 0 0,0 0 0,-1 0 0,1 0 0,0 0 0,0 0 0,0 0 0,0 0 0,0 0 0,0 0 0,0 0 0,0 0 0,0 0 0,-6 0 0,5 0 0,-5 0 0,6 0 0,-5 0 0,4 0 0,-10 0 0,9 0 0,-8-5 0,8 4 0,-3-4 0,5 5 0,-6-5 0,5 3 0,-4-2 0,4 4 0,-4-5 0,4 3 0,-5-3 0,6 5 0,0 0 0,0 0 0,0-4 0,0 3 0,0-4 0,0 5 0,0 0 0,0 0 0,-1 0 0,1 0 0,0 0 0,0 0 0,0 0 0,0-4 0,0 3 0,0-4 0,0 5 0,0 0 0,0-4 0,0 3 0,0-4 0,0 5 0,-1-4 0,1 3 0,0-4 0,0 5 0,0-4 0,0 3 0,0-4 0,0 5 0,0 0 0,0-4 0,0 2 0,0-2 0,0 4 0,0 0 0,-1 0 0,1-4 0,0 2 0,0-2 0,0 4 0,0 0 0,0 0 0,0 0 0,0 0 0,0 0 0,0 0 0,0 0 0,0 0 0,0 0 0,-1 0 0,1 0 0,0 0 0,0 0 0,0 0 0,0 0 0,0 0 0,0 0 0,0 0 0,0 0 0,0 0 0,0 0 0,0 0 0,-1 0 0,1 4 0,0-3 0,5 14 0,0-3 0,5 4 0,0 0 0,0-6 0,0 0 0,0-1 0,0 1 0,0 0 0,0 6 0,0-5 0,0 4 0,0 0 0,0-3 0,0 8 0,0-3 0,0-1 0,0 11 0,0-14 0,0 14 0,0-4 0,0 0 0,0 6 0,5-7 0,-4 6 0,4-5 0,-5 6 0,0-7 0,0-1 0,0 1 0,0 7 0,0-6 0,0 5 0,0-11 0,0 4 0,0-5 0,0 1 0,0 3 0,0-3 0,0 0 0,0 3 0,0-8 0,0 8 0,0-9 0,0 10 0,0-4 0,0-1 0,0 5 0,0-10 0,0 4 0,-5 1 0,4-5 0,-8 4 0,8-5 0,-4 0 0,0 5 0,4-4 0,-9 5 0,9-6 0,-3 0 0,4 0 0,-5-1 0,4 1 0,-3 0 0,4 0 0,-5 0 0,4 0 0,-3 0 0,4 0 0,0 0 0,0 0 0,-5 0 0,4 0 0,-3 0 0,4-1 0,0 1 0,0 0 0,0 0 0,0 0 0,0 0 0,0 0 0,0 0 0,0 0 0,0 0 0,0 0 0,0 0 0,0 0 0,0-1 0,4-3 0,2-2 0,9-4 0,1-5 0,1 4 0,4-9 0,-10 9 0,10-4 0,-10 5 0,4 0 0,-5 0 0,0 0 0,0 0 0,0 0 0,0 0 0,0 0 0,0 0 0,-1 0 0,1 0 0,0 0 0,6 0 0,-5 0 0,4 0 0,-5 0 0,0 0 0,0 0 0,5 0 0,-4 0 0,5 0 0,-6 0 0,-1 0 0,1 0 0,0 0 0,6 0 0,-5 0 0,4 0 0,-5 0 0,0 0 0,0 0 0,0 0 0,5 0 0,-4 0 0,5 0 0,-1 0 0,-4 0 0,10 0 0,-10 0 0,10 0 0,-5 0 0,1 0 0,3 0 0,-8 0 0,8 0 0,-8 0 0,8 0 0,-9 0 0,5 0 0,-6 5 0,0-4 0,-1 3 0,1-4 0,0 0 0,0 0 0,0 0 0,0 0 0,0 0 0,0 0 0,0 0 0,0-4 0,0 2 0,0-2 0,-1 4 0,-3-5 0,-2 0 0,-4-5 0,0 0 0,0 0 0,0 0 0,0 0 0,0-1 0,0 1 0,0 0 0,0 0 0,0 0 0,0 0 0,0 0 0,0 0 0,0 0 0,0 0 0,0 0 0,0 0 0,0 0 0,0 0 0,0-1 0,0 1 0,0 0 0,0 0 0,0 0 0,0 0 0,0 0 0,0 0 0,0 0 0,0 0 0,0 0 0,0 0 0,0 0 0,5-1 0,-4 1 0,3 0 0,-4 0 0,5 5 0,-4-10 0,8 3 0,-3 0 0,16 2 0,-4 10 0,16 0 0,-4 0 0,14 0 0,1 0 0,7 0 0,1 0 0,7 0 0,-5 0 0,6 0 0,-16 0 0,5 0 0,-18 5 0,10-4 0,-19 4 0,6 0 0,-7-4 0,0 4 0,-6-1 0,5-3 0,-10 4 0,10-5 0,-10 0 0,9 5 0,-3-4 0,5 4 0,0-5 0,6 0 0,-4 0 0,4 0 0,0 0 0,-4 0 0,10 0 0,-10 0 0,10 0 0,-4 0 0,0 0 0,-2 5 0,0-4 0,-4 4 0,4-5 0,-6 5 0,0-4 0,0 4 0,-6-5 0,5 0 0,-4 5 0,-1-4 0,0 4 0,-7-5 0,1 0 0,0 0 0,0 0 0,0 0 0,0 0 0,0 0 0,0 0 0,0 0 0,-5 10 0,0 2 0,-5 10 0,0 0 0,0 0 0,0 0 0,0-1 0,0 1 0,0 0 0,0 0 0,0 7 0,0-6 0,0 5 0,0-6 0,0 0 0,0 0 0,0 0 0,0-5 0,0 3 0,0-3 0,0-1 0,0 5 0,0-10 0,0 10 0,0-4 0,0 11 0,0-5 0,5 6 0,-4-7 0,9-1 0,-9 1 0,4 0 0,0 0 0,-4 0 0,4-5 0,-5-2 0,0-5 0,0 0 0,0 0 0,0 0 0,0 0 0,-5-5 0,-6 0 0,-5-5 0,-13 0 0,11 4 0,-9-3 0,10 4 0,-5-5 0,5 0 0,-4 0 0,10 0 0,-10 0 0,10 0 0,-10 0 0,10 0 0,-10 0 0,4 0 0,0 0 0,-3 0 0,3 0 0,0 0 0,-4 0 0,5 0 0,-1 0 0,-4 0 0,10 0 0,-10 0 0,10 0 0,-5 0 0,6 4 0,0-3 0,-5 3 0,3-4 0,-3 0 0,-1 5 0,5-3 0,-5 2 0,1-4 0,4 0 0,-5 0 0,6 0 0,0 5 0,0-4 0,0 3 0,0-4 0,0 0 0,4 5 0,2 0 0,4 5 0,0 6 0,0-5 0,0 16 0,0-9 0,0 10 0,0-6 0,-5 0 0,4 0 0,-4 0 0,0 0 0,3 0 0,-7 0 0,7-6 0,-7 0 0,3-1 0,0-4 0,1 4 0,1-5 0,3 0 0,-4 0 0,5 0 0,-16-4 0,-4-2 0,-16-4 0,-8 0 0,6 0 0,-5 0 0,6 0 0,1 0 0,0-5 0,6 3 0,-5-9 0,5 10 0,-6-10 0,6 5 0,-5-1 0,12-3 0,-12 4 0,11-1 0,-10-3 0,10 8 0,-11-9 0,12 10 0,-6-4 0,1-1 0,4 5 0,-10-5 0,10 6 0,-11-5 0,5 4 0,0-5 0,-4 6 0,4 0 0,0 0 0,-5 0 0,12 0 0,-12 0 0,11 0 0,-10 0 0,10 0 0,-11 0 0,12-5 0,-6 4 0,1-4 0,4 5 0,-10 0 0,10 0 0,-5 0 0,7 0 0,0 0 0,0 0 0,0 0 0,0 0 0,0 0 0,0 0 0,0 0 0,0 0 0,-1 0 0,1 0 0,0 0 0,0 0 0,0 0 0,0 0 0,0 0 0,0 0 0,0 0 0,0 0 0,0 0 0,-1 0 0,-5 0 0,4 0 0,-4 0 0,0 0 0,4 0 0,-11 0 0,12 0 0,-6 0 0,1 0 0,4 0 0,-4 5 0,6-4 0,0 4 0,0-5 0,-1 5 0,7-4 0,0 4 0,1-5 0,3 0 0,-8 0 0,3 5 0,-5-4 0,0 4 0,5 0 0,-4-4 0,4 3 0,-11-4 0,4 5 0,-4-4 0,0 4 0,4 0 0,-11-4 0,12 4 0,-12 0 0,5-3 0,0 8 0,-5-9 0,5 4 0,-6 0 0,6-3 0,2 3 0,0-5 0,4 0 0,-11 0 0,12 0 0,-12 0 0,11 0 0,-4 0 0,-1 0 0,6 0 0,-12 0 0,11 0 0,-4 0 0,6 0 0,0 0 0,5 0 0,-4 0 0,5 0 0,-1 0 0,-4 0 0,4 0 0,-5 0 0,0 0 0,5 0 0,-3 0 0,3 0 0,-5 0 0,5 0 0,-4 0 0,10 0 0,-10 0 0,10 0 0,-10 0 0,9 0 0,-3 0 0,5 0 0,-5 0 0,3 0 0,-3 0 0,5 0 0,0 0 0,0 0 0,-1 0 0,1 0 0,0 4 0,5-2 0,0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94" y="4561576"/>
            <a:ext cx="5852814" cy="4318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684C7023-1648-4F51-874D-1B6680E39D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392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8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37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56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75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Please retain proper</a:t>
            </a:r>
            <a:r>
              <a:rPr lang="en-US" baseline="0" dirty="0"/>
              <a:t> attribution, including the reference to </a:t>
            </a:r>
            <a:r>
              <a:rPr lang="en-US" baseline="0" dirty="0" err="1"/>
              <a:t>ai.berkeley.edu</a:t>
            </a:r>
            <a:r>
              <a:rPr lang="en-US" baseline="0" dirty="0"/>
              <a:t>.  </a:t>
            </a:r>
            <a:r>
              <a:rPr lang="en-US" baseline="0"/>
              <a:t>Thanks!</a:t>
            </a:r>
            <a:endParaRPr lang="en-US" sz="120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32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1F94F5-58D1-42ED-AB38-DD97D2E4947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770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0E0FD6-A987-4E1A-BCF4-7669DC860F72}" type="slidenum">
              <a:rPr lang="en-US" smtClean="0">
                <a:latin typeface="Arial" charset="0"/>
              </a:rPr>
              <a:pPr/>
              <a:t>8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33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98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Arial" charset="0"/>
              </a:rPr>
              <a:t>A* expanded 8100 ; Path cost = 33</a:t>
            </a:r>
          </a:p>
          <a:p>
            <a:r>
              <a:rPr lang="en-US" dirty="0">
                <a:latin typeface="Arial" charset="0"/>
              </a:rPr>
              <a:t>UCS expanded 25263 . Path cost = 33</a:t>
            </a:r>
          </a:p>
          <a:p>
            <a:r>
              <a:rPr lang="en-US" dirty="0">
                <a:latin typeface="Arial" charset="0"/>
              </a:rPr>
              <a:t>Greedy expanded 10 . Path cost = 41</a:t>
            </a:r>
          </a:p>
          <a:p>
            <a:r>
              <a:rPr lang="en-US" dirty="0">
                <a:latin typeface="Arial" charset="0"/>
              </a:rPr>
              <a:t>[0, 7, 5, 3, 2, 1, 4, 6]</a:t>
            </a:r>
          </a:p>
          <a:p>
            <a:r>
              <a:rPr lang="en-US" dirty="0">
                <a:latin typeface="Arial" charset="0"/>
              </a:rPr>
              <a:t>(7, 0, 5, 3, 2, 1, 4, 6)</a:t>
            </a:r>
          </a:p>
          <a:p>
            <a:r>
              <a:rPr lang="en-US" dirty="0">
                <a:latin typeface="Arial" charset="0"/>
              </a:rPr>
              <a:t>(6, 4, 1, 2, 3, 5, 0, 7)</a:t>
            </a:r>
          </a:p>
          <a:p>
            <a:r>
              <a:rPr lang="en-US" dirty="0">
                <a:latin typeface="Arial" charset="0"/>
              </a:rPr>
              <a:t>(3, 2, 1, 4, 6, 5, 0, 7)</a:t>
            </a:r>
          </a:p>
          <a:p>
            <a:r>
              <a:rPr lang="en-US" dirty="0">
                <a:latin typeface="Arial" charset="0"/>
              </a:rPr>
              <a:t>(1, 2, 3, 4, 6, 5, 0, 7)</a:t>
            </a:r>
          </a:p>
          <a:p>
            <a:r>
              <a:rPr lang="en-US" dirty="0">
                <a:latin typeface="Arial" charset="0"/>
              </a:rPr>
              <a:t>(5, 6, 4, 3, 2, 1, 0, 7)</a:t>
            </a:r>
          </a:p>
          <a:p>
            <a:r>
              <a:rPr lang="en-US" dirty="0">
                <a:latin typeface="Arial" charset="0"/>
              </a:rPr>
              <a:t>(6, 5, 4, 3, 2, 1, 0, 7)</a:t>
            </a:r>
          </a:p>
          <a:p>
            <a:r>
              <a:rPr lang="en-US" dirty="0">
                <a:latin typeface="Arial" charset="0"/>
              </a:rPr>
              <a:t>(0, 1, 2, 3, 4, 5, 6, 7)</a:t>
            </a: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CDAF64-B086-440E-BFF9-B4CF7AA4786C}" type="slidenum">
              <a:rPr lang="en-US" smtClean="0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217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For any search problem, you know the goal.  Now, you have an idea of how far away you are from the goal.</a:t>
            </a: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2CE179-B2C7-46EC-9538-A27EC550BBF7}" type="slidenum">
              <a:rPr lang="en-US" smtClean="0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388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Notes: these images licensed from iStockphoto for UC Berkeley use.</a:t>
            </a: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0E0FD6-A987-4E1A-BCF4-7669DC860F72}" type="slidenum">
              <a:rPr lang="en-US" smtClean="0">
                <a:latin typeface="Arial" charset="0"/>
              </a:rPr>
              <a:pPr/>
              <a:t>22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546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1A524C-0FE5-4D64-AE7F-8C8CC01270F0}" type="slidenum">
              <a:rPr lang="en-US" smtClean="0">
                <a:latin typeface="Arial" charset="0"/>
              </a:rPr>
              <a:pPr/>
              <a:t>23</a:t>
            </a:fld>
            <a:endParaRPr lang="en-US">
              <a:latin typeface="Arial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36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9F9AF4-5B05-467D-A88D-11CD62E3A2C2}" type="slidenum">
              <a:rPr lang="en-US" smtClean="0">
                <a:latin typeface="Arial" charset="0"/>
              </a:rPr>
              <a:pPr/>
              <a:t>36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568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A559F-2ED3-42FB-97D7-7C336CEBC91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AE4EA-EF72-4592-B966-0919EDBC0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4D84D3-0B6F-43E9-96DD-B384A1346F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4CD15-A186-434C-A76C-E16FE73CAB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F1A73-48D6-4B22-86A8-533683877D9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BE99A-4DC5-4CD3-AA5A-F0648462A6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7EAA6-40E0-4638-8426-274C359A2A1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8C8E3-8727-4A80-8860-67A2C5A4D4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00F85-53AA-4CB9-B5F3-E0A7D91F13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028D4-0D48-40B4-A2B4-AA16B583E8A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581A5-8CD7-46EA-B6E3-B84F6F7DE5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7BFCCC65-4CBD-445E-A057-E1EE8E8797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2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5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9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4.png"/><Relationship Id="rId5" Type="http://schemas.openxmlformats.org/officeDocument/2006/relationships/tags" Target="../tags/tag10.xml"/><Relationship Id="rId10" Type="http://schemas.openxmlformats.org/officeDocument/2006/relationships/image" Target="../media/image28.png"/><Relationship Id="rId4" Type="http://schemas.openxmlformats.org/officeDocument/2006/relationships/tags" Target="../tags/tag9.xml"/><Relationship Id="rId9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14.xml"/><Relationship Id="rId7" Type="http://schemas.openxmlformats.org/officeDocument/2006/relationships/image" Target="../media/image30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5.png"/><Relationship Id="rId5" Type="http://schemas.openxmlformats.org/officeDocument/2006/relationships/tags" Target="../tags/tag16.xml"/><Relationship Id="rId10" Type="http://schemas.openxmlformats.org/officeDocument/2006/relationships/image" Target="../media/image24.png"/><Relationship Id="rId4" Type="http://schemas.openxmlformats.org/officeDocument/2006/relationships/tags" Target="../tags/tag15.xml"/><Relationship Id="rId9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19.xml"/><Relationship Id="rId7" Type="http://schemas.openxmlformats.org/officeDocument/2006/relationships/image" Target="../media/image28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2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Relationship Id="rId9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34.jpeg"/><Relationship Id="rId7" Type="http://schemas.openxmlformats.org/officeDocument/2006/relationships/customXml" Target="../ink/ink2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customXml" Target="../ink/ink1.xml"/><Relationship Id="rId10" Type="http://schemas.openxmlformats.org/officeDocument/2006/relationships/image" Target="../media/image270.png"/><Relationship Id="rId4" Type="http://schemas.openxmlformats.org/officeDocument/2006/relationships/image" Target="../media/image35.jpeg"/><Relationship Id="rId9" Type="http://schemas.openxmlformats.org/officeDocument/2006/relationships/customXml" Target="../ink/ink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23.xml"/><Relationship Id="rId7" Type="http://schemas.openxmlformats.org/officeDocument/2006/relationships/image" Target="../media/image28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9.png"/><Relationship Id="rId5" Type="http://schemas.openxmlformats.org/officeDocument/2006/relationships/tags" Target="../tags/tag25.xml"/><Relationship Id="rId10" Type="http://schemas.openxmlformats.org/officeDocument/2006/relationships/image" Target="../media/image48.png"/><Relationship Id="rId4" Type="http://schemas.openxmlformats.org/officeDocument/2006/relationships/tags" Target="../tags/tag24.xml"/><Relationship Id="rId9" Type="http://schemas.openxmlformats.org/officeDocument/2006/relationships/image" Target="../media/image47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3"/>
            <a:ext cx="12192000" cy="1470025"/>
          </a:xfrm>
        </p:spPr>
        <p:txBody>
          <a:bodyPr/>
          <a:lstStyle/>
          <a:p>
            <a:pPr eaLnBrk="1" hangingPunct="1"/>
            <a:r>
              <a:rPr lang="vi-VN" dirty="0"/>
              <a:t>AIT2004: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vi-VN" dirty="0"/>
              <a:t>Trí tuệ nhân tạo</a:t>
            </a:r>
            <a:br>
              <a:rPr lang="vi-VN" dirty="0"/>
            </a:br>
            <a:endParaRPr lang="vi-VN" sz="3600" noProof="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295400"/>
            <a:ext cx="12192000" cy="1524000"/>
          </a:xfrm>
        </p:spPr>
        <p:txBody>
          <a:bodyPr/>
          <a:lstStyle/>
          <a:p>
            <a:pPr eaLnBrk="1" hangingPunct="1"/>
            <a:r>
              <a:rPr lang="vi-VN" sz="4300" noProof="0" dirty="0"/>
              <a:t>Tìm kiếm dựa trên kinh nghiệm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84704" y="1974760"/>
            <a:ext cx="7010399" cy="3511382"/>
          </a:xfrm>
          <a:prstGeom prst="rect">
            <a:avLst/>
          </a:prstGeom>
          <a:noFill/>
        </p:spPr>
      </p:pic>
      <p:sp>
        <p:nvSpPr>
          <p:cNvPr id="2" name="Text Box 8">
            <a:extLst>
              <a:ext uri="{FF2B5EF4-FFF2-40B4-BE49-F238E27FC236}">
                <a16:creationId xmlns:a16="http://schemas.microsoft.com/office/drawing/2014/main" id="{75767FCD-888B-E9F0-B26B-48F022935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6238809"/>
            <a:ext cx="12115800" cy="2846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>
                <a:latin typeface="Calibri"/>
                <a:cs typeface="Calibri"/>
              </a:rPr>
              <a:t>[</a:t>
            </a:r>
            <a:r>
              <a:rPr lang="en-US" sz="1400" dirty="0" err="1">
                <a:latin typeface="Calibri"/>
                <a:cs typeface="Calibri"/>
              </a:rPr>
              <a:t>Sử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dụng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một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số</a:t>
            </a:r>
            <a:r>
              <a:rPr lang="en-US" sz="1400" dirty="0">
                <a:latin typeface="Calibri"/>
                <a:cs typeface="Calibri"/>
              </a:rPr>
              <a:t> slides </a:t>
            </a:r>
            <a:r>
              <a:rPr lang="en-US" sz="1400" dirty="0" err="1">
                <a:latin typeface="Calibri"/>
                <a:cs typeface="Calibri"/>
              </a:rPr>
              <a:t>của</a:t>
            </a:r>
            <a:r>
              <a:rPr lang="en-US" sz="1400" dirty="0">
                <a:latin typeface="Calibri"/>
                <a:cs typeface="Calibri"/>
              </a:rPr>
              <a:t> Dan Klein </a:t>
            </a:r>
            <a:r>
              <a:rPr lang="en-US" sz="1400" dirty="0" err="1">
                <a:latin typeface="Calibri"/>
                <a:cs typeface="Calibri"/>
              </a:rPr>
              <a:t>và</a:t>
            </a:r>
            <a:r>
              <a:rPr lang="en-US" sz="1400" dirty="0">
                <a:latin typeface="Calibri"/>
                <a:cs typeface="Calibri"/>
              </a:rPr>
              <a:t> Pieter </a:t>
            </a:r>
            <a:r>
              <a:rPr lang="en-US" sz="1400" dirty="0" err="1">
                <a:latin typeface="Calibri"/>
                <a:cs typeface="Calibri"/>
              </a:rPr>
              <a:t>Abbeel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từ</a:t>
            </a:r>
            <a:r>
              <a:rPr lang="en-US" sz="1400" dirty="0">
                <a:latin typeface="Calibri"/>
                <a:cs typeface="Calibri"/>
              </a:rPr>
              <a:t> CS188 Intro to AI at UC Berkeley]</a:t>
            </a:r>
            <a:endParaRPr lang="en-US"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295400"/>
            <a:ext cx="10337800" cy="4525963"/>
          </a:xfrm>
        </p:spPr>
        <p:txBody>
          <a:bodyPr/>
          <a:lstStyle/>
          <a:p>
            <a:pPr marL="228533" indent="-285750">
              <a:lnSpc>
                <a:spcPct val="80000"/>
              </a:lnSpc>
            </a:pPr>
            <a:r>
              <a:rPr lang="en-US" dirty="0" err="1"/>
              <a:t>Đinh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Tường</a:t>
            </a:r>
            <a:r>
              <a:rPr lang="en-US" dirty="0"/>
              <a:t>, </a:t>
            </a:r>
            <a:r>
              <a:rPr lang="en-US" i="1" dirty="0" err="1"/>
              <a:t>Trí</a:t>
            </a:r>
            <a:r>
              <a:rPr lang="en-US" i="1" dirty="0"/>
              <a:t> </a:t>
            </a:r>
            <a:r>
              <a:rPr lang="en-US" i="1" dirty="0" err="1"/>
              <a:t>tuệ</a:t>
            </a:r>
            <a:r>
              <a:rPr lang="en-US" i="1" dirty="0"/>
              <a:t> </a:t>
            </a:r>
            <a:r>
              <a:rPr lang="en-US" i="1" dirty="0" err="1"/>
              <a:t>nhân</a:t>
            </a:r>
            <a:r>
              <a:rPr lang="en-US" i="1" dirty="0"/>
              <a:t> </a:t>
            </a:r>
            <a:r>
              <a:rPr lang="en-US" i="1" dirty="0" err="1"/>
              <a:t>tạo</a:t>
            </a:r>
            <a:r>
              <a:rPr lang="en-US" i="1" dirty="0"/>
              <a:t> – </a:t>
            </a:r>
            <a:r>
              <a:rPr lang="en-US" i="1" dirty="0" err="1"/>
              <a:t>Cách</a:t>
            </a:r>
            <a:r>
              <a:rPr lang="en-US" i="1" dirty="0"/>
              <a:t> </a:t>
            </a:r>
            <a:r>
              <a:rPr lang="en-US" i="1" dirty="0" err="1"/>
              <a:t>tiếp</a:t>
            </a:r>
            <a:r>
              <a:rPr lang="en-US" i="1" dirty="0"/>
              <a:t> </a:t>
            </a:r>
            <a:r>
              <a:rPr lang="en-US" i="1" dirty="0" err="1"/>
              <a:t>cận</a:t>
            </a:r>
            <a:r>
              <a:rPr lang="en-US" i="1" dirty="0"/>
              <a:t> </a:t>
            </a:r>
            <a:r>
              <a:rPr lang="en-US" i="1" dirty="0" err="1"/>
              <a:t>hiện</a:t>
            </a:r>
            <a:r>
              <a:rPr lang="en-US" i="1" dirty="0"/>
              <a:t> </a:t>
            </a:r>
            <a:r>
              <a:rPr lang="en-US" i="1" dirty="0" err="1"/>
              <a:t>đại</a:t>
            </a:r>
            <a:r>
              <a:rPr lang="en-US" dirty="0"/>
              <a:t>, NXB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, 2024</a:t>
            </a:r>
          </a:p>
          <a:p>
            <a:pPr marL="685733" lvl="1" indent="-285750">
              <a:lnSpc>
                <a:spcPct val="80000"/>
              </a:lnSpc>
            </a:pPr>
            <a:r>
              <a:rPr lang="en-US" dirty="0" err="1"/>
              <a:t>Chương</a:t>
            </a:r>
            <a:r>
              <a:rPr lang="en-US" dirty="0"/>
              <a:t> 4.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nghiệm</a:t>
            </a:r>
            <a:endParaRPr lang="en-US" dirty="0"/>
          </a:p>
          <a:p>
            <a:pPr marL="1314383" lvl="3" indent="0" eaLnBrk="1" hangingPunct="1">
              <a:lnSpc>
                <a:spcPct val="80000"/>
              </a:lnSpc>
              <a:buNone/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dirty="0"/>
              <a:t>Wolfgang </a:t>
            </a:r>
            <a:r>
              <a:rPr lang="en-US" dirty="0" err="1"/>
              <a:t>Ertel</a:t>
            </a:r>
            <a:r>
              <a:rPr lang="en-US" dirty="0"/>
              <a:t>, </a:t>
            </a:r>
            <a:r>
              <a:rPr lang="en-US" i="1" dirty="0"/>
              <a:t>Introduction to Artificial Intelligence (2nd ed)</a:t>
            </a:r>
            <a:r>
              <a:rPr lang="en-US" dirty="0"/>
              <a:t>, Springer 2017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Chapter 6. Search, Games and Problem Solving</a:t>
            </a:r>
          </a:p>
          <a:p>
            <a:pPr lvl="3"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vi-VN" dirty="0" err="1"/>
              <a:t>Russell</a:t>
            </a:r>
            <a:r>
              <a:rPr lang="vi-VN" dirty="0"/>
              <a:t> &amp; </a:t>
            </a:r>
            <a:r>
              <a:rPr lang="vi-VN" dirty="0" err="1"/>
              <a:t>Norvig</a:t>
            </a:r>
            <a:r>
              <a:rPr lang="vi-VN" dirty="0"/>
              <a:t>, </a:t>
            </a:r>
            <a:r>
              <a:rPr lang="vi-VN" i="1" dirty="0"/>
              <a:t>AI: A </a:t>
            </a:r>
            <a:r>
              <a:rPr lang="vi-VN" i="1" dirty="0" err="1"/>
              <a:t>Modern</a:t>
            </a:r>
            <a:r>
              <a:rPr lang="vi-VN" i="1" dirty="0"/>
              <a:t> </a:t>
            </a:r>
            <a:r>
              <a:rPr lang="vi-VN" i="1" dirty="0" err="1"/>
              <a:t>Approach</a:t>
            </a:r>
            <a:r>
              <a:rPr lang="vi-VN" i="1" dirty="0"/>
              <a:t>, 4</a:t>
            </a:r>
            <a:r>
              <a:rPr lang="vi-VN" i="1" baseline="30000" dirty="0"/>
              <a:t>th</a:t>
            </a:r>
            <a:r>
              <a:rPr lang="vi-VN" i="1" dirty="0"/>
              <a:t> </a:t>
            </a:r>
            <a:r>
              <a:rPr lang="en-US" i="1" dirty="0"/>
              <a:t>ed.</a:t>
            </a:r>
            <a:r>
              <a:rPr lang="en-US" dirty="0"/>
              <a:t>, Pearson 2020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Chapter 3. Solving Problems by Searching</a:t>
            </a:r>
            <a:endParaRPr lang="vi-VN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vi-VN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69647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Nhắc lại: Tìm kiếm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76962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Bài toán tìm kiếm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Trạng thái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Hành động và chi phí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Hàm chuyển trạng thái</a:t>
            </a:r>
          </a:p>
          <a:p>
            <a:pPr lvl="2">
              <a:lnSpc>
                <a:spcPct val="90000"/>
              </a:lnSpc>
            </a:pPr>
            <a:r>
              <a:rPr lang="vi-VN" sz="1600" noProof="0" dirty="0"/>
              <a:t>mô phỏng vận động của môi trường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Trạng thái bắt đầu, hàm kiểm tra kết thúc</a:t>
            </a:r>
          </a:p>
          <a:p>
            <a:pPr>
              <a:lnSpc>
                <a:spcPct val="90000"/>
              </a:lnSpc>
            </a:pPr>
            <a:endParaRPr lang="vi-VN" sz="15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Cây tìm kiếm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Nút trong cây = kế hoạch đạt tới trạng thái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dirty="0"/>
              <a:t>Chi phí của kế hoạch = tổng chi phí của hành động</a:t>
            </a:r>
            <a:endParaRPr lang="vi-VN" sz="2000" noProof="0" dirty="0"/>
          </a:p>
          <a:p>
            <a:pPr>
              <a:lnSpc>
                <a:spcPct val="90000"/>
              </a:lnSpc>
            </a:pPr>
            <a:endParaRPr lang="vi-VN" sz="15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Thuật toán tìm kiếm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Xây dựng cây tìm kiếm một cách hệ thống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Chiến lược mở rộng biên tìm kiếm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Tối ưu = tìm kế hoạch có chi phí nhỏ nhất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90277" y="514350"/>
            <a:ext cx="6164445" cy="4629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val 8"/>
          <p:cNvSpPr>
            <a:spLocks noChangeArrowheads="1"/>
          </p:cNvSpPr>
          <p:nvPr/>
        </p:nvSpPr>
        <p:spPr bwMode="auto">
          <a:xfrm>
            <a:off x="8353425" y="4494213"/>
            <a:ext cx="1912937" cy="1771651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43" name="Freeform 21"/>
          <p:cNvSpPr>
            <a:spLocks/>
          </p:cNvSpPr>
          <p:nvPr/>
        </p:nvSpPr>
        <p:spPr bwMode="auto">
          <a:xfrm>
            <a:off x="8745536" y="1412875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 err="1"/>
              <a:t>Nhắc</a:t>
            </a:r>
            <a:r>
              <a:rPr lang="en-US" noProof="0" dirty="0"/>
              <a:t> </a:t>
            </a:r>
            <a:r>
              <a:rPr lang="en-US" noProof="0" dirty="0" err="1"/>
              <a:t>lại</a:t>
            </a:r>
            <a:r>
              <a:rPr lang="en-US" noProof="0" dirty="0"/>
              <a:t>: </a:t>
            </a:r>
            <a:r>
              <a:rPr lang="vi-VN" noProof="0" dirty="0"/>
              <a:t>Tìm kiếm chi phí đều (UCS)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7950198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dirty="0"/>
              <a:t>UCS khám phá cây tìm kiếm theo </a:t>
            </a:r>
            <a:r>
              <a:rPr lang="vi-VN" sz="2800" dirty="0">
                <a:solidFill>
                  <a:srgbClr val="FF0000"/>
                </a:solidFill>
              </a:rPr>
              <a:t>đường đồng mức</a:t>
            </a:r>
            <a:r>
              <a:rPr lang="vi-VN" sz="2800" dirty="0"/>
              <a:t> của chi phí</a:t>
            </a:r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 err="1"/>
              <a:t>Ưu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r>
              <a:rPr lang="vi-VN" sz="2800" dirty="0"/>
              <a:t>: UCS đầy đủ và tối ưu!</a:t>
            </a:r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 err="1"/>
              <a:t>Hạn</a:t>
            </a:r>
            <a:r>
              <a:rPr lang="en-US" sz="2800" dirty="0"/>
              <a:t> </a:t>
            </a:r>
            <a:r>
              <a:rPr lang="en-US" sz="2800" dirty="0" err="1"/>
              <a:t>chế</a:t>
            </a:r>
            <a:endParaRPr lang="vi-VN" sz="2800" dirty="0"/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Khám phá các kế hoạch theo mọi hướng có thể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Không sử dụng thông tin về mục tiêu</a:t>
            </a:r>
            <a:endParaRPr lang="vi-VN" sz="2800" noProof="0" dirty="0"/>
          </a:p>
        </p:txBody>
      </p:sp>
      <p:sp>
        <p:nvSpPr>
          <p:cNvPr id="10246" name="Oval 4"/>
          <p:cNvSpPr>
            <a:spLocks noChangeArrowheads="1"/>
          </p:cNvSpPr>
          <p:nvPr/>
        </p:nvSpPr>
        <p:spPr bwMode="auto">
          <a:xfrm>
            <a:off x="9256712" y="5270501"/>
            <a:ext cx="163513" cy="15398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47" name="Text Box 5"/>
          <p:cNvSpPr txBox="1">
            <a:spLocks noChangeArrowheads="1"/>
          </p:cNvSpPr>
          <p:nvPr/>
        </p:nvSpPr>
        <p:spPr bwMode="auto">
          <a:xfrm>
            <a:off x="8994774" y="5386389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Start</a:t>
            </a:r>
          </a:p>
        </p:txBody>
      </p:sp>
      <p:sp>
        <p:nvSpPr>
          <p:cNvPr id="10248" name="Oval 6"/>
          <p:cNvSpPr>
            <a:spLocks noChangeArrowheads="1"/>
          </p:cNvSpPr>
          <p:nvPr/>
        </p:nvSpPr>
        <p:spPr bwMode="auto">
          <a:xfrm>
            <a:off x="10183812" y="5292726"/>
            <a:ext cx="163513" cy="1539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49" name="Text Box 7"/>
          <p:cNvSpPr txBox="1">
            <a:spLocks noChangeArrowheads="1"/>
          </p:cNvSpPr>
          <p:nvPr/>
        </p:nvSpPr>
        <p:spPr bwMode="auto">
          <a:xfrm>
            <a:off x="10244136" y="5410201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Goal</a:t>
            </a:r>
          </a:p>
        </p:txBody>
      </p:sp>
      <p:sp>
        <p:nvSpPr>
          <p:cNvPr id="10250" name="Freeform 9"/>
          <p:cNvSpPr>
            <a:spLocks/>
          </p:cNvSpPr>
          <p:nvPr/>
        </p:nvSpPr>
        <p:spPr bwMode="auto">
          <a:xfrm>
            <a:off x="8251825" y="1560514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51" name="Oval 10"/>
          <p:cNvSpPr>
            <a:spLocks noChangeArrowheads="1"/>
          </p:cNvSpPr>
          <p:nvPr/>
        </p:nvSpPr>
        <p:spPr bwMode="auto">
          <a:xfrm>
            <a:off x="9374186" y="1916113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52" name="Oval 11"/>
          <p:cNvSpPr>
            <a:spLocks noChangeArrowheads="1"/>
          </p:cNvSpPr>
          <p:nvPr/>
        </p:nvSpPr>
        <p:spPr bwMode="auto">
          <a:xfrm>
            <a:off x="9850437" y="1906589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53" name="Text Box 12"/>
          <p:cNvSpPr txBox="1">
            <a:spLocks noChangeArrowheads="1"/>
          </p:cNvSpPr>
          <p:nvPr/>
        </p:nvSpPr>
        <p:spPr bwMode="auto">
          <a:xfrm>
            <a:off x="9504361" y="1766889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10254" name="Oval 16"/>
          <p:cNvSpPr>
            <a:spLocks noChangeArrowheads="1"/>
          </p:cNvSpPr>
          <p:nvPr/>
        </p:nvSpPr>
        <p:spPr bwMode="auto">
          <a:xfrm>
            <a:off x="10098086" y="2955926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55" name="Oval 17"/>
          <p:cNvSpPr>
            <a:spLocks noChangeArrowheads="1"/>
          </p:cNvSpPr>
          <p:nvPr/>
        </p:nvSpPr>
        <p:spPr bwMode="auto">
          <a:xfrm>
            <a:off x="9618662" y="3511550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56" name="Freeform 19"/>
          <p:cNvSpPr>
            <a:spLocks/>
          </p:cNvSpPr>
          <p:nvPr/>
        </p:nvSpPr>
        <p:spPr bwMode="auto">
          <a:xfrm>
            <a:off x="9572624" y="2301877"/>
            <a:ext cx="179387" cy="1196975"/>
          </a:xfrm>
          <a:custGeom>
            <a:avLst/>
            <a:gdLst>
              <a:gd name="T0" fmla="*/ 2147483647 w 113"/>
              <a:gd name="T1" fmla="*/ 0 h 754"/>
              <a:gd name="T2" fmla="*/ 2147483647 w 113"/>
              <a:gd name="T3" fmla="*/ 2147483647 h 754"/>
              <a:gd name="T4" fmla="*/ 2147483647 w 113"/>
              <a:gd name="T5" fmla="*/ 2147483647 h 754"/>
              <a:gd name="T6" fmla="*/ 2147483647 w 113"/>
              <a:gd name="T7" fmla="*/ 2147483647 h 754"/>
              <a:gd name="T8" fmla="*/ 2147483647 w 113"/>
              <a:gd name="T9" fmla="*/ 2147483647 h 754"/>
              <a:gd name="T10" fmla="*/ 0 w 113"/>
              <a:gd name="T11" fmla="*/ 2147483647 h 754"/>
              <a:gd name="T12" fmla="*/ 2147483647 w 113"/>
              <a:gd name="T13" fmla="*/ 2147483647 h 754"/>
              <a:gd name="T14" fmla="*/ 2147483647 w 113"/>
              <a:gd name="T15" fmla="*/ 2147483647 h 754"/>
              <a:gd name="T16" fmla="*/ 2147483647 w 113"/>
              <a:gd name="T17" fmla="*/ 2147483647 h 754"/>
              <a:gd name="T18" fmla="*/ 2147483647 w 113"/>
              <a:gd name="T19" fmla="*/ 2147483647 h 7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3"/>
              <a:gd name="T31" fmla="*/ 0 h 754"/>
              <a:gd name="T32" fmla="*/ 113 w 113"/>
              <a:gd name="T33" fmla="*/ 754 h 7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3" h="754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57" name="Freeform 20"/>
          <p:cNvSpPr>
            <a:spLocks/>
          </p:cNvSpPr>
          <p:nvPr/>
        </p:nvSpPr>
        <p:spPr bwMode="auto">
          <a:xfrm>
            <a:off x="9990136" y="2498725"/>
            <a:ext cx="222251" cy="436563"/>
          </a:xfrm>
          <a:custGeom>
            <a:avLst/>
            <a:gdLst>
              <a:gd name="T0" fmla="*/ 0 w 140"/>
              <a:gd name="T1" fmla="*/ 0 h 275"/>
              <a:gd name="T2" fmla="*/ 2147483647 w 140"/>
              <a:gd name="T3" fmla="*/ 2147483647 h 275"/>
              <a:gd name="T4" fmla="*/ 2147483647 w 140"/>
              <a:gd name="T5" fmla="*/ 2147483647 h 275"/>
              <a:gd name="T6" fmla="*/ 2147483647 w 140"/>
              <a:gd name="T7" fmla="*/ 2147483647 h 275"/>
              <a:gd name="T8" fmla="*/ 2147483647 w 140"/>
              <a:gd name="T9" fmla="*/ 2147483647 h 275"/>
              <a:gd name="T10" fmla="*/ 2147483647 w 140"/>
              <a:gd name="T11" fmla="*/ 2147483647 h 2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"/>
              <a:gd name="T19" fmla="*/ 0 h 275"/>
              <a:gd name="T20" fmla="*/ 140 w 140"/>
              <a:gd name="T21" fmla="*/ 275 h 2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" h="275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58" name="Oval 22"/>
          <p:cNvSpPr>
            <a:spLocks noChangeArrowheads="1"/>
          </p:cNvSpPr>
          <p:nvPr/>
        </p:nvSpPr>
        <p:spPr bwMode="auto">
          <a:xfrm>
            <a:off x="9605962" y="1490664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59" name="Freeform 23"/>
          <p:cNvSpPr>
            <a:spLocks/>
          </p:cNvSpPr>
          <p:nvPr/>
        </p:nvSpPr>
        <p:spPr bwMode="auto">
          <a:xfrm>
            <a:off x="9034462" y="2395539"/>
            <a:ext cx="1181100" cy="557212"/>
          </a:xfrm>
          <a:custGeom>
            <a:avLst/>
            <a:gdLst>
              <a:gd name="T0" fmla="*/ 2147483647 w 744"/>
              <a:gd name="T1" fmla="*/ 0 h 351"/>
              <a:gd name="T2" fmla="*/ 2147483647 w 744"/>
              <a:gd name="T3" fmla="*/ 2147483647 h 351"/>
              <a:gd name="T4" fmla="*/ 2147483647 w 744"/>
              <a:gd name="T5" fmla="*/ 2147483647 h 351"/>
              <a:gd name="T6" fmla="*/ 2147483647 w 744"/>
              <a:gd name="T7" fmla="*/ 2147483647 h 351"/>
              <a:gd name="T8" fmla="*/ 0 w 744"/>
              <a:gd name="T9" fmla="*/ 2147483647 h 3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351"/>
              <a:gd name="T17" fmla="*/ 744 w 744"/>
              <a:gd name="T18" fmla="*/ 351 h 3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351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60" name="Freeform 24"/>
          <p:cNvSpPr>
            <a:spLocks/>
          </p:cNvSpPr>
          <p:nvPr/>
        </p:nvSpPr>
        <p:spPr bwMode="auto">
          <a:xfrm>
            <a:off x="9290050" y="2127251"/>
            <a:ext cx="747712" cy="293688"/>
          </a:xfrm>
          <a:custGeom>
            <a:avLst/>
            <a:gdLst>
              <a:gd name="T0" fmla="*/ 2147483647 w 471"/>
              <a:gd name="T1" fmla="*/ 0 h 185"/>
              <a:gd name="T2" fmla="*/ 2147483647 w 471"/>
              <a:gd name="T3" fmla="*/ 2147483647 h 185"/>
              <a:gd name="T4" fmla="*/ 0 w 471"/>
              <a:gd name="T5" fmla="*/ 2147483647 h 185"/>
              <a:gd name="T6" fmla="*/ 0 60000 65536"/>
              <a:gd name="T7" fmla="*/ 0 60000 65536"/>
              <a:gd name="T8" fmla="*/ 0 60000 65536"/>
              <a:gd name="T9" fmla="*/ 0 w 471"/>
              <a:gd name="T10" fmla="*/ 0 h 185"/>
              <a:gd name="T11" fmla="*/ 471 w 471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1" h="185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61" name="Oval 25"/>
          <p:cNvSpPr>
            <a:spLocks noChangeArrowheads="1"/>
          </p:cNvSpPr>
          <p:nvPr/>
        </p:nvSpPr>
        <p:spPr bwMode="auto">
          <a:xfrm>
            <a:off x="8888412" y="4929189"/>
            <a:ext cx="869951" cy="8699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62" name="Text Box 26"/>
          <p:cNvSpPr txBox="1">
            <a:spLocks noChangeArrowheads="1"/>
          </p:cNvSpPr>
          <p:nvPr/>
        </p:nvSpPr>
        <p:spPr bwMode="auto">
          <a:xfrm>
            <a:off x="10528300" y="2495551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 </a:t>
            </a:r>
            <a:r>
              <a:rPr lang="en-US">
                <a:sym typeface="Symbol" pitchFamily="18" charset="2"/>
              </a:rPr>
              <a:t> 3</a:t>
            </a:r>
          </a:p>
        </p:txBody>
      </p:sp>
      <p:sp>
        <p:nvSpPr>
          <p:cNvPr id="10263" name="Text Box 27"/>
          <p:cNvSpPr txBox="1">
            <a:spLocks noChangeArrowheads="1"/>
          </p:cNvSpPr>
          <p:nvPr/>
        </p:nvSpPr>
        <p:spPr bwMode="auto">
          <a:xfrm>
            <a:off x="10401300" y="2100263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 </a:t>
            </a:r>
            <a:r>
              <a:rPr lang="en-US">
                <a:sym typeface="Symbol" pitchFamily="18" charset="2"/>
              </a:rPr>
              <a:t> 2</a:t>
            </a:r>
          </a:p>
        </p:txBody>
      </p:sp>
      <p:sp>
        <p:nvSpPr>
          <p:cNvPr id="10264" name="Text Box 28"/>
          <p:cNvSpPr txBox="1">
            <a:spLocks noChangeArrowheads="1"/>
          </p:cNvSpPr>
          <p:nvPr/>
        </p:nvSpPr>
        <p:spPr bwMode="auto">
          <a:xfrm>
            <a:off x="10201274" y="1722439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 </a:t>
            </a:r>
            <a:r>
              <a:rPr lang="en-US">
                <a:sym typeface="Symbol" pitchFamily="18" charset="2"/>
              </a:rPr>
              <a:t>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đường đồng mức UCS trong Empty</a:t>
            </a:r>
          </a:p>
        </p:txBody>
      </p:sp>
      <p:pic>
        <p:nvPicPr>
          <p:cNvPr id="3" name="Empty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05920" y="1128214"/>
            <a:ext cx="6380161" cy="534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7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vi-VN" sz="3600" noProof="0" dirty="0"/>
              <a:t>Ví dụ: đường đồng mức UCS trong</a:t>
            </a:r>
            <a:br>
              <a:rPr lang="vi-VN" sz="3600" noProof="0" dirty="0"/>
            </a:br>
            <a:r>
              <a:rPr lang="vi-VN" sz="3600" noProof="0" dirty="0"/>
              <a:t>Pacman Small Maze</a:t>
            </a:r>
          </a:p>
        </p:txBody>
      </p:sp>
      <p:pic>
        <p:nvPicPr>
          <p:cNvPr id="2" name="ContoursPacmanSmallMaze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5182" y="1117600"/>
            <a:ext cx="1012163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0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Uninformed vs Informed Search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60612" y="711808"/>
            <a:ext cx="6019344" cy="4514508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BF1B02-1A00-4854-B36A-EF6C512FC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32249" y="859749"/>
            <a:ext cx="7813155" cy="48871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1683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2590" y="1828800"/>
            <a:ext cx="5682419" cy="4416827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Nội dung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14436"/>
            <a:ext cx="10642600" cy="4729164"/>
          </a:xfrm>
        </p:spPr>
        <p:txBody>
          <a:bodyPr/>
          <a:lstStyle/>
          <a:p>
            <a:pPr eaLnBrk="1" hangingPunct="1"/>
            <a:endParaRPr lang="vi-VN" sz="3600" noProof="0" dirty="0"/>
          </a:p>
          <a:p>
            <a:pPr eaLnBrk="1" hangingPunct="1"/>
            <a:r>
              <a:rPr lang="vi-VN" sz="3600" noProof="0" dirty="0"/>
              <a:t>Tìm kiếm dựa trên kinh nghiệm</a:t>
            </a:r>
          </a:p>
          <a:p>
            <a:pPr lvl="1"/>
            <a:r>
              <a:rPr lang="vi-VN" sz="3200" noProof="0" dirty="0"/>
              <a:t>Hàm kinh nghiệm</a:t>
            </a:r>
          </a:p>
          <a:p>
            <a:pPr lvl="1"/>
            <a:r>
              <a:rPr lang="vi-VN" sz="3200" noProof="0" dirty="0"/>
              <a:t>Tìm kiếm ăn tham</a:t>
            </a:r>
          </a:p>
          <a:p>
            <a:pPr lvl="1"/>
            <a:r>
              <a:rPr lang="vi-VN" sz="3200" noProof="0" dirty="0"/>
              <a:t>Tìm kiếm A*</a:t>
            </a:r>
            <a:endParaRPr lang="en-US" sz="3200" noProof="0" dirty="0"/>
          </a:p>
          <a:p>
            <a:pPr marL="0" indent="0">
              <a:buNone/>
            </a:pPr>
            <a:endParaRPr lang="vi-VN" sz="3600" noProof="0" dirty="0"/>
          </a:p>
          <a:p>
            <a:pPr marL="0" indent="0" eaLnBrk="1" hangingPunct="1">
              <a:buNone/>
            </a:pPr>
            <a:endParaRPr lang="vi-VN" sz="3600" noProof="0" dirty="0"/>
          </a:p>
          <a:p>
            <a:pPr eaLnBrk="1" hangingPunct="1"/>
            <a:endParaRPr lang="vi-VN" sz="3600" noProof="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Tìm kiếm dựa trên kinh nghiệm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54691" y="1603435"/>
            <a:ext cx="6463617" cy="42624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1858412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Hàm kinh nghiệm</a:t>
            </a:r>
          </a:p>
        </p:txBody>
      </p:sp>
      <p:pic>
        <p:nvPicPr>
          <p:cNvPr id="32771" name="Picture 2" descr="Z:\Shared with PC\smallMaz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498849"/>
            <a:ext cx="6623051" cy="2978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457200" y="1219200"/>
            <a:ext cx="6858000" cy="1708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/>
          <a:lstStyle/>
          <a:p>
            <a:pPr marL="342866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vi-VN" sz="2800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Hàm kinh nghiệm:</a:t>
            </a:r>
          </a:p>
          <a:p>
            <a:pPr marL="800021" lvl="1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vi-VN" sz="2000" kern="0" dirty="0">
                <a:latin typeface="Calibri" pitchFamily="34" charset="0"/>
                <a:cs typeface="+mn-cs"/>
              </a:rPr>
              <a:t>Là hàm </a:t>
            </a:r>
            <a:r>
              <a:rPr lang="vi-VN" sz="2000" i="1" kern="0" dirty="0">
                <a:latin typeface="Calibri" pitchFamily="34" charset="0"/>
                <a:cs typeface="+mn-cs"/>
              </a:rPr>
              <a:t>ước lượng</a:t>
            </a:r>
            <a:r>
              <a:rPr lang="vi-VN" sz="2000" kern="0" dirty="0">
                <a:latin typeface="Calibri" pitchFamily="34" charset="0"/>
                <a:cs typeface="+mn-cs"/>
              </a:rPr>
              <a:t> một trạng thái gần mục tiêu thế nào</a:t>
            </a:r>
          </a:p>
          <a:p>
            <a:pPr marL="800021" lvl="1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vi-VN" sz="2000" kern="0" dirty="0">
                <a:latin typeface="Calibri" pitchFamily="34" charset="0"/>
                <a:cs typeface="+mn-cs"/>
              </a:rPr>
              <a:t>Được thiết kế cho từng bài toán tìm kiếm</a:t>
            </a:r>
          </a:p>
          <a:p>
            <a:pPr marL="800021" lvl="1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vi-VN" sz="2000" kern="0" dirty="0">
                <a:latin typeface="Calibri" pitchFamily="34" charset="0"/>
                <a:cs typeface="+mn-cs"/>
              </a:rPr>
              <a:t>Ví dụ: Khoảng cách </a:t>
            </a:r>
            <a:r>
              <a:rPr lang="vi-VN" sz="2000" kern="0" dirty="0" err="1">
                <a:latin typeface="Calibri" pitchFamily="34" charset="0"/>
                <a:cs typeface="+mn-cs"/>
              </a:rPr>
              <a:t>Manhattan</a:t>
            </a:r>
            <a:r>
              <a:rPr lang="en-US" sz="2000" kern="0" dirty="0">
                <a:latin typeface="Calibri" pitchFamily="34" charset="0"/>
              </a:rPr>
              <a:t>, </a:t>
            </a:r>
            <a:r>
              <a:rPr lang="en-US" sz="2000" kern="0" dirty="0" err="1">
                <a:latin typeface="Calibri" pitchFamily="34" charset="0"/>
              </a:rPr>
              <a:t>hoặc</a:t>
            </a:r>
            <a:r>
              <a:rPr lang="vi-VN" sz="2000" kern="0" dirty="0">
                <a:latin typeface="Calibri" pitchFamily="34" charset="0"/>
                <a:cs typeface="+mn-cs"/>
              </a:rPr>
              <a:t> khoảng cách </a:t>
            </a:r>
            <a:r>
              <a:rPr lang="vi-VN" sz="2000" kern="0" dirty="0" err="1">
                <a:latin typeface="Calibri" pitchFamily="34" charset="0"/>
                <a:cs typeface="+mn-cs"/>
              </a:rPr>
              <a:t>Euclid</a:t>
            </a:r>
            <a:r>
              <a:rPr lang="vi-VN" sz="2000" kern="0" dirty="0">
                <a:latin typeface="Calibri" pitchFamily="34" charset="0"/>
                <a:cs typeface="+mn-cs"/>
              </a:rPr>
              <a:t> cho bài toán tìm đường đi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903293" y="4078286"/>
            <a:ext cx="3025775" cy="1924051"/>
            <a:chOff x="1573306" y="4155142"/>
            <a:chExt cx="3025588" cy="1922929"/>
          </a:xfrm>
        </p:grpSpPr>
        <p:sp>
          <p:nvSpPr>
            <p:cNvPr id="13" name="Freeform 12"/>
            <p:cNvSpPr/>
            <p:nvPr/>
          </p:nvSpPr>
          <p:spPr>
            <a:xfrm>
              <a:off x="1573306" y="4578757"/>
              <a:ext cx="3025588" cy="1499314"/>
            </a:xfrm>
            <a:custGeom>
              <a:avLst/>
              <a:gdLst>
                <a:gd name="connsiteX0" fmla="*/ 3065929 w 3065929"/>
                <a:gd name="connsiteY0" fmla="*/ 13447 h 1479177"/>
                <a:gd name="connsiteX1" fmla="*/ 0 w 3065929"/>
                <a:gd name="connsiteY1" fmla="*/ 0 h 1479177"/>
                <a:gd name="connsiteX2" fmla="*/ 26894 w 3065929"/>
                <a:gd name="connsiteY2" fmla="*/ 1479177 h 1479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5929" h="1479177">
                  <a:moveTo>
                    <a:pt x="3065929" y="13447"/>
                  </a:moveTo>
                  <a:lnTo>
                    <a:pt x="0" y="0"/>
                  </a:lnTo>
                  <a:lnTo>
                    <a:pt x="26894" y="1479177"/>
                  </a:lnTo>
                </a:path>
              </a:pathLst>
            </a:cu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vi-VN"/>
            </a:p>
          </p:txBody>
        </p:sp>
        <p:sp>
          <p:nvSpPr>
            <p:cNvPr id="32778" name="TextBox 15"/>
            <p:cNvSpPr txBox="1">
              <a:spLocks noChangeArrowheads="1"/>
            </p:cNvSpPr>
            <p:nvPr/>
          </p:nvSpPr>
          <p:spPr bwMode="auto">
            <a:xfrm>
              <a:off x="2164976" y="4155142"/>
              <a:ext cx="441119" cy="369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vi-VN" b="1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32779" name="TextBox 16"/>
            <p:cNvSpPr txBox="1">
              <a:spLocks noChangeArrowheads="1"/>
            </p:cNvSpPr>
            <p:nvPr/>
          </p:nvSpPr>
          <p:spPr bwMode="auto">
            <a:xfrm>
              <a:off x="1591236" y="4953001"/>
              <a:ext cx="312887" cy="369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vi-VN" b="1">
                  <a:solidFill>
                    <a:srgbClr val="C00000"/>
                  </a:solidFill>
                </a:rPr>
                <a:t>5</a:t>
              </a: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984257" y="4495801"/>
            <a:ext cx="2978143" cy="1506537"/>
            <a:chOff x="1653989" y="4572529"/>
            <a:chExt cx="2978334" cy="1505542"/>
          </a:xfrm>
        </p:grpSpPr>
        <p:cxnSp>
          <p:nvCxnSpPr>
            <p:cNvPr id="15" name="Straight Arrow Connector 14"/>
            <p:cNvCxnSpPr/>
            <p:nvPr/>
          </p:nvCxnSpPr>
          <p:spPr>
            <a:xfrm flipH="1">
              <a:off x="1653989" y="4572529"/>
              <a:ext cx="2978334" cy="150554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776" name="TextBox 17"/>
            <p:cNvSpPr txBox="1">
              <a:spLocks noChangeArrowheads="1"/>
            </p:cNvSpPr>
            <p:nvPr/>
          </p:nvSpPr>
          <p:spPr bwMode="auto">
            <a:xfrm>
              <a:off x="3016625" y="5356413"/>
              <a:ext cx="620787" cy="369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vi-VN" b="1">
                  <a:solidFill>
                    <a:srgbClr val="C00000"/>
                  </a:solidFill>
                </a:rPr>
                <a:t>11.2</a:t>
              </a:r>
            </a:p>
          </p:txBody>
        </p:sp>
      </p:grp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9223" y="1524000"/>
            <a:ext cx="3407831" cy="2300286"/>
          </a:xfrm>
          <a:prstGeom prst="rect">
            <a:avLst/>
          </a:prstGeom>
          <a:noFill/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0" y="4116375"/>
            <a:ext cx="3476133" cy="2374241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Euclid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đích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44770" y="1447800"/>
            <a:ext cx="7834132" cy="4724400"/>
            <a:chOff x="44770" y="1447800"/>
            <a:chExt cx="7834132" cy="4724400"/>
          </a:xfrm>
        </p:grpSpPr>
        <p:pic>
          <p:nvPicPr>
            <p:cNvPr id="9" name="Picture 8" descr="romania-distances.eps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70" y="1447800"/>
              <a:ext cx="7834132" cy="4724400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349570" y="2566610"/>
              <a:ext cx="381000" cy="381000"/>
            </a:xfrm>
            <a:prstGeom prst="ellipse">
              <a:avLst/>
            </a:prstGeom>
            <a:noFill/>
            <a:ln w="38100" cmpd="sng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989301" y="5017105"/>
              <a:ext cx="381000" cy="381000"/>
            </a:xfrm>
            <a:prstGeom prst="ellipse">
              <a:avLst/>
            </a:prstGeom>
            <a:noFill/>
            <a:ln w="381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446255" y="1226841"/>
            <a:ext cx="4745745" cy="3274317"/>
            <a:chOff x="7446255" y="2195421"/>
            <a:chExt cx="4745745" cy="3274317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6255" y="2441923"/>
              <a:ext cx="4745745" cy="2121109"/>
            </a:xfrm>
            <a:prstGeom prst="rect">
              <a:avLst/>
            </a:prstGeom>
          </p:spPr>
        </p:pic>
        <p:sp>
          <p:nvSpPr>
            <p:cNvPr id="12294" name="Text Box 6"/>
            <p:cNvSpPr txBox="1">
              <a:spLocks noChangeArrowheads="1"/>
            </p:cNvSpPr>
            <p:nvPr/>
          </p:nvSpPr>
          <p:spPr bwMode="auto">
            <a:xfrm>
              <a:off x="8620047" y="4946520"/>
              <a:ext cx="2830808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C00000"/>
                  </a:solidFill>
                </a:rPr>
                <a:t>h(state) </a:t>
              </a:r>
              <a:r>
                <a:rPr lang="en-US" sz="2800" dirty="0">
                  <a:solidFill>
                    <a:srgbClr val="C00000"/>
                  </a:solidFill>
                  <a:sym typeface="Wingdings" panose="05000000000000000000" pitchFamily="2" charset="2"/>
                </a:rPr>
                <a:t> value</a:t>
              </a:r>
              <a:endParaRPr lang="en-US" sz="2800" dirty="0">
                <a:solidFill>
                  <a:srgbClr val="C00000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448125" y="2195421"/>
              <a:ext cx="4743875" cy="2625896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5631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Ví dụ: Hàm kinh nghiệm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371851" y="2563812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300413" y="2660650"/>
            <a:ext cx="636587" cy="0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3124200" y="2465388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230563" y="2755900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316289" y="3789363"/>
            <a:ext cx="636587" cy="1587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387726" y="3595687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140076" y="3692524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246439" y="3884612"/>
            <a:ext cx="812800" cy="1587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262564" y="2333625"/>
            <a:ext cx="1025525" cy="1588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510214" y="2236787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38775" y="2139950"/>
            <a:ext cx="636588" cy="0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368925" y="2043112"/>
            <a:ext cx="812800" cy="1587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79" name="Group 81"/>
          <p:cNvGrpSpPr>
            <a:grpSpLocks/>
          </p:cNvGrpSpPr>
          <p:nvPr/>
        </p:nvGrpSpPr>
        <p:grpSpPr bwMode="auto">
          <a:xfrm flipV="1">
            <a:off x="2438400" y="4751388"/>
            <a:ext cx="1025525" cy="195263"/>
            <a:chOff x="914400" y="6033654"/>
            <a:chExt cx="1025380" cy="194975"/>
          </a:xfrm>
        </p:grpSpPr>
        <p:cxnSp>
          <p:nvCxnSpPr>
            <p:cNvPr id="45" name="Straight Connector 44"/>
            <p:cNvCxnSpPr/>
            <p:nvPr/>
          </p:nvCxnSpPr>
          <p:spPr>
            <a:xfrm flipV="1">
              <a:off x="1090588" y="6227044"/>
              <a:ext cx="636497" cy="1585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1162015" y="6033654"/>
              <a:ext cx="495230" cy="1585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914400" y="6130349"/>
              <a:ext cx="1025380" cy="1586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/>
          <p:cNvCxnSpPr/>
          <p:nvPr/>
        </p:nvCxnSpPr>
        <p:spPr>
          <a:xfrm flipV="1">
            <a:off x="2544763" y="5041900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81" name="Group 87"/>
          <p:cNvGrpSpPr>
            <a:grpSpLocks/>
          </p:cNvGrpSpPr>
          <p:nvPr/>
        </p:nvGrpSpPr>
        <p:grpSpPr bwMode="auto">
          <a:xfrm flipV="1">
            <a:off x="4419600" y="4419600"/>
            <a:ext cx="1025525" cy="290513"/>
            <a:chOff x="2175020" y="6019800"/>
            <a:chExt cx="1025380" cy="290946"/>
          </a:xfrm>
        </p:grpSpPr>
        <p:grpSp>
          <p:nvGrpSpPr>
            <p:cNvPr id="11354" name="Group 82"/>
            <p:cNvGrpSpPr>
              <a:grpSpLocks/>
            </p:cNvGrpSpPr>
            <p:nvPr/>
          </p:nvGrpSpPr>
          <p:grpSpPr bwMode="auto">
            <a:xfrm>
              <a:off x="2175020" y="6019800"/>
              <a:ext cx="1025380" cy="194975"/>
              <a:chOff x="914400" y="6033654"/>
              <a:chExt cx="1025380" cy="194975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 flipV="1">
                <a:off x="1090588" y="6227617"/>
                <a:ext cx="636497" cy="1590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1162015" y="6033654"/>
                <a:ext cx="495230" cy="1590"/>
              </a:xfrm>
              <a:prstGeom prst="line">
                <a:avLst/>
              </a:prstGeom>
              <a:ln w="38100">
                <a:solidFill>
                  <a:srgbClr val="CC99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914400" y="6130636"/>
                <a:ext cx="1025380" cy="1589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/>
            <p:cNvCxnSpPr/>
            <p:nvPr/>
          </p:nvCxnSpPr>
          <p:spPr>
            <a:xfrm flipV="1">
              <a:off x="2281368" y="6309156"/>
              <a:ext cx="81268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/>
          <p:cNvCxnSpPr/>
          <p:nvPr/>
        </p:nvCxnSpPr>
        <p:spPr>
          <a:xfrm>
            <a:off x="9220200" y="4252912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9467851" y="3962400"/>
            <a:ext cx="495300" cy="1588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9396413" y="4059238"/>
            <a:ext cx="636587" cy="1587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9326563" y="4156074"/>
            <a:ext cx="812800" cy="0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216526" y="3656012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464175" y="3559174"/>
            <a:ext cx="495300" cy="1588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88" name="Group 94"/>
          <p:cNvGrpSpPr>
            <a:grpSpLocks/>
          </p:cNvGrpSpPr>
          <p:nvPr/>
        </p:nvGrpSpPr>
        <p:grpSpPr bwMode="auto">
          <a:xfrm flipV="1">
            <a:off x="5322888" y="3367087"/>
            <a:ext cx="812800" cy="96837"/>
            <a:chOff x="6278274" y="6096000"/>
            <a:chExt cx="813233" cy="96982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6349749" y="6191393"/>
              <a:ext cx="635338" cy="1589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6278274" y="6096000"/>
              <a:ext cx="813233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3" name="Straight Arrow Connector 62"/>
          <p:cNvCxnSpPr/>
          <p:nvPr/>
        </p:nvCxnSpPr>
        <p:spPr>
          <a:xfrm rot="10800000" flipV="1">
            <a:off x="4302125" y="2362199"/>
            <a:ext cx="574675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rot="5400000" flipH="1" flipV="1">
            <a:off x="3390900" y="3189287"/>
            <a:ext cx="5334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3048000" y="4065587"/>
            <a:ext cx="609600" cy="457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rot="10800000">
            <a:off x="4073525" y="4114799"/>
            <a:ext cx="304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5692775" y="5561012"/>
            <a:ext cx="495300" cy="1587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94" name="Group 80"/>
          <p:cNvGrpSpPr>
            <a:grpSpLocks/>
          </p:cNvGrpSpPr>
          <p:nvPr/>
        </p:nvGrpSpPr>
        <p:grpSpPr bwMode="auto">
          <a:xfrm flipV="1">
            <a:off x="5445126" y="5272088"/>
            <a:ext cx="1025525" cy="193675"/>
            <a:chOff x="3200400" y="5791200"/>
            <a:chExt cx="1025380" cy="193964"/>
          </a:xfrm>
        </p:grpSpPr>
        <p:cxnSp>
          <p:nvCxnSpPr>
            <p:cNvPr id="78" name="Straight Connector 77"/>
            <p:cNvCxnSpPr/>
            <p:nvPr/>
          </p:nvCxnSpPr>
          <p:spPr>
            <a:xfrm>
              <a:off x="3376588" y="5886592"/>
              <a:ext cx="636497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3200400" y="5983575"/>
              <a:ext cx="1025380" cy="1589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306748" y="5791200"/>
              <a:ext cx="81268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Straight Connector 83"/>
          <p:cNvCxnSpPr/>
          <p:nvPr/>
        </p:nvCxnSpPr>
        <p:spPr>
          <a:xfrm flipV="1">
            <a:off x="2609851" y="5861050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96" name="Group 86"/>
          <p:cNvGrpSpPr>
            <a:grpSpLocks/>
          </p:cNvGrpSpPr>
          <p:nvPr/>
        </p:nvGrpSpPr>
        <p:grpSpPr bwMode="auto">
          <a:xfrm flipV="1">
            <a:off x="2362200" y="5665788"/>
            <a:ext cx="1025525" cy="98425"/>
            <a:chOff x="1752600" y="5562600"/>
            <a:chExt cx="1025380" cy="97993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1928788" y="5562600"/>
              <a:ext cx="636497" cy="1581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1752600" y="5659013"/>
              <a:ext cx="1025380" cy="1580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Straight Connector 85"/>
          <p:cNvCxnSpPr/>
          <p:nvPr/>
        </p:nvCxnSpPr>
        <p:spPr>
          <a:xfrm flipV="1">
            <a:off x="2468563" y="5956300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98" name="Group 92"/>
          <p:cNvGrpSpPr>
            <a:grpSpLocks/>
          </p:cNvGrpSpPr>
          <p:nvPr/>
        </p:nvGrpSpPr>
        <p:grpSpPr bwMode="auto">
          <a:xfrm flipV="1">
            <a:off x="3851276" y="6034087"/>
            <a:ext cx="1025525" cy="290512"/>
            <a:chOff x="2479820" y="6019800"/>
            <a:chExt cx="1025380" cy="290946"/>
          </a:xfrm>
        </p:grpSpPr>
        <p:cxnSp>
          <p:nvCxnSpPr>
            <p:cNvPr id="88" name="Straight Connector 87"/>
            <p:cNvCxnSpPr/>
            <p:nvPr/>
          </p:nvCxnSpPr>
          <p:spPr>
            <a:xfrm flipV="1">
              <a:off x="2727435" y="6213764"/>
              <a:ext cx="495230" cy="1589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343" name="Group 88"/>
            <p:cNvGrpSpPr>
              <a:grpSpLocks/>
            </p:cNvGrpSpPr>
            <p:nvPr/>
          </p:nvGrpSpPr>
          <p:grpSpPr bwMode="auto">
            <a:xfrm flipV="1">
              <a:off x="2479820" y="6019800"/>
              <a:ext cx="1025380" cy="97993"/>
              <a:chOff x="1752600" y="5562600"/>
              <a:chExt cx="1025380" cy="97993"/>
            </a:xfrm>
          </p:grpSpPr>
          <p:cxnSp>
            <p:nvCxnSpPr>
              <p:cNvPr id="90" name="Straight Connector 89"/>
              <p:cNvCxnSpPr/>
              <p:nvPr/>
            </p:nvCxnSpPr>
            <p:spPr>
              <a:xfrm>
                <a:off x="1928788" y="5562021"/>
                <a:ext cx="636497" cy="1590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V="1">
                <a:off x="1752600" y="5659004"/>
                <a:ext cx="1025380" cy="1589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2" name="Straight Connector 91"/>
            <p:cNvCxnSpPr/>
            <p:nvPr/>
          </p:nvCxnSpPr>
          <p:spPr>
            <a:xfrm flipV="1">
              <a:off x="2586168" y="6309157"/>
              <a:ext cx="812685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299" name="Group 98"/>
          <p:cNvGrpSpPr>
            <a:grpSpLocks/>
          </p:cNvGrpSpPr>
          <p:nvPr/>
        </p:nvGrpSpPr>
        <p:grpSpPr bwMode="auto">
          <a:xfrm flipV="1">
            <a:off x="7045326" y="3886200"/>
            <a:ext cx="1025525" cy="290513"/>
            <a:chOff x="4267200" y="5119254"/>
            <a:chExt cx="1025380" cy="290946"/>
          </a:xfrm>
        </p:grpSpPr>
        <p:cxnSp>
          <p:nvCxnSpPr>
            <p:cNvPr id="94" name="Straight Connector 93"/>
            <p:cNvCxnSpPr/>
            <p:nvPr/>
          </p:nvCxnSpPr>
          <p:spPr>
            <a:xfrm flipV="1">
              <a:off x="4514815" y="5408610"/>
              <a:ext cx="495230" cy="1590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338" name="Group 94"/>
            <p:cNvGrpSpPr>
              <a:grpSpLocks/>
            </p:cNvGrpSpPr>
            <p:nvPr/>
          </p:nvGrpSpPr>
          <p:grpSpPr bwMode="auto">
            <a:xfrm flipV="1">
              <a:off x="4267200" y="5119254"/>
              <a:ext cx="1025380" cy="193964"/>
              <a:chOff x="3200400" y="5791200"/>
              <a:chExt cx="1025380" cy="193964"/>
            </a:xfrm>
          </p:grpSpPr>
          <p:cxnSp>
            <p:nvCxnSpPr>
              <p:cNvPr id="96" name="Straight Connector 95"/>
              <p:cNvCxnSpPr/>
              <p:nvPr/>
            </p:nvCxnSpPr>
            <p:spPr>
              <a:xfrm>
                <a:off x="3376588" y="5886592"/>
                <a:ext cx="636497" cy="1589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flipV="1">
                <a:off x="3200400" y="5983574"/>
                <a:ext cx="1025380" cy="1590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3306748" y="5791200"/>
                <a:ext cx="812685" cy="1589"/>
              </a:xfrm>
              <a:prstGeom prst="line">
                <a:avLst/>
              </a:prstGeom>
              <a:ln w="38100">
                <a:solidFill>
                  <a:srgbClr val="99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6" name="Straight Connector 105"/>
          <p:cNvCxnSpPr/>
          <p:nvPr/>
        </p:nvCxnSpPr>
        <p:spPr>
          <a:xfrm flipV="1">
            <a:off x="8305800" y="6005512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301" name="Group 106"/>
          <p:cNvGrpSpPr>
            <a:grpSpLocks/>
          </p:cNvGrpSpPr>
          <p:nvPr/>
        </p:nvGrpSpPr>
        <p:grpSpPr bwMode="auto">
          <a:xfrm flipV="1">
            <a:off x="8412163" y="5715000"/>
            <a:ext cx="812800" cy="193675"/>
            <a:chOff x="4338494" y="6019800"/>
            <a:chExt cx="813233" cy="193964"/>
          </a:xfrm>
        </p:grpSpPr>
        <p:cxnSp>
          <p:nvCxnSpPr>
            <p:cNvPr id="102" name="Straight Connector 101"/>
            <p:cNvCxnSpPr/>
            <p:nvPr/>
          </p:nvCxnSpPr>
          <p:spPr>
            <a:xfrm>
              <a:off x="4479856" y="6115192"/>
              <a:ext cx="495564" cy="1589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4409969" y="6212174"/>
              <a:ext cx="635338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4338494" y="6019800"/>
              <a:ext cx="813233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" name="Straight Arrow Connector 109"/>
          <p:cNvCxnSpPr/>
          <p:nvPr/>
        </p:nvCxnSpPr>
        <p:spPr>
          <a:xfrm rot="5400000" flipH="1" flipV="1">
            <a:off x="2777332" y="5334794"/>
            <a:ext cx="304800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10800000">
            <a:off x="3463925" y="5791199"/>
            <a:ext cx="3810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rot="10800000" flipV="1">
            <a:off x="4911725" y="5867399"/>
            <a:ext cx="2971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>
            <a:off x="5292725" y="4876799"/>
            <a:ext cx="304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rot="10800000" flipV="1">
            <a:off x="6054725" y="4343399"/>
            <a:ext cx="91440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>
            <a:off x="6400800" y="3428999"/>
            <a:ext cx="762000" cy="304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5400000">
            <a:off x="5482432" y="2858294"/>
            <a:ext cx="533400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7450138" y="5083174"/>
            <a:ext cx="636587" cy="1588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 flipV="1">
            <a:off x="7273926" y="5180012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311" name="Group 131"/>
          <p:cNvGrpSpPr>
            <a:grpSpLocks/>
          </p:cNvGrpSpPr>
          <p:nvPr/>
        </p:nvGrpSpPr>
        <p:grpSpPr bwMode="auto">
          <a:xfrm flipV="1">
            <a:off x="7380288" y="4891087"/>
            <a:ext cx="812800" cy="96837"/>
            <a:chOff x="6472094" y="4738254"/>
            <a:chExt cx="813233" cy="97993"/>
          </a:xfrm>
        </p:grpSpPr>
        <p:cxnSp>
          <p:nvCxnSpPr>
            <p:cNvPr id="127" name="Straight Connector 126"/>
            <p:cNvCxnSpPr/>
            <p:nvPr/>
          </p:nvCxnSpPr>
          <p:spPr>
            <a:xfrm>
              <a:off x="6613456" y="4738254"/>
              <a:ext cx="495564" cy="1606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6472094" y="4834641"/>
              <a:ext cx="813233" cy="1606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4" name="Straight Arrow Connector 133"/>
          <p:cNvCxnSpPr/>
          <p:nvPr/>
        </p:nvCxnSpPr>
        <p:spPr>
          <a:xfrm rot="10800000">
            <a:off x="6511925" y="2514599"/>
            <a:ext cx="24384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16200000" flipH="1">
            <a:off x="7464425" y="4457699"/>
            <a:ext cx="4572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/>
          <p:nvPr/>
        </p:nvCxnSpPr>
        <p:spPr>
          <a:xfrm>
            <a:off x="7959725" y="5333999"/>
            <a:ext cx="6096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rot="5400000" flipH="1" flipV="1">
            <a:off x="8759825" y="4610099"/>
            <a:ext cx="1066800" cy="838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/>
          <p:cNvSpPr txBox="1">
            <a:spLocks noChangeArrowheads="1"/>
          </p:cNvSpPr>
          <p:nvPr/>
        </p:nvSpPr>
        <p:spPr bwMode="auto">
          <a:xfrm>
            <a:off x="0" y="1229382"/>
            <a:ext cx="121920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/>
            <a:r>
              <a:rPr lang="vi-VN" sz="2800" dirty="0">
                <a:latin typeface="Calibri" pitchFamily="34" charset="0"/>
              </a:rPr>
              <a:t>Kinh nghiệm = s</a:t>
            </a:r>
            <a:r>
              <a:rPr lang="en-US" sz="2800" dirty="0">
                <a:latin typeface="Calibri" pitchFamily="34" charset="0"/>
              </a:rPr>
              <a:t>ố </a:t>
            </a:r>
            <a:r>
              <a:rPr lang="en-US" sz="2800" dirty="0" err="1">
                <a:latin typeface="Calibri" pitchFamily="34" charset="0"/>
              </a:rPr>
              <a:t>hiệu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của</a:t>
            </a:r>
            <a:r>
              <a:rPr lang="vi-VN" sz="2800" dirty="0">
                <a:latin typeface="Calibri" pitchFamily="34" charset="0"/>
              </a:rPr>
              <a:t> tầng bánh lớn nhất bị sai chỗ </a:t>
            </a:r>
          </a:p>
        </p:txBody>
      </p:sp>
      <p:grpSp>
        <p:nvGrpSpPr>
          <p:cNvPr id="26" name="Group 168"/>
          <p:cNvGrpSpPr>
            <a:grpSpLocks/>
          </p:cNvGrpSpPr>
          <p:nvPr/>
        </p:nvGrpSpPr>
        <p:grpSpPr bwMode="auto">
          <a:xfrm>
            <a:off x="2057400" y="1981200"/>
            <a:ext cx="7086600" cy="4408068"/>
            <a:chOff x="457200" y="2133600"/>
            <a:chExt cx="7086600" cy="4408744"/>
          </a:xfrm>
        </p:grpSpPr>
        <p:sp>
          <p:nvSpPr>
            <p:cNvPr id="11319" name="TextBox 150"/>
            <p:cNvSpPr txBox="1">
              <a:spLocks noChangeArrowheads="1"/>
            </p:cNvSpPr>
            <p:nvPr/>
          </p:nvSpPr>
          <p:spPr bwMode="auto">
            <a:xfrm>
              <a:off x="1143000" y="2590799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1320" name="TextBox 154"/>
            <p:cNvSpPr txBox="1">
              <a:spLocks noChangeArrowheads="1"/>
            </p:cNvSpPr>
            <p:nvPr/>
          </p:nvSpPr>
          <p:spPr bwMode="auto">
            <a:xfrm>
              <a:off x="3352800" y="21336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21" name="TextBox 156"/>
            <p:cNvSpPr txBox="1">
              <a:spLocks noChangeArrowheads="1"/>
            </p:cNvSpPr>
            <p:nvPr/>
          </p:nvSpPr>
          <p:spPr bwMode="auto">
            <a:xfrm>
              <a:off x="7239000" y="40386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1322" name="TextBox 157"/>
            <p:cNvSpPr txBox="1">
              <a:spLocks noChangeArrowheads="1"/>
            </p:cNvSpPr>
            <p:nvPr/>
          </p:nvSpPr>
          <p:spPr bwMode="auto">
            <a:xfrm>
              <a:off x="6400800" y="57912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11323" name="TextBox 158"/>
            <p:cNvSpPr txBox="1">
              <a:spLocks noChangeArrowheads="1"/>
            </p:cNvSpPr>
            <p:nvPr/>
          </p:nvSpPr>
          <p:spPr bwMode="auto">
            <a:xfrm>
              <a:off x="5334000" y="49530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24" name="TextBox 159"/>
            <p:cNvSpPr txBox="1">
              <a:spLocks noChangeArrowheads="1"/>
            </p:cNvSpPr>
            <p:nvPr/>
          </p:nvSpPr>
          <p:spPr bwMode="auto">
            <a:xfrm>
              <a:off x="5181600" y="39624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25" name="TextBox 161"/>
            <p:cNvSpPr txBox="1">
              <a:spLocks noChangeArrowheads="1"/>
            </p:cNvSpPr>
            <p:nvPr/>
          </p:nvSpPr>
          <p:spPr bwMode="auto">
            <a:xfrm>
              <a:off x="3276600" y="34290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26" name="TextBox 162"/>
            <p:cNvSpPr txBox="1">
              <a:spLocks noChangeArrowheads="1"/>
            </p:cNvSpPr>
            <p:nvPr/>
          </p:nvSpPr>
          <p:spPr bwMode="auto">
            <a:xfrm>
              <a:off x="2438400" y="44958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1327" name="TextBox 163"/>
            <p:cNvSpPr txBox="1">
              <a:spLocks noChangeArrowheads="1"/>
            </p:cNvSpPr>
            <p:nvPr/>
          </p:nvSpPr>
          <p:spPr bwMode="auto">
            <a:xfrm>
              <a:off x="3505200" y="53340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1328" name="TextBox 164"/>
            <p:cNvSpPr txBox="1">
              <a:spLocks noChangeArrowheads="1"/>
            </p:cNvSpPr>
            <p:nvPr/>
          </p:nvSpPr>
          <p:spPr bwMode="auto">
            <a:xfrm>
              <a:off x="1905000" y="60960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29" name="TextBox 165"/>
            <p:cNvSpPr txBox="1">
              <a:spLocks noChangeArrowheads="1"/>
            </p:cNvSpPr>
            <p:nvPr/>
          </p:nvSpPr>
          <p:spPr bwMode="auto">
            <a:xfrm>
              <a:off x="457200" y="4876801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1330" name="TextBox 166"/>
            <p:cNvSpPr txBox="1">
              <a:spLocks noChangeArrowheads="1"/>
            </p:cNvSpPr>
            <p:nvPr/>
          </p:nvSpPr>
          <p:spPr bwMode="auto">
            <a:xfrm>
              <a:off x="457200" y="57150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1331" name="TextBox 167"/>
            <p:cNvSpPr txBox="1">
              <a:spLocks noChangeArrowheads="1"/>
            </p:cNvSpPr>
            <p:nvPr/>
          </p:nvSpPr>
          <p:spPr bwMode="auto">
            <a:xfrm>
              <a:off x="1219200" y="36576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</p:grpSp>
      <p:sp>
        <p:nvSpPr>
          <p:cNvPr id="103" name="Text Box 6"/>
          <p:cNvSpPr txBox="1">
            <a:spLocks noChangeArrowheads="1"/>
          </p:cNvSpPr>
          <p:nvPr/>
        </p:nvSpPr>
        <p:spPr bwMode="auto">
          <a:xfrm>
            <a:off x="8763000" y="2209799"/>
            <a:ext cx="11430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vi-VN" sz="2800" dirty="0">
                <a:solidFill>
                  <a:srgbClr val="CC0000"/>
                </a:solidFill>
              </a:rPr>
              <a:t>h(x)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0" y="-457200"/>
            <a:ext cx="9753599" cy="731519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Tìm kiếm ăn tham (</a:t>
            </a:r>
            <a:r>
              <a:rPr lang="vi-VN" noProof="0" dirty="0" err="1"/>
              <a:t>Greedy</a:t>
            </a:r>
            <a:r>
              <a:rPr lang="en-US" noProof="0" dirty="0"/>
              <a:t> search</a:t>
            </a:r>
            <a:r>
              <a:rPr lang="vi-VN" noProof="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Euclidean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đích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44770" y="1447800"/>
            <a:ext cx="7834132" cy="4724400"/>
            <a:chOff x="44770" y="1447800"/>
            <a:chExt cx="7834132" cy="4724400"/>
          </a:xfrm>
        </p:grpSpPr>
        <p:pic>
          <p:nvPicPr>
            <p:cNvPr id="9" name="Picture 8" descr="romania-distances.eps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70" y="1447800"/>
              <a:ext cx="7834132" cy="4724400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349570" y="2566610"/>
              <a:ext cx="381000" cy="381000"/>
            </a:xfrm>
            <a:prstGeom prst="ellipse">
              <a:avLst/>
            </a:prstGeom>
            <a:noFill/>
            <a:ln w="38100" cmpd="sng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989301" y="5017105"/>
              <a:ext cx="381000" cy="381000"/>
            </a:xfrm>
            <a:prstGeom prst="ellipse">
              <a:avLst/>
            </a:prstGeom>
            <a:noFill/>
            <a:ln w="381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446255" y="1226841"/>
            <a:ext cx="4745745" cy="3274317"/>
            <a:chOff x="7446255" y="2195421"/>
            <a:chExt cx="4745745" cy="3274317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6255" y="2441923"/>
              <a:ext cx="4745745" cy="2121109"/>
            </a:xfrm>
            <a:prstGeom prst="rect">
              <a:avLst/>
            </a:prstGeom>
          </p:spPr>
        </p:pic>
        <p:sp>
          <p:nvSpPr>
            <p:cNvPr id="12294" name="Text Box 6"/>
            <p:cNvSpPr txBox="1">
              <a:spLocks noChangeArrowheads="1"/>
            </p:cNvSpPr>
            <p:nvPr/>
          </p:nvSpPr>
          <p:spPr bwMode="auto">
            <a:xfrm>
              <a:off x="8620047" y="4946520"/>
              <a:ext cx="2830808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C00000"/>
                  </a:solidFill>
                </a:rPr>
                <a:t>h(state) </a:t>
              </a:r>
              <a:r>
                <a:rPr lang="en-US" sz="2800" dirty="0">
                  <a:solidFill>
                    <a:srgbClr val="C00000"/>
                  </a:solidFill>
                  <a:sym typeface="Wingdings" panose="05000000000000000000" pitchFamily="2" charset="2"/>
                </a:rPr>
                <a:t> value</a:t>
              </a:r>
              <a:endParaRPr lang="en-US" sz="2800" dirty="0">
                <a:solidFill>
                  <a:srgbClr val="C00000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448125" y="2195421"/>
              <a:ext cx="4743875" cy="2625896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47417" y="2616200"/>
            <a:ext cx="5829683" cy="3851716"/>
            <a:chOff x="1447417" y="2616200"/>
            <a:chExt cx="5829683" cy="3851716"/>
          </a:xfrm>
        </p:grpSpPr>
        <p:pic>
          <p:nvPicPr>
            <p:cNvPr id="2" name="Picture 1" descr="romania-subgraph.eps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6004" y="2616200"/>
              <a:ext cx="5641096" cy="3851716"/>
            </a:xfrm>
            <a:prstGeom prst="rect">
              <a:avLst/>
            </a:prstGeom>
          </p:spPr>
        </p:pic>
        <p:sp>
          <p:nvSpPr>
            <p:cNvPr id="18" name="Oval 17"/>
            <p:cNvSpPr/>
            <p:nvPr/>
          </p:nvSpPr>
          <p:spPr>
            <a:xfrm>
              <a:off x="1447417" y="2695752"/>
              <a:ext cx="597590" cy="597590"/>
            </a:xfrm>
            <a:prstGeom prst="ellipse">
              <a:avLst/>
            </a:prstGeom>
            <a:noFill/>
            <a:ln w="38100" cmpd="sng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5893409" y="5682267"/>
              <a:ext cx="512217" cy="512217"/>
            </a:xfrm>
            <a:prstGeom prst="ellipse">
              <a:avLst/>
            </a:prstGeom>
            <a:noFill/>
            <a:ln w="381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16131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439862"/>
            <a:ext cx="10342178" cy="107841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Expand the node that seems closest…(order frontier by h)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08575" y="2783492"/>
            <a:ext cx="5716598" cy="3728521"/>
            <a:chOff x="308575" y="2783492"/>
            <a:chExt cx="5716598" cy="3728521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1528364" y="4132552"/>
              <a:ext cx="1102156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h=193</a:t>
              </a:r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308575" y="2821338"/>
              <a:ext cx="1183333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 253</a:t>
              </a:r>
            </a:p>
          </p:txBody>
        </p:sp>
        <p:sp>
          <p:nvSpPr>
            <p:cNvPr id="14" name="TextBox 13"/>
            <p:cNvSpPr txBox="1"/>
            <p:nvPr/>
          </p:nvSpPr>
          <p:spPr bwMode="auto">
            <a:xfrm>
              <a:off x="3619852" y="5104587"/>
              <a:ext cx="1102156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h=100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5286999" y="5988795"/>
              <a:ext cx="738174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h=0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4398233" y="2783492"/>
              <a:ext cx="1104786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h=196</a:t>
              </a:r>
            </a:p>
          </p:txBody>
        </p:sp>
      </p:grp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72518" y="4113066"/>
            <a:ext cx="3238498" cy="242887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 bwMode="auto">
          <a:xfrm>
            <a:off x="5925483" y="2317291"/>
            <a:ext cx="7025670" cy="1815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Sibiu-</a:t>
            </a:r>
            <a:r>
              <a:rPr lang="en-US" sz="2800" dirty="0" err="1">
                <a:latin typeface="Calibri"/>
                <a:cs typeface="Calibri"/>
              </a:rPr>
              <a:t>Fagaras</a:t>
            </a:r>
            <a:r>
              <a:rPr lang="en-US" sz="2800" dirty="0">
                <a:latin typeface="Calibri"/>
                <a:cs typeface="Calibri"/>
              </a:rPr>
              <a:t>-Bucharest =</a:t>
            </a:r>
          </a:p>
          <a:p>
            <a:r>
              <a:rPr lang="en-US" sz="2800" dirty="0">
                <a:latin typeface="Calibri"/>
                <a:cs typeface="Calibri"/>
              </a:rPr>
              <a:t>         99+211 = </a:t>
            </a:r>
            <a:r>
              <a:rPr lang="en-US" sz="2800" b="1" dirty="0">
                <a:latin typeface="Calibri"/>
                <a:cs typeface="Calibri"/>
              </a:rPr>
              <a:t>310</a:t>
            </a:r>
          </a:p>
          <a:p>
            <a:r>
              <a:rPr lang="en-US" sz="2800" dirty="0">
                <a:latin typeface="Calibri"/>
                <a:cs typeface="Calibri"/>
              </a:rPr>
              <a:t>Sibiu-</a:t>
            </a:r>
            <a:r>
              <a:rPr lang="en-US" sz="2800" dirty="0" err="1">
                <a:latin typeface="Calibri"/>
                <a:cs typeface="Calibri"/>
              </a:rPr>
              <a:t>Rimnicu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Vilcea</a:t>
            </a:r>
            <a:r>
              <a:rPr lang="en-US" sz="2800" dirty="0">
                <a:latin typeface="Calibri"/>
                <a:cs typeface="Calibri"/>
              </a:rPr>
              <a:t>-Pitesti-Bucharest =</a:t>
            </a:r>
          </a:p>
          <a:p>
            <a:r>
              <a:rPr lang="en-US" sz="2800" dirty="0">
                <a:latin typeface="Calibri"/>
                <a:cs typeface="Calibri"/>
              </a:rPr>
              <a:t>         80+97+101 = </a:t>
            </a:r>
            <a:r>
              <a:rPr lang="en-US" sz="2800" b="1" dirty="0">
                <a:latin typeface="Calibri"/>
                <a:cs typeface="Calibri"/>
              </a:rPr>
              <a:t>278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ECEE6CD-C980-4552-B0FF-BB12E980B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Search</a:t>
            </a:r>
          </a:p>
        </p:txBody>
      </p:sp>
    </p:spTree>
    <p:extLst>
      <p:ext uri="{BB962C8B-B14F-4D97-AF65-F5344CB8AC3E}">
        <p14:creationId xmlns:p14="http://schemas.microsoft.com/office/powerpoint/2010/main" val="19101640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(heuristics)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97001"/>
            <a:ext cx="11379200" cy="9706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Guide search </a:t>
            </a:r>
            <a:r>
              <a:rPr lang="en-US" b="1" i="1" dirty="0">
                <a:solidFill>
                  <a:srgbClr val="C00000"/>
                </a:solidFill>
              </a:rPr>
              <a:t>towards the goal </a:t>
            </a:r>
            <a:r>
              <a:rPr lang="en-US" dirty="0"/>
              <a:t>instead of </a:t>
            </a:r>
            <a:r>
              <a:rPr lang="en-US" b="1" i="1" dirty="0">
                <a:solidFill>
                  <a:srgbClr val="C00000"/>
                </a:solidFill>
              </a:rPr>
              <a:t>all over the place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926512" y="2443721"/>
            <a:ext cx="2805113" cy="1771651"/>
            <a:chOff x="8396287" y="1828800"/>
            <a:chExt cx="2805113" cy="1771651"/>
          </a:xfrm>
        </p:grpSpPr>
        <p:sp>
          <p:nvSpPr>
            <p:cNvPr id="5" name="Oval 8"/>
            <p:cNvSpPr>
              <a:spLocks noChangeArrowheads="1"/>
            </p:cNvSpPr>
            <p:nvPr/>
          </p:nvSpPr>
          <p:spPr bwMode="auto">
            <a:xfrm>
              <a:off x="8396287" y="1828800"/>
              <a:ext cx="1912939" cy="177165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9299575" y="2605089"/>
              <a:ext cx="163512" cy="153987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8534400" y="2720977"/>
              <a:ext cx="914400" cy="461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Start</a:t>
              </a: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10226675" y="2627313"/>
              <a:ext cx="163512" cy="153987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0287000" y="2744789"/>
              <a:ext cx="914400" cy="461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Calibri"/>
                  <a:cs typeface="Calibri"/>
                </a:rPr>
                <a:t>Goal</a:t>
              </a:r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8931276" y="2263775"/>
              <a:ext cx="869951" cy="869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794833" y="2864149"/>
            <a:ext cx="2754312" cy="842661"/>
            <a:chOff x="8382000" y="5029202"/>
            <a:chExt cx="2754312" cy="842661"/>
          </a:xfrm>
        </p:grpSpPr>
        <p:sp>
          <p:nvSpPr>
            <p:cNvPr id="12" name="Oval 14"/>
            <p:cNvSpPr>
              <a:spLocks noChangeArrowheads="1"/>
            </p:cNvSpPr>
            <p:nvPr/>
          </p:nvSpPr>
          <p:spPr bwMode="auto">
            <a:xfrm>
              <a:off x="9005887" y="5029202"/>
              <a:ext cx="1284288" cy="6270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9234488" y="5270501"/>
              <a:ext cx="163513" cy="153988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8382000" y="5410200"/>
              <a:ext cx="914400" cy="461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Start</a:t>
              </a:r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10213975" y="5257801"/>
              <a:ext cx="163512" cy="1539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10221912" y="5405737"/>
              <a:ext cx="914400" cy="461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Goal</a:t>
              </a:r>
            </a:p>
          </p:txBody>
        </p:sp>
        <p:sp>
          <p:nvSpPr>
            <p:cNvPr id="17" name="Oval 15"/>
            <p:cNvSpPr>
              <a:spLocks noChangeArrowheads="1"/>
            </p:cNvSpPr>
            <p:nvPr/>
          </p:nvSpPr>
          <p:spPr bwMode="auto">
            <a:xfrm>
              <a:off x="9126537" y="5105400"/>
              <a:ext cx="869951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</p:grpSp>
      <p:sp>
        <p:nvSpPr>
          <p:cNvPr id="18" name="TextBox 17"/>
          <p:cNvSpPr txBox="1"/>
          <p:nvPr/>
        </p:nvSpPr>
        <p:spPr bwMode="auto">
          <a:xfrm>
            <a:off x="7602615" y="4962717"/>
            <a:ext cx="2458271" cy="646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 rtlCol="0">
            <a:spAutoFit/>
          </a:bodyPr>
          <a:lstStyle/>
          <a:p>
            <a:r>
              <a:rPr lang="en-US" sz="3600" dirty="0">
                <a:latin typeface="Calibri"/>
                <a:cs typeface="Calibri"/>
              </a:rPr>
              <a:t>Uninformed</a:t>
            </a:r>
          </a:p>
        </p:txBody>
      </p:sp>
      <p:sp>
        <p:nvSpPr>
          <p:cNvPr id="19" name="TextBox 18"/>
          <p:cNvSpPr txBox="1"/>
          <p:nvPr/>
        </p:nvSpPr>
        <p:spPr bwMode="auto">
          <a:xfrm>
            <a:off x="2809834" y="4917989"/>
            <a:ext cx="1929881" cy="646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 rtlCol="0">
            <a:spAutoFit/>
          </a:bodyPr>
          <a:lstStyle/>
          <a:p>
            <a:r>
              <a:rPr lang="en-US" sz="3600" dirty="0">
                <a:latin typeface="Calibri"/>
                <a:cs typeface="Calibri"/>
              </a:rPr>
              <a:t>Informed</a:t>
            </a:r>
          </a:p>
        </p:txBody>
      </p:sp>
    </p:spTree>
    <p:extLst>
      <p:ext uri="{BB962C8B-B14F-4D97-AF65-F5344CB8AC3E}">
        <p14:creationId xmlns:p14="http://schemas.microsoft.com/office/powerpoint/2010/main" val="2674512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47417" y="2616200"/>
            <a:ext cx="5829683" cy="3851716"/>
            <a:chOff x="1447417" y="2616200"/>
            <a:chExt cx="5829683" cy="3851716"/>
          </a:xfrm>
        </p:grpSpPr>
        <p:pic>
          <p:nvPicPr>
            <p:cNvPr id="2" name="Picture 1" descr="romania-subgraph.eps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6004" y="2616200"/>
              <a:ext cx="5641096" cy="3851716"/>
            </a:xfrm>
            <a:prstGeom prst="rect">
              <a:avLst/>
            </a:prstGeom>
          </p:spPr>
        </p:pic>
        <p:sp>
          <p:nvSpPr>
            <p:cNvPr id="18" name="Oval 17"/>
            <p:cNvSpPr/>
            <p:nvPr/>
          </p:nvSpPr>
          <p:spPr>
            <a:xfrm>
              <a:off x="1447417" y="2695752"/>
              <a:ext cx="597590" cy="597590"/>
            </a:xfrm>
            <a:prstGeom prst="ellipse">
              <a:avLst/>
            </a:prstGeom>
            <a:noFill/>
            <a:ln w="38100" cmpd="sng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5893409" y="5682267"/>
              <a:ext cx="512217" cy="512217"/>
            </a:xfrm>
            <a:prstGeom prst="ellipse">
              <a:avLst/>
            </a:prstGeom>
            <a:noFill/>
            <a:ln w="381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16131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295400"/>
            <a:ext cx="10342178" cy="107841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Expand the node that seems closest…(order frontier by h)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What can possibly go wrong?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08575" y="2783492"/>
            <a:ext cx="5716598" cy="3728521"/>
            <a:chOff x="308575" y="2783492"/>
            <a:chExt cx="5716598" cy="3728521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1528364" y="4132552"/>
              <a:ext cx="1102156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h=193</a:t>
              </a:r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308575" y="2821338"/>
              <a:ext cx="1183333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 253</a:t>
              </a:r>
            </a:p>
          </p:txBody>
        </p:sp>
        <p:sp>
          <p:nvSpPr>
            <p:cNvPr id="14" name="TextBox 13"/>
            <p:cNvSpPr txBox="1"/>
            <p:nvPr/>
          </p:nvSpPr>
          <p:spPr bwMode="auto">
            <a:xfrm>
              <a:off x="3619852" y="5104587"/>
              <a:ext cx="1102156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h=100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5286999" y="5988795"/>
              <a:ext cx="738174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h=0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4398233" y="2783492"/>
              <a:ext cx="1102156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h=176</a:t>
              </a:r>
            </a:p>
          </p:txBody>
        </p:sp>
      </p:grp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72518" y="4113066"/>
            <a:ext cx="3238498" cy="242887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 bwMode="auto">
          <a:xfrm>
            <a:off x="5925483" y="2317291"/>
            <a:ext cx="7025670" cy="1815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Sibiu-</a:t>
            </a:r>
            <a:r>
              <a:rPr lang="en-US" sz="2800" dirty="0" err="1">
                <a:latin typeface="Calibri"/>
                <a:cs typeface="Calibri"/>
              </a:rPr>
              <a:t>Fagaras</a:t>
            </a:r>
            <a:r>
              <a:rPr lang="en-US" sz="2800" dirty="0">
                <a:latin typeface="Calibri"/>
                <a:cs typeface="Calibri"/>
              </a:rPr>
              <a:t>-Bucharest =</a:t>
            </a:r>
          </a:p>
          <a:p>
            <a:r>
              <a:rPr lang="en-US" sz="2800" dirty="0">
                <a:latin typeface="Calibri"/>
                <a:cs typeface="Calibri"/>
              </a:rPr>
              <a:t>         99+211 = </a:t>
            </a:r>
            <a:r>
              <a:rPr lang="en-US" sz="2800" b="1" dirty="0">
                <a:latin typeface="Calibri"/>
                <a:cs typeface="Calibri"/>
              </a:rPr>
              <a:t>310</a:t>
            </a:r>
          </a:p>
          <a:p>
            <a:r>
              <a:rPr lang="en-US" sz="2800" dirty="0">
                <a:latin typeface="Calibri"/>
                <a:cs typeface="Calibri"/>
              </a:rPr>
              <a:t>Sibiu-</a:t>
            </a:r>
            <a:r>
              <a:rPr lang="en-US" sz="2800" dirty="0" err="1">
                <a:latin typeface="Calibri"/>
                <a:cs typeface="Calibri"/>
              </a:rPr>
              <a:t>Rimnicu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Vilcea</a:t>
            </a:r>
            <a:r>
              <a:rPr lang="en-US" sz="2800" dirty="0">
                <a:latin typeface="Calibri"/>
                <a:cs typeface="Calibri"/>
              </a:rPr>
              <a:t>-Pitesti-Bucharest =</a:t>
            </a:r>
          </a:p>
          <a:p>
            <a:r>
              <a:rPr lang="en-US" sz="2800" dirty="0">
                <a:latin typeface="Calibri"/>
                <a:cs typeface="Calibri"/>
              </a:rPr>
              <a:t>         80+97+101 = </a:t>
            </a:r>
            <a:r>
              <a:rPr lang="en-US" sz="2800" b="1" dirty="0">
                <a:latin typeface="Calibri"/>
                <a:cs typeface="Calibri"/>
              </a:rPr>
              <a:t>278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5188085" y="4569418"/>
            <a:ext cx="511065" cy="15490"/>
          </a:xfrm>
          <a:prstGeom prst="line">
            <a:avLst/>
          </a:prstGeom>
          <a:ln w="5715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 bwMode="auto">
          <a:xfrm>
            <a:off x="5342951" y="4615879"/>
            <a:ext cx="100362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/>
                <a:cs typeface="Calibri"/>
              </a:rPr>
              <a:t>1000000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ECEE6CD-C980-4552-B0FF-BB12E980B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Search</a:t>
            </a:r>
          </a:p>
        </p:txBody>
      </p:sp>
    </p:spTree>
    <p:extLst>
      <p:ext uri="{BB962C8B-B14F-4D97-AF65-F5344CB8AC3E}">
        <p14:creationId xmlns:p14="http://schemas.microsoft.com/office/powerpoint/2010/main" val="6362632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reeform 28"/>
          <p:cNvSpPr>
            <a:spLocks/>
          </p:cNvSpPr>
          <p:nvPr/>
        </p:nvSpPr>
        <p:spPr bwMode="auto">
          <a:xfrm>
            <a:off x="8094662" y="3833812"/>
            <a:ext cx="2884488" cy="2263775"/>
          </a:xfrm>
          <a:custGeom>
            <a:avLst/>
            <a:gdLst>
              <a:gd name="T0" fmla="*/ 2147483647 w 1817"/>
              <a:gd name="T1" fmla="*/ 2147483647 h 1714"/>
              <a:gd name="T2" fmla="*/ 2147483647 w 1817"/>
              <a:gd name="T3" fmla="*/ 2147483647 h 1714"/>
              <a:gd name="T4" fmla="*/ 2147483647 w 1817"/>
              <a:gd name="T5" fmla="*/ 2147483647 h 1714"/>
              <a:gd name="T6" fmla="*/ 2147483647 w 1817"/>
              <a:gd name="T7" fmla="*/ 2147483647 h 1714"/>
              <a:gd name="T8" fmla="*/ 2147483647 w 1817"/>
              <a:gd name="T9" fmla="*/ 2147483647 h 1714"/>
              <a:gd name="T10" fmla="*/ 2147483647 w 1817"/>
              <a:gd name="T11" fmla="*/ 2147483647 h 1714"/>
              <a:gd name="T12" fmla="*/ 2147483647 w 1817"/>
              <a:gd name="T13" fmla="*/ 2147483647 h 1714"/>
              <a:gd name="T14" fmla="*/ 2147483647 w 1817"/>
              <a:gd name="T15" fmla="*/ 2147483647 h 1714"/>
              <a:gd name="T16" fmla="*/ 2147483647 w 1817"/>
              <a:gd name="T17" fmla="*/ 2147483647 h 1714"/>
              <a:gd name="T18" fmla="*/ 2147483647 w 1817"/>
              <a:gd name="T19" fmla="*/ 2147483647 h 171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17"/>
              <a:gd name="T31" fmla="*/ 0 h 1714"/>
              <a:gd name="T32" fmla="*/ 1817 w 1817"/>
              <a:gd name="T33" fmla="*/ 1714 h 171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17" h="1714">
                <a:moveTo>
                  <a:pt x="938" y="164"/>
                </a:moveTo>
                <a:cubicBezTo>
                  <a:pt x="1096" y="407"/>
                  <a:pt x="1716" y="1413"/>
                  <a:pt x="1817" y="1625"/>
                </a:cubicBezTo>
                <a:cubicBezTo>
                  <a:pt x="1741" y="1629"/>
                  <a:pt x="1331" y="1650"/>
                  <a:pt x="1054" y="1649"/>
                </a:cubicBezTo>
                <a:cubicBezTo>
                  <a:pt x="1021" y="1539"/>
                  <a:pt x="1101" y="1279"/>
                  <a:pt x="1036" y="1021"/>
                </a:cubicBezTo>
                <a:cubicBezTo>
                  <a:pt x="1008" y="965"/>
                  <a:pt x="973" y="949"/>
                  <a:pt x="897" y="973"/>
                </a:cubicBezTo>
                <a:cubicBezTo>
                  <a:pt x="855" y="963"/>
                  <a:pt x="618" y="1676"/>
                  <a:pt x="586" y="1654"/>
                </a:cubicBezTo>
                <a:cubicBezTo>
                  <a:pt x="468" y="1651"/>
                  <a:pt x="44" y="1714"/>
                  <a:pt x="47" y="1649"/>
                </a:cubicBezTo>
                <a:cubicBezTo>
                  <a:pt x="0" y="1570"/>
                  <a:pt x="165" y="1427"/>
                  <a:pt x="302" y="1181"/>
                </a:cubicBezTo>
                <a:cubicBezTo>
                  <a:pt x="348" y="1005"/>
                  <a:pt x="762" y="338"/>
                  <a:pt x="868" y="169"/>
                </a:cubicBezTo>
                <a:cubicBezTo>
                  <a:pt x="974" y="0"/>
                  <a:pt x="924" y="165"/>
                  <a:pt x="938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Greedy Search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086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noProof="0" dirty="0"/>
              <a:t>Chiến lược: mở rộng nút ta nghĩ gần mục tiêu nhất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noProof="0" dirty="0"/>
              <a:t>Hàm kinh nghiệm: ước lượng một </a:t>
            </a:r>
            <a:r>
              <a:rPr lang="en-US" sz="2400" noProof="0" dirty="0"/>
              <a:t>“</a:t>
            </a:r>
            <a:r>
              <a:rPr lang="vi-VN" sz="2400" noProof="0" dirty="0"/>
              <a:t>trạng thái</a:t>
            </a:r>
            <a:r>
              <a:rPr lang="en-US" sz="2400" noProof="0" dirty="0"/>
              <a:t>”</a:t>
            </a:r>
            <a:r>
              <a:rPr lang="vi-VN" sz="2400" noProof="0" dirty="0"/>
              <a:t> gần </a:t>
            </a:r>
            <a:r>
              <a:rPr lang="en-US" sz="2400" noProof="0" dirty="0"/>
              <a:t>“</a:t>
            </a:r>
            <a:r>
              <a:rPr lang="vi-VN" sz="2400" noProof="0" dirty="0"/>
              <a:t>mục tiêu</a:t>
            </a:r>
            <a:r>
              <a:rPr lang="en-US" sz="2400" noProof="0" dirty="0"/>
              <a:t>”</a:t>
            </a:r>
            <a:r>
              <a:rPr lang="vi-VN" sz="2400" noProof="0" dirty="0"/>
              <a:t> thế nào</a:t>
            </a:r>
          </a:p>
          <a:p>
            <a:pPr lvl="1" eaLnBrk="1" hangingPunct="1">
              <a:lnSpc>
                <a:spcPct val="80000"/>
              </a:lnSpc>
            </a:pPr>
            <a:endParaRPr lang="vi-VN" sz="1200" noProof="0" dirty="0"/>
          </a:p>
          <a:p>
            <a:pPr eaLnBrk="1" hangingPunct="1">
              <a:lnSpc>
                <a:spcPct val="80000"/>
              </a:lnSpc>
            </a:pPr>
            <a:endParaRPr lang="vi-VN" sz="2800" noProof="0" dirty="0"/>
          </a:p>
          <a:p>
            <a:pPr eaLnBrk="1" hangingPunct="1">
              <a:lnSpc>
                <a:spcPct val="80000"/>
              </a:lnSpc>
            </a:pPr>
            <a:r>
              <a:rPr lang="vi-VN" sz="2800" noProof="0" dirty="0"/>
              <a:t>Trường hợp thông thường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noProof="0" dirty="0"/>
              <a:t>T</a:t>
            </a:r>
            <a:r>
              <a:rPr lang="vi-VN" sz="2400" noProof="0" dirty="0" err="1"/>
              <a:t>ìm</a:t>
            </a:r>
            <a:r>
              <a:rPr lang="vi-VN" sz="2400" noProof="0" dirty="0"/>
              <a:t> được mục tiêu (</a:t>
            </a:r>
            <a:r>
              <a:rPr lang="en-US" sz="2400" noProof="0" dirty="0" err="1"/>
              <a:t>có</a:t>
            </a:r>
            <a:r>
              <a:rPr lang="en-US" sz="2400" noProof="0" dirty="0"/>
              <a:t> </a:t>
            </a:r>
            <a:r>
              <a:rPr lang="en-US" sz="2400" noProof="0" dirty="0" err="1"/>
              <a:t>thể</a:t>
            </a:r>
            <a:r>
              <a:rPr lang="en-US" sz="2400" noProof="0" dirty="0"/>
              <a:t> </a:t>
            </a:r>
            <a:r>
              <a:rPr lang="vi-VN" sz="2400" noProof="0" dirty="0"/>
              <a:t>không tối ưu)</a:t>
            </a:r>
          </a:p>
          <a:p>
            <a:pPr eaLnBrk="1" hangingPunct="1">
              <a:lnSpc>
                <a:spcPct val="80000"/>
              </a:lnSpc>
            </a:pPr>
            <a:endParaRPr lang="vi-VN" sz="1200" noProof="0" dirty="0"/>
          </a:p>
          <a:p>
            <a:pPr eaLnBrk="1" hangingPunct="1">
              <a:lnSpc>
                <a:spcPct val="80000"/>
              </a:lnSpc>
            </a:pPr>
            <a:endParaRPr lang="vi-VN" sz="1200" noProof="0" dirty="0"/>
          </a:p>
          <a:p>
            <a:pPr eaLnBrk="1" hangingPunct="1">
              <a:lnSpc>
                <a:spcPct val="80000"/>
              </a:lnSpc>
            </a:pPr>
            <a:endParaRPr lang="vi-VN" sz="2800" noProof="0" dirty="0"/>
          </a:p>
          <a:p>
            <a:pPr eaLnBrk="1" hangingPunct="1">
              <a:lnSpc>
                <a:spcPct val="80000"/>
              </a:lnSpc>
            </a:pPr>
            <a:r>
              <a:rPr lang="vi-VN" sz="2800" noProof="0" dirty="0"/>
              <a:t>Trường hợp xấu</a:t>
            </a:r>
          </a:p>
          <a:p>
            <a:pPr lvl="1">
              <a:lnSpc>
                <a:spcPct val="80000"/>
              </a:lnSpc>
            </a:pPr>
            <a:r>
              <a:rPr lang="vi-VN" sz="2400" noProof="0" dirty="0"/>
              <a:t>Greedy = DFS được hướng dẫn tồi</a:t>
            </a:r>
            <a:r>
              <a:rPr lang="en-US" sz="2400" dirty="0"/>
              <a:t>,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nhánh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phù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endParaRPr lang="vi-VN" sz="2400" noProof="0" dirty="0"/>
          </a:p>
        </p:txBody>
      </p:sp>
      <p:sp>
        <p:nvSpPr>
          <p:cNvPr id="13317" name="Freeform 30"/>
          <p:cNvSpPr>
            <a:spLocks/>
          </p:cNvSpPr>
          <p:nvPr/>
        </p:nvSpPr>
        <p:spPr bwMode="auto">
          <a:xfrm>
            <a:off x="9348787" y="1219200"/>
            <a:ext cx="846139" cy="1774825"/>
          </a:xfrm>
          <a:custGeom>
            <a:avLst/>
            <a:gdLst>
              <a:gd name="T0" fmla="*/ 2147483647 w 533"/>
              <a:gd name="T1" fmla="*/ 2147483647 h 1118"/>
              <a:gd name="T2" fmla="*/ 2147483647 w 533"/>
              <a:gd name="T3" fmla="*/ 2147483647 h 1118"/>
              <a:gd name="T4" fmla="*/ 2147483647 w 533"/>
              <a:gd name="T5" fmla="*/ 2147483647 h 1118"/>
              <a:gd name="T6" fmla="*/ 2147483647 w 533"/>
              <a:gd name="T7" fmla="*/ 2147483647 h 1118"/>
              <a:gd name="T8" fmla="*/ 2147483647 w 533"/>
              <a:gd name="T9" fmla="*/ 2147483647 h 1118"/>
              <a:gd name="T10" fmla="*/ 2147483647 w 533"/>
              <a:gd name="T11" fmla="*/ 2147483647 h 11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33"/>
              <a:gd name="T19" fmla="*/ 0 h 1118"/>
              <a:gd name="T20" fmla="*/ 533 w 533"/>
              <a:gd name="T21" fmla="*/ 1118 h 11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33" h="1118">
                <a:moveTo>
                  <a:pt x="100" y="137"/>
                </a:moveTo>
                <a:cubicBezTo>
                  <a:pt x="172" y="245"/>
                  <a:pt x="395" y="656"/>
                  <a:pt x="464" y="788"/>
                </a:cubicBezTo>
                <a:cubicBezTo>
                  <a:pt x="533" y="920"/>
                  <a:pt x="513" y="858"/>
                  <a:pt x="513" y="928"/>
                </a:cubicBezTo>
                <a:cubicBezTo>
                  <a:pt x="472" y="988"/>
                  <a:pt x="380" y="1118"/>
                  <a:pt x="281" y="991"/>
                </a:cubicBezTo>
                <a:cubicBezTo>
                  <a:pt x="260" y="823"/>
                  <a:pt x="60" y="284"/>
                  <a:pt x="30" y="142"/>
                </a:cubicBezTo>
                <a:cubicBezTo>
                  <a:pt x="0" y="0"/>
                  <a:pt x="32" y="29"/>
                  <a:pt x="100" y="137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18" name="Freeform 4"/>
          <p:cNvSpPr>
            <a:spLocks/>
          </p:cNvSpPr>
          <p:nvPr/>
        </p:nvSpPr>
        <p:spPr bwMode="auto">
          <a:xfrm>
            <a:off x="8001000" y="1322386"/>
            <a:ext cx="2927351" cy="2108200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19" name="Oval 5"/>
          <p:cNvSpPr>
            <a:spLocks noChangeArrowheads="1"/>
          </p:cNvSpPr>
          <p:nvPr/>
        </p:nvSpPr>
        <p:spPr bwMode="auto">
          <a:xfrm>
            <a:off x="9123363" y="1677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0" name="Oval 6"/>
          <p:cNvSpPr>
            <a:spLocks noChangeArrowheads="1"/>
          </p:cNvSpPr>
          <p:nvPr/>
        </p:nvSpPr>
        <p:spPr bwMode="auto">
          <a:xfrm>
            <a:off x="9599613" y="166846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1" name="Text Box 7"/>
          <p:cNvSpPr txBox="1">
            <a:spLocks noChangeArrowheads="1"/>
          </p:cNvSpPr>
          <p:nvPr/>
        </p:nvSpPr>
        <p:spPr bwMode="auto">
          <a:xfrm>
            <a:off x="9253537" y="1528763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13322" name="Freeform 8"/>
          <p:cNvSpPr>
            <a:spLocks/>
          </p:cNvSpPr>
          <p:nvPr/>
        </p:nvSpPr>
        <p:spPr bwMode="auto">
          <a:xfrm>
            <a:off x="9236076" y="148272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23" name="Text Box 9"/>
          <p:cNvSpPr txBox="1">
            <a:spLocks noChangeArrowheads="1"/>
          </p:cNvSpPr>
          <p:nvPr/>
        </p:nvSpPr>
        <p:spPr bwMode="auto">
          <a:xfrm>
            <a:off x="9637711" y="1281112"/>
            <a:ext cx="29845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13324" name="Oval 11"/>
          <p:cNvSpPr>
            <a:spLocks noChangeArrowheads="1"/>
          </p:cNvSpPr>
          <p:nvPr/>
        </p:nvSpPr>
        <p:spPr bwMode="auto">
          <a:xfrm>
            <a:off x="9847263" y="2592387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5" name="Oval 17"/>
          <p:cNvSpPr>
            <a:spLocks noChangeArrowheads="1"/>
          </p:cNvSpPr>
          <p:nvPr/>
        </p:nvSpPr>
        <p:spPr bwMode="auto">
          <a:xfrm>
            <a:off x="9355137" y="125253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6" name="Freeform 18"/>
          <p:cNvSpPr>
            <a:spLocks/>
          </p:cNvSpPr>
          <p:nvPr/>
        </p:nvSpPr>
        <p:spPr bwMode="auto">
          <a:xfrm>
            <a:off x="8080376" y="3959223"/>
            <a:ext cx="2927351" cy="2062163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27" name="Oval 19"/>
          <p:cNvSpPr>
            <a:spLocks noChangeArrowheads="1"/>
          </p:cNvSpPr>
          <p:nvPr/>
        </p:nvSpPr>
        <p:spPr bwMode="auto">
          <a:xfrm>
            <a:off x="9202737" y="431482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8" name="Oval 20"/>
          <p:cNvSpPr>
            <a:spLocks noChangeArrowheads="1"/>
          </p:cNvSpPr>
          <p:nvPr/>
        </p:nvSpPr>
        <p:spPr bwMode="auto">
          <a:xfrm>
            <a:off x="9678988" y="4305299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9" name="Text Box 21"/>
          <p:cNvSpPr txBox="1">
            <a:spLocks noChangeArrowheads="1"/>
          </p:cNvSpPr>
          <p:nvPr/>
        </p:nvSpPr>
        <p:spPr bwMode="auto">
          <a:xfrm>
            <a:off x="9332912" y="4165600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13330" name="Freeform 22"/>
          <p:cNvSpPr>
            <a:spLocks/>
          </p:cNvSpPr>
          <p:nvPr/>
        </p:nvSpPr>
        <p:spPr bwMode="auto">
          <a:xfrm>
            <a:off x="9315451" y="411956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31" name="Text Box 23"/>
          <p:cNvSpPr txBox="1">
            <a:spLocks noChangeArrowheads="1"/>
          </p:cNvSpPr>
          <p:nvPr/>
        </p:nvSpPr>
        <p:spPr bwMode="auto">
          <a:xfrm>
            <a:off x="9717087" y="3917950"/>
            <a:ext cx="29845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13332" name="Oval 25"/>
          <p:cNvSpPr>
            <a:spLocks noChangeArrowheads="1"/>
          </p:cNvSpPr>
          <p:nvPr/>
        </p:nvSpPr>
        <p:spPr bwMode="auto">
          <a:xfrm>
            <a:off x="9466263" y="5335587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33" name="Oval 29"/>
          <p:cNvSpPr>
            <a:spLocks noChangeArrowheads="1"/>
          </p:cNvSpPr>
          <p:nvPr/>
        </p:nvSpPr>
        <p:spPr bwMode="auto">
          <a:xfrm>
            <a:off x="9434513" y="388937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2" name="Oval 25">
            <a:extLst>
              <a:ext uri="{FF2B5EF4-FFF2-40B4-BE49-F238E27FC236}">
                <a16:creationId xmlns:a16="http://schemas.microsoft.com/office/drawing/2014/main" id="{284A2700-A460-6E85-DC62-11744BA23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2362200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Ví dụ: đường đồng mức của Greedy trong Empty</a:t>
            </a:r>
          </a:p>
        </p:txBody>
      </p:sp>
      <p:pic>
        <p:nvPicPr>
          <p:cNvPr id="3" name="Empty-greedy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14739" y="1143001"/>
            <a:ext cx="6362523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5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600" dirty="0"/>
              <a:t>Ví dụ: đường đồng mức của Greedy trong </a:t>
            </a:r>
            <a:br>
              <a:rPr lang="vi-VN" sz="3600" dirty="0"/>
            </a:br>
            <a:r>
              <a:rPr lang="vi-VN" sz="3600" noProof="0" dirty="0"/>
              <a:t>Pacman Small Maze</a:t>
            </a:r>
          </a:p>
        </p:txBody>
      </p:sp>
      <p:pic>
        <p:nvPicPr>
          <p:cNvPr id="3" name="ContoursPacmanSmallMaze-greedy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28361" y="1143000"/>
            <a:ext cx="9335278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7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Thuật toán Tìm kiếm A*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00"/>
          <a:stretch/>
        </p:blipFill>
        <p:spPr bwMode="auto">
          <a:xfrm>
            <a:off x="-31315" y="1905000"/>
            <a:ext cx="12182254" cy="6019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Thuật toán Tìm kiếm A*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1676400"/>
            <a:ext cx="2871787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1447800"/>
            <a:ext cx="1600200" cy="184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19600" y="3744914"/>
            <a:ext cx="3557588" cy="236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633787" y="3276601"/>
            <a:ext cx="1524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/>
            <a:r>
              <a:rPr lang="en-US" sz="2000">
                <a:latin typeface="Calibri" pitchFamily="34" charset="0"/>
              </a:rPr>
              <a:t>UCS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162800" y="3276601"/>
            <a:ext cx="1524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/>
            <a:r>
              <a:rPr lang="en-US" sz="2000">
                <a:latin typeface="Calibri" pitchFamily="34" charset="0"/>
              </a:rPr>
              <a:t>Greedy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562599" y="5954714"/>
            <a:ext cx="1524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/>
            <a:r>
              <a:rPr lang="en-US" sz="2000">
                <a:latin typeface="Calibri" pitchFamily="34" charset="0"/>
              </a:rPr>
              <a:t>A*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7800"/>
            <a:ext cx="5791200" cy="502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 sz="200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8" name="AutoShape 2"/>
          <p:cNvCxnSpPr>
            <a:cxnSpLocks noChangeShapeType="1"/>
            <a:stCxn id="14344" idx="6"/>
            <a:endCxn id="14346" idx="2"/>
          </p:cNvCxnSpPr>
          <p:nvPr/>
        </p:nvCxnSpPr>
        <p:spPr bwMode="auto">
          <a:xfrm>
            <a:off x="5029200" y="4038600"/>
            <a:ext cx="13716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339" name="AutoShape 3"/>
          <p:cNvCxnSpPr>
            <a:cxnSpLocks noChangeShapeType="1"/>
            <a:stCxn id="14365" idx="4"/>
            <a:endCxn id="14344" idx="0"/>
          </p:cNvCxnSpPr>
          <p:nvPr/>
        </p:nvCxnSpPr>
        <p:spPr bwMode="auto">
          <a:xfrm flipH="1">
            <a:off x="4800600" y="3352800"/>
            <a:ext cx="685800" cy="457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A* = UCS + Greedy</a:t>
            </a:r>
          </a:p>
        </p:txBody>
      </p:sp>
      <p:sp>
        <p:nvSpPr>
          <p:cNvPr id="852997" name="Rectangle 5"/>
          <p:cNvSpPr>
            <a:spLocks noGrp="1" noChangeArrowheads="1"/>
          </p:cNvSpPr>
          <p:nvPr>
            <p:ph idx="1"/>
          </p:nvPr>
        </p:nvSpPr>
        <p:spPr>
          <a:xfrm>
            <a:off x="2209800" y="1143000"/>
            <a:ext cx="822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300" noProof="0" dirty="0">
                <a:solidFill>
                  <a:srgbClr val="FF0000"/>
                </a:solidFill>
                <a:latin typeface="Calibri"/>
                <a:cs typeface="Calibri"/>
              </a:rPr>
              <a:t>UCS</a:t>
            </a:r>
            <a:r>
              <a:rPr lang="vi-VN" sz="2300" noProof="0" dirty="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lang="vi-VN" sz="2300" noProof="0" dirty="0">
                <a:solidFill>
                  <a:schemeClr val="tx1"/>
                </a:solidFill>
                <a:latin typeface="Calibri"/>
                <a:cs typeface="Calibri"/>
              </a:rPr>
              <a:t>ưu tiên chi phí đường đi, hay </a:t>
            </a:r>
            <a:r>
              <a:rPr lang="vi-VN" sz="2300" noProof="0" dirty="0">
                <a:solidFill>
                  <a:srgbClr val="2D2D8A"/>
                </a:solidFill>
                <a:latin typeface="Calibri"/>
                <a:cs typeface="Calibri"/>
              </a:rPr>
              <a:t>chi phí quá khứ </a:t>
            </a:r>
            <a:r>
              <a:rPr lang="vi-VN" sz="2300" noProof="0" dirty="0">
                <a:solidFill>
                  <a:schemeClr val="tx1"/>
                </a:solidFill>
                <a:latin typeface="Calibri"/>
                <a:cs typeface="Calibri"/>
              </a:rPr>
              <a:t>g(n)</a:t>
            </a:r>
          </a:p>
          <a:p>
            <a:pPr eaLnBrk="1" hangingPunct="1">
              <a:lnSpc>
                <a:spcPct val="90000"/>
              </a:lnSpc>
            </a:pPr>
            <a:r>
              <a:rPr lang="vi-VN" sz="2300" noProof="0" dirty="0">
                <a:solidFill>
                  <a:srgbClr val="CC0000"/>
                </a:solidFill>
                <a:latin typeface="Calibri"/>
                <a:cs typeface="Calibri"/>
              </a:rPr>
              <a:t>Greedy</a:t>
            </a:r>
            <a:r>
              <a:rPr lang="vi-VN" sz="2300" noProof="0" dirty="0">
                <a:latin typeface="Calibri"/>
                <a:cs typeface="Calibri"/>
              </a:rPr>
              <a:t> </a:t>
            </a:r>
            <a:r>
              <a:rPr lang="vi-VN" sz="2300" noProof="0" dirty="0">
                <a:solidFill>
                  <a:schemeClr val="tx2"/>
                </a:solidFill>
                <a:latin typeface="Calibri"/>
                <a:cs typeface="Calibri"/>
              </a:rPr>
              <a:t>ưu tiên ước lượng khoảng cách đến mục tiêu, hay </a:t>
            </a:r>
            <a:r>
              <a:rPr lang="vi-VN" sz="2300" noProof="0" dirty="0">
                <a:solidFill>
                  <a:srgbClr val="2D2D8A"/>
                </a:solidFill>
                <a:latin typeface="Calibri"/>
                <a:cs typeface="Calibri"/>
              </a:rPr>
              <a:t>chi phí tương lai</a:t>
            </a:r>
            <a:r>
              <a:rPr lang="vi-VN" sz="2300" i="1" noProof="0" dirty="0">
                <a:solidFill>
                  <a:schemeClr val="tx2"/>
                </a:solidFill>
                <a:latin typeface="Calibri"/>
                <a:cs typeface="Calibri"/>
              </a:rPr>
              <a:t>  </a:t>
            </a:r>
            <a:r>
              <a:rPr lang="vi-VN" sz="2300" noProof="0" dirty="0">
                <a:solidFill>
                  <a:schemeClr val="tx2"/>
                </a:solidFill>
                <a:latin typeface="Calibri"/>
                <a:cs typeface="Calibri"/>
              </a:rPr>
              <a:t>h(n)</a:t>
            </a:r>
            <a:endParaRPr lang="vi-VN" sz="2300" i="1" noProof="0" dirty="0">
              <a:solidFill>
                <a:schemeClr val="tx2"/>
              </a:solidFill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solidFill>
                <a:schemeClr val="tx2"/>
              </a:solidFill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r>
              <a:rPr lang="vi-VN" sz="2800" noProof="0" dirty="0">
                <a:solidFill>
                  <a:srgbClr val="CC00CC"/>
                </a:solidFill>
                <a:latin typeface="Calibri"/>
                <a:cs typeface="Calibri"/>
              </a:rPr>
              <a:t>Tìm kiếm A*</a:t>
            </a:r>
            <a:r>
              <a:rPr lang="vi-VN" sz="2800" noProof="0" dirty="0">
                <a:solidFill>
                  <a:schemeClr val="tx1"/>
                </a:solidFill>
                <a:latin typeface="Calibri"/>
                <a:cs typeface="Calibri"/>
              </a:rPr>
              <a:t> ưu tiên tổng: </a:t>
            </a:r>
            <a:r>
              <a:rPr lang="vi-VN" sz="2800" dirty="0">
                <a:solidFill>
                  <a:srgbClr val="CC00CC"/>
                </a:solidFill>
                <a:latin typeface="Calibri"/>
                <a:cs typeface="Calibri"/>
              </a:rPr>
              <a:t>f(n) = g(n) + h(n)</a:t>
            </a:r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457200" y="3810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4572000" y="3810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d</a:t>
            </a:r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17526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b</a:t>
            </a:r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6400800" y="3810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1981200" y="4191001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h=5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1676400" y="5181601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h=6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4800600" y="4343401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h=2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1066800" y="3641725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1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3276600" y="2286001"/>
            <a:ext cx="38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8</a:t>
            </a:r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1066800" y="4572001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1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1524000" y="4251325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1</a:t>
            </a:r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5562600" y="3641725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2</a:t>
            </a:r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304800" y="4191001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h=6</a:t>
            </a:r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6172200" y="4343401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h=0</a:t>
            </a:r>
          </a:p>
        </p:txBody>
      </p:sp>
      <p:cxnSp>
        <p:nvCxnSpPr>
          <p:cNvPr id="14357" name="AutoShape 21"/>
          <p:cNvCxnSpPr>
            <a:cxnSpLocks noChangeShapeType="1"/>
            <a:stCxn id="14342" idx="6"/>
            <a:endCxn id="14343" idx="2"/>
          </p:cNvCxnSpPr>
          <p:nvPr/>
        </p:nvCxnSpPr>
        <p:spPr bwMode="auto">
          <a:xfrm>
            <a:off x="914400" y="4038600"/>
            <a:ext cx="8382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358" name="AutoShape 22"/>
          <p:cNvCxnSpPr>
            <a:cxnSpLocks noChangeShapeType="1"/>
            <a:stCxn id="14343" idx="4"/>
            <a:endCxn id="14345" idx="0"/>
          </p:cNvCxnSpPr>
          <p:nvPr/>
        </p:nvCxnSpPr>
        <p:spPr bwMode="auto">
          <a:xfrm>
            <a:off x="1981200" y="4267200"/>
            <a:ext cx="0" cy="457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359" name="AutoShape 23"/>
          <p:cNvCxnSpPr>
            <a:cxnSpLocks noChangeShapeType="1"/>
            <a:stCxn id="14343" idx="0"/>
            <a:endCxn id="14365" idx="1"/>
          </p:cNvCxnSpPr>
          <p:nvPr/>
        </p:nvCxnSpPr>
        <p:spPr bwMode="auto">
          <a:xfrm rot="-5400000">
            <a:off x="3228976" y="1714501"/>
            <a:ext cx="847725" cy="3343275"/>
          </a:xfrm>
          <a:prstGeom prst="curvedConnector3">
            <a:avLst>
              <a:gd name="adj1" fmla="val 134833"/>
            </a:avLst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360" name="AutoShape 24"/>
          <p:cNvCxnSpPr>
            <a:cxnSpLocks noChangeShapeType="1"/>
            <a:stCxn id="14345" idx="2"/>
            <a:endCxn id="14361" idx="6"/>
          </p:cNvCxnSpPr>
          <p:nvPr/>
        </p:nvCxnSpPr>
        <p:spPr bwMode="auto">
          <a:xfrm rot="10800000">
            <a:off x="914400" y="4953001"/>
            <a:ext cx="838200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361" name="Oval 25"/>
          <p:cNvSpPr>
            <a:spLocks noChangeArrowheads="1"/>
          </p:cNvSpPr>
          <p:nvPr/>
        </p:nvSpPr>
        <p:spPr bwMode="auto">
          <a:xfrm>
            <a:off x="4572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c</a:t>
            </a:r>
          </a:p>
        </p:txBody>
      </p:sp>
      <p:cxnSp>
        <p:nvCxnSpPr>
          <p:cNvPr id="14362" name="AutoShape 27"/>
          <p:cNvCxnSpPr>
            <a:cxnSpLocks noChangeShapeType="1"/>
            <a:stCxn id="14343" idx="6"/>
            <a:endCxn id="14344" idx="2"/>
          </p:cNvCxnSpPr>
          <p:nvPr/>
        </p:nvCxnSpPr>
        <p:spPr bwMode="auto">
          <a:xfrm>
            <a:off x="2209800" y="4038600"/>
            <a:ext cx="23622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363" name="Text Box 28"/>
          <p:cNvSpPr txBox="1">
            <a:spLocks noChangeArrowheads="1"/>
          </p:cNvSpPr>
          <p:nvPr/>
        </p:nvSpPr>
        <p:spPr bwMode="auto">
          <a:xfrm>
            <a:off x="304800" y="5165725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h=7</a:t>
            </a:r>
          </a:p>
        </p:txBody>
      </p:sp>
      <p:sp>
        <p:nvSpPr>
          <p:cNvPr id="14364" name="Text Box 30"/>
          <p:cNvSpPr txBox="1">
            <a:spLocks noChangeArrowheads="1"/>
          </p:cNvSpPr>
          <p:nvPr/>
        </p:nvSpPr>
        <p:spPr bwMode="auto">
          <a:xfrm>
            <a:off x="3124200" y="3641725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3</a:t>
            </a:r>
          </a:p>
        </p:txBody>
      </p:sp>
      <p:sp>
        <p:nvSpPr>
          <p:cNvPr id="14365" name="Oval 31"/>
          <p:cNvSpPr>
            <a:spLocks noChangeArrowheads="1"/>
          </p:cNvSpPr>
          <p:nvPr/>
        </p:nvSpPr>
        <p:spPr bwMode="auto">
          <a:xfrm>
            <a:off x="5257800" y="2895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e</a:t>
            </a:r>
          </a:p>
        </p:txBody>
      </p:sp>
      <p:sp>
        <p:nvSpPr>
          <p:cNvPr id="14366" name="Text Box 32"/>
          <p:cNvSpPr txBox="1">
            <a:spLocks noChangeArrowheads="1"/>
          </p:cNvSpPr>
          <p:nvPr/>
        </p:nvSpPr>
        <p:spPr bwMode="auto">
          <a:xfrm>
            <a:off x="5715000" y="2895601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h=1</a:t>
            </a:r>
          </a:p>
        </p:txBody>
      </p:sp>
      <p:sp>
        <p:nvSpPr>
          <p:cNvPr id="14367" name="Text Box 33"/>
          <p:cNvSpPr txBox="1">
            <a:spLocks noChangeArrowheads="1"/>
          </p:cNvSpPr>
          <p:nvPr/>
        </p:nvSpPr>
        <p:spPr bwMode="auto">
          <a:xfrm>
            <a:off x="4724400" y="3200401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1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914400" y="4038601"/>
            <a:ext cx="1066800" cy="915988"/>
            <a:chOff x="1392" y="2544"/>
            <a:chExt cx="672" cy="577"/>
          </a:xfrm>
        </p:grpSpPr>
        <p:cxnSp>
          <p:nvCxnSpPr>
            <p:cNvPr id="14379" name="AutoShape 35"/>
            <p:cNvCxnSpPr>
              <a:cxnSpLocks noChangeShapeType="1"/>
            </p:cNvCxnSpPr>
            <p:nvPr/>
          </p:nvCxnSpPr>
          <p:spPr bwMode="auto">
            <a:xfrm>
              <a:off x="1392" y="2544"/>
              <a:ext cx="528" cy="0"/>
            </a:xfrm>
            <a:prstGeom prst="straightConnector1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</p:spPr>
        </p:cxnSp>
        <p:cxnSp>
          <p:nvCxnSpPr>
            <p:cNvPr id="14380" name="AutoShape 36"/>
            <p:cNvCxnSpPr>
              <a:cxnSpLocks noChangeShapeType="1"/>
            </p:cNvCxnSpPr>
            <p:nvPr/>
          </p:nvCxnSpPr>
          <p:spPr bwMode="auto">
            <a:xfrm>
              <a:off x="2064" y="2688"/>
              <a:ext cx="0" cy="288"/>
            </a:xfrm>
            <a:prstGeom prst="straightConnector1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</p:spPr>
        </p:cxnSp>
        <p:cxnSp>
          <p:nvCxnSpPr>
            <p:cNvPr id="14381" name="AutoShape 37"/>
            <p:cNvCxnSpPr>
              <a:cxnSpLocks noChangeShapeType="1"/>
            </p:cNvCxnSpPr>
            <p:nvPr/>
          </p:nvCxnSpPr>
          <p:spPr bwMode="auto">
            <a:xfrm rot="10800000">
              <a:off x="1392" y="3120"/>
              <a:ext cx="528" cy="1"/>
            </a:xfrm>
            <a:prstGeom prst="straightConnector1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914400" y="2962276"/>
            <a:ext cx="5486400" cy="1076325"/>
            <a:chOff x="1392" y="1872"/>
            <a:chExt cx="3456" cy="678"/>
          </a:xfrm>
        </p:grpSpPr>
        <p:cxnSp>
          <p:nvCxnSpPr>
            <p:cNvPr id="14375" name="AutoShape 39"/>
            <p:cNvCxnSpPr>
              <a:cxnSpLocks noChangeShapeType="1"/>
            </p:cNvCxnSpPr>
            <p:nvPr/>
          </p:nvCxnSpPr>
          <p:spPr bwMode="auto">
            <a:xfrm>
              <a:off x="3984" y="2550"/>
              <a:ext cx="864" cy="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4376" name="AutoShape 40"/>
            <p:cNvCxnSpPr>
              <a:cxnSpLocks noChangeShapeType="1"/>
            </p:cNvCxnSpPr>
            <p:nvPr/>
          </p:nvCxnSpPr>
          <p:spPr bwMode="auto">
            <a:xfrm flipH="1">
              <a:off x="3840" y="2118"/>
              <a:ext cx="432" cy="28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4377" name="AutoShape 41"/>
            <p:cNvCxnSpPr>
              <a:cxnSpLocks noChangeShapeType="1"/>
            </p:cNvCxnSpPr>
            <p:nvPr/>
          </p:nvCxnSpPr>
          <p:spPr bwMode="auto">
            <a:xfrm>
              <a:off x="1392" y="2550"/>
              <a:ext cx="528" cy="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4378" name="AutoShape 42"/>
            <p:cNvCxnSpPr>
              <a:cxnSpLocks noChangeShapeType="1"/>
            </p:cNvCxnSpPr>
            <p:nvPr/>
          </p:nvCxnSpPr>
          <p:spPr bwMode="auto">
            <a:xfrm rot="-5400000">
              <a:off x="2850" y="1086"/>
              <a:ext cx="534" cy="2106"/>
            </a:xfrm>
            <a:prstGeom prst="curvedConnector3">
              <a:avLst>
                <a:gd name="adj1" fmla="val 134833"/>
              </a:avLst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914400" y="4038600"/>
            <a:ext cx="5486400" cy="0"/>
            <a:chOff x="1392" y="2544"/>
            <a:chExt cx="3456" cy="0"/>
          </a:xfrm>
        </p:grpSpPr>
        <p:cxnSp>
          <p:nvCxnSpPr>
            <p:cNvPr id="14372" name="AutoShape 44"/>
            <p:cNvCxnSpPr>
              <a:cxnSpLocks noChangeShapeType="1"/>
            </p:cNvCxnSpPr>
            <p:nvPr/>
          </p:nvCxnSpPr>
          <p:spPr bwMode="auto">
            <a:xfrm>
              <a:off x="3984" y="2544"/>
              <a:ext cx="864" cy="0"/>
            </a:xfrm>
            <a:prstGeom prst="straightConnector1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med"/>
            </a:ln>
          </p:spPr>
        </p:cxnSp>
        <p:cxnSp>
          <p:nvCxnSpPr>
            <p:cNvPr id="14373" name="AutoShape 45"/>
            <p:cNvCxnSpPr>
              <a:cxnSpLocks noChangeShapeType="1"/>
            </p:cNvCxnSpPr>
            <p:nvPr/>
          </p:nvCxnSpPr>
          <p:spPr bwMode="auto">
            <a:xfrm>
              <a:off x="1392" y="2544"/>
              <a:ext cx="528" cy="0"/>
            </a:xfrm>
            <a:prstGeom prst="straightConnector1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med"/>
            </a:ln>
          </p:spPr>
        </p:cxnSp>
        <p:cxnSp>
          <p:nvCxnSpPr>
            <p:cNvPr id="14374" name="AutoShape 46"/>
            <p:cNvCxnSpPr>
              <a:cxnSpLocks noChangeShapeType="1"/>
            </p:cNvCxnSpPr>
            <p:nvPr/>
          </p:nvCxnSpPr>
          <p:spPr bwMode="auto">
            <a:xfrm>
              <a:off x="2208" y="2544"/>
              <a:ext cx="1488" cy="0"/>
            </a:xfrm>
            <a:prstGeom prst="straightConnector1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med"/>
            </a:ln>
          </p:spPr>
        </p:cxnSp>
      </p:grpSp>
      <p:sp>
        <p:nvSpPr>
          <p:cNvPr id="14371" name="Text Box 50"/>
          <p:cNvSpPr txBox="1">
            <a:spLocks noChangeArrowheads="1"/>
          </p:cNvSpPr>
          <p:nvPr/>
        </p:nvSpPr>
        <p:spPr bwMode="auto">
          <a:xfrm>
            <a:off x="9296400" y="6457892"/>
            <a:ext cx="28194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 err="1">
                <a:latin typeface="Calibri"/>
                <a:cs typeface="Calibri"/>
              </a:rPr>
              <a:t>Ví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dụ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của</a:t>
            </a:r>
            <a:r>
              <a:rPr lang="en-US" sz="2000" dirty="0">
                <a:latin typeface="Calibri"/>
                <a:cs typeface="Calibri"/>
              </a:rPr>
              <a:t> Teg </a:t>
            </a:r>
            <a:r>
              <a:rPr lang="en-US" sz="2000" dirty="0" err="1">
                <a:latin typeface="Calibri"/>
                <a:cs typeface="Calibri"/>
              </a:rPr>
              <a:t>Grenager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47" name="Oval 6"/>
          <p:cNvSpPr>
            <a:spLocks noChangeArrowheads="1"/>
          </p:cNvSpPr>
          <p:nvPr/>
        </p:nvSpPr>
        <p:spPr bwMode="auto">
          <a:xfrm>
            <a:off x="9753600" y="2362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48" name="Oval 7"/>
          <p:cNvSpPr>
            <a:spLocks noChangeArrowheads="1"/>
          </p:cNvSpPr>
          <p:nvPr/>
        </p:nvSpPr>
        <p:spPr bwMode="auto">
          <a:xfrm>
            <a:off x="9220200" y="29718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49" name="Oval 9"/>
          <p:cNvSpPr>
            <a:spLocks noChangeArrowheads="1"/>
          </p:cNvSpPr>
          <p:nvPr/>
        </p:nvSpPr>
        <p:spPr bwMode="auto">
          <a:xfrm>
            <a:off x="86868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b</a:t>
            </a:r>
          </a:p>
        </p:txBody>
      </p:sp>
      <p:sp>
        <p:nvSpPr>
          <p:cNvPr id="50" name="Oval 25"/>
          <p:cNvSpPr>
            <a:spLocks noChangeArrowheads="1"/>
          </p:cNvSpPr>
          <p:nvPr/>
        </p:nvSpPr>
        <p:spPr bwMode="auto">
          <a:xfrm>
            <a:off x="86868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c</a:t>
            </a:r>
          </a:p>
        </p:txBody>
      </p:sp>
      <p:sp>
        <p:nvSpPr>
          <p:cNvPr id="51" name="Oval 31"/>
          <p:cNvSpPr>
            <a:spLocks noChangeArrowheads="1"/>
          </p:cNvSpPr>
          <p:nvPr/>
        </p:nvSpPr>
        <p:spPr bwMode="auto">
          <a:xfrm>
            <a:off x="108966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e</a:t>
            </a:r>
          </a:p>
        </p:txBody>
      </p:sp>
      <p:sp>
        <p:nvSpPr>
          <p:cNvPr id="52" name="Oval 8"/>
          <p:cNvSpPr>
            <a:spLocks noChangeArrowheads="1"/>
          </p:cNvSpPr>
          <p:nvPr/>
        </p:nvSpPr>
        <p:spPr bwMode="auto">
          <a:xfrm>
            <a:off x="94488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d</a:t>
            </a:r>
          </a:p>
        </p:txBody>
      </p:sp>
      <p:sp>
        <p:nvSpPr>
          <p:cNvPr id="53" name="Oval 8"/>
          <p:cNvSpPr>
            <a:spLocks noChangeArrowheads="1"/>
          </p:cNvSpPr>
          <p:nvPr/>
        </p:nvSpPr>
        <p:spPr bwMode="auto">
          <a:xfrm>
            <a:off x="108966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d</a:t>
            </a:r>
          </a:p>
        </p:txBody>
      </p:sp>
      <p:sp>
        <p:nvSpPr>
          <p:cNvPr id="54" name="Oval 10"/>
          <p:cNvSpPr>
            <a:spLocks noChangeArrowheads="1"/>
          </p:cNvSpPr>
          <p:nvPr/>
        </p:nvSpPr>
        <p:spPr bwMode="auto">
          <a:xfrm>
            <a:off x="94488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55" name="Oval 10"/>
          <p:cNvSpPr>
            <a:spLocks noChangeArrowheads="1"/>
          </p:cNvSpPr>
          <p:nvPr/>
        </p:nvSpPr>
        <p:spPr bwMode="auto">
          <a:xfrm>
            <a:off x="10896600" y="5715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G</a:t>
            </a:r>
          </a:p>
        </p:txBody>
      </p:sp>
      <p:cxnSp>
        <p:nvCxnSpPr>
          <p:cNvPr id="7" name="Straight Connector 6"/>
          <p:cNvCxnSpPr>
            <a:stCxn id="47" idx="4"/>
            <a:endCxn id="48" idx="7"/>
          </p:cNvCxnSpPr>
          <p:nvPr/>
        </p:nvCxnSpPr>
        <p:spPr>
          <a:xfrm flipH="1">
            <a:off x="9610445" y="2819400"/>
            <a:ext cx="371755" cy="21935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8" idx="4"/>
            <a:endCxn id="52" idx="0"/>
          </p:cNvCxnSpPr>
          <p:nvPr/>
        </p:nvCxnSpPr>
        <p:spPr>
          <a:xfrm>
            <a:off x="9448800" y="3429000"/>
            <a:ext cx="22860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1" idx="4"/>
            <a:endCxn id="53" idx="0"/>
          </p:cNvCxnSpPr>
          <p:nvPr/>
        </p:nvCxnSpPr>
        <p:spPr>
          <a:xfrm>
            <a:off x="11125200" y="43434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2" idx="4"/>
            <a:endCxn id="54" idx="0"/>
          </p:cNvCxnSpPr>
          <p:nvPr/>
        </p:nvCxnSpPr>
        <p:spPr>
          <a:xfrm>
            <a:off x="9677400" y="43434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1" idx="0"/>
            <a:endCxn id="48" idx="4"/>
          </p:cNvCxnSpPr>
          <p:nvPr/>
        </p:nvCxnSpPr>
        <p:spPr>
          <a:xfrm flipH="1" flipV="1">
            <a:off x="9448800" y="3429000"/>
            <a:ext cx="167640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48" idx="4"/>
            <a:endCxn id="49" idx="0"/>
          </p:cNvCxnSpPr>
          <p:nvPr/>
        </p:nvCxnSpPr>
        <p:spPr>
          <a:xfrm flipH="1">
            <a:off x="8915400" y="3429000"/>
            <a:ext cx="53340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49" idx="4"/>
            <a:endCxn id="50" idx="0"/>
          </p:cNvCxnSpPr>
          <p:nvPr/>
        </p:nvCxnSpPr>
        <p:spPr>
          <a:xfrm>
            <a:off x="8915400" y="43434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53" idx="4"/>
            <a:endCxn id="55" idx="0"/>
          </p:cNvCxnSpPr>
          <p:nvPr/>
        </p:nvCxnSpPr>
        <p:spPr>
          <a:xfrm>
            <a:off x="11125200" y="52578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 Box 19"/>
          <p:cNvSpPr txBox="1">
            <a:spLocks noChangeArrowheads="1"/>
          </p:cNvSpPr>
          <p:nvPr/>
        </p:nvSpPr>
        <p:spPr bwMode="auto">
          <a:xfrm>
            <a:off x="10287000" y="2209800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0 h=6</a:t>
            </a:r>
          </a:p>
        </p:txBody>
      </p:sp>
      <p:sp>
        <p:nvSpPr>
          <p:cNvPr id="65" name="Text Box 19"/>
          <p:cNvSpPr txBox="1">
            <a:spLocks noChangeArrowheads="1"/>
          </p:cNvSpPr>
          <p:nvPr/>
        </p:nvSpPr>
        <p:spPr bwMode="auto">
          <a:xfrm>
            <a:off x="8458200" y="2797316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1 h=5</a:t>
            </a:r>
          </a:p>
        </p:txBody>
      </p:sp>
      <p:sp>
        <p:nvSpPr>
          <p:cNvPr id="66" name="Text Box 19"/>
          <p:cNvSpPr txBox="1">
            <a:spLocks noChangeArrowheads="1"/>
          </p:cNvSpPr>
          <p:nvPr/>
        </p:nvSpPr>
        <p:spPr bwMode="auto">
          <a:xfrm>
            <a:off x="7848600" y="3733800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2 h=6</a:t>
            </a:r>
          </a:p>
        </p:txBody>
      </p:sp>
      <p:sp>
        <p:nvSpPr>
          <p:cNvPr id="67" name="Text Box 19"/>
          <p:cNvSpPr txBox="1">
            <a:spLocks noChangeArrowheads="1"/>
          </p:cNvSpPr>
          <p:nvPr/>
        </p:nvSpPr>
        <p:spPr bwMode="auto">
          <a:xfrm>
            <a:off x="7848600" y="4626116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3 h=7</a:t>
            </a:r>
          </a:p>
        </p:txBody>
      </p:sp>
      <p:sp>
        <p:nvSpPr>
          <p:cNvPr id="68" name="Text Box 19"/>
          <p:cNvSpPr txBox="1">
            <a:spLocks noChangeArrowheads="1"/>
          </p:cNvSpPr>
          <p:nvPr/>
        </p:nvSpPr>
        <p:spPr bwMode="auto">
          <a:xfrm>
            <a:off x="9829800" y="3810000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4 h=2</a:t>
            </a:r>
          </a:p>
        </p:txBody>
      </p:sp>
      <p:sp>
        <p:nvSpPr>
          <p:cNvPr id="69" name="Text Box 19"/>
          <p:cNvSpPr txBox="1">
            <a:spLocks noChangeArrowheads="1"/>
          </p:cNvSpPr>
          <p:nvPr/>
        </p:nvSpPr>
        <p:spPr bwMode="auto">
          <a:xfrm>
            <a:off x="9829800" y="4648200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6 h=0</a:t>
            </a:r>
          </a:p>
        </p:txBody>
      </p:sp>
      <p:sp>
        <p:nvSpPr>
          <p:cNvPr id="70" name="Text Box 19"/>
          <p:cNvSpPr txBox="1">
            <a:spLocks noChangeArrowheads="1"/>
          </p:cNvSpPr>
          <p:nvPr/>
        </p:nvSpPr>
        <p:spPr bwMode="auto">
          <a:xfrm>
            <a:off x="11277600" y="3711716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9 h=1</a:t>
            </a:r>
          </a:p>
        </p:txBody>
      </p:sp>
      <p:sp>
        <p:nvSpPr>
          <p:cNvPr id="71" name="Text Box 19"/>
          <p:cNvSpPr txBox="1">
            <a:spLocks noChangeArrowheads="1"/>
          </p:cNvSpPr>
          <p:nvPr/>
        </p:nvSpPr>
        <p:spPr bwMode="auto">
          <a:xfrm>
            <a:off x="11277600" y="4702316"/>
            <a:ext cx="9144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10 h=2</a:t>
            </a:r>
          </a:p>
        </p:txBody>
      </p:sp>
      <p:sp>
        <p:nvSpPr>
          <p:cNvPr id="72" name="Text Box 19"/>
          <p:cNvSpPr txBox="1">
            <a:spLocks noChangeArrowheads="1"/>
          </p:cNvSpPr>
          <p:nvPr/>
        </p:nvSpPr>
        <p:spPr bwMode="auto">
          <a:xfrm>
            <a:off x="11277600" y="5562600"/>
            <a:ext cx="9144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12 h=0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9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299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Khi nào A* nên kết thúc?</a:t>
            </a:r>
          </a:p>
        </p:txBody>
      </p:sp>
      <p:sp>
        <p:nvSpPr>
          <p:cNvPr id="798748" name="Rectangle 28"/>
          <p:cNvSpPr>
            <a:spLocks noGrp="1" noChangeArrowheads="1"/>
          </p:cNvSpPr>
          <p:nvPr>
            <p:ph idx="1"/>
          </p:nvPr>
        </p:nvSpPr>
        <p:spPr>
          <a:xfrm>
            <a:off x="2209800" y="1447800"/>
            <a:ext cx="9728200" cy="4105174"/>
          </a:xfrm>
        </p:spPr>
        <p:txBody>
          <a:bodyPr/>
          <a:lstStyle/>
          <a:p>
            <a:pPr eaLnBrk="1" hangingPunct="1"/>
            <a:r>
              <a:rPr lang="vi-VN" dirty="0">
                <a:latin typeface="Calibri"/>
                <a:cs typeface="Calibri"/>
              </a:rPr>
              <a:t>Kết thúc khi đưa trạng thái mục tiêu vào hàng đợi</a:t>
            </a:r>
            <a:r>
              <a:rPr lang="vi-VN" noProof="0" dirty="0">
                <a:latin typeface="Calibri"/>
                <a:cs typeface="Calibri"/>
              </a:rPr>
              <a:t>?</a:t>
            </a: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r>
              <a:rPr lang="vi-VN" noProof="0" dirty="0">
                <a:solidFill>
                  <a:srgbClr val="FF0000"/>
                </a:solidFill>
                <a:latin typeface="Calibri"/>
                <a:cs typeface="Calibri"/>
              </a:rPr>
              <a:t>Không</a:t>
            </a:r>
            <a:r>
              <a:rPr lang="vi-VN" noProof="0" dirty="0">
                <a:latin typeface="Calibri"/>
                <a:cs typeface="Calibri"/>
              </a:rPr>
              <a:t>! Chỉ kết thúc khi lấy trạng thái mục tiêu khỏi hàng đợi</a:t>
            </a:r>
            <a:r>
              <a:rPr lang="en-US" noProof="0" dirty="0">
                <a:latin typeface="Calibri"/>
                <a:cs typeface="Calibri"/>
              </a:rPr>
              <a:t>.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3276600" y="3505200"/>
            <a:ext cx="609600" cy="59531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15365" name="AutoShape 6"/>
          <p:cNvSpPr>
            <a:spLocks noChangeArrowheads="1"/>
          </p:cNvSpPr>
          <p:nvPr/>
        </p:nvSpPr>
        <p:spPr bwMode="auto">
          <a:xfrm>
            <a:off x="5867400" y="4419600"/>
            <a:ext cx="609600" cy="59531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B</a:t>
            </a:r>
          </a:p>
        </p:txBody>
      </p:sp>
      <p:sp>
        <p:nvSpPr>
          <p:cNvPr id="15366" name="AutoShape 8"/>
          <p:cNvSpPr>
            <a:spLocks noChangeArrowheads="1"/>
          </p:cNvSpPr>
          <p:nvPr/>
        </p:nvSpPr>
        <p:spPr bwMode="auto">
          <a:xfrm>
            <a:off x="5867400" y="2528888"/>
            <a:ext cx="609600" cy="59531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15367" name="AutoShape 9"/>
          <p:cNvSpPr>
            <a:spLocks noChangeArrowheads="1"/>
          </p:cNvSpPr>
          <p:nvPr/>
        </p:nvSpPr>
        <p:spPr bwMode="auto">
          <a:xfrm>
            <a:off x="8382000" y="3519488"/>
            <a:ext cx="609600" cy="59531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15368" name="Line 10"/>
          <p:cNvSpPr>
            <a:spLocks noChangeShapeType="1"/>
          </p:cNvSpPr>
          <p:nvPr/>
        </p:nvSpPr>
        <p:spPr bwMode="auto">
          <a:xfrm>
            <a:off x="6477000" y="2819400"/>
            <a:ext cx="1905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5369" name="Line 13"/>
          <p:cNvSpPr>
            <a:spLocks noChangeShapeType="1"/>
          </p:cNvSpPr>
          <p:nvPr/>
        </p:nvSpPr>
        <p:spPr bwMode="auto">
          <a:xfrm flipH="1">
            <a:off x="3886200" y="2819400"/>
            <a:ext cx="1981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med"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5370" name="Line 14"/>
          <p:cNvSpPr>
            <a:spLocks noChangeShapeType="1"/>
          </p:cNvSpPr>
          <p:nvPr/>
        </p:nvSpPr>
        <p:spPr bwMode="auto">
          <a:xfrm>
            <a:off x="3886200" y="3962400"/>
            <a:ext cx="19812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5371" name="Line 15"/>
          <p:cNvSpPr>
            <a:spLocks noChangeShapeType="1"/>
          </p:cNvSpPr>
          <p:nvPr/>
        </p:nvSpPr>
        <p:spPr bwMode="auto">
          <a:xfrm flipH="1">
            <a:off x="6477000" y="3962400"/>
            <a:ext cx="19050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med"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5372" name="Text Box 16"/>
          <p:cNvSpPr txBox="1">
            <a:spLocks noChangeArrowheads="1"/>
          </p:cNvSpPr>
          <p:nvPr/>
        </p:nvSpPr>
        <p:spPr bwMode="auto">
          <a:xfrm>
            <a:off x="4572000" y="2667000"/>
            <a:ext cx="45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2</a:t>
            </a:r>
          </a:p>
        </p:txBody>
      </p:sp>
      <p:sp>
        <p:nvSpPr>
          <p:cNvPr id="15373" name="Text Box 19"/>
          <p:cNvSpPr txBox="1">
            <a:spLocks noChangeArrowheads="1"/>
          </p:cNvSpPr>
          <p:nvPr/>
        </p:nvSpPr>
        <p:spPr bwMode="auto">
          <a:xfrm>
            <a:off x="7315200" y="4433888"/>
            <a:ext cx="45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3</a:t>
            </a:r>
          </a:p>
        </p:txBody>
      </p:sp>
      <p:sp>
        <p:nvSpPr>
          <p:cNvPr id="15374" name="Text Box 20"/>
          <p:cNvSpPr txBox="1">
            <a:spLocks noChangeArrowheads="1"/>
          </p:cNvSpPr>
          <p:nvPr/>
        </p:nvSpPr>
        <p:spPr bwMode="auto">
          <a:xfrm>
            <a:off x="7315200" y="2681288"/>
            <a:ext cx="45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2</a:t>
            </a:r>
          </a:p>
        </p:txBody>
      </p:sp>
      <p:sp>
        <p:nvSpPr>
          <p:cNvPr id="15375" name="Text Box 21"/>
          <p:cNvSpPr txBox="1">
            <a:spLocks noChangeArrowheads="1"/>
          </p:cNvSpPr>
          <p:nvPr/>
        </p:nvSpPr>
        <p:spPr bwMode="auto">
          <a:xfrm>
            <a:off x="4572000" y="4419600"/>
            <a:ext cx="45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2</a:t>
            </a:r>
          </a:p>
        </p:txBody>
      </p:sp>
      <p:sp>
        <p:nvSpPr>
          <p:cNvPr id="15376" name="Text Box 22"/>
          <p:cNvSpPr txBox="1">
            <a:spLocks noChangeArrowheads="1"/>
          </p:cNvSpPr>
          <p:nvPr/>
        </p:nvSpPr>
        <p:spPr bwMode="auto">
          <a:xfrm>
            <a:off x="5867400" y="5040870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/>
                <a:cs typeface="Calibri"/>
              </a:rPr>
              <a:t>h = 1</a:t>
            </a:r>
          </a:p>
        </p:txBody>
      </p:sp>
      <p:sp>
        <p:nvSpPr>
          <p:cNvPr id="15377" name="Text Box 25"/>
          <p:cNvSpPr txBox="1">
            <a:spLocks noChangeArrowheads="1"/>
          </p:cNvSpPr>
          <p:nvPr/>
        </p:nvSpPr>
        <p:spPr bwMode="auto">
          <a:xfrm>
            <a:off x="5867400" y="2145270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/>
                <a:cs typeface="Calibri"/>
              </a:rPr>
              <a:t>h = 2</a:t>
            </a:r>
          </a:p>
        </p:txBody>
      </p:sp>
      <p:sp>
        <p:nvSpPr>
          <p:cNvPr id="15378" name="Text Box 26"/>
          <p:cNvSpPr txBox="1">
            <a:spLocks noChangeArrowheads="1"/>
          </p:cNvSpPr>
          <p:nvPr/>
        </p:nvSpPr>
        <p:spPr bwMode="auto">
          <a:xfrm>
            <a:off x="7620000" y="3593070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/>
                <a:cs typeface="Calibri"/>
              </a:rPr>
              <a:t>h = 0</a:t>
            </a:r>
          </a:p>
        </p:txBody>
      </p:sp>
      <p:sp>
        <p:nvSpPr>
          <p:cNvPr id="15379" name="Text Box 27"/>
          <p:cNvSpPr txBox="1">
            <a:spLocks noChangeArrowheads="1"/>
          </p:cNvSpPr>
          <p:nvPr/>
        </p:nvSpPr>
        <p:spPr bwMode="auto">
          <a:xfrm>
            <a:off x="3962400" y="3593070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/>
                <a:cs typeface="Calibri"/>
              </a:rPr>
              <a:t>h =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sz="4000" noProof="0" dirty="0">
                <a:latin typeface="Calibri"/>
                <a:cs typeface="Calibri"/>
              </a:rPr>
              <a:t>A* có tối ưu?</a:t>
            </a:r>
          </a:p>
        </p:txBody>
      </p:sp>
      <p:sp>
        <p:nvSpPr>
          <p:cNvPr id="803856" name="Rectangle 16"/>
          <p:cNvSpPr>
            <a:spLocks noGrp="1" noChangeArrowheads="1"/>
          </p:cNvSpPr>
          <p:nvPr>
            <p:ph idx="1"/>
          </p:nvPr>
        </p:nvSpPr>
        <p:spPr>
          <a:xfrm>
            <a:off x="2209800" y="4872033"/>
            <a:ext cx="9067800" cy="94456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noProof="0" dirty="0" err="1">
                <a:latin typeface="Calibri"/>
                <a:cs typeface="Calibri"/>
              </a:rPr>
              <a:t>Tại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sao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lại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không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tìm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được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đường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đi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tối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ưu</a:t>
            </a:r>
            <a:r>
              <a:rPr lang="en-US" sz="2400" noProof="0" dirty="0">
                <a:latin typeface="Calibri"/>
                <a:cs typeface="Calibri"/>
              </a:rPr>
              <a:t>?</a:t>
            </a:r>
            <a:endParaRPr lang="vi-VN" sz="24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r>
              <a:rPr lang="vi-VN" sz="2400" noProof="0" dirty="0">
                <a:latin typeface="Calibri"/>
                <a:cs typeface="Calibri"/>
              </a:rPr>
              <a:t>Chi phí thật của </a:t>
            </a:r>
            <a:r>
              <a:rPr lang="en-US" sz="2400" noProof="0" dirty="0" err="1">
                <a:latin typeface="Calibri"/>
                <a:cs typeface="Calibri"/>
              </a:rPr>
              <a:t>đường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đi</a:t>
            </a:r>
            <a:r>
              <a:rPr lang="vi-VN" sz="240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xấu</a:t>
            </a:r>
            <a:r>
              <a:rPr lang="vi-VN" sz="2400" noProof="0" dirty="0">
                <a:latin typeface="Calibri"/>
                <a:cs typeface="Calibri"/>
              </a:rPr>
              <a:t> </a:t>
            </a:r>
            <a:br>
              <a:rPr lang="vi-VN" sz="2400" noProof="0" dirty="0">
                <a:latin typeface="Calibri"/>
                <a:cs typeface="Calibri"/>
              </a:rPr>
            </a:br>
            <a:r>
              <a:rPr lang="vi-VN" sz="2400" noProof="0" dirty="0">
                <a:latin typeface="Calibri"/>
                <a:cs typeface="Calibri"/>
              </a:rPr>
              <a:t>&lt; Chi phí ước lượng của </a:t>
            </a:r>
            <a:r>
              <a:rPr lang="en-US" sz="2400" dirty="0" err="1">
                <a:latin typeface="Calibri"/>
                <a:cs typeface="Calibri"/>
              </a:rPr>
              <a:t>đường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đi</a:t>
            </a:r>
            <a:r>
              <a:rPr lang="vi-VN" sz="2400" noProof="0" dirty="0">
                <a:latin typeface="Calibri"/>
                <a:cs typeface="Calibri"/>
              </a:rPr>
              <a:t> tốt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>
                <a:solidFill>
                  <a:srgbClr val="FF0000"/>
                </a:solidFill>
                <a:latin typeface="Calibri"/>
                <a:cs typeface="Calibri"/>
              </a:rPr>
              <a:t>Cần ước lượng nhỏ hơn chi phí thật!</a:t>
            </a:r>
          </a:p>
        </p:txBody>
      </p:sp>
      <p:sp>
        <p:nvSpPr>
          <p:cNvPr id="16387" name="AutoShape 3"/>
          <p:cNvSpPr>
            <a:spLocks noChangeArrowheads="1"/>
          </p:cNvSpPr>
          <p:nvPr/>
        </p:nvSpPr>
        <p:spPr bwMode="auto">
          <a:xfrm>
            <a:off x="5791200" y="1752598"/>
            <a:ext cx="609600" cy="5715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16388" name="AutoShape 4"/>
          <p:cNvSpPr>
            <a:spLocks noChangeArrowheads="1"/>
          </p:cNvSpPr>
          <p:nvPr/>
        </p:nvSpPr>
        <p:spPr bwMode="auto">
          <a:xfrm>
            <a:off x="8763000" y="3238499"/>
            <a:ext cx="609600" cy="5715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>
            <a:off x="2819400" y="3124198"/>
            <a:ext cx="609600" cy="5715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3886200" y="1752599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1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7848600" y="1752599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3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5715000" y="1295399"/>
            <a:ext cx="9144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 = 6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9448800" y="3288269"/>
            <a:ext cx="9144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 = 0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0" y="4038600"/>
            <a:ext cx="1219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5</a:t>
            </a:r>
          </a:p>
        </p:txBody>
      </p:sp>
      <p:sp>
        <p:nvSpPr>
          <p:cNvPr id="16398" name="Text Box 15"/>
          <p:cNvSpPr txBox="1">
            <a:spLocks noChangeArrowheads="1"/>
          </p:cNvSpPr>
          <p:nvPr/>
        </p:nvSpPr>
        <p:spPr bwMode="auto">
          <a:xfrm>
            <a:off x="3505200" y="3200399"/>
            <a:ext cx="762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</a:t>
            </a:r>
            <a:r>
              <a:rPr lang="en-US" sz="2000" dirty="0">
                <a:latin typeface="Calibri"/>
                <a:cs typeface="Calibri"/>
              </a:rPr>
              <a:t> = </a:t>
            </a:r>
            <a:r>
              <a:rPr lang="en-US" sz="2000" i="1" dirty="0">
                <a:latin typeface="Calibri"/>
                <a:cs typeface="Calibri"/>
              </a:rPr>
              <a:t>7</a:t>
            </a:r>
          </a:p>
        </p:txBody>
      </p:sp>
      <p:cxnSp>
        <p:nvCxnSpPr>
          <p:cNvPr id="26" name="Curved Connector 25"/>
          <p:cNvCxnSpPr>
            <a:stCxn id="16389" idx="2"/>
            <a:endCxn id="16388" idx="2"/>
          </p:cNvCxnSpPr>
          <p:nvPr/>
        </p:nvCxnSpPr>
        <p:spPr>
          <a:xfrm rot="16200000" flipH="1">
            <a:off x="6038850" y="781049"/>
            <a:ext cx="114301" cy="5943600"/>
          </a:xfrm>
          <a:prstGeom prst="curvedConnector3">
            <a:avLst>
              <a:gd name="adj1" fmla="val 792305"/>
            </a:avLst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16389" idx="0"/>
            <a:endCxn id="16387" idx="1"/>
          </p:cNvCxnSpPr>
          <p:nvPr/>
        </p:nvCxnSpPr>
        <p:spPr>
          <a:xfrm rot="5400000" flipH="1" flipV="1">
            <a:off x="3914776" y="1247774"/>
            <a:ext cx="1085849" cy="2667000"/>
          </a:xfrm>
          <a:prstGeom prst="curvedConnector2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27"/>
          <p:cNvCxnSpPr>
            <a:stCxn id="16387" idx="3"/>
            <a:endCxn id="16388" idx="0"/>
          </p:cNvCxnSpPr>
          <p:nvPr/>
        </p:nvCxnSpPr>
        <p:spPr>
          <a:xfrm>
            <a:off x="6400800" y="2038349"/>
            <a:ext cx="2667000" cy="1200150"/>
          </a:xfrm>
          <a:prstGeom prst="curvedConnector2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Hàm kinh nghiệm chấp nhận được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6543" y="1219379"/>
            <a:ext cx="6398914" cy="4832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40661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Ý tưởng: Tính chấp nhận được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7068" y="1143000"/>
            <a:ext cx="5555264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1595" y="1143152"/>
            <a:ext cx="5397497" cy="4076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57200" y="5257800"/>
            <a:ext cx="556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latin typeface="Calibri" pitchFamily="34" charset="0"/>
              </a:rPr>
              <a:t>Hàm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kinh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nghiệm</a:t>
            </a:r>
            <a:r>
              <a:rPr lang="en-US" sz="2200" dirty="0">
                <a:latin typeface="Calibri" pitchFamily="34" charset="0"/>
              </a:rPr>
              <a:t> bi </a:t>
            </a:r>
            <a:r>
              <a:rPr lang="en-US" sz="2200" dirty="0" err="1">
                <a:latin typeface="Calibri" pitchFamily="34" charset="0"/>
              </a:rPr>
              <a:t>quan</a:t>
            </a:r>
            <a:r>
              <a:rPr lang="en-US" sz="2200" dirty="0">
                <a:latin typeface="Calibri" pitchFamily="34" charset="0"/>
              </a:rPr>
              <a:t> (</a:t>
            </a:r>
            <a:r>
              <a:rPr lang="en-US" sz="2200" dirty="0" err="1">
                <a:latin typeface="Calibri" pitchFamily="34" charset="0"/>
              </a:rPr>
              <a:t>ước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lượng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quá</a:t>
            </a:r>
            <a:r>
              <a:rPr lang="en-US" sz="2200" dirty="0">
                <a:latin typeface="Calibri" pitchFamily="34" charset="0"/>
              </a:rPr>
              <a:t>) </a:t>
            </a:r>
            <a:r>
              <a:rPr lang="en-US" sz="2200" dirty="0" err="1">
                <a:latin typeface="Calibri" pitchFamily="34" charset="0"/>
              </a:rPr>
              <a:t>giữ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kế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hoạch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tốt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trong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biên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tìm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kiếm</a:t>
            </a:r>
            <a:endParaRPr lang="en-US" sz="2200" dirty="0"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7000" y="5257800"/>
            <a:ext cx="556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latin typeface="Calibri" pitchFamily="34" charset="0"/>
              </a:rPr>
              <a:t>Hàm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kinh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nghiệm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lạc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quan</a:t>
            </a:r>
            <a:r>
              <a:rPr lang="en-US" sz="2200" dirty="0">
                <a:latin typeface="Calibri" pitchFamily="34" charset="0"/>
              </a:rPr>
              <a:t> (</a:t>
            </a:r>
            <a:r>
              <a:rPr lang="en-US" sz="2200" dirty="0" err="1">
                <a:latin typeface="Calibri" pitchFamily="34" charset="0"/>
              </a:rPr>
              <a:t>ước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lượng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thiếu</a:t>
            </a:r>
            <a:r>
              <a:rPr lang="en-US" sz="2200" dirty="0">
                <a:latin typeface="Calibri" pitchFamily="34" charset="0"/>
              </a:rPr>
              <a:t>) </a:t>
            </a:r>
            <a:r>
              <a:rPr lang="en-US" sz="2200" dirty="0" err="1">
                <a:latin typeface="Calibri" pitchFamily="34" charset="0"/>
              </a:rPr>
              <a:t>không</a:t>
            </a:r>
            <a:r>
              <a:rPr lang="en-US" sz="2200" dirty="0">
                <a:latin typeface="Calibri" pitchFamily="34" charset="0"/>
              </a:rPr>
              <a:t> bao </a:t>
            </a:r>
            <a:r>
              <a:rPr lang="en-US" sz="2200" dirty="0" err="1">
                <a:latin typeface="Calibri" pitchFamily="34" charset="0"/>
              </a:rPr>
              <a:t>giờ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vượt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quá</a:t>
            </a:r>
            <a:r>
              <a:rPr lang="en-US" sz="2200" dirty="0">
                <a:latin typeface="Calibri" pitchFamily="34" charset="0"/>
              </a:rPr>
              <a:t> chi </a:t>
            </a:r>
            <a:r>
              <a:rPr lang="en-US" sz="2200" dirty="0" err="1">
                <a:latin typeface="Calibri" pitchFamily="34" charset="0"/>
              </a:rPr>
              <a:t>phí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thật</a:t>
            </a:r>
            <a:endParaRPr lang="en-US" sz="22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Hàm kinh nghiệm chấp nhận được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11430000" cy="4876800"/>
          </a:xfrm>
        </p:spPr>
        <p:txBody>
          <a:bodyPr/>
          <a:lstStyle/>
          <a:p>
            <a:pPr eaLnBrk="1" hangingPunct="1"/>
            <a:r>
              <a:rPr lang="vi-VN" noProof="0" dirty="0"/>
              <a:t>Hàm kinh nghiệm </a:t>
            </a:r>
            <a:r>
              <a:rPr lang="vi-VN" i="1" noProof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vi-VN" noProof="0" dirty="0"/>
              <a:t> </a:t>
            </a:r>
            <a:r>
              <a:rPr lang="vi-VN" i="1" noProof="0" dirty="0">
                <a:solidFill>
                  <a:srgbClr val="C00000"/>
                </a:solidFill>
              </a:rPr>
              <a:t>chấp nhận được</a:t>
            </a:r>
            <a:r>
              <a:rPr lang="vi-VN" i="1" noProof="0" dirty="0"/>
              <a:t> </a:t>
            </a:r>
            <a:r>
              <a:rPr lang="vi-VN" noProof="0" dirty="0"/>
              <a:t>(lạc quan) nếu:</a:t>
            </a:r>
          </a:p>
          <a:p>
            <a:pPr lvl="1"/>
            <a:endParaRPr lang="vi-VN" noProof="0" dirty="0"/>
          </a:p>
          <a:p>
            <a:pPr lvl="1"/>
            <a:endParaRPr lang="vi-VN" noProof="0" dirty="0"/>
          </a:p>
          <a:p>
            <a:pPr eaLnBrk="1" hangingPunct="1">
              <a:buFont typeface="Wingdings" pitchFamily="2" charset="2"/>
              <a:buNone/>
            </a:pPr>
            <a:r>
              <a:rPr lang="vi-VN" noProof="0" dirty="0"/>
              <a:t>	trong đó               là chi phí đến </a:t>
            </a:r>
            <a:r>
              <a:rPr lang="en-US" dirty="0" err="1"/>
              <a:t>đích</a:t>
            </a:r>
            <a:r>
              <a:rPr lang="vi-VN" noProof="0" dirty="0"/>
              <a:t> </a:t>
            </a:r>
            <a:r>
              <a:rPr lang="en-US" noProof="0" dirty="0"/>
              <a:t>(</a:t>
            </a:r>
            <a:r>
              <a:rPr lang="en-US" noProof="0" dirty="0" err="1"/>
              <a:t>mục</a:t>
            </a:r>
            <a:r>
              <a:rPr lang="en-US" noProof="0" dirty="0"/>
              <a:t> </a:t>
            </a:r>
            <a:r>
              <a:rPr lang="en-US" noProof="0" dirty="0" err="1"/>
              <a:t>tiêu</a:t>
            </a:r>
            <a:r>
              <a:rPr lang="en-US" noProof="0" dirty="0"/>
              <a:t>) </a:t>
            </a:r>
            <a:r>
              <a:rPr lang="vi-VN" noProof="0" dirty="0"/>
              <a:t>gần nhất</a:t>
            </a:r>
          </a:p>
          <a:p>
            <a:pPr eaLnBrk="1" hangingPunct="1">
              <a:buFont typeface="Wingdings" pitchFamily="2" charset="2"/>
              <a:buNone/>
            </a:pPr>
            <a:endParaRPr lang="vi-VN" sz="1600" noProof="0" dirty="0"/>
          </a:p>
          <a:p>
            <a:pPr eaLnBrk="1" hangingPunct="1"/>
            <a:r>
              <a:rPr lang="vi-VN" noProof="0" dirty="0"/>
              <a:t>Ví dụ:</a:t>
            </a:r>
          </a:p>
          <a:p>
            <a:pPr eaLnBrk="1" hangingPunct="1"/>
            <a:endParaRPr lang="vi-VN" noProof="0" dirty="0"/>
          </a:p>
          <a:p>
            <a:pPr eaLnBrk="1" hangingPunct="1"/>
            <a:endParaRPr lang="vi-VN" noProof="0" dirty="0"/>
          </a:p>
          <a:p>
            <a:pPr eaLnBrk="1" hangingPunct="1"/>
            <a:r>
              <a:rPr lang="vi-VN" noProof="0" dirty="0"/>
              <a:t>Áp dụng A* </a:t>
            </a:r>
            <a:r>
              <a:rPr lang="vi-VN" noProof="0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là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việc</a:t>
            </a:r>
            <a:r>
              <a:rPr lang="en-US" dirty="0">
                <a:sym typeface="Wingdings" pitchFamily="2" charset="2"/>
              </a:rPr>
              <a:t> </a:t>
            </a:r>
            <a:r>
              <a:rPr lang="vi-VN" noProof="0" dirty="0">
                <a:sym typeface="Wingdings" pitchFamily="2" charset="2"/>
              </a:rPr>
              <a:t>tìm một hàm </a:t>
            </a:r>
            <a:r>
              <a:rPr lang="en-US" dirty="0" err="1">
                <a:sym typeface="Wingdings" pitchFamily="2" charset="2"/>
              </a:rPr>
              <a:t>kinh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nghiệm</a:t>
            </a:r>
            <a:r>
              <a:rPr lang="vi-VN" noProof="0" dirty="0">
                <a:sym typeface="Wingdings" pitchFamily="2" charset="2"/>
              </a:rPr>
              <a:t> chấp nhận được</a:t>
            </a:r>
            <a:r>
              <a:rPr lang="vi-VN" noProof="0" dirty="0"/>
              <a:t>.</a:t>
            </a:r>
          </a:p>
        </p:txBody>
      </p:sp>
      <p:pic>
        <p:nvPicPr>
          <p:cNvPr id="20" name="Picture 19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4343400" y="2133600"/>
            <a:ext cx="3130785" cy="403304"/>
          </a:xfrm>
          <a:prstGeom prst="rect">
            <a:avLst/>
          </a:prstGeom>
          <a:noFill/>
          <a:ln/>
          <a:effectLst/>
        </p:spPr>
      </p:pic>
      <p:pic>
        <p:nvPicPr>
          <p:cNvPr id="17413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4600" y="2949575"/>
            <a:ext cx="979488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7661275" y="4114804"/>
            <a:ext cx="2641750" cy="599323"/>
            <a:chOff x="2098675" y="4903173"/>
            <a:chExt cx="1406525" cy="319544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2727325" y="5028769"/>
              <a:ext cx="495300" cy="0"/>
            </a:xfrm>
            <a:prstGeom prst="line">
              <a:avLst/>
            </a:prstGeom>
            <a:ln w="762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2655888" y="5125744"/>
              <a:ext cx="636587" cy="0"/>
            </a:xfrm>
            <a:prstGeom prst="line">
              <a:avLst/>
            </a:prstGeom>
            <a:ln w="762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2479675" y="4930204"/>
              <a:ext cx="1025525" cy="1590"/>
            </a:xfrm>
            <a:prstGeom prst="line">
              <a:avLst/>
            </a:prstGeom>
            <a:ln w="762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2586038" y="5221128"/>
              <a:ext cx="812800" cy="1589"/>
            </a:xfrm>
            <a:prstGeom prst="line">
              <a:avLst/>
            </a:prstGeom>
            <a:ln w="762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24" name="TextBox 150"/>
            <p:cNvSpPr txBox="1">
              <a:spLocks noChangeArrowheads="1"/>
            </p:cNvSpPr>
            <p:nvPr/>
          </p:nvSpPr>
          <p:spPr bwMode="auto">
            <a:xfrm>
              <a:off x="2098675" y="4903173"/>
              <a:ext cx="304800" cy="278968"/>
            </a:xfrm>
            <a:prstGeom prst="rect">
              <a:avLst/>
            </a:prstGeom>
            <a:noFill/>
            <a:ln w="762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800" dirty="0">
                  <a:solidFill>
                    <a:srgbClr val="C00000"/>
                  </a:solidFill>
                  <a:latin typeface="Calibri"/>
                  <a:cs typeface="Calibri"/>
                </a:rPr>
                <a:t>4</a:t>
              </a:r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3314701" y="3962400"/>
            <a:ext cx="2663825" cy="1196975"/>
            <a:chOff x="4724400" y="4114800"/>
            <a:chExt cx="2663541" cy="1197700"/>
          </a:xfrm>
        </p:grpSpPr>
        <p:pic>
          <p:nvPicPr>
            <p:cNvPr id="17416" name="Picture 2" descr="Z:\Shared with PC\smallMaze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724400" y="4114800"/>
              <a:ext cx="2663541" cy="1197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4" name="Straight Arrow Connector 13"/>
            <p:cNvCxnSpPr/>
            <p:nvPr/>
          </p:nvCxnSpPr>
          <p:spPr bwMode="auto">
            <a:xfrm rot="10800000" flipV="1">
              <a:off x="4952976" y="4553215"/>
              <a:ext cx="1125418" cy="1906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18" name="TextBox 17"/>
            <p:cNvSpPr txBox="1">
              <a:spLocks noChangeArrowheads="1"/>
            </p:cNvSpPr>
            <p:nvPr/>
          </p:nvSpPr>
          <p:spPr bwMode="auto">
            <a:xfrm>
              <a:off x="5105401" y="4648200"/>
              <a:ext cx="548590" cy="52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Calibri"/>
                  <a:cs typeface="Calibri"/>
                </a:rPr>
                <a:t>15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 bwMode="auto">
            <a:xfrm rot="5400000">
              <a:off x="4648785" y="4876468"/>
              <a:ext cx="609969" cy="158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cây tìm kiếm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6501" y="1753559"/>
            <a:ext cx="5862797" cy="4222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42900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cây tìm kiếm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18447" name="Content Placeholder 19"/>
          <p:cNvSpPr>
            <a:spLocks noGrp="1"/>
          </p:cNvSpPr>
          <p:nvPr>
            <p:ph idx="1"/>
          </p:nvPr>
        </p:nvSpPr>
        <p:spPr>
          <a:xfrm>
            <a:off x="1371440" y="1447800"/>
            <a:ext cx="5486560" cy="45259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vi-VN" sz="2400" noProof="0" dirty="0">
                <a:latin typeface="Calibri"/>
                <a:cs typeface="Calibri"/>
              </a:rPr>
              <a:t>Giả sử:</a:t>
            </a:r>
          </a:p>
          <a:p>
            <a:r>
              <a:rPr lang="vi-VN" sz="2400" noProof="0" dirty="0">
                <a:latin typeface="Calibri"/>
                <a:cs typeface="Calibri"/>
              </a:rPr>
              <a:t>A là trạng thái mục tiêu tối ưu</a:t>
            </a:r>
          </a:p>
          <a:p>
            <a:r>
              <a:rPr lang="vi-VN" sz="2400" noProof="0" dirty="0">
                <a:latin typeface="Calibri"/>
                <a:cs typeface="Calibri"/>
              </a:rPr>
              <a:t>B là trạng thái mục tiêu </a:t>
            </a:r>
            <a:r>
              <a:rPr lang="vi-VN" sz="2400" noProof="0" dirty="0">
                <a:solidFill>
                  <a:srgbClr val="FF0000"/>
                </a:solidFill>
                <a:latin typeface="Calibri"/>
                <a:cs typeface="Calibri"/>
              </a:rPr>
              <a:t>không</a:t>
            </a:r>
            <a:r>
              <a:rPr lang="vi-VN" sz="2400" noProof="0" dirty="0">
                <a:latin typeface="Calibri"/>
                <a:cs typeface="Calibri"/>
              </a:rPr>
              <a:t> tối ưu</a:t>
            </a:r>
          </a:p>
          <a:p>
            <a:r>
              <a:rPr lang="en-US" sz="2400" noProof="0" dirty="0" err="1">
                <a:latin typeface="Calibri"/>
                <a:cs typeface="Calibri"/>
              </a:rPr>
              <a:t>Hàm</a:t>
            </a:r>
            <a:r>
              <a:rPr lang="en-US" sz="2400" noProof="0" dirty="0">
                <a:latin typeface="Calibri"/>
                <a:cs typeface="Calibri"/>
              </a:rPr>
              <a:t> </a:t>
            </a:r>
            <a:r>
              <a:rPr lang="vi-VN" sz="2400" noProof="0" dirty="0">
                <a:latin typeface="Calibri"/>
                <a:cs typeface="Calibri"/>
              </a:rPr>
              <a:t>h chấp nhận được</a:t>
            </a:r>
          </a:p>
          <a:p>
            <a:pPr>
              <a:lnSpc>
                <a:spcPct val="150000"/>
              </a:lnSpc>
            </a:pPr>
            <a:endParaRPr lang="vi-VN" sz="1200" noProof="0" dirty="0">
              <a:latin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vi-VN" sz="2400" noProof="0" dirty="0">
                <a:latin typeface="Calibri"/>
                <a:cs typeface="Calibri"/>
              </a:rPr>
              <a:t>Kết luận:</a:t>
            </a:r>
          </a:p>
          <a:p>
            <a:r>
              <a:rPr lang="vi-VN" sz="2400" noProof="0" dirty="0">
                <a:latin typeface="Calibri"/>
                <a:cs typeface="Calibri"/>
              </a:rPr>
              <a:t>A sẽ ra khỏi biên tìm kiếm trước B</a:t>
            </a:r>
          </a:p>
          <a:p>
            <a:pPr marL="0" indent="0">
              <a:buNone/>
            </a:pPr>
            <a:r>
              <a:rPr lang="vi-VN" sz="2400" dirty="0">
                <a:latin typeface="Calibri"/>
                <a:cs typeface="Calibri"/>
                <a:sym typeface="Wingdings" pitchFamily="2" charset="2"/>
              </a:rPr>
              <a:t> Tìm được kế hoạch tối ưu</a:t>
            </a:r>
            <a:endParaRPr lang="vi-VN" sz="2400" noProof="0" dirty="0">
              <a:latin typeface="Calibri"/>
              <a:cs typeface="Calibri"/>
            </a:endParaRPr>
          </a:p>
        </p:txBody>
      </p:sp>
      <p:sp>
        <p:nvSpPr>
          <p:cNvPr id="17" name="Freeform 12"/>
          <p:cNvSpPr>
            <a:spLocks/>
          </p:cNvSpPr>
          <p:nvPr/>
        </p:nvSpPr>
        <p:spPr bwMode="auto">
          <a:xfrm>
            <a:off x="7384889" y="1789113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8" name="Oval 13"/>
          <p:cNvSpPr>
            <a:spLocks noChangeArrowheads="1"/>
          </p:cNvSpPr>
          <p:nvPr/>
        </p:nvSpPr>
        <p:spPr bwMode="auto">
          <a:xfrm>
            <a:off x="8507250" y="2144712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8983501" y="2135187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8637425" y="1995486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21" name="Oval 16"/>
          <p:cNvSpPr>
            <a:spLocks noChangeArrowheads="1"/>
          </p:cNvSpPr>
          <p:nvPr/>
        </p:nvSpPr>
        <p:spPr bwMode="auto">
          <a:xfrm>
            <a:off x="9989976" y="3832224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2" name="Oval 17"/>
          <p:cNvSpPr>
            <a:spLocks noChangeArrowheads="1"/>
          </p:cNvSpPr>
          <p:nvPr/>
        </p:nvSpPr>
        <p:spPr bwMode="auto">
          <a:xfrm>
            <a:off x="7703976" y="3527424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3" name="Oval 21"/>
          <p:cNvSpPr>
            <a:spLocks noChangeArrowheads="1"/>
          </p:cNvSpPr>
          <p:nvPr/>
        </p:nvSpPr>
        <p:spPr bwMode="auto">
          <a:xfrm>
            <a:off x="8739026" y="1719262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28" name="Picture 27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0334304" y="3819722"/>
            <a:ext cx="257496" cy="241101"/>
          </a:xfrm>
          <a:prstGeom prst="rect">
            <a:avLst/>
          </a:prstGeom>
          <a:noFill/>
          <a:ln/>
          <a:effectLst/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7285983" y="3514921"/>
            <a:ext cx="257817" cy="257817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3296152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ular Callout 44"/>
          <p:cNvSpPr/>
          <p:nvPr/>
        </p:nvSpPr>
        <p:spPr>
          <a:xfrm>
            <a:off x="5410200" y="4572000"/>
            <a:ext cx="6553200" cy="1905000"/>
          </a:xfrm>
          <a:prstGeom prst="wedgeRoundRectCallout">
            <a:avLst>
              <a:gd name="adj1" fmla="val -60117"/>
              <a:gd name="adj2" fmla="val -90421"/>
              <a:gd name="adj3" fmla="val 1666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Tính tối ưu của A* trên cây tìm kiếm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7"/>
            <a:ext cx="49530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vi-VN" sz="2400" noProof="0" dirty="0">
                <a:latin typeface="Calibri"/>
                <a:cs typeface="Calibri"/>
              </a:rPr>
              <a:t>Chứng minh:</a:t>
            </a:r>
          </a:p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Giả sử B nằm trong biên tìm kiếm</a:t>
            </a:r>
          </a:p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Giả sử một nút n là tổ tiên của A (hoặc chính là A) cũng nằm trong biên tìm kiếm</a:t>
            </a:r>
          </a:p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Thì: </a:t>
            </a:r>
            <a:r>
              <a:rPr lang="vi-VN" sz="2400" i="1" noProof="0" dirty="0">
                <a:latin typeface="Calibri"/>
                <a:cs typeface="Calibri"/>
              </a:rPr>
              <a:t>n</a:t>
            </a:r>
            <a:r>
              <a:rPr lang="vi-VN" sz="2400" noProof="0" dirty="0">
                <a:latin typeface="Calibri"/>
                <a:cs typeface="Calibri"/>
              </a:rPr>
              <a:t> được mở rộng (ra khỏi biên tìm kiếm) trước B</a:t>
            </a:r>
          </a:p>
          <a:p>
            <a:pPr marL="914376" lvl="1" indent="-457200">
              <a:buFont typeface="+mj-lt"/>
              <a:buAutoNum type="arabicPeriod"/>
            </a:pPr>
            <a:r>
              <a:rPr lang="vi-VN" sz="2400" noProof="0" dirty="0">
                <a:latin typeface="Calibri"/>
                <a:cs typeface="Calibri"/>
              </a:rPr>
              <a:t>f(n) </a:t>
            </a:r>
            <a:r>
              <a:rPr lang="vi-VN" sz="2400" dirty="0">
                <a:latin typeface="Calibri"/>
                <a:cs typeface="Calibri"/>
              </a:rPr>
              <a:t>≤ </a:t>
            </a:r>
            <a:r>
              <a:rPr lang="vi-VN" sz="2400" noProof="0" dirty="0">
                <a:latin typeface="Calibri"/>
                <a:cs typeface="Calibri"/>
              </a:rPr>
              <a:t>f(A)</a:t>
            </a:r>
          </a:p>
        </p:txBody>
      </p:sp>
      <p:pic>
        <p:nvPicPr>
          <p:cNvPr id="22" name="Picture 2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15000" y="4903471"/>
            <a:ext cx="3013075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Box 20"/>
          <p:cNvSpPr txBox="1"/>
          <p:nvPr/>
        </p:nvSpPr>
        <p:spPr>
          <a:xfrm>
            <a:off x="9144000" y="4822578"/>
            <a:ext cx="30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Calibri"/>
                <a:cs typeface="Calibri"/>
              </a:rPr>
              <a:t>Định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nghĩa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của</a:t>
            </a:r>
            <a:r>
              <a:rPr lang="en-US" sz="2600" dirty="0">
                <a:latin typeface="Calibri"/>
                <a:cs typeface="Calibri"/>
              </a:rPr>
              <a:t> f</a:t>
            </a:r>
          </a:p>
        </p:txBody>
      </p:sp>
      <p:pic>
        <p:nvPicPr>
          <p:cNvPr id="25" name="Picture 24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5714998" y="5374957"/>
            <a:ext cx="1864893" cy="318467"/>
          </a:xfrm>
          <a:prstGeom prst="rect">
            <a:avLst/>
          </a:prstGeom>
          <a:noFill/>
          <a:ln/>
          <a:effectLst/>
        </p:spPr>
      </p:pic>
      <p:sp>
        <p:nvSpPr>
          <p:cNvPr id="24" name="TextBox 23"/>
          <p:cNvSpPr txBox="1"/>
          <p:nvPr/>
        </p:nvSpPr>
        <p:spPr>
          <a:xfrm>
            <a:off x="9144000" y="5284243"/>
            <a:ext cx="30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alibri"/>
                <a:cs typeface="Calibri"/>
              </a:rPr>
              <a:t>h </a:t>
            </a:r>
            <a:r>
              <a:rPr lang="en-US" sz="2600" dirty="0" err="1">
                <a:latin typeface="Calibri"/>
                <a:cs typeface="Calibri"/>
              </a:rPr>
              <a:t>chấp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nhận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được</a:t>
            </a:r>
            <a:endParaRPr lang="en-US" sz="2600" dirty="0">
              <a:latin typeface="Calibri"/>
              <a:cs typeface="Calibri"/>
            </a:endParaRPr>
          </a:p>
        </p:txBody>
      </p:sp>
      <p:sp>
        <p:nvSpPr>
          <p:cNvPr id="27" name="Freeform 34"/>
          <p:cNvSpPr>
            <a:spLocks/>
          </p:cNvSpPr>
          <p:nvPr/>
        </p:nvSpPr>
        <p:spPr bwMode="auto">
          <a:xfrm>
            <a:off x="8200864" y="1538287"/>
            <a:ext cx="1931987" cy="2371725"/>
          </a:xfrm>
          <a:custGeom>
            <a:avLst/>
            <a:gdLst>
              <a:gd name="T0" fmla="*/ 2147483647 w 1217"/>
              <a:gd name="T1" fmla="*/ 0 h 1494"/>
              <a:gd name="T2" fmla="*/ 0 w 1217"/>
              <a:gd name="T3" fmla="*/ 2147483647 h 1494"/>
              <a:gd name="T4" fmla="*/ 2147483647 w 1217"/>
              <a:gd name="T5" fmla="*/ 2147483647 h 1494"/>
              <a:gd name="T6" fmla="*/ 2147483647 w 1217"/>
              <a:gd name="T7" fmla="*/ 2147483647 h 1494"/>
              <a:gd name="T8" fmla="*/ 2147483647 w 1217"/>
              <a:gd name="T9" fmla="*/ 2147483647 h 1494"/>
              <a:gd name="T10" fmla="*/ 2147483647 w 1217"/>
              <a:gd name="T11" fmla="*/ 2147483647 h 1494"/>
              <a:gd name="T12" fmla="*/ 2147483647 w 1217"/>
              <a:gd name="T13" fmla="*/ 0 h 14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17"/>
              <a:gd name="T22" fmla="*/ 0 h 1494"/>
              <a:gd name="T23" fmla="*/ 1217 w 1217"/>
              <a:gd name="T24" fmla="*/ 1494 h 14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17" h="1494">
                <a:moveTo>
                  <a:pt x="386" y="0"/>
                </a:moveTo>
                <a:cubicBezTo>
                  <a:pt x="322" y="114"/>
                  <a:pt x="196" y="352"/>
                  <a:pt x="0" y="682"/>
                </a:cubicBezTo>
                <a:cubicBezTo>
                  <a:pt x="56" y="829"/>
                  <a:pt x="128" y="798"/>
                  <a:pt x="196" y="857"/>
                </a:cubicBezTo>
                <a:cubicBezTo>
                  <a:pt x="264" y="916"/>
                  <a:pt x="308" y="996"/>
                  <a:pt x="407" y="1034"/>
                </a:cubicBezTo>
                <a:cubicBezTo>
                  <a:pt x="506" y="1072"/>
                  <a:pt x="667" y="1035"/>
                  <a:pt x="791" y="1082"/>
                </a:cubicBezTo>
                <a:cubicBezTo>
                  <a:pt x="915" y="1129"/>
                  <a:pt x="1217" y="1494"/>
                  <a:pt x="1152" y="1314"/>
                </a:cubicBezTo>
                <a:cubicBezTo>
                  <a:pt x="1087" y="1134"/>
                  <a:pt x="557" y="274"/>
                  <a:pt x="400" y="0"/>
                </a:cubicBezTo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>
            <a:off x="7384889" y="151765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2" name="Oval 13"/>
          <p:cNvSpPr>
            <a:spLocks noChangeArrowheads="1"/>
          </p:cNvSpPr>
          <p:nvPr/>
        </p:nvSpPr>
        <p:spPr bwMode="auto">
          <a:xfrm>
            <a:off x="8507250" y="187325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5" name="Oval 14"/>
          <p:cNvSpPr>
            <a:spLocks noChangeArrowheads="1"/>
          </p:cNvSpPr>
          <p:nvPr/>
        </p:nvSpPr>
        <p:spPr bwMode="auto">
          <a:xfrm>
            <a:off x="8983501" y="186372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8637425" y="1724024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37" name="Oval 16"/>
          <p:cNvSpPr>
            <a:spLocks noChangeArrowheads="1"/>
          </p:cNvSpPr>
          <p:nvPr/>
        </p:nvSpPr>
        <p:spPr bwMode="auto">
          <a:xfrm>
            <a:off x="9989976" y="35607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8" name="Oval 17"/>
          <p:cNvSpPr>
            <a:spLocks noChangeArrowheads="1"/>
          </p:cNvSpPr>
          <p:nvPr/>
        </p:nvSpPr>
        <p:spPr bwMode="auto">
          <a:xfrm>
            <a:off x="7703976" y="32559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9" name="Oval 21"/>
          <p:cNvSpPr>
            <a:spLocks noChangeArrowheads="1"/>
          </p:cNvSpPr>
          <p:nvPr/>
        </p:nvSpPr>
        <p:spPr bwMode="auto">
          <a:xfrm>
            <a:off x="8739026" y="144780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0" name="Oval 27"/>
          <p:cNvSpPr>
            <a:spLocks noChangeArrowheads="1"/>
          </p:cNvSpPr>
          <p:nvPr/>
        </p:nvSpPr>
        <p:spPr bwMode="auto">
          <a:xfrm>
            <a:off x="8084976" y="2570162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41" name="Picture 2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780175" y="2493961"/>
            <a:ext cx="192088" cy="160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10334304" y="3548260"/>
            <a:ext cx="257496" cy="241101"/>
          </a:xfrm>
          <a:prstGeom prst="rect">
            <a:avLst/>
          </a:prstGeom>
          <a:noFill/>
          <a:ln/>
          <a:effectLst/>
        </p:spPr>
      </p:pic>
      <p:sp>
        <p:nvSpPr>
          <p:cNvPr id="46" name="Oval 45"/>
          <p:cNvSpPr/>
          <p:nvPr/>
        </p:nvSpPr>
        <p:spPr>
          <a:xfrm rot="1800000">
            <a:off x="7335252" y="2272604"/>
            <a:ext cx="954869" cy="155526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29" name="Picture 28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5731099" y="5867401"/>
            <a:ext cx="1944584" cy="318518"/>
          </a:xfrm>
          <a:prstGeom prst="rect">
            <a:avLst/>
          </a:prstGeom>
          <a:noFill/>
          <a:ln/>
          <a:effectLst/>
        </p:spPr>
      </p:pic>
      <p:sp>
        <p:nvSpPr>
          <p:cNvPr id="48" name="TextBox 47"/>
          <p:cNvSpPr txBox="1"/>
          <p:nvPr/>
        </p:nvSpPr>
        <p:spPr>
          <a:xfrm>
            <a:off x="9144000" y="5741443"/>
            <a:ext cx="30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alibri"/>
                <a:cs typeface="Calibri"/>
              </a:rPr>
              <a:t>h = 0 </a:t>
            </a:r>
            <a:r>
              <a:rPr lang="en-US" sz="2600" dirty="0" err="1">
                <a:latin typeface="Calibri"/>
                <a:cs typeface="Calibri"/>
              </a:rPr>
              <a:t>tại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mục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tiêu</a:t>
            </a:r>
            <a:endParaRPr lang="en-US" sz="2600" dirty="0">
              <a:latin typeface="Calibri"/>
              <a:cs typeface="Calibri"/>
            </a:endParaRPr>
          </a:p>
        </p:txBody>
      </p:sp>
      <p:pic>
        <p:nvPicPr>
          <p:cNvPr id="26" name="Picture 25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 bwMode="auto">
          <a:xfrm>
            <a:off x="7315200" y="3200400"/>
            <a:ext cx="257817" cy="257817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13482608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21" grpId="0"/>
      <p:bldP spid="24" grpId="0"/>
      <p:bldP spid="27" grpId="0" animBg="1"/>
      <p:bldP spid="40" grpId="0" animBg="1"/>
      <p:bldP spid="46" grpId="0" animBg="1"/>
      <p:bldP spid="4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unded Rectangular Callout 53"/>
          <p:cNvSpPr/>
          <p:nvPr/>
        </p:nvSpPr>
        <p:spPr>
          <a:xfrm>
            <a:off x="5562600" y="4572000"/>
            <a:ext cx="6400800" cy="1371600"/>
          </a:xfrm>
          <a:prstGeom prst="wedgeRoundRectCallout">
            <a:avLst>
              <a:gd name="adj1" fmla="val -75813"/>
              <a:gd name="adj2" fmla="val -77449"/>
              <a:gd name="adj3" fmla="val 1666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Tính tối ưu của A* trên cây tìm kiếm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7"/>
            <a:ext cx="4953000" cy="4525963"/>
          </a:xfrm>
        </p:spPr>
        <p:txBody>
          <a:bodyPr/>
          <a:lstStyle/>
          <a:p>
            <a:pPr>
              <a:buNone/>
            </a:pPr>
            <a:r>
              <a:rPr lang="vi-VN" sz="2400" dirty="0">
                <a:latin typeface="Calibri"/>
                <a:cs typeface="Calibri"/>
              </a:rPr>
              <a:t>Chứng minh:</a:t>
            </a:r>
          </a:p>
          <a:p>
            <a:r>
              <a:rPr lang="vi-VN" sz="2400" dirty="0">
                <a:latin typeface="Calibri"/>
                <a:cs typeface="Calibri"/>
              </a:rPr>
              <a:t>Giả sử B nằm trong biên tìm kiếm</a:t>
            </a:r>
          </a:p>
          <a:p>
            <a:r>
              <a:rPr lang="vi-VN" sz="2400" dirty="0">
                <a:latin typeface="Calibri"/>
                <a:cs typeface="Calibri"/>
              </a:rPr>
              <a:t>Giả sử một nút n là tổ tiên của A (hoặc chính là A) cũng nằm trong biên tìm kiếm</a:t>
            </a:r>
          </a:p>
          <a:p>
            <a:r>
              <a:rPr lang="vi-VN" sz="2400" dirty="0">
                <a:latin typeface="Calibri"/>
                <a:cs typeface="Calibri"/>
              </a:rPr>
              <a:t>Thì: </a:t>
            </a:r>
            <a:r>
              <a:rPr lang="vi-VN" sz="2400" i="1" dirty="0">
                <a:latin typeface="Calibri"/>
                <a:cs typeface="Calibri"/>
              </a:rPr>
              <a:t>n</a:t>
            </a:r>
            <a:r>
              <a:rPr lang="vi-VN" sz="2400" dirty="0">
                <a:latin typeface="Calibri"/>
                <a:cs typeface="Calibri"/>
              </a:rPr>
              <a:t> được mở rộng (ra khỏi biên tìm kiếm) trước B</a:t>
            </a:r>
          </a:p>
          <a:p>
            <a:pPr marL="914376" lvl="1" indent="-457200">
              <a:buFont typeface="+mj-lt"/>
              <a:buAutoNum type="arabicPeriod"/>
            </a:pPr>
            <a:r>
              <a:rPr lang="vi-VN" sz="2400" dirty="0">
                <a:latin typeface="Calibri"/>
                <a:cs typeface="Calibri"/>
              </a:rPr>
              <a:t>f(n) ≤ f(A)</a:t>
            </a:r>
          </a:p>
          <a:p>
            <a:pPr marL="914376" lvl="1" indent="-457200">
              <a:buFont typeface="+mj-lt"/>
              <a:buAutoNum type="arabicPeriod"/>
            </a:pPr>
            <a:r>
              <a:rPr lang="vi-VN" sz="2400" noProof="0" dirty="0">
                <a:latin typeface="Calibri"/>
                <a:cs typeface="Calibri"/>
              </a:rPr>
              <a:t>f(A) </a:t>
            </a:r>
            <a:r>
              <a:rPr lang="vi-VN" sz="2400" dirty="0">
                <a:latin typeface="Calibri"/>
                <a:cs typeface="Calibri"/>
              </a:rPr>
              <a:t>≤ f</a:t>
            </a:r>
            <a:r>
              <a:rPr lang="vi-VN" sz="2400" noProof="0" dirty="0">
                <a:latin typeface="Calibri"/>
                <a:cs typeface="Calibri"/>
              </a:rPr>
              <a:t>(B)</a:t>
            </a:r>
          </a:p>
        </p:txBody>
      </p:sp>
      <p:pic>
        <p:nvPicPr>
          <p:cNvPr id="27" name="Picture 26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6512222" y="5354956"/>
            <a:ext cx="1930189" cy="318668"/>
          </a:xfrm>
          <a:prstGeom prst="rect">
            <a:avLst/>
          </a:prstGeom>
          <a:noFill/>
          <a:ln/>
          <a:effectLst/>
        </p:spPr>
      </p:pic>
      <p:pic>
        <p:nvPicPr>
          <p:cNvPr id="24" name="Picture 23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6497464" y="4881879"/>
            <a:ext cx="1914135" cy="318704"/>
          </a:xfrm>
          <a:prstGeom prst="rect">
            <a:avLst/>
          </a:prstGeom>
          <a:noFill/>
          <a:ln/>
          <a:effectLst/>
        </p:spPr>
      </p:pic>
      <p:sp>
        <p:nvSpPr>
          <p:cNvPr id="25" name="TextBox 24"/>
          <p:cNvSpPr txBox="1"/>
          <p:nvPr/>
        </p:nvSpPr>
        <p:spPr>
          <a:xfrm>
            <a:off x="9296400" y="4785610"/>
            <a:ext cx="30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alibri"/>
                <a:cs typeface="Calibri"/>
              </a:rPr>
              <a:t>B </a:t>
            </a:r>
            <a:r>
              <a:rPr lang="en-US" sz="2600" dirty="0" err="1">
                <a:latin typeface="Calibri"/>
                <a:cs typeface="Calibri"/>
              </a:rPr>
              <a:t>không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tối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ưu</a:t>
            </a:r>
            <a:endParaRPr lang="en-US" sz="2600" dirty="0">
              <a:latin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96400" y="5242810"/>
            <a:ext cx="30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alibri"/>
                <a:cs typeface="Calibri"/>
              </a:rPr>
              <a:t>h = 0 </a:t>
            </a:r>
            <a:r>
              <a:rPr lang="en-US" sz="2600" dirty="0" err="1">
                <a:latin typeface="Calibri"/>
                <a:cs typeface="Calibri"/>
              </a:rPr>
              <a:t>tại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mục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tiêu</a:t>
            </a:r>
            <a:endParaRPr lang="en-US" sz="2600" dirty="0">
              <a:latin typeface="Calibri"/>
              <a:cs typeface="Calibri"/>
            </a:endParaRPr>
          </a:p>
        </p:txBody>
      </p:sp>
      <p:sp>
        <p:nvSpPr>
          <p:cNvPr id="29" name="Freeform 34"/>
          <p:cNvSpPr>
            <a:spLocks/>
          </p:cNvSpPr>
          <p:nvPr/>
        </p:nvSpPr>
        <p:spPr bwMode="auto">
          <a:xfrm>
            <a:off x="8200864" y="1538287"/>
            <a:ext cx="1931987" cy="2371725"/>
          </a:xfrm>
          <a:custGeom>
            <a:avLst/>
            <a:gdLst>
              <a:gd name="T0" fmla="*/ 2147483647 w 1217"/>
              <a:gd name="T1" fmla="*/ 0 h 1494"/>
              <a:gd name="T2" fmla="*/ 0 w 1217"/>
              <a:gd name="T3" fmla="*/ 2147483647 h 1494"/>
              <a:gd name="T4" fmla="*/ 2147483647 w 1217"/>
              <a:gd name="T5" fmla="*/ 2147483647 h 1494"/>
              <a:gd name="T6" fmla="*/ 2147483647 w 1217"/>
              <a:gd name="T7" fmla="*/ 2147483647 h 1494"/>
              <a:gd name="T8" fmla="*/ 2147483647 w 1217"/>
              <a:gd name="T9" fmla="*/ 2147483647 h 1494"/>
              <a:gd name="T10" fmla="*/ 2147483647 w 1217"/>
              <a:gd name="T11" fmla="*/ 2147483647 h 1494"/>
              <a:gd name="T12" fmla="*/ 2147483647 w 1217"/>
              <a:gd name="T13" fmla="*/ 0 h 14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17"/>
              <a:gd name="T22" fmla="*/ 0 h 1494"/>
              <a:gd name="T23" fmla="*/ 1217 w 1217"/>
              <a:gd name="T24" fmla="*/ 1494 h 14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17" h="1494">
                <a:moveTo>
                  <a:pt x="386" y="0"/>
                </a:moveTo>
                <a:cubicBezTo>
                  <a:pt x="322" y="114"/>
                  <a:pt x="196" y="352"/>
                  <a:pt x="0" y="682"/>
                </a:cubicBezTo>
                <a:cubicBezTo>
                  <a:pt x="56" y="829"/>
                  <a:pt x="128" y="798"/>
                  <a:pt x="196" y="857"/>
                </a:cubicBezTo>
                <a:cubicBezTo>
                  <a:pt x="264" y="916"/>
                  <a:pt x="308" y="996"/>
                  <a:pt x="407" y="1034"/>
                </a:cubicBezTo>
                <a:cubicBezTo>
                  <a:pt x="506" y="1072"/>
                  <a:pt x="667" y="1035"/>
                  <a:pt x="791" y="1082"/>
                </a:cubicBezTo>
                <a:cubicBezTo>
                  <a:pt x="915" y="1129"/>
                  <a:pt x="1217" y="1494"/>
                  <a:pt x="1152" y="1314"/>
                </a:cubicBezTo>
                <a:cubicBezTo>
                  <a:pt x="1087" y="1134"/>
                  <a:pt x="557" y="274"/>
                  <a:pt x="400" y="0"/>
                </a:cubicBezTo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0" name="Freeform 12"/>
          <p:cNvSpPr>
            <a:spLocks/>
          </p:cNvSpPr>
          <p:nvPr/>
        </p:nvSpPr>
        <p:spPr bwMode="auto">
          <a:xfrm>
            <a:off x="7384889" y="151765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4" name="Oval 13"/>
          <p:cNvSpPr>
            <a:spLocks noChangeArrowheads="1"/>
          </p:cNvSpPr>
          <p:nvPr/>
        </p:nvSpPr>
        <p:spPr bwMode="auto">
          <a:xfrm>
            <a:off x="8507250" y="187325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5" name="Oval 14"/>
          <p:cNvSpPr>
            <a:spLocks noChangeArrowheads="1"/>
          </p:cNvSpPr>
          <p:nvPr/>
        </p:nvSpPr>
        <p:spPr bwMode="auto">
          <a:xfrm>
            <a:off x="8983501" y="186372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6" name="Text Box 15"/>
          <p:cNvSpPr txBox="1">
            <a:spLocks noChangeArrowheads="1"/>
          </p:cNvSpPr>
          <p:nvPr/>
        </p:nvSpPr>
        <p:spPr bwMode="auto">
          <a:xfrm>
            <a:off x="8637425" y="1724024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9989976" y="35607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8" name="Oval 17"/>
          <p:cNvSpPr>
            <a:spLocks noChangeArrowheads="1"/>
          </p:cNvSpPr>
          <p:nvPr/>
        </p:nvSpPr>
        <p:spPr bwMode="auto">
          <a:xfrm>
            <a:off x="7703976" y="32559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9" name="Oval 21"/>
          <p:cNvSpPr>
            <a:spLocks noChangeArrowheads="1"/>
          </p:cNvSpPr>
          <p:nvPr/>
        </p:nvSpPr>
        <p:spPr bwMode="auto">
          <a:xfrm>
            <a:off x="8739026" y="144780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50" name="Oval 27"/>
          <p:cNvSpPr>
            <a:spLocks noChangeArrowheads="1"/>
          </p:cNvSpPr>
          <p:nvPr/>
        </p:nvSpPr>
        <p:spPr bwMode="auto">
          <a:xfrm>
            <a:off x="8084976" y="2570162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51" name="Picture 2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780175" y="2493961"/>
            <a:ext cx="192088" cy="160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 bwMode="auto">
          <a:xfrm>
            <a:off x="10334304" y="3548260"/>
            <a:ext cx="257496" cy="241101"/>
          </a:xfrm>
          <a:prstGeom prst="rect">
            <a:avLst/>
          </a:prstGeom>
          <a:noFill/>
          <a:ln/>
          <a:effectLst/>
        </p:spPr>
      </p:pic>
      <p:sp>
        <p:nvSpPr>
          <p:cNvPr id="56" name="Oval 55"/>
          <p:cNvSpPr/>
          <p:nvPr/>
        </p:nvSpPr>
        <p:spPr>
          <a:xfrm rot="359986">
            <a:off x="7040951" y="3019060"/>
            <a:ext cx="3870153" cy="95065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23" name="Picture 2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7315200" y="3200400"/>
            <a:ext cx="257817" cy="257817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28932140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unded Rectangular Callout 53"/>
          <p:cNvSpPr/>
          <p:nvPr/>
        </p:nvSpPr>
        <p:spPr>
          <a:xfrm>
            <a:off x="7391400" y="4800600"/>
            <a:ext cx="3733800" cy="914400"/>
          </a:xfrm>
          <a:prstGeom prst="wedgeRoundRectCallout">
            <a:avLst>
              <a:gd name="adj1" fmla="val -141787"/>
              <a:gd name="adj2" fmla="val -64255"/>
              <a:gd name="adj3" fmla="val 1666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Tính tối ưu của A* trên cây tìm kiếm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417637"/>
            <a:ext cx="5957727" cy="4525963"/>
          </a:xfrm>
        </p:spPr>
        <p:txBody>
          <a:bodyPr/>
          <a:lstStyle/>
          <a:p>
            <a:pPr>
              <a:buNone/>
            </a:pPr>
            <a:r>
              <a:rPr lang="vi-VN" sz="2400" dirty="0">
                <a:latin typeface="Calibri"/>
                <a:cs typeface="Calibri"/>
              </a:rPr>
              <a:t>Chứng minh:</a:t>
            </a:r>
          </a:p>
          <a:p>
            <a:r>
              <a:rPr lang="vi-VN" sz="2400" dirty="0">
                <a:latin typeface="Calibri"/>
                <a:cs typeface="Calibri"/>
              </a:rPr>
              <a:t>Giả sử B nằm trong biên tìm kiếm</a:t>
            </a:r>
          </a:p>
          <a:p>
            <a:r>
              <a:rPr lang="vi-VN" sz="2400" dirty="0">
                <a:latin typeface="Calibri"/>
                <a:cs typeface="Calibri"/>
              </a:rPr>
              <a:t>Giả sử một nút n là tổ tiên của A (hoặc chính là A) cũng nằm trong biên tìm kiếm</a:t>
            </a:r>
          </a:p>
          <a:p>
            <a:r>
              <a:rPr lang="vi-VN" sz="2400" dirty="0">
                <a:latin typeface="Calibri"/>
                <a:cs typeface="Calibri"/>
              </a:rPr>
              <a:t>Thì: </a:t>
            </a:r>
            <a:r>
              <a:rPr lang="vi-VN" sz="2400" i="1" dirty="0">
                <a:latin typeface="Calibri"/>
                <a:cs typeface="Calibri"/>
              </a:rPr>
              <a:t>n</a:t>
            </a:r>
            <a:r>
              <a:rPr lang="vi-VN" sz="2400" dirty="0">
                <a:latin typeface="Calibri"/>
                <a:cs typeface="Calibri"/>
              </a:rPr>
              <a:t> được mở rộng (ra khỏi biên tìm kiếm) trước B</a:t>
            </a:r>
          </a:p>
          <a:p>
            <a:pPr marL="914376" lvl="1" indent="-457200">
              <a:buFont typeface="+mj-lt"/>
              <a:buAutoNum type="arabicPeriod"/>
            </a:pPr>
            <a:r>
              <a:rPr lang="vi-VN" sz="2400" dirty="0">
                <a:latin typeface="Calibri"/>
                <a:cs typeface="Calibri"/>
              </a:rPr>
              <a:t>f(n) ≤ f(A)</a:t>
            </a:r>
          </a:p>
          <a:p>
            <a:pPr marL="914376" lvl="1" indent="-457200">
              <a:buFont typeface="+mj-lt"/>
              <a:buAutoNum type="arabicPeriod"/>
            </a:pPr>
            <a:r>
              <a:rPr lang="vi-VN" sz="2400" dirty="0">
                <a:latin typeface="Calibri"/>
                <a:cs typeface="Calibri"/>
              </a:rPr>
              <a:t>f(A) ≤ f(B)</a:t>
            </a:r>
          </a:p>
          <a:p>
            <a:pPr marL="914376" lvl="1" indent="-457200" eaLnBrk="1" hangingPunct="1">
              <a:buFont typeface="+mj-lt"/>
              <a:buAutoNum type="arabicPeriod"/>
            </a:pPr>
            <a:r>
              <a:rPr lang="vi-VN" sz="2400" i="1" noProof="0" dirty="0">
                <a:latin typeface="Calibri"/>
                <a:cs typeface="Calibri"/>
              </a:rPr>
              <a:t>n</a:t>
            </a:r>
            <a:r>
              <a:rPr lang="vi-VN" sz="2400" noProof="0" dirty="0">
                <a:latin typeface="Calibri"/>
                <a:cs typeface="Calibri"/>
              </a:rPr>
              <a:t> được mở rộng trước B</a:t>
            </a:r>
          </a:p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Tất cả tổ tiên của A được mở rộng trước B</a:t>
            </a:r>
          </a:p>
          <a:p>
            <a:r>
              <a:rPr lang="vi-VN" sz="2400" dirty="0">
                <a:latin typeface="Calibri"/>
                <a:cs typeface="Calibri"/>
              </a:rPr>
              <a:t>A được mở rộng trước B</a:t>
            </a:r>
          </a:p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A* tối ưu</a:t>
            </a:r>
          </a:p>
        </p:txBody>
      </p:sp>
      <p:pic>
        <p:nvPicPr>
          <p:cNvPr id="19" name="Picture 1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7709669" y="5105400"/>
            <a:ext cx="3110735" cy="318731"/>
          </a:xfrm>
          <a:prstGeom prst="rect">
            <a:avLst/>
          </a:prstGeom>
          <a:noFill/>
          <a:ln/>
          <a:effectLst/>
        </p:spPr>
      </p:pic>
      <p:sp>
        <p:nvSpPr>
          <p:cNvPr id="29" name="Freeform 34"/>
          <p:cNvSpPr>
            <a:spLocks/>
          </p:cNvSpPr>
          <p:nvPr/>
        </p:nvSpPr>
        <p:spPr bwMode="auto">
          <a:xfrm>
            <a:off x="8200864" y="1538287"/>
            <a:ext cx="1931987" cy="2371725"/>
          </a:xfrm>
          <a:custGeom>
            <a:avLst/>
            <a:gdLst>
              <a:gd name="T0" fmla="*/ 2147483647 w 1217"/>
              <a:gd name="T1" fmla="*/ 0 h 1494"/>
              <a:gd name="T2" fmla="*/ 0 w 1217"/>
              <a:gd name="T3" fmla="*/ 2147483647 h 1494"/>
              <a:gd name="T4" fmla="*/ 2147483647 w 1217"/>
              <a:gd name="T5" fmla="*/ 2147483647 h 1494"/>
              <a:gd name="T6" fmla="*/ 2147483647 w 1217"/>
              <a:gd name="T7" fmla="*/ 2147483647 h 1494"/>
              <a:gd name="T8" fmla="*/ 2147483647 w 1217"/>
              <a:gd name="T9" fmla="*/ 2147483647 h 1494"/>
              <a:gd name="T10" fmla="*/ 2147483647 w 1217"/>
              <a:gd name="T11" fmla="*/ 2147483647 h 1494"/>
              <a:gd name="T12" fmla="*/ 2147483647 w 1217"/>
              <a:gd name="T13" fmla="*/ 0 h 14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17"/>
              <a:gd name="T22" fmla="*/ 0 h 1494"/>
              <a:gd name="T23" fmla="*/ 1217 w 1217"/>
              <a:gd name="T24" fmla="*/ 1494 h 14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17" h="1494">
                <a:moveTo>
                  <a:pt x="386" y="0"/>
                </a:moveTo>
                <a:cubicBezTo>
                  <a:pt x="322" y="114"/>
                  <a:pt x="196" y="352"/>
                  <a:pt x="0" y="682"/>
                </a:cubicBezTo>
                <a:cubicBezTo>
                  <a:pt x="56" y="829"/>
                  <a:pt x="128" y="798"/>
                  <a:pt x="196" y="857"/>
                </a:cubicBezTo>
                <a:cubicBezTo>
                  <a:pt x="264" y="916"/>
                  <a:pt x="308" y="996"/>
                  <a:pt x="407" y="1034"/>
                </a:cubicBezTo>
                <a:cubicBezTo>
                  <a:pt x="506" y="1072"/>
                  <a:pt x="667" y="1035"/>
                  <a:pt x="791" y="1082"/>
                </a:cubicBezTo>
                <a:cubicBezTo>
                  <a:pt x="915" y="1129"/>
                  <a:pt x="1217" y="1494"/>
                  <a:pt x="1152" y="1314"/>
                </a:cubicBezTo>
                <a:cubicBezTo>
                  <a:pt x="1087" y="1134"/>
                  <a:pt x="557" y="274"/>
                  <a:pt x="400" y="0"/>
                </a:cubicBezTo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0" name="Freeform 12"/>
          <p:cNvSpPr>
            <a:spLocks/>
          </p:cNvSpPr>
          <p:nvPr/>
        </p:nvSpPr>
        <p:spPr bwMode="auto">
          <a:xfrm>
            <a:off x="7384889" y="151765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4" name="Oval 13"/>
          <p:cNvSpPr>
            <a:spLocks noChangeArrowheads="1"/>
          </p:cNvSpPr>
          <p:nvPr/>
        </p:nvSpPr>
        <p:spPr bwMode="auto">
          <a:xfrm>
            <a:off x="8507250" y="187325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5" name="Oval 14"/>
          <p:cNvSpPr>
            <a:spLocks noChangeArrowheads="1"/>
          </p:cNvSpPr>
          <p:nvPr/>
        </p:nvSpPr>
        <p:spPr bwMode="auto">
          <a:xfrm>
            <a:off x="8983501" y="186372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6" name="Text Box 15"/>
          <p:cNvSpPr txBox="1">
            <a:spLocks noChangeArrowheads="1"/>
          </p:cNvSpPr>
          <p:nvPr/>
        </p:nvSpPr>
        <p:spPr bwMode="auto">
          <a:xfrm>
            <a:off x="8637425" y="1724024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9989976" y="35607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8" name="Oval 17"/>
          <p:cNvSpPr>
            <a:spLocks noChangeArrowheads="1"/>
          </p:cNvSpPr>
          <p:nvPr/>
        </p:nvSpPr>
        <p:spPr bwMode="auto">
          <a:xfrm>
            <a:off x="7703976" y="32559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9" name="Oval 21"/>
          <p:cNvSpPr>
            <a:spLocks noChangeArrowheads="1"/>
          </p:cNvSpPr>
          <p:nvPr/>
        </p:nvSpPr>
        <p:spPr bwMode="auto">
          <a:xfrm>
            <a:off x="8739026" y="144780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50" name="Oval 27"/>
          <p:cNvSpPr>
            <a:spLocks noChangeArrowheads="1"/>
          </p:cNvSpPr>
          <p:nvPr/>
        </p:nvSpPr>
        <p:spPr bwMode="auto">
          <a:xfrm>
            <a:off x="8084976" y="2570162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51" name="Picture 2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780175" y="2493961"/>
            <a:ext cx="192088" cy="160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10334304" y="3548260"/>
            <a:ext cx="257496" cy="241101"/>
          </a:xfrm>
          <a:prstGeom prst="rect">
            <a:avLst/>
          </a:prstGeom>
          <a:noFill/>
          <a:ln/>
          <a:effectLst/>
        </p:spPr>
      </p:pic>
      <p:sp>
        <p:nvSpPr>
          <p:cNvPr id="23" name="Oval 22"/>
          <p:cNvSpPr/>
          <p:nvPr/>
        </p:nvSpPr>
        <p:spPr>
          <a:xfrm rot="1372885">
            <a:off x="7307550" y="2652452"/>
            <a:ext cx="3645108" cy="95065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20" name="Picture 19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7315200" y="3200400"/>
            <a:ext cx="257817" cy="257817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42257576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23" grpId="0" animBg="1"/>
      <p:bldP spid="23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90800"/>
            <a:ext cx="12192000" cy="1143000"/>
          </a:xfrm>
        </p:spPr>
        <p:txBody>
          <a:bodyPr/>
          <a:lstStyle/>
          <a:p>
            <a:pPr eaLnBrk="1" hangingPunct="1"/>
            <a:r>
              <a:rPr lang="vi-VN" sz="6000" noProof="0" dirty="0"/>
              <a:t>Tính chất của A*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9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Tính chất của A*</a:t>
            </a:r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466725" y="1441451"/>
            <a:ext cx="8229600" cy="524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</p:txBody>
      </p:sp>
      <p:sp>
        <p:nvSpPr>
          <p:cNvPr id="20484" name="Freeform 88"/>
          <p:cNvSpPr>
            <a:spLocks/>
          </p:cNvSpPr>
          <p:nvPr/>
        </p:nvSpPr>
        <p:spPr bwMode="auto">
          <a:xfrm>
            <a:off x="2895600" y="2703514"/>
            <a:ext cx="2438400" cy="20970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85" name="Freeform 126"/>
          <p:cNvSpPr>
            <a:spLocks/>
          </p:cNvSpPr>
          <p:nvPr/>
        </p:nvSpPr>
        <p:spPr bwMode="auto">
          <a:xfrm>
            <a:off x="3429001" y="2667001"/>
            <a:ext cx="1371555" cy="1598510"/>
          </a:xfrm>
          <a:custGeom>
            <a:avLst/>
            <a:gdLst>
              <a:gd name="T0" fmla="*/ 2147483647 w 769"/>
              <a:gd name="T1" fmla="*/ 0 h 1239"/>
              <a:gd name="T2" fmla="*/ 0 w 769"/>
              <a:gd name="T3" fmla="*/ 2147483647 h 1239"/>
              <a:gd name="T4" fmla="*/ 2147483647 w 769"/>
              <a:gd name="T5" fmla="*/ 2147483647 h 1239"/>
              <a:gd name="T6" fmla="*/ 2147483647 w 769"/>
              <a:gd name="T7" fmla="*/ 2147483647 h 1239"/>
              <a:gd name="T8" fmla="*/ 2147483647 w 769"/>
              <a:gd name="T9" fmla="*/ 2147483647 h 1239"/>
              <a:gd name="T10" fmla="*/ 2147483647 w 769"/>
              <a:gd name="T11" fmla="*/ 2147483647 h 1239"/>
              <a:gd name="T12" fmla="*/ 2147483647 w 769"/>
              <a:gd name="T13" fmla="*/ 2147483647 h 1239"/>
              <a:gd name="T14" fmla="*/ 2147483647 w 769"/>
              <a:gd name="T15" fmla="*/ 0 h 1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69"/>
              <a:gd name="T25" fmla="*/ 0 h 1239"/>
              <a:gd name="T26" fmla="*/ 769 w 769"/>
              <a:gd name="T27" fmla="*/ 1239 h 1239"/>
              <a:gd name="connsiteX0" fmla="*/ 5618 w 11235"/>
              <a:gd name="connsiteY0" fmla="*/ 0 h 10000"/>
              <a:gd name="connsiteX1" fmla="*/ 0 w 11235"/>
              <a:gd name="connsiteY1" fmla="*/ 6199 h 10000"/>
              <a:gd name="connsiteX2" fmla="*/ 1873 w 11235"/>
              <a:gd name="connsiteY2" fmla="*/ 6973 h 10000"/>
              <a:gd name="connsiteX3" fmla="*/ 4993 w 11235"/>
              <a:gd name="connsiteY3" fmla="*/ 7748 h 10000"/>
              <a:gd name="connsiteX4" fmla="*/ 6957 w 11235"/>
              <a:gd name="connsiteY4" fmla="*/ 6538 h 10000"/>
              <a:gd name="connsiteX5" fmla="*/ 9272 w 11235"/>
              <a:gd name="connsiteY5" fmla="*/ 9621 h 10000"/>
              <a:gd name="connsiteX6" fmla="*/ 11235 w 11235"/>
              <a:gd name="connsiteY6" fmla="*/ 6199 h 10000"/>
              <a:gd name="connsiteX7" fmla="*/ 5618 w 11235"/>
              <a:gd name="connsiteY7" fmla="*/ 0 h 10000"/>
              <a:gd name="connsiteX0" fmla="*/ 5618 w 11235"/>
              <a:gd name="connsiteY0" fmla="*/ 0 h 8127"/>
              <a:gd name="connsiteX1" fmla="*/ 0 w 11235"/>
              <a:gd name="connsiteY1" fmla="*/ 6199 h 8127"/>
              <a:gd name="connsiteX2" fmla="*/ 1873 w 11235"/>
              <a:gd name="connsiteY2" fmla="*/ 6973 h 8127"/>
              <a:gd name="connsiteX3" fmla="*/ 4993 w 11235"/>
              <a:gd name="connsiteY3" fmla="*/ 7748 h 8127"/>
              <a:gd name="connsiteX4" fmla="*/ 6957 w 11235"/>
              <a:gd name="connsiteY4" fmla="*/ 6538 h 8127"/>
              <a:gd name="connsiteX5" fmla="*/ 9987 w 11235"/>
              <a:gd name="connsiteY5" fmla="*/ 7748 h 8127"/>
              <a:gd name="connsiteX6" fmla="*/ 11235 w 11235"/>
              <a:gd name="connsiteY6" fmla="*/ 6199 h 8127"/>
              <a:gd name="connsiteX7" fmla="*/ 5618 w 11235"/>
              <a:gd name="connsiteY7" fmla="*/ 0 h 8127"/>
              <a:gd name="connsiteX0" fmla="*/ 5000 w 10000"/>
              <a:gd name="connsiteY0" fmla="*/ 0 h 10000"/>
              <a:gd name="connsiteX1" fmla="*/ 0 w 10000"/>
              <a:gd name="connsiteY1" fmla="*/ 7628 h 10000"/>
              <a:gd name="connsiteX2" fmla="*/ 1667 w 10000"/>
              <a:gd name="connsiteY2" fmla="*/ 9057 h 10000"/>
              <a:gd name="connsiteX3" fmla="*/ 4444 w 10000"/>
              <a:gd name="connsiteY3" fmla="*/ 9534 h 10000"/>
              <a:gd name="connsiteX4" fmla="*/ 6192 w 10000"/>
              <a:gd name="connsiteY4" fmla="*/ 8045 h 10000"/>
              <a:gd name="connsiteX5" fmla="*/ 8889 w 10000"/>
              <a:gd name="connsiteY5" fmla="*/ 9534 h 10000"/>
              <a:gd name="connsiteX6" fmla="*/ 10000 w 10000"/>
              <a:gd name="connsiteY6" fmla="*/ 7628 h 10000"/>
              <a:gd name="connsiteX7" fmla="*/ 5000 w 10000"/>
              <a:gd name="connsiteY7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5000" y="0"/>
                </a:moveTo>
                <a:lnTo>
                  <a:pt x="0" y="7628"/>
                </a:lnTo>
                <a:lnTo>
                  <a:pt x="1667" y="9057"/>
                </a:lnTo>
                <a:cubicBezTo>
                  <a:pt x="1667" y="9057"/>
                  <a:pt x="3611" y="9851"/>
                  <a:pt x="4444" y="9534"/>
                </a:cubicBezTo>
                <a:cubicBezTo>
                  <a:pt x="5197" y="9872"/>
                  <a:pt x="5452" y="8045"/>
                  <a:pt x="6192" y="8045"/>
                </a:cubicBezTo>
                <a:cubicBezTo>
                  <a:pt x="6933" y="8045"/>
                  <a:pt x="8530" y="10000"/>
                  <a:pt x="8889" y="9534"/>
                </a:cubicBezTo>
                <a:cubicBezTo>
                  <a:pt x="9537" y="8819"/>
                  <a:pt x="9514" y="8243"/>
                  <a:pt x="10000" y="7628"/>
                </a:cubicBezTo>
                <a:lnTo>
                  <a:pt x="5000" y="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86" name="Oval 89"/>
          <p:cNvSpPr>
            <a:spLocks noChangeArrowheads="1"/>
          </p:cNvSpPr>
          <p:nvPr/>
        </p:nvSpPr>
        <p:spPr bwMode="auto">
          <a:xfrm>
            <a:off x="3789364" y="3059113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87" name="Oval 90"/>
          <p:cNvSpPr>
            <a:spLocks noChangeArrowheads="1"/>
          </p:cNvSpPr>
          <p:nvPr/>
        </p:nvSpPr>
        <p:spPr bwMode="auto">
          <a:xfrm>
            <a:off x="4265613" y="3049589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88" name="Text Box 91"/>
          <p:cNvSpPr txBox="1">
            <a:spLocks noChangeArrowheads="1"/>
          </p:cNvSpPr>
          <p:nvPr/>
        </p:nvSpPr>
        <p:spPr bwMode="auto">
          <a:xfrm>
            <a:off x="3919539" y="2909889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20489" name="Freeform 92"/>
          <p:cNvSpPr>
            <a:spLocks/>
          </p:cNvSpPr>
          <p:nvPr/>
        </p:nvSpPr>
        <p:spPr bwMode="auto">
          <a:xfrm>
            <a:off x="3902075" y="286385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0" name="Text Box 93"/>
          <p:cNvSpPr txBox="1">
            <a:spLocks noChangeArrowheads="1"/>
          </p:cNvSpPr>
          <p:nvPr/>
        </p:nvSpPr>
        <p:spPr bwMode="auto">
          <a:xfrm>
            <a:off x="4303713" y="2662240"/>
            <a:ext cx="29845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b</a:t>
            </a:r>
          </a:p>
        </p:txBody>
      </p:sp>
      <p:sp>
        <p:nvSpPr>
          <p:cNvPr id="20491" name="Oval 95"/>
          <p:cNvSpPr>
            <a:spLocks noChangeArrowheads="1"/>
          </p:cNvSpPr>
          <p:nvPr/>
        </p:nvSpPr>
        <p:spPr bwMode="auto">
          <a:xfrm>
            <a:off x="3962401" y="4079875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2" name="Oval 99"/>
          <p:cNvSpPr>
            <a:spLocks noChangeArrowheads="1"/>
          </p:cNvSpPr>
          <p:nvPr/>
        </p:nvSpPr>
        <p:spPr bwMode="auto">
          <a:xfrm>
            <a:off x="4021139" y="2633664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3" name="Freeform 109"/>
          <p:cNvSpPr>
            <a:spLocks/>
          </p:cNvSpPr>
          <p:nvPr/>
        </p:nvSpPr>
        <p:spPr bwMode="auto">
          <a:xfrm>
            <a:off x="7010400" y="2668589"/>
            <a:ext cx="2438400" cy="2132012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4" name="Freeform 127"/>
          <p:cNvSpPr>
            <a:spLocks/>
          </p:cNvSpPr>
          <p:nvPr/>
        </p:nvSpPr>
        <p:spPr bwMode="auto">
          <a:xfrm>
            <a:off x="7848610" y="2667000"/>
            <a:ext cx="762001" cy="1524000"/>
          </a:xfrm>
          <a:custGeom>
            <a:avLst/>
            <a:gdLst>
              <a:gd name="T0" fmla="*/ 2147483647 w 591"/>
              <a:gd name="T1" fmla="*/ 0 h 960"/>
              <a:gd name="T2" fmla="*/ 0 w 591"/>
              <a:gd name="T3" fmla="*/ 2147483647 h 960"/>
              <a:gd name="T4" fmla="*/ 2147483647 w 591"/>
              <a:gd name="T5" fmla="*/ 2147483647 h 960"/>
              <a:gd name="T6" fmla="*/ 2147483647 w 591"/>
              <a:gd name="T7" fmla="*/ 2147483647 h 960"/>
              <a:gd name="T8" fmla="*/ 2147483647 w 591"/>
              <a:gd name="T9" fmla="*/ 2147483647 h 960"/>
              <a:gd name="T10" fmla="*/ 2147483647 w 591"/>
              <a:gd name="T11" fmla="*/ 2147483647 h 960"/>
              <a:gd name="T12" fmla="*/ 2147483647 w 591"/>
              <a:gd name="T13" fmla="*/ 0 h 9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91"/>
              <a:gd name="T22" fmla="*/ 0 h 960"/>
              <a:gd name="T23" fmla="*/ 591 w 591"/>
              <a:gd name="T24" fmla="*/ 960 h 960"/>
              <a:gd name="connsiteX0" fmla="*/ 5110 w 9171"/>
              <a:gd name="connsiteY0" fmla="*/ 0 h 10000"/>
              <a:gd name="connsiteX1" fmla="*/ 0 w 9171"/>
              <a:gd name="connsiteY1" fmla="*/ 5510 h 10000"/>
              <a:gd name="connsiteX2" fmla="*/ 2843 w 9171"/>
              <a:gd name="connsiteY2" fmla="*/ 7052 h 10000"/>
              <a:gd name="connsiteX3" fmla="*/ 4298 w 9171"/>
              <a:gd name="connsiteY3" fmla="*/ 10000 h 10000"/>
              <a:gd name="connsiteX4" fmla="*/ 6633 w 9171"/>
              <a:gd name="connsiteY4" fmla="*/ 6573 h 10000"/>
              <a:gd name="connsiteX5" fmla="*/ 9171 w 9171"/>
              <a:gd name="connsiteY5" fmla="*/ 4500 h 10000"/>
              <a:gd name="connsiteX6" fmla="*/ 5110 w 9171"/>
              <a:gd name="connsiteY6" fmla="*/ 0 h 10000"/>
              <a:gd name="connsiteX0" fmla="*/ 5572 w 10000"/>
              <a:gd name="connsiteY0" fmla="*/ 0 h 10000"/>
              <a:gd name="connsiteX1" fmla="*/ 0 w 10000"/>
              <a:gd name="connsiteY1" fmla="*/ 5510 h 10000"/>
              <a:gd name="connsiteX2" fmla="*/ 2915 w 10000"/>
              <a:gd name="connsiteY2" fmla="*/ 7500 h 10000"/>
              <a:gd name="connsiteX3" fmla="*/ 4687 w 10000"/>
              <a:gd name="connsiteY3" fmla="*/ 10000 h 10000"/>
              <a:gd name="connsiteX4" fmla="*/ 7233 w 10000"/>
              <a:gd name="connsiteY4" fmla="*/ 6573 h 10000"/>
              <a:gd name="connsiteX5" fmla="*/ 10000 w 10000"/>
              <a:gd name="connsiteY5" fmla="*/ 4500 h 10000"/>
              <a:gd name="connsiteX6" fmla="*/ 5572 w 10000"/>
              <a:gd name="connsiteY6" fmla="*/ 0 h 10000"/>
              <a:gd name="connsiteX0" fmla="*/ 4428 w 8856"/>
              <a:gd name="connsiteY0" fmla="*/ 0 h 10000"/>
              <a:gd name="connsiteX1" fmla="*/ 0 w 8856"/>
              <a:gd name="connsiteY1" fmla="*/ 4500 h 10000"/>
              <a:gd name="connsiteX2" fmla="*/ 1771 w 8856"/>
              <a:gd name="connsiteY2" fmla="*/ 7500 h 10000"/>
              <a:gd name="connsiteX3" fmla="*/ 3543 w 8856"/>
              <a:gd name="connsiteY3" fmla="*/ 10000 h 10000"/>
              <a:gd name="connsiteX4" fmla="*/ 6089 w 8856"/>
              <a:gd name="connsiteY4" fmla="*/ 6573 h 10000"/>
              <a:gd name="connsiteX5" fmla="*/ 8856 w 8856"/>
              <a:gd name="connsiteY5" fmla="*/ 4500 h 10000"/>
              <a:gd name="connsiteX6" fmla="*/ 4428 w 8856"/>
              <a:gd name="connsiteY6" fmla="*/ 0 h 10000"/>
              <a:gd name="connsiteX0" fmla="*/ 5000 w 10000"/>
              <a:gd name="connsiteY0" fmla="*/ 0 h 10000"/>
              <a:gd name="connsiteX1" fmla="*/ 0 w 10000"/>
              <a:gd name="connsiteY1" fmla="*/ 4500 h 10000"/>
              <a:gd name="connsiteX2" fmla="*/ 2000 w 10000"/>
              <a:gd name="connsiteY2" fmla="*/ 6500 h 10000"/>
              <a:gd name="connsiteX3" fmla="*/ 4001 w 10000"/>
              <a:gd name="connsiteY3" fmla="*/ 10000 h 10000"/>
              <a:gd name="connsiteX4" fmla="*/ 6876 w 10000"/>
              <a:gd name="connsiteY4" fmla="*/ 6573 h 10000"/>
              <a:gd name="connsiteX5" fmla="*/ 10000 w 10000"/>
              <a:gd name="connsiteY5" fmla="*/ 4500 h 10000"/>
              <a:gd name="connsiteX6" fmla="*/ 5000 w 1000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5000" y="0"/>
                </a:moveTo>
                <a:cubicBezTo>
                  <a:pt x="3166" y="1479"/>
                  <a:pt x="3041" y="1792"/>
                  <a:pt x="0" y="4500"/>
                </a:cubicBezTo>
                <a:cubicBezTo>
                  <a:pt x="958" y="5511"/>
                  <a:pt x="1145" y="5740"/>
                  <a:pt x="2000" y="6500"/>
                </a:cubicBezTo>
                <a:cubicBezTo>
                  <a:pt x="2000" y="6500"/>
                  <a:pt x="2416" y="8542"/>
                  <a:pt x="4001" y="10000"/>
                </a:cubicBezTo>
                <a:cubicBezTo>
                  <a:pt x="6021" y="8490"/>
                  <a:pt x="5875" y="7490"/>
                  <a:pt x="6876" y="6573"/>
                </a:cubicBezTo>
                <a:cubicBezTo>
                  <a:pt x="7875" y="5656"/>
                  <a:pt x="9125" y="5146"/>
                  <a:pt x="10000" y="4500"/>
                </a:cubicBezTo>
                <a:cubicBezTo>
                  <a:pt x="7000" y="1750"/>
                  <a:pt x="6250" y="1125"/>
                  <a:pt x="5000" y="0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5" name="Oval 110"/>
          <p:cNvSpPr>
            <a:spLocks noChangeArrowheads="1"/>
          </p:cNvSpPr>
          <p:nvPr/>
        </p:nvSpPr>
        <p:spPr bwMode="auto">
          <a:xfrm>
            <a:off x="7904164" y="3024189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6" name="Oval 111"/>
          <p:cNvSpPr>
            <a:spLocks noChangeArrowheads="1"/>
          </p:cNvSpPr>
          <p:nvPr/>
        </p:nvSpPr>
        <p:spPr bwMode="auto">
          <a:xfrm>
            <a:off x="8380413" y="3014664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7" name="Text Box 112"/>
          <p:cNvSpPr txBox="1">
            <a:spLocks noChangeArrowheads="1"/>
          </p:cNvSpPr>
          <p:nvPr/>
        </p:nvSpPr>
        <p:spPr bwMode="auto">
          <a:xfrm>
            <a:off x="8034339" y="2874964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20498" name="Freeform 113"/>
          <p:cNvSpPr>
            <a:spLocks/>
          </p:cNvSpPr>
          <p:nvPr/>
        </p:nvSpPr>
        <p:spPr bwMode="auto">
          <a:xfrm>
            <a:off x="8016875" y="2828926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9" name="Text Box 114"/>
          <p:cNvSpPr txBox="1">
            <a:spLocks noChangeArrowheads="1"/>
          </p:cNvSpPr>
          <p:nvPr/>
        </p:nvSpPr>
        <p:spPr bwMode="auto">
          <a:xfrm>
            <a:off x="8418513" y="2627314"/>
            <a:ext cx="29845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b</a:t>
            </a:r>
          </a:p>
        </p:txBody>
      </p:sp>
      <p:sp>
        <p:nvSpPr>
          <p:cNvPr id="20500" name="Oval 116"/>
          <p:cNvSpPr>
            <a:spLocks noChangeArrowheads="1"/>
          </p:cNvSpPr>
          <p:nvPr/>
        </p:nvSpPr>
        <p:spPr bwMode="auto">
          <a:xfrm>
            <a:off x="8135939" y="2598739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501" name="Oval 115"/>
          <p:cNvSpPr>
            <a:spLocks noChangeArrowheads="1"/>
          </p:cNvSpPr>
          <p:nvPr/>
        </p:nvSpPr>
        <p:spPr bwMode="auto">
          <a:xfrm>
            <a:off x="8077201" y="4044951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502" name="Text Box 123"/>
          <p:cNvSpPr txBox="1">
            <a:spLocks noChangeArrowheads="1"/>
          </p:cNvSpPr>
          <p:nvPr/>
        </p:nvSpPr>
        <p:spPr bwMode="auto">
          <a:xfrm>
            <a:off x="2438400" y="1676401"/>
            <a:ext cx="38862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 err="1">
                <a:latin typeface="Calibri"/>
                <a:cs typeface="Calibri"/>
              </a:rPr>
              <a:t>Tìm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kiếm</a:t>
            </a:r>
            <a:r>
              <a:rPr lang="en-US" sz="2800" dirty="0">
                <a:latin typeface="Calibri"/>
                <a:cs typeface="Calibri"/>
              </a:rPr>
              <a:t> chi </a:t>
            </a:r>
            <a:r>
              <a:rPr lang="en-US" sz="2800" dirty="0" err="1">
                <a:latin typeface="Calibri"/>
                <a:cs typeface="Calibri"/>
              </a:rPr>
              <a:t>phí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đều</a:t>
            </a:r>
            <a:r>
              <a:rPr lang="en-US" sz="2800" dirty="0">
                <a:latin typeface="Calibri"/>
                <a:cs typeface="Calibri"/>
              </a:rPr>
              <a:t> UCS</a:t>
            </a:r>
          </a:p>
        </p:txBody>
      </p:sp>
      <p:sp>
        <p:nvSpPr>
          <p:cNvPr id="20503" name="Text Box 124"/>
          <p:cNvSpPr txBox="1">
            <a:spLocks noChangeArrowheads="1"/>
          </p:cNvSpPr>
          <p:nvPr/>
        </p:nvSpPr>
        <p:spPr bwMode="auto">
          <a:xfrm>
            <a:off x="8001000" y="1676401"/>
            <a:ext cx="609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latin typeface="Calibri"/>
                <a:cs typeface="Calibri"/>
              </a:rPr>
              <a:t>A*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Oval 14"/>
          <p:cNvSpPr>
            <a:spLocks noChangeArrowheads="1"/>
          </p:cNvSpPr>
          <p:nvPr/>
        </p:nvSpPr>
        <p:spPr bwMode="auto">
          <a:xfrm>
            <a:off x="9005887" y="5029202"/>
            <a:ext cx="1284288" cy="627063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07" name="Oval 8"/>
          <p:cNvSpPr>
            <a:spLocks noChangeArrowheads="1"/>
          </p:cNvSpPr>
          <p:nvPr/>
        </p:nvSpPr>
        <p:spPr bwMode="auto">
          <a:xfrm>
            <a:off x="8396287" y="1828800"/>
            <a:ext cx="1912939" cy="1771651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Đường đồng mức của UCS và A*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46237"/>
            <a:ext cx="6705600" cy="4525963"/>
          </a:xfrm>
        </p:spPr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UCS mở rộng như nhau theo mọi hướng</a:t>
            </a:r>
          </a:p>
          <a:p>
            <a:pPr lvl="1"/>
            <a:endParaRPr lang="vi-VN" noProof="0" dirty="0">
              <a:latin typeface="Calibri"/>
              <a:cs typeface="Calibri"/>
            </a:endParaRPr>
          </a:p>
          <a:p>
            <a:pPr marL="457176" lvl="1" indent="0">
              <a:buNone/>
            </a:pPr>
            <a:endParaRPr lang="vi-VN" noProof="0" dirty="0">
              <a:latin typeface="Calibri"/>
              <a:cs typeface="Calibri"/>
            </a:endParaRPr>
          </a:p>
          <a:p>
            <a:pPr eaLnBrk="1" hangingPunct="1"/>
            <a:r>
              <a:rPr lang="vi-VN" noProof="0" dirty="0">
                <a:latin typeface="Calibri"/>
                <a:cs typeface="Calibri"/>
              </a:rPr>
              <a:t>A* mở rộng theo hướng mục tiêu (hướng dẫn bởi kinh nghiệm), nhưng </a:t>
            </a:r>
            <a:r>
              <a:rPr lang="en-US" noProof="0" dirty="0" err="1">
                <a:latin typeface="Calibri"/>
                <a:cs typeface="Calibri"/>
              </a:rPr>
              <a:t>có</a:t>
            </a:r>
            <a:r>
              <a:rPr lang="en-US" noProof="0" dirty="0">
                <a:latin typeface="Calibri"/>
                <a:cs typeface="Calibri"/>
              </a:rPr>
              <a:t> </a:t>
            </a:r>
            <a:r>
              <a:rPr lang="en-US" noProof="0" dirty="0" err="1">
                <a:latin typeface="Calibri"/>
                <a:cs typeface="Calibri"/>
              </a:rPr>
              <a:t>khả</a:t>
            </a:r>
            <a:r>
              <a:rPr lang="en-US" noProof="0" dirty="0">
                <a:latin typeface="Calibri"/>
                <a:cs typeface="Calibri"/>
              </a:rPr>
              <a:t> </a:t>
            </a:r>
            <a:r>
              <a:rPr lang="en-US" noProof="0" dirty="0" err="1">
                <a:latin typeface="Calibri"/>
                <a:cs typeface="Calibri"/>
              </a:rPr>
              <a:t>năng</a:t>
            </a:r>
            <a:r>
              <a:rPr lang="en-US" noProof="0" dirty="0">
                <a:latin typeface="Calibri"/>
                <a:cs typeface="Calibri"/>
              </a:rPr>
              <a:t> </a:t>
            </a:r>
            <a:r>
              <a:rPr lang="vi-VN" noProof="0" dirty="0">
                <a:latin typeface="Calibri"/>
                <a:cs typeface="Calibri"/>
              </a:rPr>
              <a:t>mở rộng xung quanh để đảm bảo tính tối ưu</a:t>
            </a:r>
          </a:p>
        </p:txBody>
      </p:sp>
      <p:sp>
        <p:nvSpPr>
          <p:cNvPr id="21510" name="Oval 4"/>
          <p:cNvSpPr>
            <a:spLocks noChangeArrowheads="1"/>
          </p:cNvSpPr>
          <p:nvPr/>
        </p:nvSpPr>
        <p:spPr bwMode="auto">
          <a:xfrm>
            <a:off x="9299575" y="2605089"/>
            <a:ext cx="163512" cy="153987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11" name="Text Box 5"/>
          <p:cNvSpPr txBox="1">
            <a:spLocks noChangeArrowheads="1"/>
          </p:cNvSpPr>
          <p:nvPr/>
        </p:nvSpPr>
        <p:spPr bwMode="auto">
          <a:xfrm>
            <a:off x="8534400" y="2720977"/>
            <a:ext cx="1143000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err="1">
                <a:latin typeface="Calibri"/>
                <a:cs typeface="Calibri"/>
              </a:rPr>
              <a:t>Bắt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đầu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21512" name="Oval 6"/>
          <p:cNvSpPr>
            <a:spLocks noChangeArrowheads="1"/>
          </p:cNvSpPr>
          <p:nvPr/>
        </p:nvSpPr>
        <p:spPr bwMode="auto">
          <a:xfrm>
            <a:off x="10226675" y="2627313"/>
            <a:ext cx="163512" cy="153987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13" name="Text Box 7"/>
          <p:cNvSpPr txBox="1">
            <a:spLocks noChangeArrowheads="1"/>
          </p:cNvSpPr>
          <p:nvPr/>
        </p:nvSpPr>
        <p:spPr bwMode="auto">
          <a:xfrm>
            <a:off x="10287000" y="2744789"/>
            <a:ext cx="1371600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err="1">
                <a:latin typeface="Calibri"/>
                <a:cs typeface="Calibri"/>
              </a:rPr>
              <a:t>Mục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tiêu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21514" name="Oval 9"/>
          <p:cNvSpPr>
            <a:spLocks noChangeArrowheads="1"/>
          </p:cNvSpPr>
          <p:nvPr/>
        </p:nvSpPr>
        <p:spPr bwMode="auto">
          <a:xfrm>
            <a:off x="8931276" y="2263775"/>
            <a:ext cx="869951" cy="8699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15" name="Oval 10"/>
          <p:cNvSpPr>
            <a:spLocks noChangeArrowheads="1"/>
          </p:cNvSpPr>
          <p:nvPr/>
        </p:nvSpPr>
        <p:spPr bwMode="auto">
          <a:xfrm>
            <a:off x="9234488" y="5270501"/>
            <a:ext cx="163513" cy="15398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16" name="Text Box 11"/>
          <p:cNvSpPr txBox="1">
            <a:spLocks noChangeArrowheads="1"/>
          </p:cNvSpPr>
          <p:nvPr/>
        </p:nvSpPr>
        <p:spPr bwMode="auto">
          <a:xfrm>
            <a:off x="8381999" y="5410200"/>
            <a:ext cx="1284287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err="1">
                <a:latin typeface="Calibri"/>
                <a:cs typeface="Calibri"/>
              </a:rPr>
              <a:t>Bắt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đầu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21517" name="Oval 12"/>
          <p:cNvSpPr>
            <a:spLocks noChangeArrowheads="1"/>
          </p:cNvSpPr>
          <p:nvPr/>
        </p:nvSpPr>
        <p:spPr bwMode="auto">
          <a:xfrm>
            <a:off x="10213975" y="5257801"/>
            <a:ext cx="163512" cy="1539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18" name="Text Box 13"/>
          <p:cNvSpPr txBox="1">
            <a:spLocks noChangeArrowheads="1"/>
          </p:cNvSpPr>
          <p:nvPr/>
        </p:nvSpPr>
        <p:spPr bwMode="auto">
          <a:xfrm>
            <a:off x="10221912" y="5405737"/>
            <a:ext cx="1436688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err="1">
                <a:latin typeface="Calibri"/>
                <a:cs typeface="Calibri"/>
              </a:rPr>
              <a:t>Mục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tiêu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21519" name="Oval 15"/>
          <p:cNvSpPr>
            <a:spLocks noChangeArrowheads="1"/>
          </p:cNvSpPr>
          <p:nvPr/>
        </p:nvSpPr>
        <p:spPr bwMode="auto">
          <a:xfrm>
            <a:off x="9126537" y="5105400"/>
            <a:ext cx="869951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Đường đồng mức của UCS (Empty)</a:t>
            </a:r>
          </a:p>
        </p:txBody>
      </p:sp>
      <p:pic>
        <p:nvPicPr>
          <p:cNvPr id="3" name="Empty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60186" y="1143001"/>
            <a:ext cx="6271629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2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Đường đồng mức của Greedy (Empty)</a:t>
            </a:r>
          </a:p>
        </p:txBody>
      </p:sp>
      <p:pic>
        <p:nvPicPr>
          <p:cNvPr id="3" name="Empty-greedy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60185" y="1143000"/>
            <a:ext cx="6271631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8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Đường đồng mức của A* (Empty)</a:t>
            </a:r>
          </a:p>
        </p:txBody>
      </p:sp>
      <p:pic>
        <p:nvPicPr>
          <p:cNvPr id="3" name="Empty-astar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60186" y="1143001"/>
            <a:ext cx="6271628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8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4000" noProof="0" dirty="0"/>
              <a:t>Ví dụ: Đường đồng mức của A* (Pacman Small Maze)</a:t>
            </a:r>
          </a:p>
        </p:txBody>
      </p:sp>
      <p:pic>
        <p:nvPicPr>
          <p:cNvPr id="3" name="ContoursPacmanSmallMaze-astar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9700" y="1143000"/>
            <a:ext cx="9372600" cy="52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8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dy_pacma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72380"/>
            <a:ext cx="3657600" cy="2050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7" descr="uniform_pacma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372380"/>
            <a:ext cx="3621881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Content Placeholder 3" descr="astar_pacman.jpg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695" y="2372380"/>
            <a:ext cx="351650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408481" y="4497309"/>
            <a:ext cx="153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/>
                <a:cs typeface="Calibri"/>
              </a:rPr>
              <a:t>Greedy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1714" y="4497309"/>
            <a:ext cx="2657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/>
                <a:cs typeface="Calibri"/>
              </a:rPr>
              <a:t>Uniform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7259" y="4497310"/>
            <a:ext cx="681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/>
                <a:cs typeface="Calibri"/>
              </a:rPr>
              <a:t>A*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AB5B1A5-7661-48EC-9B6D-8D5EBADEF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</a:t>
            </a:r>
            <a:r>
              <a:rPr lang="en-US" dirty="0" err="1"/>
              <a:t>sánh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AC4D31-A041-4172-98E6-FB6C5CD30F76}"/>
                  </a:ext>
                </a:extLst>
              </p14:cNvPr>
              <p14:cNvContentPartPr/>
              <p14:nvPr/>
            </p14:nvContentPartPr>
            <p14:xfrm>
              <a:off x="4739760" y="3078720"/>
              <a:ext cx="5793840" cy="844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AC4D31-A041-4172-98E6-FB6C5CD30F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0400" y="3069360"/>
                <a:ext cx="5812560" cy="86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4322423-4BC3-AE47-B998-C75C4DD7F277}"/>
                  </a:ext>
                </a:extLst>
              </p14:cNvPr>
              <p14:cNvContentPartPr/>
              <p14:nvPr/>
            </p14:nvContentPartPr>
            <p14:xfrm>
              <a:off x="1724389" y="-716345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4322423-4BC3-AE47-B998-C75C4DD7F2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15389" y="-72498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D8C3B9B-031B-984B-B754-EDB4FA54216D}"/>
                  </a:ext>
                </a:extLst>
              </p14:cNvPr>
              <p14:cNvContentPartPr/>
              <p14:nvPr/>
            </p14:nvContentPartPr>
            <p14:xfrm>
              <a:off x="778309" y="3081655"/>
              <a:ext cx="1643040" cy="790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D8C3B9B-031B-984B-B754-EDB4FA54216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9309" y="3073015"/>
                <a:ext cx="1660680" cy="80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9214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Ứng dụng của A*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Trò chơi điện tử</a:t>
            </a:r>
          </a:p>
          <a:p>
            <a:pPr eaLnBrk="1" hangingPunct="1"/>
            <a:r>
              <a:rPr lang="vi-VN" noProof="0" dirty="0"/>
              <a:t>Bài toán tìm đường</a:t>
            </a:r>
          </a:p>
          <a:p>
            <a:pPr eaLnBrk="1" hangingPunct="1"/>
            <a:r>
              <a:rPr lang="vi-VN" noProof="0" dirty="0"/>
              <a:t>Bài toán phân bổ tài nguyên</a:t>
            </a:r>
          </a:p>
          <a:p>
            <a:pPr eaLnBrk="1" hangingPunct="1"/>
            <a:r>
              <a:rPr lang="vi-VN" noProof="0" dirty="0"/>
              <a:t>Lập kế hoạch di chuyển rô-bốt</a:t>
            </a:r>
          </a:p>
          <a:p>
            <a:pPr eaLnBrk="1" hangingPunct="1"/>
            <a:r>
              <a:rPr lang="vi-VN" noProof="0" dirty="0"/>
              <a:t>Phân tích ngôn ngữ</a:t>
            </a:r>
          </a:p>
          <a:p>
            <a:pPr eaLnBrk="1" hangingPunct="1"/>
            <a:r>
              <a:rPr lang="vi-VN" noProof="0" dirty="0"/>
              <a:t>Dịch máy</a:t>
            </a:r>
          </a:p>
          <a:p>
            <a:pPr eaLnBrk="1" hangingPunct="1"/>
            <a:r>
              <a:rPr lang="vi-VN" noProof="0" dirty="0"/>
              <a:t>Nhận dạng tiếng nói</a:t>
            </a:r>
          </a:p>
          <a:p>
            <a:pPr eaLnBrk="1" hangingPunct="1"/>
            <a:r>
              <a:rPr lang="vi-VN" noProof="0" dirty="0"/>
              <a:t>…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524000"/>
            <a:ext cx="5638800" cy="427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Xây dựng hàm kinh nghiệm chấp nhận được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1"/>
            <a:ext cx="11379200" cy="4546599"/>
          </a:xfrm>
        </p:spPr>
        <p:txBody>
          <a:bodyPr/>
          <a:lstStyle/>
          <a:p>
            <a:r>
              <a:rPr lang="vi-VN" sz="2800" noProof="0" dirty="0"/>
              <a:t>Áp dụng A* </a:t>
            </a:r>
            <a:r>
              <a:rPr lang="vi-VN" sz="2800" noProof="0" dirty="0">
                <a:sym typeface="Wingdings" pitchFamily="2" charset="2"/>
              </a:rPr>
              <a:t> </a:t>
            </a:r>
            <a:r>
              <a:rPr lang="vi-VN" sz="2800" dirty="0"/>
              <a:t>Xây dựng hàm kinh nghiệm chấp nhận được</a:t>
            </a:r>
            <a:endParaRPr lang="vi-VN" sz="2800" noProof="0" dirty="0"/>
          </a:p>
          <a:p>
            <a:pPr lvl="3"/>
            <a:endParaRPr lang="vi-VN" sz="1600" noProof="0" dirty="0"/>
          </a:p>
          <a:p>
            <a:r>
              <a:rPr lang="vi-VN" sz="2800" noProof="0" dirty="0"/>
              <a:t>Nói chung, </a:t>
            </a:r>
            <a:r>
              <a:rPr lang="vi-VN" sz="2800" dirty="0"/>
              <a:t>hàm kinh nghiệm chấp nhận được là </a:t>
            </a:r>
            <a:r>
              <a:rPr lang="en-US" sz="2800" dirty="0" err="1"/>
              <a:t>dạng</a:t>
            </a:r>
            <a:r>
              <a:rPr lang="en-US" sz="2800" dirty="0"/>
              <a:t> </a:t>
            </a:r>
            <a:r>
              <a:rPr lang="vi-VN" sz="2800" dirty="0"/>
              <a:t>bài toán nới lỏng ràng buộc (</a:t>
            </a:r>
            <a:r>
              <a:rPr lang="en-US" sz="2800" i="1" dirty="0">
                <a:solidFill>
                  <a:srgbClr val="C00000"/>
                </a:solidFill>
              </a:rPr>
              <a:t>relaxed-problem</a:t>
            </a:r>
            <a:r>
              <a:rPr lang="en-US" sz="2800" i="1" dirty="0"/>
              <a:t> – </a:t>
            </a:r>
            <a:r>
              <a:rPr lang="en-US" sz="2800" dirty="0" err="1"/>
              <a:t>ước</a:t>
            </a:r>
            <a:r>
              <a:rPr lang="en-US" sz="2800" dirty="0"/>
              <a:t> </a:t>
            </a:r>
            <a:r>
              <a:rPr lang="en-US" sz="2800" dirty="0" err="1"/>
              <a:t>lượng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 </a:t>
            </a:r>
            <a:r>
              <a:rPr lang="en-US" sz="2800" dirty="0" err="1"/>
              <a:t>mô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</a:t>
            </a:r>
            <a:r>
              <a:rPr lang="en-US" sz="2800" dirty="0" err="1"/>
              <a:t>đơn</a:t>
            </a:r>
            <a:r>
              <a:rPr lang="en-US" sz="2800" dirty="0"/>
              <a:t> </a:t>
            </a:r>
            <a:r>
              <a:rPr lang="en-US" sz="2800" dirty="0" err="1"/>
              <a:t>giản</a:t>
            </a:r>
            <a:r>
              <a:rPr lang="en-US" sz="2800" dirty="0"/>
              <a:t> </a:t>
            </a:r>
            <a:r>
              <a:rPr lang="en-US" sz="2800" dirty="0" err="1"/>
              <a:t>hơn</a:t>
            </a:r>
            <a:r>
              <a:rPr lang="en-US" sz="2800" dirty="0"/>
              <a:t>) </a:t>
            </a:r>
            <a:r>
              <a:rPr lang="en-US" sz="2800" dirty="0" err="1"/>
              <a:t>tìm</a:t>
            </a:r>
            <a:r>
              <a:rPr lang="en-US" sz="2800" dirty="0"/>
              <a:t> chi </a:t>
            </a:r>
            <a:r>
              <a:rPr lang="en-US" sz="2800" dirty="0" err="1"/>
              <a:t>phí</a:t>
            </a:r>
            <a:r>
              <a:rPr lang="en-US" sz="2800" dirty="0"/>
              <a:t> </a:t>
            </a:r>
            <a:r>
              <a:rPr lang="en-US" sz="2800" dirty="0" err="1"/>
              <a:t>thấp</a:t>
            </a:r>
            <a:r>
              <a:rPr lang="en-US" sz="2800" dirty="0"/>
              <a:t> </a:t>
            </a:r>
            <a:r>
              <a:rPr lang="en-US" sz="2800" dirty="0" err="1"/>
              <a:t>hơn</a:t>
            </a:r>
            <a:r>
              <a:rPr lang="en-US" sz="2800" dirty="0"/>
              <a:t>.</a:t>
            </a:r>
            <a:endParaRPr lang="vi-VN" sz="2800" i="1" noProof="0" dirty="0"/>
          </a:p>
          <a:p>
            <a:pPr lvl="2"/>
            <a:endParaRPr lang="vi-VN" sz="2000" i="1" noProof="0" dirty="0"/>
          </a:p>
          <a:p>
            <a:pPr eaLnBrk="1" hangingPunct="1"/>
            <a:endParaRPr lang="vi-VN" sz="2800" noProof="0" dirty="0"/>
          </a:p>
          <a:p>
            <a:pPr eaLnBrk="1" hangingPunct="1"/>
            <a:endParaRPr lang="vi-VN" sz="2800" noProof="0" dirty="0"/>
          </a:p>
          <a:p>
            <a:pPr eaLnBrk="1" hangingPunct="1"/>
            <a:endParaRPr lang="vi-VN" sz="2800" noProof="0" dirty="0"/>
          </a:p>
          <a:p>
            <a:pPr eaLnBrk="1" hangingPunct="1"/>
            <a:endParaRPr lang="vi-VN" sz="2800" noProof="0" dirty="0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553200" y="3919078"/>
            <a:ext cx="3657600" cy="1643522"/>
            <a:chOff x="5067016" y="4038600"/>
            <a:chExt cx="2663541" cy="1197700"/>
          </a:xfrm>
        </p:grpSpPr>
        <p:pic>
          <p:nvPicPr>
            <p:cNvPr id="22536" name="Picture 2" descr="Z:\Shared with PC\smallMaze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067016" y="4038600"/>
              <a:ext cx="2663541" cy="1197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2" name="Straight Arrow Connector 11"/>
            <p:cNvCxnSpPr/>
            <p:nvPr/>
          </p:nvCxnSpPr>
          <p:spPr bwMode="auto">
            <a:xfrm rot="10800000" flipV="1">
              <a:off x="5236861" y="4473838"/>
              <a:ext cx="1125417" cy="1906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538" name="TextBox 17"/>
            <p:cNvSpPr txBox="1">
              <a:spLocks noChangeArrowheads="1"/>
            </p:cNvSpPr>
            <p:nvPr/>
          </p:nvSpPr>
          <p:spPr bwMode="auto">
            <a:xfrm>
              <a:off x="5388658" y="4569096"/>
              <a:ext cx="399537" cy="381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Calibri"/>
                  <a:cs typeface="Calibri"/>
                </a:rPr>
                <a:t>15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 bwMode="auto">
            <a:xfrm rot="5400000">
              <a:off x="4931082" y="4797091"/>
              <a:ext cx="609969" cy="158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438400" y="3886200"/>
            <a:ext cx="2819399" cy="1786100"/>
            <a:chOff x="2743201" y="4111625"/>
            <a:chExt cx="2170113" cy="1374775"/>
          </a:xfrm>
        </p:grpSpPr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r="22440"/>
            <a:stretch>
              <a:fillRect/>
            </a:stretch>
          </p:blipFill>
          <p:spPr bwMode="auto">
            <a:xfrm>
              <a:off x="2743201" y="4111625"/>
              <a:ext cx="2170113" cy="137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7" name="Straight Connector 16"/>
            <p:cNvCxnSpPr/>
            <p:nvPr/>
          </p:nvCxnSpPr>
          <p:spPr>
            <a:xfrm>
              <a:off x="2895600" y="4492623"/>
              <a:ext cx="1295400" cy="6858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752600" y="4191000"/>
            <a:ext cx="9906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alibri"/>
                <a:cs typeface="Calibri"/>
              </a:rPr>
              <a:t>366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Ví dụ: Trò đẩy </a:t>
            </a:r>
            <a:r>
              <a:rPr lang="en-US" noProof="0" dirty="0"/>
              <a:t>ô </a:t>
            </a:r>
            <a:r>
              <a:rPr lang="en-US" noProof="0" dirty="0" err="1"/>
              <a:t>số</a:t>
            </a:r>
            <a:endParaRPr lang="vi-VN" noProof="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4495800"/>
            <a:ext cx="8382000" cy="16303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Trạng thái là gì ?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Có bao nhiêu trạng thái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Hành động là gì ?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Có bao nhiêu trạng thái đến được từ trạng thái bắt đầu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Chi phí là gì 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424733" y="838200"/>
            <a:ext cx="5338267" cy="4584642"/>
            <a:chOff x="6387246" y="1371600"/>
            <a:chExt cx="6033354" cy="5181600"/>
          </a:xfrm>
        </p:grpSpPr>
        <p:pic>
          <p:nvPicPr>
            <p:cNvPr id="1945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387246" y="1371600"/>
              <a:ext cx="5789731" cy="4838698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10515600" y="4724400"/>
              <a:ext cx="1905000" cy="182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4618" y="1220185"/>
            <a:ext cx="2969363" cy="254342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85800" y="373380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libri" pitchFamily="34" charset="0"/>
              </a:rPr>
              <a:t>Trạng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thái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bắt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đầu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15400" y="3733800"/>
            <a:ext cx="273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libri" pitchFamily="34" charset="0"/>
              </a:rPr>
              <a:t>Trạng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thái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mục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tiêu</a:t>
            </a:r>
            <a:endParaRPr lang="en-US" sz="2400" dirty="0">
              <a:latin typeface="Calibri" pitchFamily="34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8745" y="1219462"/>
            <a:ext cx="3044108" cy="2544875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6019800" y="373380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libri" pitchFamily="34" charset="0"/>
              </a:rPr>
              <a:t>Hành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động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Trò đẩy </a:t>
            </a:r>
            <a:r>
              <a:rPr lang="en-US" noProof="0" dirty="0"/>
              <a:t>ô </a:t>
            </a:r>
            <a:r>
              <a:rPr lang="en-US" noProof="0" dirty="0" err="1"/>
              <a:t>số</a:t>
            </a:r>
            <a:r>
              <a:rPr lang="vi-VN" noProof="0" dirty="0"/>
              <a:t> </a:t>
            </a:r>
            <a:r>
              <a:rPr lang="en-US" noProof="0" dirty="0"/>
              <a:t>(</a:t>
            </a:r>
            <a:r>
              <a:rPr lang="en-US" dirty="0"/>
              <a:t>1</a:t>
            </a:r>
            <a:r>
              <a:rPr lang="en-US" noProof="0" dirty="0"/>
              <a:t>)</a:t>
            </a:r>
            <a:endParaRPr lang="vi-VN" noProof="0" dirty="0"/>
          </a:p>
        </p:txBody>
      </p:sp>
      <p:sp>
        <p:nvSpPr>
          <p:cNvPr id="8192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6324600" cy="4525963"/>
          </a:xfrm>
        </p:spPr>
        <p:txBody>
          <a:bodyPr/>
          <a:lstStyle/>
          <a:p>
            <a:pPr eaLnBrk="1" hangingPunct="1"/>
            <a:r>
              <a:rPr lang="vi-VN" sz="2800" noProof="0" dirty="0"/>
              <a:t>Kinh nghiệm: Số ô sai vị trí</a:t>
            </a:r>
          </a:p>
          <a:p>
            <a:pPr eaLnBrk="1" hangingPunct="1"/>
            <a:r>
              <a:rPr lang="vi-VN" sz="2800" noProof="0" dirty="0">
                <a:solidFill>
                  <a:srgbClr val="FF0000"/>
                </a:solidFill>
              </a:rPr>
              <a:t>Tại sao là hàm chấp nhận được ?</a:t>
            </a:r>
          </a:p>
          <a:p>
            <a:pPr eaLnBrk="1" hangingPunct="1"/>
            <a:r>
              <a:rPr lang="vi-VN" sz="2800" noProof="0" dirty="0"/>
              <a:t>h(S) =</a:t>
            </a:r>
          </a:p>
          <a:p>
            <a:pPr eaLnBrk="1" hangingPunct="1"/>
            <a:r>
              <a:rPr lang="vi-VN" sz="2800" i="1" noProof="0" dirty="0"/>
              <a:t>Bài toán nới lỏng </a:t>
            </a:r>
            <a:r>
              <a:rPr lang="vi-VN" sz="2800" noProof="0" dirty="0"/>
              <a:t>là gì ?</a:t>
            </a:r>
          </a:p>
        </p:txBody>
      </p:sp>
      <p:sp>
        <p:nvSpPr>
          <p:cNvPr id="819206" name="Text Box 6"/>
          <p:cNvSpPr txBox="1">
            <a:spLocks noChangeArrowheads="1"/>
          </p:cNvSpPr>
          <p:nvPr/>
        </p:nvSpPr>
        <p:spPr bwMode="auto">
          <a:xfrm>
            <a:off x="1608162" y="2286000"/>
            <a:ext cx="990600" cy="584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chemeClr val="accent2"/>
                </a:solidFill>
                <a:latin typeface="Calibri" pitchFamily="34" charset="0"/>
              </a:rPr>
              <a:t>8</a:t>
            </a:r>
          </a:p>
        </p:txBody>
      </p:sp>
      <p:graphicFrame>
        <p:nvGraphicFramePr>
          <p:cNvPr id="819294" name="Group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628157"/>
              </p:ext>
            </p:extLst>
          </p:nvPr>
        </p:nvGraphicFramePr>
        <p:xfrm>
          <a:off x="6400800" y="3886200"/>
          <a:ext cx="5029200" cy="257778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Số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nút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được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mở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rộng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trung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bình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khi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mục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tiêu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tối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ưu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ở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4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8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12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UCS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6,300</a:t>
                      </a:r>
                      <a:endParaRPr kumimoji="0" lang="en-US" sz="24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3.6 x 10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TILES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227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890" y="3489471"/>
            <a:ext cx="5510086" cy="3138194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6324601" y="1219414"/>
            <a:ext cx="5333998" cy="2533496"/>
            <a:chOff x="533401" y="1219446"/>
            <a:chExt cx="6113461" cy="2903718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3401" y="1219446"/>
              <a:ext cx="6113461" cy="2544905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620735" y="3639596"/>
              <a:ext cx="2620056" cy="458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>
                  <a:latin typeface="Calibri" pitchFamily="34" charset="0"/>
                </a:rPr>
                <a:t>Trạng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thái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bắt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đầu</a:t>
              </a:r>
              <a:endParaRPr lang="en-US" sz="2000" dirty="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52137" y="3664585"/>
              <a:ext cx="2505211" cy="458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>
                  <a:latin typeface="Calibri" pitchFamily="34" charset="0"/>
                </a:rPr>
                <a:t>Trạng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thái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mục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tiêu</a:t>
              </a:r>
              <a:endParaRPr lang="en-US" sz="2000" dirty="0">
                <a:latin typeface="Calibri" pitchFamily="34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9067800" y="65532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libri" pitchFamily="34" charset="0"/>
              </a:rPr>
              <a:t>Statistics from Andrew Moore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Trò đẩy </a:t>
            </a:r>
            <a:r>
              <a:rPr lang="en-US" noProof="0" dirty="0"/>
              <a:t>ô </a:t>
            </a:r>
            <a:r>
              <a:rPr lang="en-US" noProof="0" dirty="0" err="1"/>
              <a:t>số</a:t>
            </a:r>
            <a:r>
              <a:rPr lang="vi-VN" noProof="0" dirty="0"/>
              <a:t> </a:t>
            </a:r>
            <a:r>
              <a:rPr lang="en-US" dirty="0"/>
              <a:t>(2)</a:t>
            </a:r>
            <a:endParaRPr lang="vi-VN" noProof="0" dirty="0"/>
          </a:p>
        </p:txBody>
      </p:sp>
      <p:sp>
        <p:nvSpPr>
          <p:cNvPr id="813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58674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Nếu ta có thể di chuyển từng ô theo mọi hướng, vượt qua mọi ô khác?</a:t>
            </a:r>
          </a:p>
          <a:p>
            <a:pPr eaLnBrk="1" hangingPunct="1">
              <a:lnSpc>
                <a:spcPct val="90000"/>
              </a:lnSpc>
            </a:pPr>
            <a:endParaRPr lang="vi-VN" sz="24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>
                <a:solidFill>
                  <a:srgbClr val="FF0000"/>
                </a:solidFill>
              </a:rPr>
              <a:t>Tổng khoảng cách </a:t>
            </a:r>
            <a:r>
              <a:rPr lang="vi-VN" sz="2400" i="1" noProof="0" dirty="0">
                <a:solidFill>
                  <a:srgbClr val="FF0000"/>
                </a:solidFill>
              </a:rPr>
              <a:t>Manhattan</a:t>
            </a:r>
            <a:endParaRPr lang="vi-VN" sz="2400" noProof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vi-VN" sz="24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Tại sao là hàm chấp nhận được?</a:t>
            </a:r>
          </a:p>
          <a:p>
            <a:pPr eaLnBrk="1" hangingPunct="1">
              <a:lnSpc>
                <a:spcPct val="90000"/>
              </a:lnSpc>
            </a:pPr>
            <a:endParaRPr lang="vi-VN" sz="24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h(S) =</a:t>
            </a:r>
          </a:p>
          <a:p>
            <a:pPr eaLnBrk="1" hangingPunct="1">
              <a:lnSpc>
                <a:spcPct val="90000"/>
              </a:lnSpc>
            </a:pPr>
            <a:endParaRPr lang="vi-VN" sz="2400" noProof="0" dirty="0"/>
          </a:p>
        </p:txBody>
      </p:sp>
      <p:sp>
        <p:nvSpPr>
          <p:cNvPr id="813061" name="Text Box 5"/>
          <p:cNvSpPr txBox="1">
            <a:spLocks noChangeArrowheads="1"/>
          </p:cNvSpPr>
          <p:nvPr/>
        </p:nvSpPr>
        <p:spPr bwMode="auto">
          <a:xfrm>
            <a:off x="1676400" y="4267200"/>
            <a:ext cx="4800600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3 + 1 + 2 + … = 18</a:t>
            </a:r>
          </a:p>
        </p:txBody>
      </p:sp>
      <p:graphicFrame>
        <p:nvGraphicFramePr>
          <p:cNvPr id="813133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30584"/>
              </p:ext>
            </p:extLst>
          </p:nvPr>
        </p:nvGraphicFramePr>
        <p:xfrm>
          <a:off x="5791200" y="3886200"/>
          <a:ext cx="5891629" cy="2602992"/>
        </p:xfrm>
        <a:graphic>
          <a:graphicData uri="http://schemas.openxmlformats.org/drawingml/2006/table">
            <a:tbl>
              <a:tblPr/>
              <a:tblGrid>
                <a:gridCol w="18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Số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nút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được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mở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rộng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trung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bình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khi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mục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tiêu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tối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ưu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ở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4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8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12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TILES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227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MANHATTAN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73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6324601" y="1219414"/>
            <a:ext cx="5333998" cy="2536188"/>
            <a:chOff x="533401" y="1219446"/>
            <a:chExt cx="6113461" cy="2906804"/>
          </a:xfrm>
        </p:grpSpPr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3401" y="1219446"/>
              <a:ext cx="6113461" cy="2544905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1259591" y="3639596"/>
              <a:ext cx="1981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alibri" pitchFamily="34" charset="0"/>
                </a:rPr>
                <a:t>Start State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76148" y="3664585"/>
              <a:ext cx="1981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alibri" pitchFamily="34" charset="0"/>
                </a:rPr>
                <a:t>Goal State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Trò đẩy </a:t>
            </a:r>
            <a:r>
              <a:rPr lang="en-US" noProof="0" dirty="0"/>
              <a:t>ô </a:t>
            </a:r>
            <a:r>
              <a:rPr lang="en-US" noProof="0" dirty="0" err="1"/>
              <a:t>số</a:t>
            </a:r>
            <a:r>
              <a:rPr lang="vi-VN" noProof="0" dirty="0"/>
              <a:t> </a:t>
            </a:r>
            <a:r>
              <a:rPr lang="en-US" dirty="0"/>
              <a:t>(3)</a:t>
            </a:r>
            <a:endParaRPr lang="vi-VN" noProof="0" dirty="0"/>
          </a:p>
        </p:txBody>
      </p:sp>
      <p:sp>
        <p:nvSpPr>
          <p:cNvPr id="817155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1"/>
            <a:ext cx="11099800" cy="4729164"/>
          </a:xfrm>
        </p:spPr>
        <p:txBody>
          <a:bodyPr/>
          <a:lstStyle/>
          <a:p>
            <a:pPr eaLnBrk="1" hangingPunct="1"/>
            <a:r>
              <a:rPr lang="vi-VN" sz="2800" noProof="0" dirty="0"/>
              <a:t>Tại sao không dùng chi phí thật làm hàm kinh nghiệm ?</a:t>
            </a:r>
          </a:p>
          <a:p>
            <a:pPr lvl="1" eaLnBrk="1" hangingPunct="1"/>
            <a:r>
              <a:rPr lang="vi-VN" sz="2400" noProof="0" dirty="0"/>
              <a:t>Có chấp nhận được không?</a:t>
            </a:r>
          </a:p>
          <a:p>
            <a:pPr lvl="1" eaLnBrk="1" hangingPunct="1"/>
            <a:r>
              <a:rPr lang="vi-VN" sz="2400" noProof="0" dirty="0"/>
              <a:t>Có giảm được số nút cần mở rộng?</a:t>
            </a:r>
          </a:p>
          <a:p>
            <a:pPr lvl="1" eaLnBrk="1" hangingPunct="1"/>
            <a:r>
              <a:rPr lang="vi-VN" sz="2400" noProof="0" dirty="0"/>
              <a:t>Có vấn đề gì với hàm này?</a:t>
            </a:r>
          </a:p>
          <a:p>
            <a:pPr eaLnBrk="1" hangingPunct="1"/>
            <a:endParaRPr lang="vi-VN" sz="2800" noProof="0" dirty="0"/>
          </a:p>
          <a:p>
            <a:pPr marL="0" indent="0" eaLnBrk="1" hangingPunct="1">
              <a:buNone/>
            </a:pPr>
            <a:endParaRPr lang="vi-VN" sz="1800" noProof="0" dirty="0"/>
          </a:p>
          <a:p>
            <a:pPr eaLnBrk="1" hangingPunct="1"/>
            <a:r>
              <a:rPr lang="vi-VN" sz="2800" dirty="0"/>
              <a:t>Bản chất </a:t>
            </a:r>
            <a:r>
              <a:rPr lang="vi-VN" sz="2800" noProof="0" dirty="0"/>
              <a:t>A*: sự đánh đổi giữa khối lượng tính toán và chất lượng của ước lượng</a:t>
            </a:r>
          </a:p>
          <a:p>
            <a:pPr lvl="1"/>
            <a:r>
              <a:rPr lang="vi-VN" sz="2400" noProof="0" dirty="0"/>
              <a:t>Khi hàm kinh nghiệm gần với chi phí thật: phải mở rộng ít nút hơn nhưng phải tính toán nhiều hơn tại mỗi nút</a:t>
            </a:r>
            <a:r>
              <a:rPr lang="en-US" sz="2400" noProof="0" dirty="0"/>
              <a:t>.</a:t>
            </a:r>
          </a:p>
          <a:p>
            <a:pPr lvl="1"/>
            <a:r>
              <a:rPr lang="en-US" sz="2400" dirty="0"/>
              <a:t>Khi </a:t>
            </a:r>
            <a:r>
              <a:rPr lang="en-US" sz="2400" dirty="0" err="1"/>
              <a:t>hàm</a:t>
            </a:r>
            <a:r>
              <a:rPr lang="en-US" sz="2400" dirty="0"/>
              <a:t> </a:t>
            </a:r>
            <a:r>
              <a:rPr lang="en-US" sz="2400" dirty="0" err="1"/>
              <a:t>kinh</a:t>
            </a:r>
            <a:r>
              <a:rPr lang="en-US" sz="2400" dirty="0"/>
              <a:t> </a:t>
            </a:r>
            <a:r>
              <a:rPr lang="en-US" sz="2400" dirty="0" err="1"/>
              <a:t>nghiệm</a:t>
            </a:r>
            <a:r>
              <a:rPr lang="en-US" sz="2400" dirty="0"/>
              <a:t> </a:t>
            </a:r>
            <a:r>
              <a:rPr lang="en-US" sz="2400" dirty="0" err="1"/>
              <a:t>xa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</a:t>
            </a:r>
            <a:r>
              <a:rPr lang="en-US" sz="2400" dirty="0" err="1"/>
              <a:t>thật</a:t>
            </a:r>
            <a:r>
              <a:rPr lang="en-US" sz="2400" dirty="0"/>
              <a:t>?</a:t>
            </a:r>
            <a:endParaRPr lang="vi-VN" sz="2400" noProof="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1138" y="1880138"/>
            <a:ext cx="5021261" cy="1929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Tìm kiếm trên đồ thị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0" y="1600552"/>
            <a:ext cx="9932986" cy="44093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295400"/>
            <a:ext cx="11379200" cy="4729164"/>
          </a:xfrm>
        </p:spPr>
        <p:txBody>
          <a:bodyPr/>
          <a:lstStyle/>
          <a:p>
            <a:pPr eaLnBrk="1" hangingPunct="1"/>
            <a:r>
              <a:rPr lang="vi-VN" sz="2800" noProof="0" dirty="0"/>
              <a:t>Không phát hiện được các trạng thái gây bùng nổ về số nút cần mở rộng.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41711"/>
            <a:ext cx="4889500" cy="3880103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936947" y="2035612"/>
            <a:ext cx="3886200" cy="3886200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184898" y="2198192"/>
            <a:ext cx="48768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 err="1">
                <a:latin typeface="Calibri" pitchFamily="34" charset="0"/>
              </a:rPr>
              <a:t>Cây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tìm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kiếm</a:t>
            </a:r>
            <a:endParaRPr lang="en-US" sz="2800" dirty="0">
              <a:latin typeface="Calibri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5547" y="2121992"/>
            <a:ext cx="3429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 err="1">
                <a:latin typeface="Calibri" pitchFamily="34" charset="0"/>
              </a:rPr>
              <a:t>Đồ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thị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trạng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thái</a:t>
            </a:r>
            <a:endParaRPr lang="en-US" sz="2800" dirty="0">
              <a:latin typeface="Calibri" pitchFamily="34" charset="0"/>
            </a:endParaRP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Tìm kiếm trên cây: Cấu trúc lặp lại!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0" t="2840" r="64740" b="2208"/>
          <a:stretch>
            <a:fillRect/>
          </a:stretch>
        </p:blipFill>
        <p:spPr bwMode="auto">
          <a:xfrm>
            <a:off x="1371600" y="2514600"/>
            <a:ext cx="3048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165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8026" t="5048" r="2599" b="15457"/>
          <a:stretch>
            <a:fillRect/>
          </a:stretch>
        </p:blipFill>
        <p:spPr bwMode="auto">
          <a:xfrm>
            <a:off x="6477000" y="2819400"/>
            <a:ext cx="4343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Tìm kiếm trên đồ thị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sz="2600" noProof="0" dirty="0">
                <a:latin typeface="Calibri"/>
                <a:cs typeface="Calibri"/>
              </a:rPr>
              <a:t>Trong BFS, không cần phải mở rộng các nút được khoanh tròn (tại sao?)</a:t>
            </a:r>
          </a:p>
        </p:txBody>
      </p:sp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3352800" y="2435610"/>
            <a:ext cx="5486400" cy="3355590"/>
            <a:chOff x="48" y="2332"/>
            <a:chExt cx="3456" cy="2406"/>
          </a:xfrm>
        </p:grpSpPr>
        <p:sp>
          <p:nvSpPr>
            <p:cNvPr id="30729" name="Text Box 5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30730" name="Text Box 6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30731" name="Text Box 7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b</a:t>
              </a:r>
            </a:p>
          </p:txBody>
        </p:sp>
        <p:sp>
          <p:nvSpPr>
            <p:cNvPr id="30732" name="Text Box 8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d</a:t>
              </a:r>
            </a:p>
          </p:txBody>
        </p:sp>
        <p:sp>
          <p:nvSpPr>
            <p:cNvPr id="30733" name="Text Box 9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p</a:t>
              </a:r>
            </a:p>
          </p:txBody>
        </p:sp>
        <p:sp>
          <p:nvSpPr>
            <p:cNvPr id="30734" name="Text Box 10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30735" name="Text Box 11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c</a:t>
              </a:r>
            </a:p>
          </p:txBody>
        </p:sp>
        <p:cxnSp>
          <p:nvCxnSpPr>
            <p:cNvPr id="30736" name="AutoShape 12"/>
            <p:cNvCxnSpPr>
              <a:cxnSpLocks noChangeShapeType="1"/>
              <a:stCxn id="30732" idx="2"/>
              <a:endCxn id="30731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7" name="AutoShape 13"/>
            <p:cNvCxnSpPr>
              <a:cxnSpLocks noChangeShapeType="1"/>
              <a:stCxn id="30732" idx="2"/>
              <a:endCxn id="30735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8" name="AutoShape 14"/>
            <p:cNvCxnSpPr>
              <a:cxnSpLocks noChangeShapeType="1"/>
              <a:stCxn id="30731" idx="2"/>
              <a:endCxn id="30730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9" name="AutoShape 15"/>
            <p:cNvCxnSpPr>
              <a:cxnSpLocks noChangeShapeType="1"/>
              <a:stCxn id="30735" idx="2"/>
              <a:endCxn id="30734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30740" name="Group 16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30767" name="Text Box 17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30768" name="Text Box 18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p</a:t>
                </a:r>
              </a:p>
            </p:txBody>
          </p:sp>
          <p:sp>
            <p:nvSpPr>
              <p:cNvPr id="30769" name="Text Box 19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h</a:t>
                </a:r>
              </a:p>
            </p:txBody>
          </p:sp>
          <p:sp>
            <p:nvSpPr>
              <p:cNvPr id="30770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f</a:t>
                </a:r>
              </a:p>
            </p:txBody>
          </p:sp>
          <p:sp>
            <p:nvSpPr>
              <p:cNvPr id="30771" name="Text Box 21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r</a:t>
                </a:r>
              </a:p>
            </p:txBody>
          </p:sp>
          <p:sp>
            <p:nvSpPr>
              <p:cNvPr id="30772" name="Text Box 22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q</a:t>
                </a:r>
              </a:p>
            </p:txBody>
          </p:sp>
          <p:sp>
            <p:nvSpPr>
              <p:cNvPr id="30773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q</a:t>
                </a:r>
              </a:p>
            </p:txBody>
          </p:sp>
          <p:sp>
            <p:nvSpPr>
              <p:cNvPr id="30774" name="Text Box 24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c</a:t>
                </a:r>
              </a:p>
            </p:txBody>
          </p:sp>
          <p:sp>
            <p:nvSpPr>
              <p:cNvPr id="30775" name="Text Box 25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>
                    <a:latin typeface="Calibri"/>
                    <a:cs typeface="Calibri"/>
                  </a:rPr>
                  <a:t>G</a:t>
                </a:r>
              </a:p>
            </p:txBody>
          </p:sp>
          <p:sp>
            <p:nvSpPr>
              <p:cNvPr id="30776" name="Text Box 26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a</a:t>
                </a:r>
              </a:p>
            </p:txBody>
          </p:sp>
          <p:cxnSp>
            <p:nvCxnSpPr>
              <p:cNvPr id="30777" name="AutoShape 27"/>
              <p:cNvCxnSpPr>
                <a:cxnSpLocks noChangeShapeType="1"/>
                <a:stCxn id="30767" idx="2"/>
                <a:endCxn id="30769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78" name="AutoShape 28"/>
              <p:cNvCxnSpPr>
                <a:cxnSpLocks noChangeShapeType="1"/>
                <a:stCxn id="30767" idx="2"/>
                <a:endCxn id="30771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79" name="AutoShape 29"/>
              <p:cNvCxnSpPr>
                <a:cxnSpLocks noChangeShapeType="1"/>
                <a:stCxn id="30769" idx="2"/>
                <a:endCxn id="30768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0" name="AutoShape 30"/>
              <p:cNvCxnSpPr>
                <a:cxnSpLocks noChangeShapeType="1"/>
                <a:stCxn id="30769" idx="2"/>
                <a:endCxn id="30772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1" name="AutoShape 31"/>
              <p:cNvCxnSpPr>
                <a:cxnSpLocks noChangeShapeType="1"/>
                <a:stCxn id="30771" idx="2"/>
                <a:endCxn id="30770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2" name="AutoShape 32"/>
              <p:cNvCxnSpPr>
                <a:cxnSpLocks noChangeShapeType="1"/>
                <a:stCxn id="30768" idx="2"/>
                <a:endCxn id="30773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3" name="AutoShape 33"/>
              <p:cNvCxnSpPr>
                <a:cxnSpLocks noChangeShapeType="1"/>
                <a:stCxn id="30770" idx="2"/>
                <a:endCxn id="30774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4" name="AutoShape 34"/>
              <p:cNvCxnSpPr>
                <a:cxnSpLocks noChangeShapeType="1"/>
                <a:stCxn id="30770" idx="2"/>
                <a:endCxn id="30775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5" name="AutoShape 35"/>
              <p:cNvCxnSpPr>
                <a:cxnSpLocks noChangeShapeType="1"/>
                <a:stCxn id="30774" idx="2"/>
                <a:endCxn id="30776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30741" name="Text Box 36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q</a:t>
              </a:r>
            </a:p>
          </p:txBody>
        </p:sp>
        <p:cxnSp>
          <p:nvCxnSpPr>
            <p:cNvPr id="30742" name="AutoShape 37"/>
            <p:cNvCxnSpPr>
              <a:cxnSpLocks noChangeShapeType="1"/>
              <a:stCxn id="30733" idx="2"/>
              <a:endCxn id="30741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30743" name="Group 38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30748" name="Text Box 39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30749" name="Text Box 40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p</a:t>
                </a:r>
              </a:p>
            </p:txBody>
          </p:sp>
          <p:sp>
            <p:nvSpPr>
              <p:cNvPr id="30750" name="Text Box 41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h</a:t>
                </a:r>
              </a:p>
            </p:txBody>
          </p:sp>
          <p:sp>
            <p:nvSpPr>
              <p:cNvPr id="30751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f</a:t>
                </a:r>
              </a:p>
            </p:txBody>
          </p:sp>
          <p:sp>
            <p:nvSpPr>
              <p:cNvPr id="30752" name="Text Box 43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r</a:t>
                </a:r>
              </a:p>
            </p:txBody>
          </p:sp>
          <p:sp>
            <p:nvSpPr>
              <p:cNvPr id="30753" name="Text Box 44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q</a:t>
                </a:r>
              </a:p>
            </p:txBody>
          </p:sp>
          <p:sp>
            <p:nvSpPr>
              <p:cNvPr id="30754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q</a:t>
                </a:r>
              </a:p>
            </p:txBody>
          </p:sp>
          <p:sp>
            <p:nvSpPr>
              <p:cNvPr id="30755" name="Text Box 46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c</a:t>
                </a:r>
              </a:p>
            </p:txBody>
          </p:sp>
          <p:sp>
            <p:nvSpPr>
              <p:cNvPr id="30756" name="Text Box 47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i="1" dirty="0">
                    <a:latin typeface="Calibri"/>
                    <a:cs typeface="Calibri"/>
                  </a:rPr>
                  <a:t>G</a:t>
                </a:r>
              </a:p>
            </p:txBody>
          </p:sp>
          <p:sp>
            <p:nvSpPr>
              <p:cNvPr id="30757" name="Text Box 48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a</a:t>
                </a:r>
              </a:p>
            </p:txBody>
          </p:sp>
          <p:cxnSp>
            <p:nvCxnSpPr>
              <p:cNvPr id="30758" name="AutoShape 49"/>
              <p:cNvCxnSpPr>
                <a:cxnSpLocks noChangeShapeType="1"/>
                <a:stCxn id="30748" idx="2"/>
                <a:endCxn id="30750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59" name="AutoShape 50"/>
              <p:cNvCxnSpPr>
                <a:cxnSpLocks noChangeShapeType="1"/>
                <a:stCxn id="30748" idx="2"/>
                <a:endCxn id="30752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0" name="AutoShape 51"/>
              <p:cNvCxnSpPr>
                <a:cxnSpLocks noChangeShapeType="1"/>
                <a:stCxn id="30750" idx="2"/>
                <a:endCxn id="30749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1" name="AutoShape 52"/>
              <p:cNvCxnSpPr>
                <a:cxnSpLocks noChangeShapeType="1"/>
                <a:stCxn id="30750" idx="2"/>
                <a:endCxn id="30753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2" name="AutoShape 53"/>
              <p:cNvCxnSpPr>
                <a:cxnSpLocks noChangeShapeType="1"/>
                <a:stCxn id="30752" idx="2"/>
                <a:endCxn id="30751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3" name="AutoShape 54"/>
              <p:cNvCxnSpPr>
                <a:cxnSpLocks noChangeShapeType="1"/>
                <a:stCxn id="30749" idx="2"/>
                <a:endCxn id="30754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4" name="AutoShape 55"/>
              <p:cNvCxnSpPr>
                <a:cxnSpLocks noChangeShapeType="1"/>
                <a:stCxn id="30751" idx="2"/>
                <a:endCxn id="30755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5" name="AutoShape 56"/>
              <p:cNvCxnSpPr>
                <a:cxnSpLocks noChangeShapeType="1"/>
                <a:stCxn id="30751" idx="2"/>
                <a:endCxn id="30756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6" name="AutoShape 57"/>
              <p:cNvCxnSpPr>
                <a:cxnSpLocks noChangeShapeType="1"/>
                <a:stCxn id="30755" idx="2"/>
                <a:endCxn id="30757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30744" name="AutoShape 58"/>
            <p:cNvCxnSpPr>
              <a:cxnSpLocks noChangeShapeType="1"/>
              <a:stCxn id="30732" idx="2"/>
              <a:endCxn id="30748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45" name="AutoShape 59"/>
            <p:cNvCxnSpPr>
              <a:cxnSpLocks noChangeShapeType="1"/>
              <a:stCxn id="30729" idx="2"/>
              <a:endCxn id="30732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46" name="AutoShape 60"/>
            <p:cNvCxnSpPr>
              <a:cxnSpLocks noChangeShapeType="1"/>
              <a:stCxn id="30729" idx="2"/>
              <a:endCxn id="30767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47" name="AutoShape 61"/>
            <p:cNvCxnSpPr>
              <a:cxnSpLocks noChangeShapeType="1"/>
              <a:stCxn id="30729" idx="2"/>
              <a:endCxn id="30733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861246" name="Oval 62"/>
          <p:cNvSpPr>
            <a:spLocks noChangeArrowheads="1"/>
          </p:cNvSpPr>
          <p:nvPr/>
        </p:nvSpPr>
        <p:spPr bwMode="auto">
          <a:xfrm>
            <a:off x="4892676" y="3407161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861247" name="Oval 63"/>
          <p:cNvSpPr>
            <a:spLocks noChangeArrowheads="1"/>
          </p:cNvSpPr>
          <p:nvPr/>
        </p:nvSpPr>
        <p:spPr bwMode="auto">
          <a:xfrm>
            <a:off x="6122989" y="3959610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861248" name="Oval 64"/>
          <p:cNvSpPr>
            <a:spLocks noChangeArrowheads="1"/>
          </p:cNvSpPr>
          <p:nvPr/>
        </p:nvSpPr>
        <p:spPr bwMode="auto">
          <a:xfrm>
            <a:off x="4054476" y="3940561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861249" name="Oval 65"/>
          <p:cNvSpPr>
            <a:spLocks noChangeArrowheads="1"/>
          </p:cNvSpPr>
          <p:nvPr/>
        </p:nvSpPr>
        <p:spPr bwMode="auto">
          <a:xfrm>
            <a:off x="6564314" y="3956435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Tìm kiếm trên đồ thị</a:t>
            </a:r>
            <a:endParaRPr lang="vi-VN" noProof="0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371600"/>
            <a:ext cx="8610600" cy="4722812"/>
          </a:xfrm>
        </p:spPr>
        <p:txBody>
          <a:bodyPr/>
          <a:lstStyle/>
          <a:p>
            <a:pPr eaLnBrk="1" hangingPunct="1"/>
            <a:r>
              <a:rPr lang="vi-VN" sz="2800" noProof="0" dirty="0"/>
              <a:t>Ý tưởng: Không mở rộng một trạng thái </a:t>
            </a:r>
            <a:r>
              <a:rPr lang="vi-VN" sz="2800" noProof="0" dirty="0">
                <a:solidFill>
                  <a:srgbClr val="FF0000"/>
                </a:solidFill>
              </a:rPr>
              <a:t>2 lần</a:t>
            </a:r>
          </a:p>
          <a:p>
            <a:pPr eaLnBrk="1" hangingPunct="1"/>
            <a:r>
              <a:rPr lang="vi-VN" sz="2800" noProof="0" dirty="0"/>
              <a:t>Cài đặt: </a:t>
            </a:r>
          </a:p>
          <a:p>
            <a:pPr lvl="1" eaLnBrk="1" hangingPunct="1"/>
            <a:r>
              <a:rPr lang="vi-VN" sz="2400" noProof="0" dirty="0"/>
              <a:t>Tìm kiếm trên cây + lưu trữ các nút đã mở rộng (“tập đóng”)</a:t>
            </a:r>
          </a:p>
          <a:p>
            <a:pPr lvl="1" eaLnBrk="1" hangingPunct="1"/>
            <a:r>
              <a:rPr lang="vi-VN" sz="2400" noProof="0" dirty="0"/>
              <a:t>Mở rộng cây tìm kiếm theo từng nút, nhưng …</a:t>
            </a:r>
          </a:p>
          <a:p>
            <a:pPr lvl="1" eaLnBrk="1" hangingPunct="1"/>
            <a:r>
              <a:rPr lang="vi-VN" sz="2400" noProof="0" dirty="0"/>
              <a:t>Trước khi mở rộng mỗi nút, kiểm tra nút đó đã được mở rộng chưa</a:t>
            </a:r>
          </a:p>
          <a:p>
            <a:pPr lvl="1" eaLnBrk="1" hangingPunct="1"/>
            <a:r>
              <a:rPr lang="vi-VN" sz="2400" noProof="0" dirty="0"/>
              <a:t>Nếu nút đã mở rộng, bỏ qua, ngược lại, đưa nút đó vào tập đóng</a:t>
            </a:r>
            <a:endParaRPr lang="vi-VN" noProof="0" dirty="0"/>
          </a:p>
          <a:p>
            <a:pPr eaLnBrk="1" hangingPunct="1"/>
            <a:r>
              <a:rPr lang="vi-VN" sz="2800" noProof="0" dirty="0"/>
              <a:t>Tìm kiếm trên đồ thị có đầy đủ?</a:t>
            </a:r>
          </a:p>
          <a:p>
            <a:pPr eaLnBrk="1" hangingPunct="1"/>
            <a:r>
              <a:rPr lang="vi-VN" sz="2800" noProof="0" dirty="0"/>
              <a:t>Có tối ưu?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Trường hợp </a:t>
            </a:r>
            <a:r>
              <a:rPr lang="en-US" noProof="0" dirty="0" err="1">
                <a:latin typeface="Calibri"/>
                <a:cs typeface="Calibri"/>
              </a:rPr>
              <a:t>không</a:t>
            </a:r>
            <a:r>
              <a:rPr lang="en-US" noProof="0" dirty="0">
                <a:latin typeface="Calibri"/>
                <a:cs typeface="Calibri"/>
              </a:rPr>
              <a:t> </a:t>
            </a:r>
            <a:r>
              <a:rPr lang="en-US" noProof="0" dirty="0" err="1">
                <a:latin typeface="Calibri"/>
                <a:cs typeface="Calibri"/>
              </a:rPr>
              <a:t>tối</a:t>
            </a:r>
            <a:r>
              <a:rPr lang="en-US" noProof="0" dirty="0">
                <a:latin typeface="Calibri"/>
                <a:cs typeface="Calibri"/>
              </a:rPr>
              <a:t> </a:t>
            </a:r>
            <a:r>
              <a:rPr lang="en-US" noProof="0" dirty="0" err="1">
                <a:latin typeface="Calibri"/>
                <a:cs typeface="Calibri"/>
              </a:rPr>
              <a:t>ưu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363498" y="2819400"/>
            <a:ext cx="762000" cy="7620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4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19" name="Oval 18"/>
          <p:cNvSpPr/>
          <p:nvPr/>
        </p:nvSpPr>
        <p:spPr>
          <a:xfrm>
            <a:off x="3116098" y="2133600"/>
            <a:ext cx="762000" cy="7620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400" dirty="0">
                <a:latin typeface="Calibri"/>
                <a:cs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2506498" y="4191000"/>
            <a:ext cx="762000" cy="7620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400" dirty="0">
                <a:latin typeface="Calibri"/>
                <a:cs typeface="Calibri"/>
              </a:rPr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4792498" y="2895600"/>
            <a:ext cx="762000" cy="7620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400" dirty="0">
                <a:latin typeface="Calibri"/>
                <a:cs typeface="Calibri"/>
              </a:rPr>
              <a:t>C</a:t>
            </a:r>
          </a:p>
        </p:txBody>
      </p:sp>
      <p:sp>
        <p:nvSpPr>
          <p:cNvPr id="22" name="Oval 21"/>
          <p:cNvSpPr/>
          <p:nvPr/>
        </p:nvSpPr>
        <p:spPr>
          <a:xfrm>
            <a:off x="4792498" y="5105400"/>
            <a:ext cx="762000" cy="7620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400" b="1" dirty="0">
                <a:latin typeface="Calibri"/>
                <a:cs typeface="Calibri"/>
              </a:rPr>
              <a:t>G</a:t>
            </a:r>
          </a:p>
        </p:txBody>
      </p:sp>
      <p:cxnSp>
        <p:nvCxnSpPr>
          <p:cNvPr id="24" name="Straight Arrow Connector 23"/>
          <p:cNvCxnSpPr>
            <a:stCxn id="18" idx="7"/>
            <a:endCxn id="19" idx="2"/>
          </p:cNvCxnSpPr>
          <p:nvPr/>
        </p:nvCxnSpPr>
        <p:spPr>
          <a:xfrm flipV="1">
            <a:off x="2013906" y="2514600"/>
            <a:ext cx="1102192" cy="41639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8" idx="5"/>
            <a:endCxn id="20" idx="1"/>
          </p:cNvCxnSpPr>
          <p:nvPr/>
        </p:nvCxnSpPr>
        <p:spPr>
          <a:xfrm>
            <a:off x="2013906" y="3469808"/>
            <a:ext cx="604184" cy="8327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7"/>
            <a:endCxn id="21" idx="3"/>
          </p:cNvCxnSpPr>
          <p:nvPr/>
        </p:nvCxnSpPr>
        <p:spPr>
          <a:xfrm flipV="1">
            <a:off x="3156906" y="3546008"/>
            <a:ext cx="1747184" cy="7565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9" idx="6"/>
            <a:endCxn id="21" idx="1"/>
          </p:cNvCxnSpPr>
          <p:nvPr/>
        </p:nvCxnSpPr>
        <p:spPr>
          <a:xfrm>
            <a:off x="3878098" y="2514600"/>
            <a:ext cx="1025992" cy="49259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1" idx="4"/>
            <a:endCxn id="22" idx="0"/>
          </p:cNvCxnSpPr>
          <p:nvPr/>
        </p:nvCxnSpPr>
        <p:spPr>
          <a:xfrm>
            <a:off x="5173498" y="3657600"/>
            <a:ext cx="0" cy="1447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805" name="TextBox 34"/>
          <p:cNvSpPr txBox="1">
            <a:spLocks noChangeArrowheads="1"/>
          </p:cNvSpPr>
          <p:nvPr/>
        </p:nvSpPr>
        <p:spPr bwMode="auto">
          <a:xfrm>
            <a:off x="2531898" y="2678670"/>
            <a:ext cx="312902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1</a:t>
            </a:r>
          </a:p>
        </p:txBody>
      </p:sp>
      <p:sp>
        <p:nvSpPr>
          <p:cNvPr id="33806" name="TextBox 35"/>
          <p:cNvSpPr txBox="1">
            <a:spLocks noChangeArrowheads="1"/>
          </p:cNvSpPr>
          <p:nvPr/>
        </p:nvSpPr>
        <p:spPr bwMode="auto">
          <a:xfrm>
            <a:off x="2303298" y="3581398"/>
            <a:ext cx="312902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1</a:t>
            </a:r>
          </a:p>
        </p:txBody>
      </p:sp>
      <p:sp>
        <p:nvSpPr>
          <p:cNvPr id="33807" name="TextBox 36"/>
          <p:cNvSpPr txBox="1">
            <a:spLocks noChangeArrowheads="1"/>
          </p:cNvSpPr>
          <p:nvPr/>
        </p:nvSpPr>
        <p:spPr bwMode="auto">
          <a:xfrm>
            <a:off x="4259098" y="2819398"/>
            <a:ext cx="312902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1</a:t>
            </a:r>
          </a:p>
        </p:txBody>
      </p:sp>
      <p:sp>
        <p:nvSpPr>
          <p:cNvPr id="33808" name="TextBox 37"/>
          <p:cNvSpPr txBox="1">
            <a:spLocks noChangeArrowheads="1"/>
          </p:cNvSpPr>
          <p:nvPr/>
        </p:nvSpPr>
        <p:spPr bwMode="auto">
          <a:xfrm>
            <a:off x="3954298" y="3957637"/>
            <a:ext cx="312902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2</a:t>
            </a:r>
          </a:p>
        </p:txBody>
      </p:sp>
      <p:sp>
        <p:nvSpPr>
          <p:cNvPr id="33809" name="TextBox 38"/>
          <p:cNvSpPr txBox="1">
            <a:spLocks noChangeArrowheads="1"/>
          </p:cNvSpPr>
          <p:nvPr/>
        </p:nvSpPr>
        <p:spPr bwMode="auto">
          <a:xfrm>
            <a:off x="5249698" y="4186237"/>
            <a:ext cx="312902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3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477798" y="2971799"/>
            <a:ext cx="3986139" cy="3341389"/>
            <a:chOff x="1638925" y="2743200"/>
            <a:chExt cx="3984928" cy="3341100"/>
          </a:xfrm>
        </p:grpSpPr>
        <p:sp>
          <p:nvSpPr>
            <p:cNvPr id="33831" name="TextBox 39"/>
            <p:cNvSpPr txBox="1">
              <a:spLocks noChangeArrowheads="1"/>
            </p:cNvSpPr>
            <p:nvPr/>
          </p:nvSpPr>
          <p:spPr bwMode="auto">
            <a:xfrm>
              <a:off x="1638925" y="3429001"/>
              <a:ext cx="594653" cy="36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Calibri"/>
                  <a:cs typeface="Calibri"/>
                </a:rPr>
                <a:t>h=2</a:t>
              </a:r>
            </a:p>
          </p:txBody>
        </p:sp>
        <p:sp>
          <p:nvSpPr>
            <p:cNvPr id="33832" name="TextBox 40"/>
            <p:cNvSpPr txBox="1">
              <a:spLocks noChangeArrowheads="1"/>
            </p:cNvSpPr>
            <p:nvPr/>
          </p:nvSpPr>
          <p:spPr bwMode="auto">
            <a:xfrm>
              <a:off x="2743200" y="4800600"/>
              <a:ext cx="594653" cy="36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Calibri"/>
                  <a:cs typeface="Calibri"/>
                </a:rPr>
                <a:t>h=1</a:t>
              </a:r>
            </a:p>
          </p:txBody>
        </p:sp>
        <p:sp>
          <p:nvSpPr>
            <p:cNvPr id="33833" name="TextBox 41"/>
            <p:cNvSpPr txBox="1">
              <a:spLocks noChangeArrowheads="1"/>
            </p:cNvSpPr>
            <p:nvPr/>
          </p:nvSpPr>
          <p:spPr bwMode="auto">
            <a:xfrm>
              <a:off x="3315325" y="2743200"/>
              <a:ext cx="594653" cy="36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Calibri"/>
                  <a:cs typeface="Calibri"/>
                </a:rPr>
                <a:t>h=4</a:t>
              </a:r>
            </a:p>
          </p:txBody>
        </p:sp>
        <p:sp>
          <p:nvSpPr>
            <p:cNvPr id="33834" name="TextBox 42"/>
            <p:cNvSpPr txBox="1">
              <a:spLocks noChangeArrowheads="1"/>
            </p:cNvSpPr>
            <p:nvPr/>
          </p:nvSpPr>
          <p:spPr bwMode="auto">
            <a:xfrm>
              <a:off x="4267200" y="3119735"/>
              <a:ext cx="594653" cy="36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Calibri"/>
                  <a:cs typeface="Calibri"/>
                </a:rPr>
                <a:t>h=1</a:t>
              </a:r>
            </a:p>
          </p:txBody>
        </p:sp>
        <p:sp>
          <p:nvSpPr>
            <p:cNvPr id="33835" name="TextBox 43"/>
            <p:cNvSpPr txBox="1">
              <a:spLocks noChangeArrowheads="1"/>
            </p:cNvSpPr>
            <p:nvPr/>
          </p:nvSpPr>
          <p:spPr bwMode="auto">
            <a:xfrm>
              <a:off x="5029200" y="5715000"/>
              <a:ext cx="594653" cy="36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Calibri"/>
                  <a:cs typeface="Calibri"/>
                </a:rPr>
                <a:t>h=0</a:t>
              </a:r>
            </a:p>
          </p:txBody>
        </p:sp>
      </p:grp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8229601" y="2362200"/>
            <a:ext cx="1047578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S (0+</a:t>
            </a:r>
            <a:r>
              <a:rPr lang="en-US" sz="240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lang="en-US" sz="2400" dirty="0">
                <a:latin typeface="Calibri"/>
                <a:cs typeface="Calibri"/>
              </a:rPr>
              <a:t>)</a:t>
            </a:r>
          </a:p>
        </p:txBody>
      </p:sp>
      <p:grpSp>
        <p:nvGrpSpPr>
          <p:cNvPr id="3" name="Group 80"/>
          <p:cNvGrpSpPr>
            <a:grpSpLocks/>
          </p:cNvGrpSpPr>
          <p:nvPr/>
        </p:nvGrpSpPr>
        <p:grpSpPr bwMode="auto">
          <a:xfrm>
            <a:off x="7239001" y="2823863"/>
            <a:ext cx="2995207" cy="919284"/>
            <a:chOff x="5638800" y="2133354"/>
            <a:chExt cx="2995208" cy="918925"/>
          </a:xfrm>
        </p:grpSpPr>
        <p:sp>
          <p:nvSpPr>
            <p:cNvPr id="33827" name="TextBox 54"/>
            <p:cNvSpPr txBox="1">
              <a:spLocks noChangeArrowheads="1"/>
            </p:cNvSpPr>
            <p:nvPr/>
          </p:nvSpPr>
          <p:spPr bwMode="auto">
            <a:xfrm>
              <a:off x="5638800" y="2590794"/>
              <a:ext cx="1084251" cy="461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A (1+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4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33828" name="TextBox 55"/>
            <p:cNvSpPr txBox="1">
              <a:spLocks noChangeArrowheads="1"/>
            </p:cNvSpPr>
            <p:nvPr/>
          </p:nvSpPr>
          <p:spPr bwMode="auto">
            <a:xfrm>
              <a:off x="7560427" y="2590789"/>
              <a:ext cx="1073581" cy="461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B (1+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1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cxnSp>
          <p:nvCxnSpPr>
            <p:cNvPr id="62" name="Straight Arrow Connector 61"/>
            <p:cNvCxnSpPr>
              <a:stCxn id="54" idx="2"/>
              <a:endCxn id="33828" idx="0"/>
            </p:cNvCxnSpPr>
            <p:nvPr/>
          </p:nvCxnSpPr>
          <p:spPr>
            <a:xfrm>
              <a:off x="7153190" y="2133354"/>
              <a:ext cx="944028" cy="45743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54" idx="2"/>
              <a:endCxn id="33827" idx="0"/>
            </p:cNvCxnSpPr>
            <p:nvPr/>
          </p:nvCxnSpPr>
          <p:spPr>
            <a:xfrm flipH="1">
              <a:off x="6180926" y="2133354"/>
              <a:ext cx="972263" cy="45744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7237991" y="3743147"/>
            <a:ext cx="1070275" cy="914580"/>
            <a:chOff x="5637791" y="3052286"/>
            <a:chExt cx="1069765" cy="914581"/>
          </a:xfrm>
        </p:grpSpPr>
        <p:sp>
          <p:nvSpPr>
            <p:cNvPr id="33825" name="TextBox 58"/>
            <p:cNvSpPr txBox="1">
              <a:spLocks noChangeArrowheads="1"/>
            </p:cNvSpPr>
            <p:nvPr/>
          </p:nvSpPr>
          <p:spPr bwMode="auto">
            <a:xfrm>
              <a:off x="5637791" y="3505201"/>
              <a:ext cx="1069765" cy="46166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C (2+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1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cxnSp>
          <p:nvCxnSpPr>
            <p:cNvPr id="68" name="Straight Arrow Connector 67"/>
            <p:cNvCxnSpPr>
              <a:stCxn id="33827" idx="2"/>
              <a:endCxn id="33825" idx="0"/>
            </p:cNvCxnSpPr>
            <p:nvPr/>
          </p:nvCxnSpPr>
          <p:spPr>
            <a:xfrm flipH="1">
              <a:off x="6172674" y="3052286"/>
              <a:ext cx="7994" cy="4529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84"/>
          <p:cNvGrpSpPr>
            <a:grpSpLocks/>
          </p:cNvGrpSpPr>
          <p:nvPr/>
        </p:nvGrpSpPr>
        <p:grpSpPr bwMode="auto">
          <a:xfrm>
            <a:off x="7239002" y="4657727"/>
            <a:ext cx="1100331" cy="909802"/>
            <a:chOff x="5638805" y="3966836"/>
            <a:chExt cx="1099952" cy="910124"/>
          </a:xfrm>
        </p:grpSpPr>
        <p:sp>
          <p:nvSpPr>
            <p:cNvPr id="33823" name="TextBox 59"/>
            <p:cNvSpPr txBox="1">
              <a:spLocks noChangeArrowheads="1"/>
            </p:cNvSpPr>
            <p:nvPr/>
          </p:nvSpPr>
          <p:spPr bwMode="auto">
            <a:xfrm>
              <a:off x="5638805" y="4415132"/>
              <a:ext cx="1099952" cy="461828"/>
            </a:xfrm>
            <a:prstGeom prst="rect">
              <a:avLst/>
            </a:prstGeom>
            <a:noFill/>
            <a:ln w="28575">
              <a:noFill/>
              <a:miter lim="800000"/>
              <a:headEnd type="none" w="med" len="med"/>
              <a:tailEnd type="triangle" w="lg" len="lg"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G (5+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0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cxnSp>
          <p:nvCxnSpPr>
            <p:cNvPr id="70" name="Straight Arrow Connector 69"/>
            <p:cNvCxnSpPr>
              <a:stCxn id="33825" idx="2"/>
              <a:endCxn id="33823" idx="0"/>
            </p:cNvCxnSpPr>
            <p:nvPr/>
          </p:nvCxnSpPr>
          <p:spPr>
            <a:xfrm>
              <a:off x="6172748" y="3966836"/>
              <a:ext cx="16033" cy="44829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" name="Group 81"/>
          <p:cNvGrpSpPr>
            <a:grpSpLocks/>
          </p:cNvGrpSpPr>
          <p:nvPr/>
        </p:nvGrpSpPr>
        <p:grpSpPr bwMode="auto">
          <a:xfrm>
            <a:off x="9142996" y="3743142"/>
            <a:ext cx="1070275" cy="909982"/>
            <a:chOff x="7543375" y="3052260"/>
            <a:chExt cx="1069766" cy="910305"/>
          </a:xfrm>
        </p:grpSpPr>
        <p:sp>
          <p:nvSpPr>
            <p:cNvPr id="33821" name="TextBox 56"/>
            <p:cNvSpPr txBox="1">
              <a:spLocks noChangeArrowheads="1"/>
            </p:cNvSpPr>
            <p:nvPr/>
          </p:nvSpPr>
          <p:spPr bwMode="auto">
            <a:xfrm>
              <a:off x="7543375" y="3500736"/>
              <a:ext cx="1069766" cy="4618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C (3+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1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cxnSp>
          <p:nvCxnSpPr>
            <p:cNvPr id="72" name="Straight Arrow Connector 71"/>
            <p:cNvCxnSpPr>
              <a:stCxn id="33828" idx="2"/>
              <a:endCxn id="33821" idx="0"/>
            </p:cNvCxnSpPr>
            <p:nvPr/>
          </p:nvCxnSpPr>
          <p:spPr>
            <a:xfrm flipH="1">
              <a:off x="8078258" y="3052260"/>
              <a:ext cx="19275" cy="44847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" name="Group 82"/>
          <p:cNvGrpSpPr>
            <a:grpSpLocks/>
          </p:cNvGrpSpPr>
          <p:nvPr/>
        </p:nvGrpSpPr>
        <p:grpSpPr bwMode="auto">
          <a:xfrm>
            <a:off x="9126745" y="4653124"/>
            <a:ext cx="1100331" cy="914237"/>
            <a:chOff x="7526555" y="3962569"/>
            <a:chExt cx="1099952" cy="914240"/>
          </a:xfrm>
        </p:grpSpPr>
        <p:sp>
          <p:nvSpPr>
            <p:cNvPr id="33819" name="TextBox 57"/>
            <p:cNvSpPr txBox="1">
              <a:spLocks noChangeArrowheads="1"/>
            </p:cNvSpPr>
            <p:nvPr/>
          </p:nvSpPr>
          <p:spPr bwMode="auto">
            <a:xfrm>
              <a:off x="7526555" y="4415142"/>
              <a:ext cx="1099952" cy="461667"/>
            </a:xfrm>
            <a:prstGeom prst="rect">
              <a:avLst/>
            </a:prstGeom>
            <a:noFill/>
            <a:ln w="28575">
              <a:noFill/>
              <a:miter lim="800000"/>
              <a:headEnd type="none" w="med" len="med"/>
              <a:tailEnd type="triangle" w="lg" len="lg"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G (6+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0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cxnSp>
          <p:nvCxnSpPr>
            <p:cNvPr id="74" name="Straight Arrow Connector 73"/>
            <p:cNvCxnSpPr>
              <a:stCxn id="33821" idx="2"/>
              <a:endCxn id="33819" idx="0"/>
            </p:cNvCxnSpPr>
            <p:nvPr/>
          </p:nvCxnSpPr>
          <p:spPr>
            <a:xfrm flipH="1">
              <a:off x="8076531" y="3962569"/>
              <a:ext cx="1223" cy="45257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3817" name="TextBox 85"/>
          <p:cNvSpPr txBox="1">
            <a:spLocks noChangeArrowheads="1"/>
          </p:cNvSpPr>
          <p:nvPr/>
        </p:nvSpPr>
        <p:spPr bwMode="auto">
          <a:xfrm>
            <a:off x="2125499" y="1295400"/>
            <a:ext cx="2564159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800" dirty="0" err="1">
                <a:latin typeface="Calibri"/>
                <a:cs typeface="Calibri"/>
              </a:rPr>
              <a:t>Đồ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thị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trạng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thái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87" name="TextBox 86"/>
          <p:cNvSpPr txBox="1">
            <a:spLocks noChangeArrowheads="1"/>
          </p:cNvSpPr>
          <p:nvPr/>
        </p:nvSpPr>
        <p:spPr bwMode="auto">
          <a:xfrm>
            <a:off x="7745370" y="1311833"/>
            <a:ext cx="2064728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800" dirty="0" err="1">
                <a:latin typeface="Calibri"/>
                <a:cs typeface="Calibri"/>
              </a:rPr>
              <a:t>Cây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tìm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kiếm</a:t>
            </a:r>
            <a:endParaRPr lang="en-US" sz="28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8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Hàm kinh nghiệm nhất quán</a:t>
            </a:r>
          </a:p>
        </p:txBody>
      </p:sp>
      <p:sp>
        <p:nvSpPr>
          <p:cNvPr id="8195" name="Content Placeholder 14"/>
          <p:cNvSpPr>
            <a:spLocks noGrp="1"/>
          </p:cNvSpPr>
          <p:nvPr>
            <p:ph idx="1"/>
          </p:nvPr>
        </p:nvSpPr>
        <p:spPr>
          <a:xfrm>
            <a:off x="4876800" y="1295400"/>
            <a:ext cx="6934200" cy="304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sz="2400" noProof="0" dirty="0">
                <a:latin typeface="Calibri"/>
                <a:cs typeface="Calibri"/>
              </a:rPr>
              <a:t>Ý tưởng: ước lượng ≤ chi phí thật</a:t>
            </a:r>
          </a:p>
          <a:p>
            <a:pPr lvl="1">
              <a:lnSpc>
                <a:spcPct val="150000"/>
              </a:lnSpc>
            </a:pPr>
            <a:r>
              <a:rPr lang="vi-VN" sz="2000" noProof="0" dirty="0">
                <a:solidFill>
                  <a:srgbClr val="FF0000"/>
                </a:solidFill>
                <a:latin typeface="Calibri"/>
                <a:cs typeface="Calibri"/>
              </a:rPr>
              <a:t>Chấp nhận được</a:t>
            </a:r>
            <a:r>
              <a:rPr lang="vi-VN" sz="2000" noProof="0" dirty="0">
                <a:latin typeface="Calibri"/>
                <a:cs typeface="Calibri"/>
              </a:rPr>
              <a:t>: chi phí ước lượng ≤ chi phí tới mục tiêu</a:t>
            </a:r>
          </a:p>
          <a:p>
            <a:pPr lvl="1">
              <a:lnSpc>
                <a:spcPct val="150000"/>
              </a:lnSpc>
              <a:buNone/>
            </a:pPr>
            <a:r>
              <a:rPr lang="vi-VN" sz="2000" noProof="0" dirty="0">
                <a:latin typeface="Calibri"/>
                <a:cs typeface="Calibri"/>
              </a:rPr>
              <a:t>		</a:t>
            </a: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h(A) </a:t>
            </a:r>
            <a:r>
              <a:rPr lang="vi-VN" sz="2000" noProof="0" dirty="0">
                <a:latin typeface="Calibri"/>
                <a:cs typeface="Calibri"/>
              </a:rPr>
              <a:t>≤</a:t>
            </a: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chi phí đi từ A đến G</a:t>
            </a:r>
          </a:p>
          <a:p>
            <a:pPr lvl="1">
              <a:lnSpc>
                <a:spcPct val="150000"/>
              </a:lnSpc>
            </a:pPr>
            <a:r>
              <a:rPr lang="vi-VN" sz="2000" dirty="0">
                <a:solidFill>
                  <a:srgbClr val="FF0000"/>
                </a:solidFill>
                <a:latin typeface="Calibri"/>
                <a:cs typeface="Calibri"/>
              </a:rPr>
              <a:t>Nhất quán</a:t>
            </a:r>
            <a:r>
              <a:rPr lang="vi-VN" sz="2000" noProof="0" dirty="0">
                <a:latin typeface="Calibri"/>
                <a:cs typeface="Calibri"/>
              </a:rPr>
              <a:t>: Chi phí </a:t>
            </a:r>
            <a:r>
              <a:rPr lang="vi-VN" sz="2000" dirty="0">
                <a:latin typeface="Calibri"/>
                <a:cs typeface="Calibri"/>
              </a:rPr>
              <a:t>ước lượng</a:t>
            </a:r>
            <a:r>
              <a:rPr lang="vi-VN" sz="2000" noProof="0" dirty="0">
                <a:latin typeface="Calibri"/>
                <a:cs typeface="Calibri"/>
              </a:rPr>
              <a:t> từng cung đường ≤ chi phí thật trên cung đó</a:t>
            </a:r>
          </a:p>
          <a:p>
            <a:pPr lvl="1">
              <a:lnSpc>
                <a:spcPct val="150000"/>
              </a:lnSpc>
              <a:buNone/>
            </a:pP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		h(A) – h(C)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vi-VN" sz="2000" noProof="0" dirty="0">
                <a:latin typeface="Calibri"/>
                <a:cs typeface="Calibri"/>
              </a:rPr>
              <a:t>≤ 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chi phí(A </a:t>
            </a:r>
            <a:r>
              <a:rPr lang="vi-VN" sz="2000" dirty="0">
                <a:solidFill>
                  <a:srgbClr val="008000"/>
                </a:solidFill>
                <a:latin typeface="Calibri"/>
                <a:cs typeface="Calibri"/>
              </a:rPr>
              <a:t>đến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 C) </a:t>
            </a:r>
            <a:r>
              <a:rPr lang="vi-VN" sz="2000" noProof="0" dirty="0">
                <a:latin typeface="Calibri"/>
                <a:cs typeface="Calibri"/>
              </a:rPr>
              <a:t>và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vi-VN" sz="2000" noProof="0" dirty="0">
                <a:solidFill>
                  <a:srgbClr val="FF0000"/>
                </a:solidFill>
                <a:latin typeface="Calibri"/>
                <a:cs typeface="Calibri"/>
              </a:rPr>
              <a:t>h(G) = 0</a:t>
            </a:r>
            <a:endParaRPr lang="vi-VN" sz="1000" noProof="0" dirty="0">
              <a:solidFill>
                <a:srgbClr val="FF0000"/>
              </a:solidFill>
              <a:latin typeface="Calibri"/>
              <a:cs typeface="Calibri"/>
            </a:endParaRPr>
          </a:p>
          <a:p>
            <a:pPr>
              <a:lnSpc>
                <a:spcPct val="150000"/>
              </a:lnSpc>
              <a:buClr>
                <a:srgbClr val="333399"/>
              </a:buClr>
            </a:pPr>
            <a:r>
              <a:rPr lang="vi-VN" sz="2400" noProof="0" dirty="0">
                <a:solidFill>
                  <a:srgbClr val="333399"/>
                </a:solidFill>
                <a:latin typeface="Calibri"/>
                <a:cs typeface="Calibri"/>
              </a:rPr>
              <a:t>Hệ quả của tính nhất quán:</a:t>
            </a:r>
          </a:p>
          <a:p>
            <a:pPr lvl="1">
              <a:lnSpc>
                <a:spcPct val="150000"/>
              </a:lnSpc>
              <a:buClr>
                <a:srgbClr val="333399"/>
              </a:buClr>
            </a:pPr>
            <a:r>
              <a:rPr lang="vi-VN" sz="2000" noProof="0" dirty="0">
                <a:latin typeface="Calibri"/>
                <a:cs typeface="Calibri"/>
              </a:rPr>
              <a:t>Giá trị của hàm f không giảm theo mọi đường đi từ gốc</a:t>
            </a:r>
          </a:p>
          <a:p>
            <a:pPr lvl="1">
              <a:lnSpc>
                <a:spcPct val="150000"/>
              </a:lnSpc>
              <a:buClr>
                <a:srgbClr val="333399"/>
              </a:buClr>
              <a:buNone/>
            </a:pPr>
            <a:r>
              <a:rPr lang="vi-VN" sz="2000" noProof="0" dirty="0">
                <a:latin typeface="Calibri"/>
                <a:cs typeface="Calibri"/>
              </a:rPr>
              <a:t>		</a:t>
            </a: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vi-VN" sz="2000" noProof="0" dirty="0">
                <a:solidFill>
                  <a:srgbClr val="7030A0"/>
                </a:solidFill>
                <a:latin typeface="Calibri"/>
                <a:cs typeface="Calibri"/>
              </a:rPr>
              <a:t>g(A) </a:t>
            </a: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+ h(A) </a:t>
            </a:r>
            <a:r>
              <a:rPr lang="vi-VN" sz="2000" noProof="0" dirty="0">
                <a:latin typeface="Calibri"/>
                <a:cs typeface="Calibri"/>
              </a:rPr>
              <a:t>≤ </a:t>
            </a:r>
            <a:r>
              <a:rPr lang="vi-VN" sz="2000" dirty="0">
                <a:solidFill>
                  <a:srgbClr val="7030A0"/>
                </a:solidFill>
                <a:latin typeface="Calibri"/>
                <a:cs typeface="Calibri"/>
              </a:rPr>
              <a:t>g(A) </a:t>
            </a:r>
            <a:r>
              <a:rPr lang="vi-VN" sz="2000" dirty="0">
                <a:solidFill>
                  <a:srgbClr val="C00000"/>
                </a:solidFill>
                <a:latin typeface="Calibri"/>
                <a:cs typeface="Calibri"/>
              </a:rPr>
              <a:t>+ </a:t>
            </a:r>
            <a:r>
              <a:rPr lang="vi-VN" sz="2000" dirty="0">
                <a:solidFill>
                  <a:srgbClr val="008000"/>
                </a:solidFill>
                <a:latin typeface="Calibri"/>
                <a:cs typeface="Calibri"/>
              </a:rPr>
              <a:t>chi phí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(A đến C) </a:t>
            </a:r>
            <a:r>
              <a:rPr lang="vi-VN" sz="2000" noProof="0" dirty="0">
                <a:latin typeface="Calibri"/>
                <a:cs typeface="Calibri"/>
              </a:rPr>
              <a:t>+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h(C)</a:t>
            </a:r>
            <a:endParaRPr lang="vi-VN" sz="2000" noProof="0" dirty="0">
              <a:latin typeface="Calibri"/>
              <a:cs typeface="Calibri"/>
            </a:endParaRPr>
          </a:p>
          <a:p>
            <a:pPr lvl="1">
              <a:lnSpc>
                <a:spcPct val="150000"/>
              </a:lnSpc>
              <a:buClr>
                <a:srgbClr val="333399"/>
              </a:buClr>
            </a:pPr>
            <a:r>
              <a:rPr lang="vi-VN" sz="2000" noProof="0" dirty="0">
                <a:latin typeface="Calibri"/>
                <a:cs typeface="Calibri"/>
              </a:rPr>
              <a:t>A* trên đồ thị tối ưu (sẽ chứng minh)!</a:t>
            </a:r>
          </a:p>
          <a:p>
            <a:endParaRPr lang="vi-VN" sz="2000" noProof="0" dirty="0">
              <a:latin typeface="Calibri"/>
              <a:cs typeface="Calibri"/>
            </a:endParaRPr>
          </a:p>
        </p:txBody>
      </p:sp>
      <p:cxnSp>
        <p:nvCxnSpPr>
          <p:cNvPr id="4" name="Straight Arrow Connector 3"/>
          <p:cNvCxnSpPr>
            <a:endCxn id="8" idx="1"/>
          </p:cNvCxnSpPr>
          <p:nvPr/>
        </p:nvCxnSpPr>
        <p:spPr>
          <a:xfrm>
            <a:off x="1676401" y="2281240"/>
            <a:ext cx="1124510" cy="43871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8" idx="4"/>
            <a:endCxn id="9" idx="0"/>
          </p:cNvCxnSpPr>
          <p:nvPr/>
        </p:nvCxnSpPr>
        <p:spPr>
          <a:xfrm>
            <a:off x="3124200" y="3500439"/>
            <a:ext cx="0" cy="152876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822" name="TextBox 5"/>
          <p:cNvSpPr txBox="1">
            <a:spLocks noChangeArrowheads="1"/>
          </p:cNvSpPr>
          <p:nvPr/>
        </p:nvSpPr>
        <p:spPr bwMode="auto">
          <a:xfrm>
            <a:off x="3276600" y="3886200"/>
            <a:ext cx="340654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62000" y="1824039"/>
            <a:ext cx="914400" cy="9144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8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2667000" y="2586039"/>
            <a:ext cx="914400" cy="9144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800" b="1" dirty="0">
                <a:latin typeface="Calibri"/>
                <a:cs typeface="Calibri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2667000" y="5029200"/>
            <a:ext cx="914400" cy="9144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8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34826" name="TextBox 9"/>
          <p:cNvSpPr txBox="1">
            <a:spLocks noChangeArrowheads="1"/>
          </p:cNvSpPr>
          <p:nvPr/>
        </p:nvSpPr>
        <p:spPr bwMode="auto">
          <a:xfrm>
            <a:off x="609600" y="2819400"/>
            <a:ext cx="730697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/>
                <a:cs typeface="Calibri"/>
              </a:rPr>
              <a:t>h=4</a:t>
            </a:r>
          </a:p>
        </p:txBody>
      </p:sp>
      <p:sp>
        <p:nvSpPr>
          <p:cNvPr id="34827" name="TextBox 10"/>
          <p:cNvSpPr txBox="1">
            <a:spLocks noChangeArrowheads="1"/>
          </p:cNvSpPr>
          <p:nvPr/>
        </p:nvSpPr>
        <p:spPr bwMode="auto">
          <a:xfrm>
            <a:off x="3657600" y="2819400"/>
            <a:ext cx="730697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/>
                <a:cs typeface="Calibri"/>
              </a:rPr>
              <a:t>h=1</a:t>
            </a:r>
          </a:p>
        </p:txBody>
      </p:sp>
      <p:sp>
        <p:nvSpPr>
          <p:cNvPr id="34828" name="TextBox 11"/>
          <p:cNvSpPr txBox="1">
            <a:spLocks noChangeArrowheads="1"/>
          </p:cNvSpPr>
          <p:nvPr/>
        </p:nvSpPr>
        <p:spPr bwMode="auto">
          <a:xfrm>
            <a:off x="1905000" y="2509837"/>
            <a:ext cx="340654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1</a:t>
            </a:r>
          </a:p>
        </p:txBody>
      </p:sp>
      <p:cxnSp>
        <p:nvCxnSpPr>
          <p:cNvPr id="17" name="Straight Arrow Connector 16"/>
          <p:cNvCxnSpPr>
            <a:stCxn id="7" idx="5"/>
            <a:endCxn id="9" idx="1"/>
          </p:cNvCxnSpPr>
          <p:nvPr/>
        </p:nvCxnSpPr>
        <p:spPr>
          <a:xfrm>
            <a:off x="1542489" y="2604528"/>
            <a:ext cx="1258422" cy="2558583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6"/>
            <a:endCxn id="8" idx="1"/>
          </p:cNvCxnSpPr>
          <p:nvPr/>
        </p:nvCxnSpPr>
        <p:spPr>
          <a:xfrm>
            <a:off x="1676400" y="2281239"/>
            <a:ext cx="1124511" cy="438711"/>
          </a:xfrm>
          <a:prstGeom prst="straightConnector1">
            <a:avLst/>
          </a:prstGeom>
          <a:ln w="57150">
            <a:solidFill>
              <a:srgbClr val="008000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9"/>
          <p:cNvSpPr txBox="1">
            <a:spLocks noChangeArrowheads="1"/>
          </p:cNvSpPr>
          <p:nvPr/>
        </p:nvSpPr>
        <p:spPr bwMode="auto">
          <a:xfrm>
            <a:off x="609600" y="3200400"/>
            <a:ext cx="730697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/>
                <a:cs typeface="Calibri"/>
              </a:rPr>
              <a:t>h=2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609600" y="3019425"/>
            <a:ext cx="838200" cy="63808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9735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/>
      <p:bldP spid="34822" grpId="1"/>
      <p:bldP spid="7" grpId="0" animBg="1"/>
      <p:bldP spid="8" grpId="0" animBg="1"/>
      <p:bldP spid="9" grpId="0" animBg="1"/>
      <p:bldP spid="9" grpId="1" animBg="1"/>
      <p:bldP spid="34826" grpId="0"/>
      <p:bldP spid="34827" grpId="0"/>
      <p:bldP spid="34828" grpId="0"/>
      <p:bldP spid="2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đồ thị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6501" y="1753559"/>
            <a:ext cx="5862797" cy="4222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475433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reeform 21"/>
          <p:cNvSpPr>
            <a:spLocks/>
          </p:cNvSpPr>
          <p:nvPr/>
        </p:nvSpPr>
        <p:spPr bwMode="auto">
          <a:xfrm>
            <a:off x="8518525" y="2362200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sz="3600" noProof="0" dirty="0"/>
              <a:t>Tính tối ưu của A* trên cây tìm kiếm</a:t>
            </a:r>
            <a:br>
              <a:rPr lang="vi-VN" sz="3600" noProof="0" dirty="0"/>
            </a:br>
            <a:r>
              <a:rPr lang="vi-VN" sz="3600" noProof="0" dirty="0"/>
              <a:t>sử dụng hàm kinh nghiệm nhất quán</a:t>
            </a:r>
            <a:endParaRPr lang="vi-VN" sz="3600" noProof="0" dirty="0">
              <a:latin typeface="Calibri"/>
              <a:cs typeface="Calibri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7073900" cy="4419600"/>
          </a:xfrm>
        </p:spPr>
        <p:txBody>
          <a:bodyPr/>
          <a:lstStyle/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Hàm h nhất quán </a:t>
            </a:r>
            <a:r>
              <a:rPr lang="vi-VN" sz="2400" noProof="0" dirty="0">
                <a:latin typeface="Calibri"/>
                <a:cs typeface="Calibri"/>
                <a:sym typeface="Wingdings" pitchFamily="2" charset="2"/>
              </a:rPr>
              <a:t> Hàm h chấp nhận được</a:t>
            </a:r>
          </a:p>
          <a:p>
            <a:pPr eaLnBrk="1" hangingPunct="1"/>
            <a:r>
              <a:rPr lang="vi-VN" sz="2400" dirty="0">
                <a:latin typeface="Calibri"/>
                <a:cs typeface="Calibri"/>
                <a:sym typeface="Wingdings" pitchFamily="2" charset="2"/>
              </a:rPr>
              <a:t>Chứng minh:</a:t>
            </a:r>
          </a:p>
          <a:p>
            <a:pPr lvl="1"/>
            <a:r>
              <a:rPr lang="vi-VN" sz="2000" noProof="0" dirty="0">
                <a:latin typeface="Calibri"/>
                <a:cs typeface="Calibri"/>
                <a:sym typeface="Wingdings" pitchFamily="2" charset="2"/>
              </a:rPr>
              <a:t>Nếu n là trạng thái mục tiêu h(n) = 0 </a:t>
            </a:r>
            <a:r>
              <a:rPr lang="vi-VN" sz="2000" noProof="0" dirty="0">
                <a:latin typeface="Calibri"/>
                <a:cs typeface="Calibri"/>
              </a:rPr>
              <a:t>≤ g(n) (giả sử các cạnh có trọng số không âm)</a:t>
            </a:r>
          </a:p>
          <a:p>
            <a:pPr lvl="1"/>
            <a:r>
              <a:rPr lang="vi-VN" sz="2000" dirty="0">
                <a:latin typeface="Calibri"/>
                <a:cs typeface="Calibri"/>
              </a:rPr>
              <a:t>Nếu n là trạng thái trước mục tiêu G:</a:t>
            </a:r>
            <a:br>
              <a:rPr lang="vi-VN" sz="2000" dirty="0">
                <a:latin typeface="Calibri"/>
                <a:cs typeface="Calibri"/>
              </a:rPr>
            </a:br>
            <a:r>
              <a:rPr lang="vi-VN" sz="2000" dirty="0">
                <a:latin typeface="Calibri"/>
                <a:cs typeface="Calibri"/>
              </a:rPr>
              <a:t>h(n) = h(n) – h(G)  ≤ c(n, G) = h*(n)</a:t>
            </a:r>
          </a:p>
          <a:p>
            <a:pPr lvl="1"/>
            <a:r>
              <a:rPr lang="vi-VN" sz="2000" noProof="0" dirty="0">
                <a:latin typeface="Calibri"/>
                <a:cs typeface="Calibri"/>
              </a:rPr>
              <a:t>Quy nạp, giả sử đúng với mọi trạng thái n’ có độ dài đường đi tới mục tiêu = k. Xét nút n là trạng thái trước n’:</a:t>
            </a:r>
            <a:br>
              <a:rPr lang="vi-VN" sz="2000" noProof="0" dirty="0">
                <a:latin typeface="Calibri"/>
                <a:cs typeface="Calibri"/>
              </a:rPr>
            </a:br>
            <a:r>
              <a:rPr lang="vi-VN" sz="2000" noProof="0" dirty="0">
                <a:latin typeface="Calibri"/>
                <a:cs typeface="Calibri"/>
              </a:rPr>
              <a:t>với mọi n’: h(n) ≤ c(n,n’) + h(n’) ≤ c(n, n’)+h*(n’)</a:t>
            </a:r>
            <a:br>
              <a:rPr lang="vi-VN" sz="2000" noProof="0" dirty="0">
                <a:latin typeface="Calibri"/>
                <a:cs typeface="Calibri"/>
              </a:rPr>
            </a:br>
            <a:r>
              <a:rPr lang="vi-VN" sz="2000" noProof="0" dirty="0">
                <a:latin typeface="Calibri"/>
                <a:cs typeface="Calibri"/>
              </a:rPr>
              <a:t>h(n) ≤ min</a:t>
            </a:r>
            <a:r>
              <a:rPr lang="vi-VN" sz="2000" baseline="-25000" noProof="0" dirty="0">
                <a:latin typeface="Calibri"/>
                <a:cs typeface="Calibri"/>
              </a:rPr>
              <a:t>n’</a:t>
            </a:r>
            <a:r>
              <a:rPr lang="vi-VN" sz="2000" noProof="0" dirty="0">
                <a:latin typeface="Calibri"/>
                <a:cs typeface="Calibri"/>
              </a:rPr>
              <a:t>(c(n, n’)+h*(n’)) = h*(n)</a:t>
            </a:r>
            <a:br>
              <a:rPr lang="vi-VN" sz="1600" dirty="0">
                <a:latin typeface="Calibri"/>
                <a:cs typeface="Calibri"/>
              </a:rPr>
            </a:br>
            <a:endParaRPr lang="vi-VN" sz="2000" noProof="0" dirty="0">
              <a:latin typeface="Calibri"/>
              <a:cs typeface="Calibri"/>
            </a:endParaRPr>
          </a:p>
        </p:txBody>
      </p:sp>
      <p:sp>
        <p:nvSpPr>
          <p:cNvPr id="41989" name="Freeform 9"/>
          <p:cNvSpPr>
            <a:spLocks/>
          </p:cNvSpPr>
          <p:nvPr/>
        </p:nvSpPr>
        <p:spPr bwMode="auto">
          <a:xfrm>
            <a:off x="8001000" y="253365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0" name="Oval 10"/>
          <p:cNvSpPr>
            <a:spLocks noChangeArrowheads="1"/>
          </p:cNvSpPr>
          <p:nvPr/>
        </p:nvSpPr>
        <p:spPr bwMode="auto">
          <a:xfrm>
            <a:off x="9123363" y="2889250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1" name="Oval 11"/>
          <p:cNvSpPr>
            <a:spLocks noChangeArrowheads="1"/>
          </p:cNvSpPr>
          <p:nvPr/>
        </p:nvSpPr>
        <p:spPr bwMode="auto">
          <a:xfrm>
            <a:off x="9599613" y="287972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2" name="Text Box 12"/>
          <p:cNvSpPr txBox="1">
            <a:spLocks noChangeArrowheads="1"/>
          </p:cNvSpPr>
          <p:nvPr/>
        </p:nvSpPr>
        <p:spPr bwMode="auto">
          <a:xfrm>
            <a:off x="9253538" y="2740026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41993" name="Oval 16"/>
          <p:cNvSpPr>
            <a:spLocks noChangeArrowheads="1"/>
          </p:cNvSpPr>
          <p:nvPr/>
        </p:nvSpPr>
        <p:spPr bwMode="auto">
          <a:xfrm>
            <a:off x="9847263" y="3929063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4" name="Oval 17"/>
          <p:cNvSpPr>
            <a:spLocks noChangeArrowheads="1"/>
          </p:cNvSpPr>
          <p:nvPr/>
        </p:nvSpPr>
        <p:spPr bwMode="auto">
          <a:xfrm>
            <a:off x="9367838" y="4484688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5" name="Freeform 19"/>
          <p:cNvSpPr>
            <a:spLocks/>
          </p:cNvSpPr>
          <p:nvPr/>
        </p:nvSpPr>
        <p:spPr bwMode="auto">
          <a:xfrm>
            <a:off x="9321800" y="3275014"/>
            <a:ext cx="179388" cy="1196975"/>
          </a:xfrm>
          <a:custGeom>
            <a:avLst/>
            <a:gdLst>
              <a:gd name="T0" fmla="*/ 2147483647 w 113"/>
              <a:gd name="T1" fmla="*/ 0 h 754"/>
              <a:gd name="T2" fmla="*/ 2147483647 w 113"/>
              <a:gd name="T3" fmla="*/ 2147483647 h 754"/>
              <a:gd name="T4" fmla="*/ 2147483647 w 113"/>
              <a:gd name="T5" fmla="*/ 2147483647 h 754"/>
              <a:gd name="T6" fmla="*/ 2147483647 w 113"/>
              <a:gd name="T7" fmla="*/ 2147483647 h 754"/>
              <a:gd name="T8" fmla="*/ 2147483647 w 113"/>
              <a:gd name="T9" fmla="*/ 2147483647 h 754"/>
              <a:gd name="T10" fmla="*/ 0 w 113"/>
              <a:gd name="T11" fmla="*/ 2147483647 h 754"/>
              <a:gd name="T12" fmla="*/ 2147483647 w 113"/>
              <a:gd name="T13" fmla="*/ 2147483647 h 754"/>
              <a:gd name="T14" fmla="*/ 2147483647 w 113"/>
              <a:gd name="T15" fmla="*/ 2147483647 h 754"/>
              <a:gd name="T16" fmla="*/ 2147483647 w 113"/>
              <a:gd name="T17" fmla="*/ 2147483647 h 754"/>
              <a:gd name="T18" fmla="*/ 2147483647 w 113"/>
              <a:gd name="T19" fmla="*/ 2147483647 h 7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3"/>
              <a:gd name="T31" fmla="*/ 0 h 754"/>
              <a:gd name="T32" fmla="*/ 113 w 113"/>
              <a:gd name="T33" fmla="*/ 754 h 7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3" h="754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6" name="Freeform 20"/>
          <p:cNvSpPr>
            <a:spLocks/>
          </p:cNvSpPr>
          <p:nvPr/>
        </p:nvSpPr>
        <p:spPr bwMode="auto">
          <a:xfrm>
            <a:off x="9739311" y="3471862"/>
            <a:ext cx="222251" cy="436563"/>
          </a:xfrm>
          <a:custGeom>
            <a:avLst/>
            <a:gdLst>
              <a:gd name="T0" fmla="*/ 0 w 140"/>
              <a:gd name="T1" fmla="*/ 0 h 275"/>
              <a:gd name="T2" fmla="*/ 2147483647 w 140"/>
              <a:gd name="T3" fmla="*/ 2147483647 h 275"/>
              <a:gd name="T4" fmla="*/ 2147483647 w 140"/>
              <a:gd name="T5" fmla="*/ 2147483647 h 275"/>
              <a:gd name="T6" fmla="*/ 2147483647 w 140"/>
              <a:gd name="T7" fmla="*/ 2147483647 h 275"/>
              <a:gd name="T8" fmla="*/ 2147483647 w 140"/>
              <a:gd name="T9" fmla="*/ 2147483647 h 275"/>
              <a:gd name="T10" fmla="*/ 2147483647 w 140"/>
              <a:gd name="T11" fmla="*/ 2147483647 h 2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"/>
              <a:gd name="T19" fmla="*/ 0 h 275"/>
              <a:gd name="T20" fmla="*/ 140 w 140"/>
              <a:gd name="T21" fmla="*/ 275 h 2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" h="275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7" name="Oval 22"/>
          <p:cNvSpPr>
            <a:spLocks noChangeArrowheads="1"/>
          </p:cNvSpPr>
          <p:nvPr/>
        </p:nvSpPr>
        <p:spPr bwMode="auto">
          <a:xfrm>
            <a:off x="9355138" y="2463801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8" name="Freeform 23"/>
          <p:cNvSpPr>
            <a:spLocks/>
          </p:cNvSpPr>
          <p:nvPr/>
        </p:nvSpPr>
        <p:spPr bwMode="auto">
          <a:xfrm>
            <a:off x="8783637" y="3368676"/>
            <a:ext cx="1181100" cy="557212"/>
          </a:xfrm>
          <a:custGeom>
            <a:avLst/>
            <a:gdLst>
              <a:gd name="T0" fmla="*/ 2147483647 w 744"/>
              <a:gd name="T1" fmla="*/ 0 h 351"/>
              <a:gd name="T2" fmla="*/ 2147483647 w 744"/>
              <a:gd name="T3" fmla="*/ 2147483647 h 351"/>
              <a:gd name="T4" fmla="*/ 2147483647 w 744"/>
              <a:gd name="T5" fmla="*/ 2147483647 h 351"/>
              <a:gd name="T6" fmla="*/ 2147483647 w 744"/>
              <a:gd name="T7" fmla="*/ 2147483647 h 351"/>
              <a:gd name="T8" fmla="*/ 0 w 744"/>
              <a:gd name="T9" fmla="*/ 2147483647 h 3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351"/>
              <a:gd name="T17" fmla="*/ 744 w 744"/>
              <a:gd name="T18" fmla="*/ 351 h 3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351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9" name="Freeform 24"/>
          <p:cNvSpPr>
            <a:spLocks/>
          </p:cNvSpPr>
          <p:nvPr/>
        </p:nvSpPr>
        <p:spPr bwMode="auto">
          <a:xfrm>
            <a:off x="9039226" y="3100388"/>
            <a:ext cx="747713" cy="293688"/>
          </a:xfrm>
          <a:custGeom>
            <a:avLst/>
            <a:gdLst>
              <a:gd name="T0" fmla="*/ 2147483647 w 471"/>
              <a:gd name="T1" fmla="*/ 0 h 185"/>
              <a:gd name="T2" fmla="*/ 2147483647 w 471"/>
              <a:gd name="T3" fmla="*/ 2147483647 h 185"/>
              <a:gd name="T4" fmla="*/ 0 w 471"/>
              <a:gd name="T5" fmla="*/ 2147483647 h 185"/>
              <a:gd name="T6" fmla="*/ 0 60000 65536"/>
              <a:gd name="T7" fmla="*/ 0 60000 65536"/>
              <a:gd name="T8" fmla="*/ 0 60000 65536"/>
              <a:gd name="T9" fmla="*/ 0 w 471"/>
              <a:gd name="T10" fmla="*/ 0 h 185"/>
              <a:gd name="T11" fmla="*/ 471 w 471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1" h="185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2000" name="Text Box 26"/>
          <p:cNvSpPr txBox="1">
            <a:spLocks noChangeArrowheads="1"/>
          </p:cNvSpPr>
          <p:nvPr/>
        </p:nvSpPr>
        <p:spPr bwMode="auto">
          <a:xfrm>
            <a:off x="10277475" y="3468689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3</a:t>
            </a:r>
          </a:p>
        </p:txBody>
      </p:sp>
      <p:sp>
        <p:nvSpPr>
          <p:cNvPr id="42001" name="Text Box 27"/>
          <p:cNvSpPr txBox="1">
            <a:spLocks noChangeArrowheads="1"/>
          </p:cNvSpPr>
          <p:nvPr/>
        </p:nvSpPr>
        <p:spPr bwMode="auto">
          <a:xfrm>
            <a:off x="10150475" y="3073401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2</a:t>
            </a:r>
          </a:p>
        </p:txBody>
      </p:sp>
      <p:sp>
        <p:nvSpPr>
          <p:cNvPr id="42002" name="Text Box 28"/>
          <p:cNvSpPr txBox="1">
            <a:spLocks noChangeArrowheads="1"/>
          </p:cNvSpPr>
          <p:nvPr/>
        </p:nvSpPr>
        <p:spPr bwMode="auto">
          <a:xfrm>
            <a:off x="9950449" y="2695577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1</a:t>
            </a:r>
          </a:p>
        </p:txBody>
      </p:sp>
    </p:spTree>
    <p:extLst>
      <p:ext uri="{BB962C8B-B14F-4D97-AF65-F5344CB8AC3E}">
        <p14:creationId xmlns:p14="http://schemas.microsoft.com/office/powerpoint/2010/main" val="2636264832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reeform 21"/>
          <p:cNvSpPr>
            <a:spLocks/>
          </p:cNvSpPr>
          <p:nvPr/>
        </p:nvSpPr>
        <p:spPr bwMode="auto">
          <a:xfrm>
            <a:off x="8518525" y="2362200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đồ thị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600200"/>
            <a:ext cx="7080251" cy="4419600"/>
          </a:xfrm>
        </p:spPr>
        <p:txBody>
          <a:bodyPr/>
          <a:lstStyle/>
          <a:p>
            <a:r>
              <a:rPr lang="vi-VN" sz="2400" noProof="0" dirty="0">
                <a:latin typeface="Calibri"/>
                <a:cs typeface="Calibri"/>
              </a:rPr>
              <a:t>Hàm h nhất quán </a:t>
            </a:r>
            <a:r>
              <a:rPr lang="vi-VN" sz="2400" noProof="0" dirty="0">
                <a:latin typeface="Calibri"/>
                <a:cs typeface="Calibri"/>
                <a:sym typeface="Wingdings" pitchFamily="2" charset="2"/>
              </a:rPr>
              <a:t> </a:t>
            </a:r>
            <a:r>
              <a:rPr lang="vi-VN" sz="2400" noProof="0" dirty="0">
                <a:latin typeface="Calibri"/>
                <a:cs typeface="Calibri"/>
              </a:rPr>
              <a:t>Giá trị của hàm f không giảm theo mọi đường đi từ gốc</a:t>
            </a:r>
            <a:endParaRPr lang="vi-VN" sz="2400" noProof="0" dirty="0">
              <a:latin typeface="Calibri"/>
              <a:cs typeface="Calibri"/>
              <a:sym typeface="Wingdings" pitchFamily="2" charset="2"/>
            </a:endParaRPr>
          </a:p>
          <a:p>
            <a:pPr eaLnBrk="1" hangingPunct="1"/>
            <a:r>
              <a:rPr lang="vi-VN" sz="2400" dirty="0">
                <a:latin typeface="Calibri"/>
                <a:cs typeface="Calibri"/>
                <a:sym typeface="Wingdings" pitchFamily="2" charset="2"/>
              </a:rPr>
              <a:t>Chứng minh:</a:t>
            </a:r>
          </a:p>
          <a:p>
            <a:pPr lvl="1"/>
            <a:r>
              <a:rPr lang="vi-VN" sz="2000" noProof="0" dirty="0">
                <a:latin typeface="Calibri"/>
                <a:cs typeface="Calibri"/>
              </a:rPr>
              <a:t>Xét nút p là trạng thái trước n trong một đường đi từ gốc:</a:t>
            </a:r>
            <a:br>
              <a:rPr lang="vi-VN" sz="2000" noProof="0" dirty="0">
                <a:latin typeface="Calibri"/>
                <a:cs typeface="Calibri"/>
              </a:rPr>
            </a:br>
            <a:r>
              <a:rPr lang="vi-VN" sz="2000" noProof="0" dirty="0">
                <a:latin typeface="Calibri"/>
                <a:cs typeface="Calibri"/>
              </a:rPr>
              <a:t>h(p) ≤ c(p,n) + h(n)</a:t>
            </a:r>
            <a:br>
              <a:rPr lang="vi-VN" sz="2000" noProof="0" dirty="0">
                <a:latin typeface="Calibri"/>
                <a:cs typeface="Calibri"/>
              </a:rPr>
            </a:br>
            <a:r>
              <a:rPr lang="vi-VN" sz="2000" dirty="0">
                <a:latin typeface="Calibri"/>
                <a:cs typeface="Calibri"/>
              </a:rPr>
              <a:t>f(p) = g(p) + h(p) </a:t>
            </a:r>
            <a:r>
              <a:rPr lang="vi-VN" sz="2000" noProof="0" dirty="0">
                <a:latin typeface="Calibri"/>
                <a:cs typeface="Calibri"/>
              </a:rPr>
              <a:t>≤ </a:t>
            </a:r>
            <a:r>
              <a:rPr lang="vi-VN" sz="2000" dirty="0">
                <a:latin typeface="Calibri"/>
                <a:cs typeface="Calibri"/>
              </a:rPr>
              <a:t>g(p) + </a:t>
            </a:r>
            <a:r>
              <a:rPr lang="vi-VN" sz="2000" noProof="0" dirty="0">
                <a:latin typeface="Calibri"/>
                <a:cs typeface="Calibri"/>
              </a:rPr>
              <a:t>c(p,n) + h(n) = g(n) + h(n) = f(n)</a:t>
            </a:r>
          </a:p>
        </p:txBody>
      </p:sp>
      <p:sp>
        <p:nvSpPr>
          <p:cNvPr id="41989" name="Freeform 9"/>
          <p:cNvSpPr>
            <a:spLocks/>
          </p:cNvSpPr>
          <p:nvPr/>
        </p:nvSpPr>
        <p:spPr bwMode="auto">
          <a:xfrm>
            <a:off x="8001000" y="253365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0" name="Oval 10"/>
          <p:cNvSpPr>
            <a:spLocks noChangeArrowheads="1"/>
          </p:cNvSpPr>
          <p:nvPr/>
        </p:nvSpPr>
        <p:spPr bwMode="auto">
          <a:xfrm>
            <a:off x="9123363" y="2889250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1" name="Oval 11"/>
          <p:cNvSpPr>
            <a:spLocks noChangeArrowheads="1"/>
          </p:cNvSpPr>
          <p:nvPr/>
        </p:nvSpPr>
        <p:spPr bwMode="auto">
          <a:xfrm>
            <a:off x="9599613" y="287972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2" name="Text Box 12"/>
          <p:cNvSpPr txBox="1">
            <a:spLocks noChangeArrowheads="1"/>
          </p:cNvSpPr>
          <p:nvPr/>
        </p:nvSpPr>
        <p:spPr bwMode="auto">
          <a:xfrm>
            <a:off x="9253538" y="2740026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41993" name="Oval 16"/>
          <p:cNvSpPr>
            <a:spLocks noChangeArrowheads="1"/>
          </p:cNvSpPr>
          <p:nvPr/>
        </p:nvSpPr>
        <p:spPr bwMode="auto">
          <a:xfrm>
            <a:off x="9847263" y="3929063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4" name="Oval 17"/>
          <p:cNvSpPr>
            <a:spLocks noChangeArrowheads="1"/>
          </p:cNvSpPr>
          <p:nvPr/>
        </p:nvSpPr>
        <p:spPr bwMode="auto">
          <a:xfrm>
            <a:off x="9367838" y="4484688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5" name="Freeform 19"/>
          <p:cNvSpPr>
            <a:spLocks/>
          </p:cNvSpPr>
          <p:nvPr/>
        </p:nvSpPr>
        <p:spPr bwMode="auto">
          <a:xfrm>
            <a:off x="9321800" y="3275014"/>
            <a:ext cx="179388" cy="1196975"/>
          </a:xfrm>
          <a:custGeom>
            <a:avLst/>
            <a:gdLst>
              <a:gd name="T0" fmla="*/ 2147483647 w 113"/>
              <a:gd name="T1" fmla="*/ 0 h 754"/>
              <a:gd name="T2" fmla="*/ 2147483647 w 113"/>
              <a:gd name="T3" fmla="*/ 2147483647 h 754"/>
              <a:gd name="T4" fmla="*/ 2147483647 w 113"/>
              <a:gd name="T5" fmla="*/ 2147483647 h 754"/>
              <a:gd name="T6" fmla="*/ 2147483647 w 113"/>
              <a:gd name="T7" fmla="*/ 2147483647 h 754"/>
              <a:gd name="T8" fmla="*/ 2147483647 w 113"/>
              <a:gd name="T9" fmla="*/ 2147483647 h 754"/>
              <a:gd name="T10" fmla="*/ 0 w 113"/>
              <a:gd name="T11" fmla="*/ 2147483647 h 754"/>
              <a:gd name="T12" fmla="*/ 2147483647 w 113"/>
              <a:gd name="T13" fmla="*/ 2147483647 h 754"/>
              <a:gd name="T14" fmla="*/ 2147483647 w 113"/>
              <a:gd name="T15" fmla="*/ 2147483647 h 754"/>
              <a:gd name="T16" fmla="*/ 2147483647 w 113"/>
              <a:gd name="T17" fmla="*/ 2147483647 h 754"/>
              <a:gd name="T18" fmla="*/ 2147483647 w 113"/>
              <a:gd name="T19" fmla="*/ 2147483647 h 7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3"/>
              <a:gd name="T31" fmla="*/ 0 h 754"/>
              <a:gd name="T32" fmla="*/ 113 w 113"/>
              <a:gd name="T33" fmla="*/ 754 h 7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3" h="754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6" name="Freeform 20"/>
          <p:cNvSpPr>
            <a:spLocks/>
          </p:cNvSpPr>
          <p:nvPr/>
        </p:nvSpPr>
        <p:spPr bwMode="auto">
          <a:xfrm>
            <a:off x="9739311" y="3471862"/>
            <a:ext cx="222251" cy="436563"/>
          </a:xfrm>
          <a:custGeom>
            <a:avLst/>
            <a:gdLst>
              <a:gd name="T0" fmla="*/ 0 w 140"/>
              <a:gd name="T1" fmla="*/ 0 h 275"/>
              <a:gd name="T2" fmla="*/ 2147483647 w 140"/>
              <a:gd name="T3" fmla="*/ 2147483647 h 275"/>
              <a:gd name="T4" fmla="*/ 2147483647 w 140"/>
              <a:gd name="T5" fmla="*/ 2147483647 h 275"/>
              <a:gd name="T6" fmla="*/ 2147483647 w 140"/>
              <a:gd name="T7" fmla="*/ 2147483647 h 275"/>
              <a:gd name="T8" fmla="*/ 2147483647 w 140"/>
              <a:gd name="T9" fmla="*/ 2147483647 h 275"/>
              <a:gd name="T10" fmla="*/ 2147483647 w 140"/>
              <a:gd name="T11" fmla="*/ 2147483647 h 2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"/>
              <a:gd name="T19" fmla="*/ 0 h 275"/>
              <a:gd name="T20" fmla="*/ 140 w 140"/>
              <a:gd name="T21" fmla="*/ 275 h 2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" h="275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7" name="Oval 22"/>
          <p:cNvSpPr>
            <a:spLocks noChangeArrowheads="1"/>
          </p:cNvSpPr>
          <p:nvPr/>
        </p:nvSpPr>
        <p:spPr bwMode="auto">
          <a:xfrm>
            <a:off x="9355138" y="2463801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8" name="Freeform 23"/>
          <p:cNvSpPr>
            <a:spLocks/>
          </p:cNvSpPr>
          <p:nvPr/>
        </p:nvSpPr>
        <p:spPr bwMode="auto">
          <a:xfrm>
            <a:off x="8783637" y="3368676"/>
            <a:ext cx="1181100" cy="557212"/>
          </a:xfrm>
          <a:custGeom>
            <a:avLst/>
            <a:gdLst>
              <a:gd name="T0" fmla="*/ 2147483647 w 744"/>
              <a:gd name="T1" fmla="*/ 0 h 351"/>
              <a:gd name="T2" fmla="*/ 2147483647 w 744"/>
              <a:gd name="T3" fmla="*/ 2147483647 h 351"/>
              <a:gd name="T4" fmla="*/ 2147483647 w 744"/>
              <a:gd name="T5" fmla="*/ 2147483647 h 351"/>
              <a:gd name="T6" fmla="*/ 2147483647 w 744"/>
              <a:gd name="T7" fmla="*/ 2147483647 h 351"/>
              <a:gd name="T8" fmla="*/ 0 w 744"/>
              <a:gd name="T9" fmla="*/ 2147483647 h 3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351"/>
              <a:gd name="T17" fmla="*/ 744 w 744"/>
              <a:gd name="T18" fmla="*/ 351 h 3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351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9" name="Freeform 24"/>
          <p:cNvSpPr>
            <a:spLocks/>
          </p:cNvSpPr>
          <p:nvPr/>
        </p:nvSpPr>
        <p:spPr bwMode="auto">
          <a:xfrm>
            <a:off x="9039226" y="3100388"/>
            <a:ext cx="747713" cy="293688"/>
          </a:xfrm>
          <a:custGeom>
            <a:avLst/>
            <a:gdLst>
              <a:gd name="T0" fmla="*/ 2147483647 w 471"/>
              <a:gd name="T1" fmla="*/ 0 h 185"/>
              <a:gd name="T2" fmla="*/ 2147483647 w 471"/>
              <a:gd name="T3" fmla="*/ 2147483647 h 185"/>
              <a:gd name="T4" fmla="*/ 0 w 471"/>
              <a:gd name="T5" fmla="*/ 2147483647 h 185"/>
              <a:gd name="T6" fmla="*/ 0 60000 65536"/>
              <a:gd name="T7" fmla="*/ 0 60000 65536"/>
              <a:gd name="T8" fmla="*/ 0 60000 65536"/>
              <a:gd name="T9" fmla="*/ 0 w 471"/>
              <a:gd name="T10" fmla="*/ 0 h 185"/>
              <a:gd name="T11" fmla="*/ 471 w 471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1" h="185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2000" name="Text Box 26"/>
          <p:cNvSpPr txBox="1">
            <a:spLocks noChangeArrowheads="1"/>
          </p:cNvSpPr>
          <p:nvPr/>
        </p:nvSpPr>
        <p:spPr bwMode="auto">
          <a:xfrm>
            <a:off x="10277475" y="3468689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3</a:t>
            </a:r>
          </a:p>
        </p:txBody>
      </p:sp>
      <p:sp>
        <p:nvSpPr>
          <p:cNvPr id="42001" name="Text Box 27"/>
          <p:cNvSpPr txBox="1">
            <a:spLocks noChangeArrowheads="1"/>
          </p:cNvSpPr>
          <p:nvPr/>
        </p:nvSpPr>
        <p:spPr bwMode="auto">
          <a:xfrm>
            <a:off x="10150475" y="3073401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2</a:t>
            </a:r>
          </a:p>
        </p:txBody>
      </p:sp>
      <p:sp>
        <p:nvSpPr>
          <p:cNvPr id="42002" name="Text Box 28"/>
          <p:cNvSpPr txBox="1">
            <a:spLocks noChangeArrowheads="1"/>
          </p:cNvSpPr>
          <p:nvPr/>
        </p:nvSpPr>
        <p:spPr bwMode="auto">
          <a:xfrm>
            <a:off x="9950449" y="2695577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1</a:t>
            </a:r>
          </a:p>
        </p:txBody>
      </p:sp>
    </p:spTree>
    <p:extLst>
      <p:ext uri="{BB962C8B-B14F-4D97-AF65-F5344CB8AC3E}">
        <p14:creationId xmlns:p14="http://schemas.microsoft.com/office/powerpoint/2010/main" val="385503378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đồ thị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600200"/>
            <a:ext cx="7607301" cy="4419600"/>
          </a:xfrm>
        </p:spPr>
        <p:txBody>
          <a:bodyPr/>
          <a:lstStyle/>
          <a:p>
            <a:pPr eaLnBrk="1" hangingPunct="1"/>
            <a:r>
              <a:rPr lang="vi-VN" sz="2800" noProof="0" dirty="0">
                <a:latin typeface="Calibri"/>
                <a:cs typeface="Calibri"/>
              </a:rPr>
              <a:t>Giả sử A* sử dụng hàm kinh nghiệm nhất quán:</a:t>
            </a:r>
            <a:endParaRPr lang="vi-VN" sz="1400" noProof="0" dirty="0">
              <a:latin typeface="Calibri"/>
              <a:cs typeface="Calibri"/>
            </a:endParaRPr>
          </a:p>
          <a:p>
            <a:pPr lvl="1" eaLnBrk="1" hangingPunct="1"/>
            <a:r>
              <a:rPr lang="vi-VN" sz="2400" noProof="0" dirty="0">
                <a:latin typeface="Calibri"/>
                <a:cs typeface="Calibri"/>
              </a:rPr>
              <a:t>Mệnh đề 1: Trong cây tìm kiếm, A* mở rộng theo thứ tự tăng dần của f (đường đồng mức của f)</a:t>
            </a:r>
          </a:p>
          <a:p>
            <a:pPr lvl="1" eaLnBrk="1" hangingPunct="1"/>
            <a:r>
              <a:rPr lang="vi-VN" sz="2400" dirty="0">
                <a:latin typeface="Calibri"/>
                <a:cs typeface="Calibri"/>
              </a:rPr>
              <a:t>Chứng minh: Giả sử 2 nút n, n’ có f(n) ≤ f(n’)</a:t>
            </a:r>
            <a:br>
              <a:rPr lang="vi-VN" sz="2400" dirty="0">
                <a:latin typeface="Calibri"/>
                <a:cs typeface="Calibri"/>
              </a:rPr>
            </a:br>
            <a:r>
              <a:rPr lang="vi-VN" sz="2400" dirty="0">
                <a:latin typeface="Calibri"/>
                <a:cs typeface="Calibri"/>
              </a:rPr>
              <a:t>Tại thời điểm n’ được mở rộng</a:t>
            </a:r>
          </a:p>
          <a:p>
            <a:pPr lvl="2"/>
            <a:r>
              <a:rPr lang="vi-VN" sz="2000" dirty="0">
                <a:latin typeface="Calibri"/>
                <a:cs typeface="Calibri"/>
              </a:rPr>
              <a:t>Nếu n đã được mở rộng trước đó </a:t>
            </a:r>
            <a:r>
              <a:rPr lang="vi-VN" sz="2000" dirty="0">
                <a:latin typeface="Calibri"/>
                <a:cs typeface="Calibri"/>
                <a:sym typeface="Wingdings" pitchFamily="2" charset="2"/>
              </a:rPr>
              <a:t> đpcm</a:t>
            </a:r>
          </a:p>
          <a:p>
            <a:pPr lvl="2"/>
            <a:r>
              <a:rPr lang="vi-VN" sz="2000" dirty="0">
                <a:latin typeface="Calibri"/>
                <a:cs typeface="Calibri"/>
                <a:sym typeface="Wingdings" pitchFamily="2" charset="2"/>
              </a:rPr>
              <a:t>Nếu n đang ở trong biên tìm kiếm  vô lý vì ta ưu tiên giá trị f nhỏ hơn được mở rộng trước</a:t>
            </a:r>
          </a:p>
          <a:p>
            <a:pPr lvl="2"/>
            <a:r>
              <a:rPr lang="vi-VN" sz="2000" dirty="0">
                <a:latin typeface="Calibri"/>
                <a:cs typeface="Calibri"/>
                <a:sym typeface="Wingdings" pitchFamily="2" charset="2"/>
              </a:rPr>
              <a:t>Nếu n chưa ở trong biên tìm kiếm  xét một nút p bất kì nằm trên đường đi tới n mà đã ở trong biên tìm kiếm. Ta có f(p) &lt; f(n) ≤ f(n’). Suy ra p được mở rộng trước n’  vô lý</a:t>
            </a:r>
            <a:br>
              <a:rPr lang="vi-VN" noProof="0" dirty="0">
                <a:latin typeface="Calibri"/>
                <a:cs typeface="Calibri"/>
              </a:rPr>
            </a:br>
            <a:endParaRPr lang="vi-VN" sz="1400" noProof="0" dirty="0">
              <a:latin typeface="Calibri"/>
              <a:cs typeface="Calibri"/>
            </a:endParaRPr>
          </a:p>
        </p:txBody>
      </p:sp>
      <p:sp>
        <p:nvSpPr>
          <p:cNvPr id="3" name="Freeform 34">
            <a:extLst>
              <a:ext uri="{FF2B5EF4-FFF2-40B4-BE49-F238E27FC236}">
                <a16:creationId xmlns:a16="http://schemas.microsoft.com/office/drawing/2014/main" id="{9007D96D-5932-ADD5-E282-D4B509037924}"/>
              </a:ext>
            </a:extLst>
          </p:cNvPr>
          <p:cNvSpPr>
            <a:spLocks/>
          </p:cNvSpPr>
          <p:nvPr/>
        </p:nvSpPr>
        <p:spPr bwMode="auto">
          <a:xfrm>
            <a:off x="9578975" y="2306637"/>
            <a:ext cx="1931988" cy="2371725"/>
          </a:xfrm>
          <a:custGeom>
            <a:avLst/>
            <a:gdLst>
              <a:gd name="T0" fmla="*/ 2147483647 w 1217"/>
              <a:gd name="T1" fmla="*/ 0 h 1494"/>
              <a:gd name="T2" fmla="*/ 0 w 1217"/>
              <a:gd name="T3" fmla="*/ 2147483647 h 1494"/>
              <a:gd name="T4" fmla="*/ 2147483647 w 1217"/>
              <a:gd name="T5" fmla="*/ 2147483647 h 1494"/>
              <a:gd name="T6" fmla="*/ 2147483647 w 1217"/>
              <a:gd name="T7" fmla="*/ 2147483647 h 1494"/>
              <a:gd name="T8" fmla="*/ 2147483647 w 1217"/>
              <a:gd name="T9" fmla="*/ 2147483647 h 1494"/>
              <a:gd name="T10" fmla="*/ 2147483647 w 1217"/>
              <a:gd name="T11" fmla="*/ 2147483647 h 1494"/>
              <a:gd name="T12" fmla="*/ 2147483647 w 1217"/>
              <a:gd name="T13" fmla="*/ 0 h 14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17"/>
              <a:gd name="T22" fmla="*/ 0 h 1494"/>
              <a:gd name="T23" fmla="*/ 1217 w 1217"/>
              <a:gd name="T24" fmla="*/ 1494 h 14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17" h="1494">
                <a:moveTo>
                  <a:pt x="386" y="0"/>
                </a:moveTo>
                <a:cubicBezTo>
                  <a:pt x="322" y="114"/>
                  <a:pt x="196" y="352"/>
                  <a:pt x="0" y="682"/>
                </a:cubicBezTo>
                <a:cubicBezTo>
                  <a:pt x="56" y="829"/>
                  <a:pt x="128" y="798"/>
                  <a:pt x="196" y="857"/>
                </a:cubicBezTo>
                <a:cubicBezTo>
                  <a:pt x="264" y="916"/>
                  <a:pt x="308" y="996"/>
                  <a:pt x="407" y="1034"/>
                </a:cubicBezTo>
                <a:cubicBezTo>
                  <a:pt x="506" y="1072"/>
                  <a:pt x="667" y="1035"/>
                  <a:pt x="791" y="1082"/>
                </a:cubicBezTo>
                <a:cubicBezTo>
                  <a:pt x="915" y="1129"/>
                  <a:pt x="1217" y="1494"/>
                  <a:pt x="1152" y="1314"/>
                </a:cubicBezTo>
                <a:cubicBezTo>
                  <a:pt x="1087" y="1134"/>
                  <a:pt x="557" y="274"/>
                  <a:pt x="400" y="0"/>
                </a:cubicBezTo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F4659BA-4283-4A17-AEED-CAAB58943201}"/>
              </a:ext>
            </a:extLst>
          </p:cNvPr>
          <p:cNvSpPr>
            <a:spLocks/>
          </p:cNvSpPr>
          <p:nvPr/>
        </p:nvSpPr>
        <p:spPr bwMode="auto">
          <a:xfrm>
            <a:off x="8763000" y="2286000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B89E6358-C244-4AC1-387E-4465BA6FA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8089" y="4329113"/>
            <a:ext cx="179387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6" name="Oval 17">
            <a:extLst>
              <a:ext uri="{FF2B5EF4-FFF2-40B4-BE49-F238E27FC236}">
                <a16:creationId xmlns:a16="http://schemas.microsoft.com/office/drawing/2014/main" id="{F8B3D514-A43B-1A8A-FF55-ECC55F366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2089" y="4024313"/>
            <a:ext cx="179387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7" name="Oval 21">
            <a:extLst>
              <a:ext uri="{FF2B5EF4-FFF2-40B4-BE49-F238E27FC236}">
                <a16:creationId xmlns:a16="http://schemas.microsoft.com/office/drawing/2014/main" id="{23D49EA1-BB54-00C4-FBC2-88AE1629A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7138" y="2216150"/>
            <a:ext cx="179387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D433221B-B1A6-F3D9-7802-752921DF9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7713" y="3054350"/>
            <a:ext cx="179387" cy="1793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pic>
        <p:nvPicPr>
          <p:cNvPr id="9" name="Picture 29" descr="txp_fig">
            <a:extLst>
              <a:ext uri="{FF2B5EF4-FFF2-40B4-BE49-F238E27FC236}">
                <a16:creationId xmlns:a16="http://schemas.microsoft.com/office/drawing/2014/main" id="{D8755C81-5D71-6E25-7B38-413A504C24B2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359900" y="2978149"/>
            <a:ext cx="192088" cy="160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9" descr="txp_fig">
            <a:extLst>
              <a:ext uri="{FF2B5EF4-FFF2-40B4-BE49-F238E27FC236}">
                <a16:creationId xmlns:a16="http://schemas.microsoft.com/office/drawing/2014/main" id="{9F420D2B-8ADA-4789-26BE-2A0A13417624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712577" y="4252912"/>
            <a:ext cx="257175" cy="24130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pic>
        <p:nvPicPr>
          <p:cNvPr id="11" name="Picture 38" descr="txp_fig">
            <a:extLst>
              <a:ext uri="{FF2B5EF4-FFF2-40B4-BE49-F238E27FC236}">
                <a16:creationId xmlns:a16="http://schemas.microsoft.com/office/drawing/2014/main" id="{22BA84D6-B0DC-83DD-9120-D8C3F71F33C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97901" y="3979862"/>
            <a:ext cx="385763" cy="273051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grpSp>
        <p:nvGrpSpPr>
          <p:cNvPr id="12" name="Group 28">
            <a:extLst>
              <a:ext uri="{FF2B5EF4-FFF2-40B4-BE49-F238E27FC236}">
                <a16:creationId xmlns:a16="http://schemas.microsoft.com/office/drawing/2014/main" id="{89FB114A-53A9-B2B2-E263-124DEEC3B29B}"/>
              </a:ext>
            </a:extLst>
          </p:cNvPr>
          <p:cNvGrpSpPr>
            <a:grpSpLocks/>
          </p:cNvGrpSpPr>
          <p:nvPr/>
        </p:nvGrpSpPr>
        <p:grpSpPr bwMode="auto">
          <a:xfrm>
            <a:off x="10225088" y="3109912"/>
            <a:ext cx="441325" cy="533400"/>
            <a:chOff x="7189787" y="2493962"/>
            <a:chExt cx="440532" cy="533400"/>
          </a:xfrm>
        </p:grpSpPr>
        <p:sp>
          <p:nvSpPr>
            <p:cNvPr id="13" name="Oval 27">
              <a:extLst>
                <a:ext uri="{FF2B5EF4-FFF2-40B4-BE49-F238E27FC236}">
                  <a16:creationId xmlns:a16="http://schemas.microsoft.com/office/drawing/2014/main" id="{31D464BA-7646-A4C3-8F8C-2CD48924B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787" y="2847974"/>
              <a:ext cx="179388" cy="1793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4" name="Picture 24" descr="txp_fig">
              <a:extLst>
                <a:ext uri="{FF2B5EF4-FFF2-40B4-BE49-F238E27FC236}">
                  <a16:creationId xmlns:a16="http://schemas.microsoft.com/office/drawing/2014/main" id="{71E0C701-03FF-C100-F067-0F71E4665F9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342187" y="2493962"/>
              <a:ext cx="288132" cy="3044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5" name="Group 29">
            <a:extLst>
              <a:ext uri="{FF2B5EF4-FFF2-40B4-BE49-F238E27FC236}">
                <a16:creationId xmlns:a16="http://schemas.microsoft.com/office/drawing/2014/main" id="{F793A0E5-B388-65F3-0117-4F5FED83B3D7}"/>
              </a:ext>
            </a:extLst>
          </p:cNvPr>
          <p:cNvGrpSpPr>
            <a:grpSpLocks/>
          </p:cNvGrpSpPr>
          <p:nvPr/>
        </p:nvGrpSpPr>
        <p:grpSpPr bwMode="auto">
          <a:xfrm>
            <a:off x="9588500" y="2520949"/>
            <a:ext cx="476251" cy="300039"/>
            <a:chOff x="6553200" y="1905000"/>
            <a:chExt cx="476250" cy="300037"/>
          </a:xfrm>
        </p:grpSpPr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4DBEF2B9-4216-449D-D010-5B83D641B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2" y="2025650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7" name="Picture 26" descr="txp_fig">
              <a:extLst>
                <a:ext uri="{FF2B5EF4-FFF2-40B4-BE49-F238E27FC236}">
                  <a16:creationId xmlns:a16="http://schemas.microsoft.com/office/drawing/2014/main" id="{E72134FD-7F2A-FBC4-B038-F2C5EF1423D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553200" y="1905000"/>
              <a:ext cx="192087" cy="2237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910168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reeform 21"/>
          <p:cNvSpPr>
            <a:spLocks/>
          </p:cNvSpPr>
          <p:nvPr/>
        </p:nvSpPr>
        <p:spPr bwMode="auto">
          <a:xfrm>
            <a:off x="9051925" y="2343149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đồ thị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7543798" cy="4419600"/>
          </a:xfrm>
        </p:spPr>
        <p:txBody>
          <a:bodyPr/>
          <a:lstStyle/>
          <a:p>
            <a:pPr eaLnBrk="1" hangingPunct="1"/>
            <a:r>
              <a:rPr lang="vi-VN" sz="2800" noProof="0" dirty="0">
                <a:latin typeface="Calibri"/>
                <a:cs typeface="Calibri"/>
              </a:rPr>
              <a:t>Giả sử A* sử dụng hàm kinh nghiệm nhất quán:</a:t>
            </a:r>
            <a:br>
              <a:rPr lang="vi-VN" sz="2400" noProof="0" dirty="0">
                <a:latin typeface="Calibri"/>
                <a:cs typeface="Calibri"/>
              </a:rPr>
            </a:br>
            <a:endParaRPr lang="vi-VN" sz="1400" noProof="0" dirty="0">
              <a:latin typeface="Calibri"/>
              <a:cs typeface="Calibri"/>
            </a:endParaRPr>
          </a:p>
          <a:p>
            <a:pPr lvl="1" eaLnBrk="1" hangingPunct="1"/>
            <a:r>
              <a:rPr lang="vi-VN" sz="2400" noProof="0" dirty="0">
                <a:latin typeface="Calibri"/>
                <a:cs typeface="Calibri"/>
              </a:rPr>
              <a:t>Mệnh đề 2: Với mọi trạng thái s, các nút trên đường đi tối ưu đến s được mở rộng trước mọi nút trên đường đi không tối ưu đến s</a:t>
            </a:r>
          </a:p>
          <a:p>
            <a:pPr lvl="1" eaLnBrk="1" hangingPunct="1"/>
            <a:r>
              <a:rPr lang="vi-VN" sz="2400" dirty="0">
                <a:latin typeface="Calibri"/>
                <a:cs typeface="Calibri"/>
              </a:rPr>
              <a:t>Chứng minh: hệ quả của mệnh đề 1, chúng ta mở rộng các nút của cây tìm kiếm theo thứ tự của giá trị f.</a:t>
            </a:r>
            <a:endParaRPr lang="vi-VN" sz="2400" noProof="0" dirty="0">
              <a:latin typeface="Calibri"/>
              <a:cs typeface="Calibri"/>
            </a:endParaRPr>
          </a:p>
          <a:p>
            <a:pPr lvl="1"/>
            <a:endParaRPr lang="vi-VN" sz="1400" noProof="0" dirty="0">
              <a:latin typeface="Calibri"/>
              <a:cs typeface="Calibri"/>
            </a:endParaRPr>
          </a:p>
          <a:p>
            <a:pPr lvl="1" eaLnBrk="1" hangingPunct="1"/>
            <a:r>
              <a:rPr lang="vi-VN" sz="2400" noProof="0" dirty="0">
                <a:latin typeface="Calibri"/>
                <a:cs typeface="Calibri"/>
              </a:rPr>
              <a:t>Kết quả: A* trên đồ thị tối ưu vì không cần mở rộng một trạng thái 2 lần (lần sau chắc chắn không tốt bằng lần đầu)</a:t>
            </a:r>
          </a:p>
        </p:txBody>
      </p:sp>
      <p:sp>
        <p:nvSpPr>
          <p:cNvPr id="41989" name="Freeform 9"/>
          <p:cNvSpPr>
            <a:spLocks/>
          </p:cNvSpPr>
          <p:nvPr/>
        </p:nvSpPr>
        <p:spPr bwMode="auto">
          <a:xfrm>
            <a:off x="8534400" y="2514600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0" name="Oval 10"/>
          <p:cNvSpPr>
            <a:spLocks noChangeArrowheads="1"/>
          </p:cNvSpPr>
          <p:nvPr/>
        </p:nvSpPr>
        <p:spPr bwMode="auto">
          <a:xfrm>
            <a:off x="9656763" y="2870199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1" name="Oval 11"/>
          <p:cNvSpPr>
            <a:spLocks noChangeArrowheads="1"/>
          </p:cNvSpPr>
          <p:nvPr/>
        </p:nvSpPr>
        <p:spPr bwMode="auto">
          <a:xfrm>
            <a:off x="10133013" y="2860675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2" name="Text Box 12"/>
          <p:cNvSpPr txBox="1">
            <a:spLocks noChangeArrowheads="1"/>
          </p:cNvSpPr>
          <p:nvPr/>
        </p:nvSpPr>
        <p:spPr bwMode="auto">
          <a:xfrm>
            <a:off x="9786938" y="2720975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41993" name="Oval 16"/>
          <p:cNvSpPr>
            <a:spLocks noChangeArrowheads="1"/>
          </p:cNvSpPr>
          <p:nvPr/>
        </p:nvSpPr>
        <p:spPr bwMode="auto">
          <a:xfrm>
            <a:off x="10380663" y="3910012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4" name="Oval 17"/>
          <p:cNvSpPr>
            <a:spLocks noChangeArrowheads="1"/>
          </p:cNvSpPr>
          <p:nvPr/>
        </p:nvSpPr>
        <p:spPr bwMode="auto">
          <a:xfrm>
            <a:off x="9901238" y="4465637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5" name="Freeform 19"/>
          <p:cNvSpPr>
            <a:spLocks/>
          </p:cNvSpPr>
          <p:nvPr/>
        </p:nvSpPr>
        <p:spPr bwMode="auto">
          <a:xfrm>
            <a:off x="9855200" y="3255963"/>
            <a:ext cx="179388" cy="1196975"/>
          </a:xfrm>
          <a:custGeom>
            <a:avLst/>
            <a:gdLst>
              <a:gd name="T0" fmla="*/ 2147483647 w 113"/>
              <a:gd name="T1" fmla="*/ 0 h 754"/>
              <a:gd name="T2" fmla="*/ 2147483647 w 113"/>
              <a:gd name="T3" fmla="*/ 2147483647 h 754"/>
              <a:gd name="T4" fmla="*/ 2147483647 w 113"/>
              <a:gd name="T5" fmla="*/ 2147483647 h 754"/>
              <a:gd name="T6" fmla="*/ 2147483647 w 113"/>
              <a:gd name="T7" fmla="*/ 2147483647 h 754"/>
              <a:gd name="T8" fmla="*/ 2147483647 w 113"/>
              <a:gd name="T9" fmla="*/ 2147483647 h 754"/>
              <a:gd name="T10" fmla="*/ 0 w 113"/>
              <a:gd name="T11" fmla="*/ 2147483647 h 754"/>
              <a:gd name="T12" fmla="*/ 2147483647 w 113"/>
              <a:gd name="T13" fmla="*/ 2147483647 h 754"/>
              <a:gd name="T14" fmla="*/ 2147483647 w 113"/>
              <a:gd name="T15" fmla="*/ 2147483647 h 754"/>
              <a:gd name="T16" fmla="*/ 2147483647 w 113"/>
              <a:gd name="T17" fmla="*/ 2147483647 h 754"/>
              <a:gd name="T18" fmla="*/ 2147483647 w 113"/>
              <a:gd name="T19" fmla="*/ 2147483647 h 7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3"/>
              <a:gd name="T31" fmla="*/ 0 h 754"/>
              <a:gd name="T32" fmla="*/ 113 w 113"/>
              <a:gd name="T33" fmla="*/ 754 h 7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3" h="754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6" name="Freeform 20"/>
          <p:cNvSpPr>
            <a:spLocks/>
          </p:cNvSpPr>
          <p:nvPr/>
        </p:nvSpPr>
        <p:spPr bwMode="auto">
          <a:xfrm>
            <a:off x="10272711" y="3452811"/>
            <a:ext cx="222251" cy="436563"/>
          </a:xfrm>
          <a:custGeom>
            <a:avLst/>
            <a:gdLst>
              <a:gd name="T0" fmla="*/ 0 w 140"/>
              <a:gd name="T1" fmla="*/ 0 h 275"/>
              <a:gd name="T2" fmla="*/ 2147483647 w 140"/>
              <a:gd name="T3" fmla="*/ 2147483647 h 275"/>
              <a:gd name="T4" fmla="*/ 2147483647 w 140"/>
              <a:gd name="T5" fmla="*/ 2147483647 h 275"/>
              <a:gd name="T6" fmla="*/ 2147483647 w 140"/>
              <a:gd name="T7" fmla="*/ 2147483647 h 275"/>
              <a:gd name="T8" fmla="*/ 2147483647 w 140"/>
              <a:gd name="T9" fmla="*/ 2147483647 h 275"/>
              <a:gd name="T10" fmla="*/ 2147483647 w 140"/>
              <a:gd name="T11" fmla="*/ 2147483647 h 2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"/>
              <a:gd name="T19" fmla="*/ 0 h 275"/>
              <a:gd name="T20" fmla="*/ 140 w 140"/>
              <a:gd name="T21" fmla="*/ 275 h 2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" h="275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7" name="Oval 22"/>
          <p:cNvSpPr>
            <a:spLocks noChangeArrowheads="1"/>
          </p:cNvSpPr>
          <p:nvPr/>
        </p:nvSpPr>
        <p:spPr bwMode="auto">
          <a:xfrm>
            <a:off x="9888538" y="2444750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8" name="Freeform 23"/>
          <p:cNvSpPr>
            <a:spLocks/>
          </p:cNvSpPr>
          <p:nvPr/>
        </p:nvSpPr>
        <p:spPr bwMode="auto">
          <a:xfrm>
            <a:off x="9317037" y="3349625"/>
            <a:ext cx="1181100" cy="557212"/>
          </a:xfrm>
          <a:custGeom>
            <a:avLst/>
            <a:gdLst>
              <a:gd name="T0" fmla="*/ 2147483647 w 744"/>
              <a:gd name="T1" fmla="*/ 0 h 351"/>
              <a:gd name="T2" fmla="*/ 2147483647 w 744"/>
              <a:gd name="T3" fmla="*/ 2147483647 h 351"/>
              <a:gd name="T4" fmla="*/ 2147483647 w 744"/>
              <a:gd name="T5" fmla="*/ 2147483647 h 351"/>
              <a:gd name="T6" fmla="*/ 2147483647 w 744"/>
              <a:gd name="T7" fmla="*/ 2147483647 h 351"/>
              <a:gd name="T8" fmla="*/ 0 w 744"/>
              <a:gd name="T9" fmla="*/ 2147483647 h 3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351"/>
              <a:gd name="T17" fmla="*/ 744 w 744"/>
              <a:gd name="T18" fmla="*/ 351 h 3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351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9" name="Freeform 24"/>
          <p:cNvSpPr>
            <a:spLocks/>
          </p:cNvSpPr>
          <p:nvPr/>
        </p:nvSpPr>
        <p:spPr bwMode="auto">
          <a:xfrm>
            <a:off x="9572626" y="3081337"/>
            <a:ext cx="747713" cy="293688"/>
          </a:xfrm>
          <a:custGeom>
            <a:avLst/>
            <a:gdLst>
              <a:gd name="T0" fmla="*/ 2147483647 w 471"/>
              <a:gd name="T1" fmla="*/ 0 h 185"/>
              <a:gd name="T2" fmla="*/ 2147483647 w 471"/>
              <a:gd name="T3" fmla="*/ 2147483647 h 185"/>
              <a:gd name="T4" fmla="*/ 0 w 471"/>
              <a:gd name="T5" fmla="*/ 2147483647 h 185"/>
              <a:gd name="T6" fmla="*/ 0 60000 65536"/>
              <a:gd name="T7" fmla="*/ 0 60000 65536"/>
              <a:gd name="T8" fmla="*/ 0 60000 65536"/>
              <a:gd name="T9" fmla="*/ 0 w 471"/>
              <a:gd name="T10" fmla="*/ 0 h 185"/>
              <a:gd name="T11" fmla="*/ 471 w 471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1" h="185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2000" name="Text Box 26"/>
          <p:cNvSpPr txBox="1">
            <a:spLocks noChangeArrowheads="1"/>
          </p:cNvSpPr>
          <p:nvPr/>
        </p:nvSpPr>
        <p:spPr bwMode="auto">
          <a:xfrm>
            <a:off x="10810875" y="3449638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3</a:t>
            </a:r>
          </a:p>
        </p:txBody>
      </p:sp>
      <p:sp>
        <p:nvSpPr>
          <p:cNvPr id="42001" name="Text Box 27"/>
          <p:cNvSpPr txBox="1">
            <a:spLocks noChangeArrowheads="1"/>
          </p:cNvSpPr>
          <p:nvPr/>
        </p:nvSpPr>
        <p:spPr bwMode="auto">
          <a:xfrm>
            <a:off x="10683875" y="3054350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2</a:t>
            </a:r>
          </a:p>
        </p:txBody>
      </p:sp>
      <p:sp>
        <p:nvSpPr>
          <p:cNvPr id="42002" name="Text Box 28"/>
          <p:cNvSpPr txBox="1">
            <a:spLocks noChangeArrowheads="1"/>
          </p:cNvSpPr>
          <p:nvPr/>
        </p:nvSpPr>
        <p:spPr bwMode="auto">
          <a:xfrm>
            <a:off x="10483849" y="2676526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1</a:t>
            </a:r>
          </a:p>
        </p:txBody>
      </p:sp>
    </p:spTree>
    <p:extLst>
      <p:ext uri="{BB962C8B-B14F-4D97-AF65-F5344CB8AC3E}">
        <p14:creationId xmlns:p14="http://schemas.microsoft.com/office/powerpoint/2010/main" val="3464164265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Tối ưu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1"/>
            <a:ext cx="6375400" cy="472916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dirty="0"/>
              <a:t>A* trên cây</a:t>
            </a:r>
            <a:r>
              <a:rPr lang="vi-VN" sz="2800" noProof="0" dirty="0"/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noProof="0" dirty="0"/>
              <a:t>A* tối ưu nếu hàm kinh nghiệm chấp nhận được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noProof="0" dirty="0"/>
              <a:t>Trường hợp đặc biệt, UCS (h = 0)</a:t>
            </a:r>
          </a:p>
          <a:p>
            <a:pPr eaLnBrk="1" hangingPunct="1">
              <a:lnSpc>
                <a:spcPct val="80000"/>
              </a:lnSpc>
            </a:pPr>
            <a:endParaRPr lang="vi-VN" sz="2800" noProof="0" dirty="0"/>
          </a:p>
          <a:p>
            <a:pPr eaLnBrk="1" hangingPunct="1">
              <a:lnSpc>
                <a:spcPct val="80000"/>
              </a:lnSpc>
            </a:pPr>
            <a:r>
              <a:rPr lang="vi-VN" sz="2800" noProof="0" dirty="0"/>
              <a:t>A* trên đồ thị: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noProof="0" dirty="0"/>
              <a:t>A* tối ưu nếu hàm kinh nghiệm nhất quán</a:t>
            </a:r>
          </a:p>
          <a:p>
            <a:pPr lvl="1">
              <a:lnSpc>
                <a:spcPct val="80000"/>
              </a:lnSpc>
            </a:pPr>
            <a:r>
              <a:rPr lang="vi-VN" sz="2400" noProof="0" dirty="0"/>
              <a:t>Trường hợp đặc biệt, UCS (h = 0)</a:t>
            </a:r>
          </a:p>
          <a:p>
            <a:pPr lvl="1" eaLnBrk="1" hangingPunct="1">
              <a:lnSpc>
                <a:spcPct val="80000"/>
              </a:lnSpc>
            </a:pPr>
            <a:endParaRPr lang="vi-VN" sz="2400" noProof="0" dirty="0"/>
          </a:p>
          <a:p>
            <a:pPr>
              <a:lnSpc>
                <a:spcPct val="80000"/>
              </a:lnSpc>
            </a:pPr>
            <a:r>
              <a:rPr lang="vi-VN" sz="2800" dirty="0"/>
              <a:t>N</a:t>
            </a:r>
            <a:r>
              <a:rPr lang="vi-VN" sz="2800" noProof="0" dirty="0"/>
              <a:t>hất quán ⇒ Chấp nhận được</a:t>
            </a:r>
          </a:p>
          <a:p>
            <a:pPr marL="457176" lvl="1" indent="0" eaLnBrk="1" hangingPunct="1">
              <a:lnSpc>
                <a:spcPct val="80000"/>
              </a:lnSpc>
              <a:buNone/>
            </a:pPr>
            <a:endParaRPr lang="vi-VN" sz="2400" noProof="0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9853" y="2009404"/>
            <a:ext cx="4720694" cy="340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Tổng kết: A*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A* sử dụng cả chi phí quá khứ và ước lượng chi phí tương lai</a:t>
            </a:r>
          </a:p>
          <a:p>
            <a:pPr lvl="4"/>
            <a:endParaRPr lang="vi-VN" sz="1600" noProof="0" dirty="0"/>
          </a:p>
          <a:p>
            <a:pPr eaLnBrk="1" hangingPunct="1"/>
            <a:r>
              <a:rPr lang="vi-VN" noProof="0" dirty="0"/>
              <a:t>A* tối ưu với hàm kinh nghiệm chấp nhận được / nhất quán</a:t>
            </a:r>
          </a:p>
          <a:p>
            <a:pPr lvl="4"/>
            <a:endParaRPr lang="vi-VN" sz="1600" noProof="0" dirty="0"/>
          </a:p>
          <a:p>
            <a:pPr eaLnBrk="1" hangingPunct="1"/>
            <a:r>
              <a:rPr lang="vi-VN" noProof="0" dirty="0"/>
              <a:t>Thiết kế hàm kinh nghiệm: Sử dụng bài toán nới lỏng ràng buộc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1201" y="3886363"/>
            <a:ext cx="8077197" cy="2487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C852-16E4-E01D-A6A7-69D6C2CA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ngữ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C5C24-0C5D-034F-3E45-E86748BD9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informed search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“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”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best first search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UCS</a:t>
            </a:r>
          </a:p>
          <a:p>
            <a:pPr lvl="1"/>
            <a:r>
              <a:rPr lang="en-US" dirty="0"/>
              <a:t>Greedy search, A*</a:t>
            </a:r>
          </a:p>
          <a:p>
            <a:pPr lvl="1"/>
            <a:r>
              <a:rPr lang="en-US" dirty="0"/>
              <a:t>Hill climbing</a:t>
            </a:r>
          </a:p>
        </p:txBody>
      </p:sp>
    </p:spTree>
    <p:extLst>
      <p:ext uri="{BB962C8B-B14F-4D97-AF65-F5344CB8AC3E}">
        <p14:creationId xmlns:p14="http://schemas.microsoft.com/office/powerpoint/2010/main" val="39526813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7F1F-9D32-6978-59F6-910635D1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E7623-1B30-5201-EB9B-BA4E64109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A*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đường</a:t>
            </a:r>
            <a:r>
              <a:rPr lang="en-US" sz="2800" dirty="0"/>
              <a:t> </a:t>
            </a:r>
            <a:r>
              <a:rPr lang="en-US" sz="2800" dirty="0" err="1"/>
              <a:t>đi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ma </a:t>
            </a:r>
            <a:r>
              <a:rPr lang="en-US" sz="2800" dirty="0" err="1"/>
              <a:t>trận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hàm</a:t>
            </a:r>
            <a:r>
              <a:rPr lang="en-US" sz="2800" dirty="0"/>
              <a:t> </a:t>
            </a:r>
            <a:r>
              <a:rPr lang="en-US" sz="2800" dirty="0" err="1"/>
              <a:t>kinh</a:t>
            </a:r>
            <a:r>
              <a:rPr lang="en-US" sz="2800" dirty="0"/>
              <a:t> </a:t>
            </a:r>
            <a:r>
              <a:rPr lang="en-US" sz="2800" dirty="0" err="1"/>
              <a:t>nghiệm</a:t>
            </a:r>
            <a:r>
              <a:rPr lang="en-US" sz="2800" dirty="0"/>
              <a:t> Manhattan</a:t>
            </a:r>
          </a:p>
          <a:p>
            <a:r>
              <a:rPr lang="en-US" sz="2800" dirty="0" err="1"/>
              <a:t>Viết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</a:t>
            </a:r>
            <a:r>
              <a:rPr lang="en-US" sz="2800" dirty="0" err="1"/>
              <a:t>chương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trò</a:t>
            </a:r>
            <a:r>
              <a:rPr lang="en-US" sz="2800" dirty="0"/>
              <a:t> </a:t>
            </a:r>
            <a:r>
              <a:rPr lang="en-US" sz="2800" dirty="0" err="1"/>
              <a:t>chơi</a:t>
            </a:r>
            <a:r>
              <a:rPr lang="en-US" sz="2800" dirty="0"/>
              <a:t> </a:t>
            </a:r>
            <a:r>
              <a:rPr lang="en-US" sz="2800" dirty="0" err="1"/>
              <a:t>đẩy</a:t>
            </a:r>
            <a:r>
              <a:rPr lang="en-US" sz="2800" dirty="0"/>
              <a:t> ô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A*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hàm</a:t>
            </a:r>
            <a:r>
              <a:rPr lang="en-US" sz="2800" dirty="0"/>
              <a:t> </a:t>
            </a:r>
            <a:r>
              <a:rPr lang="en-US" sz="2800" dirty="0" err="1"/>
              <a:t>kinh</a:t>
            </a:r>
            <a:r>
              <a:rPr lang="en-US" sz="2800" dirty="0"/>
              <a:t> </a:t>
            </a:r>
            <a:r>
              <a:rPr lang="en-US" sz="2800" dirty="0" err="1"/>
              <a:t>nghiệm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r>
              <a:rPr lang="en-US" sz="2800" dirty="0"/>
              <a:t> </a:t>
            </a:r>
            <a:r>
              <a:rPr lang="en-US" sz="2800" dirty="0" err="1"/>
              <a:t>nhau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kích</a:t>
            </a:r>
            <a:r>
              <a:rPr lang="en-US" sz="2800" dirty="0"/>
              <a:t> </a:t>
            </a:r>
            <a:r>
              <a:rPr lang="en-US" sz="2800" dirty="0" err="1"/>
              <a:t>thước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r>
              <a:rPr lang="en-US" sz="2800" dirty="0"/>
              <a:t> </a:t>
            </a:r>
            <a:r>
              <a:rPr lang="en-US" sz="2800" dirty="0" err="1"/>
              <a:t>nhau</a:t>
            </a:r>
            <a:r>
              <a:rPr lang="en-US" sz="2800" dirty="0"/>
              <a:t> (8-puzzle, 15-puzzle)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ECEF7E-FBE1-0605-0159-B8F5B943D447}"/>
              </a:ext>
            </a:extLst>
          </p:cNvPr>
          <p:cNvGrpSpPr/>
          <p:nvPr/>
        </p:nvGrpSpPr>
        <p:grpSpPr>
          <a:xfrm>
            <a:off x="1295400" y="3200400"/>
            <a:ext cx="9904053" cy="3365442"/>
            <a:chOff x="534618" y="838200"/>
            <a:chExt cx="11198235" cy="45846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BC0DCA5-1C4F-82A7-97F0-C3D8D2E0305F}"/>
                </a:ext>
              </a:extLst>
            </p:cNvPr>
            <p:cNvGrpSpPr/>
            <p:nvPr/>
          </p:nvGrpSpPr>
          <p:grpSpPr>
            <a:xfrm>
              <a:off x="3424733" y="838200"/>
              <a:ext cx="5338267" cy="4584642"/>
              <a:chOff x="6387246" y="1371600"/>
              <a:chExt cx="6033354" cy="5181600"/>
            </a:xfrm>
          </p:grpSpPr>
          <p:pic>
            <p:nvPicPr>
              <p:cNvPr id="5" name="Picture 2">
                <a:extLst>
                  <a:ext uri="{FF2B5EF4-FFF2-40B4-BE49-F238E27FC236}">
                    <a16:creationId xmlns:a16="http://schemas.microsoft.com/office/drawing/2014/main" id="{D7D2D2AD-83DB-7CFE-EB47-AB26E40C64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387246" y="1371600"/>
                <a:ext cx="5789731" cy="4838698"/>
              </a:xfrm>
              <a:prstGeom prst="rect">
                <a:avLst/>
              </a:prstGeom>
              <a:noFill/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43969F-2D02-50FC-6CC4-7C191C0F28FD}"/>
                  </a:ext>
                </a:extLst>
              </p:cNvPr>
              <p:cNvSpPr/>
              <p:nvPr/>
            </p:nvSpPr>
            <p:spPr>
              <a:xfrm>
                <a:off x="10515600" y="4724400"/>
                <a:ext cx="1905000" cy="1828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73384EC8-9206-270A-8D1C-61A19EAD65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4618" y="1220185"/>
              <a:ext cx="2969363" cy="2543429"/>
            </a:xfrm>
            <a:prstGeom prst="rect">
              <a:avLst/>
            </a:prstGeom>
            <a:noFill/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96DC1CAA-327C-ECE3-A85B-547622467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688745" y="1219462"/>
              <a:ext cx="3044108" cy="25448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0466421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5"/>
  <p:tag name="DEFAULTHEIGHT" val="283"/>
  <p:tag name="FIRSTDAN@SGFAKZNFUVWXY5M7" val="3532"/>
  <p:tag name="DEFAULTDISPLAYSOURCE" val="\documentclass{article}\pagestyle{empty}&#10;\begin{document}&#10;&#10;\end{document}&#10;"/>
  <p:tag name="EMBEDFO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begin{document}&#10;\[&#10;\textcolor{BrickRed}{0 \le h(n) \le h^*(n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63"/>
  <p:tag name="PICTUREFILESIZE" val="1318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rickRed}{h^*(n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51"/>
  <p:tag name="PICTUREFILESIZE" val="598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B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101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A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87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f(n) = g(n) + h(n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89"/>
  <p:tag name="PICTUREFILESIZE" val="94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f(n) \le g(A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7"/>
  <p:tag name="PICTUREFILESIZE" val="674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B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101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g(A) = f(A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22"/>
  <p:tag name="PICTUREFILESIZE" val="62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A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87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f(A) &lt; f(B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21"/>
  <p:tag name="PICTUREFILESIZE" val="677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g(A) &lt; g(B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20"/>
  <p:tag name="PICTUREFILESIZE" val="645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B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101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A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87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begin{document}&#10;\[&#10;\textcolor{BrickRed}{f(n) \le f(A) &lt; f(B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95"/>
  <p:tag name="PICTUREFILESIZE" val="1466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2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B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101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A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87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G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MAGNIFICATION" val="1262"/>
  <p:tag name="ORIGWIDTH" val="16"/>
  <p:tag name="PICTUREFILESIZE" val="114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G^*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MAGNIFICATION" val="1266"/>
  <p:tag name="ORIGWIDTH" val="24"/>
  <p:tag name="PICTUREFILESIZE" val="162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&#10;\]&#10;\end{document}&#10;"/>
  <p:tag name="FILENAME" val="txp_fig"/>
  <p:tag name="FORMAT" val="pngmono"/>
  <p:tag name="RES" val="1200"/>
  <p:tag name="BLEND" val="0"/>
  <p:tag name="TRANSPARENT" val="1"/>
  <p:tag name="TBUG" val="0"/>
  <p:tag name="ALLOWFS" val="0"/>
  <p:tag name="ORIGWIDTH" val="12"/>
  <p:tag name="PICTUREFILESIZE" val="90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n'&#10;\]&#10;\end{document}&#10;"/>
  <p:tag name="FILENAME" val="txp_fig"/>
  <p:tag name="FORMAT" val="pngmono"/>
  <p:tag name="RES" val="1200"/>
  <p:tag name="BLEND" val="0"/>
  <p:tag name="TRANSPARENT" val="1"/>
  <p:tag name="TBUG" val="0"/>
  <p:tag name="ALLOWFS" val="0"/>
  <p:tag name="ORIGWIDTH" val="18"/>
  <p:tag name="PICTUREFILESIZE" val="1182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lIns="91438" tIns="45719" rIns="91438" bIns="45719">
        <a:spAutoFit/>
      </a:bodyPr>
      <a:lstStyle>
        <a:defPPr>
          <a:defRPr>
            <a:solidFill>
              <a:schemeClr val="bg2"/>
            </a:solidFill>
            <a:latin typeface="Calibri"/>
            <a:cs typeface="Calibri"/>
          </a:defRPr>
        </a:defPPr>
      </a:lstStyle>
    </a:txDef>
  </a:objectDefaults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1 -- introduction</Template>
  <TotalTime>39952</TotalTime>
  <Words>3393</Words>
  <Application>Microsoft Office PowerPoint</Application>
  <PresentationFormat>Widescreen</PresentationFormat>
  <Paragraphs>591</Paragraphs>
  <Slides>62</Slides>
  <Notes>9</Notes>
  <HiddenSlides>6</HiddenSlides>
  <MMClips>8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Arial</vt:lpstr>
      <vt:lpstr>Calibri</vt:lpstr>
      <vt:lpstr>Symbol</vt:lpstr>
      <vt:lpstr>Times New Roman</vt:lpstr>
      <vt:lpstr>Wingdings</vt:lpstr>
      <vt:lpstr>dan-berkeley-nlp-v1</vt:lpstr>
      <vt:lpstr>AIT2004: Cơ sở Trí tuệ nhân tạo </vt:lpstr>
      <vt:lpstr>Học liệu</vt:lpstr>
      <vt:lpstr>Nhắc lại: Tìm kiếm</vt:lpstr>
      <vt:lpstr>Nhắc lại: Tìm kiếm chi phí đều (UCS)</vt:lpstr>
      <vt:lpstr>Ví dụ: đường đồng mức UCS trong Empty</vt:lpstr>
      <vt:lpstr>Ví dụ: đường đồng mức UCS trong Pacman Small Maze</vt:lpstr>
      <vt:lpstr>Uninformed vs Informed Search</vt:lpstr>
      <vt:lpstr>Nội dung</vt:lpstr>
      <vt:lpstr>Tìm kiếm dựa trên kinh nghiệm</vt:lpstr>
      <vt:lpstr>Hàm kinh nghiệm</vt:lpstr>
      <vt:lpstr>Ví dụ: khoảng cách Euclid đến đích</vt:lpstr>
      <vt:lpstr>Ví dụ: Hàm kinh nghiệm</vt:lpstr>
      <vt:lpstr>Tìm kiếm ăn tham (Greedy search)</vt:lpstr>
      <vt:lpstr>Ví dụ: khoảng cách Euclidean đến đích</vt:lpstr>
      <vt:lpstr>Greedy Search</vt:lpstr>
      <vt:lpstr>Hiệu ứng của kinh nghiệm (heuristics)</vt:lpstr>
      <vt:lpstr>Greedy Search</vt:lpstr>
      <vt:lpstr>Greedy Search</vt:lpstr>
      <vt:lpstr>Ví dụ: đường đồng mức của Greedy trong Empty</vt:lpstr>
      <vt:lpstr>Ví dụ: đường đồng mức của Greedy trong  Pacman Small Maze</vt:lpstr>
      <vt:lpstr>Thuật toán Tìm kiếm A*</vt:lpstr>
      <vt:lpstr>Thuật toán Tìm kiếm A*</vt:lpstr>
      <vt:lpstr>A* = UCS + Greedy</vt:lpstr>
      <vt:lpstr>Khi nào A* nên kết thúc?</vt:lpstr>
      <vt:lpstr>A* có tối ưu?</vt:lpstr>
      <vt:lpstr>Hàm kinh nghiệm chấp nhận được</vt:lpstr>
      <vt:lpstr>Ý tưởng: Tính chấp nhận được</vt:lpstr>
      <vt:lpstr>Hàm kinh nghiệm chấp nhận được</vt:lpstr>
      <vt:lpstr>Tính tối ưu của A* trên cây tìm kiếm</vt:lpstr>
      <vt:lpstr>Tính tối ưu của A* trên cây tìm kiếm</vt:lpstr>
      <vt:lpstr>Tính tối ưu của A* trên cây tìm kiếm</vt:lpstr>
      <vt:lpstr>Tính tối ưu của A* trên cây tìm kiếm</vt:lpstr>
      <vt:lpstr>Tính tối ưu của A* trên cây tìm kiếm</vt:lpstr>
      <vt:lpstr>Tính chất của A*</vt:lpstr>
      <vt:lpstr>Tính chất của A*</vt:lpstr>
      <vt:lpstr>Đường đồng mức của UCS và A*</vt:lpstr>
      <vt:lpstr>Ví dụ: Đường đồng mức của UCS (Empty)</vt:lpstr>
      <vt:lpstr>Ví dụ: Đường đồng mức của Greedy (Empty)</vt:lpstr>
      <vt:lpstr>Ví dụ: Đường đồng mức của A* (Empty)</vt:lpstr>
      <vt:lpstr>Ví dụ: Đường đồng mức của A* (Pacman Small Maze)</vt:lpstr>
      <vt:lpstr>So sánh</vt:lpstr>
      <vt:lpstr>Ứng dụng của A*</vt:lpstr>
      <vt:lpstr>Xây dựng hàm kinh nghiệm chấp nhận được</vt:lpstr>
      <vt:lpstr>Ví dụ: Trò đẩy ô số</vt:lpstr>
      <vt:lpstr>Trò đẩy ô số (1)</vt:lpstr>
      <vt:lpstr>Trò đẩy ô số (2)</vt:lpstr>
      <vt:lpstr>Trò đẩy ô số (3)</vt:lpstr>
      <vt:lpstr>Tìm kiếm trên đồ thị</vt:lpstr>
      <vt:lpstr>Tìm kiếm trên cây: Cấu trúc lặp lại!</vt:lpstr>
      <vt:lpstr>Tìm kiếm trên đồ thị</vt:lpstr>
      <vt:lpstr>Tìm kiếm trên đồ thị</vt:lpstr>
      <vt:lpstr>Trường hợp không tối ưu</vt:lpstr>
      <vt:lpstr>Hàm kinh nghiệm nhất quán</vt:lpstr>
      <vt:lpstr>Tính tối ưu của A* trên đồ thị</vt:lpstr>
      <vt:lpstr>Tính tối ưu của A* trên cây tìm kiếm sử dụng hàm kinh nghiệm nhất quán</vt:lpstr>
      <vt:lpstr>Tính tối ưu của A* trên đồ thị</vt:lpstr>
      <vt:lpstr>Tính tối ưu của A* trên đồ thị</vt:lpstr>
      <vt:lpstr>Tính tối ưu của A* trên đồ thị</vt:lpstr>
      <vt:lpstr>Tối ưu</vt:lpstr>
      <vt:lpstr>Tổng kết: A*</vt:lpstr>
      <vt:lpstr>Thuật ngữ</vt:lpstr>
      <vt:lpstr>Bài tập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Viet Ha Nguyen</cp:lastModifiedBy>
  <cp:revision>2292</cp:revision>
  <cp:lastPrinted>2014-01-28T19:38:34Z</cp:lastPrinted>
  <dcterms:created xsi:type="dcterms:W3CDTF">2004-08-27T04:16:05Z</dcterms:created>
  <dcterms:modified xsi:type="dcterms:W3CDTF">2024-09-09T02:25:21Z</dcterms:modified>
</cp:coreProperties>
</file>