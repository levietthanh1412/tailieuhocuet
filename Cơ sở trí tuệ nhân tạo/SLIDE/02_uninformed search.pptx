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52" r:id="rId2"/>
  </p:sldMasterIdLst>
  <p:notesMasterIdLst>
    <p:notesMasterId r:id="rId48"/>
  </p:notesMasterIdLst>
  <p:handoutMasterIdLst>
    <p:handoutMasterId r:id="rId49"/>
  </p:handoutMasterIdLst>
  <p:sldIdLst>
    <p:sldId id="446" r:id="rId3"/>
    <p:sldId id="327" r:id="rId4"/>
    <p:sldId id="517" r:id="rId5"/>
    <p:sldId id="392" r:id="rId6"/>
    <p:sldId id="518" r:id="rId7"/>
    <p:sldId id="491" r:id="rId8"/>
    <p:sldId id="515" r:id="rId9"/>
    <p:sldId id="435" r:id="rId10"/>
    <p:sldId id="445" r:id="rId11"/>
    <p:sldId id="427" r:id="rId12"/>
    <p:sldId id="449" r:id="rId13"/>
    <p:sldId id="467" r:id="rId14"/>
    <p:sldId id="450" r:id="rId15"/>
    <p:sldId id="394" r:id="rId16"/>
    <p:sldId id="521" r:id="rId17"/>
    <p:sldId id="393" r:id="rId18"/>
    <p:sldId id="400" r:id="rId19"/>
    <p:sldId id="516" r:id="rId20"/>
    <p:sldId id="452" r:id="rId21"/>
    <p:sldId id="436" r:id="rId22"/>
    <p:sldId id="438" r:id="rId23"/>
    <p:sldId id="494" r:id="rId24"/>
    <p:sldId id="522" r:id="rId25"/>
    <p:sldId id="459" r:id="rId26"/>
    <p:sldId id="401" r:id="rId27"/>
    <p:sldId id="453" r:id="rId28"/>
    <p:sldId id="455" r:id="rId29"/>
    <p:sldId id="460" r:id="rId30"/>
    <p:sldId id="402" r:id="rId31"/>
    <p:sldId id="406" r:id="rId32"/>
    <p:sldId id="470" r:id="rId33"/>
    <p:sldId id="476" r:id="rId34"/>
    <p:sldId id="478" r:id="rId35"/>
    <p:sldId id="424" r:id="rId36"/>
    <p:sldId id="408" r:id="rId37"/>
    <p:sldId id="461" r:id="rId38"/>
    <p:sldId id="409" r:id="rId39"/>
    <p:sldId id="457" r:id="rId40"/>
    <p:sldId id="413" r:id="rId41"/>
    <p:sldId id="479" r:id="rId42"/>
    <p:sldId id="482" r:id="rId43"/>
    <p:sldId id="480" r:id="rId44"/>
    <p:sldId id="481" r:id="rId45"/>
    <p:sldId id="519" r:id="rId46"/>
    <p:sldId id="520" r:id="rId47"/>
  </p:sldIdLst>
  <p:sldSz cx="12192000" cy="6858000"/>
  <p:notesSz cx="7315200" cy="9601200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1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3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4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61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5774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2926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080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235" algn="l" defTabSz="914309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D5DFFF"/>
    <a:srgbClr val="B9CAFF"/>
    <a:srgbClr val="7999FF"/>
    <a:srgbClr val="008000"/>
    <a:srgbClr val="FF9999"/>
    <a:srgbClr val="FF3300"/>
    <a:srgbClr val="CC00CC"/>
    <a:srgbClr val="FFCC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0" autoAdjust="0"/>
    <p:restoredTop sz="84881" autoAdjust="0"/>
  </p:normalViewPr>
  <p:slideViewPr>
    <p:cSldViewPr>
      <p:cViewPr varScale="1">
        <p:scale>
          <a:sx n="64" d="100"/>
          <a:sy n="64" d="100"/>
        </p:scale>
        <p:origin x="578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0A33D1F6-2909-4169-88BB-815091212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83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6" rIns="96651" bIns="48326" numCol="1" anchor="b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16AD5590-9C90-486D-8FA8-38179D6EA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05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5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46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61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77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7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1F94F5-58D1-42ED-AB38-DD97D2E49478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678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0770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6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Gates, W. and Papadimitriou, C., "Bounds for Sorting by Prefix Reversal.", Discrete Mathematics. 27, 47-57, 1979.</a:t>
            </a:r>
          </a:p>
          <a:p>
            <a:endParaRPr lang="en-US" dirty="0">
              <a:latin typeface="Arial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E1D48C-6E2A-4EE0-9086-47A40D7FB81E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57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Wrong example for “eat-all-dots”: (x, y, dot count)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07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90 * (2^30-1) + 30 * 2^29 = 145 billion</a:t>
            </a:r>
          </a:p>
          <a:p>
            <a:r>
              <a:rPr lang="en-US">
                <a:latin typeface="Arial" charset="0"/>
              </a:rPr>
              <a:t>2^29 = 536 870 912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041C6AE4-F625-4A1A-A100-707641139ACC}" type="slidenum">
              <a:rPr lang="en-US" smtClean="0"/>
              <a:pPr defTabSz="96520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74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A* expanded 8100 ; Path cost = 33</a:t>
            </a:r>
          </a:p>
          <a:p>
            <a:r>
              <a:rPr lang="en-US">
                <a:latin typeface="Arial" charset="0"/>
              </a:rPr>
              <a:t>UCS expanded 25263 . Path cost = 33</a:t>
            </a:r>
          </a:p>
          <a:p>
            <a:r>
              <a:rPr lang="en-US">
                <a:latin typeface="Arial" charset="0"/>
              </a:rPr>
              <a:t>Greedy expanded 10 . Path cost = 41</a:t>
            </a:r>
          </a:p>
          <a:p>
            <a:r>
              <a:rPr lang="en-US">
                <a:latin typeface="Arial" charset="0"/>
              </a:rPr>
              <a:t>[0, 7, 5, 3, 2, 1, 4, 6]</a:t>
            </a:r>
          </a:p>
          <a:p>
            <a:r>
              <a:rPr lang="en-US">
                <a:latin typeface="Arial" charset="0"/>
              </a:rPr>
              <a:t>(7, 0, 5, 3, 2, 1, 4, 6)</a:t>
            </a:r>
          </a:p>
          <a:p>
            <a:r>
              <a:rPr lang="en-US">
                <a:latin typeface="Arial" charset="0"/>
              </a:rPr>
              <a:t>(6, 4, 1, 2, 3, 5, 0, 7)</a:t>
            </a:r>
          </a:p>
          <a:p>
            <a:r>
              <a:rPr lang="en-US">
                <a:latin typeface="Arial" charset="0"/>
              </a:rPr>
              <a:t>(3, 2, 1, 4, 6, 5, 0, 7)</a:t>
            </a:r>
          </a:p>
          <a:p>
            <a:r>
              <a:rPr lang="en-US">
                <a:latin typeface="Arial" charset="0"/>
              </a:rPr>
              <a:t>(1, 2, 3, 4, 6, 5, 0, 7)</a:t>
            </a:r>
          </a:p>
          <a:p>
            <a:r>
              <a:rPr lang="en-US">
                <a:latin typeface="Arial" charset="0"/>
              </a:rPr>
              <a:t>(5, 6, 4, 3, 2, 1, 0, 7)</a:t>
            </a:r>
          </a:p>
          <a:p>
            <a:r>
              <a:rPr lang="en-US">
                <a:latin typeface="Arial" charset="0"/>
              </a:rPr>
              <a:t>(6, 5, 4, 3, 2, 1, 0, 7)</a:t>
            </a:r>
          </a:p>
          <a:p>
            <a:r>
              <a:rPr lang="en-US">
                <a:latin typeface="Arial" charset="0"/>
              </a:rPr>
              <a:t>(0, 1, 2, 3, 4, 5, 6, 7)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9D4EE-71CB-479F-AF32-9365A8F44758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675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plans that achieve the same state, will be different nodes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You know exactly where you came from and how you got there, but you have no idea where you’re going.  But, you’ll know it when you see it.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8C17AD-3C99-472D-9877-AC50EDB6C845}" type="slidenum">
              <a:rPr lang="en-US" smtClean="0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23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200">
              <a:defRPr/>
            </a:pPr>
            <a:fld id="{FD549D34-9FA6-44AF-8862-E060EE74E80B}" type="slidenum">
              <a:rPr lang="en-US" smtClean="0"/>
              <a:pPr defTabSz="965200"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DFS.)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46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BFS.)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2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</a:t>
            </a:r>
            <a:r>
              <a:rPr lang="en-US" baseline="0" dirty="0"/>
              <a:t> students guess which one of the three it is.  (</a:t>
            </a:r>
            <a:r>
              <a:rPr lang="en-US" dirty="0"/>
              <a:t>This is UCS.)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82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53A5A-7A6F-4C45-B3DA-4ADA5F9066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3" indent="0">
              <a:buNone/>
              <a:defRPr sz="1900"/>
            </a:lvl2pPr>
            <a:lvl3pPr marL="914286" indent="0">
              <a:buNone/>
              <a:defRPr sz="1600"/>
            </a:lvl3pPr>
            <a:lvl4pPr marL="1371430" indent="0">
              <a:buNone/>
              <a:defRPr sz="1500"/>
            </a:lvl4pPr>
            <a:lvl5pPr marL="1828573" indent="0">
              <a:buNone/>
              <a:defRPr sz="1500"/>
            </a:lvl5pPr>
            <a:lvl6pPr marL="2285718" indent="0">
              <a:buNone/>
              <a:defRPr sz="1500"/>
            </a:lvl6pPr>
            <a:lvl7pPr marL="2742858" indent="0">
              <a:buNone/>
              <a:defRPr sz="1500"/>
            </a:lvl7pPr>
            <a:lvl8pPr marL="3200000" indent="0">
              <a:buNone/>
              <a:defRPr sz="1500"/>
            </a:lvl8pPr>
            <a:lvl9pPr marL="3657143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B8BF5-5AC2-408A-9CF5-48C84EA6D7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3" indent="0">
              <a:buNone/>
              <a:defRPr sz="2000" b="1"/>
            </a:lvl2pPr>
            <a:lvl3pPr marL="914286" indent="0">
              <a:buNone/>
              <a:defRPr sz="1900" b="1"/>
            </a:lvl3pPr>
            <a:lvl4pPr marL="1371430" indent="0">
              <a:buNone/>
              <a:defRPr sz="1600" b="1"/>
            </a:lvl4pPr>
            <a:lvl5pPr marL="1828573" indent="0">
              <a:buNone/>
              <a:defRPr sz="1600" b="1"/>
            </a:lvl5pPr>
            <a:lvl6pPr marL="2285718" indent="0">
              <a:buNone/>
              <a:defRPr sz="1600" b="1"/>
            </a:lvl6pPr>
            <a:lvl7pPr marL="2742858" indent="0">
              <a:buNone/>
              <a:defRPr sz="1600" b="1"/>
            </a:lvl7pPr>
            <a:lvl8pPr marL="3200000" indent="0">
              <a:buNone/>
              <a:defRPr sz="1600" b="1"/>
            </a:lvl8pPr>
            <a:lvl9pPr marL="365714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1A8ED-9B00-4419-8B3B-2343371CE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60C99-D8C1-4775-8462-7FCDDC81A5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7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C37A3-2FAA-437F-A346-3CF46B1B89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3" indent="0">
              <a:buNone/>
              <a:defRPr sz="2800"/>
            </a:lvl2pPr>
            <a:lvl3pPr marL="914286" indent="0">
              <a:buNone/>
              <a:defRPr sz="2400"/>
            </a:lvl3pPr>
            <a:lvl4pPr marL="1371430" indent="0">
              <a:buNone/>
              <a:defRPr sz="2000"/>
            </a:lvl4pPr>
            <a:lvl5pPr marL="1828573" indent="0">
              <a:buNone/>
              <a:defRPr sz="2000"/>
            </a:lvl5pPr>
            <a:lvl6pPr marL="2285718" indent="0">
              <a:buNone/>
              <a:defRPr sz="2000"/>
            </a:lvl6pPr>
            <a:lvl7pPr marL="2742858" indent="0">
              <a:buNone/>
              <a:defRPr sz="2000"/>
            </a:lvl7pPr>
            <a:lvl8pPr marL="3200000" indent="0">
              <a:buNone/>
              <a:defRPr sz="2000"/>
            </a:lvl8pPr>
            <a:lvl9pPr marL="365714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3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43" indent="0">
              <a:buNone/>
              <a:defRPr sz="1200"/>
            </a:lvl2pPr>
            <a:lvl3pPr marL="914286" indent="0">
              <a:buNone/>
              <a:defRPr sz="1100"/>
            </a:lvl3pPr>
            <a:lvl4pPr marL="1371430" indent="0">
              <a:buNone/>
              <a:defRPr sz="900"/>
            </a:lvl4pPr>
            <a:lvl5pPr marL="1828573" indent="0">
              <a:buNone/>
              <a:defRPr sz="900"/>
            </a:lvl5pPr>
            <a:lvl6pPr marL="2285718" indent="0">
              <a:buNone/>
              <a:defRPr sz="900"/>
            </a:lvl6pPr>
            <a:lvl7pPr marL="2742858" indent="0">
              <a:buNone/>
              <a:defRPr sz="900"/>
            </a:lvl7pPr>
            <a:lvl8pPr marL="3200000" indent="0">
              <a:buNone/>
              <a:defRPr sz="900"/>
            </a:lvl8pPr>
            <a:lvl9pPr marL="365714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EC880-79EA-4BC7-A72F-59EFE6AB7F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F6080-E520-45DC-884B-D171AED74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41731-2654-4748-B0E7-440E0FE37C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62938-84EC-488D-9CA4-E38E8D42E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19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05A8-D087-49F8-A68B-53BB47A7E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64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67"/>
            </a:lvl2pPr>
            <a:lvl3pPr marL="914354" indent="0">
              <a:buNone/>
              <a:defRPr sz="1600"/>
            </a:lvl3pPr>
            <a:lvl4pPr marL="1371532" indent="0">
              <a:buNone/>
              <a:defRPr sz="1467"/>
            </a:lvl4pPr>
            <a:lvl5pPr marL="1828709" indent="0">
              <a:buNone/>
              <a:defRPr sz="1467"/>
            </a:lvl5pPr>
            <a:lvl6pPr marL="2285886" indent="0">
              <a:buNone/>
              <a:defRPr sz="1467"/>
            </a:lvl6pPr>
            <a:lvl7pPr marL="2743062" indent="0">
              <a:buNone/>
              <a:defRPr sz="1467"/>
            </a:lvl7pPr>
            <a:lvl8pPr marL="3200240" indent="0">
              <a:buNone/>
              <a:defRPr sz="1467"/>
            </a:lvl8pPr>
            <a:lvl9pPr marL="3657418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C673-9CA8-4194-8E34-D666622A5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394BE-C7C4-4CA6-9240-6CDB29B2C93E}" type="slidenum">
              <a:rPr lang="vi-VN" noProof="0" smtClean="0"/>
              <a:pPr>
                <a:defRPr/>
              </a:pPr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260441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67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vi-VN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67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vi-VN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894F7-D2D8-4142-8878-126BF2DBE9F6}" type="slidenum">
              <a:rPr lang="vi-VN" noProof="0" smtClean="0"/>
              <a:pPr>
                <a:defRPr/>
              </a:pPr>
              <a:t>‹#›</a:t>
            </a:fld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3174049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0470E-5877-48CB-82CD-3CCAD5E83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99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5F8C-9C5D-49E8-8BBF-F28B73097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67"/>
            </a:lvl1pPr>
            <a:lvl2pPr marL="457178" indent="0">
              <a:buNone/>
              <a:defRPr sz="1200"/>
            </a:lvl2pPr>
            <a:lvl3pPr marL="914354" indent="0">
              <a:buNone/>
              <a:defRPr sz="1067"/>
            </a:lvl3pPr>
            <a:lvl4pPr marL="1371532" indent="0">
              <a:buNone/>
              <a:defRPr sz="933"/>
            </a:lvl4pPr>
            <a:lvl5pPr marL="1828709" indent="0">
              <a:buNone/>
              <a:defRPr sz="933"/>
            </a:lvl5pPr>
            <a:lvl6pPr marL="2285886" indent="0">
              <a:buNone/>
              <a:defRPr sz="933"/>
            </a:lvl6pPr>
            <a:lvl7pPr marL="2743062" indent="0">
              <a:buNone/>
              <a:defRPr sz="933"/>
            </a:lvl7pPr>
            <a:lvl8pPr marL="3200240" indent="0">
              <a:buNone/>
              <a:defRPr sz="933"/>
            </a:lvl8pPr>
            <a:lvl9pPr marL="365741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15B49-E272-4523-8166-1B1831C4B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5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67"/>
            </a:lvl1pPr>
            <a:lvl2pPr marL="457178" indent="0">
              <a:buNone/>
              <a:defRPr sz="1200"/>
            </a:lvl2pPr>
            <a:lvl3pPr marL="914354" indent="0">
              <a:buNone/>
              <a:defRPr sz="1067"/>
            </a:lvl3pPr>
            <a:lvl4pPr marL="1371532" indent="0">
              <a:buNone/>
              <a:defRPr sz="933"/>
            </a:lvl4pPr>
            <a:lvl5pPr marL="1828709" indent="0">
              <a:buNone/>
              <a:defRPr sz="933"/>
            </a:lvl5pPr>
            <a:lvl6pPr marL="2285886" indent="0">
              <a:buNone/>
              <a:defRPr sz="933"/>
            </a:lvl6pPr>
            <a:lvl7pPr marL="2743062" indent="0">
              <a:buNone/>
              <a:defRPr sz="933"/>
            </a:lvl7pPr>
            <a:lvl8pPr marL="3200240" indent="0">
              <a:buNone/>
              <a:defRPr sz="933"/>
            </a:lvl8pPr>
            <a:lvl9pPr marL="365741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7A090-BAD4-4341-AC7F-A731585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12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9B4F5-F495-445A-AD57-B1A0CC0A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32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13C1C-2065-443A-845F-EE82C0FEF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5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3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9749340B-4FC7-4D90-97D1-24A2CDF192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6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8" rIns="91430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4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8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43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7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58" indent="-34285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857" indent="-28571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85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000" indent="-22857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14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286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430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573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5718" indent="-22857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6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8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3" algn="l" defTabSz="91428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79" tIns="34289" rIns="68579" bIns="342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vi-VN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vi-VN" noProof="0"/>
              <a:t>Click to edit Master text styles</a:t>
            </a:r>
          </a:p>
          <a:p>
            <a:pPr lvl="1"/>
            <a:r>
              <a:rPr lang="vi-VN" noProof="0"/>
              <a:t>Second level</a:t>
            </a:r>
          </a:p>
          <a:p>
            <a:pPr lvl="2"/>
            <a:r>
              <a:rPr lang="vi-VN" noProof="0"/>
              <a:t>Third level</a:t>
            </a:r>
          </a:p>
          <a:p>
            <a:pPr lvl="3"/>
            <a:r>
              <a:rPr lang="vi-VN" noProof="0"/>
              <a:t>Fourth level</a:t>
            </a:r>
          </a:p>
          <a:p>
            <a:pPr lvl="4"/>
            <a:r>
              <a:rPr lang="vi-VN" noProof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>
              <a:defRPr sz="1467"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 algn="ctr">
              <a:defRPr sz="1467"/>
            </a:lvl1pPr>
          </a:lstStyle>
          <a:p>
            <a:pPr>
              <a:defRPr/>
            </a:pPr>
            <a:endParaRPr lang="vi-VN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>
            <a:lvl1pPr algn="r">
              <a:defRPr sz="1467"/>
            </a:lvl1pPr>
          </a:lstStyle>
          <a:p>
            <a:pPr>
              <a:defRPr/>
            </a:pPr>
            <a:fld id="{529FA7E6-6E6F-4B77-AE36-D459A899DDD1}" type="slidenum">
              <a:rPr lang="vi-VN" noProof="0" smtClean="0"/>
              <a:pPr>
                <a:defRPr/>
              </a:pPr>
              <a:t>‹#›</a:t>
            </a:fld>
            <a:endParaRPr lang="vi-VN" noProof="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9" tIns="45719" rIns="91439" bIns="45719" anchor="ctr"/>
          <a:lstStyle/>
          <a:p>
            <a:pPr>
              <a:defRPr/>
            </a:pPr>
            <a:endParaRPr lang="vi-VN" noProof="0"/>
          </a:p>
        </p:txBody>
      </p:sp>
    </p:spTree>
    <p:extLst>
      <p:ext uri="{BB962C8B-B14F-4D97-AF65-F5344CB8AC3E}">
        <p14:creationId xmlns:p14="http://schemas.microsoft.com/office/powerpoint/2010/main" val="382459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6604" y="533400"/>
            <a:ext cx="7001591" cy="5257799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dirty="0"/>
              <a:t>AIT2004: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vi-VN" dirty="0"/>
              <a:t>Trí tuệ nhân tạo</a:t>
            </a:r>
            <a:br>
              <a:rPr lang="vi-VN" dirty="0"/>
            </a:br>
            <a:endParaRPr lang="vi-VN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en-US" sz="4300" dirty="0" err="1"/>
              <a:t>Các</a:t>
            </a:r>
            <a:r>
              <a:rPr lang="en-US" sz="4300" dirty="0"/>
              <a:t> </a:t>
            </a:r>
            <a:r>
              <a:rPr lang="en-US" sz="4300" dirty="0" err="1"/>
              <a:t>giải</a:t>
            </a:r>
            <a:r>
              <a:rPr lang="en-US" sz="4300" dirty="0"/>
              <a:t> </a:t>
            </a:r>
            <a:r>
              <a:rPr lang="en-US" sz="4300" dirty="0" err="1"/>
              <a:t>thuật</a:t>
            </a:r>
            <a:r>
              <a:rPr lang="en-US" sz="4300" dirty="0"/>
              <a:t> t</a:t>
            </a:r>
            <a:r>
              <a:rPr lang="vi-VN" sz="4300" dirty="0" err="1"/>
              <a:t>ìm</a:t>
            </a:r>
            <a:r>
              <a:rPr lang="vi-VN" sz="4300" dirty="0"/>
              <a:t> kiếm</a:t>
            </a:r>
            <a:r>
              <a:rPr lang="en-US" sz="4300" dirty="0"/>
              <a:t> </a:t>
            </a:r>
            <a:r>
              <a:rPr lang="en-US" sz="4300" dirty="0" err="1"/>
              <a:t>cơ</a:t>
            </a:r>
            <a:r>
              <a:rPr lang="en-US" sz="4300" dirty="0"/>
              <a:t> </a:t>
            </a:r>
            <a:r>
              <a:rPr lang="en-US" sz="4300" dirty="0" err="1"/>
              <a:t>bản</a:t>
            </a:r>
            <a:endParaRPr lang="vi-VN" sz="4300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vi-VN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48506D1C-9A48-A3D9-0AD8-65CECCF9C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6238809"/>
            <a:ext cx="12115800" cy="284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>
                <a:latin typeface="Calibri"/>
                <a:cs typeface="Calibri"/>
              </a:rPr>
              <a:t>[</a:t>
            </a:r>
            <a:r>
              <a:rPr lang="en-US" sz="1400" dirty="0" err="1">
                <a:latin typeface="Calibri"/>
                <a:cs typeface="Calibri"/>
              </a:rPr>
              <a:t>Sử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dụng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một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số</a:t>
            </a:r>
            <a:r>
              <a:rPr lang="en-US" sz="1400" dirty="0">
                <a:latin typeface="Calibri"/>
                <a:cs typeface="Calibri"/>
              </a:rPr>
              <a:t> slides </a:t>
            </a:r>
            <a:r>
              <a:rPr lang="en-US" sz="1400" dirty="0" err="1">
                <a:latin typeface="Calibri"/>
                <a:cs typeface="Calibri"/>
              </a:rPr>
              <a:t>của</a:t>
            </a:r>
            <a:r>
              <a:rPr lang="en-US" sz="1400" dirty="0">
                <a:latin typeface="Calibri"/>
                <a:cs typeface="Calibri"/>
              </a:rPr>
              <a:t> Dan Klein </a:t>
            </a:r>
            <a:r>
              <a:rPr lang="en-US" sz="1400" dirty="0" err="1">
                <a:latin typeface="Calibri"/>
                <a:cs typeface="Calibri"/>
              </a:rPr>
              <a:t>và</a:t>
            </a:r>
            <a:r>
              <a:rPr lang="en-US" sz="1400" dirty="0">
                <a:latin typeface="Calibri"/>
                <a:cs typeface="Calibri"/>
              </a:rPr>
              <a:t> Pieter </a:t>
            </a:r>
            <a:r>
              <a:rPr lang="en-US" sz="1400" dirty="0" err="1">
                <a:latin typeface="Calibri"/>
                <a:cs typeface="Calibri"/>
              </a:rPr>
              <a:t>Abbeel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từ</a:t>
            </a:r>
            <a:r>
              <a:rPr lang="en-US" sz="1400" dirty="0">
                <a:latin typeface="Calibri"/>
                <a:cs typeface="Calibri"/>
              </a:rPr>
              <a:t> CS188 Intro to AI at UC Berkeley]</a:t>
            </a:r>
            <a:endParaRPr lang="en-US"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295400"/>
            <a:ext cx="10337800" cy="4525963"/>
          </a:xfrm>
        </p:spPr>
        <p:txBody>
          <a:bodyPr/>
          <a:lstStyle/>
          <a:p>
            <a:pPr marL="228533" indent="-285750">
              <a:lnSpc>
                <a:spcPct val="80000"/>
              </a:lnSpc>
            </a:pPr>
            <a:r>
              <a:rPr lang="en-US" dirty="0" err="1"/>
              <a:t>Đinh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, </a:t>
            </a:r>
            <a:r>
              <a:rPr lang="en-US" i="1" dirty="0" err="1"/>
              <a:t>Trí</a:t>
            </a:r>
            <a:r>
              <a:rPr lang="en-US" i="1" dirty="0"/>
              <a:t> </a:t>
            </a:r>
            <a:r>
              <a:rPr lang="en-US" i="1" dirty="0" err="1"/>
              <a:t>tuệ</a:t>
            </a:r>
            <a:r>
              <a:rPr lang="en-US" i="1" dirty="0"/>
              <a:t> </a:t>
            </a:r>
            <a:r>
              <a:rPr lang="en-US" i="1" dirty="0" err="1"/>
              <a:t>nhân</a:t>
            </a:r>
            <a:r>
              <a:rPr lang="en-US" i="1" dirty="0"/>
              <a:t> </a:t>
            </a:r>
            <a:r>
              <a:rPr lang="en-US" i="1" dirty="0" err="1"/>
              <a:t>tạo</a:t>
            </a:r>
            <a:r>
              <a:rPr lang="en-US" i="1" dirty="0"/>
              <a:t> – </a:t>
            </a:r>
            <a:r>
              <a:rPr lang="en-US" i="1" dirty="0" err="1"/>
              <a:t>Cách</a:t>
            </a:r>
            <a:r>
              <a:rPr lang="en-US" i="1" dirty="0"/>
              <a:t> </a:t>
            </a:r>
            <a:r>
              <a:rPr lang="en-US" i="1" dirty="0" err="1"/>
              <a:t>tiếp</a:t>
            </a:r>
            <a:r>
              <a:rPr lang="en-US" i="1" dirty="0"/>
              <a:t> </a:t>
            </a:r>
            <a:r>
              <a:rPr lang="en-US" i="1" dirty="0" err="1"/>
              <a:t>cận</a:t>
            </a:r>
            <a:r>
              <a:rPr lang="en-US" i="1" dirty="0"/>
              <a:t> </a:t>
            </a:r>
            <a:r>
              <a:rPr lang="en-US" i="1" dirty="0" err="1"/>
              <a:t>hiện</a:t>
            </a:r>
            <a:r>
              <a:rPr lang="en-US" i="1" dirty="0"/>
              <a:t> </a:t>
            </a:r>
            <a:r>
              <a:rPr lang="en-US" i="1" dirty="0" err="1"/>
              <a:t>đại</a:t>
            </a:r>
            <a:r>
              <a:rPr lang="en-US" dirty="0"/>
              <a:t>, NXB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2024</a:t>
            </a:r>
          </a:p>
          <a:p>
            <a:pPr marL="685733" lvl="1" indent="-285750">
              <a:lnSpc>
                <a:spcPct val="80000"/>
              </a:lnSpc>
            </a:pPr>
            <a:r>
              <a:rPr lang="en-US" dirty="0" err="1"/>
              <a:t>Chương</a:t>
            </a:r>
            <a:r>
              <a:rPr lang="en-US" dirty="0"/>
              <a:t> 3.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mù</a:t>
            </a:r>
            <a:endParaRPr lang="en-US" dirty="0"/>
          </a:p>
          <a:p>
            <a:pPr marL="1314383" lvl="3" indent="0" eaLnBrk="1" hangingPunct="1">
              <a:lnSpc>
                <a:spcPct val="80000"/>
              </a:lnSpc>
              <a:buNone/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dirty="0"/>
              <a:t>Wolfgang </a:t>
            </a:r>
            <a:r>
              <a:rPr lang="en-US" dirty="0" err="1"/>
              <a:t>Ertel</a:t>
            </a:r>
            <a:r>
              <a:rPr lang="en-US" dirty="0"/>
              <a:t>, </a:t>
            </a:r>
            <a:r>
              <a:rPr lang="en-US" i="1" dirty="0"/>
              <a:t>Introduction to Artificial Intelligence (2nd ed)</a:t>
            </a:r>
            <a:r>
              <a:rPr lang="en-US" dirty="0"/>
              <a:t>, Springer 2017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Chapter 6. Search, Games and Problem Solving</a:t>
            </a:r>
          </a:p>
          <a:p>
            <a:pPr lvl="3"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vi-VN" dirty="0" err="1"/>
              <a:t>Russell</a:t>
            </a:r>
            <a:r>
              <a:rPr lang="vi-VN" dirty="0"/>
              <a:t> &amp; </a:t>
            </a:r>
            <a:r>
              <a:rPr lang="vi-VN" dirty="0" err="1"/>
              <a:t>Norvig</a:t>
            </a:r>
            <a:r>
              <a:rPr lang="vi-VN" dirty="0"/>
              <a:t>, </a:t>
            </a:r>
            <a:r>
              <a:rPr lang="vi-VN" i="1" dirty="0"/>
              <a:t>AI: A </a:t>
            </a:r>
            <a:r>
              <a:rPr lang="vi-VN" i="1" dirty="0" err="1"/>
              <a:t>Modern</a:t>
            </a:r>
            <a:r>
              <a:rPr lang="vi-VN" i="1" dirty="0"/>
              <a:t> </a:t>
            </a:r>
            <a:r>
              <a:rPr lang="vi-VN" i="1" dirty="0" err="1"/>
              <a:t>Approach</a:t>
            </a:r>
            <a:r>
              <a:rPr lang="vi-VN" i="1" dirty="0"/>
              <a:t>, 4</a:t>
            </a:r>
            <a:r>
              <a:rPr lang="vi-VN" i="1" baseline="30000" dirty="0"/>
              <a:t>th</a:t>
            </a:r>
            <a:r>
              <a:rPr lang="vi-VN" i="1" dirty="0"/>
              <a:t> </a:t>
            </a:r>
            <a:r>
              <a:rPr lang="en-US" i="1" dirty="0"/>
              <a:t>ed.</a:t>
            </a:r>
            <a:r>
              <a:rPr lang="en-US" dirty="0"/>
              <a:t>, Pearson 2020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Chapter 3. Solving Problems by Searching</a:t>
            </a:r>
            <a:endParaRPr lang="vi-VN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vi-V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69647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14A1-087D-8DA0-EAF8-7FDE368E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58C19-2928-604D-BEA8-CD2C4E8B0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19200"/>
            <a:ext cx="11379200" cy="4729164"/>
          </a:xfrm>
        </p:spPr>
        <p:txBody>
          <a:bodyPr/>
          <a:lstStyle/>
          <a:p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qui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pPr lvl="1"/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chơi</a:t>
            </a:r>
            <a:r>
              <a:rPr lang="en-US" dirty="0"/>
              <a:t>: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đi</a:t>
            </a:r>
            <a:endParaRPr lang="en-US" dirty="0"/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: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endParaRPr lang="en-US" dirty="0"/>
          </a:p>
          <a:p>
            <a:pPr lvl="1"/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=&gt;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r>
              <a:rPr lang="en-US" dirty="0" err="1"/>
              <a:t>Chú</a:t>
            </a:r>
            <a:r>
              <a:rPr lang="en-US" dirty="0"/>
              <a:t> ý: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vi-VN" dirty="0"/>
              <a:t>≠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8C5220-FDE0-77BC-2E95-42DBF1AB1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62800" y="3259245"/>
            <a:ext cx="4854245" cy="2976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8390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Bài toán tìm kiếm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648532" y="12954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Định nghĩa </a:t>
            </a:r>
            <a:r>
              <a:rPr lang="vi-VN" sz="2800" dirty="0">
                <a:solidFill>
                  <a:srgbClr val="FF0000"/>
                </a:solidFill>
              </a:rPr>
              <a:t>bài toán tìm kiếm</a:t>
            </a:r>
            <a:r>
              <a:rPr lang="vi-VN" sz="2800" dirty="0"/>
              <a:t>: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gian</a:t>
            </a:r>
            <a:br>
              <a:rPr lang="vi-VN" sz="2400" dirty="0"/>
            </a:br>
            <a:r>
              <a:rPr lang="vi-VN" sz="2400" dirty="0"/>
              <a:t>trạng thái</a:t>
            </a:r>
          </a:p>
          <a:p>
            <a:pPr marL="457140" lvl="1" indent="0" eaLnBrk="1" hangingPunct="1">
              <a:lnSpc>
                <a:spcPct val="80000"/>
              </a:lnSpc>
              <a:buNone/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Hàm chuyển trạng thái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vi-VN" sz="2400" dirty="0"/>
              <a:t>	(kèm hành động + chi phí)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lvl="1" eaLnBrk="1" hangingPunct="1">
              <a:lnSpc>
                <a:spcPct val="80000"/>
              </a:lnSpc>
            </a:pPr>
            <a:r>
              <a:rPr lang="vi-VN" sz="2400" dirty="0">
                <a:solidFill>
                  <a:srgbClr val="FF0000"/>
                </a:solidFill>
              </a:rPr>
              <a:t>Trạng thái bắt đầu </a:t>
            </a:r>
            <a:r>
              <a:rPr lang="vi-VN" sz="2400" dirty="0"/>
              <a:t>và</a:t>
            </a:r>
            <a:br>
              <a:rPr lang="vi-VN" sz="2400" dirty="0"/>
            </a:br>
            <a:r>
              <a:rPr lang="vi-VN" sz="2400" dirty="0"/>
              <a:t>hàm kiểm tra </a:t>
            </a:r>
            <a:r>
              <a:rPr lang="vi-VN" sz="2400" dirty="0">
                <a:solidFill>
                  <a:srgbClr val="FF0000"/>
                </a:solidFill>
              </a:rPr>
              <a:t>trạng thái mục tiêu</a:t>
            </a:r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>
                <a:solidFill>
                  <a:srgbClr val="FF0000"/>
                </a:solidFill>
              </a:rPr>
              <a:t>Giải pháp </a:t>
            </a:r>
            <a:r>
              <a:rPr lang="vi-VN" sz="2800" dirty="0"/>
              <a:t>= dãy hành động (kế hoạch) chuyển từ trạng thái bắt đầu đến trạng thái mục tiêu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“E”, 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5F48-5D15-9532-A257-3C7497E2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cờ</a:t>
            </a:r>
            <a:r>
              <a:rPr lang="en-US" dirty="0"/>
              <a:t> ca </a:t>
            </a:r>
            <a:r>
              <a:rPr lang="en-US" dirty="0" err="1"/>
              <a:t>rô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A5B401-277E-6A0E-6A66-6B6795A3F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4200" y="1552575"/>
            <a:ext cx="58769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8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Trò </a:t>
            </a:r>
            <a:r>
              <a:rPr lang="en-US" noProof="0" dirty="0" err="1"/>
              <a:t>chơi</a:t>
            </a:r>
            <a:r>
              <a:rPr lang="en-US" noProof="0" dirty="0"/>
              <a:t> </a:t>
            </a:r>
            <a:r>
              <a:rPr lang="vi-VN" noProof="0" dirty="0"/>
              <a:t>đẩy </a:t>
            </a:r>
            <a:r>
              <a:rPr lang="en-US" noProof="0" dirty="0"/>
              <a:t>ô </a:t>
            </a:r>
            <a:r>
              <a:rPr lang="en-US" noProof="0" dirty="0" err="1"/>
              <a:t>số</a:t>
            </a:r>
            <a:endParaRPr lang="vi-VN" noProof="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495800"/>
            <a:ext cx="8382000" cy="1630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Trạng thái là gì?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</a:t>
            </a:r>
            <a:r>
              <a:rPr lang="en-US" sz="2400" noProof="0" dirty="0"/>
              <a:t>?</a:t>
            </a: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Hành động là gì?</a:t>
            </a:r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Có bao nhiêu trạng thái đến được từ trạng thái bắt đầu</a:t>
            </a:r>
            <a:r>
              <a:rPr lang="en-US" sz="2400" noProof="0" dirty="0"/>
              <a:t>?</a:t>
            </a:r>
            <a:endParaRPr lang="vi-VN" sz="2400" noProof="0" dirty="0"/>
          </a:p>
          <a:p>
            <a:pPr eaLnBrk="1" hangingPunct="1">
              <a:lnSpc>
                <a:spcPct val="90000"/>
              </a:lnSpc>
            </a:pPr>
            <a:r>
              <a:rPr lang="vi-VN" sz="2400" noProof="0" dirty="0"/>
              <a:t>Chi phí là gì?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424733" y="838200"/>
            <a:ext cx="5338267" cy="4584642"/>
            <a:chOff x="6387246" y="1371600"/>
            <a:chExt cx="6033354" cy="5181600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87246" y="1371600"/>
              <a:ext cx="5789731" cy="4838698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4618" y="1220185"/>
            <a:ext cx="2969363" cy="254342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85800" y="37338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bắt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đầu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5400" y="3733800"/>
            <a:ext cx="273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Trạng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thái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mục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tiêu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8745" y="1219462"/>
            <a:ext cx="3044108" cy="25448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019800" y="37338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libri" pitchFamily="34" charset="0"/>
              </a:rPr>
              <a:t>Hành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động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Lật chồng bánh pancake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505201" y="3808413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52801" y="3656013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71801" y="3960813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00401" y="3505201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iagonal Stripe 22"/>
          <p:cNvSpPr/>
          <p:nvPr/>
        </p:nvSpPr>
        <p:spPr>
          <a:xfrm flipV="1">
            <a:off x="2438401" y="3505200"/>
            <a:ext cx="990600" cy="228600"/>
          </a:xfrm>
          <a:prstGeom prst="diagStrip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Connector 24"/>
          <p:cNvCxnSpPr>
            <a:stCxn id="23" idx="1"/>
          </p:cNvCxnSpPr>
          <p:nvPr/>
        </p:nvCxnSpPr>
        <p:spPr>
          <a:xfrm rot="10800000">
            <a:off x="1752601" y="2590801"/>
            <a:ext cx="685800" cy="97155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772401" y="2513012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620001" y="2209800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239001" y="2665412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467601" y="2360612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772401" y="3429000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620001" y="3579812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7239001" y="3884612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7467601" y="3732212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772401" y="4876799"/>
            <a:ext cx="1066800" cy="1588"/>
          </a:xfrm>
          <a:prstGeom prst="line">
            <a:avLst/>
          </a:prstGeom>
          <a:ln w="762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620001" y="5027611"/>
            <a:ext cx="1371600" cy="1588"/>
          </a:xfrm>
          <a:prstGeom prst="line">
            <a:avLst/>
          </a:prstGeom>
          <a:ln w="762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239001" y="4724399"/>
            <a:ext cx="2209800" cy="1588"/>
          </a:xfrm>
          <a:prstGeom prst="line">
            <a:avLst/>
          </a:prstGeom>
          <a:ln w="762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467601" y="5180011"/>
            <a:ext cx="1752600" cy="1588"/>
          </a:xfrm>
          <a:prstGeom prst="line">
            <a:avLst/>
          </a:prstGeom>
          <a:ln w="762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Left Arrow 48"/>
          <p:cNvSpPr/>
          <p:nvPr/>
        </p:nvSpPr>
        <p:spPr>
          <a:xfrm rot="19800000" flipH="1">
            <a:off x="5867401" y="2616322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Left Arrow 49"/>
          <p:cNvSpPr/>
          <p:nvPr/>
        </p:nvSpPr>
        <p:spPr>
          <a:xfrm flipH="1">
            <a:off x="5867401" y="3505200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Left Arrow 50"/>
          <p:cNvSpPr/>
          <p:nvPr/>
        </p:nvSpPr>
        <p:spPr>
          <a:xfrm rot="1800000" flipH="1">
            <a:off x="5825197" y="4368922"/>
            <a:ext cx="914400" cy="381000"/>
          </a:xfrm>
          <a:prstGeom prst="leftArrow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92" name="TextBox 59"/>
          <p:cNvSpPr txBox="1">
            <a:spLocks noChangeArrowheads="1"/>
          </p:cNvSpPr>
          <p:nvPr/>
        </p:nvSpPr>
        <p:spPr bwMode="auto">
          <a:xfrm>
            <a:off x="0" y="6019800"/>
            <a:ext cx="12192000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Chi </a:t>
            </a:r>
            <a:r>
              <a:rPr lang="en-US" sz="2800" dirty="0" err="1">
                <a:latin typeface="Calibri" pitchFamily="34" charset="0"/>
              </a:rPr>
              <a:t>phí</a:t>
            </a:r>
            <a:r>
              <a:rPr lang="en-US" sz="2800" dirty="0">
                <a:latin typeface="Calibri" pitchFamily="34" charset="0"/>
              </a:rPr>
              <a:t> = </a:t>
            </a:r>
            <a:r>
              <a:rPr lang="en-US" sz="2800" dirty="0" err="1">
                <a:latin typeface="Calibri" pitchFamily="34" charset="0"/>
              </a:rPr>
              <a:t>tổng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số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lớp</a:t>
            </a:r>
            <a:r>
              <a:rPr lang="en-US" sz="2800" dirty="0">
                <a:latin typeface="Calibri" pitchFamily="34" charset="0"/>
              </a:rPr>
              <a:t> bánh </a:t>
            </a:r>
            <a:r>
              <a:rPr lang="en-US" sz="2800" dirty="0" err="1">
                <a:latin typeface="Calibri" pitchFamily="34" charset="0"/>
              </a:rPr>
              <a:t>được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dirty="0" err="1">
                <a:latin typeface="Calibri" pitchFamily="34" charset="0"/>
              </a:rPr>
              <a:t>lật</a:t>
            </a:r>
            <a:endParaRPr lang="en-US" sz="2800" dirty="0">
              <a:latin typeface="Calibri" pitchFamily="34" charset="0"/>
            </a:endParaRPr>
          </a:p>
        </p:txBody>
      </p:sp>
      <p:pic>
        <p:nvPicPr>
          <p:cNvPr id="7" name="Picture 6" descr="A stack of pancakes with butter on top&#10;&#10;Description automatically generated">
            <a:extLst>
              <a:ext uri="{FF2B5EF4-FFF2-40B4-BE49-F238E27FC236}">
                <a16:creationId xmlns:a16="http://schemas.microsoft.com/office/drawing/2014/main" id="{7D17B232-5D1C-9916-671E-8A8133725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800600"/>
            <a:ext cx="2440519" cy="18303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Ví dụ: </a:t>
            </a:r>
            <a:r>
              <a:rPr lang="en-US" dirty="0"/>
              <a:t>Du </a:t>
            </a:r>
            <a:r>
              <a:rPr lang="en-US" dirty="0" err="1"/>
              <a:t>lịch</a:t>
            </a:r>
            <a:r>
              <a:rPr lang="vi-VN" dirty="0"/>
              <a:t> Romania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7543801" y="1676401"/>
            <a:ext cx="4495799" cy="4525963"/>
          </a:xfrm>
        </p:spPr>
        <p:txBody>
          <a:bodyPr/>
          <a:lstStyle/>
          <a:p>
            <a:pPr eaLnBrk="1" hangingPunct="1"/>
            <a:r>
              <a:rPr lang="vi-VN" sz="2400" dirty="0"/>
              <a:t>Không gian trạng thái:</a:t>
            </a:r>
          </a:p>
          <a:p>
            <a:pPr lvl="1" eaLnBrk="1" hangingPunct="1"/>
            <a:r>
              <a:rPr lang="vi-VN" sz="2000" dirty="0"/>
              <a:t>Các thành phố</a:t>
            </a:r>
          </a:p>
          <a:p>
            <a:pPr eaLnBrk="1" hangingPunct="1"/>
            <a:r>
              <a:rPr lang="vi-VN" sz="2400" dirty="0"/>
              <a:t>Hàm chuyển trạng thái:</a:t>
            </a:r>
          </a:p>
          <a:p>
            <a:pPr lvl="1" eaLnBrk="1" hangingPunct="1"/>
            <a:r>
              <a:rPr lang="vi-VN" sz="2000" dirty="0"/>
              <a:t>Hành động = chọn đường</a:t>
            </a:r>
          </a:p>
          <a:p>
            <a:pPr lvl="1" eaLnBrk="1" hangingPunct="1"/>
            <a:r>
              <a:rPr lang="vi-VN" sz="2000" dirty="0"/>
              <a:t>Chi phí = khoảng cách</a:t>
            </a:r>
          </a:p>
          <a:p>
            <a:pPr eaLnBrk="1" hangingPunct="1"/>
            <a:r>
              <a:rPr lang="vi-VN" sz="2400" dirty="0"/>
              <a:t>Trạng thái bắt đầu:</a:t>
            </a:r>
          </a:p>
          <a:p>
            <a:pPr lvl="1" eaLnBrk="1" hangingPunct="1"/>
            <a:r>
              <a:rPr lang="vi-VN" sz="2000" dirty="0"/>
              <a:t>Arad</a:t>
            </a:r>
          </a:p>
          <a:p>
            <a:pPr eaLnBrk="1" hangingPunct="1"/>
            <a:r>
              <a:rPr lang="vi-VN" sz="2400" dirty="0"/>
              <a:t>Hàm kiểm tra mục tiêu:</a:t>
            </a:r>
          </a:p>
          <a:p>
            <a:pPr lvl="1" eaLnBrk="1" hangingPunct="1"/>
            <a:r>
              <a:rPr lang="vi-VN" sz="2000" dirty="0"/>
              <a:t>Hỏi state == Bucharest?</a:t>
            </a:r>
          </a:p>
          <a:p>
            <a:pPr lvl="3" eaLnBrk="1" hangingPunct="1"/>
            <a:endParaRPr lang="vi-VN" sz="1200" dirty="0"/>
          </a:p>
          <a:p>
            <a:pPr eaLnBrk="1" hangingPunct="1"/>
            <a:r>
              <a:rPr lang="vi-VN" sz="2400" dirty="0"/>
              <a:t>Câu hỏi: Giải pháp = ?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" y="1447800"/>
            <a:ext cx="700032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219200" y="3505200"/>
            <a:ext cx="9829800" cy="3048000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vi-VN" dirty="0">
              <a:latin typeface="Calibri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19202" y="1273178"/>
            <a:ext cx="9829801" cy="2003425"/>
          </a:xfrm>
          <a:prstGeom prst="roundRect">
            <a:avLst/>
          </a:prstGeom>
          <a:solidFill>
            <a:srgbClr val="D5DFFF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>
              <a:defRPr/>
            </a:pPr>
            <a:endParaRPr lang="vi-VN" dirty="0">
              <a:latin typeface="Calibri" pitchFamily="34" charset="0"/>
            </a:endParaRP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Không gian trạng thái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600200" y="3962400"/>
            <a:ext cx="4038600" cy="2413000"/>
          </a:xfrm>
        </p:spPr>
        <p:txBody>
          <a:bodyPr/>
          <a:lstStyle/>
          <a:p>
            <a:r>
              <a:rPr lang="vi-VN" sz="2400" dirty="0"/>
              <a:t>Bài toán: Tìm đường đi</a:t>
            </a:r>
          </a:p>
          <a:p>
            <a:pPr lvl="1"/>
            <a:r>
              <a:rPr lang="vi-VN" sz="2000" dirty="0"/>
              <a:t>Trạng thái: Vị trí (x,y)</a:t>
            </a:r>
          </a:p>
          <a:p>
            <a:pPr lvl="1"/>
            <a:r>
              <a:rPr lang="vi-VN" sz="2000" dirty="0"/>
              <a:t>Hành động: N – S – E – W</a:t>
            </a:r>
          </a:p>
          <a:p>
            <a:pPr lvl="1"/>
            <a:r>
              <a:rPr lang="vi-VN" sz="2000" dirty="0"/>
              <a:t>Hàm chuyển: cập nhật vị trí</a:t>
            </a:r>
          </a:p>
          <a:p>
            <a:pPr lvl="1"/>
            <a:r>
              <a:rPr lang="vi-VN" sz="2000" dirty="0"/>
              <a:t>Hàm kiểm tra: (x,y)=END 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791200" y="3970342"/>
            <a:ext cx="4953000" cy="2405063"/>
          </a:xfrm>
        </p:spPr>
        <p:txBody>
          <a:bodyPr/>
          <a:lstStyle/>
          <a:p>
            <a:r>
              <a:rPr lang="vi-VN" sz="2400" dirty="0"/>
              <a:t>Bài toán: Ăn hết bánh</a:t>
            </a:r>
          </a:p>
          <a:p>
            <a:pPr lvl="1"/>
            <a:r>
              <a:rPr lang="vi-VN" sz="2000" dirty="0"/>
              <a:t>Trạng thái: Vị trí (x,y) + danh sách các ô có bánh</a:t>
            </a:r>
          </a:p>
          <a:p>
            <a:pPr lvl="1"/>
            <a:r>
              <a:rPr lang="vi-VN" sz="2000" dirty="0"/>
              <a:t>Hành động: N – S – E – W</a:t>
            </a:r>
          </a:p>
          <a:p>
            <a:pPr lvl="1"/>
            <a:r>
              <a:rPr lang="vi-VN" sz="2000" dirty="0"/>
              <a:t>Hàm chuyển: cập nhật vị trí và danh sách các ô có bánh</a:t>
            </a:r>
          </a:p>
          <a:p>
            <a:pPr lvl="1"/>
            <a:r>
              <a:rPr lang="vi-VN" sz="2000" dirty="0"/>
              <a:t>Hàm kiểm tra : danh sách rỗng ?</a:t>
            </a:r>
          </a:p>
        </p:txBody>
      </p:sp>
      <p:sp>
        <p:nvSpPr>
          <p:cNvPr id="10247" name="TextBox 4"/>
          <p:cNvSpPr txBox="1">
            <a:spLocks noChangeArrowheads="1"/>
          </p:cNvSpPr>
          <p:nvPr/>
        </p:nvSpPr>
        <p:spPr bwMode="auto">
          <a:xfrm>
            <a:off x="1219201" y="1352497"/>
            <a:ext cx="9753600" cy="4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vi-VN" sz="2000" dirty="0">
                <a:solidFill>
                  <a:srgbClr val="FF0000"/>
                </a:solidFill>
                <a:latin typeface="Calibri" pitchFamily="34" charset="0"/>
              </a:rPr>
              <a:t>Trạng thái </a:t>
            </a:r>
            <a:r>
              <a:rPr lang="vi-VN" sz="2000" dirty="0">
                <a:latin typeface="Calibri" pitchFamily="34" charset="0"/>
              </a:rPr>
              <a:t>của môi trường / thế giới bao gồm mọi chi tiết về môi trường / thế giới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" y="3579814"/>
            <a:ext cx="12192000" cy="400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/>
            <a:r>
              <a:rPr lang="vi-VN" sz="2000" dirty="0">
                <a:solidFill>
                  <a:srgbClr val="FF0000"/>
                </a:solidFill>
                <a:latin typeface="Calibri" pitchFamily="34" charset="0"/>
              </a:rPr>
              <a:t>Trạng thái tìm kiếm </a:t>
            </a:r>
            <a:r>
              <a:rPr lang="vi-VN" sz="2000" dirty="0">
                <a:latin typeface="Calibri" pitchFamily="34" charset="0"/>
              </a:rPr>
              <a:t>chỉ gồm các chi tiết cần thiết cho lập kế hoạch </a:t>
            </a:r>
            <a:r>
              <a:rPr lang="vi-VN" sz="2000" dirty="0">
                <a:solidFill>
                  <a:srgbClr val="0033CC"/>
                </a:solidFill>
                <a:latin typeface="Calibri" pitchFamily="34" charset="0"/>
              </a:rPr>
              <a:t>(trừu tượng hoá)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752600"/>
            <a:ext cx="4953000" cy="1397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Kích thước của không gian trạng thái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00200" y="1558925"/>
            <a:ext cx="5943600" cy="4525963"/>
          </a:xfrm>
        </p:spPr>
        <p:txBody>
          <a:bodyPr/>
          <a:lstStyle/>
          <a:p>
            <a:r>
              <a:rPr lang="vi-VN" sz="2400" dirty="0"/>
              <a:t>Trạng thái của môi trường:</a:t>
            </a:r>
          </a:p>
          <a:p>
            <a:pPr lvl="1"/>
            <a:r>
              <a:rPr lang="vi-VN" sz="2000" dirty="0"/>
              <a:t>Số vị trí của Pac-man: 120</a:t>
            </a:r>
          </a:p>
          <a:p>
            <a:pPr lvl="1"/>
            <a:r>
              <a:rPr lang="vi-VN" sz="2000" dirty="0"/>
              <a:t>Số ô có bánh: 30</a:t>
            </a:r>
          </a:p>
          <a:p>
            <a:pPr lvl="1"/>
            <a:r>
              <a:rPr lang="vi-VN" sz="2000" dirty="0"/>
              <a:t>Số vị trí của ma: 12</a:t>
            </a:r>
          </a:p>
          <a:p>
            <a:pPr lvl="1"/>
            <a:r>
              <a:rPr lang="vi-VN" sz="2000" dirty="0"/>
              <a:t>Hướng của Pac-man: 4</a:t>
            </a:r>
            <a:br>
              <a:rPr lang="vi-VN" sz="2000" dirty="0"/>
            </a:br>
            <a:endParaRPr lang="vi-VN" sz="2000" dirty="0"/>
          </a:p>
          <a:p>
            <a:r>
              <a:rPr lang="vi-VN" sz="2400" dirty="0"/>
              <a:t>Số lượng trạng thái</a:t>
            </a:r>
          </a:p>
          <a:p>
            <a:pPr lvl="1"/>
            <a:r>
              <a:rPr lang="vi-VN" sz="2000" dirty="0"/>
              <a:t>Trạng thái của môi trường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120x(2</a:t>
            </a:r>
            <a:r>
              <a:rPr lang="vi-VN" sz="2000" baseline="30000" dirty="0"/>
              <a:t>30</a:t>
            </a:r>
            <a:r>
              <a:rPr lang="vi-VN" sz="2000" dirty="0"/>
              <a:t>)x(12</a:t>
            </a:r>
            <a:r>
              <a:rPr lang="vi-VN" sz="2000" baseline="30000" dirty="0"/>
              <a:t>2</a:t>
            </a:r>
            <a:r>
              <a:rPr lang="vi-VN" sz="2000" dirty="0"/>
              <a:t>)x4</a:t>
            </a:r>
          </a:p>
          <a:p>
            <a:pPr lvl="1"/>
            <a:r>
              <a:rPr lang="vi-VN" sz="2000" dirty="0"/>
              <a:t>Trạng thái cho bài toán tìm kiếm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</a:t>
            </a:r>
          </a:p>
          <a:p>
            <a:pPr lvl="1"/>
            <a:r>
              <a:rPr lang="vi-VN" sz="2000" dirty="0"/>
              <a:t>Trạng thái cho bài toán ăn hết bánh ?</a:t>
            </a:r>
          </a:p>
          <a:p>
            <a:pPr lvl="1">
              <a:buFont typeface="Wingdings" pitchFamily="2" charset="2"/>
              <a:buNone/>
            </a:pPr>
            <a:r>
              <a:rPr lang="vi-VN" sz="2000" dirty="0"/>
              <a:t>	120x(2</a:t>
            </a:r>
            <a:r>
              <a:rPr lang="vi-VN" sz="2000" baseline="30000" dirty="0"/>
              <a:t>30</a:t>
            </a:r>
            <a:r>
              <a:rPr lang="vi-VN" sz="2000" dirty="0"/>
              <a:t>)</a:t>
            </a:r>
          </a:p>
          <a:p>
            <a:pPr lvl="1">
              <a:buFont typeface="Wingdings" pitchFamily="2" charset="2"/>
              <a:buNone/>
            </a:pPr>
            <a:endParaRPr lang="vi-VN" sz="2000" dirty="0"/>
          </a:p>
        </p:txBody>
      </p:sp>
      <p:pic>
        <p:nvPicPr>
          <p:cNvPr id="11268" name="Picture 3" descr="Z:\Shared with PC\boxSe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3" y="1905001"/>
            <a:ext cx="4030663" cy="4097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tập: Đường đi an toàn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29200"/>
            <a:ext cx="11379200" cy="1524000"/>
          </a:xfrm>
        </p:spPr>
        <p:txBody>
          <a:bodyPr/>
          <a:lstStyle/>
          <a:p>
            <a:r>
              <a:rPr lang="vi-VN" sz="2800" dirty="0"/>
              <a:t>Bài toán: ăn hết bánh và giữ cho các con ma sợ</a:t>
            </a:r>
          </a:p>
          <a:p>
            <a:r>
              <a:rPr lang="vi-VN" sz="2800" dirty="0"/>
              <a:t>Trạng thái tìm kiếm gồm những gì ?</a:t>
            </a:r>
          </a:p>
          <a:p>
            <a:pPr lvl="1"/>
            <a:r>
              <a:rPr lang="vi-VN" sz="2400" dirty="0"/>
              <a:t>(vị trí Pac-man, danh sách vị trí bánh, danh sách vị trí thuốc, thời gian ma sợ còn lại)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3" y="1371601"/>
            <a:ext cx="11847513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 và cây tìm kiếm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0" y="1524000"/>
            <a:ext cx="4017746" cy="4260878"/>
          </a:xfrm>
          <a:prstGeom prst="rect">
            <a:avLst/>
          </a:prstGeom>
          <a:noFill/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6FFE55-0AD3-839B-F666-F974C8744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219200"/>
            <a:ext cx="5994400" cy="4729164"/>
          </a:xfrm>
        </p:spPr>
        <p:txBody>
          <a:bodyPr/>
          <a:lstStyle/>
          <a:p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dung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r>
              <a:rPr lang="en-US" sz="2800" dirty="0"/>
              <a:t> </a:t>
            </a:r>
            <a:r>
              <a:rPr lang="en-US" sz="2800" dirty="0" err="1"/>
              <a:t>trạng</a:t>
            </a:r>
            <a:r>
              <a:rPr lang="en-US" sz="2800" dirty="0"/>
              <a:t> </a:t>
            </a:r>
            <a:r>
              <a:rPr lang="en-US" sz="2800" dirty="0" err="1"/>
              <a:t>thái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endParaRPr lang="en-US" sz="2800" dirty="0"/>
          </a:p>
          <a:p>
            <a:pPr lvl="2"/>
            <a:endParaRPr lang="en-US" sz="2000" dirty="0"/>
          </a:p>
          <a:p>
            <a:r>
              <a:rPr lang="en-US" sz="2800" dirty="0" err="1"/>
              <a:t>Việc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lời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duyệt</a:t>
            </a:r>
            <a:r>
              <a:rPr lang="en-US" sz="2800" dirty="0"/>
              <a:t>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chiến</a:t>
            </a:r>
            <a:r>
              <a:rPr lang="en-US" sz="2800" dirty="0"/>
              <a:t> </a:t>
            </a:r>
            <a:r>
              <a:rPr lang="en-US" sz="2800" dirty="0" err="1"/>
              <a:t>lược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, hay </a:t>
            </a:r>
            <a:r>
              <a:rPr lang="en-US" sz="2800" dirty="0" err="1"/>
              <a:t>nói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cây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đồ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552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vi-VN" sz="2400" dirty="0">
                <a:solidFill>
                  <a:srgbClr val="FF0000"/>
                </a:solidFill>
              </a:rPr>
              <a:t>Đồ thị không gian trạng thái</a:t>
            </a:r>
            <a:r>
              <a:rPr lang="vi-VN" sz="2400" dirty="0"/>
              <a:t>: biểu diễn toán học của bài toán tìm kiếm</a:t>
            </a:r>
          </a:p>
          <a:p>
            <a:pPr lvl="1" eaLnBrk="1" hangingPunct="1"/>
            <a:r>
              <a:rPr lang="vi-VN" sz="1900" dirty="0"/>
              <a:t>Đỉnh = Trạng thái</a:t>
            </a:r>
          </a:p>
          <a:p>
            <a:pPr lvl="1" eaLnBrk="1" hangingPunct="1"/>
            <a:r>
              <a:rPr lang="vi-VN" sz="1900" dirty="0"/>
              <a:t>Cạnh = hàm chuyển</a:t>
            </a:r>
          </a:p>
          <a:p>
            <a:pPr lvl="1" eaLnBrk="1" hangingPunct="1"/>
            <a:r>
              <a:rPr lang="vi-VN" sz="1900" dirty="0"/>
              <a:t>Hàm kiểm tra = tập các đỉnh mục tiêu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Trong đồ thị không gian trạng thái, mỗi trạng thái xuất hiện </a:t>
            </a:r>
            <a:r>
              <a:rPr lang="vi-VN" sz="2400" dirty="0">
                <a:solidFill>
                  <a:srgbClr val="FF0000"/>
                </a:solidFill>
              </a:rPr>
              <a:t>duy nhất một lần</a:t>
            </a:r>
            <a:r>
              <a:rPr lang="vi-VN" sz="2400" dirty="0"/>
              <a:t>!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Hiếm khi xây dựng đồ thị này (do quá lớn) mà chúng ta dùng nó để suy nghĩ về bài toán</a:t>
            </a:r>
          </a:p>
          <a:p>
            <a:pPr eaLnBrk="1" hangingPunct="1"/>
            <a:endParaRPr lang="vi-VN" sz="2400" dirty="0"/>
          </a:p>
          <a:p>
            <a:pPr eaLnBrk="1" hangingPunct="1">
              <a:buFont typeface="Wingdings" pitchFamily="2" charset="2"/>
              <a:buNone/>
            </a:pPr>
            <a:endParaRPr lang="vi-VN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vi-VN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vi-VN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Đồ thị không gian trạng thái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57353"/>
            <a:ext cx="6324600" cy="4525963"/>
          </a:xfrm>
        </p:spPr>
        <p:txBody>
          <a:bodyPr/>
          <a:lstStyle/>
          <a:p>
            <a:pPr eaLnBrk="1" hangingPunct="1"/>
            <a:r>
              <a:rPr lang="vi-VN" sz="2400" dirty="0">
                <a:solidFill>
                  <a:srgbClr val="FF0000"/>
                </a:solidFill>
              </a:rPr>
              <a:t>Đồ thị không gian trạng thái</a:t>
            </a:r>
            <a:r>
              <a:rPr lang="vi-VN" sz="2400" dirty="0"/>
              <a:t>: biểu diễn toán học của bài toán tìm kiếm</a:t>
            </a:r>
          </a:p>
          <a:p>
            <a:pPr lvl="1" eaLnBrk="1" hangingPunct="1"/>
            <a:r>
              <a:rPr lang="vi-VN" sz="1900" dirty="0"/>
              <a:t>Đỉnh = Trạng thái</a:t>
            </a:r>
          </a:p>
          <a:p>
            <a:pPr lvl="1" eaLnBrk="1" hangingPunct="1"/>
            <a:r>
              <a:rPr lang="vi-VN" sz="1900" dirty="0"/>
              <a:t>Cạnh = hàm chuyển</a:t>
            </a:r>
          </a:p>
          <a:p>
            <a:pPr lvl="1" eaLnBrk="1" hangingPunct="1"/>
            <a:r>
              <a:rPr lang="vi-VN" sz="1900" dirty="0"/>
              <a:t>Hàm kiểm tra = tập các đỉnh mục tiêu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Trong đồ thị không gian trạng thái, mỗi trạng thái xuất hiện </a:t>
            </a:r>
            <a:r>
              <a:rPr lang="vi-VN" sz="2400" dirty="0">
                <a:solidFill>
                  <a:srgbClr val="FF0000"/>
                </a:solidFill>
              </a:rPr>
              <a:t>duy nhất một lần</a:t>
            </a:r>
            <a:r>
              <a:rPr lang="vi-VN" sz="2400" dirty="0"/>
              <a:t>!</a:t>
            </a:r>
          </a:p>
          <a:p>
            <a:pPr lvl="1" eaLnBrk="1" hangingPunct="1"/>
            <a:endParaRPr lang="vi-VN" sz="2000" dirty="0"/>
          </a:p>
          <a:p>
            <a:pPr eaLnBrk="1" hangingPunct="1"/>
            <a:r>
              <a:rPr lang="vi-VN" sz="2400" dirty="0"/>
              <a:t>Hiếm khi xây dựng đồ thị này (do quá lớn) mà chúng ta dùng nó để suy nghĩ về bài toán</a:t>
            </a:r>
          </a:p>
          <a:p>
            <a:pPr eaLnBrk="1" hangingPunct="1"/>
            <a:endParaRPr lang="vi-VN" sz="2400" dirty="0"/>
          </a:p>
          <a:p>
            <a:pPr eaLnBrk="1" hangingPunct="1">
              <a:buFont typeface="Wingdings" pitchFamily="2" charset="2"/>
              <a:buNone/>
            </a:pPr>
            <a:endParaRPr lang="vi-VN" sz="2400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12294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600" b="1"/>
                <a:t>S</a:t>
              </a:r>
            </a:p>
          </p:txBody>
        </p:sp>
        <p:sp>
          <p:nvSpPr>
            <p:cNvPr id="12295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b="1"/>
                <a:t>G</a:t>
              </a:r>
            </a:p>
          </p:txBody>
        </p:sp>
        <p:sp>
          <p:nvSpPr>
            <p:cNvPr id="12296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d</a:t>
              </a:r>
            </a:p>
          </p:txBody>
        </p:sp>
        <p:sp>
          <p:nvSpPr>
            <p:cNvPr id="12297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b</a:t>
              </a:r>
            </a:p>
          </p:txBody>
        </p:sp>
        <p:sp>
          <p:nvSpPr>
            <p:cNvPr id="12298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p</a:t>
              </a:r>
            </a:p>
          </p:txBody>
        </p:sp>
        <p:sp>
          <p:nvSpPr>
            <p:cNvPr id="12299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q</a:t>
              </a:r>
            </a:p>
          </p:txBody>
        </p:sp>
        <p:sp>
          <p:nvSpPr>
            <p:cNvPr id="12300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c</a:t>
              </a:r>
            </a:p>
          </p:txBody>
        </p:sp>
        <p:sp>
          <p:nvSpPr>
            <p:cNvPr id="12301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e</a:t>
              </a:r>
            </a:p>
          </p:txBody>
        </p:sp>
        <p:sp>
          <p:nvSpPr>
            <p:cNvPr id="12302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h</a:t>
              </a:r>
            </a:p>
          </p:txBody>
        </p:sp>
        <p:sp>
          <p:nvSpPr>
            <p:cNvPr id="12303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a</a:t>
              </a:r>
            </a:p>
          </p:txBody>
        </p:sp>
        <p:sp>
          <p:nvSpPr>
            <p:cNvPr id="12304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f</a:t>
              </a:r>
            </a:p>
          </p:txBody>
        </p:sp>
        <p:sp>
          <p:nvSpPr>
            <p:cNvPr id="12305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r</a:t>
              </a:r>
            </a:p>
          </p:txBody>
        </p:sp>
        <p:cxnSp>
          <p:nvCxnSpPr>
            <p:cNvPr id="12306" name="AutoShape 17"/>
            <p:cNvCxnSpPr>
              <a:cxnSpLocks noChangeShapeType="1"/>
              <a:stCxn id="12294" idx="5"/>
              <a:endCxn id="12298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7" name="AutoShape 18"/>
            <p:cNvCxnSpPr>
              <a:cxnSpLocks noChangeShapeType="1"/>
              <a:stCxn id="12298" idx="5"/>
              <a:endCxn id="12299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8" name="AutoShape 19"/>
            <p:cNvCxnSpPr>
              <a:cxnSpLocks noChangeShapeType="1"/>
              <a:stCxn id="12302" idx="3"/>
              <a:endCxn id="12299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09" name="AutoShape 20"/>
            <p:cNvCxnSpPr>
              <a:cxnSpLocks noChangeShapeType="1"/>
              <a:stCxn id="12302" idx="2"/>
              <a:endCxn id="12298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0" name="AutoShape 21"/>
            <p:cNvCxnSpPr>
              <a:cxnSpLocks noChangeShapeType="1"/>
              <a:stCxn id="12301" idx="4"/>
              <a:endCxn id="12302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1" name="AutoShape 22"/>
            <p:cNvCxnSpPr>
              <a:cxnSpLocks noChangeShapeType="1"/>
              <a:stCxn id="12301" idx="5"/>
              <a:endCxn id="12305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2" name="AutoShape 23"/>
            <p:cNvCxnSpPr>
              <a:cxnSpLocks noChangeShapeType="1"/>
              <a:stCxn id="12305" idx="0"/>
              <a:endCxn id="12304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3" name="AutoShape 24"/>
            <p:cNvCxnSpPr>
              <a:cxnSpLocks noChangeShapeType="1"/>
              <a:stCxn id="12304" idx="0"/>
              <a:endCxn id="12295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4" name="AutoShape 25"/>
            <p:cNvCxnSpPr>
              <a:cxnSpLocks noChangeShapeType="1"/>
              <a:stCxn id="12294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5" name="AutoShape 26"/>
            <p:cNvCxnSpPr>
              <a:cxnSpLocks noChangeShapeType="1"/>
              <a:stCxn id="12296" idx="1"/>
              <a:endCxn id="12297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6" name="AutoShape 27"/>
            <p:cNvCxnSpPr>
              <a:cxnSpLocks noChangeShapeType="1"/>
              <a:endCxn id="12303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7" name="AutoShape 28"/>
            <p:cNvCxnSpPr>
              <a:cxnSpLocks noChangeShapeType="1"/>
              <a:stCxn id="12300" idx="2"/>
              <a:endCxn id="12303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8" name="AutoShape 29"/>
            <p:cNvCxnSpPr>
              <a:cxnSpLocks noChangeShapeType="1"/>
              <a:stCxn id="12296" idx="7"/>
              <a:endCxn id="12300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19" name="AutoShape 30"/>
            <p:cNvCxnSpPr>
              <a:cxnSpLocks noChangeShapeType="1"/>
              <a:stCxn id="12296" idx="6"/>
              <a:endCxn id="12301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0" name="AutoShape 31"/>
            <p:cNvCxnSpPr>
              <a:cxnSpLocks noChangeShapeType="1"/>
              <a:stCxn id="12304" idx="1"/>
              <a:endCxn id="12300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21" name="AutoShape 32"/>
            <p:cNvCxnSpPr>
              <a:cxnSpLocks noChangeShapeType="1"/>
              <a:stCxn id="12294" idx="6"/>
              <a:endCxn id="12301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Ví dụ: Lật chồng bánh pancake</a:t>
            </a:r>
            <a:endParaRPr lang="vi-VN" noProof="0" dirty="0">
              <a:latin typeface="Calibri"/>
              <a:cs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84526" y="2501900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3088" y="2598738"/>
            <a:ext cx="636587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936875" y="2403476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043238" y="26939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128964" y="3727451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00401" y="3533775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952751" y="3630612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059114" y="3822700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075239" y="2271713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22889" y="2174875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51450" y="2078038"/>
            <a:ext cx="636588" cy="0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81600" y="1981200"/>
            <a:ext cx="812800" cy="1587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07" name="Group 81"/>
          <p:cNvGrpSpPr>
            <a:grpSpLocks/>
          </p:cNvGrpSpPr>
          <p:nvPr/>
        </p:nvGrpSpPr>
        <p:grpSpPr bwMode="auto">
          <a:xfrm flipV="1">
            <a:off x="2251075" y="4689476"/>
            <a:ext cx="1025525" cy="195263"/>
            <a:chOff x="914400" y="6033654"/>
            <a:chExt cx="1025380" cy="194975"/>
          </a:xfrm>
        </p:grpSpPr>
        <p:cxnSp>
          <p:nvCxnSpPr>
            <p:cNvPr id="45" name="Straight Connector 44"/>
            <p:cNvCxnSpPr/>
            <p:nvPr/>
          </p:nvCxnSpPr>
          <p:spPr>
            <a:xfrm flipV="1">
              <a:off x="1090588" y="6227044"/>
              <a:ext cx="636497" cy="1585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1162015" y="6033654"/>
              <a:ext cx="495230" cy="1585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914400" y="6130349"/>
              <a:ext cx="1025380" cy="1586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 flipV="1">
            <a:off x="2357438" y="49799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09" name="Group 87"/>
          <p:cNvGrpSpPr>
            <a:grpSpLocks/>
          </p:cNvGrpSpPr>
          <p:nvPr/>
        </p:nvGrpSpPr>
        <p:grpSpPr bwMode="auto">
          <a:xfrm flipV="1">
            <a:off x="4232275" y="4357688"/>
            <a:ext cx="1025525" cy="290513"/>
            <a:chOff x="2175020" y="6019800"/>
            <a:chExt cx="1025380" cy="290946"/>
          </a:xfrm>
        </p:grpSpPr>
        <p:grpSp>
          <p:nvGrpSpPr>
            <p:cNvPr id="8281" name="Group 82"/>
            <p:cNvGrpSpPr>
              <a:grpSpLocks/>
            </p:cNvGrpSpPr>
            <p:nvPr/>
          </p:nvGrpSpPr>
          <p:grpSpPr bwMode="auto">
            <a:xfrm>
              <a:off x="2175020" y="6019800"/>
              <a:ext cx="1025380" cy="194975"/>
              <a:chOff x="914400" y="6033654"/>
              <a:chExt cx="1025380" cy="194975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flipV="1">
                <a:off x="1090588" y="6227617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162015" y="6033654"/>
                <a:ext cx="495230" cy="159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914400" y="6130636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/>
            <p:cNvCxnSpPr/>
            <p:nvPr/>
          </p:nvCxnSpPr>
          <p:spPr>
            <a:xfrm flipV="1">
              <a:off x="2281368" y="6309156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/>
          <p:cNvCxnSpPr/>
          <p:nvPr/>
        </p:nvCxnSpPr>
        <p:spPr>
          <a:xfrm>
            <a:off x="9032875" y="4191000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280526" y="3900488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9209088" y="3997326"/>
            <a:ext cx="636587" cy="1587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9139238" y="4094162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029201" y="3594100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276850" y="3497262"/>
            <a:ext cx="495300" cy="1588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16" name="Group 94"/>
          <p:cNvGrpSpPr>
            <a:grpSpLocks/>
          </p:cNvGrpSpPr>
          <p:nvPr/>
        </p:nvGrpSpPr>
        <p:grpSpPr bwMode="auto">
          <a:xfrm flipV="1">
            <a:off x="5135563" y="3305175"/>
            <a:ext cx="812800" cy="96837"/>
            <a:chOff x="6278274" y="6096000"/>
            <a:chExt cx="813233" cy="96982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6349749" y="6191393"/>
              <a:ext cx="635338" cy="1589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278274" y="60960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3" name="Straight Arrow Connector 62"/>
          <p:cNvCxnSpPr/>
          <p:nvPr/>
        </p:nvCxnSpPr>
        <p:spPr>
          <a:xfrm rot="10800000" flipV="1">
            <a:off x="4114800" y="2300287"/>
            <a:ext cx="574675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H="1" flipV="1">
            <a:off x="3203575" y="3127375"/>
            <a:ext cx="5334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2860675" y="4003675"/>
            <a:ext cx="609600" cy="457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rot="10800000">
            <a:off x="3886200" y="4052887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505450" y="5499100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2" name="Group 80"/>
          <p:cNvGrpSpPr>
            <a:grpSpLocks/>
          </p:cNvGrpSpPr>
          <p:nvPr/>
        </p:nvGrpSpPr>
        <p:grpSpPr bwMode="auto">
          <a:xfrm flipV="1">
            <a:off x="5257801" y="5210176"/>
            <a:ext cx="1025525" cy="193675"/>
            <a:chOff x="3200400" y="5791200"/>
            <a:chExt cx="1025380" cy="193964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3376588" y="5886592"/>
              <a:ext cx="63649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3200400" y="5983575"/>
              <a:ext cx="1025380" cy="1589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306748" y="5791200"/>
              <a:ext cx="81268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/>
          <p:cNvCxnSpPr/>
          <p:nvPr/>
        </p:nvCxnSpPr>
        <p:spPr>
          <a:xfrm flipV="1">
            <a:off x="2422526" y="5799138"/>
            <a:ext cx="495300" cy="0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4" name="Group 86"/>
          <p:cNvGrpSpPr>
            <a:grpSpLocks/>
          </p:cNvGrpSpPr>
          <p:nvPr/>
        </p:nvGrpSpPr>
        <p:grpSpPr bwMode="auto">
          <a:xfrm flipV="1">
            <a:off x="2174875" y="5603876"/>
            <a:ext cx="1025525" cy="98425"/>
            <a:chOff x="1752600" y="5562600"/>
            <a:chExt cx="1025380" cy="97993"/>
          </a:xfrm>
        </p:grpSpPr>
        <p:cxnSp>
          <p:nvCxnSpPr>
            <p:cNvPr id="83" name="Straight Connector 82"/>
            <p:cNvCxnSpPr/>
            <p:nvPr/>
          </p:nvCxnSpPr>
          <p:spPr>
            <a:xfrm>
              <a:off x="1928788" y="5562600"/>
              <a:ext cx="636497" cy="1581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752600" y="5659013"/>
              <a:ext cx="1025380" cy="158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Straight Connector 85"/>
          <p:cNvCxnSpPr/>
          <p:nvPr/>
        </p:nvCxnSpPr>
        <p:spPr>
          <a:xfrm flipV="1">
            <a:off x="2281238" y="5894388"/>
            <a:ext cx="812800" cy="1588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6" name="Group 92"/>
          <p:cNvGrpSpPr>
            <a:grpSpLocks/>
          </p:cNvGrpSpPr>
          <p:nvPr/>
        </p:nvGrpSpPr>
        <p:grpSpPr bwMode="auto">
          <a:xfrm flipV="1">
            <a:off x="3663951" y="5972175"/>
            <a:ext cx="1025525" cy="290512"/>
            <a:chOff x="2479820" y="6019800"/>
            <a:chExt cx="1025380" cy="290946"/>
          </a:xfrm>
        </p:grpSpPr>
        <p:cxnSp>
          <p:nvCxnSpPr>
            <p:cNvPr id="88" name="Straight Connector 87"/>
            <p:cNvCxnSpPr/>
            <p:nvPr/>
          </p:nvCxnSpPr>
          <p:spPr>
            <a:xfrm flipV="1">
              <a:off x="2727435" y="6213764"/>
              <a:ext cx="495230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270" name="Group 88"/>
            <p:cNvGrpSpPr>
              <a:grpSpLocks/>
            </p:cNvGrpSpPr>
            <p:nvPr/>
          </p:nvGrpSpPr>
          <p:grpSpPr bwMode="auto">
            <a:xfrm flipV="1">
              <a:off x="2479820" y="6019800"/>
              <a:ext cx="1025380" cy="97993"/>
              <a:chOff x="1752600" y="5562600"/>
              <a:chExt cx="1025380" cy="97993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>
                <a:off x="1928788" y="5562021"/>
                <a:ext cx="636497" cy="159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flipV="1">
                <a:off x="1752600" y="5659004"/>
                <a:ext cx="1025380" cy="1589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Straight Connector 91"/>
            <p:cNvCxnSpPr/>
            <p:nvPr/>
          </p:nvCxnSpPr>
          <p:spPr>
            <a:xfrm flipV="1">
              <a:off x="2586168" y="6309157"/>
              <a:ext cx="812685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27" name="Group 98"/>
          <p:cNvGrpSpPr>
            <a:grpSpLocks/>
          </p:cNvGrpSpPr>
          <p:nvPr/>
        </p:nvGrpSpPr>
        <p:grpSpPr bwMode="auto">
          <a:xfrm flipV="1">
            <a:off x="6858001" y="3824288"/>
            <a:ext cx="1025525" cy="290513"/>
            <a:chOff x="4267200" y="5119254"/>
            <a:chExt cx="1025380" cy="290946"/>
          </a:xfrm>
        </p:grpSpPr>
        <p:cxnSp>
          <p:nvCxnSpPr>
            <p:cNvPr id="94" name="Straight Connector 93"/>
            <p:cNvCxnSpPr/>
            <p:nvPr/>
          </p:nvCxnSpPr>
          <p:spPr>
            <a:xfrm flipV="1">
              <a:off x="4514815" y="5408610"/>
              <a:ext cx="495230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265" name="Group 94"/>
            <p:cNvGrpSpPr>
              <a:grpSpLocks/>
            </p:cNvGrpSpPr>
            <p:nvPr/>
          </p:nvGrpSpPr>
          <p:grpSpPr bwMode="auto">
            <a:xfrm flipV="1">
              <a:off x="4267200" y="5119254"/>
              <a:ext cx="1025380" cy="193964"/>
              <a:chOff x="3200400" y="5791200"/>
              <a:chExt cx="1025380" cy="193964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376588" y="5886592"/>
                <a:ext cx="636497" cy="1589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V="1">
                <a:off x="3200400" y="5983574"/>
                <a:ext cx="1025380" cy="159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306748" y="5791200"/>
                <a:ext cx="812685" cy="1589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" name="Straight Connector 105"/>
          <p:cNvCxnSpPr/>
          <p:nvPr/>
        </p:nvCxnSpPr>
        <p:spPr>
          <a:xfrm flipV="1">
            <a:off x="8118475" y="5943600"/>
            <a:ext cx="1025525" cy="0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29" name="Group 106"/>
          <p:cNvGrpSpPr>
            <a:grpSpLocks/>
          </p:cNvGrpSpPr>
          <p:nvPr/>
        </p:nvGrpSpPr>
        <p:grpSpPr bwMode="auto">
          <a:xfrm flipV="1">
            <a:off x="8224838" y="5653088"/>
            <a:ext cx="812800" cy="193675"/>
            <a:chOff x="4338494" y="6019800"/>
            <a:chExt cx="813233" cy="193964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4479856" y="6115192"/>
              <a:ext cx="495564" cy="1589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409969" y="6212174"/>
              <a:ext cx="63533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338494" y="6019800"/>
              <a:ext cx="813233" cy="1589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0" name="Straight Arrow Connector 109"/>
          <p:cNvCxnSpPr/>
          <p:nvPr/>
        </p:nvCxnSpPr>
        <p:spPr>
          <a:xfrm rot="5400000" flipH="1" flipV="1">
            <a:off x="2590007" y="5272882"/>
            <a:ext cx="3048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0800000">
            <a:off x="3276600" y="5729287"/>
            <a:ext cx="3810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rot="10800000" flipV="1">
            <a:off x="4724400" y="5805487"/>
            <a:ext cx="2971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>
            <a:off x="5105400" y="4814887"/>
            <a:ext cx="3048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rot="10800000" flipV="1">
            <a:off x="5867400" y="4281487"/>
            <a:ext cx="914400" cy="685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>
            <a:off x="6213475" y="3367087"/>
            <a:ext cx="762000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5400000">
            <a:off x="5295107" y="2796382"/>
            <a:ext cx="533400" cy="158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7262813" y="5021262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7086601" y="5118100"/>
            <a:ext cx="1025525" cy="1587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239" name="Group 131"/>
          <p:cNvGrpSpPr>
            <a:grpSpLocks/>
          </p:cNvGrpSpPr>
          <p:nvPr/>
        </p:nvGrpSpPr>
        <p:grpSpPr bwMode="auto">
          <a:xfrm flipV="1">
            <a:off x="7192963" y="4829175"/>
            <a:ext cx="812800" cy="96837"/>
            <a:chOff x="6472094" y="4738254"/>
            <a:chExt cx="813233" cy="97993"/>
          </a:xfrm>
        </p:grpSpPr>
        <p:cxnSp>
          <p:nvCxnSpPr>
            <p:cNvPr id="127" name="Straight Connector 126"/>
            <p:cNvCxnSpPr/>
            <p:nvPr/>
          </p:nvCxnSpPr>
          <p:spPr>
            <a:xfrm>
              <a:off x="6613456" y="4738254"/>
              <a:ext cx="495564" cy="1606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6472094" y="4834641"/>
              <a:ext cx="813233" cy="1606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4" name="Straight Arrow Connector 133"/>
          <p:cNvCxnSpPr/>
          <p:nvPr/>
        </p:nvCxnSpPr>
        <p:spPr>
          <a:xfrm rot="10800000">
            <a:off x="6324600" y="2452687"/>
            <a:ext cx="2438400" cy="1371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H="1">
            <a:off x="7277100" y="4395787"/>
            <a:ext cx="4572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>
            <a:off x="7772400" y="5272087"/>
            <a:ext cx="609600" cy="2286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rot="5400000" flipH="1" flipV="1">
            <a:off x="8572500" y="4548187"/>
            <a:ext cx="1066800" cy="8382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44" name="TextBox 154"/>
          <p:cNvSpPr txBox="1">
            <a:spLocks noChangeArrowheads="1"/>
          </p:cNvSpPr>
          <p:nvPr/>
        </p:nvSpPr>
        <p:spPr bwMode="auto">
          <a:xfrm>
            <a:off x="7432675" y="2757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5" name="TextBox 154"/>
          <p:cNvSpPr txBox="1">
            <a:spLocks noChangeArrowheads="1"/>
          </p:cNvSpPr>
          <p:nvPr/>
        </p:nvSpPr>
        <p:spPr bwMode="auto">
          <a:xfrm>
            <a:off x="9109075" y="4841876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46" name="TextBox 154"/>
          <p:cNvSpPr txBox="1">
            <a:spLocks noChangeArrowheads="1"/>
          </p:cNvSpPr>
          <p:nvPr/>
        </p:nvSpPr>
        <p:spPr bwMode="auto">
          <a:xfrm>
            <a:off x="6061075" y="4281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47" name="TextBox 154"/>
          <p:cNvSpPr txBox="1">
            <a:spLocks noChangeArrowheads="1"/>
          </p:cNvSpPr>
          <p:nvPr/>
        </p:nvSpPr>
        <p:spPr bwMode="auto">
          <a:xfrm>
            <a:off x="6518275" y="3165476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8" name="TextBox 154"/>
          <p:cNvSpPr txBox="1">
            <a:spLocks noChangeArrowheads="1"/>
          </p:cNvSpPr>
          <p:nvPr/>
        </p:nvSpPr>
        <p:spPr bwMode="auto">
          <a:xfrm>
            <a:off x="5984875" y="58816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49" name="TextBox 154"/>
          <p:cNvSpPr txBox="1">
            <a:spLocks noChangeArrowheads="1"/>
          </p:cNvSpPr>
          <p:nvPr/>
        </p:nvSpPr>
        <p:spPr bwMode="auto">
          <a:xfrm>
            <a:off x="7585075" y="4281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0" name="TextBox 154"/>
          <p:cNvSpPr txBox="1">
            <a:spLocks noChangeArrowheads="1"/>
          </p:cNvSpPr>
          <p:nvPr/>
        </p:nvSpPr>
        <p:spPr bwMode="auto">
          <a:xfrm>
            <a:off x="2784475" y="5086351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1" name="TextBox 154"/>
          <p:cNvSpPr txBox="1">
            <a:spLocks noChangeArrowheads="1"/>
          </p:cNvSpPr>
          <p:nvPr/>
        </p:nvSpPr>
        <p:spPr bwMode="auto">
          <a:xfrm>
            <a:off x="3470275" y="29098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252" name="TextBox 154"/>
          <p:cNvSpPr txBox="1">
            <a:spLocks noChangeArrowheads="1"/>
          </p:cNvSpPr>
          <p:nvPr/>
        </p:nvSpPr>
        <p:spPr bwMode="auto">
          <a:xfrm>
            <a:off x="4308475" y="2376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3" name="TextBox 115"/>
          <p:cNvSpPr txBox="1">
            <a:spLocks noChangeArrowheads="1"/>
          </p:cNvSpPr>
          <p:nvPr/>
        </p:nvSpPr>
        <p:spPr bwMode="auto">
          <a:xfrm>
            <a:off x="0" y="1219200"/>
            <a:ext cx="12191999" cy="52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8" tIns="45719" rIns="91438" bIns="45719">
            <a:spAutoFit/>
          </a:bodyPr>
          <a:lstStyle/>
          <a:p>
            <a:pPr algn="ctr"/>
            <a:r>
              <a:rPr lang="en-US" sz="2800" dirty="0" err="1">
                <a:latin typeface="Calibri"/>
                <a:cs typeface="Calibri"/>
              </a:rPr>
              <a:t>Đồ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thị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không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gian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trạng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thái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với</a:t>
            </a:r>
            <a:r>
              <a:rPr lang="en-US" sz="2800" dirty="0">
                <a:latin typeface="Calibri"/>
                <a:cs typeface="Calibri"/>
              </a:rPr>
              <a:t> chi </a:t>
            </a:r>
            <a:r>
              <a:rPr lang="en-US" sz="2800" dirty="0" err="1">
                <a:latin typeface="Calibri"/>
                <a:cs typeface="Calibri"/>
              </a:rPr>
              <a:t>phí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hành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động</a:t>
            </a:r>
            <a:r>
              <a:rPr lang="en-US" sz="2800" dirty="0">
                <a:latin typeface="Calibri"/>
                <a:cs typeface="Calibri"/>
              </a:rPr>
              <a:t> = </a:t>
            </a:r>
            <a:r>
              <a:rPr lang="en-US" sz="2800" dirty="0" err="1">
                <a:latin typeface="Calibri"/>
                <a:cs typeface="Calibri"/>
              </a:rPr>
              <a:t>số</a:t>
            </a:r>
            <a:r>
              <a:rPr lang="en-US" sz="2800" dirty="0">
                <a:latin typeface="Calibri"/>
                <a:cs typeface="Calibri"/>
              </a:rPr>
              <a:t> bánh </a:t>
            </a:r>
            <a:r>
              <a:rPr lang="en-US" sz="2800" dirty="0" err="1">
                <a:latin typeface="Calibri"/>
                <a:cs typeface="Calibri"/>
              </a:rPr>
              <a:t>được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lang="en-US" sz="2800" dirty="0" err="1">
                <a:latin typeface="Calibri"/>
                <a:cs typeface="Calibri"/>
              </a:rPr>
              <a:t>lật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8254" name="TextBox 154"/>
          <p:cNvSpPr txBox="1">
            <a:spLocks noChangeArrowheads="1"/>
          </p:cNvSpPr>
          <p:nvPr/>
        </p:nvSpPr>
        <p:spPr bwMode="auto">
          <a:xfrm>
            <a:off x="3165475" y="41290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55" name="TextBox 154"/>
          <p:cNvSpPr txBox="1">
            <a:spLocks noChangeArrowheads="1"/>
          </p:cNvSpPr>
          <p:nvPr/>
        </p:nvSpPr>
        <p:spPr bwMode="auto">
          <a:xfrm>
            <a:off x="4079875" y="38242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6" name="TextBox 154"/>
          <p:cNvSpPr txBox="1">
            <a:spLocks noChangeArrowheads="1"/>
          </p:cNvSpPr>
          <p:nvPr/>
        </p:nvSpPr>
        <p:spPr bwMode="auto">
          <a:xfrm>
            <a:off x="4841875" y="48148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257" name="TextBox 154"/>
          <p:cNvSpPr txBox="1">
            <a:spLocks noChangeArrowheads="1"/>
          </p:cNvSpPr>
          <p:nvPr/>
        </p:nvSpPr>
        <p:spPr bwMode="auto">
          <a:xfrm>
            <a:off x="3470275" y="54244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258" name="TextBox 154"/>
          <p:cNvSpPr txBox="1">
            <a:spLocks noChangeArrowheads="1"/>
          </p:cNvSpPr>
          <p:nvPr/>
        </p:nvSpPr>
        <p:spPr bwMode="auto">
          <a:xfrm>
            <a:off x="5222875" y="2681288"/>
            <a:ext cx="304800" cy="36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8" tIns="45719" rIns="91438" bIns="45719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Cây tìm kiếm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vi-VN" sz="2400" dirty="0"/>
              <a:t>Cây tìm kiếm:</a:t>
            </a:r>
          </a:p>
          <a:p>
            <a:pPr lvl="1" eaLnBrk="1" hangingPunct="1"/>
            <a:r>
              <a:rPr lang="vi-VN" sz="2000" dirty="0"/>
              <a:t>Cây của các kế hoạch và kết quả: Câu hỏi “Nếu … thì …”</a:t>
            </a:r>
          </a:p>
          <a:p>
            <a:pPr lvl="1" eaLnBrk="1" hangingPunct="1"/>
            <a:r>
              <a:rPr lang="vi-VN" sz="2000" dirty="0"/>
              <a:t>Trạng thái bắt đầu = gốc cây</a:t>
            </a:r>
          </a:p>
          <a:p>
            <a:pPr lvl="1" eaLnBrk="1" hangingPunct="1"/>
            <a:r>
              <a:rPr lang="vi-VN" sz="2000" dirty="0"/>
              <a:t>Các nút con = các phép chuyển trạng thái</a:t>
            </a:r>
          </a:p>
          <a:p>
            <a:pPr lvl="1" eaLnBrk="1" hangingPunct="1"/>
            <a:r>
              <a:rPr lang="vi-VN" sz="2000" dirty="0"/>
              <a:t>Mỗi nút con = một kế hoạch đến một trạng thái nào đó</a:t>
            </a:r>
          </a:p>
          <a:p>
            <a:pPr lvl="1" eaLnBrk="1" hangingPunct="1"/>
            <a:r>
              <a:rPr lang="vi-VN" sz="2000" dirty="0">
                <a:solidFill>
                  <a:srgbClr val="CC0000"/>
                </a:solidFill>
              </a:rPr>
              <a:t>Hầu như không thể xây dựng toàn bộ cây tìm kiếm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>
              <a:latin typeface="Calibri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>
                <a:latin typeface="Calibri" pitchFamily="34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dirty="0"/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000" dirty="0">
                <a:latin typeface="Calibri" pitchFamily="34" charset="0"/>
              </a:rPr>
              <a:t>Trạng thái bắt đầu tìm kiếm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dirty="0"/>
          </a:p>
        </p:txBody>
      </p:sp>
      <p:sp>
        <p:nvSpPr>
          <p:cNvPr id="20" name="TextBox 19"/>
          <p:cNvSpPr txBox="1"/>
          <p:nvPr/>
        </p:nvSpPr>
        <p:spPr>
          <a:xfrm>
            <a:off x="8077199" y="2602472"/>
            <a:ext cx="3352797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000" dirty="0">
                <a:latin typeface="Calibri" pitchFamily="34" charset="0"/>
              </a:rPr>
              <a:t>Các khả năng trong tương lai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 sz="1600"/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vi-VN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 thị không gian trạng thái ≠ Cây tìm kiếm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500"/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500"/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b="1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sz="1600" i="1"/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Xây dựng đồ thị và cây tìm kiếm “theo nhu cầu” và càng ít càng tốt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754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Mỗi nút trong cây tìm kiếm tương đương với một đường đi trong đồ thị không gian trạng thái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Cây tìm kiếm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95410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Đồ thị không gian trạng thái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Đồ thị không gian trạng thái ≠ Cây tìm kiếm</a:t>
            </a:r>
            <a:endParaRPr 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7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0" tIns="45718" rIns="91430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7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0" tIns="45718" rIns="91430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7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0" tIns="45718" rIns="91430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7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0" tIns="45718" rIns="91430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31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31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7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7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168400" y="1676400"/>
            <a:ext cx="3886200" cy="461661"/>
          </a:xfrm>
          <a:prstGeom prst="rect">
            <a:avLst/>
          </a:prstGeom>
          <a:noFill/>
        </p:spPr>
        <p:txBody>
          <a:bodyPr wrap="square" lIns="91430" tIns="45718" rIns="91430" bIns="45718" rtlCol="0">
            <a:spAutoFit/>
          </a:bodyPr>
          <a:lstStyle/>
          <a:p>
            <a:r>
              <a:rPr lang="vi-VN" sz="2400" dirty="0">
                <a:latin typeface="Calibri" pitchFamily="34" charset="0"/>
              </a:rPr>
              <a:t>Xét đồ thị gồm 4 đỉnh sau: 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7391400" y="2286000"/>
            <a:ext cx="2971800" cy="3048000"/>
            <a:chOff x="6858000" y="2438400"/>
            <a:chExt cx="2971800" cy="3048000"/>
          </a:xfrm>
        </p:grpSpPr>
        <p:sp>
          <p:nvSpPr>
            <p:cNvPr id="18" name="AutoShape 5"/>
            <p:cNvSpPr>
              <a:spLocks noChangeArrowheads="1"/>
            </p:cNvSpPr>
            <p:nvPr/>
          </p:nvSpPr>
          <p:spPr bwMode="auto">
            <a:xfrm>
              <a:off x="8153400" y="2438400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sz="1600" b="1" dirty="0"/>
                <a:t>S</a:t>
              </a:r>
            </a:p>
          </p:txBody>
        </p:sp>
        <p:sp>
          <p:nvSpPr>
            <p:cNvPr id="19" name="AutoShape 14"/>
            <p:cNvSpPr>
              <a:spLocks noChangeArrowheads="1"/>
            </p:cNvSpPr>
            <p:nvPr/>
          </p:nvSpPr>
          <p:spPr bwMode="auto">
            <a:xfrm>
              <a:off x="7639616" y="3137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>
              <a:off x="8630216" y="3124200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22" name="AutoShape 6"/>
            <p:cNvSpPr>
              <a:spLocks noChangeArrowheads="1"/>
            </p:cNvSpPr>
            <p:nvPr/>
          </p:nvSpPr>
          <p:spPr bwMode="auto">
            <a:xfrm>
              <a:off x="7639616" y="3899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8630216" y="3886200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b="1" dirty="0"/>
                <a:t>G</a:t>
              </a:r>
            </a:p>
          </p:txBody>
        </p:sp>
        <p:sp>
          <p:nvSpPr>
            <p:cNvPr id="28" name="AutoShape 14"/>
            <p:cNvSpPr>
              <a:spLocks noChangeArrowheads="1"/>
            </p:cNvSpPr>
            <p:nvPr/>
          </p:nvSpPr>
          <p:spPr bwMode="auto">
            <a:xfrm>
              <a:off x="9392216" y="3899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29" name="AutoShape 8"/>
            <p:cNvSpPr>
              <a:spLocks noChangeArrowheads="1"/>
            </p:cNvSpPr>
            <p:nvPr/>
          </p:nvSpPr>
          <p:spPr bwMode="auto">
            <a:xfrm>
              <a:off x="6858000" y="3899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b</a:t>
              </a:r>
            </a:p>
          </p:txBody>
        </p:sp>
        <p:cxnSp>
          <p:nvCxnSpPr>
            <p:cNvPr id="30" name="AutoShape 17"/>
            <p:cNvCxnSpPr>
              <a:cxnSpLocks noChangeShapeType="1"/>
              <a:stCxn id="18" idx="3"/>
              <a:endCxn id="19" idx="7"/>
            </p:cNvCxnSpPr>
            <p:nvPr/>
          </p:nvCxnSpPr>
          <p:spPr bwMode="auto">
            <a:xfrm flipH="1">
              <a:off x="8013117" y="2817104"/>
              <a:ext cx="204366" cy="3855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31" name="AutoShape 17"/>
            <p:cNvCxnSpPr>
              <a:cxnSpLocks noChangeShapeType="1"/>
              <a:stCxn id="18" idx="5"/>
              <a:endCxn id="20" idx="1"/>
            </p:cNvCxnSpPr>
            <p:nvPr/>
          </p:nvCxnSpPr>
          <p:spPr bwMode="auto">
            <a:xfrm>
              <a:off x="8526901" y="2817104"/>
              <a:ext cx="167398" cy="3720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32" name="AutoShape 17"/>
            <p:cNvCxnSpPr>
              <a:cxnSpLocks noChangeShapeType="1"/>
              <a:stCxn id="19" idx="3"/>
              <a:endCxn id="29" idx="7"/>
            </p:cNvCxnSpPr>
            <p:nvPr/>
          </p:nvCxnSpPr>
          <p:spPr bwMode="auto">
            <a:xfrm flipH="1">
              <a:off x="7231501" y="3516425"/>
              <a:ext cx="472198" cy="4482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33" name="AutoShape 17"/>
            <p:cNvCxnSpPr>
              <a:cxnSpLocks noChangeShapeType="1"/>
              <a:stCxn id="19" idx="4"/>
              <a:endCxn id="22" idx="0"/>
            </p:cNvCxnSpPr>
            <p:nvPr/>
          </p:nvCxnSpPr>
          <p:spPr bwMode="auto">
            <a:xfrm>
              <a:off x="7858408" y="3581400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36" name="AutoShape 17"/>
            <p:cNvCxnSpPr>
              <a:cxnSpLocks noChangeShapeType="1"/>
              <a:stCxn id="20" idx="4"/>
              <a:endCxn id="25" idx="0"/>
            </p:cNvCxnSpPr>
            <p:nvPr/>
          </p:nvCxnSpPr>
          <p:spPr bwMode="auto">
            <a:xfrm>
              <a:off x="8849008" y="3567879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39" name="AutoShape 17"/>
            <p:cNvCxnSpPr>
              <a:cxnSpLocks noChangeShapeType="1"/>
              <a:stCxn id="20" idx="5"/>
              <a:endCxn id="28" idx="1"/>
            </p:cNvCxnSpPr>
            <p:nvPr/>
          </p:nvCxnSpPr>
          <p:spPr bwMode="auto">
            <a:xfrm>
              <a:off x="9003717" y="3502904"/>
              <a:ext cx="452582" cy="4617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42" name="AutoShape 6"/>
            <p:cNvSpPr>
              <a:spLocks noChangeArrowheads="1"/>
            </p:cNvSpPr>
            <p:nvPr/>
          </p:nvSpPr>
          <p:spPr bwMode="auto">
            <a:xfrm>
              <a:off x="6877616" y="4648200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43" name="AutoShape 14"/>
            <p:cNvSpPr>
              <a:spLocks noChangeArrowheads="1"/>
            </p:cNvSpPr>
            <p:nvPr/>
          </p:nvSpPr>
          <p:spPr bwMode="auto">
            <a:xfrm>
              <a:off x="7639616" y="4661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a</a:t>
              </a:r>
            </a:p>
          </p:txBody>
        </p:sp>
        <p:cxnSp>
          <p:nvCxnSpPr>
            <p:cNvPr id="44" name="AutoShape 17"/>
            <p:cNvCxnSpPr>
              <a:cxnSpLocks noChangeShapeType="1"/>
              <a:endCxn id="42" idx="0"/>
            </p:cNvCxnSpPr>
            <p:nvPr/>
          </p:nvCxnSpPr>
          <p:spPr bwMode="auto">
            <a:xfrm>
              <a:off x="7096408" y="4329879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45" name="AutoShape 17"/>
            <p:cNvCxnSpPr>
              <a:cxnSpLocks noChangeShapeType="1"/>
              <a:endCxn id="43" idx="1"/>
            </p:cNvCxnSpPr>
            <p:nvPr/>
          </p:nvCxnSpPr>
          <p:spPr bwMode="auto">
            <a:xfrm>
              <a:off x="7251117" y="4264904"/>
              <a:ext cx="452582" cy="4617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46" name="AutoShape 6"/>
            <p:cNvSpPr>
              <a:spLocks noChangeArrowheads="1"/>
            </p:cNvSpPr>
            <p:nvPr/>
          </p:nvSpPr>
          <p:spPr bwMode="auto">
            <a:xfrm>
              <a:off x="9392216" y="4661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47" name="AutoShape 8"/>
            <p:cNvSpPr>
              <a:spLocks noChangeArrowheads="1"/>
            </p:cNvSpPr>
            <p:nvPr/>
          </p:nvSpPr>
          <p:spPr bwMode="auto">
            <a:xfrm>
              <a:off x="8610600" y="4661721"/>
              <a:ext cx="437584" cy="44367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8" rIns="91430" bIns="45718" anchor="ctr"/>
            <a:lstStyle/>
            <a:p>
              <a:pPr algn="ctr"/>
              <a:r>
                <a:rPr lang="en-US" i="1"/>
                <a:t>b</a:t>
              </a:r>
            </a:p>
          </p:txBody>
        </p:sp>
        <p:cxnSp>
          <p:nvCxnSpPr>
            <p:cNvPr id="48" name="AutoShape 17"/>
            <p:cNvCxnSpPr>
              <a:cxnSpLocks noChangeShapeType="1"/>
              <a:endCxn id="47" idx="7"/>
            </p:cNvCxnSpPr>
            <p:nvPr/>
          </p:nvCxnSpPr>
          <p:spPr bwMode="auto">
            <a:xfrm flipH="1">
              <a:off x="8984101" y="4278425"/>
              <a:ext cx="472198" cy="4482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49" name="AutoShape 17"/>
            <p:cNvCxnSpPr>
              <a:cxnSpLocks noChangeShapeType="1"/>
              <a:endCxn id="46" idx="0"/>
            </p:cNvCxnSpPr>
            <p:nvPr/>
          </p:nvCxnSpPr>
          <p:spPr bwMode="auto">
            <a:xfrm>
              <a:off x="9611008" y="4343400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50" name="AutoShape 17"/>
            <p:cNvCxnSpPr>
              <a:cxnSpLocks noChangeShapeType="1"/>
            </p:cNvCxnSpPr>
            <p:nvPr/>
          </p:nvCxnSpPr>
          <p:spPr bwMode="auto">
            <a:xfrm flipH="1">
              <a:off x="7239000" y="5038129"/>
              <a:ext cx="472198" cy="4482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51" name="AutoShape 17"/>
            <p:cNvCxnSpPr>
              <a:cxnSpLocks noChangeShapeType="1"/>
            </p:cNvCxnSpPr>
            <p:nvPr/>
          </p:nvCxnSpPr>
          <p:spPr bwMode="auto">
            <a:xfrm>
              <a:off x="7865907" y="5103104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52" name="AutoShape 17"/>
            <p:cNvCxnSpPr>
              <a:cxnSpLocks noChangeShapeType="1"/>
            </p:cNvCxnSpPr>
            <p:nvPr/>
          </p:nvCxnSpPr>
          <p:spPr bwMode="auto">
            <a:xfrm>
              <a:off x="8841509" y="5089583"/>
              <a:ext cx="0" cy="3183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53" name="AutoShape 17"/>
            <p:cNvCxnSpPr>
              <a:cxnSpLocks noChangeShapeType="1"/>
            </p:cNvCxnSpPr>
            <p:nvPr/>
          </p:nvCxnSpPr>
          <p:spPr bwMode="auto">
            <a:xfrm>
              <a:off x="8996218" y="5024608"/>
              <a:ext cx="452582" cy="4617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3" name="Rectangle 2"/>
          <p:cNvSpPr/>
          <p:nvPr/>
        </p:nvSpPr>
        <p:spPr>
          <a:xfrm>
            <a:off x="8288764" y="4724400"/>
            <a:ext cx="1236236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dirty="0">
                <a:latin typeface="ＭＳ ゴシック"/>
                <a:ea typeface="ＭＳ ゴシック"/>
                <a:cs typeface="ＭＳ ゴシック"/>
              </a:rPr>
              <a:t>∞</a:t>
            </a:r>
            <a:endParaRPr lang="en-US" sz="1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B4748-AF73-CB7B-676B-72EBA6C7DF2D}"/>
              </a:ext>
            </a:extLst>
          </p:cNvPr>
          <p:cNvSpPr txBox="1"/>
          <p:nvPr/>
        </p:nvSpPr>
        <p:spPr>
          <a:xfrm>
            <a:off x="66294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vi-VN" sz="2400" dirty="0">
                <a:latin typeface="Calibri" pitchFamily="34" charset="0"/>
              </a:rPr>
              <a:t>Độ sâu cây tìm kiếm xuất phát từ 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9AB1D-EF86-E6EF-815A-9F354739D04C}"/>
              </a:ext>
            </a:extLst>
          </p:cNvPr>
          <p:cNvSpPr txBox="1"/>
          <p:nvPr/>
        </p:nvSpPr>
        <p:spPr>
          <a:xfrm>
            <a:off x="0" y="6182380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vi-VN" sz="2800" dirty="0">
                <a:latin typeface="Calibri" pitchFamily="34" charset="0"/>
              </a:rPr>
              <a:t>Lưu ý: có rất nhiều c</a:t>
            </a:r>
            <a:r>
              <a:rPr lang="en-US" sz="2800" dirty="0" err="1">
                <a:latin typeface="Calibri" pitchFamily="34" charset="0"/>
              </a:rPr>
              <a:t>ây</a:t>
            </a:r>
            <a:r>
              <a:rPr lang="en-US" sz="2800" dirty="0">
                <a:latin typeface="Calibri" pitchFamily="34" charset="0"/>
              </a:rPr>
              <a:t> con</a:t>
            </a:r>
            <a:r>
              <a:rPr lang="vi-VN" sz="2800" dirty="0">
                <a:latin typeface="Calibri" pitchFamily="34" charset="0"/>
              </a:rPr>
              <a:t> bị lặp lại trong cây tìm kiếm</a:t>
            </a:r>
          </a:p>
        </p:txBody>
      </p:sp>
    </p:spTree>
    <p:extLst>
      <p:ext uri="{BB962C8B-B14F-4D97-AF65-F5344CB8AC3E}">
        <p14:creationId xmlns:p14="http://schemas.microsoft.com/office/powerpoint/2010/main" val="3583346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Du </a:t>
            </a:r>
            <a:r>
              <a:rPr lang="en-US" dirty="0" err="1"/>
              <a:t>lịch</a:t>
            </a:r>
            <a:r>
              <a:rPr lang="en-US" dirty="0"/>
              <a:t> Romania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Cây tìm kiếm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4267200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vi-VN" dirty="0"/>
              <a:t>Tìm kiếm: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Mở rộng các kế hoạch (đại diện bởi các nút của cây)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Quản lý vùng “rìa” hoặc “biên” tìm kiếm bao gồm các kế hoạch đang quan tâm</a:t>
            </a:r>
          </a:p>
          <a:p>
            <a:pPr lvl="1" eaLnBrk="1" hangingPunct="1">
              <a:lnSpc>
                <a:spcPct val="90000"/>
              </a:lnSpc>
            </a:pPr>
            <a:r>
              <a:rPr lang="vi-VN" dirty="0"/>
              <a:t>Mở rộng càng ít càng tốt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Thuật toán tìm kiếm tổng quát</a:t>
            </a:r>
            <a:endParaRPr lang="vi-V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77861" y="4114799"/>
            <a:ext cx="7315200" cy="2362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Các điểm cần chú ý: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Biên tìm kiếm (fringe, frontier)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Mở rộng biên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Chiến lược khám phá</a:t>
            </a:r>
          </a:p>
          <a:p>
            <a:pPr lvl="3">
              <a:lnSpc>
                <a:spcPct val="80000"/>
              </a:lnSpc>
            </a:pPr>
            <a:endParaRPr lang="vi-VN" sz="16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Câu hỏi: Nốt biên nào cần được khám phá?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5A374F-4966-FA05-4DF9-BFBCDA42175B}"/>
              </a:ext>
            </a:extLst>
          </p:cNvPr>
          <p:cNvGrpSpPr/>
          <p:nvPr/>
        </p:nvGrpSpPr>
        <p:grpSpPr>
          <a:xfrm>
            <a:off x="7696200" y="3200401"/>
            <a:ext cx="4268176" cy="3287750"/>
            <a:chOff x="3962400" y="1450961"/>
            <a:chExt cx="5030176" cy="43343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099A90A-6F3F-46ED-CB46-5C3693237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07104" y="1450961"/>
              <a:ext cx="4017746" cy="4260878"/>
            </a:xfrm>
            <a:prstGeom prst="rect">
              <a:avLst/>
            </a:prstGeom>
            <a:noFill/>
          </p:spPr>
        </p:pic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B0E11BF-9537-CFA3-0894-1D9E82453CAA}"/>
                </a:ext>
              </a:extLst>
            </p:cNvPr>
            <p:cNvSpPr/>
            <p:nvPr/>
          </p:nvSpPr>
          <p:spPr>
            <a:xfrm>
              <a:off x="3962400" y="3614614"/>
              <a:ext cx="5030176" cy="2170723"/>
            </a:xfrm>
            <a:custGeom>
              <a:avLst/>
              <a:gdLst>
                <a:gd name="connsiteX0" fmla="*/ 542192 w 4618893"/>
                <a:gd name="connsiteY0" fmla="*/ 1100505 h 2384182"/>
                <a:gd name="connsiteX1" fmla="*/ 14654 w 4618893"/>
                <a:gd name="connsiteY1" fmla="*/ 1698382 h 2384182"/>
                <a:gd name="connsiteX2" fmla="*/ 454269 w 4618893"/>
                <a:gd name="connsiteY2" fmla="*/ 2287466 h 2384182"/>
                <a:gd name="connsiteX3" fmla="*/ 2036885 w 4618893"/>
                <a:gd name="connsiteY3" fmla="*/ 2225920 h 2384182"/>
                <a:gd name="connsiteX4" fmla="*/ 2256692 w 4618893"/>
                <a:gd name="connsiteY4" fmla="*/ 1337897 h 2384182"/>
                <a:gd name="connsiteX5" fmla="*/ 2916115 w 4618893"/>
                <a:gd name="connsiteY5" fmla="*/ 1170843 h 2384182"/>
                <a:gd name="connsiteX6" fmla="*/ 3223846 w 4618893"/>
                <a:gd name="connsiteY6" fmla="*/ 2155582 h 2384182"/>
                <a:gd name="connsiteX7" fmla="*/ 4437185 w 4618893"/>
                <a:gd name="connsiteY7" fmla="*/ 2111620 h 2384182"/>
                <a:gd name="connsiteX8" fmla="*/ 4314092 w 4618893"/>
                <a:gd name="connsiteY8" fmla="*/ 907074 h 2384182"/>
                <a:gd name="connsiteX9" fmla="*/ 2898531 w 4618893"/>
                <a:gd name="connsiteY9" fmla="*/ 89389 h 2384182"/>
                <a:gd name="connsiteX10" fmla="*/ 1843454 w 4618893"/>
                <a:gd name="connsiteY10" fmla="*/ 370743 h 2384182"/>
                <a:gd name="connsiteX11" fmla="*/ 1852246 w 4618893"/>
                <a:gd name="connsiteY11" fmla="*/ 1100505 h 2384182"/>
                <a:gd name="connsiteX12" fmla="*/ 542192 w 4618893"/>
                <a:gd name="connsiteY12" fmla="*/ 1100505 h 2384182"/>
                <a:gd name="connsiteX0" fmla="*/ 542192 w 4618893"/>
                <a:gd name="connsiteY0" fmla="*/ 866043 h 2149720"/>
                <a:gd name="connsiteX1" fmla="*/ 14654 w 4618893"/>
                <a:gd name="connsiteY1" fmla="*/ 1463920 h 2149720"/>
                <a:gd name="connsiteX2" fmla="*/ 454269 w 4618893"/>
                <a:gd name="connsiteY2" fmla="*/ 2053004 h 2149720"/>
                <a:gd name="connsiteX3" fmla="*/ 2036885 w 4618893"/>
                <a:gd name="connsiteY3" fmla="*/ 1991458 h 2149720"/>
                <a:gd name="connsiteX4" fmla="*/ 2256692 w 4618893"/>
                <a:gd name="connsiteY4" fmla="*/ 1103435 h 2149720"/>
                <a:gd name="connsiteX5" fmla="*/ 2916115 w 4618893"/>
                <a:gd name="connsiteY5" fmla="*/ 936381 h 2149720"/>
                <a:gd name="connsiteX6" fmla="*/ 3223846 w 4618893"/>
                <a:gd name="connsiteY6" fmla="*/ 1921120 h 2149720"/>
                <a:gd name="connsiteX7" fmla="*/ 4437185 w 4618893"/>
                <a:gd name="connsiteY7" fmla="*/ 1877158 h 2149720"/>
                <a:gd name="connsiteX8" fmla="*/ 4314092 w 4618893"/>
                <a:gd name="connsiteY8" fmla="*/ 672612 h 2149720"/>
                <a:gd name="connsiteX9" fmla="*/ 2655277 w 4618893"/>
                <a:gd name="connsiteY9" fmla="*/ 89389 h 2149720"/>
                <a:gd name="connsiteX10" fmla="*/ 1843454 w 4618893"/>
                <a:gd name="connsiteY10" fmla="*/ 136281 h 2149720"/>
                <a:gd name="connsiteX11" fmla="*/ 1852246 w 4618893"/>
                <a:gd name="connsiteY11" fmla="*/ 866043 h 2149720"/>
                <a:gd name="connsiteX12" fmla="*/ 542192 w 4618893"/>
                <a:gd name="connsiteY12" fmla="*/ 866043 h 2149720"/>
                <a:gd name="connsiteX0" fmla="*/ 542192 w 4618893"/>
                <a:gd name="connsiteY0" fmla="*/ 866043 h 2149720"/>
                <a:gd name="connsiteX1" fmla="*/ 14654 w 4618893"/>
                <a:gd name="connsiteY1" fmla="*/ 1463920 h 2149720"/>
                <a:gd name="connsiteX2" fmla="*/ 454269 w 4618893"/>
                <a:gd name="connsiteY2" fmla="*/ 2053004 h 2149720"/>
                <a:gd name="connsiteX3" fmla="*/ 2036885 w 4618893"/>
                <a:gd name="connsiteY3" fmla="*/ 1991458 h 2149720"/>
                <a:gd name="connsiteX4" fmla="*/ 2256692 w 4618893"/>
                <a:gd name="connsiteY4" fmla="*/ 1103435 h 2149720"/>
                <a:gd name="connsiteX5" fmla="*/ 2883877 w 4618893"/>
                <a:gd name="connsiteY5" fmla="*/ 1384789 h 2149720"/>
                <a:gd name="connsiteX6" fmla="*/ 3223846 w 4618893"/>
                <a:gd name="connsiteY6" fmla="*/ 1921120 h 2149720"/>
                <a:gd name="connsiteX7" fmla="*/ 4437185 w 4618893"/>
                <a:gd name="connsiteY7" fmla="*/ 1877158 h 2149720"/>
                <a:gd name="connsiteX8" fmla="*/ 4314092 w 4618893"/>
                <a:gd name="connsiteY8" fmla="*/ 672612 h 2149720"/>
                <a:gd name="connsiteX9" fmla="*/ 2655277 w 4618893"/>
                <a:gd name="connsiteY9" fmla="*/ 89389 h 2149720"/>
                <a:gd name="connsiteX10" fmla="*/ 1843454 w 4618893"/>
                <a:gd name="connsiteY10" fmla="*/ 136281 h 2149720"/>
                <a:gd name="connsiteX11" fmla="*/ 1852246 w 4618893"/>
                <a:gd name="connsiteY11" fmla="*/ 866043 h 2149720"/>
                <a:gd name="connsiteX12" fmla="*/ 542192 w 4618893"/>
                <a:gd name="connsiteY12" fmla="*/ 866043 h 2149720"/>
                <a:gd name="connsiteX0" fmla="*/ 542192 w 4618893"/>
                <a:gd name="connsiteY0" fmla="*/ 866043 h 2140927"/>
                <a:gd name="connsiteX1" fmla="*/ 14654 w 4618893"/>
                <a:gd name="connsiteY1" fmla="*/ 1463920 h 2140927"/>
                <a:gd name="connsiteX2" fmla="*/ 454269 w 4618893"/>
                <a:gd name="connsiteY2" fmla="*/ 2053004 h 2140927"/>
                <a:gd name="connsiteX3" fmla="*/ 2036885 w 4618893"/>
                <a:gd name="connsiteY3" fmla="*/ 1991458 h 2140927"/>
                <a:gd name="connsiteX4" fmla="*/ 2350477 w 4618893"/>
                <a:gd name="connsiteY4" fmla="*/ 1537189 h 2140927"/>
                <a:gd name="connsiteX5" fmla="*/ 2883877 w 4618893"/>
                <a:gd name="connsiteY5" fmla="*/ 1384789 h 2140927"/>
                <a:gd name="connsiteX6" fmla="*/ 3223846 w 4618893"/>
                <a:gd name="connsiteY6" fmla="*/ 1921120 h 2140927"/>
                <a:gd name="connsiteX7" fmla="*/ 4437185 w 4618893"/>
                <a:gd name="connsiteY7" fmla="*/ 1877158 h 2140927"/>
                <a:gd name="connsiteX8" fmla="*/ 4314092 w 4618893"/>
                <a:gd name="connsiteY8" fmla="*/ 672612 h 2140927"/>
                <a:gd name="connsiteX9" fmla="*/ 2655277 w 4618893"/>
                <a:gd name="connsiteY9" fmla="*/ 89389 h 2140927"/>
                <a:gd name="connsiteX10" fmla="*/ 1843454 w 4618893"/>
                <a:gd name="connsiteY10" fmla="*/ 136281 h 2140927"/>
                <a:gd name="connsiteX11" fmla="*/ 1852246 w 4618893"/>
                <a:gd name="connsiteY11" fmla="*/ 866043 h 2140927"/>
                <a:gd name="connsiteX12" fmla="*/ 542192 w 4618893"/>
                <a:gd name="connsiteY12" fmla="*/ 866043 h 2140927"/>
                <a:gd name="connsiteX0" fmla="*/ 542192 w 4618893"/>
                <a:gd name="connsiteY0" fmla="*/ 866043 h 2140927"/>
                <a:gd name="connsiteX1" fmla="*/ 14654 w 4618893"/>
                <a:gd name="connsiteY1" fmla="*/ 1463920 h 2140927"/>
                <a:gd name="connsiteX2" fmla="*/ 454269 w 4618893"/>
                <a:gd name="connsiteY2" fmla="*/ 2053004 h 2140927"/>
                <a:gd name="connsiteX3" fmla="*/ 2036885 w 4618893"/>
                <a:gd name="connsiteY3" fmla="*/ 1991458 h 2140927"/>
                <a:gd name="connsiteX4" fmla="*/ 2350477 w 4618893"/>
                <a:gd name="connsiteY4" fmla="*/ 1537189 h 2140927"/>
                <a:gd name="connsiteX5" fmla="*/ 2960077 w 4618893"/>
                <a:gd name="connsiteY5" fmla="*/ 1537190 h 2140927"/>
                <a:gd name="connsiteX6" fmla="*/ 3223846 w 4618893"/>
                <a:gd name="connsiteY6" fmla="*/ 1921120 h 2140927"/>
                <a:gd name="connsiteX7" fmla="*/ 4437185 w 4618893"/>
                <a:gd name="connsiteY7" fmla="*/ 1877158 h 2140927"/>
                <a:gd name="connsiteX8" fmla="*/ 4314092 w 4618893"/>
                <a:gd name="connsiteY8" fmla="*/ 672612 h 2140927"/>
                <a:gd name="connsiteX9" fmla="*/ 2655277 w 4618893"/>
                <a:gd name="connsiteY9" fmla="*/ 89389 h 2140927"/>
                <a:gd name="connsiteX10" fmla="*/ 1843454 w 4618893"/>
                <a:gd name="connsiteY10" fmla="*/ 136281 h 2140927"/>
                <a:gd name="connsiteX11" fmla="*/ 1852246 w 4618893"/>
                <a:gd name="connsiteY11" fmla="*/ 866043 h 2140927"/>
                <a:gd name="connsiteX12" fmla="*/ 542192 w 4618893"/>
                <a:gd name="connsiteY12" fmla="*/ 866043 h 2140927"/>
                <a:gd name="connsiteX0" fmla="*/ 542192 w 4618893"/>
                <a:gd name="connsiteY0" fmla="*/ 895839 h 2170723"/>
                <a:gd name="connsiteX1" fmla="*/ 14654 w 4618893"/>
                <a:gd name="connsiteY1" fmla="*/ 1493716 h 2170723"/>
                <a:gd name="connsiteX2" fmla="*/ 454269 w 4618893"/>
                <a:gd name="connsiteY2" fmla="*/ 2082800 h 2170723"/>
                <a:gd name="connsiteX3" fmla="*/ 2036885 w 4618893"/>
                <a:gd name="connsiteY3" fmla="*/ 2021254 h 2170723"/>
                <a:gd name="connsiteX4" fmla="*/ 2350477 w 4618893"/>
                <a:gd name="connsiteY4" fmla="*/ 1566985 h 2170723"/>
                <a:gd name="connsiteX5" fmla="*/ 2960077 w 4618893"/>
                <a:gd name="connsiteY5" fmla="*/ 1566986 h 2170723"/>
                <a:gd name="connsiteX6" fmla="*/ 3223846 w 4618893"/>
                <a:gd name="connsiteY6" fmla="*/ 1950916 h 2170723"/>
                <a:gd name="connsiteX7" fmla="*/ 4437185 w 4618893"/>
                <a:gd name="connsiteY7" fmla="*/ 1906954 h 2170723"/>
                <a:gd name="connsiteX8" fmla="*/ 4314092 w 4618893"/>
                <a:gd name="connsiteY8" fmla="*/ 702408 h 2170723"/>
                <a:gd name="connsiteX9" fmla="*/ 2807677 w 4618893"/>
                <a:gd name="connsiteY9" fmla="*/ 881186 h 2170723"/>
                <a:gd name="connsiteX10" fmla="*/ 2655277 w 4618893"/>
                <a:gd name="connsiteY10" fmla="*/ 119185 h 2170723"/>
                <a:gd name="connsiteX11" fmla="*/ 1843454 w 4618893"/>
                <a:gd name="connsiteY11" fmla="*/ 166077 h 2170723"/>
                <a:gd name="connsiteX12" fmla="*/ 1852246 w 4618893"/>
                <a:gd name="connsiteY12" fmla="*/ 895839 h 2170723"/>
                <a:gd name="connsiteX13" fmla="*/ 542192 w 4618893"/>
                <a:gd name="connsiteY13" fmla="*/ 895839 h 2170723"/>
                <a:gd name="connsiteX0" fmla="*/ 542192 w 4755662"/>
                <a:gd name="connsiteY0" fmla="*/ 895839 h 2170723"/>
                <a:gd name="connsiteX1" fmla="*/ 14654 w 4755662"/>
                <a:gd name="connsiteY1" fmla="*/ 1493716 h 2170723"/>
                <a:gd name="connsiteX2" fmla="*/ 454269 w 4755662"/>
                <a:gd name="connsiteY2" fmla="*/ 2082800 h 2170723"/>
                <a:gd name="connsiteX3" fmla="*/ 2036885 w 4755662"/>
                <a:gd name="connsiteY3" fmla="*/ 2021254 h 2170723"/>
                <a:gd name="connsiteX4" fmla="*/ 2350477 w 4755662"/>
                <a:gd name="connsiteY4" fmla="*/ 1566985 h 2170723"/>
                <a:gd name="connsiteX5" fmla="*/ 2960077 w 4755662"/>
                <a:gd name="connsiteY5" fmla="*/ 1566986 h 2170723"/>
                <a:gd name="connsiteX6" fmla="*/ 3223846 w 4755662"/>
                <a:gd name="connsiteY6" fmla="*/ 1950916 h 2170723"/>
                <a:gd name="connsiteX7" fmla="*/ 4437185 w 4755662"/>
                <a:gd name="connsiteY7" fmla="*/ 1906954 h 2170723"/>
                <a:gd name="connsiteX8" fmla="*/ 4484077 w 4755662"/>
                <a:gd name="connsiteY8" fmla="*/ 957386 h 2170723"/>
                <a:gd name="connsiteX9" fmla="*/ 2807677 w 4755662"/>
                <a:gd name="connsiteY9" fmla="*/ 881186 h 2170723"/>
                <a:gd name="connsiteX10" fmla="*/ 2655277 w 4755662"/>
                <a:gd name="connsiteY10" fmla="*/ 119185 h 2170723"/>
                <a:gd name="connsiteX11" fmla="*/ 1843454 w 4755662"/>
                <a:gd name="connsiteY11" fmla="*/ 166077 h 2170723"/>
                <a:gd name="connsiteX12" fmla="*/ 1852246 w 4755662"/>
                <a:gd name="connsiteY12" fmla="*/ 895839 h 2170723"/>
                <a:gd name="connsiteX13" fmla="*/ 542192 w 4755662"/>
                <a:gd name="connsiteY13" fmla="*/ 895839 h 2170723"/>
                <a:gd name="connsiteX0" fmla="*/ 542192 w 4984261"/>
                <a:gd name="connsiteY0" fmla="*/ 895839 h 2170723"/>
                <a:gd name="connsiteX1" fmla="*/ 14654 w 4984261"/>
                <a:gd name="connsiteY1" fmla="*/ 1493716 h 2170723"/>
                <a:gd name="connsiteX2" fmla="*/ 454269 w 4984261"/>
                <a:gd name="connsiteY2" fmla="*/ 2082800 h 2170723"/>
                <a:gd name="connsiteX3" fmla="*/ 2036885 w 4984261"/>
                <a:gd name="connsiteY3" fmla="*/ 2021254 h 2170723"/>
                <a:gd name="connsiteX4" fmla="*/ 2350477 w 4984261"/>
                <a:gd name="connsiteY4" fmla="*/ 1566985 h 2170723"/>
                <a:gd name="connsiteX5" fmla="*/ 2960077 w 4984261"/>
                <a:gd name="connsiteY5" fmla="*/ 1566986 h 2170723"/>
                <a:gd name="connsiteX6" fmla="*/ 3223846 w 4984261"/>
                <a:gd name="connsiteY6" fmla="*/ 1950916 h 2170723"/>
                <a:gd name="connsiteX7" fmla="*/ 4437185 w 4984261"/>
                <a:gd name="connsiteY7" fmla="*/ 1906954 h 2170723"/>
                <a:gd name="connsiteX8" fmla="*/ 4712676 w 4984261"/>
                <a:gd name="connsiteY8" fmla="*/ 957386 h 2170723"/>
                <a:gd name="connsiteX9" fmla="*/ 2807677 w 4984261"/>
                <a:gd name="connsiteY9" fmla="*/ 881186 h 2170723"/>
                <a:gd name="connsiteX10" fmla="*/ 2655277 w 4984261"/>
                <a:gd name="connsiteY10" fmla="*/ 119185 h 2170723"/>
                <a:gd name="connsiteX11" fmla="*/ 1843454 w 4984261"/>
                <a:gd name="connsiteY11" fmla="*/ 166077 h 2170723"/>
                <a:gd name="connsiteX12" fmla="*/ 1852246 w 4984261"/>
                <a:gd name="connsiteY12" fmla="*/ 895839 h 2170723"/>
                <a:gd name="connsiteX13" fmla="*/ 542192 w 4984261"/>
                <a:gd name="connsiteY13" fmla="*/ 895839 h 2170723"/>
                <a:gd name="connsiteX0" fmla="*/ 542192 w 5030176"/>
                <a:gd name="connsiteY0" fmla="*/ 895839 h 2170723"/>
                <a:gd name="connsiteX1" fmla="*/ 14654 w 5030176"/>
                <a:gd name="connsiteY1" fmla="*/ 1493716 h 2170723"/>
                <a:gd name="connsiteX2" fmla="*/ 454269 w 5030176"/>
                <a:gd name="connsiteY2" fmla="*/ 2082800 h 2170723"/>
                <a:gd name="connsiteX3" fmla="*/ 2036885 w 5030176"/>
                <a:gd name="connsiteY3" fmla="*/ 2021254 h 2170723"/>
                <a:gd name="connsiteX4" fmla="*/ 2350477 w 5030176"/>
                <a:gd name="connsiteY4" fmla="*/ 1566985 h 2170723"/>
                <a:gd name="connsiteX5" fmla="*/ 2960077 w 5030176"/>
                <a:gd name="connsiteY5" fmla="*/ 1566986 h 2170723"/>
                <a:gd name="connsiteX6" fmla="*/ 3223846 w 5030176"/>
                <a:gd name="connsiteY6" fmla="*/ 1950916 h 2170723"/>
                <a:gd name="connsiteX7" fmla="*/ 4712676 w 5030176"/>
                <a:gd name="connsiteY7" fmla="*/ 1871786 h 2170723"/>
                <a:gd name="connsiteX8" fmla="*/ 4712676 w 5030176"/>
                <a:gd name="connsiteY8" fmla="*/ 957386 h 2170723"/>
                <a:gd name="connsiteX9" fmla="*/ 2807677 w 5030176"/>
                <a:gd name="connsiteY9" fmla="*/ 881186 h 2170723"/>
                <a:gd name="connsiteX10" fmla="*/ 2655277 w 5030176"/>
                <a:gd name="connsiteY10" fmla="*/ 119185 h 2170723"/>
                <a:gd name="connsiteX11" fmla="*/ 1843454 w 5030176"/>
                <a:gd name="connsiteY11" fmla="*/ 166077 h 2170723"/>
                <a:gd name="connsiteX12" fmla="*/ 1852246 w 5030176"/>
                <a:gd name="connsiteY12" fmla="*/ 895839 h 2170723"/>
                <a:gd name="connsiteX13" fmla="*/ 542192 w 5030176"/>
                <a:gd name="connsiteY13" fmla="*/ 895839 h 2170723"/>
                <a:gd name="connsiteX0" fmla="*/ 542192 w 5030176"/>
                <a:gd name="connsiteY0" fmla="*/ 895839 h 2170723"/>
                <a:gd name="connsiteX1" fmla="*/ 14654 w 5030176"/>
                <a:gd name="connsiteY1" fmla="*/ 1493716 h 2170723"/>
                <a:gd name="connsiteX2" fmla="*/ 454269 w 5030176"/>
                <a:gd name="connsiteY2" fmla="*/ 2082800 h 2170723"/>
                <a:gd name="connsiteX3" fmla="*/ 2036885 w 5030176"/>
                <a:gd name="connsiteY3" fmla="*/ 2021254 h 2170723"/>
                <a:gd name="connsiteX4" fmla="*/ 2350475 w 5030176"/>
                <a:gd name="connsiteY4" fmla="*/ 1490786 h 2170723"/>
                <a:gd name="connsiteX5" fmla="*/ 2960077 w 5030176"/>
                <a:gd name="connsiteY5" fmla="*/ 1566986 h 2170723"/>
                <a:gd name="connsiteX6" fmla="*/ 3223846 w 5030176"/>
                <a:gd name="connsiteY6" fmla="*/ 1950916 h 2170723"/>
                <a:gd name="connsiteX7" fmla="*/ 4712676 w 5030176"/>
                <a:gd name="connsiteY7" fmla="*/ 1871786 h 2170723"/>
                <a:gd name="connsiteX8" fmla="*/ 4712676 w 5030176"/>
                <a:gd name="connsiteY8" fmla="*/ 957386 h 2170723"/>
                <a:gd name="connsiteX9" fmla="*/ 2807677 w 5030176"/>
                <a:gd name="connsiteY9" fmla="*/ 881186 h 2170723"/>
                <a:gd name="connsiteX10" fmla="*/ 2655277 w 5030176"/>
                <a:gd name="connsiteY10" fmla="*/ 119185 h 2170723"/>
                <a:gd name="connsiteX11" fmla="*/ 1843454 w 5030176"/>
                <a:gd name="connsiteY11" fmla="*/ 166077 h 2170723"/>
                <a:gd name="connsiteX12" fmla="*/ 1852246 w 5030176"/>
                <a:gd name="connsiteY12" fmla="*/ 895839 h 2170723"/>
                <a:gd name="connsiteX13" fmla="*/ 542192 w 5030176"/>
                <a:gd name="connsiteY13" fmla="*/ 895839 h 2170723"/>
                <a:gd name="connsiteX0" fmla="*/ 542192 w 5030176"/>
                <a:gd name="connsiteY0" fmla="*/ 895839 h 2170723"/>
                <a:gd name="connsiteX1" fmla="*/ 14654 w 5030176"/>
                <a:gd name="connsiteY1" fmla="*/ 1493716 h 2170723"/>
                <a:gd name="connsiteX2" fmla="*/ 454269 w 5030176"/>
                <a:gd name="connsiteY2" fmla="*/ 2082800 h 2170723"/>
                <a:gd name="connsiteX3" fmla="*/ 2036885 w 5030176"/>
                <a:gd name="connsiteY3" fmla="*/ 2021254 h 2170723"/>
                <a:gd name="connsiteX4" fmla="*/ 2350475 w 5030176"/>
                <a:gd name="connsiteY4" fmla="*/ 1490786 h 2170723"/>
                <a:gd name="connsiteX5" fmla="*/ 2960075 w 5030176"/>
                <a:gd name="connsiteY5" fmla="*/ 1414586 h 2170723"/>
                <a:gd name="connsiteX6" fmla="*/ 3223846 w 5030176"/>
                <a:gd name="connsiteY6" fmla="*/ 1950916 h 2170723"/>
                <a:gd name="connsiteX7" fmla="*/ 4712676 w 5030176"/>
                <a:gd name="connsiteY7" fmla="*/ 1871786 h 2170723"/>
                <a:gd name="connsiteX8" fmla="*/ 4712676 w 5030176"/>
                <a:gd name="connsiteY8" fmla="*/ 957386 h 2170723"/>
                <a:gd name="connsiteX9" fmla="*/ 2807677 w 5030176"/>
                <a:gd name="connsiteY9" fmla="*/ 881186 h 2170723"/>
                <a:gd name="connsiteX10" fmla="*/ 2655277 w 5030176"/>
                <a:gd name="connsiteY10" fmla="*/ 119185 h 2170723"/>
                <a:gd name="connsiteX11" fmla="*/ 1843454 w 5030176"/>
                <a:gd name="connsiteY11" fmla="*/ 166077 h 2170723"/>
                <a:gd name="connsiteX12" fmla="*/ 1852246 w 5030176"/>
                <a:gd name="connsiteY12" fmla="*/ 895839 h 2170723"/>
                <a:gd name="connsiteX13" fmla="*/ 542192 w 5030176"/>
                <a:gd name="connsiteY13" fmla="*/ 895839 h 2170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30176" h="2170723">
                  <a:moveTo>
                    <a:pt x="542192" y="895839"/>
                  </a:moveTo>
                  <a:cubicBezTo>
                    <a:pt x="235927" y="995485"/>
                    <a:pt x="29308" y="1295889"/>
                    <a:pt x="14654" y="1493716"/>
                  </a:cubicBezTo>
                  <a:cubicBezTo>
                    <a:pt x="0" y="1691543"/>
                    <a:pt x="117231" y="1994877"/>
                    <a:pt x="454269" y="2082800"/>
                  </a:cubicBezTo>
                  <a:cubicBezTo>
                    <a:pt x="791307" y="2170723"/>
                    <a:pt x="1720851" y="2119923"/>
                    <a:pt x="2036885" y="2021254"/>
                  </a:cubicBezTo>
                  <a:cubicBezTo>
                    <a:pt x="2352919" y="1922585"/>
                    <a:pt x="2196610" y="1591897"/>
                    <a:pt x="2350475" y="1490786"/>
                  </a:cubicBezTo>
                  <a:cubicBezTo>
                    <a:pt x="2504340" y="1389675"/>
                    <a:pt x="2814513" y="1337898"/>
                    <a:pt x="2960075" y="1414586"/>
                  </a:cubicBezTo>
                  <a:cubicBezTo>
                    <a:pt x="3105637" y="1491274"/>
                    <a:pt x="2931746" y="1874716"/>
                    <a:pt x="3223846" y="1950916"/>
                  </a:cubicBezTo>
                  <a:cubicBezTo>
                    <a:pt x="3515946" y="2027116"/>
                    <a:pt x="4464538" y="2037374"/>
                    <a:pt x="4712676" y="1871786"/>
                  </a:cubicBezTo>
                  <a:cubicBezTo>
                    <a:pt x="4960814" y="1706198"/>
                    <a:pt x="5030176" y="1122486"/>
                    <a:pt x="4712676" y="957386"/>
                  </a:cubicBezTo>
                  <a:cubicBezTo>
                    <a:pt x="4395176" y="792286"/>
                    <a:pt x="3150577" y="1020886"/>
                    <a:pt x="2807677" y="881186"/>
                  </a:cubicBezTo>
                  <a:cubicBezTo>
                    <a:pt x="2464777" y="741486"/>
                    <a:pt x="2815981" y="238370"/>
                    <a:pt x="2655277" y="119185"/>
                  </a:cubicBezTo>
                  <a:cubicBezTo>
                    <a:pt x="2494573" y="0"/>
                    <a:pt x="1977292" y="36635"/>
                    <a:pt x="1843454" y="166077"/>
                  </a:cubicBezTo>
                  <a:cubicBezTo>
                    <a:pt x="1709616" y="295519"/>
                    <a:pt x="2064727" y="775677"/>
                    <a:pt x="1852246" y="895839"/>
                  </a:cubicBezTo>
                  <a:cubicBezTo>
                    <a:pt x="1639765" y="1016001"/>
                    <a:pt x="848457" y="796193"/>
                    <a:pt x="542192" y="895839"/>
                  </a:cubicBezTo>
                  <a:close/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99"/>
          <p:cNvSpPr/>
          <p:nvPr/>
        </p:nvSpPr>
        <p:spPr>
          <a:xfrm>
            <a:off x="2514600" y="4724400"/>
            <a:ext cx="6858000" cy="83820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>
                <a:latin typeface="Calibri"/>
                <a:cs typeface="Calibri"/>
              </a:rPr>
              <a:t>Thuật toán tìm kiếm tổng quát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2" y="1390650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2" name="Straight Connector 21"/>
          <p:cNvCxnSpPr/>
          <p:nvPr/>
        </p:nvCxnSpPr>
        <p:spPr>
          <a:xfrm flipV="1">
            <a:off x="5734051" y="4287839"/>
            <a:ext cx="495300" cy="1587"/>
          </a:xfrm>
          <a:prstGeom prst="line">
            <a:avLst/>
          </a:prstGeom>
          <a:ln w="38100">
            <a:solidFill>
              <a:srgbClr val="CC99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662613" y="4384675"/>
            <a:ext cx="636587" cy="1588"/>
          </a:xfrm>
          <a:prstGeom prst="line">
            <a:avLst/>
          </a:prstGeom>
          <a:ln w="38100">
            <a:solidFill>
              <a:srgbClr val="CC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5486400" y="4191001"/>
            <a:ext cx="1025525" cy="1588"/>
          </a:xfrm>
          <a:prstGeom prst="line">
            <a:avLst/>
          </a:prstGeom>
          <a:ln w="38100">
            <a:solidFill>
              <a:srgbClr val="6633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592763" y="4481513"/>
            <a:ext cx="812800" cy="0"/>
          </a:xfrm>
          <a:prstGeom prst="line">
            <a:avLst/>
          </a:prstGeom>
          <a:ln w="38100">
            <a:solidFill>
              <a:srgbClr val="9966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08"/>
          <p:cNvGrpSpPr>
            <a:grpSpLocks/>
          </p:cNvGrpSpPr>
          <p:nvPr/>
        </p:nvGrpSpPr>
        <p:grpSpPr bwMode="auto">
          <a:xfrm>
            <a:off x="1981200" y="4495801"/>
            <a:ext cx="5029200" cy="2087563"/>
            <a:chOff x="685800" y="4724400"/>
            <a:chExt cx="5029200" cy="2087106"/>
          </a:xfrm>
        </p:grpSpPr>
        <p:sp>
          <p:nvSpPr>
            <p:cNvPr id="107" name="Rectangle 106"/>
            <p:cNvSpPr/>
            <p:nvPr/>
          </p:nvSpPr>
          <p:spPr>
            <a:xfrm>
              <a:off x="990600" y="4724400"/>
              <a:ext cx="3048000" cy="11427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685800" y="5790966"/>
              <a:ext cx="2819400" cy="838017"/>
            </a:xfrm>
            <a:prstGeom prst="round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3352800" y="5821123"/>
              <a:ext cx="2362200" cy="99038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104" name="Straight Connector 103"/>
            <p:cNvCxnSpPr/>
            <p:nvPr/>
          </p:nvCxnSpPr>
          <p:spPr>
            <a:xfrm rot="5400000" flipH="1" flipV="1">
              <a:off x="3314792" y="4990958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5400000" flipH="1" flipV="1">
              <a:off x="3314792" y="5828975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3" name="Group 109"/>
          <p:cNvGrpSpPr>
            <a:grpSpLocks/>
          </p:cNvGrpSpPr>
          <p:nvPr/>
        </p:nvGrpSpPr>
        <p:grpSpPr bwMode="auto">
          <a:xfrm flipH="1">
            <a:off x="5562600" y="4541837"/>
            <a:ext cx="4419600" cy="2087563"/>
            <a:chOff x="685800" y="4724400"/>
            <a:chExt cx="4419600" cy="2087106"/>
          </a:xfrm>
        </p:grpSpPr>
        <p:sp>
          <p:nvSpPr>
            <p:cNvPr id="111" name="Rectangle 110"/>
            <p:cNvSpPr/>
            <p:nvPr/>
          </p:nvSpPr>
          <p:spPr>
            <a:xfrm>
              <a:off x="990600" y="4724400"/>
              <a:ext cx="3048000" cy="11427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685800" y="5790967"/>
              <a:ext cx="2819400" cy="838017"/>
            </a:xfrm>
            <a:prstGeom prst="roundRect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3352800" y="5821122"/>
              <a:ext cx="1752600" cy="99038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/>
                <a:cs typeface="Calibri"/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rot="5400000" flipH="1" flipV="1">
              <a:off x="3314792" y="4990959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rot="5400000" flipH="1" flipV="1">
              <a:off x="3314792" y="5828975"/>
              <a:ext cx="838017" cy="762000"/>
            </a:xfrm>
            <a:prstGeom prst="lin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2871789" y="5002213"/>
            <a:ext cx="6272212" cy="331787"/>
            <a:chOff x="1575811" y="5230090"/>
            <a:chExt cx="6272789" cy="332510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1752039" y="5424187"/>
              <a:ext cx="63664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823484" y="5230090"/>
              <a:ext cx="495346" cy="1590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575811" y="5327138"/>
              <a:ext cx="1025619" cy="1591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1682183" y="5519645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403408" y="5368503"/>
              <a:ext cx="495346" cy="1591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4333552" y="5271455"/>
              <a:ext cx="636647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4155735" y="5465552"/>
              <a:ext cx="1025619" cy="159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4262108" y="5561010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6822981" y="5561010"/>
              <a:ext cx="1025619" cy="1590"/>
            </a:xfrm>
            <a:prstGeom prst="line">
              <a:avLst/>
            </a:prstGeom>
            <a:ln w="38100">
              <a:solidFill>
                <a:srgbClr val="6633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7070653" y="5463961"/>
              <a:ext cx="495346" cy="1591"/>
            </a:xfrm>
            <a:prstGeom prst="line">
              <a:avLst/>
            </a:prstGeom>
            <a:ln w="38100">
              <a:solidFill>
                <a:srgbClr val="CC99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7000797" y="5366913"/>
              <a:ext cx="635058" cy="1590"/>
            </a:xfrm>
            <a:prstGeom prst="line">
              <a:avLst/>
            </a:prstGeom>
            <a:ln w="38100">
              <a:solidFill>
                <a:srgbClr val="CC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6929353" y="5271455"/>
              <a:ext cx="812875" cy="1590"/>
            </a:xfrm>
            <a:prstGeom prst="line">
              <a:avLst/>
            </a:prstGeom>
            <a:ln w="38100">
              <a:solidFill>
                <a:srgbClr val="996600"/>
              </a:solidFill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Rounded Rectangle 115"/>
          <p:cNvSpPr/>
          <p:nvPr/>
        </p:nvSpPr>
        <p:spPr>
          <a:xfrm>
            <a:off x="5181600" y="4038600"/>
            <a:ext cx="1600200" cy="60960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endParaRPr lang="en-US">
              <a:latin typeface="Calibri"/>
              <a:cs typeface="Calibri"/>
            </a:endParaRPr>
          </a:p>
        </p:txBody>
      </p:sp>
      <p:grpSp>
        <p:nvGrpSpPr>
          <p:cNvPr id="5" name="Group 128"/>
          <p:cNvGrpSpPr>
            <a:grpSpLocks/>
          </p:cNvGrpSpPr>
          <p:nvPr/>
        </p:nvGrpSpPr>
        <p:grpSpPr bwMode="auto">
          <a:xfrm>
            <a:off x="2362199" y="3733800"/>
            <a:ext cx="7162801" cy="762000"/>
            <a:chOff x="1066799" y="3962400"/>
            <a:chExt cx="7162801" cy="762000"/>
          </a:xfrm>
        </p:grpSpPr>
        <p:sp>
          <p:nvSpPr>
            <p:cNvPr id="122" name="Rounded Rectangular Callout 121"/>
            <p:cNvSpPr/>
            <p:nvPr/>
          </p:nvSpPr>
          <p:spPr>
            <a:xfrm>
              <a:off x="1066799" y="3962400"/>
              <a:ext cx="2336801" cy="762000"/>
            </a:xfrm>
            <a:prstGeom prst="wedgeRoundRectCallout">
              <a:avLst>
                <a:gd name="adj1" fmla="val 43579"/>
                <a:gd name="adj2" fmla="val 70521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err="1">
                  <a:latin typeface="Calibri"/>
                  <a:cs typeface="Calibri"/>
                </a:rPr>
                <a:t>Hành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động</a:t>
              </a:r>
              <a:r>
                <a:rPr lang="en-US" dirty="0">
                  <a:latin typeface="Calibri"/>
                  <a:cs typeface="Calibri"/>
                </a:rPr>
                <a:t>: </a:t>
              </a:r>
              <a:r>
                <a:rPr lang="en-US" dirty="0" err="1">
                  <a:latin typeface="Calibri"/>
                  <a:cs typeface="Calibri"/>
                </a:rPr>
                <a:t>lật</a:t>
              </a:r>
              <a:r>
                <a:rPr lang="en-US" dirty="0">
                  <a:latin typeface="Calibri"/>
                  <a:cs typeface="Calibri"/>
                </a:rPr>
                <a:t> 2 </a:t>
              </a:r>
              <a:r>
                <a:rPr lang="en-US" dirty="0" err="1">
                  <a:latin typeface="Calibri"/>
                  <a:cs typeface="Calibri"/>
                </a:rPr>
                <a:t>tầng</a:t>
              </a:r>
              <a:br>
                <a:rPr lang="en-US" dirty="0">
                  <a:latin typeface="Calibri"/>
                  <a:cs typeface="Calibri"/>
                </a:rPr>
              </a:br>
              <a:r>
                <a:rPr lang="en-US" dirty="0">
                  <a:latin typeface="Calibri"/>
                  <a:cs typeface="Calibri"/>
                </a:rPr>
                <a:t>Chi </a:t>
              </a:r>
              <a:r>
                <a:rPr lang="en-US" dirty="0" err="1">
                  <a:latin typeface="Calibri"/>
                  <a:cs typeface="Calibri"/>
                </a:rPr>
                <a:t>phí</a:t>
              </a:r>
              <a:r>
                <a:rPr lang="en-US" dirty="0">
                  <a:latin typeface="Calibri"/>
                  <a:cs typeface="Calibri"/>
                </a:rPr>
                <a:t>: 2</a:t>
              </a:r>
            </a:p>
          </p:txBody>
        </p:sp>
        <p:sp>
          <p:nvSpPr>
            <p:cNvPr id="123" name="Rounded Rectangular Callout 122"/>
            <p:cNvSpPr/>
            <p:nvPr/>
          </p:nvSpPr>
          <p:spPr>
            <a:xfrm>
              <a:off x="5591176" y="3962400"/>
              <a:ext cx="2638424" cy="762000"/>
            </a:xfrm>
            <a:prstGeom prst="wedgeRoundRectCallout">
              <a:avLst>
                <a:gd name="adj1" fmla="val -40244"/>
                <a:gd name="adj2" fmla="val 72286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 err="1">
                  <a:latin typeface="Calibri"/>
                  <a:cs typeface="Calibri"/>
                </a:rPr>
                <a:t>Hành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động</a:t>
              </a:r>
              <a:r>
                <a:rPr lang="en-US" dirty="0">
                  <a:latin typeface="Calibri"/>
                  <a:cs typeface="Calibri"/>
                </a:rPr>
                <a:t>: </a:t>
              </a:r>
              <a:r>
                <a:rPr lang="en-US" dirty="0" err="1">
                  <a:latin typeface="Calibri"/>
                  <a:cs typeface="Calibri"/>
                </a:rPr>
                <a:t>Lật</a:t>
              </a:r>
              <a:r>
                <a:rPr lang="en-US" dirty="0">
                  <a:latin typeface="Calibri"/>
                  <a:cs typeface="Calibri"/>
                </a:rPr>
                <a:t> </a:t>
              </a:r>
              <a:r>
                <a:rPr lang="en-US" dirty="0" err="1">
                  <a:latin typeface="Calibri"/>
                  <a:cs typeface="Calibri"/>
                </a:rPr>
                <a:t>cả</a:t>
              </a:r>
              <a:r>
                <a:rPr lang="en-US" dirty="0">
                  <a:latin typeface="Calibri"/>
                  <a:cs typeface="Calibri"/>
                </a:rPr>
                <a:t> 4 </a:t>
              </a:r>
              <a:r>
                <a:rPr lang="en-US" dirty="0" err="1">
                  <a:latin typeface="Calibri"/>
                  <a:cs typeface="Calibri"/>
                </a:rPr>
                <a:t>tầng</a:t>
              </a:r>
              <a:endParaRPr lang="en-US" dirty="0">
                <a:latin typeface="Calibri"/>
                <a:cs typeface="Calibri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latin typeface="Calibri"/>
                  <a:cs typeface="Calibri"/>
                </a:rPr>
                <a:t>Chi </a:t>
              </a:r>
              <a:r>
                <a:rPr lang="en-US" dirty="0" err="1">
                  <a:latin typeface="Calibri"/>
                  <a:cs typeface="Calibri"/>
                </a:rPr>
                <a:t>phí</a:t>
              </a:r>
              <a:r>
                <a:rPr lang="en-US" dirty="0">
                  <a:latin typeface="Calibri"/>
                  <a:cs typeface="Calibri"/>
                </a:rPr>
                <a:t>: 4</a:t>
              </a:r>
            </a:p>
          </p:txBody>
        </p:sp>
      </p:grpSp>
      <p:grpSp>
        <p:nvGrpSpPr>
          <p:cNvPr id="6" name="Group 127"/>
          <p:cNvGrpSpPr>
            <a:grpSpLocks/>
          </p:cNvGrpSpPr>
          <p:nvPr/>
        </p:nvGrpSpPr>
        <p:grpSpPr bwMode="auto">
          <a:xfrm>
            <a:off x="3733800" y="4495801"/>
            <a:ext cx="4572000" cy="393700"/>
            <a:chOff x="2438400" y="4724400"/>
            <a:chExt cx="4572000" cy="394447"/>
          </a:xfrm>
        </p:grpSpPr>
        <p:cxnSp>
          <p:nvCxnSpPr>
            <p:cNvPr id="119" name="Straight Arrow Connector 118"/>
            <p:cNvCxnSpPr/>
            <p:nvPr/>
          </p:nvCxnSpPr>
          <p:spPr>
            <a:xfrm rot="10800000" flipV="1">
              <a:off x="2438400" y="4724400"/>
              <a:ext cx="1676400" cy="3817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rot="10800000" flipH="1" flipV="1">
              <a:off x="5334000" y="4724400"/>
              <a:ext cx="1676400" cy="38172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rot="5400000">
              <a:off x="4543930" y="4965364"/>
              <a:ext cx="30537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136"/>
          <p:cNvGrpSpPr>
            <a:grpSpLocks/>
          </p:cNvGrpSpPr>
          <p:nvPr/>
        </p:nvGrpSpPr>
        <p:grpSpPr bwMode="auto">
          <a:xfrm>
            <a:off x="2133600" y="5410200"/>
            <a:ext cx="2362200" cy="762000"/>
            <a:chOff x="838200" y="5638800"/>
            <a:chExt cx="2362200" cy="762000"/>
          </a:xfrm>
        </p:grpSpPr>
        <p:grpSp>
          <p:nvGrpSpPr>
            <p:cNvPr id="9246" name="Group 97"/>
            <p:cNvGrpSpPr>
              <a:grpSpLocks/>
            </p:cNvGrpSpPr>
            <p:nvPr/>
          </p:nvGrpSpPr>
          <p:grpSpPr bwMode="auto">
            <a:xfrm>
              <a:off x="838200" y="6096000"/>
              <a:ext cx="2362200" cy="304800"/>
              <a:chOff x="838200" y="6096000"/>
              <a:chExt cx="2362200" cy="304800"/>
            </a:xfrm>
          </p:grpSpPr>
          <p:grpSp>
            <p:nvGrpSpPr>
              <p:cNvPr id="9249" name="Group 81"/>
              <p:cNvGrpSpPr>
                <a:grpSpLocks/>
              </p:cNvGrpSpPr>
              <p:nvPr/>
            </p:nvGrpSpPr>
            <p:grpSpPr bwMode="auto">
              <a:xfrm flipV="1">
                <a:off x="838200" y="6109854"/>
                <a:ext cx="1025380" cy="194975"/>
                <a:chOff x="914400" y="6033654"/>
                <a:chExt cx="1025380" cy="194975"/>
              </a:xfrm>
            </p:grpSpPr>
            <p:cxnSp>
              <p:nvCxnSpPr>
                <p:cNvPr id="78" name="Straight Connector 77"/>
                <p:cNvCxnSpPr/>
                <p:nvPr/>
              </p:nvCxnSpPr>
              <p:spPr>
                <a:xfrm flipV="1">
                  <a:off x="1090613" y="6226608"/>
                  <a:ext cx="636587" cy="1587"/>
                </a:xfrm>
                <a:prstGeom prst="line">
                  <a:avLst/>
                </a:prstGeom>
                <a:ln w="38100">
                  <a:solidFill>
                    <a:srgbClr val="CC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1162050" y="6032933"/>
                  <a:ext cx="495300" cy="1587"/>
                </a:xfrm>
                <a:prstGeom prst="line">
                  <a:avLst/>
                </a:prstGeom>
                <a:ln w="38100">
                  <a:solidFill>
                    <a:srgbClr val="CC99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>
                  <a:off x="914400" y="6129770"/>
                  <a:ext cx="1025525" cy="1588"/>
                </a:xfrm>
                <a:prstGeom prst="line">
                  <a:avLst/>
                </a:prstGeom>
                <a:ln w="38100">
                  <a:solidFill>
                    <a:srgbClr val="6633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1" name="Straight Connector 80"/>
              <p:cNvCxnSpPr/>
              <p:nvPr/>
            </p:nvCxnSpPr>
            <p:spPr>
              <a:xfrm flipV="1">
                <a:off x="944563" y="6399213"/>
                <a:ext cx="812800" cy="1587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251" name="Group 87"/>
              <p:cNvGrpSpPr>
                <a:grpSpLocks/>
              </p:cNvGrpSpPr>
              <p:nvPr/>
            </p:nvGrpSpPr>
            <p:grpSpPr bwMode="auto">
              <a:xfrm flipV="1">
                <a:off x="2175020" y="6096000"/>
                <a:ext cx="1025380" cy="290946"/>
                <a:chOff x="2175020" y="6019800"/>
                <a:chExt cx="1025380" cy="290946"/>
              </a:xfrm>
            </p:grpSpPr>
            <p:grpSp>
              <p:nvGrpSpPr>
                <p:cNvPr id="9252" name="Group 82"/>
                <p:cNvGrpSpPr>
                  <a:grpSpLocks/>
                </p:cNvGrpSpPr>
                <p:nvPr/>
              </p:nvGrpSpPr>
              <p:grpSpPr bwMode="auto">
                <a:xfrm>
                  <a:off x="2175020" y="6019800"/>
                  <a:ext cx="1025380" cy="194975"/>
                  <a:chOff x="914400" y="6033654"/>
                  <a:chExt cx="1025380" cy="194975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V="1">
                    <a:off x="1090468" y="6227762"/>
                    <a:ext cx="636587" cy="1588"/>
                  </a:xfrm>
                  <a:prstGeom prst="line">
                    <a:avLst/>
                  </a:prstGeom>
                  <a:ln w="38100">
                    <a:solidFill>
                      <a:srgbClr val="CC66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1161905" y="6034087"/>
                    <a:ext cx="495300" cy="1588"/>
                  </a:xfrm>
                  <a:prstGeom prst="line">
                    <a:avLst/>
                  </a:prstGeom>
                  <a:ln w="38100">
                    <a:solidFill>
                      <a:srgbClr val="CC99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/>
                  <p:cNvCxnSpPr/>
                  <p:nvPr/>
                </p:nvCxnSpPr>
                <p:spPr>
                  <a:xfrm>
                    <a:off x="914255" y="6130925"/>
                    <a:ext cx="1025525" cy="1587"/>
                  </a:xfrm>
                  <a:prstGeom prst="line">
                    <a:avLst/>
                  </a:prstGeom>
                  <a:ln w="38100">
                    <a:solidFill>
                      <a:srgbClr val="663300"/>
                    </a:solidFill>
                  </a:ln>
                  <a:effectLst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7" name="Straight Connector 86"/>
                <p:cNvCxnSpPr/>
                <p:nvPr/>
              </p:nvCxnSpPr>
              <p:spPr>
                <a:xfrm flipV="1">
                  <a:off x="2281238" y="6309158"/>
                  <a:ext cx="812800" cy="1588"/>
                </a:xfrm>
                <a:prstGeom prst="line">
                  <a:avLst/>
                </a:prstGeom>
                <a:ln w="38100">
                  <a:solidFill>
                    <a:srgbClr val="99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0" name="Straight Arrow Connector 129"/>
            <p:cNvCxnSpPr/>
            <p:nvPr/>
          </p:nvCxnSpPr>
          <p:spPr>
            <a:xfrm rot="10800000" flipV="1">
              <a:off x="12954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 rot="10800000" flipH="1" flipV="1">
              <a:off x="22098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5"/>
          <p:cNvGrpSpPr>
            <a:grpSpLocks/>
          </p:cNvGrpSpPr>
          <p:nvPr/>
        </p:nvGrpSpPr>
        <p:grpSpPr bwMode="auto">
          <a:xfrm>
            <a:off x="7391400" y="5410200"/>
            <a:ext cx="2438400" cy="762000"/>
            <a:chOff x="6096000" y="5638800"/>
            <a:chExt cx="2438400" cy="762000"/>
          </a:xfrm>
        </p:grpSpPr>
        <p:grpSp>
          <p:nvGrpSpPr>
            <p:cNvPr id="9234" name="Group 98"/>
            <p:cNvGrpSpPr>
              <a:grpSpLocks/>
            </p:cNvGrpSpPr>
            <p:nvPr/>
          </p:nvGrpSpPr>
          <p:grpSpPr bwMode="auto">
            <a:xfrm>
              <a:off x="6096000" y="6096000"/>
              <a:ext cx="2438400" cy="304800"/>
              <a:chOff x="6096000" y="6096000"/>
              <a:chExt cx="2438400" cy="3048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7508875" y="6399213"/>
                <a:ext cx="1025525" cy="1587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7756525" y="6110288"/>
                <a:ext cx="495300" cy="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7685088" y="6207125"/>
                <a:ext cx="636587" cy="0"/>
              </a:xfrm>
              <a:prstGeom prst="line">
                <a:avLst/>
              </a:prstGeom>
              <a:ln w="38100">
                <a:solidFill>
                  <a:srgbClr val="CC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7615238" y="6302375"/>
                <a:ext cx="812800" cy="1588"/>
              </a:xfrm>
              <a:prstGeom prst="line">
                <a:avLst/>
              </a:prstGeom>
              <a:ln w="38100">
                <a:solidFill>
                  <a:srgbClr val="9966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6096000" y="6386513"/>
                <a:ext cx="1025525" cy="0"/>
              </a:xfrm>
              <a:prstGeom prst="line">
                <a:avLst/>
              </a:prstGeom>
              <a:ln w="38100">
                <a:solidFill>
                  <a:srgbClr val="6633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6343650" y="6289675"/>
                <a:ext cx="495300" cy="0"/>
              </a:xfrm>
              <a:prstGeom prst="line">
                <a:avLst/>
              </a:prstGeom>
              <a:ln w="38100">
                <a:solidFill>
                  <a:srgbClr val="CC9900"/>
                </a:solidFill>
              </a:ln>
              <a:effectLst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243" name="Group 94"/>
              <p:cNvGrpSpPr>
                <a:grpSpLocks/>
              </p:cNvGrpSpPr>
              <p:nvPr/>
            </p:nvGrpSpPr>
            <p:grpSpPr bwMode="auto">
              <a:xfrm flipV="1">
                <a:off x="6202074" y="6096000"/>
                <a:ext cx="813233" cy="96982"/>
                <a:chOff x="6278274" y="6096000"/>
                <a:chExt cx="813233" cy="96982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>
                  <a:off x="6350000" y="6191394"/>
                  <a:ext cx="635000" cy="1588"/>
                </a:xfrm>
                <a:prstGeom prst="line">
                  <a:avLst/>
                </a:prstGeom>
                <a:ln w="38100">
                  <a:solidFill>
                    <a:srgbClr val="CC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6278563" y="6096144"/>
                  <a:ext cx="812800" cy="1588"/>
                </a:xfrm>
                <a:prstGeom prst="line">
                  <a:avLst/>
                </a:prstGeom>
                <a:ln w="38100">
                  <a:solidFill>
                    <a:srgbClr val="996600"/>
                  </a:solidFill>
                </a:ln>
                <a:effectLst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34" name="Straight Arrow Connector 133"/>
            <p:cNvCxnSpPr/>
            <p:nvPr/>
          </p:nvCxnSpPr>
          <p:spPr>
            <a:xfrm rot="10800000" flipV="1">
              <a:off x="66294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/>
            <p:nvPr/>
          </p:nvCxnSpPr>
          <p:spPr>
            <a:xfrm rot="10800000" flipH="1" flipV="1">
              <a:off x="7543800" y="5638800"/>
              <a:ext cx="5334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Rounded Rectangular Callout 70"/>
          <p:cNvSpPr/>
          <p:nvPr/>
        </p:nvSpPr>
        <p:spPr bwMode="auto">
          <a:xfrm>
            <a:off x="7772400" y="3810000"/>
            <a:ext cx="2286000" cy="990600"/>
          </a:xfrm>
          <a:prstGeom prst="wedgeRoundRectCallout">
            <a:avLst>
              <a:gd name="adj1" fmla="val 23278"/>
              <a:gd name="adj2" fmla="val 1428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anchor="ctr"/>
          <a:lstStyle/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Giải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pháp</a:t>
            </a:r>
            <a:r>
              <a:rPr lang="en-US" dirty="0">
                <a:latin typeface="Calibri"/>
                <a:cs typeface="Calibri"/>
              </a:rPr>
              <a:t>:</a:t>
            </a:r>
          </a:p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Lật</a:t>
            </a:r>
            <a:r>
              <a:rPr lang="en-US" dirty="0">
                <a:latin typeface="Calibri"/>
                <a:cs typeface="Calibri"/>
              </a:rPr>
              <a:t> 4 </a:t>
            </a:r>
            <a:r>
              <a:rPr lang="en-US" dirty="0" err="1">
                <a:latin typeface="Calibri"/>
                <a:cs typeface="Calibri"/>
              </a:rPr>
              <a:t>rồi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lật</a:t>
            </a:r>
            <a:r>
              <a:rPr lang="en-US" dirty="0">
                <a:latin typeface="Calibri"/>
                <a:cs typeface="Calibri"/>
              </a:rPr>
              <a:t> 3</a:t>
            </a:r>
          </a:p>
          <a:p>
            <a:pPr algn="ctr">
              <a:defRPr/>
            </a:pPr>
            <a:r>
              <a:rPr lang="en-US" dirty="0" err="1">
                <a:latin typeface="Calibri"/>
                <a:cs typeface="Calibri"/>
              </a:rPr>
              <a:t>Tổng</a:t>
            </a:r>
            <a:r>
              <a:rPr lang="en-US" dirty="0">
                <a:latin typeface="Calibri"/>
                <a:cs typeface="Calibri"/>
              </a:rPr>
              <a:t> chi </a:t>
            </a:r>
            <a:r>
              <a:rPr lang="en-US" dirty="0" err="1">
                <a:latin typeface="Calibri"/>
                <a:cs typeface="Calibri"/>
              </a:rPr>
              <a:t>phí</a:t>
            </a:r>
            <a:r>
              <a:rPr lang="en-US" dirty="0">
                <a:latin typeface="Calibri"/>
                <a:cs typeface="Calibri"/>
              </a:rPr>
              <a:t>: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6" grpId="0" animBg="1"/>
      <p:bldP spid="116" grpId="1" animBg="1"/>
      <p:bldP spid="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B051-95CC-69E3-5721-8E0484CA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(</a:t>
            </a:r>
            <a:r>
              <a:rPr lang="en-US" dirty="0" err="1"/>
              <a:t>khám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4A66-6C50-D673-9358-903F89CBB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(DFS)</a:t>
            </a:r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(BFS)</a:t>
            </a:r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(UCS)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33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Tìm kiếm theo chiều sâu (DFS)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theo chiều sâu (DFS)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endParaRPr lang="vi-VN" sz="120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20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500" i="1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pPr algn="ctr"/>
            <a:r>
              <a:rPr lang="vi-VN" sz="1500" i="1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vi-VN" sz="1500" i="1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381001" y="1371602"/>
            <a:ext cx="2743200" cy="106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Chiến lược: mở rộng nút sâu nhất trong cây</a:t>
            </a:r>
          </a:p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Cài đặt: Biên = Ngăn xếp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dirty="0"/>
              <a:t>Các tính chất của thuật toán tìm kiếm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06400" y="1295402"/>
            <a:ext cx="11379200" cy="4729164"/>
          </a:xfrm>
        </p:spPr>
        <p:txBody>
          <a:bodyPr/>
          <a:lstStyle/>
          <a:p>
            <a:r>
              <a:rPr lang="vi-VN" sz="2400" dirty="0">
                <a:solidFill>
                  <a:srgbClr val="FF0000"/>
                </a:solidFill>
              </a:rPr>
              <a:t>Đầy đủ</a:t>
            </a:r>
            <a:r>
              <a:rPr lang="vi-VN" sz="2400" dirty="0"/>
              <a:t>: Luôn tìm được giải pháp nếu tồn tại 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Tối ưu</a:t>
            </a:r>
            <a:r>
              <a:rPr lang="vi-VN" sz="2400" dirty="0"/>
              <a:t>: Đảm bảo tìm được giải pháp có chi phí tốt nhất 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Độ phức tạp thời gian </a:t>
            </a:r>
            <a:r>
              <a:rPr lang="vi-VN" sz="2400" dirty="0"/>
              <a:t>?</a:t>
            </a:r>
          </a:p>
          <a:p>
            <a:r>
              <a:rPr lang="vi-VN" sz="2400" dirty="0">
                <a:solidFill>
                  <a:srgbClr val="FF0000"/>
                </a:solidFill>
              </a:rPr>
              <a:t>Độ phức tạp không gian </a:t>
            </a:r>
            <a:r>
              <a:rPr lang="vi-VN" sz="2400" dirty="0"/>
              <a:t>?</a:t>
            </a:r>
          </a:p>
          <a:p>
            <a:pPr lvl="1"/>
            <a:endParaRPr lang="vi-VN" sz="2000" dirty="0"/>
          </a:p>
          <a:p>
            <a:r>
              <a:rPr lang="vi-VN" sz="2400" dirty="0"/>
              <a:t>Các yếu tố của cây tìm kiếm:</a:t>
            </a:r>
          </a:p>
          <a:p>
            <a:pPr lvl="1"/>
            <a:r>
              <a:rPr lang="vi-VN" sz="2000" dirty="0"/>
              <a:t>b: hệ số </a:t>
            </a:r>
            <a:r>
              <a:rPr lang="vi-VN" sz="2000" dirty="0">
                <a:solidFill>
                  <a:srgbClr val="FF0000"/>
                </a:solidFill>
              </a:rPr>
              <a:t>rẽ nhánh</a:t>
            </a:r>
          </a:p>
          <a:p>
            <a:pPr lvl="1"/>
            <a:r>
              <a:rPr lang="vi-VN" sz="2000" dirty="0"/>
              <a:t>m: </a:t>
            </a:r>
            <a:r>
              <a:rPr lang="vi-VN" sz="2000" dirty="0">
                <a:solidFill>
                  <a:srgbClr val="FF0000"/>
                </a:solidFill>
              </a:rPr>
              <a:t>độ sâu </a:t>
            </a:r>
            <a:r>
              <a:rPr lang="vi-VN" sz="2000" dirty="0"/>
              <a:t>lớn nhất</a:t>
            </a:r>
          </a:p>
          <a:p>
            <a:pPr lvl="1"/>
            <a:r>
              <a:rPr lang="vi-VN" sz="2000" dirty="0"/>
              <a:t>Giải pháp có thể nằm ở các độ sâu khác nhau</a:t>
            </a:r>
          </a:p>
          <a:p>
            <a:pPr lvl="1"/>
            <a:endParaRPr lang="vi-VN" sz="2000" dirty="0"/>
          </a:p>
          <a:p>
            <a:r>
              <a:rPr lang="vi-VN" sz="2400" dirty="0"/>
              <a:t>Số lượng nút trong cây tìm kiếm?</a:t>
            </a:r>
          </a:p>
          <a:p>
            <a:pPr lvl="1"/>
            <a:r>
              <a:rPr lang="vi-VN" sz="2000" dirty="0"/>
              <a:t>1 + b + b</a:t>
            </a:r>
            <a:r>
              <a:rPr lang="vi-VN" sz="2000" baseline="30000" dirty="0"/>
              <a:t>2</a:t>
            </a:r>
            <a:r>
              <a:rPr lang="vi-VN" sz="2000" dirty="0"/>
              <a:t> + …. b</a:t>
            </a:r>
            <a:r>
              <a:rPr lang="vi-VN" sz="2000" baseline="30000" dirty="0"/>
              <a:t>m</a:t>
            </a:r>
            <a:r>
              <a:rPr lang="vi-VN" sz="2000" dirty="0"/>
              <a:t> = O(b</a:t>
            </a:r>
            <a:r>
              <a:rPr lang="vi-VN" sz="2000" baseline="30000" dirty="0"/>
              <a:t>m</a:t>
            </a:r>
            <a:r>
              <a:rPr lang="vi-VN" sz="2000" dirty="0"/>
              <a:t>)</a:t>
            </a:r>
          </a:p>
          <a:p>
            <a:endParaRPr lang="vi-VN" sz="2400" dirty="0"/>
          </a:p>
        </p:txBody>
      </p:sp>
      <p:sp>
        <p:nvSpPr>
          <p:cNvPr id="6" name="Freeform 30"/>
          <p:cNvSpPr>
            <a:spLocks/>
          </p:cNvSpPr>
          <p:nvPr/>
        </p:nvSpPr>
        <p:spPr bwMode="auto">
          <a:xfrm>
            <a:off x="6737351" y="2763841"/>
            <a:ext cx="2927351" cy="2554287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6" tIns="45718" rIns="91436" bIns="45718"/>
          <a:lstStyle/>
          <a:p>
            <a:endParaRPr lang="vi-VN" dirty="0"/>
          </a:p>
        </p:txBody>
      </p:sp>
      <p:sp>
        <p:nvSpPr>
          <p:cNvPr id="7" name="Oval 31"/>
          <p:cNvSpPr>
            <a:spLocks noChangeArrowheads="1"/>
          </p:cNvSpPr>
          <p:nvPr/>
        </p:nvSpPr>
        <p:spPr bwMode="auto"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10" name="Text Box 34"/>
          <p:cNvSpPr txBox="1">
            <a:spLocks noChangeArrowheads="1"/>
          </p:cNvSpPr>
          <p:nvPr/>
        </p:nvSpPr>
        <p:spPr bwMode="auto">
          <a:xfrm>
            <a:off x="7989890" y="2970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11" name="Freeform 35"/>
          <p:cNvSpPr>
            <a:spLocks/>
          </p:cNvSpPr>
          <p:nvPr/>
        </p:nvSpPr>
        <p:spPr bwMode="auto">
          <a:xfrm>
            <a:off x="7972427" y="2924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6" tIns="45718" rIns="91436" bIns="45718"/>
          <a:lstStyle/>
          <a:p>
            <a:endParaRPr lang="vi-VN" dirty="0"/>
          </a:p>
        </p:txBody>
      </p:sp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8374061" y="2722565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13" name="Text Box 37"/>
          <p:cNvSpPr txBox="1">
            <a:spLocks noChangeArrowheads="1"/>
          </p:cNvSpPr>
          <p:nvPr/>
        </p:nvSpPr>
        <p:spPr bwMode="auto">
          <a:xfrm>
            <a:off x="9801225" y="2574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1 nút</a:t>
            </a:r>
          </a:p>
        </p:txBody>
      </p:sp>
      <p:sp>
        <p:nvSpPr>
          <p:cNvPr id="14" name="Text Box 38"/>
          <p:cNvSpPr txBox="1">
            <a:spLocks noChangeArrowheads="1"/>
          </p:cNvSpPr>
          <p:nvPr/>
        </p:nvSpPr>
        <p:spPr bwMode="auto">
          <a:xfrm>
            <a:off x="9802814" y="292893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 nút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9802814" y="3340100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2</a:t>
            </a:r>
            <a:r>
              <a:rPr lang="vi-VN" dirty="0"/>
              <a:t> nút</a:t>
            </a:r>
          </a:p>
        </p:txBody>
      </p:sp>
      <p:sp>
        <p:nvSpPr>
          <p:cNvPr id="16" name="Text Box 40"/>
          <p:cNvSpPr txBox="1">
            <a:spLocks noChangeArrowheads="1"/>
          </p:cNvSpPr>
          <p:nvPr/>
        </p:nvSpPr>
        <p:spPr bwMode="auto">
          <a:xfrm>
            <a:off x="9817102" y="496570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m</a:t>
            </a:r>
            <a:r>
              <a:rPr lang="vi-VN" dirty="0"/>
              <a:t> nút</a:t>
            </a: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18" name="Oval 42"/>
          <p:cNvSpPr>
            <a:spLocks noChangeArrowheads="1"/>
          </p:cNvSpPr>
          <p:nvPr/>
        </p:nvSpPr>
        <p:spPr bwMode="auto"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21" name="AutoShape 45"/>
          <p:cNvSpPr>
            <a:spLocks/>
          </p:cNvSpPr>
          <p:nvPr/>
        </p:nvSpPr>
        <p:spPr bwMode="auto">
          <a:xfrm>
            <a:off x="6305551" y="2514603"/>
            <a:ext cx="265112" cy="2811463"/>
          </a:xfrm>
          <a:prstGeom prst="leftBrace">
            <a:avLst>
              <a:gd name="adj1" fmla="val 8837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 dirty="0"/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235576" y="3725865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m tầng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253999" y="1366836"/>
            <a:ext cx="6815138" cy="4729164"/>
          </a:xfrm>
        </p:spPr>
        <p:txBody>
          <a:bodyPr/>
          <a:lstStyle/>
          <a:p>
            <a:r>
              <a:rPr lang="vi-VN" sz="2400" dirty="0"/>
              <a:t>DFS mở rộng các nút nào trong cây ?</a:t>
            </a:r>
          </a:p>
          <a:p>
            <a:pPr lvl="1"/>
            <a:r>
              <a:rPr lang="vi-VN" sz="2000" dirty="0"/>
              <a:t>Các nhánh bên trái của cây.</a:t>
            </a:r>
          </a:p>
          <a:p>
            <a:pPr lvl="1"/>
            <a:r>
              <a:rPr lang="vi-VN" sz="2000" dirty="0"/>
              <a:t>Có thể duyệt toàn bộ cây !</a:t>
            </a:r>
          </a:p>
          <a:p>
            <a:pPr lvl="1"/>
            <a:r>
              <a:rPr lang="vi-VN" sz="2000" dirty="0"/>
              <a:t>Nếu m hữu hạn, cần O(b</a:t>
            </a:r>
            <a:r>
              <a:rPr lang="vi-VN" sz="2000" baseline="30000" dirty="0"/>
              <a:t>m</a:t>
            </a:r>
            <a:r>
              <a:rPr lang="vi-VN" sz="2000" dirty="0"/>
              <a:t>) bước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tìm kiếm ?</a:t>
            </a:r>
          </a:p>
          <a:p>
            <a:pPr lvl="1"/>
            <a:r>
              <a:rPr lang="vi-VN" sz="2000" dirty="0"/>
              <a:t>Chỉ lưu các anh em của các nút dọc theo kế hoạch đang xét </a:t>
            </a:r>
            <a:r>
              <a:rPr lang="vi-VN" sz="2000" dirty="0">
                <a:sym typeface="Wingdings" pitchFamily="2" charset="2"/>
              </a:rPr>
              <a:t></a:t>
            </a:r>
            <a:r>
              <a:rPr lang="vi-VN" sz="2000" dirty="0"/>
              <a:t> O(bm)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Do m có thể vô hạn </a:t>
            </a:r>
            <a:r>
              <a:rPr lang="vi-VN" sz="2000" dirty="0">
                <a:sym typeface="Wingdings" pitchFamily="2" charset="2"/>
              </a:rPr>
              <a:t> chỉ đầy đủ khi loại bỏ được chu trình</a:t>
            </a:r>
            <a:endParaRPr lang="vi-VN" sz="2000" dirty="0"/>
          </a:p>
          <a:p>
            <a:pPr lvl="3"/>
            <a:endParaRPr lang="vi-VN" sz="1200" dirty="0"/>
          </a:p>
          <a:p>
            <a:r>
              <a:rPr lang="vi-VN" sz="2400" dirty="0"/>
              <a:t>Tối ưu ?</a:t>
            </a:r>
          </a:p>
          <a:p>
            <a:pPr lvl="1"/>
            <a:r>
              <a:rPr lang="vi-VN" sz="2000" dirty="0"/>
              <a:t>Không, DFS tìm được mục tiêu bên trái nhất trong cây</a:t>
            </a:r>
          </a:p>
          <a:p>
            <a:pPr lvl="1"/>
            <a:endParaRPr lang="vi-VN" sz="2000" dirty="0"/>
          </a:p>
        </p:txBody>
      </p:sp>
      <p:sp>
        <p:nvSpPr>
          <p:cNvPr id="29" name="Freeform 47"/>
          <p:cNvSpPr>
            <a:spLocks/>
          </p:cNvSpPr>
          <p:nvPr/>
        </p:nvSpPr>
        <p:spPr bwMode="auto">
          <a:xfrm>
            <a:off x="7348535" y="2003423"/>
            <a:ext cx="1906588" cy="2554288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0000"/>
              <a:gd name="connsiteY0" fmla="*/ 10000 h 10000"/>
              <a:gd name="connsiteX1" fmla="*/ 10000 w 10000"/>
              <a:gd name="connsiteY1" fmla="*/ 9975 h 10000"/>
              <a:gd name="connsiteX2" fmla="*/ 9018 w 10000"/>
              <a:gd name="connsiteY2" fmla="*/ 4388 h 10000"/>
              <a:gd name="connsiteX3" fmla="*/ 7619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Tính chất của DFS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23585" name="Freeform 30"/>
            <p:cNvSpPr>
              <a:spLocks/>
            </p:cNvSpPr>
            <p:nvPr/>
          </p:nvSpPr>
          <p:spPr bwMode="auto">
            <a:xfrm>
              <a:off x="2655888" y="2262188"/>
              <a:ext cx="2927350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586" name="Oval 31"/>
            <p:cNvSpPr>
              <a:spLocks noChangeArrowheads="1"/>
            </p:cNvSpPr>
            <p:nvPr/>
          </p:nvSpPr>
          <p:spPr bwMode="auto"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7" name="Oval 32"/>
            <p:cNvSpPr>
              <a:spLocks noChangeArrowheads="1"/>
            </p:cNvSpPr>
            <p:nvPr/>
          </p:nvSpPr>
          <p:spPr bwMode="auto"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8" name="Oval 33"/>
            <p:cNvSpPr>
              <a:spLocks noChangeArrowheads="1"/>
            </p:cNvSpPr>
            <p:nvPr/>
          </p:nvSpPr>
          <p:spPr bwMode="auto"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589" name="Text Box 34"/>
            <p:cNvSpPr txBox="1">
              <a:spLocks noChangeArrowheads="1"/>
            </p:cNvSpPr>
            <p:nvPr/>
          </p:nvSpPr>
          <p:spPr bwMode="auto">
            <a:xfrm>
              <a:off x="3908425" y="2468563"/>
              <a:ext cx="27463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…</a:t>
              </a:r>
            </a:p>
          </p:txBody>
        </p:sp>
        <p:sp>
          <p:nvSpPr>
            <p:cNvPr id="23590" name="Freeform 35"/>
            <p:cNvSpPr>
              <a:spLocks/>
            </p:cNvSpPr>
            <p:nvPr/>
          </p:nvSpPr>
          <p:spPr bwMode="auto">
            <a:xfrm>
              <a:off x="3890963" y="2422525"/>
              <a:ext cx="444500" cy="88900"/>
            </a:xfrm>
            <a:custGeom>
              <a:avLst/>
              <a:gdLst>
                <a:gd name="T0" fmla="*/ 0 w 280"/>
                <a:gd name="T1" fmla="*/ 2147483647 h 56"/>
                <a:gd name="T2" fmla="*/ 2147483647 w 280"/>
                <a:gd name="T3" fmla="*/ 2147483647 h 56"/>
                <a:gd name="T4" fmla="*/ 2147483647 w 280"/>
                <a:gd name="T5" fmla="*/ 0 h 56"/>
                <a:gd name="T6" fmla="*/ 0 60000 65536"/>
                <a:gd name="T7" fmla="*/ 0 60000 65536"/>
                <a:gd name="T8" fmla="*/ 0 60000 65536"/>
                <a:gd name="T9" fmla="*/ 0 w 280"/>
                <a:gd name="T10" fmla="*/ 0 h 56"/>
                <a:gd name="T11" fmla="*/ 280 w 280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0" h="56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591" name="Text Box 36"/>
            <p:cNvSpPr txBox="1">
              <a:spLocks noChangeArrowheads="1"/>
            </p:cNvSpPr>
            <p:nvPr/>
          </p:nvSpPr>
          <p:spPr bwMode="auto">
            <a:xfrm>
              <a:off x="4292599" y="2220913"/>
              <a:ext cx="2984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b</a:t>
              </a:r>
            </a:p>
          </p:txBody>
        </p:sp>
        <p:sp>
          <p:nvSpPr>
            <p:cNvPr id="23592" name="Text Box 37"/>
            <p:cNvSpPr txBox="1">
              <a:spLocks noChangeArrowheads="1"/>
            </p:cNvSpPr>
            <p:nvPr/>
          </p:nvSpPr>
          <p:spPr bwMode="auto">
            <a:xfrm>
              <a:off x="5719763" y="2073275"/>
              <a:ext cx="11191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1 nút</a:t>
              </a:r>
            </a:p>
          </p:txBody>
        </p:sp>
        <p:sp>
          <p:nvSpPr>
            <p:cNvPr id="23593" name="Text Box 38"/>
            <p:cNvSpPr txBox="1">
              <a:spLocks noChangeArrowheads="1"/>
            </p:cNvSpPr>
            <p:nvPr/>
          </p:nvSpPr>
          <p:spPr bwMode="auto">
            <a:xfrm>
              <a:off x="5721350" y="2427287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 nút</a:t>
              </a:r>
            </a:p>
          </p:txBody>
        </p:sp>
        <p:sp>
          <p:nvSpPr>
            <p:cNvPr id="23594" name="Text Box 39"/>
            <p:cNvSpPr txBox="1">
              <a:spLocks noChangeArrowheads="1"/>
            </p:cNvSpPr>
            <p:nvPr/>
          </p:nvSpPr>
          <p:spPr bwMode="auto">
            <a:xfrm>
              <a:off x="5721350" y="2838450"/>
              <a:ext cx="11191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</a:t>
              </a:r>
              <a:r>
                <a:rPr lang="vi-VN" baseline="30000" dirty="0"/>
                <a:t>2</a:t>
              </a:r>
              <a:r>
                <a:rPr lang="vi-VN" dirty="0"/>
                <a:t> nút</a:t>
              </a:r>
            </a:p>
          </p:txBody>
        </p:sp>
        <p:sp>
          <p:nvSpPr>
            <p:cNvPr id="23595" name="Text Box 40"/>
            <p:cNvSpPr txBox="1">
              <a:spLocks noChangeArrowheads="1"/>
            </p:cNvSpPr>
            <p:nvPr/>
          </p:nvSpPr>
          <p:spPr bwMode="auto">
            <a:xfrm>
              <a:off x="5735638" y="4464050"/>
              <a:ext cx="1460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b</a:t>
              </a:r>
              <a:r>
                <a:rPr lang="vi-VN" baseline="30000" dirty="0"/>
                <a:t>m</a:t>
              </a:r>
              <a:r>
                <a:rPr lang="vi-VN" dirty="0"/>
                <a:t> nút</a:t>
              </a:r>
            </a:p>
          </p:txBody>
        </p:sp>
        <p:sp>
          <p:nvSpPr>
            <p:cNvPr id="23596" name="Oval 41"/>
            <p:cNvSpPr>
              <a:spLocks noChangeArrowheads="1"/>
            </p:cNvSpPr>
            <p:nvPr/>
          </p:nvSpPr>
          <p:spPr bwMode="auto"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600" name="AutoShape 45"/>
            <p:cNvSpPr>
              <a:spLocks/>
            </p:cNvSpPr>
            <p:nvPr/>
          </p:nvSpPr>
          <p:spPr bwMode="auto">
            <a:xfrm>
              <a:off x="2224088" y="2012950"/>
              <a:ext cx="265112" cy="2811463"/>
            </a:xfrm>
            <a:prstGeom prst="leftBrace">
              <a:avLst>
                <a:gd name="adj1" fmla="val 8837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601" name="Text Box 46"/>
            <p:cNvSpPr txBox="1">
              <a:spLocks noChangeArrowheads="1"/>
            </p:cNvSpPr>
            <p:nvPr/>
          </p:nvSpPr>
          <p:spPr bwMode="auto">
            <a:xfrm>
              <a:off x="1328738" y="3224213"/>
              <a:ext cx="126523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 dirty="0"/>
                <a:t>m tầng</a:t>
              </a:r>
            </a:p>
          </p:txBody>
        </p:sp>
      </p:grpSp>
      <p:sp>
        <p:nvSpPr>
          <p:cNvPr id="31" name="Freeform 47"/>
          <p:cNvSpPr>
            <a:spLocks/>
          </p:cNvSpPr>
          <p:nvPr/>
        </p:nvSpPr>
        <p:spPr bwMode="auto">
          <a:xfrm>
            <a:off x="7389813" y="2057317"/>
            <a:ext cx="1373163" cy="2478171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32" name="Freeform 47"/>
          <p:cNvSpPr>
            <a:spLocks/>
          </p:cNvSpPr>
          <p:nvPr/>
        </p:nvSpPr>
        <p:spPr bwMode="auto">
          <a:xfrm>
            <a:off x="7389840" y="2057403"/>
            <a:ext cx="1373179" cy="2514599"/>
          </a:xfrm>
          <a:custGeom>
            <a:avLst/>
            <a:gdLst>
              <a:gd name="T0" fmla="*/ 0 w 1201"/>
              <a:gd name="T1" fmla="*/ 2147483647 h 1609"/>
              <a:gd name="T2" fmla="*/ 2147483647 w 1201"/>
              <a:gd name="T3" fmla="*/ 2147483647 h 1609"/>
              <a:gd name="T4" fmla="*/ 2147483647 w 1201"/>
              <a:gd name="T5" fmla="*/ 2147483647 h 1609"/>
              <a:gd name="T6" fmla="*/ 2147483647 w 1201"/>
              <a:gd name="T7" fmla="*/ 0 h 1609"/>
              <a:gd name="T8" fmla="*/ 0 w 1201"/>
              <a:gd name="T9" fmla="*/ 2147483647 h 1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1"/>
              <a:gd name="T16" fmla="*/ 0 h 1609"/>
              <a:gd name="T17" fmla="*/ 1201 w 1201"/>
              <a:gd name="T18" fmla="*/ 1609 h 1609"/>
              <a:gd name="connsiteX0" fmla="*/ 0 w 11997"/>
              <a:gd name="connsiteY0" fmla="*/ 9702 h 9702"/>
              <a:gd name="connsiteX1" fmla="*/ 10000 w 11997"/>
              <a:gd name="connsiteY1" fmla="*/ 9677 h 9702"/>
              <a:gd name="connsiteX2" fmla="*/ 9417 w 11997"/>
              <a:gd name="connsiteY2" fmla="*/ 4158 h 9702"/>
              <a:gd name="connsiteX3" fmla="*/ 11997 w 11997"/>
              <a:gd name="connsiteY3" fmla="*/ 0 h 9702"/>
              <a:gd name="connsiteX4" fmla="*/ 0 w 11997"/>
              <a:gd name="connsiteY4" fmla="*/ 9702 h 9702"/>
              <a:gd name="connsiteX0" fmla="*/ 0 w 10000"/>
              <a:gd name="connsiteY0" fmla="*/ 10000 h 10000"/>
              <a:gd name="connsiteX1" fmla="*/ 8335 w 10000"/>
              <a:gd name="connsiteY1" fmla="*/ 9974 h 10000"/>
              <a:gd name="connsiteX2" fmla="*/ 8890 w 10000"/>
              <a:gd name="connsiteY2" fmla="*/ 4305 h 10000"/>
              <a:gd name="connsiteX3" fmla="*/ 10000 w 10000"/>
              <a:gd name="connsiteY3" fmla="*/ 0 h 10000"/>
              <a:gd name="connsiteX4" fmla="*/ 0 w 10000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8890 w 16352"/>
              <a:gd name="connsiteY2" fmla="*/ 4305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000"/>
              <a:gd name="connsiteX1" fmla="*/ 8335 w 16352"/>
              <a:gd name="connsiteY1" fmla="*/ 9974 h 10000"/>
              <a:gd name="connsiteX2" fmla="*/ 10907 w 16352"/>
              <a:gd name="connsiteY2" fmla="*/ 4612 h 10000"/>
              <a:gd name="connsiteX3" fmla="*/ 16352 w 16352"/>
              <a:gd name="connsiteY3" fmla="*/ 0 h 10000"/>
              <a:gd name="connsiteX4" fmla="*/ 0 w 16352"/>
              <a:gd name="connsiteY4" fmla="*/ 10000 h 10000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  <a:gd name="connsiteX0" fmla="*/ 0 w 16352"/>
              <a:gd name="connsiteY0" fmla="*/ 10000 h 10147"/>
              <a:gd name="connsiteX1" fmla="*/ 6370 w 16352"/>
              <a:gd name="connsiteY1" fmla="*/ 10147 h 10147"/>
              <a:gd name="connsiteX2" fmla="*/ 10907 w 16352"/>
              <a:gd name="connsiteY2" fmla="*/ 4612 h 10147"/>
              <a:gd name="connsiteX3" fmla="*/ 16352 w 16352"/>
              <a:gd name="connsiteY3" fmla="*/ 0 h 10147"/>
              <a:gd name="connsiteX4" fmla="*/ 0 w 16352"/>
              <a:gd name="connsiteY4" fmla="*/ 10000 h 1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2" h="10147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33" name="Oval 41"/>
          <p:cNvSpPr>
            <a:spLocks noChangeArrowheads="1"/>
          </p:cNvSpPr>
          <p:nvPr/>
        </p:nvSpPr>
        <p:spPr bwMode="auto"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endParaRPr lang="vi-V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Tìm kiếm theo chiều rộng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4800" cy="585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(BFS)</a:t>
            </a:r>
            <a:endParaRPr lang="vi-VN" dirty="0"/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 i="1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sz="1600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vi-VN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dirty="0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vi-VN" dirty="0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237287" y="35258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3808411" y="40211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629402" y="3976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380411" y="39909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278184" y="45212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3952878" y="45132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4799011" y="451326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243635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6945311" y="45053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378828" y="4505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268660" y="5051430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562663" cy="106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Strategy: Mở rộng nút nông nhất trong cây</a:t>
            </a:r>
          </a:p>
          <a:p>
            <a:pPr>
              <a:spcBef>
                <a:spcPct val="50000"/>
              </a:spcBef>
            </a:pPr>
            <a:r>
              <a:rPr lang="vi-VN" i="1" dirty="0">
                <a:latin typeface="Calibri" pitchFamily="34" charset="0"/>
              </a:rPr>
              <a:t>Cài đặt: Biên = Hàng đợi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64"/>
          <p:cNvSpPr>
            <a:spLocks/>
          </p:cNvSpPr>
          <p:nvPr/>
        </p:nvSpPr>
        <p:spPr bwMode="auto">
          <a:xfrm>
            <a:off x="8526461" y="2038351"/>
            <a:ext cx="541339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02818" name="Freeform 2"/>
          <p:cNvSpPr>
            <a:spLocks/>
          </p:cNvSpPr>
          <p:nvPr/>
        </p:nvSpPr>
        <p:spPr bwMode="auto">
          <a:xfrm>
            <a:off x="7939088" y="2020890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5" name="Freeform 4"/>
          <p:cNvSpPr>
            <a:spLocks/>
          </p:cNvSpPr>
          <p:nvPr/>
        </p:nvSpPr>
        <p:spPr bwMode="auto">
          <a:xfrm>
            <a:off x="8077200" y="2038349"/>
            <a:ext cx="1447800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7" name="Freeform 4"/>
          <p:cNvSpPr>
            <a:spLocks/>
          </p:cNvSpPr>
          <p:nvPr/>
        </p:nvSpPr>
        <p:spPr bwMode="auto">
          <a:xfrm>
            <a:off x="8305803" y="2038349"/>
            <a:ext cx="990599" cy="781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Tính chất của BFS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97003"/>
            <a:ext cx="5689600" cy="4729164"/>
          </a:xfrm>
        </p:spPr>
        <p:txBody>
          <a:bodyPr/>
          <a:lstStyle/>
          <a:p>
            <a:r>
              <a:rPr lang="vi-VN" sz="2400" dirty="0"/>
              <a:t>BFS mở rộng các nút nào ?</a:t>
            </a:r>
          </a:p>
          <a:p>
            <a:pPr lvl="1"/>
            <a:r>
              <a:rPr lang="vi-VN" sz="2000" dirty="0"/>
              <a:t>Các kế hoạch ngắn hơn giải pháp</a:t>
            </a:r>
          </a:p>
          <a:p>
            <a:pPr lvl="1"/>
            <a:r>
              <a:rPr lang="vi-VN" sz="2000" dirty="0"/>
              <a:t>Nếu giải pháp ngắn nhất ở độ sâu s</a:t>
            </a:r>
          </a:p>
          <a:p>
            <a:pPr lvl="1"/>
            <a:r>
              <a:rPr lang="vi-VN" sz="2000" dirty="0"/>
              <a:t>Độ phức tạp thời gian O(b</a:t>
            </a:r>
            <a:r>
              <a:rPr lang="vi-VN" sz="2000" baseline="30000" dirty="0"/>
              <a:t>s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?</a:t>
            </a:r>
          </a:p>
          <a:p>
            <a:pPr lvl="1"/>
            <a:r>
              <a:rPr lang="vi-VN" sz="2000" dirty="0"/>
              <a:t>Phải lưu toàn bộ tầng trước </a:t>
            </a:r>
            <a:r>
              <a:rPr lang="vi-VN" sz="2000" dirty="0">
                <a:sym typeface="Wingdings" pitchFamily="2" charset="2"/>
              </a:rPr>
              <a:t> </a:t>
            </a:r>
            <a:r>
              <a:rPr lang="vi-VN" sz="2000" dirty="0"/>
              <a:t>O(b</a:t>
            </a:r>
            <a:r>
              <a:rPr lang="vi-VN" sz="2000" baseline="30000" dirty="0"/>
              <a:t>s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Nếu có giải pháp </a:t>
            </a:r>
            <a:r>
              <a:rPr lang="vi-VN" sz="2000" dirty="0">
                <a:sym typeface="Wingdings" pitchFamily="2" charset="2"/>
              </a:rPr>
              <a:t> s hữu hạn  Đầy đủ </a:t>
            </a:r>
            <a:r>
              <a:rPr lang="vi-VN" sz="2000" dirty="0"/>
              <a:t>!</a:t>
            </a:r>
          </a:p>
          <a:p>
            <a:pPr lvl="2"/>
            <a:endParaRPr lang="vi-VN" sz="800" dirty="0"/>
          </a:p>
          <a:p>
            <a:r>
              <a:rPr lang="vi-VN" sz="2400" dirty="0"/>
              <a:t>Tối ưu ?</a:t>
            </a:r>
          </a:p>
          <a:p>
            <a:pPr lvl="1"/>
            <a:r>
              <a:rPr lang="vi-VN" sz="2000" dirty="0"/>
              <a:t>Nếu chi phí hành động = 1</a:t>
            </a:r>
          </a:p>
          <a:p>
            <a:endParaRPr lang="vi-VN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7346954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8599491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8582026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8983664" y="196056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24621" name="Text Box 45"/>
          <p:cNvSpPr txBox="1">
            <a:spLocks noChangeArrowheads="1"/>
          </p:cNvSpPr>
          <p:nvPr/>
        </p:nvSpPr>
        <p:spPr bwMode="auto">
          <a:xfrm>
            <a:off x="10410828" y="1812926"/>
            <a:ext cx="111918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1 nút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10412414" y="2166935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 nút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0412414" y="2578097"/>
            <a:ext cx="1119188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2</a:t>
            </a:r>
            <a:r>
              <a:rPr lang="vi-VN" dirty="0"/>
              <a:t> nút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10426702" y="4203699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m</a:t>
            </a:r>
            <a:r>
              <a:rPr lang="vi-VN" dirty="0"/>
              <a:t> nút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6915149" y="1752602"/>
            <a:ext cx="265112" cy="1684337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5905503" y="2392362"/>
            <a:ext cx="1265237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s tầng</a:t>
            </a:r>
          </a:p>
        </p:txBody>
      </p:sp>
      <p:sp>
        <p:nvSpPr>
          <p:cNvPr id="24637" name="Text Box 61"/>
          <p:cNvSpPr txBox="1">
            <a:spLocks noChangeArrowheads="1"/>
          </p:cNvSpPr>
          <p:nvPr/>
        </p:nvSpPr>
        <p:spPr bwMode="auto">
          <a:xfrm>
            <a:off x="10401302" y="3179762"/>
            <a:ext cx="1460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  <a:r>
              <a:rPr lang="vi-VN" baseline="30000" dirty="0"/>
              <a:t>s</a:t>
            </a:r>
            <a:r>
              <a:rPr lang="vi-VN" dirty="0"/>
              <a:t> nút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vi-VN" dirty="0"/>
              <a:t>: DFS và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979" y="1333148"/>
            <a:ext cx="4723641" cy="3543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2779" y="1333609"/>
            <a:ext cx="4723641" cy="3542730"/>
          </a:xfrm>
          <a:prstGeom prst="rect">
            <a:avLst/>
          </a:prstGeom>
          <a:noFill/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991B8378-AEFE-4575-A890-0C33716BC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341013"/>
            <a:ext cx="8813800" cy="2239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0" tIns="45718" rIns="91430" bIns="45718" numCol="1" anchor="t" anchorCtr="0" compatLnSpc="1">
            <a:prstTxWarp prst="textNoShape">
              <a:avLst/>
            </a:prstTxWarp>
          </a:bodyPr>
          <a:lstStyle>
            <a:lvl1pPr marL="342858" indent="-34285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857" indent="-28571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858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000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143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286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430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573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5718" indent="-22857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vi-VN" kern="0" dirty="0"/>
          </a:p>
          <a:p>
            <a:r>
              <a:rPr lang="vi-VN" kern="0" dirty="0"/>
              <a:t>Khi nào BFS tốt hơn DFS?</a:t>
            </a:r>
          </a:p>
          <a:p>
            <a:r>
              <a:rPr lang="vi-VN" kern="0" dirty="0"/>
              <a:t>Khi nào DFS tốt hơn BFS?</a:t>
            </a:r>
          </a:p>
        </p:txBody>
      </p:sp>
    </p:spTree>
    <p:extLst>
      <p:ext uri="{BB962C8B-B14F-4D97-AF65-F5344CB8AC3E}">
        <p14:creationId xmlns:p14="http://schemas.microsoft.com/office/powerpoint/2010/main" val="259672395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Ví dụ: Maze Water DFS/BFS (part 1)</a:t>
            </a:r>
          </a:p>
        </p:txBody>
      </p:sp>
      <p:pic>
        <p:nvPicPr>
          <p:cNvPr id="3" name="MazeWater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894" y="1130247"/>
            <a:ext cx="7542213" cy="55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Maze Water DFS/BFS (part 2)</a:t>
            </a:r>
          </a:p>
        </p:txBody>
      </p:sp>
      <p:pic>
        <p:nvPicPr>
          <p:cNvPr id="4" name="MazeWater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24049" y="1128999"/>
            <a:ext cx="7543902" cy="55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2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>
            <a:spLocks/>
          </p:cNvSpPr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21251" name="Freeform 3"/>
          <p:cNvSpPr>
            <a:spLocks/>
          </p:cNvSpPr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821252" name="Freeform 4"/>
          <p:cNvSpPr>
            <a:spLocks/>
          </p:cNvSpPr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sz="4000" dirty="0"/>
              <a:t>Tìm kiếm độ sâu tăng dần</a:t>
            </a:r>
            <a:br>
              <a:rPr lang="en-US" dirty="0"/>
            </a:br>
            <a:r>
              <a:rPr lang="en-US" sz="2400" dirty="0"/>
              <a:t>Iterative deepening search – IDS</a:t>
            </a:r>
            <a:endParaRPr lang="vi-VN" dirty="0"/>
          </a:p>
        </p:txBody>
      </p:sp>
      <p:sp>
        <p:nvSpPr>
          <p:cNvPr id="26679" name="Freeform 55"/>
          <p:cNvSpPr>
            <a:spLocks/>
          </p:cNvSpPr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…</a:t>
            </a:r>
          </a:p>
        </p:txBody>
      </p:sp>
      <p:sp>
        <p:nvSpPr>
          <p:cNvPr id="26684" name="Freeform 60"/>
          <p:cNvSpPr>
            <a:spLocks/>
          </p:cNvSpPr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</a:t>
            </a:r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 dirty="0"/>
          </a:p>
        </p:txBody>
      </p:sp>
      <p:sp>
        <p:nvSpPr>
          <p:cNvPr id="821312" name="Freeform 64"/>
          <p:cNvSpPr>
            <a:spLocks/>
          </p:cNvSpPr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06399" y="1397003"/>
            <a:ext cx="8201021" cy="4729164"/>
          </a:xfrm>
        </p:spPr>
        <p:txBody>
          <a:bodyPr/>
          <a:lstStyle/>
          <a:p>
            <a:r>
              <a:rPr lang="vi-VN" sz="2800" dirty="0"/>
              <a:t>Ý tưởng: Bộ nhớ của DFS + thời gian của BFS</a:t>
            </a:r>
          </a:p>
          <a:p>
            <a:pPr lvl="1"/>
            <a:r>
              <a:rPr lang="vi-VN" sz="2400" dirty="0"/>
              <a:t>Chạy DFS với giới hạn độ sâu = 1, nếu không có giải pháp…</a:t>
            </a:r>
          </a:p>
          <a:p>
            <a:pPr lvl="1"/>
            <a:r>
              <a:rPr lang="vi-VN" sz="2400" dirty="0"/>
              <a:t>Chạy DFS với giới hạn độ sâu = 2, nếu không có giải pháp…</a:t>
            </a:r>
          </a:p>
          <a:p>
            <a:pPr lvl="1"/>
            <a:r>
              <a:rPr lang="vi-VN" sz="2400" dirty="0"/>
              <a:t>Chạy DFS với giới hạn độ sâu = 3, …</a:t>
            </a:r>
          </a:p>
          <a:p>
            <a:pPr lvl="1"/>
            <a:endParaRPr lang="vi-VN" sz="2400" dirty="0"/>
          </a:p>
          <a:p>
            <a:r>
              <a:rPr lang="vi-VN" sz="2800" dirty="0"/>
              <a:t>Liệu có phí phạm ?</a:t>
            </a:r>
          </a:p>
          <a:p>
            <a:pPr lvl="1"/>
            <a:r>
              <a:rPr lang="vi-VN" sz="2400" dirty="0"/>
              <a:t>Do chủ yếu thời gian chạy nằm ở tầng dưới cùng nên không phí quá nhiều !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dirty="0"/>
              <a:t>Tìm kiếm dựa trên chi phí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486401"/>
            <a:ext cx="12192000" cy="1227139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vi-VN" sz="2400" dirty="0"/>
              <a:t>BFS tìm được kế hoạch ngắn nhất (theo số lượng hành động).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vi-VN" sz="2400" dirty="0"/>
              <a:t>BFS không tìm kế hoạch có chi phí nhỏ nhất.  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27653" name="Group 5"/>
            <p:cNvGrpSpPr>
              <a:grpSpLocks/>
            </p:cNvGrpSpPr>
            <p:nvPr/>
          </p:nvGrpSpPr>
          <p:grpSpPr bwMode="auto"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27672" name="AutoShape 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/>
                  <a:t>START</a:t>
                </a:r>
              </a:p>
            </p:txBody>
          </p:sp>
          <p:sp>
            <p:nvSpPr>
              <p:cNvPr id="27673" name="AutoShape 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600"/>
                  <a:t>GOAL</a:t>
                </a:r>
              </a:p>
            </p:txBody>
          </p:sp>
          <p:sp>
            <p:nvSpPr>
              <p:cNvPr id="27674" name="AutoShape 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d</a:t>
                </a:r>
              </a:p>
            </p:txBody>
          </p:sp>
          <p:sp>
            <p:nvSpPr>
              <p:cNvPr id="27675" name="AutoShape 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b</a:t>
                </a:r>
              </a:p>
            </p:txBody>
          </p:sp>
          <p:sp>
            <p:nvSpPr>
              <p:cNvPr id="27676" name="AutoShape 1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p</a:t>
                </a:r>
              </a:p>
            </p:txBody>
          </p:sp>
          <p:sp>
            <p:nvSpPr>
              <p:cNvPr id="27677" name="AutoShape 1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q</a:t>
                </a:r>
              </a:p>
            </p:txBody>
          </p:sp>
          <p:sp>
            <p:nvSpPr>
              <p:cNvPr id="27678" name="AutoShape 1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c</a:t>
                </a:r>
              </a:p>
            </p:txBody>
          </p:sp>
          <p:sp>
            <p:nvSpPr>
              <p:cNvPr id="27679" name="AutoShape 1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e</a:t>
                </a:r>
              </a:p>
            </p:txBody>
          </p:sp>
          <p:sp>
            <p:nvSpPr>
              <p:cNvPr id="27680" name="AutoShape 1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h</a:t>
                </a:r>
              </a:p>
            </p:txBody>
          </p:sp>
          <p:sp>
            <p:nvSpPr>
              <p:cNvPr id="27681" name="AutoShape 1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a</a:t>
                </a:r>
              </a:p>
            </p:txBody>
          </p:sp>
          <p:sp>
            <p:nvSpPr>
              <p:cNvPr id="27682" name="AutoShape 1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f</a:t>
                </a:r>
              </a:p>
            </p:txBody>
          </p:sp>
          <p:sp>
            <p:nvSpPr>
              <p:cNvPr id="27683" name="AutoShape 1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i="1"/>
                  <a:t>r</a:t>
                </a:r>
              </a:p>
            </p:txBody>
          </p:sp>
          <p:cxnSp>
            <p:nvCxnSpPr>
              <p:cNvPr id="27684" name="AutoShape 18"/>
              <p:cNvCxnSpPr>
                <a:cxnSpLocks noChangeShapeType="1"/>
                <a:stCxn id="27672" idx="5"/>
                <a:endCxn id="27676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5" name="AutoShape 19"/>
              <p:cNvCxnSpPr>
                <a:cxnSpLocks noChangeShapeType="1"/>
                <a:stCxn id="27676" idx="5"/>
                <a:endCxn id="27677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6" name="AutoShape 20"/>
              <p:cNvCxnSpPr>
                <a:cxnSpLocks noChangeShapeType="1"/>
                <a:stCxn id="27680" idx="3"/>
                <a:endCxn id="27677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7" name="AutoShape 21"/>
              <p:cNvCxnSpPr>
                <a:cxnSpLocks noChangeShapeType="1"/>
                <a:stCxn id="27680" idx="2"/>
                <a:endCxn id="27676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8" name="AutoShape 22"/>
              <p:cNvCxnSpPr>
                <a:cxnSpLocks noChangeShapeType="1"/>
                <a:stCxn id="27679" idx="4"/>
                <a:endCxn id="27680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89" name="AutoShape 23"/>
              <p:cNvCxnSpPr>
                <a:cxnSpLocks noChangeShapeType="1"/>
                <a:stCxn id="27679" idx="5"/>
                <a:endCxn id="27683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0" name="AutoShape 24"/>
              <p:cNvCxnSpPr>
                <a:cxnSpLocks noChangeShapeType="1"/>
                <a:stCxn id="27683" idx="0"/>
                <a:endCxn id="27682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1" name="AutoShape 25"/>
              <p:cNvCxnSpPr>
                <a:cxnSpLocks noChangeShapeType="1"/>
                <a:stCxn id="27682" idx="0"/>
                <a:endCxn id="27673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2" name="AutoShape 26"/>
              <p:cNvCxnSpPr>
                <a:cxnSpLocks noChangeShapeType="1"/>
                <a:stCxn id="27672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3" name="AutoShape 27"/>
              <p:cNvCxnSpPr>
                <a:cxnSpLocks noChangeShapeType="1"/>
                <a:stCxn id="27674" idx="1"/>
                <a:endCxn id="27675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4" name="AutoShape 28"/>
              <p:cNvCxnSpPr>
                <a:cxnSpLocks noChangeShapeType="1"/>
                <a:endCxn id="27681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5" name="AutoShape 29"/>
              <p:cNvCxnSpPr>
                <a:cxnSpLocks noChangeShapeType="1"/>
                <a:stCxn id="27678" idx="2"/>
                <a:endCxn id="27681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6" name="AutoShape 30"/>
              <p:cNvCxnSpPr>
                <a:cxnSpLocks noChangeShapeType="1"/>
                <a:stCxn id="27674" idx="7"/>
                <a:endCxn id="27678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7" name="AutoShape 31"/>
              <p:cNvCxnSpPr>
                <a:cxnSpLocks noChangeShapeType="1"/>
                <a:stCxn id="27674" idx="6"/>
                <a:endCxn id="27679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8" name="AutoShape 32"/>
              <p:cNvCxnSpPr>
                <a:cxnSpLocks noChangeShapeType="1"/>
                <a:stCxn id="27682" idx="1"/>
                <a:endCxn id="27678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7699" name="AutoShape 33"/>
              <p:cNvCxnSpPr>
                <a:cxnSpLocks noChangeShapeType="1"/>
                <a:stCxn id="27672" idx="6"/>
                <a:endCxn id="27679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7654" name="Text Box 34"/>
            <p:cNvSpPr txBox="1">
              <a:spLocks noChangeArrowheads="1"/>
            </p:cNvSpPr>
            <p:nvPr/>
          </p:nvSpPr>
          <p:spPr bwMode="auto">
            <a:xfrm>
              <a:off x="1440" y="91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55" name="Text Box 35"/>
            <p:cNvSpPr txBox="1">
              <a:spLocks noChangeArrowheads="1"/>
            </p:cNvSpPr>
            <p:nvPr/>
          </p:nvSpPr>
          <p:spPr bwMode="auto">
            <a:xfrm>
              <a:off x="2544" y="196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9</a:t>
              </a:r>
            </a:p>
          </p:txBody>
        </p:sp>
        <p:sp>
          <p:nvSpPr>
            <p:cNvPr id="27656" name="Text Box 36"/>
            <p:cNvSpPr txBox="1">
              <a:spLocks noChangeArrowheads="1"/>
            </p:cNvSpPr>
            <p:nvPr/>
          </p:nvSpPr>
          <p:spPr bwMode="auto">
            <a:xfrm>
              <a:off x="4032" y="2016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57" name="Text Box 37"/>
            <p:cNvSpPr txBox="1">
              <a:spLocks noChangeArrowheads="1"/>
            </p:cNvSpPr>
            <p:nvPr/>
          </p:nvSpPr>
          <p:spPr bwMode="auto">
            <a:xfrm>
              <a:off x="2449" y="1440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8</a:t>
              </a:r>
            </a:p>
          </p:txBody>
        </p:sp>
        <p:sp>
          <p:nvSpPr>
            <p:cNvPr id="27658" name="Text Box 38"/>
            <p:cNvSpPr txBox="1">
              <a:spLocks noChangeArrowheads="1"/>
            </p:cNvSpPr>
            <p:nvPr/>
          </p:nvSpPr>
          <p:spPr bwMode="auto">
            <a:xfrm>
              <a:off x="1728" y="144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</a:t>
              </a:r>
            </a:p>
          </p:txBody>
        </p:sp>
        <p:sp>
          <p:nvSpPr>
            <p:cNvPr id="27659" name="Text Box 39"/>
            <p:cNvSpPr txBox="1">
              <a:spLocks noChangeArrowheads="1"/>
            </p:cNvSpPr>
            <p:nvPr/>
          </p:nvSpPr>
          <p:spPr bwMode="auto">
            <a:xfrm>
              <a:off x="3648" y="1968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8</a:t>
              </a:r>
            </a:p>
          </p:txBody>
        </p:sp>
        <p:sp>
          <p:nvSpPr>
            <p:cNvPr id="27660" name="Text Box 40"/>
            <p:cNvSpPr txBox="1">
              <a:spLocks noChangeArrowheads="1"/>
            </p:cNvSpPr>
            <p:nvPr/>
          </p:nvSpPr>
          <p:spPr bwMode="auto">
            <a:xfrm>
              <a:off x="2592" y="960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61" name="Text Box 41"/>
            <p:cNvSpPr txBox="1">
              <a:spLocks noChangeArrowheads="1"/>
            </p:cNvSpPr>
            <p:nvPr/>
          </p:nvSpPr>
          <p:spPr bwMode="auto">
            <a:xfrm>
              <a:off x="1344" y="1824"/>
              <a:ext cx="193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3</a:t>
              </a:r>
            </a:p>
          </p:txBody>
        </p:sp>
        <p:sp>
          <p:nvSpPr>
            <p:cNvPr id="27662" name="Text Box 42"/>
            <p:cNvSpPr txBox="1">
              <a:spLocks noChangeArrowheads="1"/>
            </p:cNvSpPr>
            <p:nvPr/>
          </p:nvSpPr>
          <p:spPr bwMode="auto">
            <a:xfrm>
              <a:off x="451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sp>
          <p:nvSpPr>
            <p:cNvPr id="27663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vi-VN"/>
            </a:p>
          </p:txBody>
        </p:sp>
        <p:sp>
          <p:nvSpPr>
            <p:cNvPr id="27664" name="Text Box 44"/>
            <p:cNvSpPr txBox="1">
              <a:spLocks noChangeArrowheads="1"/>
            </p:cNvSpPr>
            <p:nvPr/>
          </p:nvSpPr>
          <p:spPr bwMode="auto">
            <a:xfrm>
              <a:off x="3024" y="25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4</a:t>
              </a:r>
            </a:p>
          </p:txBody>
        </p:sp>
        <p:sp>
          <p:nvSpPr>
            <p:cNvPr id="27665" name="Text Box 45"/>
            <p:cNvSpPr txBox="1">
              <a:spLocks noChangeArrowheads="1"/>
            </p:cNvSpPr>
            <p:nvPr/>
          </p:nvSpPr>
          <p:spPr bwMode="auto">
            <a:xfrm>
              <a:off x="2352" y="230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4</a:t>
              </a:r>
            </a:p>
          </p:txBody>
        </p:sp>
        <p:sp>
          <p:nvSpPr>
            <p:cNvPr id="27666" name="Text Box 46"/>
            <p:cNvSpPr txBox="1">
              <a:spLocks noChangeArrowheads="1"/>
            </p:cNvSpPr>
            <p:nvPr/>
          </p:nvSpPr>
          <p:spPr bwMode="auto">
            <a:xfrm>
              <a:off x="2208" y="2640"/>
              <a:ext cx="28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15</a:t>
              </a:r>
            </a:p>
          </p:txBody>
        </p:sp>
        <p:sp>
          <p:nvSpPr>
            <p:cNvPr id="27667" name="Text Box 47"/>
            <p:cNvSpPr txBox="1">
              <a:spLocks noChangeArrowheads="1"/>
            </p:cNvSpPr>
            <p:nvPr/>
          </p:nvSpPr>
          <p:spPr bwMode="auto">
            <a:xfrm>
              <a:off x="1248" y="2352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1</a:t>
              </a:r>
            </a:p>
          </p:txBody>
        </p:sp>
        <p:sp>
          <p:nvSpPr>
            <p:cNvPr id="27668" name="Text Box 48"/>
            <p:cNvSpPr txBox="1">
              <a:spLocks noChangeArrowheads="1"/>
            </p:cNvSpPr>
            <p:nvPr/>
          </p:nvSpPr>
          <p:spPr bwMode="auto">
            <a:xfrm>
              <a:off x="4080" y="1248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3</a:t>
              </a:r>
            </a:p>
          </p:txBody>
        </p:sp>
        <p:sp>
          <p:nvSpPr>
            <p:cNvPr id="27669" name="Text Box 49"/>
            <p:cNvSpPr txBox="1">
              <a:spLocks noChangeArrowheads="1"/>
            </p:cNvSpPr>
            <p:nvPr/>
          </p:nvSpPr>
          <p:spPr bwMode="auto">
            <a:xfrm>
              <a:off x="4704" y="1344"/>
              <a:ext cx="192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  <p:cxnSp>
          <p:nvCxnSpPr>
            <p:cNvPr id="27670" name="AutoShape 50"/>
            <p:cNvCxnSpPr>
              <a:cxnSpLocks noChangeShapeType="1"/>
              <a:stCxn id="27677" idx="6"/>
              <a:endCxn id="27683" idx="2"/>
            </p:cNvCxnSpPr>
            <p:nvPr/>
          </p:nvCxnSpPr>
          <p:spPr bwMode="auto">
            <a:xfrm flipV="1">
              <a:off x="2918" y="2707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  <p:sp>
          <p:nvSpPr>
            <p:cNvPr id="27671" name="Text Box 51"/>
            <p:cNvSpPr txBox="1">
              <a:spLocks noChangeArrowheads="1"/>
            </p:cNvSpPr>
            <p:nvPr/>
          </p:nvSpPr>
          <p:spPr bwMode="auto">
            <a:xfrm>
              <a:off x="2929" y="1632"/>
              <a:ext cx="191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2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4000" dirty="0"/>
              <a:t>Tìm kiếm Chi phí đều</a:t>
            </a:r>
            <a:br>
              <a:rPr lang="en-US" sz="4000" dirty="0"/>
            </a:br>
            <a:r>
              <a:rPr lang="en-US" sz="2400" dirty="0"/>
              <a:t>Uniform cost search - </a:t>
            </a:r>
            <a:r>
              <a:rPr lang="vi-VN" sz="2400" dirty="0"/>
              <a:t>UCS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Tìm kiếm Chi phí đều (UCS)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sz="160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vi-VN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sz="160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vi-VN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381002" y="1447800"/>
            <a:ext cx="2928937" cy="1338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/>
              <a:t>Chiến lược: Mở rộng nút có chi phí nhỏ nhất</a:t>
            </a:r>
          </a:p>
          <a:p>
            <a:pPr>
              <a:spcBef>
                <a:spcPct val="50000"/>
              </a:spcBef>
            </a:pPr>
            <a:r>
              <a:rPr lang="vi-VN" i="1"/>
              <a:t>Cài đặt: Biên = hàng đợi ưu tiên (chi phí nhỏ nhất)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vi-VN" sz="1500" i="1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vi-VN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9144001" y="1828801"/>
            <a:ext cx="1616075" cy="23812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9296401" y="1828802"/>
            <a:ext cx="1371600" cy="19048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9907589" y="2208214"/>
            <a:ext cx="274639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Tính chất của UCS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406400" y="1366838"/>
            <a:ext cx="7366000" cy="4729164"/>
          </a:xfrm>
        </p:spPr>
        <p:txBody>
          <a:bodyPr/>
          <a:lstStyle/>
          <a:p>
            <a:r>
              <a:rPr lang="vi-VN" sz="2400" dirty="0"/>
              <a:t>UCS mở rộng các nút nào ?</a:t>
            </a:r>
          </a:p>
          <a:p>
            <a:pPr lvl="1"/>
            <a:r>
              <a:rPr lang="vi-VN" sz="2000" dirty="0"/>
              <a:t>Các nút có chi phí thấp hơn giải pháp !</a:t>
            </a:r>
          </a:p>
          <a:p>
            <a:pPr lvl="1"/>
            <a:r>
              <a:rPr lang="vi-VN" sz="2000" dirty="0"/>
              <a:t>Nếu giải pháp có chi phí </a:t>
            </a:r>
            <a:r>
              <a:rPr lang="vi-VN" sz="2000" i="1" dirty="0">
                <a:latin typeface="Times New Roman" pitchFamily="18" charset="0"/>
              </a:rPr>
              <a:t>C* </a:t>
            </a:r>
            <a:r>
              <a:rPr lang="vi-VN" sz="2000" dirty="0"/>
              <a:t>và hành động có chi phí thấp nhất là 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 </a:t>
            </a:r>
            <a:r>
              <a:rPr lang="vi-VN" sz="2000" i="1" dirty="0">
                <a:sym typeface="Symbol" pitchFamily="18" charset="2"/>
              </a:rPr>
              <a:t>,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vi-VN" sz="2000" dirty="0">
                <a:sym typeface="Symbol" pitchFamily="18" charset="2"/>
              </a:rPr>
              <a:t>thì độ sâu hiệu quả là </a:t>
            </a:r>
            <a:r>
              <a:rPr lang="vi-VN" sz="2000" i="1" dirty="0">
                <a:latin typeface="Times New Roman" pitchFamily="18" charset="0"/>
              </a:rPr>
              <a:t>C*/</a:t>
            </a:r>
            <a:r>
              <a:rPr lang="vi-VN" sz="2000" i="1" dirty="0">
                <a:latin typeface="Times New Roman" pitchFamily="18" charset="0"/>
                <a:sym typeface="Symbol" pitchFamily="18" charset="2"/>
              </a:rPr>
              <a:t></a:t>
            </a:r>
            <a:endParaRPr lang="vi-VN" sz="2000" dirty="0"/>
          </a:p>
          <a:p>
            <a:pPr lvl="1"/>
            <a:r>
              <a:rPr lang="vi-VN" sz="2000" dirty="0"/>
              <a:t>Độ phức tạp thời gian O(b</a:t>
            </a:r>
            <a:r>
              <a:rPr lang="vi-VN" sz="2000" i="1" baseline="30000" dirty="0">
                <a:latin typeface="Times New Roman" pitchFamily="18" charset="0"/>
              </a:rPr>
              <a:t>C*/</a:t>
            </a:r>
            <a:r>
              <a:rPr lang="vi-VN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Bộ nhớ cho biên ?</a:t>
            </a:r>
          </a:p>
          <a:p>
            <a:pPr lvl="1"/>
            <a:r>
              <a:rPr lang="vi-VN" sz="2000" dirty="0"/>
              <a:t>Phải lưu toàn bộ tầng trước </a:t>
            </a:r>
            <a:r>
              <a:rPr lang="vi-VN" sz="2000" dirty="0">
                <a:sym typeface="Wingdings" pitchFamily="2" charset="2"/>
              </a:rPr>
              <a:t></a:t>
            </a:r>
            <a:r>
              <a:rPr lang="vi-VN" sz="2000" dirty="0"/>
              <a:t> O(b</a:t>
            </a:r>
            <a:r>
              <a:rPr lang="vi-VN" sz="2000" i="1" baseline="30000" dirty="0">
                <a:latin typeface="Times New Roman" pitchFamily="18" charset="0"/>
              </a:rPr>
              <a:t>C*/</a:t>
            </a:r>
            <a:r>
              <a:rPr lang="vi-VN" sz="2000" i="1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sz="2000" dirty="0"/>
              <a:t>)</a:t>
            </a:r>
          </a:p>
          <a:p>
            <a:pPr lvl="3"/>
            <a:endParaRPr lang="vi-VN" sz="1200" dirty="0"/>
          </a:p>
          <a:p>
            <a:r>
              <a:rPr lang="vi-VN" sz="2400" dirty="0"/>
              <a:t>Đầy đủ ?</a:t>
            </a:r>
          </a:p>
          <a:p>
            <a:pPr lvl="1"/>
            <a:r>
              <a:rPr lang="vi-VN" sz="2000" dirty="0"/>
              <a:t>Nếu giải pháp tối ưu có chi phí hữu hạn và hành động có chi phí dương </a:t>
            </a:r>
            <a:r>
              <a:rPr lang="vi-VN" sz="2000" dirty="0">
                <a:sym typeface="Wingdings" pitchFamily="2" charset="2"/>
              </a:rPr>
              <a:t> Đầy đủ</a:t>
            </a:r>
            <a:r>
              <a:rPr lang="vi-VN" sz="2000" dirty="0"/>
              <a:t> !</a:t>
            </a:r>
          </a:p>
          <a:p>
            <a:pPr lvl="2"/>
            <a:endParaRPr lang="vi-VN" sz="800" dirty="0"/>
          </a:p>
          <a:p>
            <a:r>
              <a:rPr lang="vi-VN" sz="2400" dirty="0"/>
              <a:t>Tối ưu ?</a:t>
            </a:r>
            <a:endParaRPr lang="vi-VN" sz="2000" dirty="0"/>
          </a:p>
          <a:p>
            <a:endParaRPr lang="vi-VN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8655051" y="2001835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9890123" y="2162175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9601201" y="1981202"/>
            <a:ext cx="298451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8534400" y="1828800"/>
            <a:ext cx="265112" cy="198120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7239000" y="2602472"/>
            <a:ext cx="14478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i="1" dirty="0">
                <a:latin typeface="Times New Roman" pitchFamily="18" charset="0"/>
              </a:rPr>
              <a:t>C*/</a:t>
            </a:r>
            <a:r>
              <a:rPr lang="vi-VN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vi-VN" dirty="0"/>
              <a:t>  “tầng”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9601200" y="1905162"/>
            <a:ext cx="838200" cy="121904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1432" tIns="45718" rIns="91432" bIns="45718"/>
          <a:lstStyle/>
          <a:p>
            <a:endParaRPr lang="vi-VN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0995027" y="2865436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0820402" y="2470148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0604502" y="2092324"/>
            <a:ext cx="8255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/>
              <a:t>c </a:t>
            </a:r>
            <a:r>
              <a:rPr lang="vi-VN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2"/>
          <p:cNvSpPr>
            <a:spLocks noChangeArrowheads="1"/>
          </p:cNvSpPr>
          <p:nvPr/>
        </p:nvSpPr>
        <p:spPr bwMode="auto"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/>
              <a:t>Các vấn đề của UCS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idx="1"/>
          </p:nvPr>
        </p:nvSpPr>
        <p:spPr>
          <a:xfrm>
            <a:off x="457203" y="1447801"/>
            <a:ext cx="6476999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vi-VN" sz="2800" dirty="0"/>
              <a:t>UCS khám phá cây tìm kiếm theo đường đồng mức của chi phí</a:t>
            </a:r>
          </a:p>
          <a:p>
            <a:pPr marL="457140" lvl="1" indent="0">
              <a:lnSpc>
                <a:spcPct val="80000"/>
              </a:lnSpc>
              <a:buNone/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tốt: UCS đầy đủ và tối ưu !</a:t>
            </a:r>
          </a:p>
          <a:p>
            <a:pPr marL="457140" lvl="1" indent="0">
              <a:lnSpc>
                <a:spcPct val="80000"/>
              </a:lnSpc>
              <a:buNone/>
            </a:pPr>
            <a:endParaRPr lang="vi-VN" sz="2400" dirty="0"/>
          </a:p>
          <a:p>
            <a:pPr eaLnBrk="1" hangingPunct="1">
              <a:lnSpc>
                <a:spcPct val="80000"/>
              </a:lnSpc>
            </a:pPr>
            <a:r>
              <a:rPr lang="vi-VN" sz="2800" dirty="0"/>
              <a:t>Điểm xấu: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Khám phá các kế hoạch theo mọi hướng có thể</a:t>
            </a:r>
          </a:p>
          <a:p>
            <a:pPr lvl="1" eaLnBrk="1" hangingPunct="1">
              <a:lnSpc>
                <a:spcPct val="80000"/>
              </a:lnSpc>
            </a:pPr>
            <a:r>
              <a:rPr lang="vi-VN" sz="2400" dirty="0"/>
              <a:t>Không sử dụng thông tin về mục tiêu</a:t>
            </a:r>
          </a:p>
          <a:p>
            <a:pPr marL="457140" lvl="1" indent="0" eaLnBrk="1" hangingPunct="1">
              <a:lnSpc>
                <a:spcPct val="80000"/>
              </a:lnSpc>
              <a:buNone/>
            </a:pPr>
            <a:endParaRPr lang="vi-VN" sz="2400" dirty="0"/>
          </a:p>
          <a:p>
            <a:pPr>
              <a:lnSpc>
                <a:spcPct val="80000"/>
              </a:lnSpc>
            </a:pPr>
            <a:r>
              <a:rPr lang="vi-VN" sz="2800" dirty="0"/>
              <a:t>Chúng ta sẽ khắc phục điểm này !</a:t>
            </a:r>
          </a:p>
          <a:p>
            <a:pPr eaLnBrk="1" hangingPunct="1">
              <a:lnSpc>
                <a:spcPct val="80000"/>
              </a:lnSpc>
            </a:pPr>
            <a:endParaRPr lang="vi-VN" sz="2800" dirty="0"/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8893524" y="5006979"/>
            <a:ext cx="1134715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Bắt đầu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0363200" y="503079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vi-VN" dirty="0"/>
              <a:t>Mục tiêu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9007479" y="4549779"/>
            <a:ext cx="869951" cy="86995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2" tIns="45718" rIns="91432" bIns="45718" anchor="ctr"/>
          <a:lstStyle/>
          <a:p>
            <a:endParaRPr lang="vi-VN"/>
          </a:p>
        </p:txBody>
      </p:sp>
      <p:grpSp>
        <p:nvGrpSpPr>
          <p:cNvPr id="26" name="Group 25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31747" name="Freeform 3"/>
            <p:cNvSpPr>
              <a:spLocks/>
            </p:cNvSpPr>
            <p:nvPr/>
          </p:nvSpPr>
          <p:spPr bwMode="auto">
            <a:xfrm>
              <a:off x="8516935" y="1412876"/>
              <a:ext cx="1616075" cy="2381251"/>
            </a:xfrm>
            <a:custGeom>
              <a:avLst/>
              <a:gdLst>
                <a:gd name="T0" fmla="*/ 2147483647 w 1018"/>
                <a:gd name="T1" fmla="*/ 2147483647 h 1500"/>
                <a:gd name="T2" fmla="*/ 2147483647 w 1018"/>
                <a:gd name="T3" fmla="*/ 2147483647 h 1500"/>
                <a:gd name="T4" fmla="*/ 2147483647 w 1018"/>
                <a:gd name="T5" fmla="*/ 2147483647 h 1500"/>
                <a:gd name="T6" fmla="*/ 2147483647 w 1018"/>
                <a:gd name="T7" fmla="*/ 2147483647 h 1500"/>
                <a:gd name="T8" fmla="*/ 2147483647 w 1018"/>
                <a:gd name="T9" fmla="*/ 2147483647 h 1500"/>
                <a:gd name="T10" fmla="*/ 2147483647 w 1018"/>
                <a:gd name="T11" fmla="*/ 2147483647 h 1500"/>
                <a:gd name="T12" fmla="*/ 2147483647 w 1018"/>
                <a:gd name="T13" fmla="*/ 2147483647 h 1500"/>
                <a:gd name="T14" fmla="*/ 2147483647 w 1018"/>
                <a:gd name="T15" fmla="*/ 2147483647 h 1500"/>
                <a:gd name="T16" fmla="*/ 2147483647 w 1018"/>
                <a:gd name="T17" fmla="*/ 2147483647 h 1500"/>
                <a:gd name="T18" fmla="*/ 0 w 1018"/>
                <a:gd name="T19" fmla="*/ 2147483647 h 1500"/>
                <a:gd name="T20" fmla="*/ 2147483647 w 1018"/>
                <a:gd name="T21" fmla="*/ 2147483647 h 1500"/>
                <a:gd name="T22" fmla="*/ 2147483647 w 1018"/>
                <a:gd name="T23" fmla="*/ 2147483647 h 15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18"/>
                <a:gd name="T37" fmla="*/ 0 h 1500"/>
                <a:gd name="T38" fmla="*/ 1018 w 1018"/>
                <a:gd name="T39" fmla="*/ 1500 h 15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18" h="1500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54" name="Freeform 10"/>
            <p:cNvSpPr>
              <a:spLocks/>
            </p:cNvSpPr>
            <p:nvPr/>
          </p:nvSpPr>
          <p:spPr bwMode="auto">
            <a:xfrm>
              <a:off x="8023224" y="1560515"/>
              <a:ext cx="2927351" cy="2554287"/>
            </a:xfrm>
            <a:custGeom>
              <a:avLst/>
              <a:gdLst>
                <a:gd name="T0" fmla="*/ 0 w 1844"/>
                <a:gd name="T1" fmla="*/ 2147483647 h 1609"/>
                <a:gd name="T2" fmla="*/ 2147483647 w 1844"/>
                <a:gd name="T3" fmla="*/ 2147483647 h 1609"/>
                <a:gd name="T4" fmla="*/ 2147483647 w 1844"/>
                <a:gd name="T5" fmla="*/ 0 h 1609"/>
                <a:gd name="T6" fmla="*/ 0 w 1844"/>
                <a:gd name="T7" fmla="*/ 2147483647 h 16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4"/>
                <a:gd name="T13" fmla="*/ 0 h 1609"/>
                <a:gd name="T14" fmla="*/ 1844 w 1844"/>
                <a:gd name="T15" fmla="*/ 1609 h 16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4" h="1609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55" name="Oval 11"/>
            <p:cNvSpPr>
              <a:spLocks noChangeArrowheads="1"/>
            </p:cNvSpPr>
            <p:nvPr/>
          </p:nvSpPr>
          <p:spPr bwMode="auto"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6" name="Oval 12"/>
            <p:cNvSpPr>
              <a:spLocks noChangeArrowheads="1"/>
            </p:cNvSpPr>
            <p:nvPr/>
          </p:nvSpPr>
          <p:spPr bwMode="auto"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9275761" y="1766891"/>
              <a:ext cx="274639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…</a:t>
              </a:r>
            </a:p>
          </p:txBody>
        </p:sp>
        <p:sp>
          <p:nvSpPr>
            <p:cNvPr id="31758" name="Oval 14"/>
            <p:cNvSpPr>
              <a:spLocks noChangeArrowheads="1"/>
            </p:cNvSpPr>
            <p:nvPr/>
          </p:nvSpPr>
          <p:spPr bwMode="auto"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59" name="Oval 15"/>
            <p:cNvSpPr>
              <a:spLocks noChangeArrowheads="1"/>
            </p:cNvSpPr>
            <p:nvPr/>
          </p:nvSpPr>
          <p:spPr bwMode="auto"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62" name="Oval 18"/>
            <p:cNvSpPr>
              <a:spLocks noChangeArrowheads="1"/>
            </p:cNvSpPr>
            <p:nvPr/>
          </p:nvSpPr>
          <p:spPr bwMode="auto"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6" tIns="45718" rIns="91436" bIns="45718" anchor="ctr"/>
            <a:lstStyle/>
            <a:p>
              <a:endParaRPr lang="vi-VN"/>
            </a:p>
          </p:txBody>
        </p:sp>
        <p:sp>
          <p:nvSpPr>
            <p:cNvPr id="31763" name="Freeform 19"/>
            <p:cNvSpPr>
              <a:spLocks/>
            </p:cNvSpPr>
            <p:nvPr/>
          </p:nvSpPr>
          <p:spPr bwMode="auto">
            <a:xfrm>
              <a:off x="8805861" y="2395539"/>
              <a:ext cx="1181100" cy="557212"/>
            </a:xfrm>
            <a:custGeom>
              <a:avLst/>
              <a:gdLst>
                <a:gd name="T0" fmla="*/ 2147483647 w 744"/>
                <a:gd name="T1" fmla="*/ 0 h 351"/>
                <a:gd name="T2" fmla="*/ 2147483647 w 744"/>
                <a:gd name="T3" fmla="*/ 2147483647 h 351"/>
                <a:gd name="T4" fmla="*/ 2147483647 w 744"/>
                <a:gd name="T5" fmla="*/ 2147483647 h 351"/>
                <a:gd name="T6" fmla="*/ 2147483647 w 744"/>
                <a:gd name="T7" fmla="*/ 2147483647 h 351"/>
                <a:gd name="T8" fmla="*/ 0 w 744"/>
                <a:gd name="T9" fmla="*/ 2147483647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4"/>
                <a:gd name="T16" fmla="*/ 0 h 351"/>
                <a:gd name="T17" fmla="*/ 744 w 744"/>
                <a:gd name="T18" fmla="*/ 351 h 3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4" h="351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64" name="Freeform 20"/>
            <p:cNvSpPr>
              <a:spLocks/>
            </p:cNvSpPr>
            <p:nvPr/>
          </p:nvSpPr>
          <p:spPr bwMode="auto">
            <a:xfrm>
              <a:off x="9061449" y="2127251"/>
              <a:ext cx="747712" cy="293688"/>
            </a:xfrm>
            <a:custGeom>
              <a:avLst/>
              <a:gdLst>
                <a:gd name="T0" fmla="*/ 2147483647 w 471"/>
                <a:gd name="T1" fmla="*/ 0 h 185"/>
                <a:gd name="T2" fmla="*/ 2147483647 w 471"/>
                <a:gd name="T3" fmla="*/ 2147483647 h 185"/>
                <a:gd name="T4" fmla="*/ 0 w 471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471"/>
                <a:gd name="T10" fmla="*/ 0 h 185"/>
                <a:gd name="T11" fmla="*/ 471 w 471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1" h="185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1436" tIns="45718" rIns="91436" bIns="45718"/>
            <a:lstStyle/>
            <a:p>
              <a:endParaRPr lang="vi-VN"/>
            </a:p>
          </p:txBody>
        </p:sp>
        <p:sp>
          <p:nvSpPr>
            <p:cNvPr id="31766" name="Text Box 22"/>
            <p:cNvSpPr txBox="1">
              <a:spLocks noChangeArrowheads="1"/>
            </p:cNvSpPr>
            <p:nvPr/>
          </p:nvSpPr>
          <p:spPr bwMode="auto">
            <a:xfrm>
              <a:off x="10299700" y="2495551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3</a:t>
              </a:r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10172700" y="2100263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2</a:t>
              </a:r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9972673" y="1722440"/>
              <a:ext cx="825500" cy="444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vi-VN"/>
                <a:t>c </a:t>
              </a:r>
              <a:r>
                <a:rPr lang="vi-VN">
                  <a:sym typeface="Symbol" pitchFamily="18" charset="2"/>
                </a:rPr>
                <a:t> 1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dụ: UCS môi trường rỗng</a:t>
            </a:r>
          </a:p>
        </p:txBody>
      </p:sp>
      <p:pic>
        <p:nvPicPr>
          <p:cNvPr id="3" name="Empty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0286" y="1143001"/>
            <a:ext cx="6351429" cy="532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2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2800"/>
              <a:t>Ví dụ: Deep/Shallow Water --- DFS, BFS, hay UCS? (3)</a:t>
            </a:r>
          </a:p>
        </p:txBody>
      </p:sp>
      <p:pic>
        <p:nvPicPr>
          <p:cNvPr id="2" name="MazeShallowDeep-D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2" y="1143001"/>
            <a:ext cx="721571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2800"/>
              <a:t>Ví dụ: Deep/Shallow Water --- DFS, BFS, hay UCS? (1)</a:t>
            </a:r>
          </a:p>
        </p:txBody>
      </p:sp>
      <p:pic>
        <p:nvPicPr>
          <p:cNvPr id="3" name="MazeShallowDeep-BF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93857" y="1151450"/>
            <a:ext cx="7204286" cy="532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/>
          <a:lstStyle/>
          <a:p>
            <a:r>
              <a:rPr lang="vi-VN" sz="2800"/>
              <a:t>Ví dụ: Deep/Shallow Water --- DFS, BFS, hay UCS? (2)</a:t>
            </a:r>
          </a:p>
        </p:txBody>
      </p:sp>
      <p:pic>
        <p:nvPicPr>
          <p:cNvPr id="2" name="MazeShallowDeep-UC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88143" y="1143001"/>
            <a:ext cx="7215715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4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887C-2C20-C449-5814-F63ABE75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C19C-AB63-4BAD-03FC-F24FA293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,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DFS, BFS, UCS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ở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“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“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mù</a:t>
            </a:r>
            <a:r>
              <a:rPr lang="en-US" dirty="0"/>
              <a:t>” (uninformed search)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34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7F1F-9D32-6978-59F6-910635D1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E7623-1B30-5201-EB9B-BA4E64109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DFS, BFS, UCS</a:t>
            </a:r>
          </a:p>
          <a:p>
            <a:r>
              <a:rPr lang="en-US" dirty="0"/>
              <a:t>Liên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UCS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Dijsktra</a:t>
            </a:r>
            <a:endParaRPr lang="en-US" dirty="0"/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chơi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ô </a:t>
            </a:r>
            <a:r>
              <a:rPr lang="en-US" dirty="0" err="1"/>
              <a:t>số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ECEF7E-FBE1-0605-0159-B8F5B943D447}"/>
              </a:ext>
            </a:extLst>
          </p:cNvPr>
          <p:cNvGrpSpPr/>
          <p:nvPr/>
        </p:nvGrpSpPr>
        <p:grpSpPr>
          <a:xfrm>
            <a:off x="1295400" y="3263958"/>
            <a:ext cx="9904053" cy="3365442"/>
            <a:chOff x="534618" y="838200"/>
            <a:chExt cx="11198235" cy="45846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BC0DCA5-1C4F-82A7-97F0-C3D8D2E0305F}"/>
                </a:ext>
              </a:extLst>
            </p:cNvPr>
            <p:cNvGrpSpPr/>
            <p:nvPr/>
          </p:nvGrpSpPr>
          <p:grpSpPr>
            <a:xfrm>
              <a:off x="3424733" y="838200"/>
              <a:ext cx="5338267" cy="4584642"/>
              <a:chOff x="6387246" y="1371600"/>
              <a:chExt cx="6033354" cy="5181600"/>
            </a:xfrm>
          </p:grpSpPr>
          <p:pic>
            <p:nvPicPr>
              <p:cNvPr id="5" name="Picture 2">
                <a:extLst>
                  <a:ext uri="{FF2B5EF4-FFF2-40B4-BE49-F238E27FC236}">
                    <a16:creationId xmlns:a16="http://schemas.microsoft.com/office/drawing/2014/main" id="{D7D2D2AD-83DB-7CFE-EB47-AB26E40C64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387246" y="1371600"/>
                <a:ext cx="5789731" cy="4838698"/>
              </a:xfrm>
              <a:prstGeom prst="rect">
                <a:avLst/>
              </a:prstGeom>
              <a:noFill/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43969F-2D02-50FC-6CC4-7C191C0F28FD}"/>
                  </a:ext>
                </a:extLst>
              </p:cNvPr>
              <p:cNvSpPr/>
              <p:nvPr/>
            </p:nvSpPr>
            <p:spPr>
              <a:xfrm>
                <a:off x="10515600" y="4724400"/>
                <a:ext cx="1905000" cy="1828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73384EC8-9206-270A-8D1C-61A19EAD65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4618" y="1220185"/>
              <a:ext cx="2969363" cy="2543429"/>
            </a:xfrm>
            <a:prstGeom prst="rect">
              <a:avLst/>
            </a:prstGeom>
            <a:noFill/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96DC1CAA-327C-ECE3-A85B-547622467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688745" y="1219462"/>
              <a:ext cx="3044108" cy="25448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046642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err="1" smtClean="0"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1 -- introduction</Template>
  <TotalTime>38120</TotalTime>
  <Words>2808</Words>
  <Application>Microsoft Office PowerPoint</Application>
  <PresentationFormat>Widescreen</PresentationFormat>
  <Paragraphs>616</Paragraphs>
  <Slides>45</Slides>
  <Notes>13</Notes>
  <HiddenSlides>0</HiddenSlides>
  <MMClips>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ＭＳ ゴシック</vt:lpstr>
      <vt:lpstr>Arial</vt:lpstr>
      <vt:lpstr>Calibri</vt:lpstr>
      <vt:lpstr>Symbol</vt:lpstr>
      <vt:lpstr>Times New Roman</vt:lpstr>
      <vt:lpstr>Wingdings</vt:lpstr>
      <vt:lpstr>dan-berkeley-nlp-v1</vt:lpstr>
      <vt:lpstr>1_dan-berkeley-nlp-v1</vt:lpstr>
      <vt:lpstr>AIT2004: Cơ sở Trí tuệ nhân tạo </vt:lpstr>
      <vt:lpstr>Học liệu</vt:lpstr>
      <vt:lpstr>Bài toán tìm kiếm</vt:lpstr>
      <vt:lpstr>Bài toán tìm kiếm</vt:lpstr>
      <vt:lpstr>Ví dụ: cờ ca rô</vt:lpstr>
      <vt:lpstr>Ví dụ: Trò chơi đẩy ô số</vt:lpstr>
      <vt:lpstr>Ví dụ: Lật chồng bánh pancake</vt:lpstr>
      <vt:lpstr>Ví dụ: Du lịch Romania</vt:lpstr>
      <vt:lpstr>Không gian trạng thái</vt:lpstr>
      <vt:lpstr>Kích thước của không gian trạng thái</vt:lpstr>
      <vt:lpstr>Bài tập: Đường đi an toàn</vt:lpstr>
      <vt:lpstr>Đồ thị không gian trạng thái và cây tìm kiếm</vt:lpstr>
      <vt:lpstr>Đồ thị không gian trạng thái</vt:lpstr>
      <vt:lpstr>Đồ thị không gian trạng thái</vt:lpstr>
      <vt:lpstr>Ví dụ: Lật chồng bánh pancake</vt:lpstr>
      <vt:lpstr>Cây tìm kiếm</vt:lpstr>
      <vt:lpstr>Đồ thị không gian trạng thái ≠ Cây tìm kiếm</vt:lpstr>
      <vt:lpstr>Đồ thị không gian trạng thái ≠ Cây tìm kiếm</vt:lpstr>
      <vt:lpstr>Ví dụ: Du lịch Romania</vt:lpstr>
      <vt:lpstr>Cây tìm kiếm</vt:lpstr>
      <vt:lpstr>Thuật toán tìm kiếm tổng quát</vt:lpstr>
      <vt:lpstr>Thuật toán tìm kiếm tổng quát</vt:lpstr>
      <vt:lpstr>Các chiến lược tìm kiếm (khám phá)</vt:lpstr>
      <vt:lpstr>Tìm kiếm theo chiều sâu (DFS)</vt:lpstr>
      <vt:lpstr>Tìm kiếm theo chiều sâu (DFS)</vt:lpstr>
      <vt:lpstr>Các tính chất của thuật toán tìm kiếm</vt:lpstr>
      <vt:lpstr>Tính chất của DFS</vt:lpstr>
      <vt:lpstr>Tìm kiếm theo chiều rộng (BFS)</vt:lpstr>
      <vt:lpstr>Tìm kiếm theo chiều rộng (BFS)</vt:lpstr>
      <vt:lpstr>Tính chất của BFS</vt:lpstr>
      <vt:lpstr>So sánh: DFS và BFS</vt:lpstr>
      <vt:lpstr>Ví dụ: Maze Water DFS/BFS (part 1)</vt:lpstr>
      <vt:lpstr>Ví dụ: Maze Water DFS/BFS (part 2)</vt:lpstr>
      <vt:lpstr>Tìm kiếm độ sâu tăng dần Iterative deepening search – IDS</vt:lpstr>
      <vt:lpstr>Tìm kiếm dựa trên chi phí</vt:lpstr>
      <vt:lpstr>Tìm kiếm Chi phí đều Uniform cost search - UCS</vt:lpstr>
      <vt:lpstr>Tìm kiếm Chi phí đều (UCS)</vt:lpstr>
      <vt:lpstr>Tính chất của UCS</vt:lpstr>
      <vt:lpstr>Các vấn đề của UCS</vt:lpstr>
      <vt:lpstr>Ví dụ: UCS môi trường rỗng</vt:lpstr>
      <vt:lpstr>Ví dụ: Deep/Shallow Water --- DFS, BFS, hay UCS? (3)</vt:lpstr>
      <vt:lpstr>Ví dụ: Deep/Shallow Water --- DFS, BFS, hay UCS? (1)</vt:lpstr>
      <vt:lpstr>Ví dụ: Deep/Shallow Water --- DFS, BFS, hay UCS? (2)</vt:lpstr>
      <vt:lpstr>Tổng kết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Nguyễn Việt Hà</cp:lastModifiedBy>
  <cp:revision>2030</cp:revision>
  <cp:lastPrinted>2025-09-08T02:06:10Z</cp:lastPrinted>
  <dcterms:created xsi:type="dcterms:W3CDTF">2004-08-27T04:16:05Z</dcterms:created>
  <dcterms:modified xsi:type="dcterms:W3CDTF">2025-09-11T05:22:28Z</dcterms:modified>
</cp:coreProperties>
</file>