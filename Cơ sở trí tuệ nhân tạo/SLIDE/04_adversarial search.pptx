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9.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5" r:id="rId1"/>
  </p:sldMasterIdLst>
  <p:notesMasterIdLst>
    <p:notesMasterId r:id="rId45"/>
  </p:notesMasterIdLst>
  <p:handoutMasterIdLst>
    <p:handoutMasterId r:id="rId46"/>
  </p:handoutMasterIdLst>
  <p:sldIdLst>
    <p:sldId id="729" r:id="rId2"/>
    <p:sldId id="327" r:id="rId3"/>
    <p:sldId id="661" r:id="rId4"/>
    <p:sldId id="768" r:id="rId5"/>
    <p:sldId id="660" r:id="rId6"/>
    <p:sldId id="662" r:id="rId7"/>
    <p:sldId id="694" r:id="rId8"/>
    <p:sldId id="748" r:id="rId9"/>
    <p:sldId id="733" r:id="rId10"/>
    <p:sldId id="741" r:id="rId11"/>
    <p:sldId id="742" r:id="rId12"/>
    <p:sldId id="734" r:id="rId13"/>
    <p:sldId id="743" r:id="rId14"/>
    <p:sldId id="667" r:id="rId15"/>
    <p:sldId id="716" r:id="rId16"/>
    <p:sldId id="717" r:id="rId17"/>
    <p:sldId id="744" r:id="rId18"/>
    <p:sldId id="735" r:id="rId19"/>
    <p:sldId id="749" r:id="rId20"/>
    <p:sldId id="736" r:id="rId21"/>
    <p:sldId id="745" r:id="rId22"/>
    <p:sldId id="811" r:id="rId23"/>
    <p:sldId id="812" r:id="rId24"/>
    <p:sldId id="813" r:id="rId25"/>
    <p:sldId id="814" r:id="rId26"/>
    <p:sldId id="820" r:id="rId27"/>
    <p:sldId id="723" r:id="rId28"/>
    <p:sldId id="821" r:id="rId29"/>
    <p:sldId id="829" r:id="rId30"/>
    <p:sldId id="830" r:id="rId31"/>
    <p:sldId id="727" r:id="rId32"/>
    <p:sldId id="769" r:id="rId33"/>
    <p:sldId id="648" r:id="rId34"/>
    <p:sldId id="715" r:id="rId35"/>
    <p:sldId id="751" r:id="rId36"/>
    <p:sldId id="831" r:id="rId37"/>
    <p:sldId id="649" r:id="rId38"/>
    <p:sldId id="682" r:id="rId39"/>
    <p:sldId id="752" r:id="rId40"/>
    <p:sldId id="770" r:id="rId41"/>
    <p:sldId id="746" r:id="rId42"/>
    <p:sldId id="714" r:id="rId43"/>
    <p:sldId id="832" r:id="rId44"/>
  </p:sldIdLst>
  <p:sldSz cx="12192000" cy="6858000"/>
  <p:notesSz cx="7315200" cy="9601200"/>
  <p:custDataLst>
    <p:tags r:id="rId47"/>
  </p:custDataLst>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99"/>
    <a:srgbClr val="CCECFF"/>
    <a:srgbClr val="C39BE1"/>
    <a:srgbClr val="C198E0"/>
    <a:srgbClr val="0066CC"/>
    <a:srgbClr val="BD92DE"/>
    <a:srgbClr val="BEE395"/>
    <a:srgbClr val="3399FF"/>
    <a:srgbClr val="FF33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533AE0-5B1F-F749-A781-2022F7252830}" v="2697" dt="2023-02-04T05:00:59.3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731" autoAdjust="0"/>
    <p:restoredTop sz="86406" autoAdjust="0"/>
  </p:normalViewPr>
  <p:slideViewPr>
    <p:cSldViewPr>
      <p:cViewPr varScale="1">
        <p:scale>
          <a:sx n="61" d="100"/>
          <a:sy n="61" d="100"/>
        </p:scale>
        <p:origin x="776" y="32"/>
      </p:cViewPr>
      <p:guideLst>
        <p:guide orient="horz" pos="2160"/>
        <p:guide pos="2880"/>
      </p:guideLst>
    </p:cSldViewPr>
  </p:slideViewPr>
  <p:outlineViewPr>
    <p:cViewPr>
      <p:scale>
        <a:sx n="33" d="100"/>
        <a:sy n="33" d="100"/>
      </p:scale>
      <p:origin x="0" y="-16904"/>
    </p:cViewPr>
  </p:outlineViewPr>
  <p:notesTextViewPr>
    <p:cViewPr>
      <p:scale>
        <a:sx n="100" d="100"/>
        <a:sy n="100" d="100"/>
      </p:scale>
      <p:origin x="0" y="0"/>
    </p:cViewPr>
  </p:notesTextViewPr>
  <p:sorterViewPr>
    <p:cViewPr>
      <p:scale>
        <a:sx n="75" d="100"/>
        <a:sy n="75" d="100"/>
      </p:scale>
      <p:origin x="0" y="-858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gs" Target="tags/tag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ng Tran" userId="e540d250-70c7-4be3-b4a2-b5ecbc3dd049" providerId="ADAL" clId="{49533AE0-5B1F-F749-A781-2022F7252830}"/>
    <pc:docChg chg="modSld">
      <pc:chgData name="Long Tran" userId="e540d250-70c7-4be3-b4a2-b5ecbc3dd049" providerId="ADAL" clId="{49533AE0-5B1F-F749-A781-2022F7252830}" dt="2023-02-04T05:00:59.321" v="69" actId="20577"/>
      <pc:docMkLst>
        <pc:docMk/>
      </pc:docMkLst>
      <pc:sldChg chg="modSp">
        <pc:chgData name="Long Tran" userId="e540d250-70c7-4be3-b4a2-b5ecbc3dd049" providerId="ADAL" clId="{49533AE0-5B1F-F749-A781-2022F7252830}" dt="2023-02-04T05:00:40.144" v="48" actId="20577"/>
        <pc:sldMkLst>
          <pc:docMk/>
          <pc:sldMk cId="0" sldId="648"/>
        </pc:sldMkLst>
        <pc:spChg chg="mod">
          <ac:chgData name="Long Tran" userId="e540d250-70c7-4be3-b4a2-b5ecbc3dd049" providerId="ADAL" clId="{49533AE0-5B1F-F749-A781-2022F7252830}" dt="2023-02-04T05:00:40.144" v="48" actId="20577"/>
          <ac:spMkLst>
            <pc:docMk/>
            <pc:sldMk cId="0" sldId="648"/>
            <ac:spMk id="17411" creationId="{00000000-0000-0000-0000-000000000000}"/>
          </ac:spMkLst>
        </pc:spChg>
      </pc:sldChg>
      <pc:sldChg chg="modSp">
        <pc:chgData name="Long Tran" userId="e540d250-70c7-4be3-b4a2-b5ecbc3dd049" providerId="ADAL" clId="{49533AE0-5B1F-F749-A781-2022F7252830}" dt="2023-02-04T05:00:10.545" v="9" actId="20577"/>
        <pc:sldMkLst>
          <pc:docMk/>
          <pc:sldMk cId="0" sldId="694"/>
        </pc:sldMkLst>
        <pc:spChg chg="mod">
          <ac:chgData name="Long Tran" userId="e540d250-70c7-4be3-b4a2-b5ecbc3dd049" providerId="ADAL" clId="{49533AE0-5B1F-F749-A781-2022F7252830}" dt="2023-02-04T05:00:10.545" v="9" actId="20577"/>
          <ac:spMkLst>
            <pc:docMk/>
            <pc:sldMk cId="0" sldId="694"/>
            <ac:spMk id="10243" creationId="{00000000-0000-0000-0000-000000000000}"/>
          </ac:spMkLst>
        </pc:spChg>
      </pc:sldChg>
      <pc:sldChg chg="modSp">
        <pc:chgData name="Long Tran" userId="e540d250-70c7-4be3-b4a2-b5ecbc3dd049" providerId="ADAL" clId="{49533AE0-5B1F-F749-A781-2022F7252830}" dt="2023-02-04T05:00:59.321" v="69" actId="20577"/>
        <pc:sldMkLst>
          <pc:docMk/>
          <pc:sldMk cId="0" sldId="748"/>
        </pc:sldMkLst>
        <pc:spChg chg="mod">
          <ac:chgData name="Long Tran" userId="e540d250-70c7-4be3-b4a2-b5ecbc3dd049" providerId="ADAL" clId="{49533AE0-5B1F-F749-A781-2022F7252830}" dt="2023-02-04T05:00:59.321" v="69" actId="20577"/>
          <ac:spMkLst>
            <pc:docMk/>
            <pc:sldMk cId="0" sldId="748"/>
            <ac:spMk id="8" creationId="{00000000-0000-0000-0000-000000000000}"/>
          </ac:spMkLst>
        </pc:spChg>
        <pc:spChg chg="mod">
          <ac:chgData name="Long Tran" userId="e540d250-70c7-4be3-b4a2-b5ecbc3dd049" providerId="ADAL" clId="{49533AE0-5B1F-F749-A781-2022F7252830}" dt="2023-02-04T05:00:53.835" v="58" actId="20577"/>
          <ac:spMkLst>
            <pc:docMk/>
            <pc:sldMk cId="0" sldId="748"/>
            <ac:spMk id="9"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9378" name="Rectangle 2"/>
          <p:cNvSpPr>
            <a:spLocks noGrp="1" noChangeArrowheads="1"/>
          </p:cNvSpPr>
          <p:nvPr>
            <p:ph type="hdr" sz="quarter"/>
          </p:nvPr>
        </p:nvSpPr>
        <p:spPr bwMode="auto">
          <a:xfrm>
            <a:off x="1" y="0"/>
            <a:ext cx="3170138" cy="479539"/>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a:defRPr sz="1300">
                <a:latin typeface="Arial" pitchFamily="34" charset="0"/>
              </a:defRPr>
            </a:lvl1pPr>
          </a:lstStyle>
          <a:p>
            <a:pPr>
              <a:defRPr/>
            </a:pPr>
            <a:endParaRPr lang="en-US"/>
          </a:p>
        </p:txBody>
      </p:sp>
      <p:sp>
        <p:nvSpPr>
          <p:cNvPr id="229379" name="Rectangle 3"/>
          <p:cNvSpPr>
            <a:spLocks noGrp="1" noChangeArrowheads="1"/>
          </p:cNvSpPr>
          <p:nvPr>
            <p:ph type="dt" sz="quarter" idx="1"/>
          </p:nvPr>
        </p:nvSpPr>
        <p:spPr bwMode="auto">
          <a:xfrm>
            <a:off x="4143427" y="0"/>
            <a:ext cx="3170138" cy="479539"/>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defRPr sz="1300">
                <a:latin typeface="Arial" pitchFamily="34" charset="0"/>
              </a:defRPr>
            </a:lvl1pPr>
          </a:lstStyle>
          <a:p>
            <a:pPr>
              <a:defRPr/>
            </a:pPr>
            <a:endParaRPr lang="en-US"/>
          </a:p>
        </p:txBody>
      </p:sp>
      <p:sp>
        <p:nvSpPr>
          <p:cNvPr id="229380" name="Rectangle 4"/>
          <p:cNvSpPr>
            <a:spLocks noGrp="1" noChangeArrowheads="1"/>
          </p:cNvSpPr>
          <p:nvPr>
            <p:ph type="ftr" sz="quarter" idx="2"/>
          </p:nvPr>
        </p:nvSpPr>
        <p:spPr bwMode="auto">
          <a:xfrm>
            <a:off x="1" y="9120172"/>
            <a:ext cx="3170138" cy="479539"/>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a:defRPr sz="1300">
                <a:latin typeface="Arial" pitchFamily="34" charset="0"/>
              </a:defRPr>
            </a:lvl1pPr>
          </a:lstStyle>
          <a:p>
            <a:pPr>
              <a:defRPr/>
            </a:pPr>
            <a:endParaRPr lang="en-US"/>
          </a:p>
        </p:txBody>
      </p:sp>
      <p:sp>
        <p:nvSpPr>
          <p:cNvPr id="229381" name="Rectangle 5"/>
          <p:cNvSpPr>
            <a:spLocks noGrp="1" noChangeArrowheads="1"/>
          </p:cNvSpPr>
          <p:nvPr>
            <p:ph type="sldNum" sz="quarter" idx="3"/>
          </p:nvPr>
        </p:nvSpPr>
        <p:spPr bwMode="auto">
          <a:xfrm>
            <a:off x="4143427" y="9120172"/>
            <a:ext cx="3170138" cy="479539"/>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a:latin typeface="Arial" pitchFamily="34" charset="0"/>
              </a:defRPr>
            </a:lvl1pPr>
          </a:lstStyle>
          <a:p>
            <a:pPr>
              <a:defRPr/>
            </a:pPr>
            <a:fld id="{963147F5-8EB9-406F-9119-AB0022D58130}" type="slidenum">
              <a:rPr lang="en-US"/>
              <a:pPr>
                <a:defRPr/>
              </a:pPr>
              <a:t>‹#›</a:t>
            </a:fld>
            <a:endParaRPr lang="en-US"/>
          </a:p>
        </p:txBody>
      </p:sp>
    </p:spTree>
    <p:extLst>
      <p:ext uri="{BB962C8B-B14F-4D97-AF65-F5344CB8AC3E}">
        <p14:creationId xmlns:p14="http://schemas.microsoft.com/office/powerpoint/2010/main" val="1935652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3058" name="Rectangle 2"/>
          <p:cNvSpPr>
            <a:spLocks noGrp="1" noChangeArrowheads="1"/>
          </p:cNvSpPr>
          <p:nvPr>
            <p:ph type="hdr" sz="quarter"/>
          </p:nvPr>
        </p:nvSpPr>
        <p:spPr bwMode="auto">
          <a:xfrm>
            <a:off x="1" y="0"/>
            <a:ext cx="3170138" cy="479539"/>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a:defRPr sz="1300">
                <a:latin typeface="Arial" pitchFamily="34" charset="0"/>
              </a:defRPr>
            </a:lvl1pPr>
          </a:lstStyle>
          <a:p>
            <a:pPr>
              <a:defRPr/>
            </a:pPr>
            <a:endParaRPr lang="en-US"/>
          </a:p>
        </p:txBody>
      </p:sp>
      <p:sp>
        <p:nvSpPr>
          <p:cNvPr id="173059" name="Rectangle 3"/>
          <p:cNvSpPr>
            <a:spLocks noGrp="1" noChangeArrowheads="1"/>
          </p:cNvSpPr>
          <p:nvPr>
            <p:ph type="dt" idx="1"/>
          </p:nvPr>
        </p:nvSpPr>
        <p:spPr bwMode="auto">
          <a:xfrm>
            <a:off x="4143427" y="0"/>
            <a:ext cx="3170138" cy="479539"/>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defRPr sz="1300">
                <a:latin typeface="Arial" pitchFamily="34" charset="0"/>
              </a:defRPr>
            </a:lvl1pPr>
          </a:lstStyle>
          <a:p>
            <a:pPr>
              <a:defRPr/>
            </a:pPr>
            <a:endParaRPr lang="en-US"/>
          </a:p>
        </p:txBody>
      </p:sp>
      <p:sp>
        <p:nvSpPr>
          <p:cNvPr id="55300" name="Rectangle 4"/>
          <p:cNvSpPr>
            <a:spLocks noGrp="1" noRot="1" noChangeAspect="1" noChangeArrowheads="1" noTextEdit="1"/>
          </p:cNvSpPr>
          <p:nvPr>
            <p:ph type="sldImg" idx="2"/>
          </p:nvPr>
        </p:nvSpPr>
        <p:spPr bwMode="auto">
          <a:xfrm>
            <a:off x="457200" y="720725"/>
            <a:ext cx="6400800" cy="3600450"/>
          </a:xfrm>
          <a:prstGeom prst="rect">
            <a:avLst/>
          </a:prstGeom>
          <a:noFill/>
          <a:ln w="9525">
            <a:solidFill>
              <a:srgbClr val="000000"/>
            </a:solidFill>
            <a:miter lim="800000"/>
            <a:headEnd/>
            <a:tailEnd/>
          </a:ln>
        </p:spPr>
      </p:sp>
      <p:sp>
        <p:nvSpPr>
          <p:cNvPr id="173061" name="Rectangle 5"/>
          <p:cNvSpPr>
            <a:spLocks noGrp="1" noChangeArrowheads="1"/>
          </p:cNvSpPr>
          <p:nvPr>
            <p:ph type="body" sz="quarter" idx="3"/>
          </p:nvPr>
        </p:nvSpPr>
        <p:spPr bwMode="auto">
          <a:xfrm>
            <a:off x="731194" y="4561576"/>
            <a:ext cx="5852814" cy="431882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3062" name="Rectangle 6"/>
          <p:cNvSpPr>
            <a:spLocks noGrp="1" noChangeArrowheads="1"/>
          </p:cNvSpPr>
          <p:nvPr>
            <p:ph type="ftr" sz="quarter" idx="4"/>
          </p:nvPr>
        </p:nvSpPr>
        <p:spPr bwMode="auto">
          <a:xfrm>
            <a:off x="1" y="9120172"/>
            <a:ext cx="3170138" cy="479539"/>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a:defRPr sz="1300">
                <a:latin typeface="Arial" pitchFamily="34" charset="0"/>
              </a:defRPr>
            </a:lvl1pPr>
          </a:lstStyle>
          <a:p>
            <a:pPr>
              <a:defRPr/>
            </a:pPr>
            <a:endParaRPr lang="en-US"/>
          </a:p>
        </p:txBody>
      </p:sp>
      <p:sp>
        <p:nvSpPr>
          <p:cNvPr id="173063" name="Rectangle 7"/>
          <p:cNvSpPr>
            <a:spLocks noGrp="1" noChangeArrowheads="1"/>
          </p:cNvSpPr>
          <p:nvPr>
            <p:ph type="sldNum" sz="quarter" idx="5"/>
          </p:nvPr>
        </p:nvSpPr>
        <p:spPr bwMode="auto">
          <a:xfrm>
            <a:off x="4143427" y="9120172"/>
            <a:ext cx="3170138" cy="479539"/>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a:latin typeface="Arial" pitchFamily="34" charset="0"/>
              </a:defRPr>
            </a:lvl1pPr>
          </a:lstStyle>
          <a:p>
            <a:pPr>
              <a:defRPr/>
            </a:pPr>
            <a:fld id="{AF4042F3-6AC5-4F69-BFDB-D78DEF38750B}" type="slidenum">
              <a:rPr lang="en-US"/>
              <a:pPr>
                <a:defRPr/>
              </a:pPr>
              <a:t>‹#›</a:t>
            </a:fld>
            <a:endParaRPr lang="en-US"/>
          </a:p>
        </p:txBody>
      </p:sp>
    </p:spTree>
    <p:extLst>
      <p:ext uri="{BB962C8B-B14F-4D97-AF65-F5344CB8AC3E}">
        <p14:creationId xmlns:p14="http://schemas.microsoft.com/office/powerpoint/2010/main" val="25586285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F4042F3-6AC5-4F69-BFDB-D78DEF38750B}" type="slidenum">
              <a:rPr lang="en-US" smtClean="0"/>
              <a:pPr>
                <a:defRPr/>
              </a:pPr>
              <a:t>1</a:t>
            </a:fld>
            <a:endParaRPr lang="en-US"/>
          </a:p>
        </p:txBody>
      </p:sp>
    </p:spTree>
    <p:extLst>
      <p:ext uri="{BB962C8B-B14F-4D97-AF65-F5344CB8AC3E}">
        <p14:creationId xmlns:p14="http://schemas.microsoft.com/office/powerpoint/2010/main" val="40496127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66788" rtl="0" eaLnBrk="1" fontAlgn="base" latinLnBrk="0" hangingPunct="1">
              <a:lnSpc>
                <a:spcPct val="100000"/>
              </a:lnSpc>
              <a:spcBef>
                <a:spcPct val="0"/>
              </a:spcBef>
              <a:spcAft>
                <a:spcPct val="0"/>
              </a:spcAft>
              <a:buClrTx/>
              <a:buSzTx/>
              <a:buFontTx/>
              <a:buNone/>
              <a:tabLst/>
              <a:defRPr/>
            </a:pPr>
            <a:fld id="{951F94F5-58D1-42ED-AB38-DD97D2E49478}" type="slidenum">
              <a:rPr kumimoji="0" lang="en-US" sz="13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66788" rtl="0" eaLnBrk="1" fontAlgn="base" latinLnBrk="0" hangingPunct="1">
                <a:lnSpc>
                  <a:spcPct val="100000"/>
                </a:lnSpc>
                <a:spcBef>
                  <a:spcPct val="0"/>
                </a:spcBef>
                <a:spcAft>
                  <a:spcPct val="0"/>
                </a:spcAft>
                <a:buClrTx/>
                <a:buSzTx/>
                <a:buFontTx/>
                <a:buNone/>
                <a:tabLst/>
                <a:defRPr/>
              </a:pPr>
              <a:t>2</a:t>
            </a:fld>
            <a:endParaRPr kumimoji="0" lang="en-US" sz="13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9407704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8F739287-BF7B-4F04-882C-B3B23CA70729}" type="slidenum">
              <a:rPr lang="en-US" smtClean="0">
                <a:latin typeface="Arial" charset="0"/>
              </a:rPr>
              <a:pPr/>
              <a:t>3</a:t>
            </a:fld>
            <a:endParaRPr lang="en-US">
              <a:latin typeface="Arial" charset="0"/>
            </a:endParaRPr>
          </a:p>
        </p:txBody>
      </p:sp>
      <p:sp>
        <p:nvSpPr>
          <p:cNvPr id="56323" name="Rectangle 2"/>
          <p:cNvSpPr>
            <a:spLocks noGrp="1" noRot="1" noChangeAspect="1" noChangeArrowheads="1" noTextEdit="1"/>
          </p:cNvSpPr>
          <p:nvPr>
            <p:ph type="sldImg"/>
          </p:nvPr>
        </p:nvSpPr>
        <p:spPr>
          <a:xfrm>
            <a:off x="457200" y="720725"/>
            <a:ext cx="6400800" cy="3600450"/>
          </a:xfrm>
          <a:ln/>
        </p:spPr>
      </p:sp>
      <p:sp>
        <p:nvSpPr>
          <p:cNvPr id="56324" name="Rectangle 3"/>
          <p:cNvSpPr>
            <a:spLocks noGrp="1" noChangeArrowheads="1"/>
          </p:cNvSpPr>
          <p:nvPr>
            <p:ph type="body" idx="1"/>
          </p:nvPr>
        </p:nvSpPr>
        <p:spPr>
          <a:xfrm>
            <a:off x="974924" y="4561576"/>
            <a:ext cx="5365352" cy="4318827"/>
          </a:xfrm>
          <a:noFill/>
          <a:ln/>
        </p:spPr>
        <p:txBody>
          <a:bodyPr/>
          <a:lstStyle/>
          <a:p>
            <a:pPr eaLnBrk="1" hangingPunct="1"/>
            <a:endParaRPr lang="en-US" dirty="0">
              <a:latin typeface="Arial"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8F739287-BF7B-4F04-882C-B3B23CA70729}" type="slidenum">
              <a:rPr lang="en-US" smtClean="0">
                <a:latin typeface="Arial" charset="0"/>
              </a:rPr>
              <a:pPr/>
              <a:t>4</a:t>
            </a:fld>
            <a:endParaRPr lang="en-US">
              <a:latin typeface="Arial" charset="0"/>
            </a:endParaRPr>
          </a:p>
        </p:txBody>
      </p:sp>
      <p:sp>
        <p:nvSpPr>
          <p:cNvPr id="56323" name="Rectangle 2"/>
          <p:cNvSpPr>
            <a:spLocks noGrp="1" noRot="1" noChangeAspect="1" noChangeArrowheads="1" noTextEdit="1"/>
          </p:cNvSpPr>
          <p:nvPr>
            <p:ph type="sldImg"/>
          </p:nvPr>
        </p:nvSpPr>
        <p:spPr>
          <a:xfrm>
            <a:off x="457200" y="720725"/>
            <a:ext cx="6400800" cy="3600450"/>
          </a:xfrm>
          <a:ln/>
        </p:spPr>
      </p:sp>
      <p:sp>
        <p:nvSpPr>
          <p:cNvPr id="56324" name="Rectangle 3"/>
          <p:cNvSpPr>
            <a:spLocks noGrp="1" noChangeArrowheads="1"/>
          </p:cNvSpPr>
          <p:nvPr>
            <p:ph type="body" idx="1"/>
          </p:nvPr>
        </p:nvSpPr>
        <p:spPr>
          <a:xfrm>
            <a:off x="974924" y="4561576"/>
            <a:ext cx="5365352" cy="4318827"/>
          </a:xfrm>
          <a:noFill/>
          <a:ln/>
        </p:spPr>
        <p:txBody>
          <a:bodyPr/>
          <a:lstStyle/>
          <a:p>
            <a:pPr eaLnBrk="1" hangingPunct="1"/>
            <a:endParaRPr lang="en-US" dirty="0">
              <a:latin typeface="Arial" charset="0"/>
            </a:endParaRPr>
          </a:p>
        </p:txBody>
      </p:sp>
    </p:spTree>
    <p:extLst>
      <p:ext uri="{BB962C8B-B14F-4D97-AF65-F5344CB8AC3E}">
        <p14:creationId xmlns:p14="http://schemas.microsoft.com/office/powerpoint/2010/main" val="39736978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04C31169-8967-4479-BD8E-A9DFFFA5AB03}" type="slidenum">
              <a:rPr lang="en-US" smtClean="0">
                <a:latin typeface="Arial" charset="0"/>
              </a:rPr>
              <a:pPr/>
              <a:t>6</a:t>
            </a:fld>
            <a:endParaRPr lang="en-US">
              <a:latin typeface="Arial" charset="0"/>
            </a:endParaRPr>
          </a:p>
        </p:txBody>
      </p:sp>
      <p:sp>
        <p:nvSpPr>
          <p:cNvPr id="57347" name="Rectangle 2"/>
          <p:cNvSpPr>
            <a:spLocks noGrp="1" noRot="1" noChangeAspect="1" noChangeArrowheads="1" noTextEdit="1"/>
          </p:cNvSpPr>
          <p:nvPr>
            <p:ph type="sldImg"/>
          </p:nvPr>
        </p:nvSpPr>
        <p:spPr>
          <a:xfrm>
            <a:off x="457200" y="720725"/>
            <a:ext cx="6400800" cy="3600450"/>
          </a:xfrm>
          <a:ln/>
        </p:spPr>
      </p:sp>
      <p:sp>
        <p:nvSpPr>
          <p:cNvPr id="57348" name="Rectangle 3"/>
          <p:cNvSpPr>
            <a:spLocks noGrp="1" noChangeArrowheads="1"/>
          </p:cNvSpPr>
          <p:nvPr>
            <p:ph type="body" idx="1"/>
          </p:nvPr>
        </p:nvSpPr>
        <p:spPr>
          <a:xfrm>
            <a:off x="974924" y="4561576"/>
            <a:ext cx="5365352" cy="4318827"/>
          </a:xfrm>
          <a:noFill/>
          <a:ln/>
        </p:spPr>
        <p:txBody>
          <a:bodyPr/>
          <a:lstStyle/>
          <a:p>
            <a:pPr eaLnBrk="1" hangingPunct="1"/>
            <a:endParaRPr lang="en-US" dirty="0">
              <a:latin typeface="Arial"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4042F3-6AC5-4F69-BFDB-D78DEF38750B}" type="slidenum">
              <a:rPr lang="en-US" smtClean="0"/>
              <a:pPr>
                <a:defRPr/>
              </a:pPr>
              <a:t>7</a:t>
            </a:fld>
            <a:endParaRPr lang="en-US"/>
          </a:p>
        </p:txBody>
      </p:sp>
    </p:spTree>
    <p:extLst>
      <p:ext uri="{BB962C8B-B14F-4D97-AF65-F5344CB8AC3E}">
        <p14:creationId xmlns:p14="http://schemas.microsoft.com/office/powerpoint/2010/main" val="41294828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4042F3-6AC5-4F69-BFDB-D78DEF38750B}" type="slidenum">
              <a:rPr lang="en-US" smtClean="0"/>
              <a:pPr>
                <a:defRPr/>
              </a:pPr>
              <a:t>8</a:t>
            </a:fld>
            <a:endParaRPr lang="en-US"/>
          </a:p>
        </p:txBody>
      </p:sp>
    </p:spTree>
    <p:extLst>
      <p:ext uri="{BB962C8B-B14F-4D97-AF65-F5344CB8AC3E}">
        <p14:creationId xmlns:p14="http://schemas.microsoft.com/office/powerpoint/2010/main" val="20197949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4042F3-6AC5-4F69-BFDB-D78DEF38750B}" type="slidenum">
              <a:rPr lang="en-US" smtClean="0"/>
              <a:pPr>
                <a:defRPr/>
              </a:pPr>
              <a:t>9</a:t>
            </a:fld>
            <a:endParaRPr lang="en-US"/>
          </a:p>
        </p:txBody>
      </p:sp>
    </p:spTree>
    <p:extLst>
      <p:ext uri="{BB962C8B-B14F-4D97-AF65-F5344CB8AC3E}">
        <p14:creationId xmlns:p14="http://schemas.microsoft.com/office/powerpoint/2010/main" val="22340770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4042F3-6AC5-4F69-BFDB-D78DEF38750B}" type="slidenum">
              <a:rPr lang="en-US" smtClean="0"/>
              <a:pPr>
                <a:defRPr/>
              </a:pPr>
              <a:t>10</a:t>
            </a:fld>
            <a:endParaRPr lang="en-US"/>
          </a:p>
        </p:txBody>
      </p:sp>
    </p:spTree>
    <p:extLst>
      <p:ext uri="{BB962C8B-B14F-4D97-AF65-F5344CB8AC3E}">
        <p14:creationId xmlns:p14="http://schemas.microsoft.com/office/powerpoint/2010/main" val="27246843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4042F3-6AC5-4F69-BFDB-D78DEF38750B}" type="slidenum">
              <a:rPr lang="en-US" smtClean="0"/>
              <a:pPr>
                <a:defRPr/>
              </a:pPr>
              <a:t>11</a:t>
            </a:fld>
            <a:endParaRPr lang="en-US"/>
          </a:p>
        </p:txBody>
      </p:sp>
    </p:spTree>
    <p:extLst>
      <p:ext uri="{BB962C8B-B14F-4D97-AF65-F5344CB8AC3E}">
        <p14:creationId xmlns:p14="http://schemas.microsoft.com/office/powerpoint/2010/main" val="24421976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4042F3-6AC5-4F69-BFDB-D78DEF38750B}" type="slidenum">
              <a:rPr lang="en-US" smtClean="0"/>
              <a:pPr>
                <a:defRPr/>
              </a:pPr>
              <a:t>12</a:t>
            </a:fld>
            <a:endParaRPr lang="en-US"/>
          </a:p>
        </p:txBody>
      </p:sp>
    </p:spTree>
    <p:extLst>
      <p:ext uri="{BB962C8B-B14F-4D97-AF65-F5344CB8AC3E}">
        <p14:creationId xmlns:p14="http://schemas.microsoft.com/office/powerpoint/2010/main" val="5675066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4042F3-6AC5-4F69-BFDB-D78DEF38750B}" type="slidenum">
              <a:rPr lang="en-US" smtClean="0"/>
              <a:pPr>
                <a:defRPr/>
              </a:pPr>
              <a:t>13</a:t>
            </a:fld>
            <a:endParaRPr lang="en-US"/>
          </a:p>
        </p:txBody>
      </p:sp>
    </p:spTree>
    <p:extLst>
      <p:ext uri="{BB962C8B-B14F-4D97-AF65-F5344CB8AC3E}">
        <p14:creationId xmlns:p14="http://schemas.microsoft.com/office/powerpoint/2010/main" val="34618183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84F027FC-5BC0-42F1-89EB-2B8A298EE3B3}" type="slidenum">
              <a:rPr lang="en-US" smtClean="0">
                <a:latin typeface="Arial" charset="0"/>
              </a:rPr>
              <a:pPr/>
              <a:t>14</a:t>
            </a:fld>
            <a:endParaRPr lang="en-US">
              <a:latin typeface="Arial" charset="0"/>
            </a:endParaRPr>
          </a:p>
        </p:txBody>
      </p:sp>
      <p:sp>
        <p:nvSpPr>
          <p:cNvPr id="62467" name="Rectangle 2"/>
          <p:cNvSpPr>
            <a:spLocks noGrp="1" noRot="1" noChangeAspect="1" noChangeArrowheads="1" noTextEdit="1"/>
          </p:cNvSpPr>
          <p:nvPr>
            <p:ph type="sldImg"/>
          </p:nvPr>
        </p:nvSpPr>
        <p:spPr>
          <a:xfrm>
            <a:off x="457200" y="720725"/>
            <a:ext cx="6400800" cy="3600450"/>
          </a:xfrm>
          <a:ln/>
        </p:spPr>
      </p:sp>
      <p:sp>
        <p:nvSpPr>
          <p:cNvPr id="62468" name="Rectangle 3"/>
          <p:cNvSpPr>
            <a:spLocks noGrp="1" noChangeArrowheads="1"/>
          </p:cNvSpPr>
          <p:nvPr>
            <p:ph type="body" idx="1"/>
          </p:nvPr>
        </p:nvSpPr>
        <p:spPr>
          <a:xfrm>
            <a:off x="974924" y="4561576"/>
            <a:ext cx="5365352" cy="4318827"/>
          </a:xfrm>
          <a:noFill/>
          <a:ln/>
        </p:spPr>
        <p:txBody>
          <a:bodyPr/>
          <a:lstStyle/>
          <a:p>
            <a:pPr eaLnBrk="1" hangingPunct="1"/>
            <a:endParaRPr lang="en-US" dirty="0">
              <a:latin typeface="Arial"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92D6C518-FBD1-4593-88F8-1133D0309234}" type="slidenum">
              <a:rPr lang="en-US" smtClean="0">
                <a:latin typeface="Arial" charset="0"/>
              </a:rPr>
              <a:pPr/>
              <a:t>15</a:t>
            </a:fld>
            <a:endParaRPr lang="en-US">
              <a:latin typeface="Arial" charset="0"/>
            </a:endParaRPr>
          </a:p>
        </p:txBody>
      </p:sp>
      <p:sp>
        <p:nvSpPr>
          <p:cNvPr id="59395" name="Rectangle 2"/>
          <p:cNvSpPr>
            <a:spLocks noGrp="1" noRot="1" noChangeAspect="1" noChangeArrowheads="1" noTextEdit="1"/>
          </p:cNvSpPr>
          <p:nvPr>
            <p:ph type="sldImg"/>
          </p:nvPr>
        </p:nvSpPr>
        <p:spPr>
          <a:xfrm>
            <a:off x="457200" y="720725"/>
            <a:ext cx="6400800" cy="3600450"/>
          </a:xfrm>
          <a:ln/>
        </p:spPr>
      </p:sp>
      <p:sp>
        <p:nvSpPr>
          <p:cNvPr id="59396" name="Rectangle 3"/>
          <p:cNvSpPr>
            <a:spLocks noGrp="1" noChangeArrowheads="1"/>
          </p:cNvSpPr>
          <p:nvPr>
            <p:ph type="body" idx="1"/>
          </p:nvPr>
        </p:nvSpPr>
        <p:spPr>
          <a:xfrm>
            <a:off x="974924" y="4561576"/>
            <a:ext cx="5365352" cy="4318827"/>
          </a:xfrm>
          <a:noFill/>
          <a:ln/>
        </p:spPr>
        <p:txBody>
          <a:bodyPr/>
          <a:lstStyle/>
          <a:p>
            <a:pPr eaLnBrk="1" hangingPunct="1"/>
            <a:endParaRPr lang="en-US" dirty="0">
              <a:latin typeface="Arial"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xfrm>
            <a:off x="457200" y="720725"/>
            <a:ext cx="6400800" cy="3600450"/>
          </a:xfrm>
          <a:ln/>
        </p:spPr>
      </p:sp>
      <p:sp>
        <p:nvSpPr>
          <p:cNvPr id="60419" name="Notes Placeholder 2"/>
          <p:cNvSpPr>
            <a:spLocks noGrp="1"/>
          </p:cNvSpPr>
          <p:nvPr>
            <p:ph type="body" idx="1"/>
          </p:nvPr>
        </p:nvSpPr>
        <p:spPr>
          <a:noFill/>
          <a:ln/>
        </p:spPr>
        <p:txBody>
          <a:bodyPr/>
          <a:lstStyle/>
          <a:p>
            <a:endParaRPr lang="en-US" dirty="0">
              <a:latin typeface="Arial" charset="0"/>
            </a:endParaRPr>
          </a:p>
        </p:txBody>
      </p:sp>
      <p:sp>
        <p:nvSpPr>
          <p:cNvPr id="60420" name="Slide Number Placeholder 3"/>
          <p:cNvSpPr>
            <a:spLocks noGrp="1"/>
          </p:cNvSpPr>
          <p:nvPr>
            <p:ph type="sldNum" sz="quarter" idx="5"/>
          </p:nvPr>
        </p:nvSpPr>
        <p:spPr>
          <a:noFill/>
        </p:spPr>
        <p:txBody>
          <a:bodyPr/>
          <a:lstStyle/>
          <a:p>
            <a:fld id="{48A9289E-F028-4C02-88DD-69770A826917}" type="slidenum">
              <a:rPr lang="en-US" smtClean="0">
                <a:latin typeface="Arial" charset="0"/>
              </a:rPr>
              <a:pPr/>
              <a:t>16</a:t>
            </a:fld>
            <a:endParaRPr lang="en-US">
              <a:latin typeface="Arial"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xfrm>
            <a:off x="457200" y="720725"/>
            <a:ext cx="6400800" cy="3600450"/>
          </a:xfrm>
          <a:ln/>
        </p:spPr>
      </p:sp>
      <p:sp>
        <p:nvSpPr>
          <p:cNvPr id="60419" name="Notes Placeholder 2"/>
          <p:cNvSpPr>
            <a:spLocks noGrp="1"/>
          </p:cNvSpPr>
          <p:nvPr>
            <p:ph type="body" idx="1"/>
          </p:nvPr>
        </p:nvSpPr>
        <p:spPr>
          <a:noFill/>
          <a:ln/>
        </p:spPr>
        <p:txBody>
          <a:bodyPr/>
          <a:lstStyle/>
          <a:p>
            <a:endParaRPr lang="en-US" dirty="0">
              <a:latin typeface="Arial" charset="0"/>
            </a:endParaRPr>
          </a:p>
        </p:txBody>
      </p:sp>
      <p:sp>
        <p:nvSpPr>
          <p:cNvPr id="60420" name="Slide Number Placeholder 3"/>
          <p:cNvSpPr>
            <a:spLocks noGrp="1"/>
          </p:cNvSpPr>
          <p:nvPr>
            <p:ph type="sldNum" sz="quarter" idx="5"/>
          </p:nvPr>
        </p:nvSpPr>
        <p:spPr>
          <a:noFill/>
        </p:spPr>
        <p:txBody>
          <a:bodyPr/>
          <a:lstStyle/>
          <a:p>
            <a:fld id="{48A9289E-F028-4C02-88DD-69770A826917}" type="slidenum">
              <a:rPr lang="en-US" smtClean="0">
                <a:latin typeface="Arial" charset="0"/>
              </a:rPr>
              <a:pPr/>
              <a:t>17</a:t>
            </a:fld>
            <a:endParaRPr lang="en-US">
              <a:latin typeface="Arial"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04562BC8-C3F2-47A7-AF2C-13A94AF36327}" type="slidenum">
              <a:rPr lang="en-US" smtClean="0">
                <a:latin typeface="Arial" charset="0"/>
              </a:rPr>
              <a:pPr/>
              <a:t>18</a:t>
            </a:fld>
            <a:endParaRPr lang="en-US">
              <a:latin typeface="Arial" charset="0"/>
            </a:endParaRPr>
          </a:p>
        </p:txBody>
      </p:sp>
      <p:sp>
        <p:nvSpPr>
          <p:cNvPr id="61443" name="Rectangle 2"/>
          <p:cNvSpPr>
            <a:spLocks noGrp="1" noRot="1" noChangeAspect="1" noChangeArrowheads="1" noTextEdit="1"/>
          </p:cNvSpPr>
          <p:nvPr>
            <p:ph type="sldImg"/>
          </p:nvPr>
        </p:nvSpPr>
        <p:spPr>
          <a:xfrm>
            <a:off x="458788" y="720725"/>
            <a:ext cx="6397625" cy="3598863"/>
          </a:xfrm>
          <a:ln/>
        </p:spPr>
      </p:sp>
      <p:sp>
        <p:nvSpPr>
          <p:cNvPr id="61444" name="Rectangle 3"/>
          <p:cNvSpPr>
            <a:spLocks noGrp="1" noChangeArrowheads="1"/>
          </p:cNvSpPr>
          <p:nvPr>
            <p:ph type="body" idx="1"/>
          </p:nvPr>
        </p:nvSpPr>
        <p:spPr>
          <a:xfrm>
            <a:off x="974924" y="4561576"/>
            <a:ext cx="5365352" cy="4318827"/>
          </a:xfrm>
          <a:noFill/>
          <a:ln/>
        </p:spPr>
        <p:txBody>
          <a:bodyPr/>
          <a:lstStyle/>
          <a:p>
            <a:pPr eaLnBrk="1" hangingPunct="1"/>
            <a:endParaRPr lang="en-US" dirty="0">
              <a:latin typeface="Arial"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4042F3-6AC5-4F69-BFDB-D78DEF38750B}" type="slidenum">
              <a:rPr lang="en-US" smtClean="0"/>
              <a:pPr>
                <a:defRPr/>
              </a:pPr>
              <a:t>19</a:t>
            </a:fld>
            <a:endParaRPr lang="en-US"/>
          </a:p>
        </p:txBody>
      </p:sp>
    </p:spTree>
    <p:extLst>
      <p:ext uri="{BB962C8B-B14F-4D97-AF65-F5344CB8AC3E}">
        <p14:creationId xmlns:p14="http://schemas.microsoft.com/office/powerpoint/2010/main" val="18391032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04562BC8-C3F2-47A7-AF2C-13A94AF36327}" type="slidenum">
              <a:rPr lang="en-US" smtClean="0">
                <a:latin typeface="Arial" charset="0"/>
              </a:rPr>
              <a:pPr/>
              <a:t>22</a:t>
            </a:fld>
            <a:endParaRPr lang="en-US">
              <a:latin typeface="Arial" charset="0"/>
            </a:endParaRPr>
          </a:p>
        </p:txBody>
      </p:sp>
      <p:sp>
        <p:nvSpPr>
          <p:cNvPr id="61443" name="Rectangle 2"/>
          <p:cNvSpPr>
            <a:spLocks noGrp="1" noRot="1" noChangeAspect="1" noChangeArrowheads="1" noTextEdit="1"/>
          </p:cNvSpPr>
          <p:nvPr>
            <p:ph type="sldImg"/>
          </p:nvPr>
        </p:nvSpPr>
        <p:spPr>
          <a:xfrm>
            <a:off x="458788" y="720725"/>
            <a:ext cx="6397625" cy="3598863"/>
          </a:xfrm>
          <a:ln/>
        </p:spPr>
      </p:sp>
      <p:sp>
        <p:nvSpPr>
          <p:cNvPr id="61444" name="Rectangle 3"/>
          <p:cNvSpPr>
            <a:spLocks noGrp="1" noChangeArrowheads="1"/>
          </p:cNvSpPr>
          <p:nvPr>
            <p:ph type="body" idx="1"/>
          </p:nvPr>
        </p:nvSpPr>
        <p:spPr>
          <a:xfrm>
            <a:off x="974924" y="4561576"/>
            <a:ext cx="5365352" cy="4318827"/>
          </a:xfrm>
          <a:noFill/>
          <a:ln/>
        </p:spPr>
        <p:txBody>
          <a:bodyPr/>
          <a:lstStyle/>
          <a:p>
            <a:pPr eaLnBrk="1" hangingPunct="1"/>
            <a:r>
              <a:rPr lang="en-US" dirty="0">
                <a:latin typeface="Arial" charset="0"/>
              </a:rPr>
              <a:t>Add values by hand if on tablet, or add by animation steps</a:t>
            </a:r>
          </a:p>
        </p:txBody>
      </p:sp>
    </p:spTree>
    <p:extLst>
      <p:ext uri="{BB962C8B-B14F-4D97-AF65-F5344CB8AC3E}">
        <p14:creationId xmlns:p14="http://schemas.microsoft.com/office/powerpoint/2010/main" val="38809388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04562BC8-C3F2-47A7-AF2C-13A94AF36327}" type="slidenum">
              <a:rPr lang="en-US" smtClean="0">
                <a:latin typeface="Arial" charset="0"/>
              </a:rPr>
              <a:pPr/>
              <a:t>23</a:t>
            </a:fld>
            <a:endParaRPr lang="en-US">
              <a:latin typeface="Arial" charset="0"/>
            </a:endParaRPr>
          </a:p>
        </p:txBody>
      </p:sp>
      <p:sp>
        <p:nvSpPr>
          <p:cNvPr id="61443" name="Rectangle 2"/>
          <p:cNvSpPr>
            <a:spLocks noGrp="1" noRot="1" noChangeAspect="1" noChangeArrowheads="1" noTextEdit="1"/>
          </p:cNvSpPr>
          <p:nvPr>
            <p:ph type="sldImg"/>
          </p:nvPr>
        </p:nvSpPr>
        <p:spPr>
          <a:xfrm>
            <a:off x="458788" y="720725"/>
            <a:ext cx="6397625" cy="3598863"/>
          </a:xfrm>
          <a:ln/>
        </p:spPr>
      </p:sp>
      <p:sp>
        <p:nvSpPr>
          <p:cNvPr id="61444" name="Rectangle 3"/>
          <p:cNvSpPr>
            <a:spLocks noGrp="1" noChangeArrowheads="1"/>
          </p:cNvSpPr>
          <p:nvPr>
            <p:ph type="body" idx="1"/>
          </p:nvPr>
        </p:nvSpPr>
        <p:spPr>
          <a:xfrm>
            <a:off x="974924" y="4561576"/>
            <a:ext cx="5365352" cy="4318827"/>
          </a:xfrm>
          <a:noFill/>
          <a:ln/>
        </p:spPr>
        <p:txBody>
          <a:bodyPr/>
          <a:lstStyle/>
          <a:p>
            <a:pPr eaLnBrk="1" hangingPunct="1"/>
            <a:r>
              <a:rPr lang="en-US" dirty="0">
                <a:latin typeface="Arial" charset="0"/>
              </a:rPr>
              <a:t>Add values by hand if on tablet, or add by animation steps</a:t>
            </a:r>
          </a:p>
        </p:txBody>
      </p:sp>
    </p:spTree>
    <p:extLst>
      <p:ext uri="{BB962C8B-B14F-4D97-AF65-F5344CB8AC3E}">
        <p14:creationId xmlns:p14="http://schemas.microsoft.com/office/powerpoint/2010/main" val="12967145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 is not evaluated</a:t>
            </a:r>
          </a:p>
        </p:txBody>
      </p:sp>
      <p:sp>
        <p:nvSpPr>
          <p:cNvPr id="4" name="Slide Number Placeholder 3"/>
          <p:cNvSpPr>
            <a:spLocks noGrp="1"/>
          </p:cNvSpPr>
          <p:nvPr>
            <p:ph type="sldNum" sz="quarter" idx="10"/>
          </p:nvPr>
        </p:nvSpPr>
        <p:spPr/>
        <p:txBody>
          <a:bodyPr/>
          <a:lstStyle/>
          <a:p>
            <a:pPr>
              <a:defRPr/>
            </a:pPr>
            <a:fld id="{AF4042F3-6AC5-4F69-BFDB-D78DEF38750B}" type="slidenum">
              <a:rPr lang="en-US" smtClean="0"/>
              <a:pPr>
                <a:defRPr/>
              </a:pPr>
              <a:t>24</a:t>
            </a:fld>
            <a:endParaRPr lang="en-US"/>
          </a:p>
        </p:txBody>
      </p:sp>
    </p:spTree>
    <p:extLst>
      <p:ext uri="{BB962C8B-B14F-4D97-AF65-F5344CB8AC3E}">
        <p14:creationId xmlns:p14="http://schemas.microsoft.com/office/powerpoint/2010/main" val="6870665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65D6F6B2-B4A7-4DD8-9C8A-489B85C4F060}" type="slidenum">
              <a:rPr lang="en-US" smtClean="0">
                <a:latin typeface="Arial" charset="0"/>
              </a:rPr>
              <a:pPr/>
              <a:t>27</a:t>
            </a:fld>
            <a:endParaRPr lang="en-US">
              <a:latin typeface="Arial" charset="0"/>
            </a:endParaRPr>
          </a:p>
        </p:txBody>
      </p:sp>
      <p:sp>
        <p:nvSpPr>
          <p:cNvPr id="65539" name="Rectangle 2"/>
          <p:cNvSpPr>
            <a:spLocks noGrp="1" noRot="1" noChangeAspect="1" noChangeArrowheads="1" noTextEdit="1"/>
          </p:cNvSpPr>
          <p:nvPr>
            <p:ph type="sldImg"/>
          </p:nvPr>
        </p:nvSpPr>
        <p:spPr>
          <a:xfrm>
            <a:off x="457200" y="720725"/>
            <a:ext cx="6400800" cy="3600450"/>
          </a:xfrm>
          <a:ln/>
        </p:spPr>
      </p:sp>
      <p:sp>
        <p:nvSpPr>
          <p:cNvPr id="65540" name="Rectangle 3"/>
          <p:cNvSpPr>
            <a:spLocks noGrp="1" noChangeArrowheads="1"/>
          </p:cNvSpPr>
          <p:nvPr>
            <p:ph type="body" idx="1"/>
          </p:nvPr>
        </p:nvSpPr>
        <p:spPr>
          <a:xfrm>
            <a:off x="974924" y="4561576"/>
            <a:ext cx="5365352" cy="4318827"/>
          </a:xfrm>
          <a:noFill/>
          <a:ln/>
        </p:spPr>
        <p:txBody>
          <a:bodyPr/>
          <a:lstStyle/>
          <a:p>
            <a:pPr eaLnBrk="1" hangingPunct="1"/>
            <a:endParaRPr lang="en-US" dirty="0">
              <a:latin typeface="Arial" charset="0"/>
            </a:endParaRPr>
          </a:p>
        </p:txBody>
      </p:sp>
    </p:spTree>
    <p:extLst>
      <p:ext uri="{BB962C8B-B14F-4D97-AF65-F5344CB8AC3E}">
        <p14:creationId xmlns:p14="http://schemas.microsoft.com/office/powerpoint/2010/main" val="5724752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xfrm>
            <a:off x="457200" y="720725"/>
            <a:ext cx="6400800" cy="3600450"/>
          </a:xfrm>
          <a:ln/>
        </p:spPr>
      </p:sp>
      <p:sp>
        <p:nvSpPr>
          <p:cNvPr id="60419" name="Notes Placeholder 2"/>
          <p:cNvSpPr>
            <a:spLocks noGrp="1"/>
          </p:cNvSpPr>
          <p:nvPr>
            <p:ph type="body" idx="1"/>
          </p:nvPr>
        </p:nvSpPr>
        <p:spPr>
          <a:noFill/>
          <a:ln/>
        </p:spPr>
        <p:txBody>
          <a:bodyPr/>
          <a:lstStyle/>
          <a:p>
            <a:r>
              <a:rPr lang="en-US">
                <a:latin typeface="Arial" charset="0"/>
              </a:rPr>
              <a:t>Pick an order for two reasons: sequential processor and pruning</a:t>
            </a:r>
          </a:p>
        </p:txBody>
      </p:sp>
      <p:sp>
        <p:nvSpPr>
          <p:cNvPr id="60420" name="Slide Number Placeholder 3"/>
          <p:cNvSpPr>
            <a:spLocks noGrp="1"/>
          </p:cNvSpPr>
          <p:nvPr>
            <p:ph type="sldNum" sz="quarter" idx="5"/>
          </p:nvPr>
        </p:nvSpPr>
        <p:spPr>
          <a:noFill/>
        </p:spPr>
        <p:txBody>
          <a:bodyPr/>
          <a:lstStyle/>
          <a:p>
            <a:fld id="{48A9289E-F028-4C02-88DD-69770A826917}" type="slidenum">
              <a:rPr lang="en-US" smtClean="0">
                <a:latin typeface="Arial" charset="0"/>
              </a:rPr>
              <a:pPr/>
              <a:t>28</a:t>
            </a:fld>
            <a:endParaRPr lang="en-US">
              <a:latin typeface="Arial" charset="0"/>
            </a:endParaRPr>
          </a:p>
        </p:txBody>
      </p:sp>
    </p:spTree>
    <p:extLst>
      <p:ext uri="{BB962C8B-B14F-4D97-AF65-F5344CB8AC3E}">
        <p14:creationId xmlns:p14="http://schemas.microsoft.com/office/powerpoint/2010/main" val="30281517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xfrm>
            <a:off x="457200" y="720725"/>
            <a:ext cx="6400800" cy="3600450"/>
          </a:xfrm>
          <a:ln/>
        </p:spPr>
      </p:sp>
      <p:sp>
        <p:nvSpPr>
          <p:cNvPr id="69635" name="Notes Placeholder 2"/>
          <p:cNvSpPr>
            <a:spLocks noGrp="1"/>
          </p:cNvSpPr>
          <p:nvPr>
            <p:ph type="body" idx="1"/>
          </p:nvPr>
        </p:nvSpPr>
        <p:spPr>
          <a:noFill/>
          <a:ln/>
        </p:spPr>
        <p:txBody>
          <a:bodyPr/>
          <a:lstStyle/>
          <a:p>
            <a:endParaRPr lang="en-US" dirty="0">
              <a:latin typeface="Arial" charset="0"/>
            </a:endParaRPr>
          </a:p>
        </p:txBody>
      </p:sp>
      <p:sp>
        <p:nvSpPr>
          <p:cNvPr id="69636" name="Slide Number Placeholder 3"/>
          <p:cNvSpPr>
            <a:spLocks noGrp="1"/>
          </p:cNvSpPr>
          <p:nvPr>
            <p:ph type="sldNum" sz="quarter" idx="5"/>
          </p:nvPr>
        </p:nvSpPr>
        <p:spPr>
          <a:noFill/>
        </p:spPr>
        <p:txBody>
          <a:bodyPr/>
          <a:lstStyle/>
          <a:p>
            <a:fld id="{740F0E28-396E-4F98-845A-678F748F62CE}" type="slidenum">
              <a:rPr lang="en-US" smtClean="0">
                <a:latin typeface="Arial" charset="0"/>
              </a:rPr>
              <a:pPr/>
              <a:t>31</a:t>
            </a:fld>
            <a:endParaRPr lang="en-US">
              <a:latin typeface="Arial" charset="0"/>
            </a:endParaRPr>
          </a:p>
        </p:txBody>
      </p:sp>
    </p:spTree>
    <p:extLst>
      <p:ext uri="{BB962C8B-B14F-4D97-AF65-F5344CB8AC3E}">
        <p14:creationId xmlns:p14="http://schemas.microsoft.com/office/powerpoint/2010/main" val="8069548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4042F3-6AC5-4F69-BFDB-D78DEF38750B}" type="slidenum">
              <a:rPr lang="en-US" smtClean="0"/>
              <a:pPr>
                <a:defRPr/>
              </a:pPr>
              <a:t>33</a:t>
            </a:fld>
            <a:endParaRPr lang="en-US"/>
          </a:p>
        </p:txBody>
      </p:sp>
    </p:spTree>
    <p:extLst>
      <p:ext uri="{BB962C8B-B14F-4D97-AF65-F5344CB8AC3E}">
        <p14:creationId xmlns:p14="http://schemas.microsoft.com/office/powerpoint/2010/main" val="30489622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4042F3-6AC5-4F69-BFDB-D78DEF38750B}" type="slidenum">
              <a:rPr lang="en-US" smtClean="0"/>
              <a:pPr>
                <a:defRPr/>
              </a:pPr>
              <a:t>34</a:t>
            </a:fld>
            <a:endParaRPr lang="en-US"/>
          </a:p>
        </p:txBody>
      </p:sp>
    </p:spTree>
    <p:extLst>
      <p:ext uri="{BB962C8B-B14F-4D97-AF65-F5344CB8AC3E}">
        <p14:creationId xmlns:p14="http://schemas.microsoft.com/office/powerpoint/2010/main" val="36790437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84F027FC-5BC0-42F1-89EB-2B8A298EE3B3}" type="slidenum">
              <a:rPr lang="en-US" smtClean="0">
                <a:latin typeface="Arial" charset="0"/>
              </a:rPr>
              <a:pPr/>
              <a:t>36</a:t>
            </a:fld>
            <a:endParaRPr lang="en-US">
              <a:latin typeface="Arial" charset="0"/>
            </a:endParaRPr>
          </a:p>
        </p:txBody>
      </p:sp>
      <p:sp>
        <p:nvSpPr>
          <p:cNvPr id="62467" name="Rectangle 2"/>
          <p:cNvSpPr>
            <a:spLocks noGrp="1" noRot="1" noChangeAspect="1" noChangeArrowheads="1" noTextEdit="1"/>
          </p:cNvSpPr>
          <p:nvPr>
            <p:ph type="sldImg"/>
          </p:nvPr>
        </p:nvSpPr>
        <p:spPr>
          <a:xfrm>
            <a:off x="457200" y="720725"/>
            <a:ext cx="6400800" cy="3600450"/>
          </a:xfrm>
          <a:ln/>
        </p:spPr>
      </p:sp>
      <p:sp>
        <p:nvSpPr>
          <p:cNvPr id="62468" name="Rectangle 3"/>
          <p:cNvSpPr>
            <a:spLocks noGrp="1" noChangeArrowheads="1"/>
          </p:cNvSpPr>
          <p:nvPr>
            <p:ph type="body" idx="1"/>
          </p:nvPr>
        </p:nvSpPr>
        <p:spPr>
          <a:xfrm>
            <a:off x="974924" y="4561576"/>
            <a:ext cx="5365352" cy="4318827"/>
          </a:xfrm>
          <a:noFill/>
          <a:ln/>
        </p:spPr>
        <p:txBody>
          <a:bodyPr/>
          <a:lstStyle/>
          <a:p>
            <a:pPr eaLnBrk="1" hangingPunct="1"/>
            <a:endParaRPr lang="en-US" dirty="0">
              <a:latin typeface="Arial" charset="0"/>
            </a:endParaRPr>
          </a:p>
        </p:txBody>
      </p:sp>
    </p:spTree>
    <p:extLst>
      <p:ext uri="{BB962C8B-B14F-4D97-AF65-F5344CB8AC3E}">
        <p14:creationId xmlns:p14="http://schemas.microsoft.com/office/powerpoint/2010/main" val="11442129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pPr>
              <a:defRPr/>
            </a:pPr>
            <a:fld id="{AF4042F3-6AC5-4F69-BFDB-D78DEF38750B}" type="slidenum">
              <a:rPr lang="en-US" smtClean="0"/>
              <a:pPr>
                <a:defRPr/>
              </a:pPr>
              <a:t>37</a:t>
            </a:fld>
            <a:endParaRPr lang="en-US"/>
          </a:p>
        </p:txBody>
      </p:sp>
    </p:spTree>
    <p:extLst>
      <p:ext uri="{BB962C8B-B14F-4D97-AF65-F5344CB8AC3E}">
        <p14:creationId xmlns:p14="http://schemas.microsoft.com/office/powerpoint/2010/main" val="2642346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4042F3-6AC5-4F69-BFDB-D78DEF38750B}" type="slidenum">
              <a:rPr lang="en-US" smtClean="0"/>
              <a:pPr>
                <a:defRPr/>
              </a:pPr>
              <a:t>41</a:t>
            </a:fld>
            <a:endParaRPr lang="en-US"/>
          </a:p>
        </p:txBody>
      </p:sp>
    </p:spTree>
    <p:extLst>
      <p:ext uri="{BB962C8B-B14F-4D97-AF65-F5344CB8AC3E}">
        <p14:creationId xmlns:p14="http://schemas.microsoft.com/office/powerpoint/2010/main" val="6341924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pPr>
              <a:defRPr/>
            </a:pPr>
            <a:fld id="{AF4042F3-6AC5-4F69-BFDB-D78DEF38750B}" type="slidenum">
              <a:rPr lang="en-US" smtClean="0"/>
              <a:pPr>
                <a:defRPr/>
              </a:pPr>
              <a:t>42</a:t>
            </a:fld>
            <a:endParaRPr lang="en-US"/>
          </a:p>
        </p:txBody>
      </p:sp>
    </p:spTree>
    <p:extLst>
      <p:ext uri="{BB962C8B-B14F-4D97-AF65-F5344CB8AC3E}">
        <p14:creationId xmlns:p14="http://schemas.microsoft.com/office/powerpoint/2010/main" val="17643307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0" y="1044578"/>
            <a:ext cx="12192000" cy="1470025"/>
          </a:xfrm>
        </p:spPr>
        <p:txBody>
          <a:bodyPr/>
          <a:lstStyle>
            <a:lvl1pPr>
              <a:defRPr>
                <a:solidFill>
                  <a:schemeClr val="accent2"/>
                </a:solidFill>
              </a:defRPr>
            </a:lvl1pPr>
          </a:lstStyle>
          <a:p>
            <a:r>
              <a:rPr lang="en-US"/>
              <a:t>Click to edit Master title style</a:t>
            </a:r>
          </a:p>
        </p:txBody>
      </p:sp>
      <p:sp>
        <p:nvSpPr>
          <p:cNvPr id="5123" name="Rectangle 3"/>
          <p:cNvSpPr>
            <a:spLocks noGrp="1" noChangeArrowheads="1"/>
          </p:cNvSpPr>
          <p:nvPr>
            <p:ph type="subTitle" idx="1"/>
          </p:nvPr>
        </p:nvSpPr>
        <p:spPr>
          <a:xfrm>
            <a:off x="0" y="3657600"/>
            <a:ext cx="12192000" cy="1524000"/>
          </a:xfrm>
        </p:spPr>
        <p:txBody>
          <a:bodyPr/>
          <a:lstStyle>
            <a:lvl1pPr marL="0" indent="0" algn="ctr">
              <a:buFont typeface="Wingdings" pitchFamily="2" charset="2"/>
              <a:buNone/>
              <a:defRPr>
                <a:solidFill>
                  <a:schemeClr val="tx1"/>
                </a:solidFill>
              </a:defRPr>
            </a:lvl1pPr>
          </a:lstStyle>
          <a:p>
            <a:r>
              <a:rPr lang="en-US"/>
              <a:t>Click to edit Master subtitle style</a:t>
            </a:r>
            <a:endParaRPr lang="en-US" dirty="0"/>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8BE10AB1-FB9A-4CFC-A058-E74AFD102927}"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E81798C-0F99-461B-869F-8FC2E08F7ABC}" type="slidenum">
              <a:rPr lang="en-US" smtClean="0"/>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178" indent="0">
              <a:buNone/>
              <a:defRPr sz="1900"/>
            </a:lvl2pPr>
            <a:lvl3pPr marL="914354" indent="0">
              <a:buNone/>
              <a:defRPr sz="1600"/>
            </a:lvl3pPr>
            <a:lvl4pPr marL="1371532" indent="0">
              <a:buNone/>
              <a:defRPr sz="1500"/>
            </a:lvl4pPr>
            <a:lvl5pPr marL="1828709" indent="0">
              <a:buNone/>
              <a:defRPr sz="1500"/>
            </a:lvl5pPr>
            <a:lvl6pPr marL="2285886" indent="0">
              <a:buNone/>
              <a:defRPr sz="1500"/>
            </a:lvl6pPr>
            <a:lvl7pPr marL="2743062" indent="0">
              <a:buNone/>
              <a:defRPr sz="1500"/>
            </a:lvl7pPr>
            <a:lvl8pPr marL="3200240" indent="0">
              <a:buNone/>
              <a:defRPr sz="1500"/>
            </a:lvl8pPr>
            <a:lvl9pPr marL="3657418" indent="0">
              <a:buNone/>
              <a:defRPr sz="15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4A71E20-2558-4548-9145-31A1CE74B67E}" type="slidenum">
              <a:rPr lang="en-US" smtClean="0"/>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96C36CE-9816-47A4-A648-59C94611F2D8}" type="slidenum">
              <a:rPr lang="en-US" smtClean="0"/>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2" y="1535113"/>
            <a:ext cx="4040188" cy="639763"/>
          </a:xfrm>
        </p:spPr>
        <p:txBody>
          <a:bodyPr anchor="b"/>
          <a:lstStyle>
            <a:lvl1pPr marL="0" indent="0">
              <a:buNone/>
              <a:defRPr sz="2400" b="1"/>
            </a:lvl1pPr>
            <a:lvl2pPr marL="457178" indent="0">
              <a:buNone/>
              <a:defRPr sz="2000" b="1"/>
            </a:lvl2pPr>
            <a:lvl3pPr marL="914354" indent="0">
              <a:buNone/>
              <a:defRPr sz="19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2" y="2174875"/>
            <a:ext cx="4040188" cy="3951288"/>
          </a:xfrm>
        </p:spPr>
        <p:txBody>
          <a:bodyPr/>
          <a:lstStyle>
            <a:lvl1pPr>
              <a:defRPr sz="2400"/>
            </a:lvl1pPr>
            <a:lvl2pPr>
              <a:defRPr sz="2000"/>
            </a:lvl2pPr>
            <a:lvl3pPr>
              <a:defRPr sz="19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178" indent="0">
              <a:buNone/>
              <a:defRPr sz="2000" b="1"/>
            </a:lvl2pPr>
            <a:lvl3pPr marL="914354" indent="0">
              <a:buNone/>
              <a:defRPr sz="19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9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09567DB1-08A8-4DA3-8792-9FE41D7CAC05}" type="slidenum">
              <a:rPr lang="en-US" smtClean="0"/>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B4D915A0-5737-488C-ABBC-0B423BC02545}" type="slidenum">
              <a:rPr lang="en-US" smtClean="0"/>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856499FA-73C5-4A44-820B-A2808797D655}" type="slidenum">
              <a:rPr lang="en-US" smtClean="0"/>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1" y="273053"/>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500"/>
            </a:lvl1pPr>
            <a:lvl2pPr marL="457178" indent="0">
              <a:buNone/>
              <a:defRPr sz="1200"/>
            </a:lvl2pPr>
            <a:lvl3pPr marL="914354" indent="0">
              <a:buNone/>
              <a:defRPr sz="11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C0593802-8813-400D-A5BB-9C50C37ACBB4}" type="slidenum">
              <a:rPr lang="en-US" smtClean="0"/>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9"/>
            <a:ext cx="5486400" cy="804863"/>
          </a:xfrm>
        </p:spPr>
        <p:txBody>
          <a:bodyPr/>
          <a:lstStyle>
            <a:lvl1pPr marL="0" indent="0">
              <a:buNone/>
              <a:defRPr sz="1500"/>
            </a:lvl1pPr>
            <a:lvl2pPr marL="457178" indent="0">
              <a:buNone/>
              <a:defRPr sz="1200"/>
            </a:lvl2pPr>
            <a:lvl3pPr marL="914354" indent="0">
              <a:buNone/>
              <a:defRPr sz="11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5A85C0E-EF3F-4D12-BC26-7AC478A25631}" type="slidenum">
              <a:rPr lang="en-US" smtClean="0"/>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5276918-8EE8-41BC-8655-5862D016B2B9}" type="slidenum">
              <a:rPr lang="en-US" smtClean="0"/>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AC4A49B-9F02-4A5C-B982-4DFD370F18E3}" type="slidenum">
              <a:rPr lang="en-US" smtClean="0"/>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0" y="-25400"/>
            <a:ext cx="12192000" cy="1143000"/>
          </a:xfrm>
          <a:prstGeom prst="rect">
            <a:avLst/>
          </a:prstGeom>
          <a:noFill/>
          <a:ln w="9525">
            <a:noFill/>
            <a:miter lim="800000"/>
            <a:headEnd/>
            <a:tailEnd/>
          </a:ln>
        </p:spPr>
        <p:txBody>
          <a:bodyPr vert="horz" wrap="square" lIns="91436" tIns="45718" rIns="91436" bIns="45718" numCol="1" anchor="ctr" anchorCtr="0" compatLnSpc="1">
            <a:prstTxWarp prst="textNoShape">
              <a:avLst/>
            </a:prstTxWarp>
          </a:bodyPr>
          <a:lstStyle/>
          <a:p>
            <a:pPr lvl="0"/>
            <a:r>
              <a:rPr lang="en-US"/>
              <a:t>Click to edit Master title style</a:t>
            </a:r>
            <a:endParaRPr lang="en-US" dirty="0"/>
          </a:p>
        </p:txBody>
      </p:sp>
      <p:sp>
        <p:nvSpPr>
          <p:cNvPr id="3075" name="Rectangle 3"/>
          <p:cNvSpPr>
            <a:spLocks noGrp="1" noChangeArrowheads="1"/>
          </p:cNvSpPr>
          <p:nvPr>
            <p:ph type="body" idx="1"/>
          </p:nvPr>
        </p:nvSpPr>
        <p:spPr bwMode="auto">
          <a:xfrm>
            <a:off x="406400" y="1397001"/>
            <a:ext cx="11379200" cy="4729164"/>
          </a:xfrm>
          <a:prstGeom prst="rect">
            <a:avLst/>
          </a:prstGeom>
          <a:noFill/>
          <a:ln w="9525">
            <a:noFill/>
            <a:miter lim="800000"/>
            <a:headEnd/>
            <a:tailEnd/>
          </a:ln>
        </p:spPr>
        <p:txBody>
          <a:bodyPr vert="horz" wrap="square" lIns="91436" tIns="45718" rIns="91436" bIns="4571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00" name="Rectangle 4"/>
          <p:cNvSpPr>
            <a:spLocks noGrp="1" noChangeArrowheads="1"/>
          </p:cNvSpPr>
          <p:nvPr>
            <p:ph type="dt" sz="half" idx="2"/>
          </p:nvPr>
        </p:nvSpPr>
        <p:spPr bwMode="auto">
          <a:xfrm>
            <a:off x="457200" y="6245225"/>
            <a:ext cx="2133600" cy="476251"/>
          </a:xfrm>
          <a:prstGeom prst="rect">
            <a:avLst/>
          </a:prstGeom>
          <a:noFill/>
          <a:ln w="9525">
            <a:noFill/>
            <a:miter lim="800000"/>
            <a:headEnd/>
            <a:tailEnd/>
          </a:ln>
          <a:effectLst/>
        </p:spPr>
        <p:txBody>
          <a:bodyPr vert="horz" wrap="square" lIns="91436" tIns="45718" rIns="91436" bIns="45718" numCol="1" anchor="t" anchorCtr="0" compatLnSpc="1">
            <a:prstTxWarp prst="textNoShape">
              <a:avLst/>
            </a:prstTxWarp>
          </a:bodyPr>
          <a:lstStyle>
            <a:lvl1pPr>
              <a:defRPr sz="1500"/>
            </a:lvl1pPr>
          </a:lstStyle>
          <a:p>
            <a:pPr>
              <a:defRPr/>
            </a:pPr>
            <a:endParaRPr lang="en-US"/>
          </a:p>
        </p:txBody>
      </p:sp>
      <p:sp>
        <p:nvSpPr>
          <p:cNvPr id="4101" name="Rectangle 5"/>
          <p:cNvSpPr>
            <a:spLocks noGrp="1" noChangeArrowheads="1"/>
          </p:cNvSpPr>
          <p:nvPr>
            <p:ph type="ftr" sz="quarter" idx="3"/>
          </p:nvPr>
        </p:nvSpPr>
        <p:spPr bwMode="auto">
          <a:xfrm>
            <a:off x="3124200" y="6245225"/>
            <a:ext cx="2895600" cy="476251"/>
          </a:xfrm>
          <a:prstGeom prst="rect">
            <a:avLst/>
          </a:prstGeom>
          <a:noFill/>
          <a:ln w="9525">
            <a:noFill/>
            <a:miter lim="800000"/>
            <a:headEnd/>
            <a:tailEnd/>
          </a:ln>
          <a:effectLst/>
        </p:spPr>
        <p:txBody>
          <a:bodyPr vert="horz" wrap="square" lIns="91436" tIns="45718" rIns="91436" bIns="45718" numCol="1" anchor="t" anchorCtr="0" compatLnSpc="1">
            <a:prstTxWarp prst="textNoShape">
              <a:avLst/>
            </a:prstTxWarp>
          </a:bodyPr>
          <a:lstStyle>
            <a:lvl1pPr algn="ctr">
              <a:defRPr sz="1500"/>
            </a:lvl1pPr>
          </a:lstStyle>
          <a:p>
            <a:pPr>
              <a:defRPr/>
            </a:pPr>
            <a:endParaRPr lang="en-US"/>
          </a:p>
        </p:txBody>
      </p:sp>
      <p:sp>
        <p:nvSpPr>
          <p:cNvPr id="4102" name="Rectangle 6"/>
          <p:cNvSpPr>
            <a:spLocks noGrp="1" noChangeArrowheads="1"/>
          </p:cNvSpPr>
          <p:nvPr>
            <p:ph type="sldNum" sz="quarter" idx="4"/>
          </p:nvPr>
        </p:nvSpPr>
        <p:spPr bwMode="auto">
          <a:xfrm>
            <a:off x="6553200" y="6245225"/>
            <a:ext cx="2133600" cy="476251"/>
          </a:xfrm>
          <a:prstGeom prst="rect">
            <a:avLst/>
          </a:prstGeom>
          <a:noFill/>
          <a:ln w="9525">
            <a:noFill/>
            <a:miter lim="800000"/>
            <a:headEnd/>
            <a:tailEnd/>
          </a:ln>
          <a:effectLst/>
        </p:spPr>
        <p:txBody>
          <a:bodyPr vert="horz" wrap="square" lIns="91436" tIns="45718" rIns="91436" bIns="45718" numCol="1" anchor="t" anchorCtr="0" compatLnSpc="1">
            <a:prstTxWarp prst="textNoShape">
              <a:avLst/>
            </a:prstTxWarp>
          </a:bodyPr>
          <a:lstStyle>
            <a:lvl1pPr algn="r">
              <a:defRPr sz="1500"/>
            </a:lvl1pPr>
          </a:lstStyle>
          <a:p>
            <a:pPr>
              <a:defRPr/>
            </a:pPr>
            <a:fld id="{6DD5B9B9-0596-4755-A407-4C3F5264CB69}" type="slidenum">
              <a:rPr lang="en-US" smtClean="0"/>
              <a:pPr>
                <a:defRPr/>
              </a:pPr>
              <a:t>‹#›</a:t>
            </a:fld>
            <a:endParaRPr lang="en-US" dirty="0"/>
          </a:p>
        </p:txBody>
      </p:sp>
      <p:sp>
        <p:nvSpPr>
          <p:cNvPr id="4103" name="Rectangle 7"/>
          <p:cNvSpPr>
            <a:spLocks noChangeArrowheads="1"/>
          </p:cNvSpPr>
          <p:nvPr/>
        </p:nvSpPr>
        <p:spPr bwMode="auto">
          <a:xfrm>
            <a:off x="0" y="1031242"/>
            <a:ext cx="12192000" cy="60959"/>
          </a:xfrm>
          <a:prstGeom prst="rect">
            <a:avLst/>
          </a:prstGeom>
          <a:gradFill rotWithShape="1">
            <a:gsLst>
              <a:gs pos="0">
                <a:srgbClr val="0000CC"/>
              </a:gs>
              <a:gs pos="100000">
                <a:schemeClr val="tx1"/>
              </a:gs>
            </a:gsLst>
            <a:lin ang="0" scaled="1"/>
          </a:gradFill>
          <a:ln w="9525">
            <a:solidFill>
              <a:schemeClr val="tx1"/>
            </a:solidFill>
            <a:miter lim="800000"/>
            <a:headEnd/>
            <a:tailEnd/>
          </a:ln>
          <a:effectLst/>
        </p:spPr>
        <p:txBody>
          <a:bodyPr wrap="none" lIns="91436" tIns="45718" rIns="91436" bIns="45718" anchor="ctr"/>
          <a:lstStyle/>
          <a:p>
            <a:pPr>
              <a:defRPr/>
            </a:pPr>
            <a:endParaRPr lang="en-US"/>
          </a:p>
        </p:txBody>
      </p:sp>
    </p:spTree>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Lst>
  <p:hf hdr="0" ftr="0" dt="0"/>
  <p:txStyles>
    <p:titleStyle>
      <a:lvl1pPr algn="ctr" rtl="0" eaLnBrk="1" fontAlgn="base" hangingPunct="1">
        <a:spcBef>
          <a:spcPct val="0"/>
        </a:spcBef>
        <a:spcAft>
          <a:spcPct val="0"/>
        </a:spcAft>
        <a:defRPr sz="4400">
          <a:solidFill>
            <a:schemeClr val="tx2"/>
          </a:solidFill>
          <a:latin typeface="Calibri" pitchFamily="34" charset="0"/>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178" algn="ctr" rtl="0" eaLnBrk="1" fontAlgn="base" hangingPunct="1">
        <a:spcBef>
          <a:spcPct val="0"/>
        </a:spcBef>
        <a:spcAft>
          <a:spcPct val="0"/>
        </a:spcAft>
        <a:defRPr sz="4400">
          <a:solidFill>
            <a:schemeClr val="tx2"/>
          </a:solidFill>
          <a:latin typeface="Arial" charset="0"/>
        </a:defRPr>
      </a:lvl6pPr>
      <a:lvl7pPr marL="914354" algn="ctr" rtl="0" eaLnBrk="1" fontAlgn="base" hangingPunct="1">
        <a:spcBef>
          <a:spcPct val="0"/>
        </a:spcBef>
        <a:spcAft>
          <a:spcPct val="0"/>
        </a:spcAft>
        <a:defRPr sz="4400">
          <a:solidFill>
            <a:schemeClr val="tx2"/>
          </a:solidFill>
          <a:latin typeface="Arial" charset="0"/>
        </a:defRPr>
      </a:lvl7pPr>
      <a:lvl8pPr marL="1371532" algn="ctr" rtl="0" eaLnBrk="1" fontAlgn="base" hangingPunct="1">
        <a:spcBef>
          <a:spcPct val="0"/>
        </a:spcBef>
        <a:spcAft>
          <a:spcPct val="0"/>
        </a:spcAft>
        <a:defRPr sz="4400">
          <a:solidFill>
            <a:schemeClr val="tx2"/>
          </a:solidFill>
          <a:latin typeface="Arial" charset="0"/>
        </a:defRPr>
      </a:lvl8pPr>
      <a:lvl9pPr marL="1828709" algn="ctr" rtl="0" eaLnBrk="1" fontAlgn="base" hangingPunct="1">
        <a:spcBef>
          <a:spcPct val="0"/>
        </a:spcBef>
        <a:spcAft>
          <a:spcPct val="0"/>
        </a:spcAft>
        <a:defRPr sz="4400">
          <a:solidFill>
            <a:schemeClr val="tx2"/>
          </a:solidFill>
          <a:latin typeface="Arial" charset="0"/>
        </a:defRPr>
      </a:lvl9pPr>
    </p:titleStyle>
    <p:bodyStyle>
      <a:lvl1pPr marL="342882" indent="-342882" algn="l" rtl="0" eaLnBrk="1" fontAlgn="base" hangingPunct="1">
        <a:spcBef>
          <a:spcPct val="20000"/>
        </a:spcBef>
        <a:spcAft>
          <a:spcPct val="0"/>
        </a:spcAft>
        <a:buClr>
          <a:schemeClr val="accent2"/>
        </a:buClr>
        <a:buFont typeface="Wingdings" pitchFamily="2" charset="2"/>
        <a:buChar char="§"/>
        <a:defRPr sz="3200">
          <a:solidFill>
            <a:schemeClr val="accent2"/>
          </a:solidFill>
          <a:latin typeface="Calibri" pitchFamily="34" charset="0"/>
          <a:ea typeface="+mn-ea"/>
          <a:cs typeface="+mn-cs"/>
        </a:defRPr>
      </a:lvl1pPr>
      <a:lvl2pPr marL="742913" indent="-285737" algn="l" rtl="0" eaLnBrk="1" fontAlgn="base" hangingPunct="1">
        <a:spcBef>
          <a:spcPct val="20000"/>
        </a:spcBef>
        <a:spcAft>
          <a:spcPct val="0"/>
        </a:spcAft>
        <a:buClr>
          <a:schemeClr val="tx1"/>
        </a:buClr>
        <a:buFont typeface="Wingdings" pitchFamily="2" charset="2"/>
        <a:buChar char="§"/>
        <a:defRPr sz="2800">
          <a:solidFill>
            <a:schemeClr val="tx1"/>
          </a:solidFill>
          <a:latin typeface="Calibri" pitchFamily="34" charset="0"/>
        </a:defRPr>
      </a:lvl2pPr>
      <a:lvl3pPr marL="1142942" indent="-228589" algn="l" rtl="0" eaLnBrk="1" fontAlgn="base" hangingPunct="1">
        <a:spcBef>
          <a:spcPct val="20000"/>
        </a:spcBef>
        <a:spcAft>
          <a:spcPct val="0"/>
        </a:spcAft>
        <a:buClr>
          <a:schemeClr val="accent2"/>
        </a:buClr>
        <a:buFont typeface="Wingdings" pitchFamily="2" charset="2"/>
        <a:buChar char="§"/>
        <a:defRPr sz="2400">
          <a:solidFill>
            <a:schemeClr val="tx1"/>
          </a:solidFill>
          <a:latin typeface="Calibri" pitchFamily="34" charset="0"/>
        </a:defRPr>
      </a:lvl3pPr>
      <a:lvl4pPr marL="1600120" indent="-228589" algn="l" rtl="0" eaLnBrk="1" fontAlgn="base" hangingPunct="1">
        <a:spcBef>
          <a:spcPct val="20000"/>
        </a:spcBef>
        <a:spcAft>
          <a:spcPct val="0"/>
        </a:spcAft>
        <a:buClr>
          <a:schemeClr val="tx1"/>
        </a:buClr>
        <a:buFont typeface="Wingdings" pitchFamily="2" charset="2"/>
        <a:buChar char="§"/>
        <a:defRPr sz="2000">
          <a:solidFill>
            <a:schemeClr val="tx1"/>
          </a:solidFill>
          <a:latin typeface="Calibri" pitchFamily="34" charset="0"/>
        </a:defRPr>
      </a:lvl4pPr>
      <a:lvl5pPr marL="2057298"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Calibri" pitchFamily="34" charset="0"/>
        </a:defRPr>
      </a:lvl5pPr>
      <a:lvl6pPr marL="2514474"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354" rtl="0" eaLnBrk="1" latinLnBrk="0" hangingPunct="1">
        <a:defRPr sz="1900" kern="1200">
          <a:solidFill>
            <a:schemeClr val="tx1"/>
          </a:solidFill>
          <a:latin typeface="+mn-lt"/>
          <a:ea typeface="+mn-ea"/>
          <a:cs typeface="+mn-cs"/>
        </a:defRPr>
      </a:lvl1pPr>
      <a:lvl2pPr marL="457178" algn="l" defTabSz="914354" rtl="0" eaLnBrk="1" latinLnBrk="0" hangingPunct="1">
        <a:defRPr sz="1900" kern="1200">
          <a:solidFill>
            <a:schemeClr val="tx1"/>
          </a:solidFill>
          <a:latin typeface="+mn-lt"/>
          <a:ea typeface="+mn-ea"/>
          <a:cs typeface="+mn-cs"/>
        </a:defRPr>
      </a:lvl2pPr>
      <a:lvl3pPr marL="914354" algn="l" defTabSz="914354" rtl="0" eaLnBrk="1" latinLnBrk="0" hangingPunct="1">
        <a:defRPr sz="1900" kern="1200">
          <a:solidFill>
            <a:schemeClr val="tx1"/>
          </a:solidFill>
          <a:latin typeface="+mn-lt"/>
          <a:ea typeface="+mn-ea"/>
          <a:cs typeface="+mn-cs"/>
        </a:defRPr>
      </a:lvl3pPr>
      <a:lvl4pPr marL="1371532" algn="l" defTabSz="914354" rtl="0" eaLnBrk="1" latinLnBrk="0" hangingPunct="1">
        <a:defRPr sz="1900" kern="1200">
          <a:solidFill>
            <a:schemeClr val="tx1"/>
          </a:solidFill>
          <a:latin typeface="+mn-lt"/>
          <a:ea typeface="+mn-ea"/>
          <a:cs typeface="+mn-cs"/>
        </a:defRPr>
      </a:lvl4pPr>
      <a:lvl5pPr marL="1828709" algn="l" defTabSz="914354" rtl="0" eaLnBrk="1" latinLnBrk="0" hangingPunct="1">
        <a:defRPr sz="1900" kern="1200">
          <a:solidFill>
            <a:schemeClr val="tx1"/>
          </a:solidFill>
          <a:latin typeface="+mn-lt"/>
          <a:ea typeface="+mn-ea"/>
          <a:cs typeface="+mn-cs"/>
        </a:defRPr>
      </a:lvl5pPr>
      <a:lvl6pPr marL="2285886" algn="l" defTabSz="914354" rtl="0" eaLnBrk="1" latinLnBrk="0" hangingPunct="1">
        <a:defRPr sz="1900" kern="1200">
          <a:solidFill>
            <a:schemeClr val="tx1"/>
          </a:solidFill>
          <a:latin typeface="+mn-lt"/>
          <a:ea typeface="+mn-ea"/>
          <a:cs typeface="+mn-cs"/>
        </a:defRPr>
      </a:lvl6pPr>
      <a:lvl7pPr marL="2743062" algn="l" defTabSz="914354" rtl="0" eaLnBrk="1" latinLnBrk="0" hangingPunct="1">
        <a:defRPr sz="1900" kern="1200">
          <a:solidFill>
            <a:schemeClr val="tx1"/>
          </a:solidFill>
          <a:latin typeface="+mn-lt"/>
          <a:ea typeface="+mn-ea"/>
          <a:cs typeface="+mn-cs"/>
        </a:defRPr>
      </a:lvl7pPr>
      <a:lvl8pPr marL="3200240" algn="l" defTabSz="914354" rtl="0" eaLnBrk="1" latinLnBrk="0" hangingPunct="1">
        <a:defRPr sz="1900" kern="1200">
          <a:solidFill>
            <a:schemeClr val="tx1"/>
          </a:solidFill>
          <a:latin typeface="+mn-lt"/>
          <a:ea typeface="+mn-ea"/>
          <a:cs typeface="+mn-cs"/>
        </a:defRPr>
      </a:lvl8pPr>
      <a:lvl9pPr marL="3657418" algn="l" defTabSz="914354"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3.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tags" Target="../tags/tag6.xml"/><Relationship Id="rId7" Type="http://schemas.openxmlformats.org/officeDocument/2006/relationships/image" Target="../media/image14.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11.png"/><Relationship Id="rId5" Type="http://schemas.openxmlformats.org/officeDocument/2006/relationships/notesSlide" Target="../notesSlides/notesSlide12.xml"/><Relationship Id="rId10" Type="http://schemas.openxmlformats.org/officeDocument/2006/relationships/image" Target="../media/image16.png"/><Relationship Id="rId4" Type="http://schemas.openxmlformats.org/officeDocument/2006/relationships/slideLayout" Target="../slideLayouts/slideLayout2.xml"/><Relationship Id="rId9"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image" Target="../media/image30.png"/><Relationship Id="rId5" Type="http://schemas.openxmlformats.org/officeDocument/2006/relationships/image" Target="../media/image29.wmf"/><Relationship Id="rId4" Type="http://schemas.openxmlformats.org/officeDocument/2006/relationships/image" Target="../media/image28.wmf"/></Relationships>
</file>

<file path=ppt/slides/_rels/slide3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oleObject" Target="../embeddings/oleObject2.bin"/><Relationship Id="rId7" Type="http://schemas.openxmlformats.org/officeDocument/2006/relationships/image" Target="../media/image34.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oleObject" Target="../embeddings/oleObject3.bin"/><Relationship Id="rId4" Type="http://schemas.openxmlformats.org/officeDocument/2006/relationships/image" Target="../media/image32.png"/></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9"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539844" y="1789357"/>
            <a:ext cx="5146956" cy="3925644"/>
          </a:xfrm>
          <a:prstGeom prst="rect">
            <a:avLst/>
          </a:prstGeom>
          <a:noFill/>
          <a:extLst>
            <a:ext uri="{909E8E84-426E-40dd-AFC4-6F175D3DCCD1}">
              <a14:hiddenFill xmlns="" xmlns:a14="http://schemas.microsoft.com/office/drawing/2010/main">
                <a:solidFill>
                  <a:srgbClr val="FFFFFF"/>
                </a:solidFill>
              </a14:hiddenFill>
            </a:ext>
          </a:extLst>
        </p:spPr>
      </p:pic>
      <p:sp>
        <p:nvSpPr>
          <p:cNvPr id="5122" name="Rectangle 5"/>
          <p:cNvSpPr>
            <a:spLocks noGrp="1" noChangeArrowheads="1"/>
          </p:cNvSpPr>
          <p:nvPr>
            <p:ph type="ctrTitle"/>
          </p:nvPr>
        </p:nvSpPr>
        <p:spPr>
          <a:xfrm>
            <a:off x="0" y="279403"/>
            <a:ext cx="12192000" cy="1470025"/>
          </a:xfrm>
        </p:spPr>
        <p:txBody>
          <a:bodyPr/>
          <a:lstStyle/>
          <a:p>
            <a:pPr eaLnBrk="1" hangingPunct="1"/>
            <a:r>
              <a:rPr lang="vi-VN" dirty="0"/>
              <a:t>AIT2004: </a:t>
            </a:r>
            <a:r>
              <a:rPr lang="en-US" dirty="0" err="1"/>
              <a:t>Cơ</a:t>
            </a:r>
            <a:r>
              <a:rPr lang="en-US" dirty="0"/>
              <a:t> </a:t>
            </a:r>
            <a:r>
              <a:rPr lang="en-US" dirty="0" err="1"/>
              <a:t>sở</a:t>
            </a:r>
            <a:r>
              <a:rPr lang="en-US" dirty="0"/>
              <a:t> </a:t>
            </a:r>
            <a:r>
              <a:rPr lang="vi-VN" dirty="0"/>
              <a:t>Trí tuệ nhân tạo</a:t>
            </a:r>
            <a:br>
              <a:rPr lang="vi-VN" dirty="0"/>
            </a:br>
            <a:endParaRPr lang="vi-VN" sz="3600" noProof="1"/>
          </a:p>
        </p:txBody>
      </p:sp>
      <p:sp>
        <p:nvSpPr>
          <p:cNvPr id="5123" name="Rectangle 6"/>
          <p:cNvSpPr>
            <a:spLocks noGrp="1" noChangeArrowheads="1"/>
          </p:cNvSpPr>
          <p:nvPr>
            <p:ph type="subTitle" idx="1"/>
          </p:nvPr>
        </p:nvSpPr>
        <p:spPr>
          <a:xfrm>
            <a:off x="0" y="1295400"/>
            <a:ext cx="12192000" cy="1524000"/>
          </a:xfrm>
        </p:spPr>
        <p:txBody>
          <a:bodyPr/>
          <a:lstStyle/>
          <a:p>
            <a:pPr eaLnBrk="1" hangingPunct="1"/>
            <a:r>
              <a:rPr lang="vi-VN" sz="4300" noProof="0" dirty="0"/>
              <a:t>Tìm kiếm có đối thủ và cây tìm kiếm trò chơi</a:t>
            </a:r>
          </a:p>
        </p:txBody>
      </p:sp>
      <p:sp>
        <p:nvSpPr>
          <p:cNvPr id="5124" name="Text Box 7"/>
          <p:cNvSpPr txBox="1">
            <a:spLocks noChangeArrowheads="1"/>
          </p:cNvSpPr>
          <p:nvPr/>
        </p:nvSpPr>
        <p:spPr bwMode="auto">
          <a:xfrm>
            <a:off x="1524000" y="6248403"/>
            <a:ext cx="5867400" cy="369328"/>
          </a:xfrm>
          <a:prstGeom prst="rect">
            <a:avLst/>
          </a:prstGeom>
          <a:noFill/>
          <a:ln w="9525">
            <a:noFill/>
            <a:miter lim="800000"/>
            <a:headEnd/>
            <a:tailEnd/>
          </a:ln>
        </p:spPr>
        <p:txBody>
          <a:bodyPr lIns="91432" tIns="45718" rIns="91432" bIns="45718">
            <a:spAutoFit/>
          </a:bodyPr>
          <a:lstStyle/>
          <a:p>
            <a:pPr>
              <a:spcBef>
                <a:spcPct val="50000"/>
              </a:spcBef>
            </a:pPr>
            <a:endParaRPr lang="en-US"/>
          </a:p>
        </p:txBody>
      </p:sp>
      <p:sp>
        <p:nvSpPr>
          <p:cNvPr id="2" name="Text Box 8">
            <a:extLst>
              <a:ext uri="{FF2B5EF4-FFF2-40B4-BE49-F238E27FC236}">
                <a16:creationId xmlns:a16="http://schemas.microsoft.com/office/drawing/2014/main" id="{D03AB148-F0FF-2005-F6C7-00B9FD224426}"/>
              </a:ext>
            </a:extLst>
          </p:cNvPr>
          <p:cNvSpPr txBox="1">
            <a:spLocks noChangeArrowheads="1"/>
          </p:cNvSpPr>
          <p:nvPr/>
        </p:nvSpPr>
        <p:spPr bwMode="auto">
          <a:xfrm>
            <a:off x="38100" y="6238809"/>
            <a:ext cx="12115800" cy="315469"/>
          </a:xfrm>
          <a:prstGeom prst="rect">
            <a:avLst/>
          </a:prstGeom>
          <a:noFill/>
          <a:ln w="9525">
            <a:noFill/>
            <a:miter lim="800000"/>
            <a:headEnd/>
            <a:tailEnd/>
          </a:ln>
        </p:spPr>
        <p:txBody>
          <a:bodyPr wrap="square" lIns="68579" tIns="34289" rIns="68579" bIns="34289">
            <a:spAutoFit/>
          </a:bodyPr>
          <a:lstStyle/>
          <a:p>
            <a:pPr algn="ctr">
              <a:spcBef>
                <a:spcPct val="50000"/>
              </a:spcBef>
            </a:pPr>
            <a:r>
              <a:rPr lang="en-US" sz="1600" dirty="0">
                <a:latin typeface="Calibri"/>
                <a:cs typeface="Calibri"/>
              </a:rPr>
              <a:t>[</a:t>
            </a:r>
            <a:r>
              <a:rPr lang="en-US" sz="1600" dirty="0" err="1">
                <a:latin typeface="Calibri"/>
                <a:cs typeface="Calibri"/>
              </a:rPr>
              <a:t>Sử</a:t>
            </a:r>
            <a:r>
              <a:rPr lang="en-US" sz="1600" dirty="0">
                <a:latin typeface="Calibri"/>
                <a:cs typeface="Calibri"/>
              </a:rPr>
              <a:t> </a:t>
            </a:r>
            <a:r>
              <a:rPr lang="en-US" sz="1600" dirty="0" err="1">
                <a:latin typeface="Calibri"/>
                <a:cs typeface="Calibri"/>
              </a:rPr>
              <a:t>dụng</a:t>
            </a:r>
            <a:r>
              <a:rPr lang="en-US" sz="1600" dirty="0">
                <a:latin typeface="Calibri"/>
                <a:cs typeface="Calibri"/>
              </a:rPr>
              <a:t> </a:t>
            </a:r>
            <a:r>
              <a:rPr lang="en-US" sz="1600" dirty="0" err="1">
                <a:latin typeface="Calibri"/>
                <a:cs typeface="Calibri"/>
              </a:rPr>
              <a:t>một</a:t>
            </a:r>
            <a:r>
              <a:rPr lang="en-US" sz="1600" dirty="0">
                <a:latin typeface="Calibri"/>
                <a:cs typeface="Calibri"/>
              </a:rPr>
              <a:t> </a:t>
            </a:r>
            <a:r>
              <a:rPr lang="en-US" sz="1600" dirty="0" err="1">
                <a:latin typeface="Calibri"/>
                <a:cs typeface="Calibri"/>
              </a:rPr>
              <a:t>số</a:t>
            </a:r>
            <a:r>
              <a:rPr lang="en-US" sz="1600" dirty="0">
                <a:latin typeface="Calibri"/>
                <a:cs typeface="Calibri"/>
              </a:rPr>
              <a:t> slides </a:t>
            </a:r>
            <a:r>
              <a:rPr lang="en-US" sz="1600" dirty="0" err="1">
                <a:latin typeface="Calibri"/>
                <a:cs typeface="Calibri"/>
              </a:rPr>
              <a:t>của</a:t>
            </a:r>
            <a:r>
              <a:rPr lang="en-US" sz="1600" dirty="0">
                <a:latin typeface="Calibri"/>
                <a:cs typeface="Calibri"/>
              </a:rPr>
              <a:t> Dan Klein </a:t>
            </a:r>
            <a:r>
              <a:rPr lang="en-US" sz="1600" dirty="0" err="1">
                <a:latin typeface="Calibri"/>
                <a:cs typeface="Calibri"/>
              </a:rPr>
              <a:t>và</a:t>
            </a:r>
            <a:r>
              <a:rPr lang="en-US" sz="1600" dirty="0">
                <a:latin typeface="Calibri"/>
                <a:cs typeface="Calibri"/>
              </a:rPr>
              <a:t> Pieter </a:t>
            </a:r>
            <a:r>
              <a:rPr lang="en-US" sz="1600" dirty="0" err="1">
                <a:latin typeface="Calibri"/>
                <a:cs typeface="Calibri"/>
              </a:rPr>
              <a:t>Abbeel</a:t>
            </a:r>
            <a:r>
              <a:rPr lang="en-US" sz="1600" dirty="0">
                <a:latin typeface="Calibri"/>
                <a:cs typeface="Calibri"/>
              </a:rPr>
              <a:t> </a:t>
            </a:r>
            <a:r>
              <a:rPr lang="en-US" sz="1600" dirty="0" err="1">
                <a:latin typeface="Calibri"/>
                <a:cs typeface="Calibri"/>
              </a:rPr>
              <a:t>từ</a:t>
            </a:r>
            <a:r>
              <a:rPr lang="en-US" sz="1600" dirty="0">
                <a:latin typeface="Calibri"/>
                <a:cs typeface="Calibri"/>
              </a:rPr>
              <a:t> CS188 Intro to AI at UC Berkeley]</a:t>
            </a:r>
            <a:endParaRPr lang="en-US" sz="140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dirty="0" err="1"/>
              <a:t>Học</a:t>
            </a:r>
            <a:r>
              <a:rPr lang="en-US" dirty="0"/>
              <a:t> </a:t>
            </a:r>
            <a:r>
              <a:rPr lang="en-US" dirty="0" err="1"/>
              <a:t>liệu</a:t>
            </a:r>
            <a:endParaRPr lang="vi-VN" dirty="0"/>
          </a:p>
        </p:txBody>
      </p:sp>
      <p:sp>
        <p:nvSpPr>
          <p:cNvPr id="8195" name="Rectangle 3"/>
          <p:cNvSpPr>
            <a:spLocks noGrp="1" noChangeArrowheads="1"/>
          </p:cNvSpPr>
          <p:nvPr>
            <p:ph type="body" idx="1"/>
          </p:nvPr>
        </p:nvSpPr>
        <p:spPr>
          <a:xfrm>
            <a:off x="406400" y="1295400"/>
            <a:ext cx="10337800" cy="4525963"/>
          </a:xfrm>
        </p:spPr>
        <p:txBody>
          <a:bodyPr/>
          <a:lstStyle/>
          <a:p>
            <a:pPr eaLnBrk="1" hangingPunct="1">
              <a:lnSpc>
                <a:spcPct val="80000"/>
              </a:lnSpc>
            </a:pPr>
            <a:r>
              <a:rPr lang="en-US" dirty="0" err="1"/>
              <a:t>Đinh</a:t>
            </a:r>
            <a:r>
              <a:rPr lang="en-US" dirty="0"/>
              <a:t> </a:t>
            </a:r>
            <a:r>
              <a:rPr lang="en-US" dirty="0" err="1"/>
              <a:t>Mạnh</a:t>
            </a:r>
            <a:r>
              <a:rPr lang="en-US" dirty="0"/>
              <a:t> </a:t>
            </a:r>
            <a:r>
              <a:rPr lang="en-US" dirty="0" err="1"/>
              <a:t>Tường</a:t>
            </a:r>
            <a:r>
              <a:rPr lang="en-US" dirty="0"/>
              <a:t>, </a:t>
            </a:r>
            <a:r>
              <a:rPr lang="en-US" i="1" dirty="0" err="1"/>
              <a:t>Trí</a:t>
            </a:r>
            <a:r>
              <a:rPr lang="en-US" i="1" dirty="0"/>
              <a:t> </a:t>
            </a:r>
            <a:r>
              <a:rPr lang="en-US" i="1" dirty="0" err="1"/>
              <a:t>tuệ</a:t>
            </a:r>
            <a:r>
              <a:rPr lang="en-US" i="1" dirty="0"/>
              <a:t> </a:t>
            </a:r>
            <a:r>
              <a:rPr lang="en-US" i="1" dirty="0" err="1"/>
              <a:t>nhân</a:t>
            </a:r>
            <a:r>
              <a:rPr lang="en-US" i="1" dirty="0"/>
              <a:t> </a:t>
            </a:r>
            <a:r>
              <a:rPr lang="en-US" i="1" dirty="0" err="1"/>
              <a:t>tạo</a:t>
            </a:r>
            <a:r>
              <a:rPr lang="en-US" i="1" dirty="0"/>
              <a:t> – </a:t>
            </a:r>
            <a:r>
              <a:rPr lang="en-US" i="1" dirty="0" err="1"/>
              <a:t>Cách</a:t>
            </a:r>
            <a:r>
              <a:rPr lang="en-US" i="1" dirty="0"/>
              <a:t> </a:t>
            </a:r>
            <a:r>
              <a:rPr lang="en-US" i="1" dirty="0" err="1"/>
              <a:t>tiếp</a:t>
            </a:r>
            <a:r>
              <a:rPr lang="en-US" i="1" dirty="0"/>
              <a:t> </a:t>
            </a:r>
            <a:r>
              <a:rPr lang="en-US" i="1" dirty="0" err="1"/>
              <a:t>cận</a:t>
            </a:r>
            <a:r>
              <a:rPr lang="en-US" i="1" dirty="0"/>
              <a:t> </a:t>
            </a:r>
            <a:r>
              <a:rPr lang="en-US" i="1" dirty="0" err="1"/>
              <a:t>hiện</a:t>
            </a:r>
            <a:r>
              <a:rPr lang="en-US" i="1" dirty="0"/>
              <a:t> </a:t>
            </a:r>
            <a:r>
              <a:rPr lang="en-US" i="1" dirty="0" err="1"/>
              <a:t>đại</a:t>
            </a:r>
            <a:r>
              <a:rPr lang="en-US" i="1" dirty="0"/>
              <a:t>, NXB Khoa </a:t>
            </a:r>
            <a:r>
              <a:rPr lang="en-US" i="1" dirty="0" err="1"/>
              <a:t>học</a:t>
            </a:r>
            <a:r>
              <a:rPr lang="en-US" i="1" dirty="0"/>
              <a:t> </a:t>
            </a:r>
            <a:r>
              <a:rPr lang="en-US" i="1" dirty="0" err="1"/>
              <a:t>kỹ</a:t>
            </a:r>
            <a:r>
              <a:rPr lang="en-US" i="1" dirty="0"/>
              <a:t> </a:t>
            </a:r>
            <a:r>
              <a:rPr lang="en-US" i="1" dirty="0" err="1"/>
              <a:t>thuật</a:t>
            </a:r>
            <a:r>
              <a:rPr lang="en-US" i="1" dirty="0"/>
              <a:t>, 2024</a:t>
            </a:r>
          </a:p>
          <a:p>
            <a:pPr lvl="1" eaLnBrk="1" hangingPunct="1">
              <a:lnSpc>
                <a:spcPct val="80000"/>
              </a:lnSpc>
            </a:pPr>
            <a:r>
              <a:rPr lang="en-US" dirty="0" err="1"/>
              <a:t>Chương</a:t>
            </a:r>
            <a:r>
              <a:rPr lang="en-US" dirty="0"/>
              <a:t> 7. </a:t>
            </a:r>
            <a:r>
              <a:rPr lang="en-US" dirty="0" err="1"/>
              <a:t>Tìm</a:t>
            </a:r>
            <a:r>
              <a:rPr lang="en-US" dirty="0"/>
              <a:t> </a:t>
            </a:r>
            <a:r>
              <a:rPr lang="en-US" dirty="0" err="1"/>
              <a:t>kiếm</a:t>
            </a:r>
            <a:r>
              <a:rPr lang="en-US" dirty="0"/>
              <a:t> </a:t>
            </a:r>
            <a:r>
              <a:rPr lang="en-US" dirty="0" err="1"/>
              <a:t>có</a:t>
            </a:r>
            <a:r>
              <a:rPr lang="en-US" dirty="0"/>
              <a:t> </a:t>
            </a:r>
            <a:r>
              <a:rPr lang="en-US" dirty="0" err="1"/>
              <a:t>đối</a:t>
            </a:r>
            <a:r>
              <a:rPr lang="en-US" dirty="0"/>
              <a:t> </a:t>
            </a:r>
            <a:r>
              <a:rPr lang="en-US"/>
              <a:t>thủ</a:t>
            </a:r>
            <a:endParaRPr lang="en-US" dirty="0"/>
          </a:p>
          <a:p>
            <a:pPr lvl="3">
              <a:lnSpc>
                <a:spcPct val="80000"/>
              </a:lnSpc>
            </a:pPr>
            <a:endParaRPr lang="en-US" sz="2400" dirty="0"/>
          </a:p>
          <a:p>
            <a:pPr eaLnBrk="1" hangingPunct="1">
              <a:lnSpc>
                <a:spcPct val="80000"/>
              </a:lnSpc>
            </a:pPr>
            <a:r>
              <a:rPr lang="en-US" dirty="0"/>
              <a:t>Wolfgang </a:t>
            </a:r>
            <a:r>
              <a:rPr lang="en-US" dirty="0" err="1"/>
              <a:t>Ertel</a:t>
            </a:r>
            <a:r>
              <a:rPr lang="en-US" dirty="0"/>
              <a:t>, </a:t>
            </a:r>
            <a:r>
              <a:rPr lang="en-US" i="1" dirty="0"/>
              <a:t>Introduction to Artificial Intelligence (2nd ed)</a:t>
            </a:r>
            <a:r>
              <a:rPr lang="en-US" dirty="0"/>
              <a:t>, Springer 2017</a:t>
            </a:r>
          </a:p>
          <a:p>
            <a:pPr lvl="1" eaLnBrk="1" hangingPunct="1">
              <a:lnSpc>
                <a:spcPct val="80000"/>
              </a:lnSpc>
            </a:pPr>
            <a:r>
              <a:rPr lang="en-US" dirty="0"/>
              <a:t>Chapter 6. Search, Games and Problem Solving</a:t>
            </a:r>
          </a:p>
          <a:p>
            <a:pPr lvl="3" eaLnBrk="1" hangingPunct="1">
              <a:lnSpc>
                <a:spcPct val="80000"/>
              </a:lnSpc>
            </a:pPr>
            <a:endParaRPr lang="en-US" dirty="0"/>
          </a:p>
          <a:p>
            <a:pPr eaLnBrk="1" hangingPunct="1">
              <a:lnSpc>
                <a:spcPct val="80000"/>
              </a:lnSpc>
            </a:pPr>
            <a:r>
              <a:rPr lang="vi-VN" dirty="0" err="1"/>
              <a:t>Russell</a:t>
            </a:r>
            <a:r>
              <a:rPr lang="vi-VN" dirty="0"/>
              <a:t> &amp; </a:t>
            </a:r>
            <a:r>
              <a:rPr lang="vi-VN" dirty="0" err="1"/>
              <a:t>Norvig</a:t>
            </a:r>
            <a:r>
              <a:rPr lang="vi-VN" dirty="0"/>
              <a:t>, </a:t>
            </a:r>
            <a:r>
              <a:rPr lang="vi-VN" i="1" dirty="0"/>
              <a:t>AI: A </a:t>
            </a:r>
            <a:r>
              <a:rPr lang="vi-VN" i="1" dirty="0" err="1"/>
              <a:t>Modern</a:t>
            </a:r>
            <a:r>
              <a:rPr lang="vi-VN" i="1" dirty="0"/>
              <a:t> </a:t>
            </a:r>
            <a:r>
              <a:rPr lang="vi-VN" i="1" dirty="0" err="1"/>
              <a:t>Approach</a:t>
            </a:r>
            <a:r>
              <a:rPr lang="vi-VN" i="1" dirty="0"/>
              <a:t>, 4</a:t>
            </a:r>
            <a:r>
              <a:rPr lang="vi-VN" i="1" baseline="30000" dirty="0"/>
              <a:t>th</a:t>
            </a:r>
            <a:r>
              <a:rPr lang="vi-VN" i="1" dirty="0"/>
              <a:t> </a:t>
            </a:r>
            <a:r>
              <a:rPr lang="en-US" i="1" dirty="0"/>
              <a:t>ed.</a:t>
            </a:r>
            <a:r>
              <a:rPr lang="en-US" dirty="0"/>
              <a:t>, Pearson 2020</a:t>
            </a:r>
          </a:p>
          <a:p>
            <a:pPr lvl="1" eaLnBrk="1" hangingPunct="1">
              <a:lnSpc>
                <a:spcPct val="80000"/>
              </a:lnSpc>
            </a:pPr>
            <a:r>
              <a:rPr lang="en-US" dirty="0"/>
              <a:t>Chapter 5. Adversarial Search and Games</a:t>
            </a:r>
            <a:endParaRPr lang="vi-VN" sz="2400" dirty="0"/>
          </a:p>
          <a:p>
            <a:pPr lvl="1" eaLnBrk="1" hangingPunct="1">
              <a:lnSpc>
                <a:spcPct val="80000"/>
              </a:lnSpc>
            </a:pPr>
            <a:endParaRPr lang="vi-VN" sz="2400" dirty="0"/>
          </a:p>
          <a:p>
            <a:pPr lvl="1" eaLnBrk="1" hangingPunct="1">
              <a:lnSpc>
                <a:spcPct val="80000"/>
              </a:lnSpc>
            </a:pPr>
            <a:endParaRPr lang="vi-VN" sz="2400" dirty="0"/>
          </a:p>
          <a:p>
            <a:pPr lvl="1" eaLnBrk="1" hangingPunct="1">
              <a:lnSpc>
                <a:spcPct val="80000"/>
              </a:lnSpc>
            </a:pPr>
            <a:endParaRPr lang="vi-VN" sz="2400" dirty="0"/>
          </a:p>
          <a:p>
            <a:pPr marL="457176" lvl="1" indent="0" eaLnBrk="1" hangingPunct="1">
              <a:lnSpc>
                <a:spcPct val="80000"/>
              </a:lnSpc>
              <a:buNone/>
            </a:pPr>
            <a:endParaRPr lang="vi-VN" sz="2400" dirty="0"/>
          </a:p>
          <a:p>
            <a:pPr lvl="1" eaLnBrk="1" hangingPunct="1">
              <a:lnSpc>
                <a:spcPct val="80000"/>
              </a:lnSpc>
            </a:pPr>
            <a:endParaRPr lang="vi-VN" sz="2400" dirty="0"/>
          </a:p>
          <a:p>
            <a:pPr lvl="1" eaLnBrk="1" hangingPunct="1">
              <a:lnSpc>
                <a:spcPct val="80000"/>
              </a:lnSpc>
            </a:pPr>
            <a:endParaRPr lang="vi-VN" sz="2400" dirty="0"/>
          </a:p>
          <a:p>
            <a:pPr lvl="1" eaLnBrk="1" hangingPunct="1">
              <a:lnSpc>
                <a:spcPct val="80000"/>
              </a:lnSpc>
            </a:pPr>
            <a:endParaRPr lang="vi-VN" sz="2400" dirty="0"/>
          </a:p>
          <a:p>
            <a:pPr lvl="1" eaLnBrk="1" hangingPunct="1">
              <a:lnSpc>
                <a:spcPct val="80000"/>
              </a:lnSpc>
            </a:pPr>
            <a:endParaRPr lang="vi-VN" sz="2400" dirty="0"/>
          </a:p>
          <a:p>
            <a:pPr lvl="1" eaLnBrk="1" hangingPunct="1">
              <a:lnSpc>
                <a:spcPct val="80000"/>
              </a:lnSpc>
            </a:pPr>
            <a:endParaRPr lang="vi-VN" sz="2400" dirty="0"/>
          </a:p>
          <a:p>
            <a:pPr marL="0" indent="0" eaLnBrk="1" hangingPunct="1">
              <a:lnSpc>
                <a:spcPct val="80000"/>
              </a:lnSpc>
              <a:buNone/>
            </a:pPr>
            <a:endParaRPr lang="vi-VN" sz="2800" dirty="0"/>
          </a:p>
          <a:p>
            <a:pPr eaLnBrk="1" hangingPunct="1">
              <a:lnSpc>
                <a:spcPct val="80000"/>
              </a:lnSpc>
              <a:buFont typeface="Wingdings" pitchFamily="2" charset="2"/>
              <a:buNone/>
            </a:pPr>
            <a:endParaRPr lang="vi-VN" sz="2800" dirty="0"/>
          </a:p>
        </p:txBody>
      </p:sp>
    </p:spTree>
    <p:extLst>
      <p:ext uri="{BB962C8B-B14F-4D97-AF65-F5344CB8AC3E}">
        <p14:creationId xmlns:p14="http://schemas.microsoft.com/office/powerpoint/2010/main" val="696472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vi-VN" noProof="1"/>
              <a:t>Trò chơi trí tuệ (State-of-the-Art – SOTA)</a:t>
            </a:r>
          </a:p>
        </p:txBody>
      </p:sp>
      <p:sp>
        <p:nvSpPr>
          <p:cNvPr id="1098755" name="Rectangle 3"/>
          <p:cNvSpPr>
            <a:spLocks noGrp="1" noChangeArrowheads="1"/>
          </p:cNvSpPr>
          <p:nvPr>
            <p:ph idx="1"/>
          </p:nvPr>
        </p:nvSpPr>
        <p:spPr>
          <a:xfrm>
            <a:off x="381000" y="1295400"/>
            <a:ext cx="5562600" cy="4983162"/>
          </a:xfrm>
        </p:spPr>
        <p:txBody>
          <a:bodyPr/>
          <a:lstStyle/>
          <a:p>
            <a:pPr eaLnBrk="1" hangingPunct="1">
              <a:lnSpc>
                <a:spcPct val="80000"/>
              </a:lnSpc>
            </a:pPr>
            <a:r>
              <a:rPr lang="vi-VN" sz="1900" b="1" noProof="1"/>
              <a:t>Cờ đam (Checkers):</a:t>
            </a:r>
            <a:r>
              <a:rPr lang="vi-VN" sz="1900" noProof="1"/>
              <a:t> 1950: Chương trình máy tính đầu tiên.  1994: Máy tính vô địch: Chinook kết thúc 40 năm thống trị của nhà vô địch thế giới Marion Tinsley sử dụng các thế cờ tàn gồm 8 quân. 2007: Checkers đã được giải quyết !</a:t>
            </a:r>
          </a:p>
          <a:p>
            <a:pPr eaLnBrk="1" hangingPunct="1">
              <a:lnSpc>
                <a:spcPct val="80000"/>
              </a:lnSpc>
            </a:pPr>
            <a:endParaRPr lang="vi-VN" sz="1600" b="1" noProof="1"/>
          </a:p>
          <a:p>
            <a:pPr eaLnBrk="1" hangingPunct="1">
              <a:lnSpc>
                <a:spcPct val="80000"/>
              </a:lnSpc>
            </a:pPr>
            <a:r>
              <a:rPr lang="vi-VN" sz="1900" b="1" noProof="1"/>
              <a:t>Cờ vua (Chess):</a:t>
            </a:r>
            <a:r>
              <a:rPr lang="vi-VN" sz="1900" noProof="1"/>
              <a:t> 1997: Deep Blue đánh bại nhà vô địch thế giới Gary Kasparov trong trận đấu 6 ván.  Deep Blue tính 200 triệu nước đi trong một giây, sử dụng các ước lượng phức tạp và phương pháp mở rộng cây tìm kiếm (không công bố) lên đến 40 nước đi. Các chương trình ngày nay còn tốt hơn thế.</a:t>
            </a:r>
          </a:p>
          <a:p>
            <a:pPr eaLnBrk="1" hangingPunct="1">
              <a:lnSpc>
                <a:spcPct val="80000"/>
              </a:lnSpc>
            </a:pPr>
            <a:endParaRPr lang="vi-VN" sz="1600" b="1" noProof="1"/>
          </a:p>
          <a:p>
            <a:pPr eaLnBrk="1" hangingPunct="1">
              <a:lnSpc>
                <a:spcPct val="80000"/>
              </a:lnSpc>
            </a:pPr>
            <a:r>
              <a:rPr lang="vi-VN" sz="1900" b="1" noProof="1"/>
              <a:t>Cờ vây (Go):</a:t>
            </a:r>
            <a:r>
              <a:rPr lang="vi-VN" sz="1900" noProof="1"/>
              <a:t> Các nhà vô địch thế giới đang bị thách thức bởi máy tính. Cờ vây có hệ số phân nhánh lớn, b &gt; 300. Các chương trình trước đây sử dụng hệ cơ sở tri thức còn các chương trình ngày nay sử dụng phương pháp mở rộng cây tìm kiếm Monte Carlo (ngẫu nhiên).</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943600" y="1360100"/>
            <a:ext cx="6248400" cy="4887716"/>
          </a:xfrm>
          <a:prstGeom prst="rect">
            <a:avLst/>
          </a:prstGeom>
          <a:noFill/>
        </p:spPr>
      </p:pic>
      <p:sp>
        <p:nvSpPr>
          <p:cNvPr id="8" name="Rectangle 7"/>
          <p:cNvSpPr/>
          <p:nvPr/>
        </p:nvSpPr>
        <p:spPr>
          <a:xfrm>
            <a:off x="7010400" y="1371600"/>
            <a:ext cx="1676400" cy="45142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8229600" y="1371600"/>
            <a:ext cx="1676400" cy="45142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9372600" y="1371600"/>
            <a:ext cx="1676400" cy="45142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10746606" y="1371600"/>
            <a:ext cx="1445394" cy="45142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87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9875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9875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vi-VN" noProof="1"/>
              <a:t>Game Playing State-of-the-Art</a:t>
            </a:r>
          </a:p>
        </p:txBody>
      </p:sp>
      <p:sp>
        <p:nvSpPr>
          <p:cNvPr id="1098755" name="Rectangle 3"/>
          <p:cNvSpPr>
            <a:spLocks noGrp="1" noChangeArrowheads="1"/>
          </p:cNvSpPr>
          <p:nvPr>
            <p:ph idx="1"/>
          </p:nvPr>
        </p:nvSpPr>
        <p:spPr>
          <a:xfrm>
            <a:off x="381000" y="1295400"/>
            <a:ext cx="5562600" cy="4983162"/>
          </a:xfrm>
        </p:spPr>
        <p:txBody>
          <a:bodyPr/>
          <a:lstStyle/>
          <a:p>
            <a:pPr>
              <a:lnSpc>
                <a:spcPct val="80000"/>
              </a:lnSpc>
            </a:pPr>
            <a:r>
              <a:rPr lang="vi-VN" sz="1900" b="1" noProof="1"/>
              <a:t>Cờ đam (Checkers):</a:t>
            </a:r>
            <a:r>
              <a:rPr lang="vi-VN" sz="1900" noProof="1"/>
              <a:t> 1950: Chương trình máy tính đầu tiên.  1994: Máy tính vô địch: Chinook kết thúc 40 năm thống trị của nhà vô địch thế giới Marion Tinsley sử dụng các thế cờ tàn gồm 8 quân. 2007: Checkers đã được giải quyết !</a:t>
            </a:r>
          </a:p>
          <a:p>
            <a:pPr>
              <a:lnSpc>
                <a:spcPct val="80000"/>
              </a:lnSpc>
            </a:pPr>
            <a:endParaRPr lang="vi-VN" sz="1600" b="1" noProof="1"/>
          </a:p>
          <a:p>
            <a:pPr>
              <a:lnSpc>
                <a:spcPct val="80000"/>
              </a:lnSpc>
            </a:pPr>
            <a:r>
              <a:rPr lang="vi-VN" sz="1900" b="1" noProof="1"/>
              <a:t>Cờ vua (Chess):</a:t>
            </a:r>
            <a:r>
              <a:rPr lang="vi-VN" sz="1900" noProof="1"/>
              <a:t> 1997: Deep Blue đánh bại nhà vô địch thế giới Gary Kasparov trong trận đấu 6 ván.  Deep Blue tính 200 triệu nước đi trong một giây, sử dụng các ước lượng phức tạp và phương pháp mở rộng cây tìm kiếm (không công bố) lên đến 40 nước đi. Các chương trình ngày nay còn tốt hơn thế.</a:t>
            </a:r>
          </a:p>
          <a:p>
            <a:pPr eaLnBrk="1" hangingPunct="1">
              <a:lnSpc>
                <a:spcPct val="80000"/>
              </a:lnSpc>
            </a:pPr>
            <a:endParaRPr lang="vi-VN" sz="1600" b="1" noProof="1"/>
          </a:p>
          <a:p>
            <a:pPr eaLnBrk="1" hangingPunct="1">
              <a:lnSpc>
                <a:spcPct val="80000"/>
              </a:lnSpc>
            </a:pPr>
            <a:r>
              <a:rPr lang="vi-VN" sz="1900" b="1" noProof="1"/>
              <a:t>Cờ vây (Go): 2016: Alpha GO đánh bại vô địch thế giới. Sử dụng tìm kiếm Monte Carlo và hàm ước lượng được huấn luyện.</a:t>
            </a:r>
          </a:p>
          <a:p>
            <a:pPr eaLnBrk="1" hangingPunct="1">
              <a:lnSpc>
                <a:spcPct val="80000"/>
              </a:lnSpc>
            </a:pPr>
            <a:endParaRPr lang="vi-VN" sz="1600" b="1" noProof="1"/>
          </a:p>
          <a:p>
            <a:pPr eaLnBrk="1" hangingPunct="1">
              <a:lnSpc>
                <a:spcPct val="80000"/>
              </a:lnSpc>
            </a:pPr>
            <a:r>
              <a:rPr lang="vi-VN" sz="1900" b="1" noProof="1"/>
              <a:t>Pacman</a:t>
            </a:r>
            <a:endParaRPr lang="vi-VN" sz="1900" noProof="1"/>
          </a:p>
          <a:p>
            <a:pPr eaLnBrk="1" hangingPunct="1">
              <a:lnSpc>
                <a:spcPct val="80000"/>
              </a:lnSpc>
            </a:pPr>
            <a:endParaRPr lang="vi-VN" sz="1900" noProof="1"/>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943600" y="1360100"/>
            <a:ext cx="6248400" cy="4887716"/>
          </a:xfrm>
          <a:prstGeom prst="rect">
            <a:avLst/>
          </a:prstGeom>
          <a:noFill/>
        </p:spPr>
      </p:pic>
      <p:sp>
        <p:nvSpPr>
          <p:cNvPr id="11" name="Rectangle 10"/>
          <p:cNvSpPr/>
          <p:nvPr/>
        </p:nvSpPr>
        <p:spPr>
          <a:xfrm>
            <a:off x="10746606" y="1371600"/>
            <a:ext cx="1445394" cy="45142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4"/>
          <a:stretch>
            <a:fillRect/>
          </a:stretch>
        </p:blipFill>
        <p:spPr>
          <a:xfrm>
            <a:off x="9982199" y="2667000"/>
            <a:ext cx="580465" cy="533400"/>
          </a:xfrm>
          <a:prstGeom prst="rect">
            <a:avLst/>
          </a:prstGeom>
        </p:spPr>
      </p:pic>
      <p:pic>
        <p:nvPicPr>
          <p:cNvPr id="3" name="Picture 2"/>
          <p:cNvPicPr>
            <a:picLocks noChangeAspect="1"/>
          </p:cNvPicPr>
          <p:nvPr/>
        </p:nvPicPr>
        <p:blipFill>
          <a:blip r:embed="rId5"/>
          <a:stretch>
            <a:fillRect/>
          </a:stretch>
        </p:blipFill>
        <p:spPr>
          <a:xfrm>
            <a:off x="10132359" y="3200400"/>
            <a:ext cx="383241" cy="685800"/>
          </a:xfrm>
          <a:prstGeom prst="rect">
            <a:avLst/>
          </a:prstGeom>
        </p:spPr>
      </p:pic>
    </p:spTree>
    <p:extLst>
      <p:ext uri="{BB962C8B-B14F-4D97-AF65-F5344CB8AC3E}">
        <p14:creationId xmlns:p14="http://schemas.microsoft.com/office/powerpoint/2010/main" val="1040610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8755">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7"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552765" y="2743200"/>
            <a:ext cx="5105400" cy="3235522"/>
          </a:xfrm>
          <a:prstGeom prst="rect">
            <a:avLst/>
          </a:prstGeom>
          <a:noFill/>
          <a:extLst>
            <a:ext uri="{909E8E84-426E-40dd-AFC4-6F175D3DCCD1}">
              <a14:hiddenFill xmlns="" xmlns:a14="http://schemas.microsoft.com/office/drawing/2010/main">
                <a:solidFill>
                  <a:srgbClr val="FFFFFF"/>
                </a:solidFill>
              </a14:hiddenFill>
            </a:ext>
          </a:extLst>
        </p:spPr>
      </p:pic>
      <p:sp>
        <p:nvSpPr>
          <p:cNvPr id="1027" name="Rectangle 2"/>
          <p:cNvSpPr>
            <a:spLocks noGrp="1" noChangeArrowheads="1"/>
          </p:cNvSpPr>
          <p:nvPr>
            <p:ph type="title"/>
          </p:nvPr>
        </p:nvSpPr>
        <p:spPr/>
        <p:txBody>
          <a:bodyPr/>
          <a:lstStyle/>
          <a:p>
            <a:pPr eaLnBrk="1" hangingPunct="1"/>
            <a:r>
              <a:rPr lang="vi-VN" noProof="1"/>
              <a:t>Trò chơi</a:t>
            </a:r>
          </a:p>
        </p:txBody>
      </p:sp>
      <p:graphicFrame>
        <p:nvGraphicFramePr>
          <p:cNvPr id="2" name="Object 5">
            <a:extLst>
              <a:ext uri="{FF2B5EF4-FFF2-40B4-BE49-F238E27FC236}">
                <a16:creationId xmlns:a16="http://schemas.microsoft.com/office/drawing/2014/main" id="{C775C568-81A1-6CB1-A6E4-F04E2F2114B6}"/>
              </a:ext>
            </a:extLst>
          </p:cNvPr>
          <p:cNvGraphicFramePr>
            <a:graphicFrameLocks noChangeAspect="1"/>
          </p:cNvGraphicFramePr>
          <p:nvPr>
            <p:extLst>
              <p:ext uri="{D42A27DB-BD31-4B8C-83A1-F6EECF244321}">
                <p14:modId xmlns:p14="http://schemas.microsoft.com/office/powerpoint/2010/main" val="46331111"/>
              </p:ext>
            </p:extLst>
          </p:nvPr>
        </p:nvGraphicFramePr>
        <p:xfrm>
          <a:off x="381000" y="1371600"/>
          <a:ext cx="5486400" cy="2988902"/>
        </p:xfrm>
        <a:graphic>
          <a:graphicData uri="http://schemas.openxmlformats.org/presentationml/2006/ole">
            <mc:AlternateContent xmlns:mc="http://schemas.openxmlformats.org/markup-compatibility/2006">
              <mc:Choice xmlns:v="urn:schemas-microsoft-com:vml" Requires="v">
                <p:oleObj name="Photo Editor Photo" r:id="rId3" imgW="4519052" imgH="2461473" progId="MSPhotoEd.3">
                  <p:embed/>
                </p:oleObj>
              </mc:Choice>
              <mc:Fallback>
                <p:oleObj name="Photo Editor Photo" r:id="rId3" imgW="4519052" imgH="2461473" progId="MSPhotoEd.3">
                  <p:embed/>
                  <p:pic>
                    <p:nvPicPr>
                      <p:cNvPr id="1026"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371600"/>
                        <a:ext cx="5486400" cy="298890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TextBox 2">
            <a:extLst>
              <a:ext uri="{FF2B5EF4-FFF2-40B4-BE49-F238E27FC236}">
                <a16:creationId xmlns:a16="http://schemas.microsoft.com/office/drawing/2014/main" id="{292211A3-A779-51F4-5BC8-583DD65BFB95}"/>
              </a:ext>
            </a:extLst>
          </p:cNvPr>
          <p:cNvSpPr txBox="1"/>
          <p:nvPr/>
        </p:nvSpPr>
        <p:spPr>
          <a:xfrm>
            <a:off x="1219200" y="4876800"/>
            <a:ext cx="3858749" cy="523220"/>
          </a:xfrm>
          <a:prstGeom prst="rect">
            <a:avLst/>
          </a:prstGeom>
          <a:noFill/>
        </p:spPr>
        <p:txBody>
          <a:bodyPr wrap="none" rtlCol="0">
            <a:spAutoFit/>
          </a:bodyPr>
          <a:lstStyle/>
          <a:p>
            <a:r>
              <a:rPr lang="en-US" sz="2800" dirty="0" err="1"/>
              <a:t>Hành</a:t>
            </a:r>
            <a:r>
              <a:rPr lang="en-US" sz="2800" dirty="0"/>
              <a:t> vi </a:t>
            </a:r>
            <a:r>
              <a:rPr lang="en-US" sz="2800" dirty="0" err="1"/>
              <a:t>được</a:t>
            </a:r>
            <a:r>
              <a:rPr lang="en-US" sz="2800" dirty="0"/>
              <a:t> </a:t>
            </a:r>
            <a:r>
              <a:rPr lang="en-US" sz="2800" dirty="0" err="1"/>
              <a:t>tính</a:t>
            </a:r>
            <a:r>
              <a:rPr lang="en-US" sz="2800" dirty="0"/>
              <a:t> </a:t>
            </a:r>
            <a:r>
              <a:rPr lang="en-US" sz="2800" dirty="0" err="1"/>
              <a:t>toán</a:t>
            </a:r>
            <a:endParaRPr lang="en-US" sz="2800" dirty="0"/>
          </a:p>
        </p:txBody>
      </p:sp>
      <p:sp>
        <p:nvSpPr>
          <p:cNvPr id="4" name="TextBox 3">
            <a:extLst>
              <a:ext uri="{FF2B5EF4-FFF2-40B4-BE49-F238E27FC236}">
                <a16:creationId xmlns:a16="http://schemas.microsoft.com/office/drawing/2014/main" id="{978B5875-5103-E67B-35C9-8B85FB33288E}"/>
              </a:ext>
            </a:extLst>
          </p:cNvPr>
          <p:cNvSpPr txBox="1"/>
          <p:nvPr/>
        </p:nvSpPr>
        <p:spPr>
          <a:xfrm>
            <a:off x="8458200" y="1905000"/>
            <a:ext cx="1824538" cy="523220"/>
          </a:xfrm>
          <a:prstGeom prst="rect">
            <a:avLst/>
          </a:prstGeom>
          <a:noFill/>
        </p:spPr>
        <p:txBody>
          <a:bodyPr wrap="none" rtlCol="0">
            <a:spAutoFit/>
          </a:bodyPr>
          <a:lstStyle/>
          <a:p>
            <a:r>
              <a:rPr lang="en-US" sz="2800" dirty="0" err="1"/>
              <a:t>Có</a:t>
            </a:r>
            <a:r>
              <a:rPr lang="en-US" sz="2800" dirty="0"/>
              <a:t> </a:t>
            </a:r>
            <a:r>
              <a:rPr lang="en-US" sz="2800" dirty="0" err="1"/>
              <a:t>đối</a:t>
            </a:r>
            <a:r>
              <a:rPr lang="en-US" sz="2800" dirty="0"/>
              <a:t> </a:t>
            </a:r>
            <a:r>
              <a:rPr lang="en-US" sz="2800" dirty="0" err="1"/>
              <a:t>thủ</a:t>
            </a:r>
            <a:endParaRPr 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9"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587412" y="1548776"/>
            <a:ext cx="5148607" cy="2876550"/>
          </a:xfrm>
          <a:prstGeom prst="rect">
            <a:avLst/>
          </a:prstGeom>
          <a:noFill/>
          <a:extLst>
            <a:ext uri="{909E8E84-426E-40dd-AFC4-6F175D3DCCD1}">
              <a14:hiddenFill xmlns="" xmlns:a14="http://schemas.microsoft.com/office/drawing/2010/main">
                <a:solidFill>
                  <a:srgbClr val="FFFFFF"/>
                </a:solidFill>
              </a14:hiddenFill>
            </a:ext>
          </a:extLst>
        </p:spPr>
      </p:pic>
      <p:sp>
        <p:nvSpPr>
          <p:cNvPr id="9219" name="Rectangle 3"/>
          <p:cNvSpPr>
            <a:spLocks noGrp="1" noChangeArrowheads="1"/>
          </p:cNvSpPr>
          <p:nvPr>
            <p:ph idx="1"/>
          </p:nvPr>
        </p:nvSpPr>
        <p:spPr>
          <a:xfrm>
            <a:off x="406400" y="1397001"/>
            <a:ext cx="11379200" cy="4729164"/>
          </a:xfrm>
        </p:spPr>
        <p:txBody>
          <a:bodyPr/>
          <a:lstStyle/>
          <a:p>
            <a:pPr eaLnBrk="1" hangingPunct="1"/>
            <a:r>
              <a:rPr lang="vi-VN" sz="2800" noProof="1"/>
              <a:t>Có rất nhiều kiểu trò chơi!</a:t>
            </a:r>
          </a:p>
          <a:p>
            <a:pPr lvl="1" eaLnBrk="1" hangingPunct="1"/>
            <a:r>
              <a:rPr lang="vi-VN" sz="2400" noProof="1">
                <a:solidFill>
                  <a:srgbClr val="FF0000"/>
                </a:solidFill>
              </a:rPr>
              <a:t>Tất định</a:t>
            </a:r>
            <a:r>
              <a:rPr lang="vi-VN" sz="2400" noProof="1"/>
              <a:t> hay ngẫu nhiên?</a:t>
            </a:r>
          </a:p>
          <a:p>
            <a:pPr lvl="1" eaLnBrk="1" hangingPunct="1"/>
            <a:r>
              <a:rPr lang="vi-VN" sz="2400" noProof="1"/>
              <a:t>Một, hai, ba hay nhiều người chơi?</a:t>
            </a:r>
          </a:p>
          <a:p>
            <a:pPr lvl="1" eaLnBrk="1" hangingPunct="1"/>
            <a:r>
              <a:rPr lang="vi-VN" sz="2400" noProof="1"/>
              <a:t>Tổng bằng 0 (đối kháng)?</a:t>
            </a:r>
          </a:p>
          <a:p>
            <a:pPr lvl="1" eaLnBrk="1" hangingPunct="1"/>
            <a:r>
              <a:rPr lang="vi-VN" sz="2400" noProof="1"/>
              <a:t>Có thông tin đầy đủ (biết toàn bộ trạng thái) </a:t>
            </a:r>
            <a:br>
              <a:rPr lang="en-US" sz="2400" noProof="1"/>
            </a:br>
            <a:r>
              <a:rPr lang="vi-VN" sz="2400" noProof="1"/>
              <a:t>không?</a:t>
            </a:r>
          </a:p>
          <a:p>
            <a:pPr marL="457176" lvl="1" indent="0" eaLnBrk="1" hangingPunct="1">
              <a:buNone/>
            </a:pPr>
            <a:endParaRPr lang="vi-VN" sz="2400" noProof="1"/>
          </a:p>
          <a:p>
            <a:pPr eaLnBrk="1" hangingPunct="1"/>
            <a:r>
              <a:rPr lang="vi-VN" sz="2800" noProof="1"/>
              <a:t>Cần các thuật toán tính ra </a:t>
            </a:r>
            <a:r>
              <a:rPr lang="vi-VN" sz="2800" noProof="1">
                <a:solidFill>
                  <a:srgbClr val="CC0000"/>
                </a:solidFill>
              </a:rPr>
              <a:t>chiến lược </a:t>
            </a:r>
            <a:r>
              <a:rPr lang="vi-VN" sz="2800" noProof="1"/>
              <a:t>gợi ý nước </a:t>
            </a:r>
            <a:br>
              <a:rPr lang="en-US" sz="2800" noProof="1"/>
            </a:br>
            <a:r>
              <a:rPr lang="vi-VN" sz="2800" noProof="1"/>
              <a:t>đi cho mỗi trạng thái của trò chơi</a:t>
            </a:r>
          </a:p>
        </p:txBody>
      </p:sp>
      <p:sp>
        <p:nvSpPr>
          <p:cNvPr id="9218" name="Rectangle 2"/>
          <p:cNvSpPr>
            <a:spLocks noGrp="1" noChangeArrowheads="1"/>
          </p:cNvSpPr>
          <p:nvPr>
            <p:ph type="title"/>
          </p:nvPr>
        </p:nvSpPr>
        <p:spPr/>
        <p:txBody>
          <a:bodyPr/>
          <a:lstStyle/>
          <a:p>
            <a:pPr eaLnBrk="1" hangingPunct="1"/>
            <a:r>
              <a:rPr lang="vi-VN" noProof="1"/>
              <a:t>Các loại trò chơi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3"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908781" y="1460500"/>
            <a:ext cx="4207019" cy="4406900"/>
          </a:xfrm>
          <a:prstGeom prst="rect">
            <a:avLst/>
          </a:prstGeom>
          <a:noFill/>
          <a:extLst>
            <a:ext uri="{909E8E84-426E-40dd-AFC4-6F175D3DCCD1}">
              <a14:hiddenFill xmlns="" xmlns:a14="http://schemas.microsoft.com/office/drawing/2010/main">
                <a:solidFill>
                  <a:srgbClr val="FFFFFF"/>
                </a:solidFill>
              </a14:hiddenFill>
            </a:ext>
          </a:extLst>
        </p:spPr>
      </p:pic>
      <p:sp>
        <p:nvSpPr>
          <p:cNvPr id="10242" name="Title 1"/>
          <p:cNvSpPr>
            <a:spLocks noGrp="1"/>
          </p:cNvSpPr>
          <p:nvPr>
            <p:ph type="title"/>
          </p:nvPr>
        </p:nvSpPr>
        <p:spPr/>
        <p:txBody>
          <a:bodyPr/>
          <a:lstStyle/>
          <a:p>
            <a:r>
              <a:rPr lang="vi-VN" noProof="1"/>
              <a:t>T</a:t>
            </a:r>
            <a:r>
              <a:rPr lang="en-US" noProof="1"/>
              <a:t>rò chơi “tiêu chuẩn”</a:t>
            </a:r>
            <a:endParaRPr lang="vi-VN" noProof="1"/>
          </a:p>
        </p:txBody>
      </p:sp>
      <p:sp>
        <p:nvSpPr>
          <p:cNvPr id="10243" name="Content Placeholder 2"/>
          <p:cNvSpPr>
            <a:spLocks noGrp="1"/>
          </p:cNvSpPr>
          <p:nvPr>
            <p:ph idx="1"/>
          </p:nvPr>
        </p:nvSpPr>
        <p:spPr>
          <a:xfrm>
            <a:off x="228600" y="1219200"/>
            <a:ext cx="11379200" cy="4729164"/>
          </a:xfrm>
        </p:spPr>
        <p:txBody>
          <a:bodyPr/>
          <a:lstStyle/>
          <a:p>
            <a:r>
              <a:rPr lang="en-US" sz="2800" noProof="1">
                <a:solidFill>
                  <a:srgbClr val="FF0000"/>
                </a:solidFill>
              </a:rPr>
              <a:t>Tất định, quan sát được, 2 người chơi, theo lượt, tổng bằng 0</a:t>
            </a:r>
          </a:p>
          <a:p>
            <a:r>
              <a:rPr lang="vi-VN" sz="2800" noProof="1"/>
              <a:t>Một cách mô hình h</a:t>
            </a:r>
            <a:r>
              <a:rPr lang="en-US" sz="2800" noProof="1"/>
              <a:t>óa</a:t>
            </a:r>
            <a:r>
              <a:rPr lang="vi-VN" sz="2800" noProof="1"/>
              <a:t>:</a:t>
            </a:r>
          </a:p>
          <a:p>
            <a:pPr lvl="1"/>
            <a:r>
              <a:rPr lang="vi-VN" sz="2400" noProof="1"/>
              <a:t>Tập trạng thái: S (bắt đầu từ s</a:t>
            </a:r>
            <a:r>
              <a:rPr lang="vi-VN" sz="2400" baseline="-25000" noProof="1"/>
              <a:t>0</a:t>
            </a:r>
            <a:r>
              <a:rPr lang="vi-VN" sz="2400" noProof="1"/>
              <a:t>)</a:t>
            </a:r>
          </a:p>
          <a:p>
            <a:pPr lvl="1"/>
            <a:r>
              <a:rPr lang="en-US" sz="2400" noProof="1"/>
              <a:t>N</a:t>
            </a:r>
            <a:r>
              <a:rPr lang="vi-VN" sz="2400" noProof="1"/>
              <a:t>gười chơi : P={1</a:t>
            </a:r>
            <a:r>
              <a:rPr lang="en-US" sz="2400" noProof="1"/>
              <a:t>, 2</a:t>
            </a:r>
            <a:r>
              <a:rPr lang="vi-VN" sz="2400" noProof="1"/>
              <a:t>}</a:t>
            </a:r>
          </a:p>
          <a:p>
            <a:pPr lvl="1"/>
            <a:r>
              <a:rPr lang="vi-VN" sz="2400" noProof="1"/>
              <a:t>Tập hành động: A (phụ thuộc người chơi và trạng thái)</a:t>
            </a:r>
          </a:p>
          <a:p>
            <a:pPr lvl="1"/>
            <a:r>
              <a:rPr lang="vi-VN" sz="2400" noProof="1"/>
              <a:t>Hàm chuyển trạng thái: S x A </a:t>
            </a:r>
            <a:r>
              <a:rPr lang="vi-VN" sz="2400" noProof="1">
                <a:sym typeface="Symbol" pitchFamily="18" charset="2"/>
              </a:rPr>
              <a:t> S</a:t>
            </a:r>
          </a:p>
          <a:p>
            <a:pPr lvl="1"/>
            <a:r>
              <a:rPr lang="vi-VN" sz="2400" noProof="1">
                <a:sym typeface="Symbol" pitchFamily="18" charset="2"/>
              </a:rPr>
              <a:t>Hàm kiểm tra kết thúc : S  {t,f}</a:t>
            </a:r>
          </a:p>
          <a:p>
            <a:pPr lvl="1"/>
            <a:r>
              <a:rPr lang="vi-VN" sz="2400" noProof="1">
                <a:sym typeface="Symbol" pitchFamily="18" charset="2"/>
              </a:rPr>
              <a:t>Hàm đánh giá trạng thái kết thúc (lợi ích):</a:t>
            </a:r>
            <a:br>
              <a:rPr lang="vi-VN" sz="2400" noProof="1">
                <a:sym typeface="Symbol" pitchFamily="18" charset="2"/>
              </a:rPr>
            </a:br>
            <a:r>
              <a:rPr lang="vi-VN" sz="2400" noProof="1">
                <a:sym typeface="Symbol" pitchFamily="18" charset="2"/>
              </a:rPr>
              <a:t>S x P  R</a:t>
            </a:r>
            <a:endParaRPr lang="vi-VN" sz="2800" noProof="1">
              <a:sym typeface="Symbol" pitchFamily="18" charset="2"/>
            </a:endParaRPr>
          </a:p>
          <a:p>
            <a:r>
              <a:rPr lang="vi-VN" sz="2800" noProof="1">
                <a:sym typeface="Symbol" pitchFamily="18" charset="2"/>
              </a:rPr>
              <a:t>Giải pháp là một </a:t>
            </a:r>
            <a:r>
              <a:rPr lang="vi-VN" sz="2800" noProof="1">
                <a:solidFill>
                  <a:srgbClr val="C00000"/>
                </a:solidFill>
                <a:sym typeface="Symbol" pitchFamily="18" charset="2"/>
              </a:rPr>
              <a:t>ch</a:t>
            </a:r>
            <a:r>
              <a:rPr lang="en-US" sz="2800" noProof="1">
                <a:solidFill>
                  <a:srgbClr val="C00000"/>
                </a:solidFill>
                <a:sym typeface="Symbol" pitchFamily="18" charset="2"/>
              </a:rPr>
              <a:t>iến lược</a:t>
            </a:r>
            <a:r>
              <a:rPr lang="en-US" sz="2800" noProof="1">
                <a:sym typeface="Symbol" pitchFamily="18" charset="2"/>
              </a:rPr>
              <a:t> </a:t>
            </a:r>
            <a:r>
              <a:rPr lang="vi-VN" sz="2800" noProof="1">
                <a:sym typeface="Symbol" pitchFamily="18" charset="2"/>
              </a:rPr>
              <a:t>S  A</a:t>
            </a:r>
          </a:p>
          <a:p>
            <a:pPr lvl="1"/>
            <a:r>
              <a:rPr lang="vi-VN" sz="2400" noProof="1">
                <a:sym typeface="Symbol" pitchFamily="18" charset="2"/>
              </a:rPr>
              <a:t>Mỗi người chơi dùng một hàm để tính hành động khi đến lượt</a:t>
            </a:r>
            <a:endParaRPr lang="vi-VN" sz="2400" noProof="1"/>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9" name="Picture 5"/>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368197" y="1357400"/>
            <a:ext cx="6583362" cy="2673487"/>
          </a:xfrm>
          <a:prstGeom prst="rect">
            <a:avLst/>
          </a:prstGeom>
          <a:noFill/>
          <a:extLst>
            <a:ext uri="{909E8E84-426E-40dd-AFC4-6F175D3DCCD1}">
              <a14:hiddenFill xmlns="" xmlns:a14="http://schemas.microsoft.com/office/drawing/2010/main">
                <a:solidFill>
                  <a:srgbClr val="FFFFFF"/>
                </a:solidFill>
              </a14:hiddenFill>
            </a:ext>
          </a:extLst>
        </p:spPr>
      </p:pic>
      <p:pic>
        <p:nvPicPr>
          <p:cNvPr id="41988" name="Picture 4"/>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41515" y="1388558"/>
            <a:ext cx="4108120" cy="2603500"/>
          </a:xfrm>
          <a:prstGeom prst="rect">
            <a:avLst/>
          </a:prstGeom>
          <a:noFill/>
          <a:extLst>
            <a:ext uri="{909E8E84-426E-40dd-AFC4-6F175D3DCCD1}">
              <a14:hiddenFill xmlns=""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vi-VN" noProof="1"/>
              <a:t>Trò chơi có tổng bằng không</a:t>
            </a:r>
            <a:r>
              <a:rPr lang="en-US" noProof="1"/>
              <a:t> (Zero-sum games)</a:t>
            </a:r>
            <a:endParaRPr lang="vi-VN" noProof="1"/>
          </a:p>
        </p:txBody>
      </p:sp>
      <p:sp>
        <p:nvSpPr>
          <p:cNvPr id="8" name="Content Placeholder 7"/>
          <p:cNvSpPr>
            <a:spLocks noGrp="1"/>
          </p:cNvSpPr>
          <p:nvPr>
            <p:ph sz="half" idx="1"/>
          </p:nvPr>
        </p:nvSpPr>
        <p:spPr>
          <a:xfrm>
            <a:off x="457200" y="4191000"/>
            <a:ext cx="5715000" cy="1706564"/>
          </a:xfrm>
        </p:spPr>
        <p:txBody>
          <a:bodyPr/>
          <a:lstStyle/>
          <a:p>
            <a:r>
              <a:rPr lang="vi-VN" sz="2400" noProof="1"/>
              <a:t>Trò chơi có tổng bằng không</a:t>
            </a:r>
          </a:p>
          <a:p>
            <a:pPr lvl="1"/>
            <a:r>
              <a:rPr lang="vi-VN" sz="2000" noProof="1"/>
              <a:t>Các người chơi đánh giá tính lợi ích (giá trị) trái ng</a:t>
            </a:r>
            <a:r>
              <a:rPr lang="en-US" sz="2000" noProof="1"/>
              <a:t>ược</a:t>
            </a:r>
            <a:r>
              <a:rPr lang="vi-VN" sz="2000" noProof="1"/>
              <a:t> nhau</a:t>
            </a:r>
          </a:p>
          <a:p>
            <a:pPr lvl="1"/>
            <a:r>
              <a:rPr lang="vi-VN" sz="2000" noProof="1"/>
              <a:t>Giá trị lợi ích: Một người chơi cực đại h</a:t>
            </a:r>
            <a:r>
              <a:rPr lang="en-US" sz="2000" noProof="1"/>
              <a:t>óa</a:t>
            </a:r>
            <a:r>
              <a:rPr lang="vi-VN" sz="2000" noProof="1"/>
              <a:t>, người còn lại cực tiểu h</a:t>
            </a:r>
            <a:r>
              <a:rPr lang="en-US" sz="2000" noProof="1"/>
              <a:t>óa</a:t>
            </a:r>
            <a:endParaRPr lang="vi-VN" sz="2000" noProof="1"/>
          </a:p>
          <a:p>
            <a:pPr lvl="1"/>
            <a:r>
              <a:rPr lang="vi-VN" sz="2000" noProof="1"/>
              <a:t>Đối kháng = cạnh tranh trực tiếp</a:t>
            </a:r>
          </a:p>
        </p:txBody>
      </p:sp>
      <p:sp>
        <p:nvSpPr>
          <p:cNvPr id="9" name="Content Placeholder 8"/>
          <p:cNvSpPr>
            <a:spLocks noGrp="1"/>
          </p:cNvSpPr>
          <p:nvPr>
            <p:ph sz="half" idx="2"/>
          </p:nvPr>
        </p:nvSpPr>
        <p:spPr>
          <a:xfrm>
            <a:off x="6172200" y="4191000"/>
            <a:ext cx="5562600" cy="1706564"/>
          </a:xfrm>
        </p:spPr>
        <p:txBody>
          <a:bodyPr/>
          <a:lstStyle/>
          <a:p>
            <a:r>
              <a:rPr lang="vi-VN" sz="2400" noProof="1"/>
              <a:t>Trò chơi tổng quát</a:t>
            </a:r>
          </a:p>
          <a:p>
            <a:pPr lvl="1"/>
            <a:r>
              <a:rPr lang="vi-VN" sz="2000" noProof="1"/>
              <a:t>Các người chơi đánh giá tính lợi ích độc lập với nhau</a:t>
            </a:r>
          </a:p>
          <a:p>
            <a:pPr lvl="1"/>
            <a:r>
              <a:rPr lang="vi-VN" sz="2000" noProof="1"/>
              <a:t>Hợp tác, không quan tâm, cạnh tranh, và nhiều kiểu khác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1"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433291" y="1320018"/>
            <a:ext cx="5484168" cy="5072063"/>
          </a:xfrm>
          <a:prstGeom prst="rect">
            <a:avLst/>
          </a:prstGeom>
          <a:noFill/>
          <a:extLst>
            <a:ext uri="{909E8E84-426E-40dd-AFC4-6F175D3DCCD1}">
              <a14:hiddenFill xmlns=""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vi-VN" noProof="1"/>
              <a:t>Tìm kiếm có đối thủ</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vi-VN" noProof="1"/>
              <a:t>Cây tìm kiếm của một tác tử</a:t>
            </a:r>
          </a:p>
        </p:txBody>
      </p:sp>
      <p:sp>
        <p:nvSpPr>
          <p:cNvPr id="9" name="Rectangle 8"/>
          <p:cNvSpPr/>
          <p:nvPr/>
        </p:nvSpPr>
        <p:spPr>
          <a:xfrm>
            <a:off x="5257800" y="1447800"/>
            <a:ext cx="1524000" cy="381000"/>
          </a:xfrm>
          <a:prstGeom prst="rect">
            <a:avLst/>
          </a:prstGeom>
          <a:solidFill>
            <a:schemeClr val="tx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20485" name="Picture 3" descr="\\.host\Shared Folders\Shared with PC\images\Pacman_stuck_minimax.png"/>
          <p:cNvPicPr>
            <a:picLocks noChangeAspect="1" noChangeArrowheads="1"/>
          </p:cNvPicPr>
          <p:nvPr/>
        </p:nvPicPr>
        <p:blipFill>
          <a:blip r:embed="rId3" cstate="print"/>
          <a:srcRect l="38135" t="16438" r="44067" b="58904"/>
          <a:stretch>
            <a:fillRect/>
          </a:stretch>
        </p:blipFill>
        <p:spPr bwMode="auto">
          <a:xfrm flipH="1">
            <a:off x="5867400" y="1512888"/>
            <a:ext cx="304800" cy="261937"/>
          </a:xfrm>
          <a:prstGeom prst="rect">
            <a:avLst/>
          </a:prstGeom>
          <a:noFill/>
          <a:ln w="9525">
            <a:noFill/>
            <a:miter lim="800000"/>
            <a:headEnd/>
            <a:tailEnd/>
          </a:ln>
        </p:spPr>
      </p:pic>
      <p:sp>
        <p:nvSpPr>
          <p:cNvPr id="12" name="Oval 11"/>
          <p:cNvSpPr/>
          <p:nvPr/>
        </p:nvSpPr>
        <p:spPr>
          <a:xfrm>
            <a:off x="6553200" y="16002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36" name="Straight Connector 35"/>
          <p:cNvCxnSpPr/>
          <p:nvPr/>
        </p:nvCxnSpPr>
        <p:spPr>
          <a:xfrm rot="10800000" flipV="1">
            <a:off x="3657600" y="1905000"/>
            <a:ext cx="2362200" cy="381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6019800" y="1905000"/>
            <a:ext cx="2286000" cy="381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rot="10800000" flipV="1">
            <a:off x="7239000" y="2819400"/>
            <a:ext cx="1066800" cy="381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8305800" y="2819400"/>
            <a:ext cx="1219200" cy="381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rot="10800000" flipV="1">
            <a:off x="2590801" y="2819400"/>
            <a:ext cx="1066800" cy="381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3657601" y="2819400"/>
            <a:ext cx="1219200" cy="381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Rectangle 38"/>
          <p:cNvSpPr/>
          <p:nvPr/>
        </p:nvSpPr>
        <p:spPr>
          <a:xfrm>
            <a:off x="2895600" y="2362200"/>
            <a:ext cx="1524000" cy="381000"/>
          </a:xfrm>
          <a:prstGeom prst="rect">
            <a:avLst/>
          </a:prstGeom>
          <a:solidFill>
            <a:schemeClr val="tx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40" name="Picture 3" descr="\\.host\Shared Folders\Shared with PC\images\Pacman_stuck_minimax.png"/>
          <p:cNvPicPr>
            <a:picLocks noChangeAspect="1" noChangeArrowheads="1"/>
          </p:cNvPicPr>
          <p:nvPr/>
        </p:nvPicPr>
        <p:blipFill>
          <a:blip r:embed="rId3" cstate="print"/>
          <a:srcRect l="38135" t="16438" r="44067" b="58904"/>
          <a:stretch>
            <a:fillRect/>
          </a:stretch>
        </p:blipFill>
        <p:spPr bwMode="auto">
          <a:xfrm>
            <a:off x="3200400" y="2427288"/>
            <a:ext cx="304800" cy="261937"/>
          </a:xfrm>
          <a:prstGeom prst="rect">
            <a:avLst/>
          </a:prstGeom>
          <a:noFill/>
          <a:ln w="9525">
            <a:noFill/>
            <a:miter lim="800000"/>
            <a:headEnd/>
            <a:tailEnd/>
          </a:ln>
        </p:spPr>
      </p:pic>
      <p:sp>
        <p:nvSpPr>
          <p:cNvPr id="42" name="Oval 41"/>
          <p:cNvSpPr/>
          <p:nvPr/>
        </p:nvSpPr>
        <p:spPr>
          <a:xfrm>
            <a:off x="4191000" y="25146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3" name="Rectangle 42"/>
          <p:cNvSpPr/>
          <p:nvPr/>
        </p:nvSpPr>
        <p:spPr>
          <a:xfrm>
            <a:off x="7543800" y="2362200"/>
            <a:ext cx="1524000" cy="381000"/>
          </a:xfrm>
          <a:prstGeom prst="rect">
            <a:avLst/>
          </a:prstGeom>
          <a:solidFill>
            <a:schemeClr val="tx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45" name="Picture 3" descr="\\.host\Shared Folders\Shared with PC\images\Pacman_stuck_minimax.png"/>
          <p:cNvPicPr>
            <a:picLocks noChangeAspect="1" noChangeArrowheads="1"/>
          </p:cNvPicPr>
          <p:nvPr/>
        </p:nvPicPr>
        <p:blipFill>
          <a:blip r:embed="rId3" cstate="print"/>
          <a:srcRect l="38135" t="16438" r="44067" b="58904"/>
          <a:stretch>
            <a:fillRect/>
          </a:stretch>
        </p:blipFill>
        <p:spPr bwMode="auto">
          <a:xfrm flipH="1">
            <a:off x="8458200" y="2427288"/>
            <a:ext cx="304800" cy="261937"/>
          </a:xfrm>
          <a:prstGeom prst="rect">
            <a:avLst/>
          </a:prstGeom>
          <a:noFill/>
          <a:ln w="9525">
            <a:noFill/>
            <a:miter lim="800000"/>
            <a:headEnd/>
            <a:tailEnd/>
          </a:ln>
        </p:spPr>
      </p:pic>
      <p:sp>
        <p:nvSpPr>
          <p:cNvPr id="47" name="Oval 46"/>
          <p:cNvSpPr/>
          <p:nvPr/>
        </p:nvSpPr>
        <p:spPr>
          <a:xfrm>
            <a:off x="8839200" y="25146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8" name="Rectangle 47"/>
          <p:cNvSpPr/>
          <p:nvPr/>
        </p:nvSpPr>
        <p:spPr>
          <a:xfrm>
            <a:off x="6477000" y="3276600"/>
            <a:ext cx="1524000" cy="381000"/>
          </a:xfrm>
          <a:prstGeom prst="rect">
            <a:avLst/>
          </a:prstGeom>
          <a:solidFill>
            <a:schemeClr val="tx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49" name="Picture 3" descr="\\.host\Shared Folders\Shared with PC\images\Pacman_stuck_minimax.png"/>
          <p:cNvPicPr>
            <a:picLocks noChangeAspect="1" noChangeArrowheads="1"/>
          </p:cNvPicPr>
          <p:nvPr/>
        </p:nvPicPr>
        <p:blipFill>
          <a:blip r:embed="rId3" cstate="print"/>
          <a:srcRect l="38135" t="16438" r="44067" b="58904"/>
          <a:stretch>
            <a:fillRect/>
          </a:stretch>
        </p:blipFill>
        <p:spPr bwMode="auto">
          <a:xfrm flipH="1">
            <a:off x="7086600" y="3341688"/>
            <a:ext cx="304800" cy="261937"/>
          </a:xfrm>
          <a:prstGeom prst="rect">
            <a:avLst/>
          </a:prstGeom>
          <a:noFill/>
          <a:ln w="9525">
            <a:noFill/>
            <a:miter lim="800000"/>
            <a:headEnd/>
            <a:tailEnd/>
          </a:ln>
        </p:spPr>
      </p:pic>
      <p:sp>
        <p:nvSpPr>
          <p:cNvPr id="50" name="Oval 49"/>
          <p:cNvSpPr/>
          <p:nvPr/>
        </p:nvSpPr>
        <p:spPr>
          <a:xfrm>
            <a:off x="7772400" y="34290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1" name="Rectangle 50"/>
          <p:cNvSpPr/>
          <p:nvPr/>
        </p:nvSpPr>
        <p:spPr>
          <a:xfrm>
            <a:off x="8763000" y="3276600"/>
            <a:ext cx="1524000" cy="381000"/>
          </a:xfrm>
          <a:prstGeom prst="rect">
            <a:avLst/>
          </a:prstGeom>
          <a:solidFill>
            <a:schemeClr val="tx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52" name="Picture 3" descr="\\.host\Shared Folders\Shared with PC\images\Pacman_stuck_minimax.png"/>
          <p:cNvPicPr>
            <a:picLocks noChangeAspect="1" noChangeArrowheads="1"/>
          </p:cNvPicPr>
          <p:nvPr/>
        </p:nvPicPr>
        <p:blipFill>
          <a:blip r:embed="rId3" cstate="print"/>
          <a:srcRect l="38135" t="16438" r="44067" b="58904"/>
          <a:stretch>
            <a:fillRect/>
          </a:stretch>
        </p:blipFill>
        <p:spPr bwMode="auto">
          <a:xfrm flipH="1">
            <a:off x="9982200" y="3341688"/>
            <a:ext cx="304800" cy="261937"/>
          </a:xfrm>
          <a:prstGeom prst="rect">
            <a:avLst/>
          </a:prstGeom>
          <a:noFill/>
          <a:ln w="9525">
            <a:noFill/>
            <a:miter lim="800000"/>
            <a:headEnd/>
            <a:tailEnd/>
          </a:ln>
        </p:spPr>
      </p:pic>
      <p:sp>
        <p:nvSpPr>
          <p:cNvPr id="54" name="Rectangle 53"/>
          <p:cNvSpPr/>
          <p:nvPr/>
        </p:nvSpPr>
        <p:spPr>
          <a:xfrm>
            <a:off x="1828800" y="3276600"/>
            <a:ext cx="1524000" cy="381000"/>
          </a:xfrm>
          <a:prstGeom prst="rect">
            <a:avLst/>
          </a:prstGeom>
          <a:solidFill>
            <a:schemeClr val="tx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55" name="Picture 3" descr="\\.host\Shared Folders\Shared with PC\images\Pacman_stuck_minimax.png"/>
          <p:cNvPicPr>
            <a:picLocks noChangeAspect="1" noChangeArrowheads="1"/>
          </p:cNvPicPr>
          <p:nvPr/>
        </p:nvPicPr>
        <p:blipFill>
          <a:blip r:embed="rId3" cstate="print"/>
          <a:srcRect l="38135" t="16438" r="44067" b="58904"/>
          <a:stretch>
            <a:fillRect/>
          </a:stretch>
        </p:blipFill>
        <p:spPr bwMode="auto">
          <a:xfrm>
            <a:off x="1828800" y="3341688"/>
            <a:ext cx="304800" cy="261937"/>
          </a:xfrm>
          <a:prstGeom prst="rect">
            <a:avLst/>
          </a:prstGeom>
          <a:noFill/>
          <a:ln w="9525">
            <a:noFill/>
            <a:miter lim="800000"/>
            <a:headEnd/>
            <a:tailEnd/>
          </a:ln>
        </p:spPr>
      </p:pic>
      <p:sp>
        <p:nvSpPr>
          <p:cNvPr id="56" name="Oval 55"/>
          <p:cNvSpPr/>
          <p:nvPr/>
        </p:nvSpPr>
        <p:spPr>
          <a:xfrm>
            <a:off x="3124200" y="34290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7" name="Rectangle 56"/>
          <p:cNvSpPr/>
          <p:nvPr/>
        </p:nvSpPr>
        <p:spPr>
          <a:xfrm>
            <a:off x="4114800" y="3276600"/>
            <a:ext cx="1524000" cy="381000"/>
          </a:xfrm>
          <a:prstGeom prst="rect">
            <a:avLst/>
          </a:prstGeom>
          <a:solidFill>
            <a:schemeClr val="tx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58" name="Picture 3" descr="\\.host\Shared Folders\Shared with PC\images\Pacman_stuck_minimax.png"/>
          <p:cNvPicPr>
            <a:picLocks noChangeAspect="1" noChangeArrowheads="1"/>
          </p:cNvPicPr>
          <p:nvPr/>
        </p:nvPicPr>
        <p:blipFill>
          <a:blip r:embed="rId3" cstate="print"/>
          <a:srcRect l="38135" t="16438" r="44067" b="58904"/>
          <a:stretch>
            <a:fillRect/>
          </a:stretch>
        </p:blipFill>
        <p:spPr bwMode="auto">
          <a:xfrm flipH="1">
            <a:off x="4724400" y="3341688"/>
            <a:ext cx="304800" cy="261937"/>
          </a:xfrm>
          <a:prstGeom prst="rect">
            <a:avLst/>
          </a:prstGeom>
          <a:noFill/>
          <a:ln w="9525">
            <a:noFill/>
            <a:miter lim="800000"/>
            <a:headEnd/>
            <a:tailEnd/>
          </a:ln>
        </p:spPr>
      </p:pic>
      <p:sp>
        <p:nvSpPr>
          <p:cNvPr id="59" name="Oval 58"/>
          <p:cNvSpPr/>
          <p:nvPr/>
        </p:nvSpPr>
        <p:spPr>
          <a:xfrm>
            <a:off x="5410200" y="34290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0" name="Isosceles Triangle 59"/>
          <p:cNvSpPr/>
          <p:nvPr/>
        </p:nvSpPr>
        <p:spPr>
          <a:xfrm>
            <a:off x="1828800" y="3886200"/>
            <a:ext cx="1524000" cy="1752600"/>
          </a:xfrm>
          <a:prstGeom prst="triangle">
            <a:avLst/>
          </a:prstGeom>
          <a:solidFill>
            <a:srgbClr val="CCE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Isosceles Triangle 60"/>
          <p:cNvSpPr/>
          <p:nvPr/>
        </p:nvSpPr>
        <p:spPr>
          <a:xfrm>
            <a:off x="4114800" y="3886200"/>
            <a:ext cx="1524000" cy="1752600"/>
          </a:xfrm>
          <a:prstGeom prst="triangle">
            <a:avLst/>
          </a:prstGeom>
          <a:solidFill>
            <a:srgbClr val="CCE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Isosceles Triangle 61"/>
          <p:cNvSpPr/>
          <p:nvPr/>
        </p:nvSpPr>
        <p:spPr>
          <a:xfrm>
            <a:off x="6477000" y="3886200"/>
            <a:ext cx="1524000" cy="1752600"/>
          </a:xfrm>
          <a:prstGeom prst="triangle">
            <a:avLst/>
          </a:prstGeom>
          <a:solidFill>
            <a:srgbClr val="CCE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p:cNvSpPr txBox="1"/>
          <p:nvPr/>
        </p:nvSpPr>
        <p:spPr>
          <a:xfrm>
            <a:off x="9372600" y="3733800"/>
            <a:ext cx="533400" cy="461665"/>
          </a:xfrm>
          <a:prstGeom prst="rect">
            <a:avLst/>
          </a:prstGeom>
          <a:noFill/>
        </p:spPr>
        <p:txBody>
          <a:bodyPr wrap="square" rtlCol="0">
            <a:spAutoFit/>
          </a:bodyPr>
          <a:lstStyle/>
          <a:p>
            <a:r>
              <a:rPr lang="en-US" sz="2400" dirty="0">
                <a:latin typeface="Calibri" pitchFamily="34" charset="0"/>
              </a:rPr>
              <a:t>8</a:t>
            </a:r>
          </a:p>
        </p:txBody>
      </p:sp>
      <p:sp>
        <p:nvSpPr>
          <p:cNvPr id="64" name="TextBox 63"/>
          <p:cNvSpPr txBox="1"/>
          <p:nvPr/>
        </p:nvSpPr>
        <p:spPr>
          <a:xfrm>
            <a:off x="2057400" y="5715000"/>
            <a:ext cx="685800" cy="461665"/>
          </a:xfrm>
          <a:prstGeom prst="rect">
            <a:avLst/>
          </a:prstGeom>
          <a:noFill/>
        </p:spPr>
        <p:txBody>
          <a:bodyPr wrap="square" rtlCol="0">
            <a:spAutoFit/>
          </a:bodyPr>
          <a:lstStyle/>
          <a:p>
            <a:r>
              <a:rPr lang="en-US" sz="2400" dirty="0">
                <a:latin typeface="Calibri" pitchFamily="34" charset="0"/>
              </a:rPr>
              <a:t>2</a:t>
            </a:r>
          </a:p>
        </p:txBody>
      </p:sp>
      <p:sp>
        <p:nvSpPr>
          <p:cNvPr id="65" name="TextBox 64"/>
          <p:cNvSpPr txBox="1"/>
          <p:nvPr/>
        </p:nvSpPr>
        <p:spPr>
          <a:xfrm>
            <a:off x="2743200" y="5715000"/>
            <a:ext cx="762000" cy="461665"/>
          </a:xfrm>
          <a:prstGeom prst="rect">
            <a:avLst/>
          </a:prstGeom>
          <a:noFill/>
        </p:spPr>
        <p:txBody>
          <a:bodyPr wrap="square" rtlCol="0">
            <a:spAutoFit/>
          </a:bodyPr>
          <a:lstStyle/>
          <a:p>
            <a:r>
              <a:rPr lang="en-US" sz="2400" dirty="0">
                <a:latin typeface="Calibri" pitchFamily="34" charset="0"/>
              </a:rPr>
              <a:t>0</a:t>
            </a:r>
          </a:p>
        </p:txBody>
      </p:sp>
      <p:sp>
        <p:nvSpPr>
          <p:cNvPr id="66" name="TextBox 65"/>
          <p:cNvSpPr txBox="1"/>
          <p:nvPr/>
        </p:nvSpPr>
        <p:spPr>
          <a:xfrm>
            <a:off x="4419600" y="5715000"/>
            <a:ext cx="838200" cy="461665"/>
          </a:xfrm>
          <a:prstGeom prst="rect">
            <a:avLst/>
          </a:prstGeom>
          <a:noFill/>
        </p:spPr>
        <p:txBody>
          <a:bodyPr wrap="square" rtlCol="0">
            <a:spAutoFit/>
          </a:bodyPr>
          <a:lstStyle/>
          <a:p>
            <a:r>
              <a:rPr lang="en-US" sz="2400" dirty="0">
                <a:latin typeface="Calibri" pitchFamily="34" charset="0"/>
              </a:rPr>
              <a:t>2</a:t>
            </a:r>
          </a:p>
        </p:txBody>
      </p:sp>
      <p:sp>
        <p:nvSpPr>
          <p:cNvPr id="67" name="TextBox 66"/>
          <p:cNvSpPr txBox="1"/>
          <p:nvPr/>
        </p:nvSpPr>
        <p:spPr>
          <a:xfrm>
            <a:off x="5029200" y="5715000"/>
            <a:ext cx="762000" cy="461665"/>
          </a:xfrm>
          <a:prstGeom prst="rect">
            <a:avLst/>
          </a:prstGeom>
          <a:noFill/>
        </p:spPr>
        <p:txBody>
          <a:bodyPr wrap="square" rtlCol="0">
            <a:spAutoFit/>
          </a:bodyPr>
          <a:lstStyle/>
          <a:p>
            <a:r>
              <a:rPr lang="en-US" sz="2400" dirty="0">
                <a:latin typeface="Calibri" pitchFamily="34" charset="0"/>
              </a:rPr>
              <a:t>6</a:t>
            </a:r>
          </a:p>
        </p:txBody>
      </p:sp>
      <p:sp>
        <p:nvSpPr>
          <p:cNvPr id="68" name="TextBox 67"/>
          <p:cNvSpPr txBox="1"/>
          <p:nvPr/>
        </p:nvSpPr>
        <p:spPr>
          <a:xfrm>
            <a:off x="6705600" y="5715000"/>
            <a:ext cx="838200" cy="461665"/>
          </a:xfrm>
          <a:prstGeom prst="rect">
            <a:avLst/>
          </a:prstGeom>
          <a:noFill/>
        </p:spPr>
        <p:txBody>
          <a:bodyPr wrap="square" rtlCol="0">
            <a:spAutoFit/>
          </a:bodyPr>
          <a:lstStyle/>
          <a:p>
            <a:r>
              <a:rPr lang="en-US" sz="2400" dirty="0">
                <a:latin typeface="Calibri" pitchFamily="34" charset="0"/>
              </a:rPr>
              <a:t>4</a:t>
            </a:r>
          </a:p>
        </p:txBody>
      </p:sp>
      <p:sp>
        <p:nvSpPr>
          <p:cNvPr id="69" name="TextBox 68"/>
          <p:cNvSpPr txBox="1"/>
          <p:nvPr/>
        </p:nvSpPr>
        <p:spPr>
          <a:xfrm>
            <a:off x="7467600" y="5715000"/>
            <a:ext cx="762000" cy="461665"/>
          </a:xfrm>
          <a:prstGeom prst="rect">
            <a:avLst/>
          </a:prstGeom>
          <a:noFill/>
        </p:spPr>
        <p:txBody>
          <a:bodyPr wrap="square" rtlCol="0">
            <a:spAutoFit/>
          </a:bodyPr>
          <a:lstStyle/>
          <a:p>
            <a:r>
              <a:rPr lang="en-US" sz="2400" dirty="0">
                <a:latin typeface="Calibri" pitchFamily="34" charset="0"/>
              </a:rPr>
              <a:t>6</a:t>
            </a:r>
          </a:p>
        </p:txBody>
      </p:sp>
      <p:sp>
        <p:nvSpPr>
          <p:cNvPr id="70" name="TextBox 69"/>
          <p:cNvSpPr txBox="1"/>
          <p:nvPr/>
        </p:nvSpPr>
        <p:spPr>
          <a:xfrm>
            <a:off x="3581400" y="5715000"/>
            <a:ext cx="762000" cy="461665"/>
          </a:xfrm>
          <a:prstGeom prst="rect">
            <a:avLst/>
          </a:prstGeom>
          <a:noFill/>
        </p:spPr>
        <p:txBody>
          <a:bodyPr wrap="square" rtlCol="0">
            <a:spAutoFit/>
          </a:bodyPr>
          <a:lstStyle/>
          <a:p>
            <a:r>
              <a:rPr lang="en-US" sz="2400" dirty="0">
                <a:latin typeface="Calibri" pitchFamily="34" charset="0"/>
              </a:rPr>
              <a:t>…</a:t>
            </a:r>
          </a:p>
        </p:txBody>
      </p:sp>
      <p:sp>
        <p:nvSpPr>
          <p:cNvPr id="71" name="TextBox 70"/>
          <p:cNvSpPr txBox="1"/>
          <p:nvPr/>
        </p:nvSpPr>
        <p:spPr>
          <a:xfrm>
            <a:off x="5867400" y="5715000"/>
            <a:ext cx="762000" cy="461665"/>
          </a:xfrm>
          <a:prstGeom prst="rect">
            <a:avLst/>
          </a:prstGeom>
          <a:noFill/>
        </p:spPr>
        <p:txBody>
          <a:bodyPr wrap="square" rtlCol="0">
            <a:spAutoFit/>
          </a:bodyPr>
          <a:lstStyle/>
          <a:p>
            <a:r>
              <a:rPr lang="en-US" sz="2400" dirty="0">
                <a:latin typeface="Calibri" pitchFamily="34" charset="0"/>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vi-VN" noProof="1"/>
              <a:t>Giá trị của trạng thái</a:t>
            </a:r>
          </a:p>
        </p:txBody>
      </p:sp>
      <p:sp>
        <p:nvSpPr>
          <p:cNvPr id="34" name="TextBox 33"/>
          <p:cNvSpPr txBox="1"/>
          <p:nvPr/>
        </p:nvSpPr>
        <p:spPr>
          <a:xfrm>
            <a:off x="7739449" y="1447800"/>
            <a:ext cx="4300151" cy="461665"/>
          </a:xfrm>
          <a:prstGeom prst="rect">
            <a:avLst/>
          </a:prstGeom>
          <a:noFill/>
        </p:spPr>
        <p:txBody>
          <a:bodyPr wrap="square" rtlCol="0">
            <a:spAutoFit/>
          </a:bodyPr>
          <a:lstStyle/>
          <a:p>
            <a:r>
              <a:rPr lang="en-US" sz="2400" dirty="0" err="1">
                <a:latin typeface="Calibri" pitchFamily="34" charset="0"/>
              </a:rPr>
              <a:t>Các</a:t>
            </a:r>
            <a:r>
              <a:rPr lang="en-US" sz="2400" dirty="0">
                <a:latin typeface="Calibri" pitchFamily="34" charset="0"/>
              </a:rPr>
              <a:t> </a:t>
            </a:r>
            <a:r>
              <a:rPr lang="en-US" sz="2400" dirty="0" err="1">
                <a:latin typeface="Calibri" pitchFamily="34" charset="0"/>
              </a:rPr>
              <a:t>trạng</a:t>
            </a:r>
            <a:r>
              <a:rPr lang="en-US" sz="2400" dirty="0">
                <a:latin typeface="Calibri" pitchFamily="34" charset="0"/>
              </a:rPr>
              <a:t> </a:t>
            </a:r>
            <a:r>
              <a:rPr lang="en-US" sz="2400" dirty="0" err="1">
                <a:latin typeface="Calibri" pitchFamily="34" charset="0"/>
              </a:rPr>
              <a:t>thái</a:t>
            </a:r>
            <a:r>
              <a:rPr lang="en-US" sz="2400" dirty="0">
                <a:latin typeface="Calibri" pitchFamily="34" charset="0"/>
              </a:rPr>
              <a:t> </a:t>
            </a:r>
            <a:r>
              <a:rPr lang="en-US" sz="2400" dirty="0" err="1">
                <a:latin typeface="Calibri" pitchFamily="34" charset="0"/>
              </a:rPr>
              <a:t>không</a:t>
            </a:r>
            <a:r>
              <a:rPr lang="en-US" sz="2400" dirty="0">
                <a:latin typeface="Calibri" pitchFamily="34" charset="0"/>
              </a:rPr>
              <a:t> </a:t>
            </a:r>
            <a:r>
              <a:rPr lang="en-US" sz="2400" dirty="0" err="1">
                <a:latin typeface="Calibri" pitchFamily="34" charset="0"/>
              </a:rPr>
              <a:t>kết</a:t>
            </a:r>
            <a:r>
              <a:rPr lang="en-US" sz="2400" dirty="0">
                <a:latin typeface="Calibri" pitchFamily="34" charset="0"/>
              </a:rPr>
              <a:t> </a:t>
            </a:r>
            <a:r>
              <a:rPr lang="en-US" sz="2400" dirty="0" err="1">
                <a:latin typeface="Calibri" pitchFamily="34" charset="0"/>
              </a:rPr>
              <a:t>thúc</a:t>
            </a:r>
            <a:r>
              <a:rPr lang="en-US" sz="2400" dirty="0">
                <a:latin typeface="Calibri" pitchFamily="34" charset="0"/>
              </a:rPr>
              <a:t>:</a:t>
            </a:r>
          </a:p>
        </p:txBody>
      </p:sp>
      <p:grpSp>
        <p:nvGrpSpPr>
          <p:cNvPr id="100" name="Group 99"/>
          <p:cNvGrpSpPr/>
          <p:nvPr/>
        </p:nvGrpSpPr>
        <p:grpSpPr>
          <a:xfrm>
            <a:off x="3124200" y="2362200"/>
            <a:ext cx="6324600" cy="3560121"/>
            <a:chOff x="1828800" y="1447800"/>
            <a:chExt cx="8458200" cy="4761126"/>
          </a:xfrm>
        </p:grpSpPr>
        <p:sp>
          <p:nvSpPr>
            <p:cNvPr id="41" name="Rectangle 40"/>
            <p:cNvSpPr/>
            <p:nvPr/>
          </p:nvSpPr>
          <p:spPr>
            <a:xfrm>
              <a:off x="5257800" y="1447800"/>
              <a:ext cx="1524000" cy="381000"/>
            </a:xfrm>
            <a:prstGeom prst="rect">
              <a:avLst/>
            </a:prstGeom>
            <a:solidFill>
              <a:schemeClr val="tx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a:p>
          </p:txBody>
        </p:sp>
        <p:pic>
          <p:nvPicPr>
            <p:cNvPr id="53" name="Picture 3" descr="\\.host\Shared Folders\Shared with PC\images\Pacman_stuck_minimax.png"/>
            <p:cNvPicPr>
              <a:picLocks noChangeAspect="1" noChangeArrowheads="1"/>
            </p:cNvPicPr>
            <p:nvPr/>
          </p:nvPicPr>
          <p:blipFill>
            <a:blip r:embed="rId5" cstate="print"/>
            <a:srcRect l="38135" t="16438" r="44067" b="58904"/>
            <a:stretch>
              <a:fillRect/>
            </a:stretch>
          </p:blipFill>
          <p:spPr bwMode="auto">
            <a:xfrm flipH="1">
              <a:off x="5867400" y="1512888"/>
              <a:ext cx="304800" cy="261937"/>
            </a:xfrm>
            <a:prstGeom prst="rect">
              <a:avLst/>
            </a:prstGeom>
            <a:noFill/>
            <a:ln w="9525">
              <a:noFill/>
              <a:miter lim="800000"/>
              <a:headEnd/>
              <a:tailEnd/>
            </a:ln>
          </p:spPr>
        </p:pic>
        <p:sp>
          <p:nvSpPr>
            <p:cNvPr id="64" name="Oval 63"/>
            <p:cNvSpPr/>
            <p:nvPr/>
          </p:nvSpPr>
          <p:spPr>
            <a:xfrm>
              <a:off x="6553200" y="16002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a:p>
          </p:txBody>
        </p:sp>
        <p:cxnSp>
          <p:nvCxnSpPr>
            <p:cNvPr id="65" name="Straight Connector 64"/>
            <p:cNvCxnSpPr/>
            <p:nvPr/>
          </p:nvCxnSpPr>
          <p:spPr>
            <a:xfrm rot="10800000" flipV="1">
              <a:off x="3657600" y="1905000"/>
              <a:ext cx="2362200" cy="381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6019800" y="1905000"/>
              <a:ext cx="2286000" cy="381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rot="10800000" flipV="1">
              <a:off x="7239000" y="2819400"/>
              <a:ext cx="1066800" cy="381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8305800" y="2819400"/>
              <a:ext cx="1219200" cy="381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rot="10800000" flipV="1">
              <a:off x="2590801" y="2819400"/>
              <a:ext cx="1066800" cy="381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a:off x="3657601" y="2819400"/>
              <a:ext cx="1219200" cy="381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Rectangle 70"/>
            <p:cNvSpPr/>
            <p:nvPr/>
          </p:nvSpPr>
          <p:spPr>
            <a:xfrm>
              <a:off x="2895600" y="2362200"/>
              <a:ext cx="1524000" cy="381000"/>
            </a:xfrm>
            <a:prstGeom prst="rect">
              <a:avLst/>
            </a:prstGeom>
            <a:solidFill>
              <a:schemeClr val="tx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a:p>
          </p:txBody>
        </p:sp>
        <p:pic>
          <p:nvPicPr>
            <p:cNvPr id="72" name="Picture 3" descr="\\.host\Shared Folders\Shared with PC\images\Pacman_stuck_minimax.png"/>
            <p:cNvPicPr>
              <a:picLocks noChangeAspect="1" noChangeArrowheads="1"/>
            </p:cNvPicPr>
            <p:nvPr/>
          </p:nvPicPr>
          <p:blipFill>
            <a:blip r:embed="rId5" cstate="print"/>
            <a:srcRect l="38135" t="16438" r="44067" b="58904"/>
            <a:stretch>
              <a:fillRect/>
            </a:stretch>
          </p:blipFill>
          <p:spPr bwMode="auto">
            <a:xfrm>
              <a:off x="3200400" y="2427288"/>
              <a:ext cx="304800" cy="261937"/>
            </a:xfrm>
            <a:prstGeom prst="rect">
              <a:avLst/>
            </a:prstGeom>
            <a:noFill/>
            <a:ln w="9525">
              <a:noFill/>
              <a:miter lim="800000"/>
              <a:headEnd/>
              <a:tailEnd/>
            </a:ln>
          </p:spPr>
        </p:pic>
        <p:sp>
          <p:nvSpPr>
            <p:cNvPr id="73" name="Oval 72"/>
            <p:cNvSpPr/>
            <p:nvPr/>
          </p:nvSpPr>
          <p:spPr>
            <a:xfrm>
              <a:off x="4191000" y="25146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a:p>
          </p:txBody>
        </p:sp>
        <p:sp>
          <p:nvSpPr>
            <p:cNvPr id="74" name="Rectangle 73"/>
            <p:cNvSpPr/>
            <p:nvPr/>
          </p:nvSpPr>
          <p:spPr>
            <a:xfrm>
              <a:off x="7543800" y="2362200"/>
              <a:ext cx="1524000" cy="381000"/>
            </a:xfrm>
            <a:prstGeom prst="rect">
              <a:avLst/>
            </a:prstGeom>
            <a:solidFill>
              <a:schemeClr val="tx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a:p>
          </p:txBody>
        </p:sp>
        <p:pic>
          <p:nvPicPr>
            <p:cNvPr id="75" name="Picture 3" descr="\\.host\Shared Folders\Shared with PC\images\Pacman_stuck_minimax.png"/>
            <p:cNvPicPr>
              <a:picLocks noChangeAspect="1" noChangeArrowheads="1"/>
            </p:cNvPicPr>
            <p:nvPr/>
          </p:nvPicPr>
          <p:blipFill>
            <a:blip r:embed="rId5" cstate="print"/>
            <a:srcRect l="38135" t="16438" r="44067" b="58904"/>
            <a:stretch>
              <a:fillRect/>
            </a:stretch>
          </p:blipFill>
          <p:spPr bwMode="auto">
            <a:xfrm flipH="1">
              <a:off x="8458200" y="2427288"/>
              <a:ext cx="304800" cy="261937"/>
            </a:xfrm>
            <a:prstGeom prst="rect">
              <a:avLst/>
            </a:prstGeom>
            <a:noFill/>
            <a:ln w="9525">
              <a:noFill/>
              <a:miter lim="800000"/>
              <a:headEnd/>
              <a:tailEnd/>
            </a:ln>
          </p:spPr>
        </p:pic>
        <p:sp>
          <p:nvSpPr>
            <p:cNvPr id="76" name="Oval 75"/>
            <p:cNvSpPr/>
            <p:nvPr/>
          </p:nvSpPr>
          <p:spPr>
            <a:xfrm>
              <a:off x="8839200" y="25146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a:p>
          </p:txBody>
        </p:sp>
        <p:sp>
          <p:nvSpPr>
            <p:cNvPr id="77" name="Rectangle 76"/>
            <p:cNvSpPr/>
            <p:nvPr/>
          </p:nvSpPr>
          <p:spPr>
            <a:xfrm>
              <a:off x="6477000" y="3276600"/>
              <a:ext cx="1524000" cy="381000"/>
            </a:xfrm>
            <a:prstGeom prst="rect">
              <a:avLst/>
            </a:prstGeom>
            <a:solidFill>
              <a:schemeClr val="tx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a:p>
          </p:txBody>
        </p:sp>
        <p:pic>
          <p:nvPicPr>
            <p:cNvPr id="78" name="Picture 3" descr="\\.host\Shared Folders\Shared with PC\images\Pacman_stuck_minimax.png"/>
            <p:cNvPicPr>
              <a:picLocks noChangeAspect="1" noChangeArrowheads="1"/>
            </p:cNvPicPr>
            <p:nvPr/>
          </p:nvPicPr>
          <p:blipFill>
            <a:blip r:embed="rId5" cstate="print"/>
            <a:srcRect l="38135" t="16438" r="44067" b="58904"/>
            <a:stretch>
              <a:fillRect/>
            </a:stretch>
          </p:blipFill>
          <p:spPr bwMode="auto">
            <a:xfrm flipH="1">
              <a:off x="7086600" y="3341688"/>
              <a:ext cx="304800" cy="261937"/>
            </a:xfrm>
            <a:prstGeom prst="rect">
              <a:avLst/>
            </a:prstGeom>
            <a:noFill/>
            <a:ln w="9525">
              <a:noFill/>
              <a:miter lim="800000"/>
              <a:headEnd/>
              <a:tailEnd/>
            </a:ln>
          </p:spPr>
        </p:pic>
        <p:sp>
          <p:nvSpPr>
            <p:cNvPr id="79" name="Oval 78"/>
            <p:cNvSpPr/>
            <p:nvPr/>
          </p:nvSpPr>
          <p:spPr>
            <a:xfrm>
              <a:off x="7772400" y="34290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a:p>
          </p:txBody>
        </p:sp>
        <p:sp>
          <p:nvSpPr>
            <p:cNvPr id="80" name="Rectangle 79"/>
            <p:cNvSpPr/>
            <p:nvPr/>
          </p:nvSpPr>
          <p:spPr>
            <a:xfrm>
              <a:off x="8763000" y="3276600"/>
              <a:ext cx="1524000" cy="381000"/>
            </a:xfrm>
            <a:prstGeom prst="rect">
              <a:avLst/>
            </a:prstGeom>
            <a:solidFill>
              <a:schemeClr val="tx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a:p>
          </p:txBody>
        </p:sp>
        <p:pic>
          <p:nvPicPr>
            <p:cNvPr id="81" name="Picture 3" descr="\\.host\Shared Folders\Shared with PC\images\Pacman_stuck_minimax.png"/>
            <p:cNvPicPr>
              <a:picLocks noChangeAspect="1" noChangeArrowheads="1"/>
            </p:cNvPicPr>
            <p:nvPr/>
          </p:nvPicPr>
          <p:blipFill>
            <a:blip r:embed="rId5" cstate="print"/>
            <a:srcRect l="38135" t="16438" r="44067" b="58904"/>
            <a:stretch>
              <a:fillRect/>
            </a:stretch>
          </p:blipFill>
          <p:spPr bwMode="auto">
            <a:xfrm flipH="1">
              <a:off x="9982200" y="3341688"/>
              <a:ext cx="304800" cy="261937"/>
            </a:xfrm>
            <a:prstGeom prst="rect">
              <a:avLst/>
            </a:prstGeom>
            <a:noFill/>
            <a:ln w="9525">
              <a:noFill/>
              <a:miter lim="800000"/>
              <a:headEnd/>
              <a:tailEnd/>
            </a:ln>
          </p:spPr>
        </p:pic>
        <p:sp>
          <p:nvSpPr>
            <p:cNvPr id="82" name="Rectangle 81"/>
            <p:cNvSpPr/>
            <p:nvPr/>
          </p:nvSpPr>
          <p:spPr>
            <a:xfrm>
              <a:off x="1828800" y="3276600"/>
              <a:ext cx="1524000" cy="381000"/>
            </a:xfrm>
            <a:prstGeom prst="rect">
              <a:avLst/>
            </a:prstGeom>
            <a:solidFill>
              <a:schemeClr val="tx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a:p>
          </p:txBody>
        </p:sp>
        <p:pic>
          <p:nvPicPr>
            <p:cNvPr id="83" name="Picture 3" descr="\\.host\Shared Folders\Shared with PC\images\Pacman_stuck_minimax.png"/>
            <p:cNvPicPr>
              <a:picLocks noChangeAspect="1" noChangeArrowheads="1"/>
            </p:cNvPicPr>
            <p:nvPr/>
          </p:nvPicPr>
          <p:blipFill>
            <a:blip r:embed="rId5" cstate="print"/>
            <a:srcRect l="38135" t="16438" r="44067" b="58904"/>
            <a:stretch>
              <a:fillRect/>
            </a:stretch>
          </p:blipFill>
          <p:spPr bwMode="auto">
            <a:xfrm>
              <a:off x="1828800" y="3341688"/>
              <a:ext cx="304800" cy="261937"/>
            </a:xfrm>
            <a:prstGeom prst="rect">
              <a:avLst/>
            </a:prstGeom>
            <a:noFill/>
            <a:ln w="9525">
              <a:noFill/>
              <a:miter lim="800000"/>
              <a:headEnd/>
              <a:tailEnd/>
            </a:ln>
          </p:spPr>
        </p:pic>
        <p:sp>
          <p:nvSpPr>
            <p:cNvPr id="84" name="Oval 83"/>
            <p:cNvSpPr/>
            <p:nvPr/>
          </p:nvSpPr>
          <p:spPr>
            <a:xfrm>
              <a:off x="3124200" y="34290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a:p>
          </p:txBody>
        </p:sp>
        <p:sp>
          <p:nvSpPr>
            <p:cNvPr id="85" name="Rectangle 84"/>
            <p:cNvSpPr/>
            <p:nvPr/>
          </p:nvSpPr>
          <p:spPr>
            <a:xfrm>
              <a:off x="4114800" y="3276600"/>
              <a:ext cx="1524000" cy="381000"/>
            </a:xfrm>
            <a:prstGeom prst="rect">
              <a:avLst/>
            </a:prstGeom>
            <a:solidFill>
              <a:schemeClr val="tx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a:p>
          </p:txBody>
        </p:sp>
        <p:pic>
          <p:nvPicPr>
            <p:cNvPr id="86" name="Picture 3" descr="\\.host\Shared Folders\Shared with PC\images\Pacman_stuck_minimax.png"/>
            <p:cNvPicPr>
              <a:picLocks noChangeAspect="1" noChangeArrowheads="1"/>
            </p:cNvPicPr>
            <p:nvPr/>
          </p:nvPicPr>
          <p:blipFill>
            <a:blip r:embed="rId5" cstate="print"/>
            <a:srcRect l="38135" t="16438" r="44067" b="58904"/>
            <a:stretch>
              <a:fillRect/>
            </a:stretch>
          </p:blipFill>
          <p:spPr bwMode="auto">
            <a:xfrm flipH="1">
              <a:off x="4724400" y="3341688"/>
              <a:ext cx="304800" cy="261937"/>
            </a:xfrm>
            <a:prstGeom prst="rect">
              <a:avLst/>
            </a:prstGeom>
            <a:noFill/>
            <a:ln w="9525">
              <a:noFill/>
              <a:miter lim="800000"/>
              <a:headEnd/>
              <a:tailEnd/>
            </a:ln>
          </p:spPr>
        </p:pic>
        <p:sp>
          <p:nvSpPr>
            <p:cNvPr id="87" name="Oval 86"/>
            <p:cNvSpPr/>
            <p:nvPr/>
          </p:nvSpPr>
          <p:spPr>
            <a:xfrm>
              <a:off x="5410200" y="34290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a:p>
          </p:txBody>
        </p:sp>
        <p:sp>
          <p:nvSpPr>
            <p:cNvPr id="88" name="Isosceles Triangle 87"/>
            <p:cNvSpPr/>
            <p:nvPr/>
          </p:nvSpPr>
          <p:spPr>
            <a:xfrm>
              <a:off x="1828800" y="3886200"/>
              <a:ext cx="1524000" cy="1752600"/>
            </a:xfrm>
            <a:prstGeom prst="triangle">
              <a:avLst/>
            </a:prstGeom>
            <a:solidFill>
              <a:srgbClr val="CCE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89" name="Isosceles Triangle 88"/>
            <p:cNvSpPr/>
            <p:nvPr/>
          </p:nvSpPr>
          <p:spPr>
            <a:xfrm>
              <a:off x="4114800" y="3886200"/>
              <a:ext cx="1524000" cy="1752600"/>
            </a:xfrm>
            <a:prstGeom prst="triangle">
              <a:avLst/>
            </a:prstGeom>
            <a:solidFill>
              <a:srgbClr val="CCE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 name="Isosceles Triangle 89"/>
            <p:cNvSpPr/>
            <p:nvPr/>
          </p:nvSpPr>
          <p:spPr>
            <a:xfrm>
              <a:off x="6477000" y="3886200"/>
              <a:ext cx="1524000" cy="1752600"/>
            </a:xfrm>
            <a:prstGeom prst="triangle">
              <a:avLst/>
            </a:prstGeom>
            <a:solidFill>
              <a:srgbClr val="CCE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1" name="TextBox 90"/>
            <p:cNvSpPr txBox="1"/>
            <p:nvPr/>
          </p:nvSpPr>
          <p:spPr>
            <a:xfrm>
              <a:off x="9345975" y="3733800"/>
              <a:ext cx="533400" cy="493926"/>
            </a:xfrm>
            <a:prstGeom prst="rect">
              <a:avLst/>
            </a:prstGeom>
            <a:noFill/>
          </p:spPr>
          <p:txBody>
            <a:bodyPr wrap="square" rtlCol="0">
              <a:spAutoFit/>
            </a:bodyPr>
            <a:lstStyle/>
            <a:p>
              <a:r>
                <a:rPr lang="en-US" dirty="0">
                  <a:latin typeface="Calibri" pitchFamily="34" charset="0"/>
                </a:rPr>
                <a:t>8</a:t>
              </a:r>
            </a:p>
          </p:txBody>
        </p:sp>
        <p:sp>
          <p:nvSpPr>
            <p:cNvPr id="92" name="TextBox 91"/>
            <p:cNvSpPr txBox="1"/>
            <p:nvPr/>
          </p:nvSpPr>
          <p:spPr>
            <a:xfrm>
              <a:off x="2060155" y="5715000"/>
              <a:ext cx="685799" cy="493926"/>
            </a:xfrm>
            <a:prstGeom prst="rect">
              <a:avLst/>
            </a:prstGeom>
            <a:noFill/>
          </p:spPr>
          <p:txBody>
            <a:bodyPr wrap="square" rtlCol="0">
              <a:spAutoFit/>
            </a:bodyPr>
            <a:lstStyle/>
            <a:p>
              <a:r>
                <a:rPr lang="en-US" dirty="0">
                  <a:latin typeface="Calibri" pitchFamily="34" charset="0"/>
                </a:rPr>
                <a:t>2</a:t>
              </a:r>
            </a:p>
          </p:txBody>
        </p:sp>
        <p:sp>
          <p:nvSpPr>
            <p:cNvPr id="93" name="TextBox 92"/>
            <p:cNvSpPr txBox="1"/>
            <p:nvPr/>
          </p:nvSpPr>
          <p:spPr>
            <a:xfrm>
              <a:off x="2644048" y="5715000"/>
              <a:ext cx="762000" cy="493926"/>
            </a:xfrm>
            <a:prstGeom prst="rect">
              <a:avLst/>
            </a:prstGeom>
            <a:noFill/>
          </p:spPr>
          <p:txBody>
            <a:bodyPr wrap="square" rtlCol="0">
              <a:spAutoFit/>
            </a:bodyPr>
            <a:lstStyle/>
            <a:p>
              <a:r>
                <a:rPr lang="en-US" dirty="0">
                  <a:latin typeface="Calibri" pitchFamily="34" charset="0"/>
                </a:rPr>
                <a:t>0</a:t>
              </a:r>
            </a:p>
          </p:txBody>
        </p:sp>
        <p:sp>
          <p:nvSpPr>
            <p:cNvPr id="94" name="TextBox 93"/>
            <p:cNvSpPr txBox="1"/>
            <p:nvPr/>
          </p:nvSpPr>
          <p:spPr>
            <a:xfrm>
              <a:off x="4353499" y="5715000"/>
              <a:ext cx="838200" cy="493926"/>
            </a:xfrm>
            <a:prstGeom prst="rect">
              <a:avLst/>
            </a:prstGeom>
            <a:noFill/>
          </p:spPr>
          <p:txBody>
            <a:bodyPr wrap="square" rtlCol="0">
              <a:spAutoFit/>
            </a:bodyPr>
            <a:lstStyle/>
            <a:p>
              <a:r>
                <a:rPr lang="en-US" dirty="0">
                  <a:latin typeface="Calibri" pitchFamily="34" charset="0"/>
                </a:rPr>
                <a:t>2</a:t>
              </a:r>
            </a:p>
          </p:txBody>
        </p:sp>
        <p:sp>
          <p:nvSpPr>
            <p:cNvPr id="95" name="TextBox 94"/>
            <p:cNvSpPr txBox="1"/>
            <p:nvPr/>
          </p:nvSpPr>
          <p:spPr>
            <a:xfrm>
              <a:off x="4987887" y="5715000"/>
              <a:ext cx="762000" cy="493926"/>
            </a:xfrm>
            <a:prstGeom prst="rect">
              <a:avLst/>
            </a:prstGeom>
            <a:noFill/>
          </p:spPr>
          <p:txBody>
            <a:bodyPr wrap="square" rtlCol="0">
              <a:spAutoFit/>
            </a:bodyPr>
            <a:lstStyle/>
            <a:p>
              <a:r>
                <a:rPr lang="en-US" dirty="0">
                  <a:latin typeface="Calibri" pitchFamily="34" charset="0"/>
                </a:rPr>
                <a:t>6</a:t>
              </a:r>
            </a:p>
          </p:txBody>
        </p:sp>
        <p:sp>
          <p:nvSpPr>
            <p:cNvPr id="96" name="TextBox 95"/>
            <p:cNvSpPr txBox="1"/>
            <p:nvPr/>
          </p:nvSpPr>
          <p:spPr>
            <a:xfrm>
              <a:off x="6697338" y="5715000"/>
              <a:ext cx="838200" cy="493926"/>
            </a:xfrm>
            <a:prstGeom prst="rect">
              <a:avLst/>
            </a:prstGeom>
            <a:noFill/>
          </p:spPr>
          <p:txBody>
            <a:bodyPr wrap="square" rtlCol="0">
              <a:spAutoFit/>
            </a:bodyPr>
            <a:lstStyle/>
            <a:p>
              <a:r>
                <a:rPr lang="en-US" dirty="0">
                  <a:latin typeface="Calibri" pitchFamily="34" charset="0"/>
                </a:rPr>
                <a:t>4</a:t>
              </a:r>
            </a:p>
          </p:txBody>
        </p:sp>
        <p:sp>
          <p:nvSpPr>
            <p:cNvPr id="97" name="TextBox 96"/>
            <p:cNvSpPr txBox="1"/>
            <p:nvPr/>
          </p:nvSpPr>
          <p:spPr>
            <a:xfrm>
              <a:off x="7391401" y="5715000"/>
              <a:ext cx="762000" cy="493926"/>
            </a:xfrm>
            <a:prstGeom prst="rect">
              <a:avLst/>
            </a:prstGeom>
            <a:noFill/>
          </p:spPr>
          <p:txBody>
            <a:bodyPr wrap="square" rtlCol="0">
              <a:spAutoFit/>
            </a:bodyPr>
            <a:lstStyle/>
            <a:p>
              <a:r>
                <a:rPr lang="en-US" dirty="0">
                  <a:latin typeface="Calibri" pitchFamily="34" charset="0"/>
                </a:rPr>
                <a:t>6</a:t>
              </a:r>
            </a:p>
          </p:txBody>
        </p:sp>
        <p:sp>
          <p:nvSpPr>
            <p:cNvPr id="98" name="TextBox 97"/>
            <p:cNvSpPr txBox="1"/>
            <p:nvPr/>
          </p:nvSpPr>
          <p:spPr>
            <a:xfrm>
              <a:off x="3581400" y="5715000"/>
              <a:ext cx="762000" cy="493926"/>
            </a:xfrm>
            <a:prstGeom prst="rect">
              <a:avLst/>
            </a:prstGeom>
            <a:noFill/>
          </p:spPr>
          <p:txBody>
            <a:bodyPr wrap="square" rtlCol="0">
              <a:spAutoFit/>
            </a:bodyPr>
            <a:lstStyle/>
            <a:p>
              <a:r>
                <a:rPr lang="en-US" dirty="0">
                  <a:latin typeface="Calibri" pitchFamily="34" charset="0"/>
                </a:rPr>
                <a:t>…</a:t>
              </a:r>
            </a:p>
          </p:txBody>
        </p:sp>
        <p:sp>
          <p:nvSpPr>
            <p:cNvPr id="99" name="TextBox 98"/>
            <p:cNvSpPr txBox="1"/>
            <p:nvPr/>
          </p:nvSpPr>
          <p:spPr>
            <a:xfrm>
              <a:off x="5867400" y="5715000"/>
              <a:ext cx="762000" cy="493926"/>
            </a:xfrm>
            <a:prstGeom prst="rect">
              <a:avLst/>
            </a:prstGeom>
            <a:noFill/>
          </p:spPr>
          <p:txBody>
            <a:bodyPr wrap="square" rtlCol="0">
              <a:spAutoFit/>
            </a:bodyPr>
            <a:lstStyle/>
            <a:p>
              <a:r>
                <a:rPr lang="en-US" dirty="0">
                  <a:latin typeface="Calibri" pitchFamily="34" charset="0"/>
                </a:rPr>
                <a:t>…</a:t>
              </a:r>
            </a:p>
          </p:txBody>
        </p:sp>
      </p:grpSp>
      <p:sp>
        <p:nvSpPr>
          <p:cNvPr id="101" name="TextBox 100"/>
          <p:cNvSpPr txBox="1"/>
          <p:nvPr/>
        </p:nvSpPr>
        <p:spPr>
          <a:xfrm>
            <a:off x="8610851" y="5634335"/>
            <a:ext cx="3428749" cy="461665"/>
          </a:xfrm>
          <a:prstGeom prst="rect">
            <a:avLst/>
          </a:prstGeom>
          <a:noFill/>
        </p:spPr>
        <p:txBody>
          <a:bodyPr wrap="square" rtlCol="0">
            <a:spAutoFit/>
          </a:bodyPr>
          <a:lstStyle/>
          <a:p>
            <a:r>
              <a:rPr lang="en-US" sz="2400" dirty="0" err="1">
                <a:latin typeface="Calibri" pitchFamily="34" charset="0"/>
              </a:rPr>
              <a:t>Các</a:t>
            </a:r>
            <a:r>
              <a:rPr lang="en-US" sz="2400" dirty="0">
                <a:latin typeface="Calibri" pitchFamily="34" charset="0"/>
              </a:rPr>
              <a:t> </a:t>
            </a:r>
            <a:r>
              <a:rPr lang="en-US" sz="2400" dirty="0" err="1">
                <a:latin typeface="Calibri" pitchFamily="34" charset="0"/>
              </a:rPr>
              <a:t>trạng</a:t>
            </a:r>
            <a:r>
              <a:rPr lang="en-US" sz="2400" dirty="0">
                <a:latin typeface="Calibri" pitchFamily="34" charset="0"/>
              </a:rPr>
              <a:t> </a:t>
            </a:r>
            <a:r>
              <a:rPr lang="en-US" sz="2400" dirty="0" err="1">
                <a:latin typeface="Calibri" pitchFamily="34" charset="0"/>
              </a:rPr>
              <a:t>thái</a:t>
            </a:r>
            <a:r>
              <a:rPr lang="en-US" sz="2400" dirty="0">
                <a:latin typeface="Calibri" pitchFamily="34" charset="0"/>
              </a:rPr>
              <a:t> </a:t>
            </a:r>
            <a:r>
              <a:rPr lang="en-US" sz="2400" dirty="0" err="1">
                <a:latin typeface="Calibri" pitchFamily="34" charset="0"/>
              </a:rPr>
              <a:t>kết</a:t>
            </a:r>
            <a:r>
              <a:rPr lang="en-US" sz="2400" dirty="0">
                <a:latin typeface="Calibri" pitchFamily="34" charset="0"/>
              </a:rPr>
              <a:t> </a:t>
            </a:r>
            <a:r>
              <a:rPr lang="en-US" sz="2400" dirty="0" err="1">
                <a:latin typeface="Calibri" pitchFamily="34" charset="0"/>
              </a:rPr>
              <a:t>thúc</a:t>
            </a:r>
            <a:r>
              <a:rPr lang="en-US" sz="2400" dirty="0">
                <a:latin typeface="Calibri" pitchFamily="34" charset="0"/>
              </a:rPr>
              <a:t>:</a:t>
            </a:r>
          </a:p>
        </p:txBody>
      </p:sp>
      <p:pic>
        <p:nvPicPr>
          <p:cNvPr id="112" name="Picture 111" descr="TP_tmp.png"/>
          <p:cNvPicPr>
            <a:picLocks noChangeAspect="1"/>
          </p:cNvPicPr>
          <p:nvPr>
            <p:custDataLst>
              <p:tags r:id="rId1"/>
            </p:custDataLst>
          </p:nvPr>
        </p:nvPicPr>
        <p:blipFill>
          <a:blip r:embed="rId6" cstate="print"/>
          <a:stretch>
            <a:fillRect/>
          </a:stretch>
        </p:blipFill>
        <p:spPr bwMode="auto">
          <a:xfrm>
            <a:off x="8610851" y="1981203"/>
            <a:ext cx="2717279" cy="457197"/>
          </a:xfrm>
          <a:prstGeom prst="rect">
            <a:avLst/>
          </a:prstGeom>
          <a:noFill/>
          <a:ln/>
          <a:effectLst/>
        </p:spPr>
      </p:pic>
      <p:pic>
        <p:nvPicPr>
          <p:cNvPr id="109" name="Picture 108" descr="TP_tmp.png"/>
          <p:cNvPicPr>
            <a:picLocks noChangeAspect="1"/>
          </p:cNvPicPr>
          <p:nvPr>
            <p:custDataLst>
              <p:tags r:id="rId2"/>
            </p:custDataLst>
          </p:nvPr>
        </p:nvPicPr>
        <p:blipFill>
          <a:blip r:embed="rId7" cstate="print"/>
          <a:stretch>
            <a:fillRect/>
          </a:stretch>
        </p:blipFill>
        <p:spPr bwMode="auto">
          <a:xfrm>
            <a:off x="9448800" y="6172200"/>
            <a:ext cx="1574284" cy="278890"/>
          </a:xfrm>
          <a:prstGeom prst="rect">
            <a:avLst/>
          </a:prstGeom>
          <a:noFill/>
          <a:ln/>
          <a:effectLst/>
        </p:spPr>
      </p:pic>
      <p:sp>
        <p:nvSpPr>
          <p:cNvPr id="110" name="Right Arrow 109"/>
          <p:cNvSpPr/>
          <p:nvPr/>
        </p:nvSpPr>
        <p:spPr>
          <a:xfrm rot="9900000">
            <a:off x="8860469" y="2647461"/>
            <a:ext cx="1066800" cy="304800"/>
          </a:xfrm>
          <a:prstGeom prst="rightArrow">
            <a:avLst/>
          </a:prstGeom>
          <a:solidFill>
            <a:srgbClr val="BEE395"/>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ight Arrow 110"/>
          <p:cNvSpPr/>
          <p:nvPr/>
        </p:nvSpPr>
        <p:spPr>
          <a:xfrm rot="14100089">
            <a:off x="8965176" y="4791553"/>
            <a:ext cx="1066800" cy="304800"/>
          </a:xfrm>
          <a:prstGeom prst="rightArrow">
            <a:avLst/>
          </a:prstGeom>
          <a:solidFill>
            <a:srgbClr val="BEE395"/>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TextBox 112"/>
          <p:cNvSpPr txBox="1"/>
          <p:nvPr/>
        </p:nvSpPr>
        <p:spPr>
          <a:xfrm>
            <a:off x="457200" y="1389184"/>
            <a:ext cx="2667000" cy="1569660"/>
          </a:xfrm>
          <a:prstGeom prst="rect">
            <a:avLst/>
          </a:prstGeom>
          <a:noFill/>
        </p:spPr>
        <p:txBody>
          <a:bodyPr wrap="square" rtlCol="0">
            <a:spAutoFit/>
          </a:bodyPr>
          <a:lstStyle/>
          <a:p>
            <a:pPr algn="ctr"/>
            <a:r>
              <a:rPr lang="en-US" sz="2400" dirty="0" err="1">
                <a:solidFill>
                  <a:srgbClr val="FF0000"/>
                </a:solidFill>
                <a:latin typeface="Calibri" pitchFamily="34" charset="0"/>
              </a:rPr>
              <a:t>Giá</a:t>
            </a:r>
            <a:r>
              <a:rPr lang="en-US" sz="2400" dirty="0">
                <a:solidFill>
                  <a:srgbClr val="FF0000"/>
                </a:solidFill>
                <a:latin typeface="Calibri" pitchFamily="34" charset="0"/>
              </a:rPr>
              <a:t> </a:t>
            </a:r>
            <a:r>
              <a:rPr lang="en-US" sz="2400" dirty="0" err="1">
                <a:solidFill>
                  <a:srgbClr val="FF0000"/>
                </a:solidFill>
                <a:latin typeface="Calibri" pitchFamily="34" charset="0"/>
              </a:rPr>
              <a:t>trị</a:t>
            </a:r>
            <a:r>
              <a:rPr lang="en-US" sz="2400" dirty="0">
                <a:solidFill>
                  <a:srgbClr val="FF0000"/>
                </a:solidFill>
                <a:latin typeface="Calibri" pitchFamily="34" charset="0"/>
              </a:rPr>
              <a:t> </a:t>
            </a:r>
            <a:r>
              <a:rPr lang="en-US" sz="2400" dirty="0" err="1">
                <a:solidFill>
                  <a:srgbClr val="FF0000"/>
                </a:solidFill>
                <a:latin typeface="Calibri" pitchFamily="34" charset="0"/>
              </a:rPr>
              <a:t>của</a:t>
            </a:r>
            <a:r>
              <a:rPr lang="en-US" sz="2400" dirty="0">
                <a:solidFill>
                  <a:srgbClr val="FF0000"/>
                </a:solidFill>
                <a:latin typeface="Calibri" pitchFamily="34" charset="0"/>
              </a:rPr>
              <a:t> </a:t>
            </a:r>
            <a:r>
              <a:rPr lang="en-US" sz="2400" dirty="0" err="1">
                <a:solidFill>
                  <a:srgbClr val="FF0000"/>
                </a:solidFill>
                <a:latin typeface="Calibri" pitchFamily="34" charset="0"/>
              </a:rPr>
              <a:t>trạng</a:t>
            </a:r>
            <a:r>
              <a:rPr lang="en-US" sz="2400" dirty="0">
                <a:solidFill>
                  <a:srgbClr val="FF0000"/>
                </a:solidFill>
                <a:latin typeface="Calibri" pitchFamily="34" charset="0"/>
              </a:rPr>
              <a:t> </a:t>
            </a:r>
            <a:r>
              <a:rPr lang="en-US" sz="2400" dirty="0" err="1">
                <a:solidFill>
                  <a:srgbClr val="FF0000"/>
                </a:solidFill>
                <a:latin typeface="Calibri" pitchFamily="34" charset="0"/>
              </a:rPr>
              <a:t>thái</a:t>
            </a:r>
            <a:r>
              <a:rPr lang="en-US" sz="2400" dirty="0">
                <a:solidFill>
                  <a:srgbClr val="FF0000"/>
                </a:solidFill>
                <a:latin typeface="Calibri" pitchFamily="34" charset="0"/>
              </a:rPr>
              <a:t>:</a:t>
            </a:r>
            <a:r>
              <a:rPr lang="en-US" sz="2400" dirty="0">
                <a:latin typeface="Calibri" pitchFamily="34" charset="0"/>
              </a:rPr>
              <a:t> </a:t>
            </a:r>
            <a:r>
              <a:rPr lang="en-US" sz="2400" dirty="0" err="1">
                <a:latin typeface="Calibri" pitchFamily="34" charset="0"/>
              </a:rPr>
              <a:t>Giá</a:t>
            </a:r>
            <a:r>
              <a:rPr lang="en-US" sz="2400" dirty="0">
                <a:latin typeface="Calibri" pitchFamily="34" charset="0"/>
              </a:rPr>
              <a:t> </a:t>
            </a:r>
            <a:r>
              <a:rPr lang="en-US" sz="2400" dirty="0" err="1">
                <a:latin typeface="Calibri" pitchFamily="34" charset="0"/>
              </a:rPr>
              <a:t>trị</a:t>
            </a:r>
            <a:r>
              <a:rPr lang="en-US" sz="2400" dirty="0">
                <a:latin typeface="Calibri" pitchFamily="34" charset="0"/>
              </a:rPr>
              <a:t> </a:t>
            </a:r>
            <a:r>
              <a:rPr lang="en-US" sz="2400" dirty="0" err="1">
                <a:latin typeface="Calibri" pitchFamily="34" charset="0"/>
              </a:rPr>
              <a:t>tốt</a:t>
            </a:r>
            <a:r>
              <a:rPr lang="en-US" sz="2400" dirty="0">
                <a:latin typeface="Calibri" pitchFamily="34" charset="0"/>
              </a:rPr>
              <a:t> </a:t>
            </a:r>
            <a:r>
              <a:rPr lang="en-US" sz="2400" dirty="0" err="1">
                <a:latin typeface="Calibri" pitchFamily="34" charset="0"/>
              </a:rPr>
              <a:t>nhất</a:t>
            </a:r>
            <a:r>
              <a:rPr lang="en-US" sz="2400" dirty="0">
                <a:latin typeface="Calibri" pitchFamily="34" charset="0"/>
              </a:rPr>
              <a:t> </a:t>
            </a:r>
            <a:r>
              <a:rPr lang="en-US" sz="2400" dirty="0" err="1">
                <a:latin typeface="Calibri" pitchFamily="34" charset="0"/>
              </a:rPr>
              <a:t>có</a:t>
            </a:r>
            <a:r>
              <a:rPr lang="en-US" sz="2400" dirty="0">
                <a:latin typeface="Calibri" pitchFamily="34" charset="0"/>
              </a:rPr>
              <a:t> </a:t>
            </a:r>
            <a:r>
              <a:rPr lang="en-US" sz="2400" dirty="0" err="1">
                <a:latin typeface="Calibri" pitchFamily="34" charset="0"/>
              </a:rPr>
              <a:t>thể</a:t>
            </a:r>
            <a:r>
              <a:rPr lang="en-US" sz="2400" dirty="0">
                <a:latin typeface="Calibri" pitchFamily="34" charset="0"/>
              </a:rPr>
              <a:t> </a:t>
            </a:r>
            <a:r>
              <a:rPr lang="en-US" sz="2400" dirty="0" err="1">
                <a:latin typeface="Calibri" pitchFamily="34" charset="0"/>
              </a:rPr>
              <a:t>đạt</a:t>
            </a:r>
            <a:r>
              <a:rPr lang="en-US" sz="2400" dirty="0">
                <a:latin typeface="Calibri" pitchFamily="34" charset="0"/>
              </a:rPr>
              <a:t> </a:t>
            </a:r>
            <a:r>
              <a:rPr lang="en-US" sz="2400" dirty="0" err="1">
                <a:latin typeface="Calibri" pitchFamily="34" charset="0"/>
              </a:rPr>
              <a:t>được</a:t>
            </a:r>
            <a:r>
              <a:rPr lang="en-US" sz="2400" dirty="0">
                <a:latin typeface="Calibri" pitchFamily="34" charset="0"/>
              </a:rPr>
              <a:t> </a:t>
            </a:r>
            <a:r>
              <a:rPr lang="en-US" sz="2400" dirty="0" err="1">
                <a:latin typeface="Calibri" pitchFamily="34" charset="0"/>
              </a:rPr>
              <a:t>từ</a:t>
            </a:r>
            <a:r>
              <a:rPr lang="en-US" sz="2400" dirty="0">
                <a:latin typeface="Calibri" pitchFamily="34" charset="0"/>
              </a:rPr>
              <a:t> </a:t>
            </a:r>
            <a:r>
              <a:rPr lang="en-US" sz="2400" dirty="0" err="1">
                <a:latin typeface="Calibri" pitchFamily="34" charset="0"/>
              </a:rPr>
              <a:t>trạng</a:t>
            </a:r>
            <a:r>
              <a:rPr lang="en-US" sz="2400" dirty="0">
                <a:latin typeface="Calibri" pitchFamily="34" charset="0"/>
              </a:rPr>
              <a:t> </a:t>
            </a:r>
            <a:r>
              <a:rPr lang="en-US" sz="2400" dirty="0" err="1">
                <a:latin typeface="Calibri" pitchFamily="34" charset="0"/>
              </a:rPr>
              <a:t>thái</a:t>
            </a:r>
            <a:r>
              <a:rPr lang="en-US" sz="2400" dirty="0">
                <a:latin typeface="Calibri" pitchFamily="34" charset="0"/>
              </a:rPr>
              <a:t> </a:t>
            </a:r>
            <a:r>
              <a:rPr lang="en-US" sz="2400" dirty="0" err="1">
                <a:latin typeface="Calibri" pitchFamily="34" charset="0"/>
              </a:rPr>
              <a:t>đó</a:t>
            </a:r>
            <a:endParaRPr lang="en-US" sz="2400" dirty="0">
              <a:latin typeface="Calibri" pitchFamily="34" charset="0"/>
            </a:endParaRPr>
          </a:p>
        </p:txBody>
      </p:sp>
      <p:sp>
        <p:nvSpPr>
          <p:cNvPr id="114" name="Rounded Rectangle 113"/>
          <p:cNvSpPr/>
          <p:nvPr/>
        </p:nvSpPr>
        <p:spPr>
          <a:xfrm>
            <a:off x="304800" y="1295400"/>
            <a:ext cx="2971800" cy="17526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noProof="1"/>
              <a:t>Cây tìm kiếm khi có đối thủ</a:t>
            </a:r>
          </a:p>
        </p:txBody>
      </p:sp>
      <p:sp>
        <p:nvSpPr>
          <p:cNvPr id="6" name="Rectangle 5"/>
          <p:cNvSpPr/>
          <p:nvPr/>
        </p:nvSpPr>
        <p:spPr>
          <a:xfrm>
            <a:off x="5105400" y="1447800"/>
            <a:ext cx="1828800" cy="381000"/>
          </a:xfrm>
          <a:prstGeom prst="rect">
            <a:avLst/>
          </a:prstGeom>
          <a:solidFill>
            <a:schemeClr val="tx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7" name="Picture 3" descr="\\.host\Shared Folders\Shared with PC\images\Pacman_stuck_minimax.png"/>
          <p:cNvPicPr>
            <a:picLocks noChangeAspect="1" noChangeArrowheads="1"/>
          </p:cNvPicPr>
          <p:nvPr/>
        </p:nvPicPr>
        <p:blipFill>
          <a:blip r:embed="rId3" cstate="print"/>
          <a:srcRect l="38135" t="16438" r="44067" b="58904"/>
          <a:stretch>
            <a:fillRect/>
          </a:stretch>
        </p:blipFill>
        <p:spPr bwMode="auto">
          <a:xfrm flipH="1">
            <a:off x="5410200" y="1524000"/>
            <a:ext cx="304800" cy="261937"/>
          </a:xfrm>
          <a:prstGeom prst="rect">
            <a:avLst/>
          </a:prstGeom>
          <a:noFill/>
          <a:ln w="9525">
            <a:noFill/>
            <a:miter lim="800000"/>
            <a:headEnd/>
            <a:tailEnd/>
          </a:ln>
        </p:spPr>
      </p:pic>
      <p:sp>
        <p:nvSpPr>
          <p:cNvPr id="8" name="Oval 7"/>
          <p:cNvSpPr/>
          <p:nvPr/>
        </p:nvSpPr>
        <p:spPr>
          <a:xfrm>
            <a:off x="6127260" y="16002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9" name="Straight Connector 8"/>
          <p:cNvCxnSpPr/>
          <p:nvPr/>
        </p:nvCxnSpPr>
        <p:spPr>
          <a:xfrm rot="10800000" flipV="1">
            <a:off x="3657600" y="1905000"/>
            <a:ext cx="2362200" cy="381000"/>
          </a:xfrm>
          <a:prstGeom prst="line">
            <a:avLst/>
          </a:prstGeom>
          <a:ln w="28575">
            <a:solidFill>
              <a:srgbClr val="0066CC"/>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6019800" y="1905000"/>
            <a:ext cx="2286000" cy="381000"/>
          </a:xfrm>
          <a:prstGeom prst="line">
            <a:avLst/>
          </a:prstGeom>
          <a:ln w="28575">
            <a:solidFill>
              <a:srgbClr val="0066CC"/>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flipV="1">
            <a:off x="7239000" y="2819400"/>
            <a:ext cx="1066800" cy="3810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305800" y="2819400"/>
            <a:ext cx="1219200" cy="3810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rot="10800000" flipV="1">
            <a:off x="2590801" y="2819400"/>
            <a:ext cx="1066800" cy="3810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657601" y="2819400"/>
            <a:ext cx="1219200" cy="3810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2" name="Isosceles Triangle 31"/>
          <p:cNvSpPr/>
          <p:nvPr/>
        </p:nvSpPr>
        <p:spPr>
          <a:xfrm>
            <a:off x="1828800" y="3886200"/>
            <a:ext cx="1524000" cy="1752600"/>
          </a:xfrm>
          <a:prstGeom prst="triangle">
            <a:avLst/>
          </a:prstGeom>
          <a:solidFill>
            <a:srgbClr val="CCE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Isosceles Triangle 32"/>
          <p:cNvSpPr/>
          <p:nvPr/>
        </p:nvSpPr>
        <p:spPr>
          <a:xfrm>
            <a:off x="4114800" y="3886200"/>
            <a:ext cx="1524000" cy="1752600"/>
          </a:xfrm>
          <a:prstGeom prst="triangle">
            <a:avLst/>
          </a:prstGeom>
          <a:solidFill>
            <a:srgbClr val="CCE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Isosceles Triangle 33"/>
          <p:cNvSpPr/>
          <p:nvPr/>
        </p:nvSpPr>
        <p:spPr>
          <a:xfrm>
            <a:off x="6477000" y="3886200"/>
            <a:ext cx="1524000" cy="1752600"/>
          </a:xfrm>
          <a:prstGeom prst="triangle">
            <a:avLst/>
          </a:prstGeom>
          <a:solidFill>
            <a:srgbClr val="CCE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p:nvPr/>
        </p:nvSpPr>
        <p:spPr>
          <a:xfrm>
            <a:off x="1905000" y="5715000"/>
            <a:ext cx="685800" cy="461665"/>
          </a:xfrm>
          <a:prstGeom prst="rect">
            <a:avLst/>
          </a:prstGeom>
          <a:noFill/>
        </p:spPr>
        <p:txBody>
          <a:bodyPr wrap="square" rtlCol="0">
            <a:spAutoFit/>
          </a:bodyPr>
          <a:lstStyle/>
          <a:p>
            <a:r>
              <a:rPr lang="en-US" sz="2400" dirty="0">
                <a:latin typeface="Calibri" pitchFamily="34" charset="0"/>
              </a:rPr>
              <a:t>-20</a:t>
            </a:r>
          </a:p>
        </p:txBody>
      </p:sp>
      <p:sp>
        <p:nvSpPr>
          <p:cNvPr id="37" name="TextBox 36"/>
          <p:cNvSpPr txBox="1"/>
          <p:nvPr/>
        </p:nvSpPr>
        <p:spPr>
          <a:xfrm>
            <a:off x="2743200" y="5715000"/>
            <a:ext cx="762000" cy="461665"/>
          </a:xfrm>
          <a:prstGeom prst="rect">
            <a:avLst/>
          </a:prstGeom>
          <a:noFill/>
        </p:spPr>
        <p:txBody>
          <a:bodyPr wrap="square" rtlCol="0">
            <a:spAutoFit/>
          </a:bodyPr>
          <a:lstStyle/>
          <a:p>
            <a:r>
              <a:rPr lang="en-US" sz="2400" dirty="0">
                <a:latin typeface="Calibri" pitchFamily="34" charset="0"/>
              </a:rPr>
              <a:t>-8</a:t>
            </a:r>
          </a:p>
        </p:txBody>
      </p:sp>
      <p:sp>
        <p:nvSpPr>
          <p:cNvPr id="38" name="TextBox 37"/>
          <p:cNvSpPr txBox="1"/>
          <p:nvPr/>
        </p:nvSpPr>
        <p:spPr>
          <a:xfrm>
            <a:off x="4191000" y="5715000"/>
            <a:ext cx="838200" cy="461665"/>
          </a:xfrm>
          <a:prstGeom prst="rect">
            <a:avLst/>
          </a:prstGeom>
          <a:noFill/>
        </p:spPr>
        <p:txBody>
          <a:bodyPr wrap="square" rtlCol="0">
            <a:spAutoFit/>
          </a:bodyPr>
          <a:lstStyle/>
          <a:p>
            <a:r>
              <a:rPr lang="en-US" sz="2400" dirty="0">
                <a:latin typeface="Calibri" pitchFamily="34" charset="0"/>
              </a:rPr>
              <a:t>-18</a:t>
            </a:r>
          </a:p>
        </p:txBody>
      </p:sp>
      <p:sp>
        <p:nvSpPr>
          <p:cNvPr id="39" name="TextBox 38"/>
          <p:cNvSpPr txBox="1"/>
          <p:nvPr/>
        </p:nvSpPr>
        <p:spPr>
          <a:xfrm>
            <a:off x="5029200" y="5715000"/>
            <a:ext cx="762000" cy="461665"/>
          </a:xfrm>
          <a:prstGeom prst="rect">
            <a:avLst/>
          </a:prstGeom>
          <a:noFill/>
        </p:spPr>
        <p:txBody>
          <a:bodyPr wrap="square" rtlCol="0">
            <a:spAutoFit/>
          </a:bodyPr>
          <a:lstStyle/>
          <a:p>
            <a:r>
              <a:rPr lang="en-US" sz="2400" dirty="0">
                <a:latin typeface="Calibri" pitchFamily="34" charset="0"/>
              </a:rPr>
              <a:t>-5</a:t>
            </a:r>
          </a:p>
        </p:txBody>
      </p:sp>
      <p:sp>
        <p:nvSpPr>
          <p:cNvPr id="40" name="TextBox 39"/>
          <p:cNvSpPr txBox="1"/>
          <p:nvPr/>
        </p:nvSpPr>
        <p:spPr>
          <a:xfrm>
            <a:off x="6553200" y="5715000"/>
            <a:ext cx="838200" cy="461665"/>
          </a:xfrm>
          <a:prstGeom prst="rect">
            <a:avLst/>
          </a:prstGeom>
          <a:noFill/>
        </p:spPr>
        <p:txBody>
          <a:bodyPr wrap="square" rtlCol="0">
            <a:spAutoFit/>
          </a:bodyPr>
          <a:lstStyle/>
          <a:p>
            <a:r>
              <a:rPr lang="en-US" sz="2400" dirty="0">
                <a:latin typeface="Calibri" pitchFamily="34" charset="0"/>
              </a:rPr>
              <a:t>-20</a:t>
            </a:r>
          </a:p>
        </p:txBody>
      </p:sp>
      <p:sp>
        <p:nvSpPr>
          <p:cNvPr id="41" name="TextBox 40"/>
          <p:cNvSpPr txBox="1"/>
          <p:nvPr/>
        </p:nvSpPr>
        <p:spPr>
          <a:xfrm>
            <a:off x="7391400" y="5715000"/>
            <a:ext cx="762000" cy="461665"/>
          </a:xfrm>
          <a:prstGeom prst="rect">
            <a:avLst/>
          </a:prstGeom>
          <a:noFill/>
        </p:spPr>
        <p:txBody>
          <a:bodyPr wrap="square" rtlCol="0">
            <a:spAutoFit/>
          </a:bodyPr>
          <a:lstStyle/>
          <a:p>
            <a:r>
              <a:rPr lang="en-US" sz="2400" dirty="0">
                <a:latin typeface="Calibri" pitchFamily="34" charset="0"/>
              </a:rPr>
              <a:t>-10</a:t>
            </a:r>
          </a:p>
        </p:txBody>
      </p:sp>
      <p:sp>
        <p:nvSpPr>
          <p:cNvPr id="42" name="TextBox 41"/>
          <p:cNvSpPr txBox="1"/>
          <p:nvPr/>
        </p:nvSpPr>
        <p:spPr>
          <a:xfrm>
            <a:off x="3581400" y="5715000"/>
            <a:ext cx="762000" cy="461665"/>
          </a:xfrm>
          <a:prstGeom prst="rect">
            <a:avLst/>
          </a:prstGeom>
          <a:noFill/>
        </p:spPr>
        <p:txBody>
          <a:bodyPr wrap="square" rtlCol="0">
            <a:spAutoFit/>
          </a:bodyPr>
          <a:lstStyle/>
          <a:p>
            <a:r>
              <a:rPr lang="en-US" sz="2400" dirty="0">
                <a:latin typeface="Calibri" pitchFamily="34" charset="0"/>
              </a:rPr>
              <a:t>…</a:t>
            </a:r>
          </a:p>
        </p:txBody>
      </p:sp>
      <p:sp>
        <p:nvSpPr>
          <p:cNvPr id="43" name="TextBox 42"/>
          <p:cNvSpPr txBox="1"/>
          <p:nvPr/>
        </p:nvSpPr>
        <p:spPr>
          <a:xfrm>
            <a:off x="5867400" y="5715000"/>
            <a:ext cx="762000" cy="461665"/>
          </a:xfrm>
          <a:prstGeom prst="rect">
            <a:avLst/>
          </a:prstGeom>
          <a:noFill/>
        </p:spPr>
        <p:txBody>
          <a:bodyPr wrap="square" rtlCol="0">
            <a:spAutoFit/>
          </a:bodyPr>
          <a:lstStyle/>
          <a:p>
            <a:r>
              <a:rPr lang="en-US" sz="2400" dirty="0">
                <a:latin typeface="Calibri" pitchFamily="34" charset="0"/>
              </a:rPr>
              <a:t>…</a:t>
            </a:r>
          </a:p>
        </p:txBody>
      </p:sp>
      <p:pic>
        <p:nvPicPr>
          <p:cNvPr id="41986" name="Picture 2"/>
          <p:cNvPicPr>
            <a:picLocks noChangeAspect="1" noChangeArrowheads="1"/>
          </p:cNvPicPr>
          <p:nvPr/>
        </p:nvPicPr>
        <p:blipFill>
          <a:blip r:embed="rId4" cstate="print"/>
          <a:srcRect/>
          <a:stretch>
            <a:fillRect/>
          </a:stretch>
        </p:blipFill>
        <p:spPr bwMode="auto">
          <a:xfrm>
            <a:off x="6324600" y="1500555"/>
            <a:ext cx="289627" cy="273537"/>
          </a:xfrm>
          <a:prstGeom prst="rect">
            <a:avLst/>
          </a:prstGeom>
          <a:noFill/>
          <a:ln w="9525">
            <a:noFill/>
            <a:miter lim="800000"/>
            <a:headEnd/>
            <a:tailEnd/>
          </a:ln>
        </p:spPr>
      </p:pic>
      <p:sp>
        <p:nvSpPr>
          <p:cNvPr id="50" name="Rectangle 49"/>
          <p:cNvSpPr/>
          <p:nvPr/>
        </p:nvSpPr>
        <p:spPr>
          <a:xfrm>
            <a:off x="2743200" y="2362200"/>
            <a:ext cx="1828800" cy="381000"/>
          </a:xfrm>
          <a:prstGeom prst="rect">
            <a:avLst/>
          </a:prstGeom>
          <a:solidFill>
            <a:schemeClr val="tx1"/>
          </a:solid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51" name="Picture 3" descr="\\.host\Shared Folders\Shared with PC\images\Pacman_stuck_minimax.png"/>
          <p:cNvPicPr>
            <a:picLocks noChangeAspect="1" noChangeArrowheads="1"/>
          </p:cNvPicPr>
          <p:nvPr/>
        </p:nvPicPr>
        <p:blipFill>
          <a:blip r:embed="rId3" cstate="print"/>
          <a:srcRect l="38135" t="16438" r="44067" b="58904"/>
          <a:stretch>
            <a:fillRect/>
          </a:stretch>
        </p:blipFill>
        <p:spPr bwMode="auto">
          <a:xfrm>
            <a:off x="2774460" y="2422770"/>
            <a:ext cx="304800" cy="261937"/>
          </a:xfrm>
          <a:prstGeom prst="rect">
            <a:avLst/>
          </a:prstGeom>
          <a:noFill/>
          <a:ln w="9525">
            <a:noFill/>
            <a:miter lim="800000"/>
            <a:headEnd/>
            <a:tailEnd/>
          </a:ln>
        </p:spPr>
      </p:pic>
      <p:sp>
        <p:nvSpPr>
          <p:cNvPr id="52" name="Oval 51"/>
          <p:cNvSpPr/>
          <p:nvPr/>
        </p:nvSpPr>
        <p:spPr>
          <a:xfrm>
            <a:off x="3765060" y="25146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53" name="Picture 2"/>
          <p:cNvPicPr>
            <a:picLocks noChangeAspect="1" noChangeArrowheads="1"/>
          </p:cNvPicPr>
          <p:nvPr/>
        </p:nvPicPr>
        <p:blipFill>
          <a:blip r:embed="rId4" cstate="print"/>
          <a:srcRect/>
          <a:stretch>
            <a:fillRect/>
          </a:stretch>
        </p:blipFill>
        <p:spPr bwMode="auto">
          <a:xfrm>
            <a:off x="3962400" y="2414955"/>
            <a:ext cx="289627" cy="273537"/>
          </a:xfrm>
          <a:prstGeom prst="rect">
            <a:avLst/>
          </a:prstGeom>
          <a:noFill/>
          <a:ln w="9525">
            <a:noFill/>
            <a:miter lim="800000"/>
            <a:headEnd/>
            <a:tailEnd/>
          </a:ln>
        </p:spPr>
      </p:pic>
      <p:sp>
        <p:nvSpPr>
          <p:cNvPr id="54" name="Rectangle 53"/>
          <p:cNvSpPr/>
          <p:nvPr/>
        </p:nvSpPr>
        <p:spPr>
          <a:xfrm>
            <a:off x="7391400" y="2362200"/>
            <a:ext cx="1828800" cy="381000"/>
          </a:xfrm>
          <a:prstGeom prst="rect">
            <a:avLst/>
          </a:prstGeom>
          <a:solidFill>
            <a:schemeClr val="tx1"/>
          </a:solid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55" name="Picture 3" descr="\\.host\Shared Folders\Shared with PC\images\Pacman_stuck_minimax.png"/>
          <p:cNvPicPr>
            <a:picLocks noChangeAspect="1" noChangeArrowheads="1"/>
          </p:cNvPicPr>
          <p:nvPr/>
        </p:nvPicPr>
        <p:blipFill>
          <a:blip r:embed="rId3" cstate="print"/>
          <a:srcRect l="38135" t="16438" r="44067" b="58904"/>
          <a:stretch>
            <a:fillRect/>
          </a:stretch>
        </p:blipFill>
        <p:spPr bwMode="auto">
          <a:xfrm flipH="1">
            <a:off x="8001000" y="2438400"/>
            <a:ext cx="304800" cy="261937"/>
          </a:xfrm>
          <a:prstGeom prst="rect">
            <a:avLst/>
          </a:prstGeom>
          <a:noFill/>
          <a:ln w="9525">
            <a:noFill/>
            <a:miter lim="800000"/>
            <a:headEnd/>
            <a:tailEnd/>
          </a:ln>
        </p:spPr>
      </p:pic>
      <p:sp>
        <p:nvSpPr>
          <p:cNvPr id="56" name="Oval 55"/>
          <p:cNvSpPr/>
          <p:nvPr/>
        </p:nvSpPr>
        <p:spPr>
          <a:xfrm>
            <a:off x="8413260" y="25146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57" name="Picture 2"/>
          <p:cNvPicPr>
            <a:picLocks noChangeAspect="1" noChangeArrowheads="1"/>
          </p:cNvPicPr>
          <p:nvPr/>
        </p:nvPicPr>
        <p:blipFill>
          <a:blip r:embed="rId4" cstate="print"/>
          <a:srcRect/>
          <a:stretch>
            <a:fillRect/>
          </a:stretch>
        </p:blipFill>
        <p:spPr bwMode="auto">
          <a:xfrm>
            <a:off x="8610600" y="2414955"/>
            <a:ext cx="289627" cy="273537"/>
          </a:xfrm>
          <a:prstGeom prst="rect">
            <a:avLst/>
          </a:prstGeom>
          <a:noFill/>
          <a:ln w="9525">
            <a:noFill/>
            <a:miter lim="800000"/>
            <a:headEnd/>
            <a:tailEnd/>
          </a:ln>
        </p:spPr>
      </p:pic>
      <p:sp>
        <p:nvSpPr>
          <p:cNvPr id="58" name="Rectangle 57"/>
          <p:cNvSpPr/>
          <p:nvPr/>
        </p:nvSpPr>
        <p:spPr>
          <a:xfrm>
            <a:off x="1676400" y="3276600"/>
            <a:ext cx="1828800" cy="381000"/>
          </a:xfrm>
          <a:prstGeom prst="rect">
            <a:avLst/>
          </a:prstGeom>
          <a:solidFill>
            <a:schemeClr val="tx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59" name="Picture 3" descr="\\.host\Shared Folders\Shared with PC\images\Pacman_stuck_minimax.png"/>
          <p:cNvPicPr>
            <a:picLocks noChangeAspect="1" noChangeArrowheads="1"/>
          </p:cNvPicPr>
          <p:nvPr/>
        </p:nvPicPr>
        <p:blipFill>
          <a:blip r:embed="rId3" cstate="print"/>
          <a:srcRect l="38135" t="16438" r="44067" b="58904"/>
          <a:stretch>
            <a:fillRect/>
          </a:stretch>
        </p:blipFill>
        <p:spPr bwMode="auto">
          <a:xfrm>
            <a:off x="1707660" y="3337170"/>
            <a:ext cx="304800" cy="261937"/>
          </a:xfrm>
          <a:prstGeom prst="rect">
            <a:avLst/>
          </a:prstGeom>
          <a:noFill/>
          <a:ln w="9525">
            <a:noFill/>
            <a:miter lim="800000"/>
            <a:headEnd/>
            <a:tailEnd/>
          </a:ln>
        </p:spPr>
      </p:pic>
      <p:sp>
        <p:nvSpPr>
          <p:cNvPr id="60" name="Oval 59"/>
          <p:cNvSpPr/>
          <p:nvPr/>
        </p:nvSpPr>
        <p:spPr>
          <a:xfrm>
            <a:off x="2698260" y="34290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61" name="Picture 2"/>
          <p:cNvPicPr>
            <a:picLocks noChangeAspect="1" noChangeArrowheads="1"/>
          </p:cNvPicPr>
          <p:nvPr/>
        </p:nvPicPr>
        <p:blipFill>
          <a:blip r:embed="rId4" cstate="print"/>
          <a:srcRect/>
          <a:stretch>
            <a:fillRect/>
          </a:stretch>
        </p:blipFill>
        <p:spPr bwMode="auto">
          <a:xfrm>
            <a:off x="2590800" y="3329355"/>
            <a:ext cx="289627" cy="273537"/>
          </a:xfrm>
          <a:prstGeom prst="rect">
            <a:avLst/>
          </a:prstGeom>
          <a:noFill/>
          <a:ln w="9525">
            <a:noFill/>
            <a:miter lim="800000"/>
            <a:headEnd/>
            <a:tailEnd/>
          </a:ln>
        </p:spPr>
      </p:pic>
      <p:sp>
        <p:nvSpPr>
          <p:cNvPr id="62" name="Rectangle 61"/>
          <p:cNvSpPr/>
          <p:nvPr/>
        </p:nvSpPr>
        <p:spPr>
          <a:xfrm>
            <a:off x="3962400" y="3276600"/>
            <a:ext cx="1828800" cy="381000"/>
          </a:xfrm>
          <a:prstGeom prst="rect">
            <a:avLst/>
          </a:prstGeom>
          <a:solidFill>
            <a:schemeClr val="tx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63" name="Picture 3" descr="\\.host\Shared Folders\Shared with PC\images\Pacman_stuck_minimax.png"/>
          <p:cNvPicPr>
            <a:picLocks noChangeAspect="1" noChangeArrowheads="1"/>
          </p:cNvPicPr>
          <p:nvPr/>
        </p:nvPicPr>
        <p:blipFill>
          <a:blip r:embed="rId3" cstate="print"/>
          <a:srcRect l="38135" t="16438" r="44067" b="58904"/>
          <a:stretch>
            <a:fillRect/>
          </a:stretch>
        </p:blipFill>
        <p:spPr bwMode="auto">
          <a:xfrm>
            <a:off x="3993660" y="3337170"/>
            <a:ext cx="304800" cy="261937"/>
          </a:xfrm>
          <a:prstGeom prst="rect">
            <a:avLst/>
          </a:prstGeom>
          <a:noFill/>
          <a:ln w="9525">
            <a:noFill/>
            <a:miter lim="800000"/>
            <a:headEnd/>
            <a:tailEnd/>
          </a:ln>
        </p:spPr>
      </p:pic>
      <p:sp>
        <p:nvSpPr>
          <p:cNvPr id="64" name="Oval 63"/>
          <p:cNvSpPr/>
          <p:nvPr/>
        </p:nvSpPr>
        <p:spPr>
          <a:xfrm>
            <a:off x="4984260" y="34290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65" name="Picture 2"/>
          <p:cNvPicPr>
            <a:picLocks noChangeAspect="1" noChangeArrowheads="1"/>
          </p:cNvPicPr>
          <p:nvPr/>
        </p:nvPicPr>
        <p:blipFill>
          <a:blip r:embed="rId4" cstate="print"/>
          <a:srcRect/>
          <a:stretch>
            <a:fillRect/>
          </a:stretch>
        </p:blipFill>
        <p:spPr bwMode="auto">
          <a:xfrm>
            <a:off x="5425373" y="3329355"/>
            <a:ext cx="289627" cy="273537"/>
          </a:xfrm>
          <a:prstGeom prst="rect">
            <a:avLst/>
          </a:prstGeom>
          <a:noFill/>
          <a:ln w="9525">
            <a:noFill/>
            <a:miter lim="800000"/>
            <a:headEnd/>
            <a:tailEnd/>
          </a:ln>
        </p:spPr>
      </p:pic>
      <p:sp>
        <p:nvSpPr>
          <p:cNvPr id="66" name="Rectangle 65"/>
          <p:cNvSpPr/>
          <p:nvPr/>
        </p:nvSpPr>
        <p:spPr>
          <a:xfrm>
            <a:off x="6324600" y="3276600"/>
            <a:ext cx="1828800" cy="381000"/>
          </a:xfrm>
          <a:prstGeom prst="rect">
            <a:avLst/>
          </a:prstGeom>
          <a:solidFill>
            <a:schemeClr val="tx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67" name="Picture 3" descr="\\.host\Shared Folders\Shared with PC\images\Pacman_stuck_minimax.png"/>
          <p:cNvPicPr>
            <a:picLocks noChangeAspect="1" noChangeArrowheads="1"/>
          </p:cNvPicPr>
          <p:nvPr/>
        </p:nvPicPr>
        <p:blipFill>
          <a:blip r:embed="rId3" cstate="print"/>
          <a:srcRect l="38135" t="16438" r="44067" b="58904"/>
          <a:stretch>
            <a:fillRect/>
          </a:stretch>
        </p:blipFill>
        <p:spPr bwMode="auto">
          <a:xfrm flipH="1">
            <a:off x="6934200" y="3352800"/>
            <a:ext cx="304800" cy="261937"/>
          </a:xfrm>
          <a:prstGeom prst="rect">
            <a:avLst/>
          </a:prstGeom>
          <a:noFill/>
          <a:ln w="9525">
            <a:noFill/>
            <a:miter lim="800000"/>
            <a:headEnd/>
            <a:tailEnd/>
          </a:ln>
        </p:spPr>
      </p:pic>
      <p:sp>
        <p:nvSpPr>
          <p:cNvPr id="68" name="Oval 67"/>
          <p:cNvSpPr/>
          <p:nvPr/>
        </p:nvSpPr>
        <p:spPr>
          <a:xfrm>
            <a:off x="7346460" y="34290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69" name="Picture 2"/>
          <p:cNvPicPr>
            <a:picLocks noChangeAspect="1" noChangeArrowheads="1"/>
          </p:cNvPicPr>
          <p:nvPr/>
        </p:nvPicPr>
        <p:blipFill>
          <a:blip r:embed="rId4" cstate="print"/>
          <a:srcRect/>
          <a:stretch>
            <a:fillRect/>
          </a:stretch>
        </p:blipFill>
        <p:spPr bwMode="auto">
          <a:xfrm>
            <a:off x="7239000" y="3329355"/>
            <a:ext cx="289627" cy="273537"/>
          </a:xfrm>
          <a:prstGeom prst="rect">
            <a:avLst/>
          </a:prstGeom>
          <a:noFill/>
          <a:ln w="9525">
            <a:noFill/>
            <a:miter lim="800000"/>
            <a:headEnd/>
            <a:tailEnd/>
          </a:ln>
        </p:spPr>
      </p:pic>
      <p:sp>
        <p:nvSpPr>
          <p:cNvPr id="70" name="Rectangle 69"/>
          <p:cNvSpPr/>
          <p:nvPr/>
        </p:nvSpPr>
        <p:spPr>
          <a:xfrm>
            <a:off x="8610600" y="3276600"/>
            <a:ext cx="1828800" cy="381000"/>
          </a:xfrm>
          <a:prstGeom prst="rect">
            <a:avLst/>
          </a:prstGeom>
          <a:solidFill>
            <a:schemeClr val="tx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71" name="Picture 3" descr="\\.host\Shared Folders\Shared with PC\images\Pacman_stuck_minimax.png"/>
          <p:cNvPicPr>
            <a:picLocks noChangeAspect="1" noChangeArrowheads="1"/>
          </p:cNvPicPr>
          <p:nvPr/>
        </p:nvPicPr>
        <p:blipFill>
          <a:blip r:embed="rId3" cstate="print"/>
          <a:srcRect l="38135" t="16438" r="44067" b="58904"/>
          <a:stretch>
            <a:fillRect/>
          </a:stretch>
        </p:blipFill>
        <p:spPr bwMode="auto">
          <a:xfrm flipH="1">
            <a:off x="9220200" y="3352800"/>
            <a:ext cx="304800" cy="261937"/>
          </a:xfrm>
          <a:prstGeom prst="rect">
            <a:avLst/>
          </a:prstGeom>
          <a:noFill/>
          <a:ln w="9525">
            <a:noFill/>
            <a:miter lim="800000"/>
            <a:headEnd/>
            <a:tailEnd/>
          </a:ln>
        </p:spPr>
      </p:pic>
      <p:sp>
        <p:nvSpPr>
          <p:cNvPr id="72" name="Oval 71"/>
          <p:cNvSpPr/>
          <p:nvPr/>
        </p:nvSpPr>
        <p:spPr>
          <a:xfrm>
            <a:off x="9632460" y="34290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73" name="Picture 2"/>
          <p:cNvPicPr>
            <a:picLocks noChangeAspect="1" noChangeArrowheads="1"/>
          </p:cNvPicPr>
          <p:nvPr/>
        </p:nvPicPr>
        <p:blipFill>
          <a:blip r:embed="rId4" cstate="print"/>
          <a:srcRect/>
          <a:stretch>
            <a:fillRect/>
          </a:stretch>
        </p:blipFill>
        <p:spPr bwMode="auto">
          <a:xfrm>
            <a:off x="10073573" y="3329355"/>
            <a:ext cx="289627" cy="273537"/>
          </a:xfrm>
          <a:prstGeom prst="rect">
            <a:avLst/>
          </a:prstGeom>
          <a:noFill/>
          <a:ln w="9525">
            <a:noFill/>
            <a:miter lim="800000"/>
            <a:headEnd/>
            <a:tailEnd/>
          </a:ln>
        </p:spPr>
      </p:pic>
      <p:sp>
        <p:nvSpPr>
          <p:cNvPr id="74" name="Isosceles Triangle 73"/>
          <p:cNvSpPr/>
          <p:nvPr/>
        </p:nvSpPr>
        <p:spPr>
          <a:xfrm>
            <a:off x="8763000" y="3886200"/>
            <a:ext cx="1524000" cy="1752600"/>
          </a:xfrm>
          <a:prstGeom prst="triangle">
            <a:avLst/>
          </a:prstGeom>
          <a:solidFill>
            <a:srgbClr val="CCE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TextBox 74"/>
          <p:cNvSpPr txBox="1"/>
          <p:nvPr/>
        </p:nvSpPr>
        <p:spPr>
          <a:xfrm>
            <a:off x="8839200" y="5715000"/>
            <a:ext cx="685800" cy="461665"/>
          </a:xfrm>
          <a:prstGeom prst="rect">
            <a:avLst/>
          </a:prstGeom>
          <a:noFill/>
        </p:spPr>
        <p:txBody>
          <a:bodyPr wrap="square" rtlCol="0">
            <a:spAutoFit/>
          </a:bodyPr>
          <a:lstStyle/>
          <a:p>
            <a:r>
              <a:rPr lang="en-US" sz="2400" dirty="0">
                <a:latin typeface="Calibri" pitchFamily="34" charset="0"/>
              </a:rPr>
              <a:t>-20</a:t>
            </a:r>
          </a:p>
        </p:txBody>
      </p:sp>
      <p:sp>
        <p:nvSpPr>
          <p:cNvPr id="76" name="TextBox 75"/>
          <p:cNvSpPr txBox="1"/>
          <p:nvPr/>
        </p:nvSpPr>
        <p:spPr>
          <a:xfrm>
            <a:off x="9677400" y="5715000"/>
            <a:ext cx="762000" cy="461665"/>
          </a:xfrm>
          <a:prstGeom prst="rect">
            <a:avLst/>
          </a:prstGeom>
          <a:noFill/>
        </p:spPr>
        <p:txBody>
          <a:bodyPr wrap="square" rtlCol="0">
            <a:spAutoFit/>
          </a:bodyPr>
          <a:lstStyle/>
          <a:p>
            <a:r>
              <a:rPr lang="en-US" sz="2400" dirty="0">
                <a:latin typeface="Calibri" pitchFamily="34" charset="0"/>
              </a:rPr>
              <a:t>+8</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noProof="1"/>
              <a:t>Giá trị Minimax</a:t>
            </a:r>
          </a:p>
        </p:txBody>
      </p:sp>
      <p:grpSp>
        <p:nvGrpSpPr>
          <p:cNvPr id="81" name="Group 80"/>
          <p:cNvGrpSpPr/>
          <p:nvPr/>
        </p:nvGrpSpPr>
        <p:grpSpPr>
          <a:xfrm>
            <a:off x="2743200" y="3124200"/>
            <a:ext cx="6781800" cy="2230830"/>
            <a:chOff x="1676400" y="1447800"/>
            <a:chExt cx="8763000" cy="2882533"/>
          </a:xfrm>
        </p:grpSpPr>
        <p:sp>
          <p:nvSpPr>
            <p:cNvPr id="6" name="Rectangle 5"/>
            <p:cNvSpPr/>
            <p:nvPr/>
          </p:nvSpPr>
          <p:spPr>
            <a:xfrm>
              <a:off x="5105400" y="1447800"/>
              <a:ext cx="1828800" cy="381000"/>
            </a:xfrm>
            <a:prstGeom prst="rect">
              <a:avLst/>
            </a:prstGeom>
            <a:solidFill>
              <a:schemeClr val="tx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7" name="Picture 3" descr="\\.host\Shared Folders\Shared with PC\images\Pacman_stuck_minimax.png"/>
            <p:cNvPicPr>
              <a:picLocks noChangeAspect="1" noChangeArrowheads="1"/>
            </p:cNvPicPr>
            <p:nvPr/>
          </p:nvPicPr>
          <p:blipFill>
            <a:blip r:embed="rId6" cstate="print"/>
            <a:srcRect l="38135" t="16438" r="44067" b="58904"/>
            <a:stretch>
              <a:fillRect/>
            </a:stretch>
          </p:blipFill>
          <p:spPr bwMode="auto">
            <a:xfrm flipH="1">
              <a:off x="5410200" y="1524000"/>
              <a:ext cx="304800" cy="261937"/>
            </a:xfrm>
            <a:prstGeom prst="rect">
              <a:avLst/>
            </a:prstGeom>
            <a:noFill/>
            <a:ln w="9525">
              <a:noFill/>
              <a:miter lim="800000"/>
              <a:headEnd/>
              <a:tailEnd/>
            </a:ln>
          </p:spPr>
        </p:pic>
        <p:sp>
          <p:nvSpPr>
            <p:cNvPr id="8" name="Oval 7"/>
            <p:cNvSpPr/>
            <p:nvPr/>
          </p:nvSpPr>
          <p:spPr>
            <a:xfrm>
              <a:off x="6127260" y="16002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9" name="Straight Connector 8"/>
            <p:cNvCxnSpPr/>
            <p:nvPr/>
          </p:nvCxnSpPr>
          <p:spPr>
            <a:xfrm rot="10800000" flipV="1">
              <a:off x="3657600" y="1905000"/>
              <a:ext cx="2362200" cy="381000"/>
            </a:xfrm>
            <a:prstGeom prst="line">
              <a:avLst/>
            </a:prstGeom>
            <a:ln w="28575">
              <a:solidFill>
                <a:srgbClr val="0066CC"/>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6019800" y="1905000"/>
              <a:ext cx="2286000" cy="381000"/>
            </a:xfrm>
            <a:prstGeom prst="line">
              <a:avLst/>
            </a:prstGeom>
            <a:ln w="28575">
              <a:solidFill>
                <a:srgbClr val="0066CC"/>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flipV="1">
              <a:off x="7239000" y="2819400"/>
              <a:ext cx="1066800" cy="3810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305800" y="2819400"/>
              <a:ext cx="1219200" cy="3810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rot="10800000" flipV="1">
              <a:off x="2590801" y="2819400"/>
              <a:ext cx="1066800" cy="3810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657601" y="2819400"/>
              <a:ext cx="1219200" cy="3810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pic>
          <p:nvPicPr>
            <p:cNvPr id="41986" name="Picture 2"/>
            <p:cNvPicPr>
              <a:picLocks noChangeAspect="1" noChangeArrowheads="1"/>
            </p:cNvPicPr>
            <p:nvPr/>
          </p:nvPicPr>
          <p:blipFill>
            <a:blip r:embed="rId7" cstate="print"/>
            <a:srcRect/>
            <a:stretch>
              <a:fillRect/>
            </a:stretch>
          </p:blipFill>
          <p:spPr bwMode="auto">
            <a:xfrm>
              <a:off x="6324600" y="1500555"/>
              <a:ext cx="289627" cy="273537"/>
            </a:xfrm>
            <a:prstGeom prst="rect">
              <a:avLst/>
            </a:prstGeom>
            <a:noFill/>
            <a:ln w="9525">
              <a:noFill/>
              <a:miter lim="800000"/>
              <a:headEnd/>
              <a:tailEnd/>
            </a:ln>
          </p:spPr>
        </p:pic>
        <p:sp>
          <p:nvSpPr>
            <p:cNvPr id="50" name="Rectangle 49"/>
            <p:cNvSpPr/>
            <p:nvPr/>
          </p:nvSpPr>
          <p:spPr>
            <a:xfrm>
              <a:off x="2743200" y="2362200"/>
              <a:ext cx="1828800" cy="381000"/>
            </a:xfrm>
            <a:prstGeom prst="rect">
              <a:avLst/>
            </a:prstGeom>
            <a:solidFill>
              <a:schemeClr val="tx1"/>
            </a:solid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51" name="Picture 3" descr="\\.host\Shared Folders\Shared with PC\images\Pacman_stuck_minimax.png"/>
            <p:cNvPicPr>
              <a:picLocks noChangeAspect="1" noChangeArrowheads="1"/>
            </p:cNvPicPr>
            <p:nvPr/>
          </p:nvPicPr>
          <p:blipFill>
            <a:blip r:embed="rId6" cstate="print"/>
            <a:srcRect l="38135" t="16438" r="44067" b="58904"/>
            <a:stretch>
              <a:fillRect/>
            </a:stretch>
          </p:blipFill>
          <p:spPr bwMode="auto">
            <a:xfrm>
              <a:off x="2774460" y="2422770"/>
              <a:ext cx="304800" cy="261937"/>
            </a:xfrm>
            <a:prstGeom prst="rect">
              <a:avLst/>
            </a:prstGeom>
            <a:noFill/>
            <a:ln w="9525">
              <a:noFill/>
              <a:miter lim="800000"/>
              <a:headEnd/>
              <a:tailEnd/>
            </a:ln>
          </p:spPr>
        </p:pic>
        <p:sp>
          <p:nvSpPr>
            <p:cNvPr id="52" name="Oval 51"/>
            <p:cNvSpPr/>
            <p:nvPr/>
          </p:nvSpPr>
          <p:spPr>
            <a:xfrm>
              <a:off x="3765060" y="25146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53" name="Picture 2"/>
            <p:cNvPicPr>
              <a:picLocks noChangeAspect="1" noChangeArrowheads="1"/>
            </p:cNvPicPr>
            <p:nvPr/>
          </p:nvPicPr>
          <p:blipFill>
            <a:blip r:embed="rId7" cstate="print"/>
            <a:srcRect/>
            <a:stretch>
              <a:fillRect/>
            </a:stretch>
          </p:blipFill>
          <p:spPr bwMode="auto">
            <a:xfrm>
              <a:off x="3962400" y="2414955"/>
              <a:ext cx="289627" cy="273537"/>
            </a:xfrm>
            <a:prstGeom prst="rect">
              <a:avLst/>
            </a:prstGeom>
            <a:noFill/>
            <a:ln w="9525">
              <a:noFill/>
              <a:miter lim="800000"/>
              <a:headEnd/>
              <a:tailEnd/>
            </a:ln>
          </p:spPr>
        </p:pic>
        <p:sp>
          <p:nvSpPr>
            <p:cNvPr id="54" name="Rectangle 53"/>
            <p:cNvSpPr/>
            <p:nvPr/>
          </p:nvSpPr>
          <p:spPr>
            <a:xfrm>
              <a:off x="7391400" y="2362200"/>
              <a:ext cx="1828800" cy="381000"/>
            </a:xfrm>
            <a:prstGeom prst="rect">
              <a:avLst/>
            </a:prstGeom>
            <a:solidFill>
              <a:schemeClr val="tx1"/>
            </a:solid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55" name="Picture 3" descr="\\.host\Shared Folders\Shared with PC\images\Pacman_stuck_minimax.png"/>
            <p:cNvPicPr>
              <a:picLocks noChangeAspect="1" noChangeArrowheads="1"/>
            </p:cNvPicPr>
            <p:nvPr/>
          </p:nvPicPr>
          <p:blipFill>
            <a:blip r:embed="rId6" cstate="print"/>
            <a:srcRect l="38135" t="16438" r="44067" b="58904"/>
            <a:stretch>
              <a:fillRect/>
            </a:stretch>
          </p:blipFill>
          <p:spPr bwMode="auto">
            <a:xfrm flipH="1">
              <a:off x="8001000" y="2438400"/>
              <a:ext cx="304800" cy="261937"/>
            </a:xfrm>
            <a:prstGeom prst="rect">
              <a:avLst/>
            </a:prstGeom>
            <a:noFill/>
            <a:ln w="9525">
              <a:noFill/>
              <a:miter lim="800000"/>
              <a:headEnd/>
              <a:tailEnd/>
            </a:ln>
          </p:spPr>
        </p:pic>
        <p:sp>
          <p:nvSpPr>
            <p:cNvPr id="56" name="Oval 55"/>
            <p:cNvSpPr/>
            <p:nvPr/>
          </p:nvSpPr>
          <p:spPr>
            <a:xfrm>
              <a:off x="8413260" y="25146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57" name="Picture 2"/>
            <p:cNvPicPr>
              <a:picLocks noChangeAspect="1" noChangeArrowheads="1"/>
            </p:cNvPicPr>
            <p:nvPr/>
          </p:nvPicPr>
          <p:blipFill>
            <a:blip r:embed="rId7" cstate="print"/>
            <a:srcRect/>
            <a:stretch>
              <a:fillRect/>
            </a:stretch>
          </p:blipFill>
          <p:spPr bwMode="auto">
            <a:xfrm>
              <a:off x="8610600" y="2414955"/>
              <a:ext cx="289627" cy="273537"/>
            </a:xfrm>
            <a:prstGeom prst="rect">
              <a:avLst/>
            </a:prstGeom>
            <a:noFill/>
            <a:ln w="9525">
              <a:noFill/>
              <a:miter lim="800000"/>
              <a:headEnd/>
              <a:tailEnd/>
            </a:ln>
          </p:spPr>
        </p:pic>
        <p:sp>
          <p:nvSpPr>
            <p:cNvPr id="58" name="Rectangle 57"/>
            <p:cNvSpPr/>
            <p:nvPr/>
          </p:nvSpPr>
          <p:spPr>
            <a:xfrm>
              <a:off x="1676400" y="3276600"/>
              <a:ext cx="1828800" cy="381000"/>
            </a:xfrm>
            <a:prstGeom prst="rect">
              <a:avLst/>
            </a:prstGeom>
            <a:solidFill>
              <a:schemeClr val="tx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59" name="Picture 3" descr="\\.host\Shared Folders\Shared with PC\images\Pacman_stuck_minimax.png"/>
            <p:cNvPicPr>
              <a:picLocks noChangeAspect="1" noChangeArrowheads="1"/>
            </p:cNvPicPr>
            <p:nvPr/>
          </p:nvPicPr>
          <p:blipFill>
            <a:blip r:embed="rId6" cstate="print"/>
            <a:srcRect l="38135" t="16438" r="44067" b="58904"/>
            <a:stretch>
              <a:fillRect/>
            </a:stretch>
          </p:blipFill>
          <p:spPr bwMode="auto">
            <a:xfrm>
              <a:off x="1707660" y="3337170"/>
              <a:ext cx="304800" cy="261937"/>
            </a:xfrm>
            <a:prstGeom prst="rect">
              <a:avLst/>
            </a:prstGeom>
            <a:noFill/>
            <a:ln w="9525">
              <a:noFill/>
              <a:miter lim="800000"/>
              <a:headEnd/>
              <a:tailEnd/>
            </a:ln>
          </p:spPr>
        </p:pic>
        <p:sp>
          <p:nvSpPr>
            <p:cNvPr id="60" name="Oval 59"/>
            <p:cNvSpPr/>
            <p:nvPr/>
          </p:nvSpPr>
          <p:spPr>
            <a:xfrm>
              <a:off x="2698260" y="34290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61" name="Picture 2"/>
            <p:cNvPicPr>
              <a:picLocks noChangeAspect="1" noChangeArrowheads="1"/>
            </p:cNvPicPr>
            <p:nvPr/>
          </p:nvPicPr>
          <p:blipFill>
            <a:blip r:embed="rId7" cstate="print"/>
            <a:srcRect/>
            <a:stretch>
              <a:fillRect/>
            </a:stretch>
          </p:blipFill>
          <p:spPr bwMode="auto">
            <a:xfrm>
              <a:off x="2590800" y="3329355"/>
              <a:ext cx="289627" cy="273537"/>
            </a:xfrm>
            <a:prstGeom prst="rect">
              <a:avLst/>
            </a:prstGeom>
            <a:noFill/>
            <a:ln w="9525">
              <a:noFill/>
              <a:miter lim="800000"/>
              <a:headEnd/>
              <a:tailEnd/>
            </a:ln>
          </p:spPr>
        </p:pic>
        <p:sp>
          <p:nvSpPr>
            <p:cNvPr id="62" name="Rectangle 61"/>
            <p:cNvSpPr/>
            <p:nvPr/>
          </p:nvSpPr>
          <p:spPr>
            <a:xfrm>
              <a:off x="3962400" y="3276600"/>
              <a:ext cx="1828800" cy="381000"/>
            </a:xfrm>
            <a:prstGeom prst="rect">
              <a:avLst/>
            </a:prstGeom>
            <a:solidFill>
              <a:schemeClr val="tx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63" name="Picture 3" descr="\\.host\Shared Folders\Shared with PC\images\Pacman_stuck_minimax.png"/>
            <p:cNvPicPr>
              <a:picLocks noChangeAspect="1" noChangeArrowheads="1"/>
            </p:cNvPicPr>
            <p:nvPr/>
          </p:nvPicPr>
          <p:blipFill>
            <a:blip r:embed="rId6" cstate="print"/>
            <a:srcRect l="38135" t="16438" r="44067" b="58904"/>
            <a:stretch>
              <a:fillRect/>
            </a:stretch>
          </p:blipFill>
          <p:spPr bwMode="auto">
            <a:xfrm>
              <a:off x="3993660" y="3337170"/>
              <a:ext cx="304800" cy="261937"/>
            </a:xfrm>
            <a:prstGeom prst="rect">
              <a:avLst/>
            </a:prstGeom>
            <a:noFill/>
            <a:ln w="9525">
              <a:noFill/>
              <a:miter lim="800000"/>
              <a:headEnd/>
              <a:tailEnd/>
            </a:ln>
          </p:spPr>
        </p:pic>
        <p:sp>
          <p:nvSpPr>
            <p:cNvPr id="64" name="Oval 63"/>
            <p:cNvSpPr/>
            <p:nvPr/>
          </p:nvSpPr>
          <p:spPr>
            <a:xfrm>
              <a:off x="4984260" y="34290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65" name="Picture 2"/>
            <p:cNvPicPr>
              <a:picLocks noChangeAspect="1" noChangeArrowheads="1"/>
            </p:cNvPicPr>
            <p:nvPr/>
          </p:nvPicPr>
          <p:blipFill>
            <a:blip r:embed="rId7" cstate="print"/>
            <a:srcRect/>
            <a:stretch>
              <a:fillRect/>
            </a:stretch>
          </p:blipFill>
          <p:spPr bwMode="auto">
            <a:xfrm>
              <a:off x="5425373" y="3329355"/>
              <a:ext cx="289627" cy="273537"/>
            </a:xfrm>
            <a:prstGeom prst="rect">
              <a:avLst/>
            </a:prstGeom>
            <a:noFill/>
            <a:ln w="9525">
              <a:noFill/>
              <a:miter lim="800000"/>
              <a:headEnd/>
              <a:tailEnd/>
            </a:ln>
          </p:spPr>
        </p:pic>
        <p:sp>
          <p:nvSpPr>
            <p:cNvPr id="66" name="Rectangle 65"/>
            <p:cNvSpPr/>
            <p:nvPr/>
          </p:nvSpPr>
          <p:spPr>
            <a:xfrm>
              <a:off x="6324600" y="3276600"/>
              <a:ext cx="1828800" cy="381000"/>
            </a:xfrm>
            <a:prstGeom prst="rect">
              <a:avLst/>
            </a:prstGeom>
            <a:solidFill>
              <a:schemeClr val="tx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67" name="Picture 3" descr="\\.host\Shared Folders\Shared with PC\images\Pacman_stuck_minimax.png"/>
            <p:cNvPicPr>
              <a:picLocks noChangeAspect="1" noChangeArrowheads="1"/>
            </p:cNvPicPr>
            <p:nvPr/>
          </p:nvPicPr>
          <p:blipFill>
            <a:blip r:embed="rId6" cstate="print"/>
            <a:srcRect l="38135" t="16438" r="44067" b="58904"/>
            <a:stretch>
              <a:fillRect/>
            </a:stretch>
          </p:blipFill>
          <p:spPr bwMode="auto">
            <a:xfrm flipH="1">
              <a:off x="6934200" y="3352800"/>
              <a:ext cx="304800" cy="261937"/>
            </a:xfrm>
            <a:prstGeom prst="rect">
              <a:avLst/>
            </a:prstGeom>
            <a:noFill/>
            <a:ln w="9525">
              <a:noFill/>
              <a:miter lim="800000"/>
              <a:headEnd/>
              <a:tailEnd/>
            </a:ln>
          </p:spPr>
        </p:pic>
        <p:sp>
          <p:nvSpPr>
            <p:cNvPr id="68" name="Oval 67"/>
            <p:cNvSpPr/>
            <p:nvPr/>
          </p:nvSpPr>
          <p:spPr>
            <a:xfrm>
              <a:off x="7346460" y="34290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69" name="Picture 2"/>
            <p:cNvPicPr>
              <a:picLocks noChangeAspect="1" noChangeArrowheads="1"/>
            </p:cNvPicPr>
            <p:nvPr/>
          </p:nvPicPr>
          <p:blipFill>
            <a:blip r:embed="rId7" cstate="print"/>
            <a:srcRect/>
            <a:stretch>
              <a:fillRect/>
            </a:stretch>
          </p:blipFill>
          <p:spPr bwMode="auto">
            <a:xfrm>
              <a:off x="7239000" y="3329355"/>
              <a:ext cx="289627" cy="273537"/>
            </a:xfrm>
            <a:prstGeom prst="rect">
              <a:avLst/>
            </a:prstGeom>
            <a:noFill/>
            <a:ln w="9525">
              <a:noFill/>
              <a:miter lim="800000"/>
              <a:headEnd/>
              <a:tailEnd/>
            </a:ln>
          </p:spPr>
        </p:pic>
        <p:sp>
          <p:nvSpPr>
            <p:cNvPr id="70" name="Rectangle 69"/>
            <p:cNvSpPr/>
            <p:nvPr/>
          </p:nvSpPr>
          <p:spPr>
            <a:xfrm>
              <a:off x="8610600" y="3276600"/>
              <a:ext cx="1828800" cy="381000"/>
            </a:xfrm>
            <a:prstGeom prst="rect">
              <a:avLst/>
            </a:prstGeom>
            <a:solidFill>
              <a:schemeClr val="tx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71" name="Picture 3" descr="\\.host\Shared Folders\Shared with PC\images\Pacman_stuck_minimax.png"/>
            <p:cNvPicPr>
              <a:picLocks noChangeAspect="1" noChangeArrowheads="1"/>
            </p:cNvPicPr>
            <p:nvPr/>
          </p:nvPicPr>
          <p:blipFill>
            <a:blip r:embed="rId6" cstate="print"/>
            <a:srcRect l="38135" t="16438" r="44067" b="58904"/>
            <a:stretch>
              <a:fillRect/>
            </a:stretch>
          </p:blipFill>
          <p:spPr bwMode="auto">
            <a:xfrm flipH="1">
              <a:off x="9220200" y="3352800"/>
              <a:ext cx="304800" cy="261937"/>
            </a:xfrm>
            <a:prstGeom prst="rect">
              <a:avLst/>
            </a:prstGeom>
            <a:noFill/>
            <a:ln w="9525">
              <a:noFill/>
              <a:miter lim="800000"/>
              <a:headEnd/>
              <a:tailEnd/>
            </a:ln>
          </p:spPr>
        </p:pic>
        <p:sp>
          <p:nvSpPr>
            <p:cNvPr id="72" name="Oval 71"/>
            <p:cNvSpPr/>
            <p:nvPr/>
          </p:nvSpPr>
          <p:spPr>
            <a:xfrm>
              <a:off x="9632460" y="34290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73" name="Picture 2"/>
            <p:cNvPicPr>
              <a:picLocks noChangeAspect="1" noChangeArrowheads="1"/>
            </p:cNvPicPr>
            <p:nvPr/>
          </p:nvPicPr>
          <p:blipFill>
            <a:blip r:embed="rId7" cstate="print"/>
            <a:srcRect/>
            <a:stretch>
              <a:fillRect/>
            </a:stretch>
          </p:blipFill>
          <p:spPr bwMode="auto">
            <a:xfrm>
              <a:off x="10073573" y="3329355"/>
              <a:ext cx="289627" cy="273537"/>
            </a:xfrm>
            <a:prstGeom prst="rect">
              <a:avLst/>
            </a:prstGeom>
            <a:noFill/>
            <a:ln w="9525">
              <a:noFill/>
              <a:miter lim="800000"/>
              <a:headEnd/>
              <a:tailEnd/>
            </a:ln>
          </p:spPr>
        </p:pic>
        <p:sp>
          <p:nvSpPr>
            <p:cNvPr id="77" name="TextBox 76"/>
            <p:cNvSpPr txBox="1"/>
            <p:nvPr/>
          </p:nvSpPr>
          <p:spPr>
            <a:xfrm>
              <a:off x="9207357" y="3733800"/>
              <a:ext cx="838200" cy="596533"/>
            </a:xfrm>
            <a:prstGeom prst="rect">
              <a:avLst/>
            </a:prstGeom>
            <a:noFill/>
          </p:spPr>
          <p:txBody>
            <a:bodyPr wrap="square" rtlCol="0">
              <a:spAutoFit/>
            </a:bodyPr>
            <a:lstStyle/>
            <a:p>
              <a:r>
                <a:rPr lang="en-US" sz="2400" dirty="0">
                  <a:latin typeface="Calibri" pitchFamily="34" charset="0"/>
                </a:rPr>
                <a:t>+8</a:t>
              </a:r>
            </a:p>
          </p:txBody>
        </p:sp>
        <p:sp>
          <p:nvSpPr>
            <p:cNvPr id="78" name="TextBox 77"/>
            <p:cNvSpPr txBox="1"/>
            <p:nvPr/>
          </p:nvSpPr>
          <p:spPr>
            <a:xfrm>
              <a:off x="6894816" y="3733799"/>
              <a:ext cx="838200" cy="461666"/>
            </a:xfrm>
            <a:prstGeom prst="rect">
              <a:avLst/>
            </a:prstGeom>
            <a:noFill/>
          </p:spPr>
          <p:txBody>
            <a:bodyPr wrap="square" rtlCol="0">
              <a:spAutoFit/>
            </a:bodyPr>
            <a:lstStyle/>
            <a:p>
              <a:r>
                <a:rPr lang="en-US" sz="2400" dirty="0">
                  <a:latin typeface="Calibri" pitchFamily="34" charset="0"/>
                </a:rPr>
                <a:t>-10</a:t>
              </a:r>
            </a:p>
          </p:txBody>
        </p:sp>
        <p:sp>
          <p:nvSpPr>
            <p:cNvPr id="79" name="TextBox 78"/>
            <p:cNvSpPr txBox="1"/>
            <p:nvPr/>
          </p:nvSpPr>
          <p:spPr>
            <a:xfrm>
              <a:off x="4630220" y="3733799"/>
              <a:ext cx="838200" cy="461666"/>
            </a:xfrm>
            <a:prstGeom prst="rect">
              <a:avLst/>
            </a:prstGeom>
            <a:noFill/>
          </p:spPr>
          <p:txBody>
            <a:bodyPr wrap="square" rtlCol="0">
              <a:spAutoFit/>
            </a:bodyPr>
            <a:lstStyle/>
            <a:p>
              <a:r>
                <a:rPr lang="en-US" sz="2400" dirty="0">
                  <a:latin typeface="Calibri" pitchFamily="34" charset="0"/>
                </a:rPr>
                <a:t>-5</a:t>
              </a:r>
            </a:p>
          </p:txBody>
        </p:sp>
        <p:sp>
          <p:nvSpPr>
            <p:cNvPr id="80" name="TextBox 79"/>
            <p:cNvSpPr txBox="1"/>
            <p:nvPr/>
          </p:nvSpPr>
          <p:spPr>
            <a:xfrm>
              <a:off x="2267164" y="3733799"/>
              <a:ext cx="838200" cy="461666"/>
            </a:xfrm>
            <a:prstGeom prst="rect">
              <a:avLst/>
            </a:prstGeom>
            <a:noFill/>
          </p:spPr>
          <p:txBody>
            <a:bodyPr wrap="square" rtlCol="0">
              <a:spAutoFit/>
            </a:bodyPr>
            <a:lstStyle/>
            <a:p>
              <a:r>
                <a:rPr lang="en-US" sz="2400" dirty="0">
                  <a:latin typeface="Calibri" pitchFamily="34" charset="0"/>
                </a:rPr>
                <a:t>-8</a:t>
              </a:r>
            </a:p>
          </p:txBody>
        </p:sp>
      </p:grpSp>
      <p:sp>
        <p:nvSpPr>
          <p:cNvPr id="82" name="TextBox 81"/>
          <p:cNvSpPr txBox="1"/>
          <p:nvPr/>
        </p:nvSpPr>
        <p:spPr>
          <a:xfrm>
            <a:off x="685800" y="1367135"/>
            <a:ext cx="3962400" cy="461665"/>
          </a:xfrm>
          <a:prstGeom prst="rect">
            <a:avLst/>
          </a:prstGeom>
          <a:noFill/>
        </p:spPr>
        <p:txBody>
          <a:bodyPr wrap="square" rtlCol="0">
            <a:spAutoFit/>
          </a:bodyPr>
          <a:lstStyle/>
          <a:p>
            <a:r>
              <a:rPr lang="en-US" sz="2400" dirty="0" err="1">
                <a:solidFill>
                  <a:schemeClr val="accent2"/>
                </a:solidFill>
                <a:latin typeface="Calibri" pitchFamily="34" charset="0"/>
              </a:rPr>
              <a:t>Trạng</a:t>
            </a:r>
            <a:r>
              <a:rPr lang="en-US" sz="2400" dirty="0">
                <a:solidFill>
                  <a:schemeClr val="accent2"/>
                </a:solidFill>
                <a:latin typeface="Calibri" pitchFamily="34" charset="0"/>
              </a:rPr>
              <a:t> </a:t>
            </a:r>
            <a:r>
              <a:rPr lang="en-US" sz="2400" dirty="0" err="1">
                <a:solidFill>
                  <a:schemeClr val="accent2"/>
                </a:solidFill>
                <a:latin typeface="Calibri" pitchFamily="34" charset="0"/>
              </a:rPr>
              <a:t>thái</a:t>
            </a:r>
            <a:r>
              <a:rPr lang="en-US" sz="2400" dirty="0">
                <a:solidFill>
                  <a:schemeClr val="accent2"/>
                </a:solidFill>
                <a:latin typeface="Calibri" pitchFamily="34" charset="0"/>
              </a:rPr>
              <a:t> </a:t>
            </a:r>
            <a:r>
              <a:rPr lang="en-US" sz="2400" dirty="0" err="1">
                <a:solidFill>
                  <a:schemeClr val="accent2"/>
                </a:solidFill>
                <a:latin typeface="Calibri" pitchFamily="34" charset="0"/>
              </a:rPr>
              <a:t>của</a:t>
            </a:r>
            <a:r>
              <a:rPr lang="en-US" sz="2400" dirty="0">
                <a:solidFill>
                  <a:schemeClr val="accent2"/>
                </a:solidFill>
                <a:latin typeface="Calibri" pitchFamily="34" charset="0"/>
              </a:rPr>
              <a:t> </a:t>
            </a:r>
            <a:r>
              <a:rPr lang="en-US" sz="2400" dirty="0" err="1">
                <a:solidFill>
                  <a:schemeClr val="accent2"/>
                </a:solidFill>
                <a:latin typeface="Calibri" pitchFamily="34" charset="0"/>
              </a:rPr>
              <a:t>tác</a:t>
            </a:r>
            <a:r>
              <a:rPr lang="en-US" sz="2400" dirty="0">
                <a:solidFill>
                  <a:schemeClr val="accent2"/>
                </a:solidFill>
                <a:latin typeface="Calibri" pitchFamily="34" charset="0"/>
              </a:rPr>
              <a:t> </a:t>
            </a:r>
            <a:r>
              <a:rPr lang="en-US" sz="2400" dirty="0" err="1">
                <a:solidFill>
                  <a:schemeClr val="accent2"/>
                </a:solidFill>
                <a:latin typeface="Calibri" pitchFamily="34" charset="0"/>
              </a:rPr>
              <a:t>tử</a:t>
            </a:r>
            <a:r>
              <a:rPr lang="en-US" sz="2400" dirty="0">
                <a:solidFill>
                  <a:schemeClr val="accent2"/>
                </a:solidFill>
                <a:latin typeface="Calibri" pitchFamily="34" charset="0"/>
              </a:rPr>
              <a:t>:</a:t>
            </a:r>
          </a:p>
        </p:txBody>
      </p:sp>
      <p:sp>
        <p:nvSpPr>
          <p:cNvPr id="83" name="TextBox 82"/>
          <p:cNvSpPr txBox="1"/>
          <p:nvPr/>
        </p:nvSpPr>
        <p:spPr>
          <a:xfrm>
            <a:off x="5181600" y="5562600"/>
            <a:ext cx="2819400" cy="461665"/>
          </a:xfrm>
          <a:prstGeom prst="rect">
            <a:avLst/>
          </a:prstGeom>
          <a:noFill/>
        </p:spPr>
        <p:txBody>
          <a:bodyPr wrap="square" rtlCol="0">
            <a:spAutoFit/>
          </a:bodyPr>
          <a:lstStyle/>
          <a:p>
            <a:r>
              <a:rPr lang="en-US" sz="2400" dirty="0" err="1">
                <a:solidFill>
                  <a:srgbClr val="7030A0"/>
                </a:solidFill>
                <a:latin typeface="Calibri" pitchFamily="34" charset="0"/>
              </a:rPr>
              <a:t>Trạng</a:t>
            </a:r>
            <a:r>
              <a:rPr lang="en-US" sz="2400" dirty="0">
                <a:solidFill>
                  <a:srgbClr val="7030A0"/>
                </a:solidFill>
                <a:latin typeface="Calibri" pitchFamily="34" charset="0"/>
              </a:rPr>
              <a:t> </a:t>
            </a:r>
            <a:r>
              <a:rPr lang="en-US" sz="2400" dirty="0" err="1">
                <a:solidFill>
                  <a:srgbClr val="7030A0"/>
                </a:solidFill>
                <a:latin typeface="Calibri" pitchFamily="34" charset="0"/>
              </a:rPr>
              <a:t>thái</a:t>
            </a:r>
            <a:r>
              <a:rPr lang="en-US" sz="2400" dirty="0">
                <a:solidFill>
                  <a:srgbClr val="7030A0"/>
                </a:solidFill>
                <a:latin typeface="Calibri" pitchFamily="34" charset="0"/>
              </a:rPr>
              <a:t> </a:t>
            </a:r>
            <a:r>
              <a:rPr lang="en-US" sz="2400" dirty="0" err="1">
                <a:solidFill>
                  <a:srgbClr val="7030A0"/>
                </a:solidFill>
                <a:latin typeface="Calibri" pitchFamily="34" charset="0"/>
              </a:rPr>
              <a:t>kết</a:t>
            </a:r>
            <a:r>
              <a:rPr lang="en-US" sz="2400" dirty="0">
                <a:solidFill>
                  <a:srgbClr val="7030A0"/>
                </a:solidFill>
                <a:latin typeface="Calibri" pitchFamily="34" charset="0"/>
              </a:rPr>
              <a:t> </a:t>
            </a:r>
            <a:r>
              <a:rPr lang="en-US" sz="2400" dirty="0" err="1">
                <a:solidFill>
                  <a:srgbClr val="7030A0"/>
                </a:solidFill>
                <a:latin typeface="Calibri" pitchFamily="34" charset="0"/>
              </a:rPr>
              <a:t>thúc</a:t>
            </a:r>
            <a:r>
              <a:rPr lang="en-US" sz="2400" dirty="0">
                <a:solidFill>
                  <a:srgbClr val="7030A0"/>
                </a:solidFill>
                <a:latin typeface="Calibri" pitchFamily="34" charset="0"/>
              </a:rPr>
              <a:t>:</a:t>
            </a:r>
          </a:p>
        </p:txBody>
      </p:sp>
      <p:pic>
        <p:nvPicPr>
          <p:cNvPr id="92" name="Picture 91" descr="TP_tmp.png"/>
          <p:cNvPicPr>
            <a:picLocks noChangeAspect="1"/>
          </p:cNvPicPr>
          <p:nvPr>
            <p:custDataLst>
              <p:tags r:id="rId1"/>
            </p:custDataLst>
          </p:nvPr>
        </p:nvPicPr>
        <p:blipFill>
          <a:blip r:embed="rId8" cstate="print"/>
          <a:stretch>
            <a:fillRect/>
          </a:stretch>
        </p:blipFill>
        <p:spPr bwMode="auto">
          <a:xfrm>
            <a:off x="1067083" y="1828800"/>
            <a:ext cx="2920953" cy="457112"/>
          </a:xfrm>
          <a:prstGeom prst="rect">
            <a:avLst/>
          </a:prstGeom>
          <a:noFill/>
          <a:ln/>
          <a:effectLst/>
        </p:spPr>
      </p:pic>
      <p:pic>
        <p:nvPicPr>
          <p:cNvPr id="85" name="Picture 84" descr="TP_tmp.png"/>
          <p:cNvPicPr>
            <a:picLocks noChangeAspect="1"/>
          </p:cNvPicPr>
          <p:nvPr>
            <p:custDataLst>
              <p:tags r:id="rId2"/>
            </p:custDataLst>
          </p:nvPr>
        </p:nvPicPr>
        <p:blipFill>
          <a:blip r:embed="rId9" cstate="print"/>
          <a:stretch>
            <a:fillRect/>
          </a:stretch>
        </p:blipFill>
        <p:spPr bwMode="auto">
          <a:xfrm>
            <a:off x="5512316" y="6019800"/>
            <a:ext cx="1574284" cy="278890"/>
          </a:xfrm>
          <a:prstGeom prst="rect">
            <a:avLst/>
          </a:prstGeom>
          <a:noFill/>
          <a:ln/>
          <a:effectLst/>
        </p:spPr>
      </p:pic>
      <p:sp>
        <p:nvSpPr>
          <p:cNvPr id="86" name="Right Arrow 85"/>
          <p:cNvSpPr/>
          <p:nvPr/>
        </p:nvSpPr>
        <p:spPr>
          <a:xfrm rot="1943663">
            <a:off x="4045804" y="2305478"/>
            <a:ext cx="1706429" cy="304800"/>
          </a:xfrm>
          <a:prstGeom prst="rightArrow">
            <a:avLst/>
          </a:prstGeom>
          <a:solidFill>
            <a:srgbClr val="CCECFF"/>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TextBox 86"/>
          <p:cNvSpPr txBox="1"/>
          <p:nvPr/>
        </p:nvSpPr>
        <p:spPr>
          <a:xfrm>
            <a:off x="7239000" y="1371600"/>
            <a:ext cx="4495800" cy="461665"/>
          </a:xfrm>
          <a:prstGeom prst="rect">
            <a:avLst/>
          </a:prstGeom>
          <a:noFill/>
        </p:spPr>
        <p:txBody>
          <a:bodyPr wrap="square" rtlCol="0">
            <a:spAutoFit/>
          </a:bodyPr>
          <a:lstStyle/>
          <a:p>
            <a:r>
              <a:rPr lang="en-US" sz="2400" dirty="0" err="1">
                <a:solidFill>
                  <a:srgbClr val="C00000"/>
                </a:solidFill>
                <a:latin typeface="Calibri" pitchFamily="34" charset="0"/>
              </a:rPr>
              <a:t>Trạng</a:t>
            </a:r>
            <a:r>
              <a:rPr lang="en-US" sz="2400" dirty="0">
                <a:solidFill>
                  <a:srgbClr val="C00000"/>
                </a:solidFill>
                <a:latin typeface="Calibri" pitchFamily="34" charset="0"/>
              </a:rPr>
              <a:t> </a:t>
            </a:r>
            <a:r>
              <a:rPr lang="en-US" sz="2400" dirty="0" err="1">
                <a:solidFill>
                  <a:srgbClr val="C00000"/>
                </a:solidFill>
                <a:latin typeface="Calibri" pitchFamily="34" charset="0"/>
              </a:rPr>
              <a:t>thái</a:t>
            </a:r>
            <a:r>
              <a:rPr lang="en-US" sz="2400" dirty="0">
                <a:solidFill>
                  <a:srgbClr val="C00000"/>
                </a:solidFill>
                <a:latin typeface="Calibri" pitchFamily="34" charset="0"/>
              </a:rPr>
              <a:t> </a:t>
            </a:r>
            <a:r>
              <a:rPr lang="en-US" sz="2400" dirty="0" err="1">
                <a:solidFill>
                  <a:srgbClr val="C00000"/>
                </a:solidFill>
                <a:latin typeface="Calibri" pitchFamily="34" charset="0"/>
              </a:rPr>
              <a:t>của</a:t>
            </a:r>
            <a:r>
              <a:rPr lang="en-US" sz="2400" dirty="0">
                <a:solidFill>
                  <a:srgbClr val="C00000"/>
                </a:solidFill>
                <a:latin typeface="Calibri" pitchFamily="34" charset="0"/>
              </a:rPr>
              <a:t> </a:t>
            </a:r>
            <a:r>
              <a:rPr lang="en-US" sz="2400" dirty="0" err="1">
                <a:solidFill>
                  <a:srgbClr val="C00000"/>
                </a:solidFill>
                <a:latin typeface="Calibri" pitchFamily="34" charset="0"/>
              </a:rPr>
              <a:t>tác</a:t>
            </a:r>
            <a:r>
              <a:rPr lang="en-US" sz="2400" dirty="0">
                <a:solidFill>
                  <a:srgbClr val="C00000"/>
                </a:solidFill>
                <a:latin typeface="Calibri" pitchFamily="34" charset="0"/>
              </a:rPr>
              <a:t> </a:t>
            </a:r>
            <a:r>
              <a:rPr lang="en-US" sz="2400" dirty="0" err="1">
                <a:solidFill>
                  <a:srgbClr val="C00000"/>
                </a:solidFill>
                <a:latin typeface="Calibri" pitchFamily="34" charset="0"/>
              </a:rPr>
              <a:t>tử</a:t>
            </a:r>
            <a:r>
              <a:rPr lang="en-US" sz="2400" dirty="0">
                <a:solidFill>
                  <a:srgbClr val="C00000"/>
                </a:solidFill>
                <a:latin typeface="Calibri" pitchFamily="34" charset="0"/>
              </a:rPr>
              <a:t> </a:t>
            </a:r>
            <a:r>
              <a:rPr lang="en-US" sz="2400" dirty="0" err="1">
                <a:solidFill>
                  <a:srgbClr val="C00000"/>
                </a:solidFill>
                <a:latin typeface="Calibri" pitchFamily="34" charset="0"/>
              </a:rPr>
              <a:t>đối</a:t>
            </a:r>
            <a:r>
              <a:rPr lang="en-US" sz="2400" dirty="0">
                <a:solidFill>
                  <a:srgbClr val="C00000"/>
                </a:solidFill>
                <a:latin typeface="Calibri" pitchFamily="34" charset="0"/>
              </a:rPr>
              <a:t> </a:t>
            </a:r>
            <a:r>
              <a:rPr lang="en-US" sz="2400" dirty="0" err="1">
                <a:solidFill>
                  <a:srgbClr val="C00000"/>
                </a:solidFill>
                <a:latin typeface="Calibri" pitchFamily="34" charset="0"/>
              </a:rPr>
              <a:t>thủ</a:t>
            </a:r>
            <a:r>
              <a:rPr lang="en-US" sz="2400" dirty="0">
                <a:solidFill>
                  <a:srgbClr val="C00000"/>
                </a:solidFill>
                <a:latin typeface="Calibri" pitchFamily="34" charset="0"/>
              </a:rPr>
              <a:t>:</a:t>
            </a:r>
          </a:p>
        </p:txBody>
      </p:sp>
      <p:pic>
        <p:nvPicPr>
          <p:cNvPr id="93" name="Picture 92" descr="TP_tmp.png"/>
          <p:cNvPicPr>
            <a:picLocks noChangeAspect="1"/>
          </p:cNvPicPr>
          <p:nvPr>
            <p:custDataLst>
              <p:tags r:id="rId3"/>
            </p:custDataLst>
          </p:nvPr>
        </p:nvPicPr>
        <p:blipFill>
          <a:blip r:embed="rId10" cstate="print"/>
          <a:stretch>
            <a:fillRect/>
          </a:stretch>
        </p:blipFill>
        <p:spPr bwMode="auto">
          <a:xfrm>
            <a:off x="7899451" y="1828800"/>
            <a:ext cx="2919874" cy="456943"/>
          </a:xfrm>
          <a:prstGeom prst="rect">
            <a:avLst/>
          </a:prstGeom>
          <a:noFill/>
          <a:ln/>
          <a:effectLst/>
        </p:spPr>
      </p:pic>
      <p:sp>
        <p:nvSpPr>
          <p:cNvPr id="90" name="Right Arrow 89"/>
          <p:cNvSpPr/>
          <p:nvPr/>
        </p:nvSpPr>
        <p:spPr>
          <a:xfrm rot="8255959">
            <a:off x="8148387" y="2949051"/>
            <a:ext cx="1406806" cy="304800"/>
          </a:xfrm>
          <a:prstGeom prst="rightArrow">
            <a:avLst/>
          </a:prstGeom>
          <a:solidFill>
            <a:srgbClr val="FF9999"/>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vi-VN" noProof="1"/>
              <a:t>Cây tìm kiếm của Tic-Tac-Toe</a:t>
            </a:r>
          </a:p>
        </p:txBody>
      </p:sp>
      <p:pic>
        <p:nvPicPr>
          <p:cNvPr id="15363" name="Picture 3"/>
          <p:cNvPicPr>
            <a:picLocks noChangeAspect="1" noChangeArrowheads="1"/>
          </p:cNvPicPr>
          <p:nvPr/>
        </p:nvPicPr>
        <p:blipFill>
          <a:blip r:embed="rId3" cstate="print"/>
          <a:srcRect/>
          <a:stretch>
            <a:fillRect/>
          </a:stretch>
        </p:blipFill>
        <p:spPr bwMode="auto">
          <a:xfrm>
            <a:off x="2305050" y="1295400"/>
            <a:ext cx="7296150" cy="5283200"/>
          </a:xfrm>
          <a:prstGeom prst="rect">
            <a:avLst/>
          </a:prstGeom>
          <a:noFill/>
          <a:ln w="9525">
            <a:noFill/>
            <a:miter lim="800000"/>
            <a:headEnd/>
            <a:tailEnd/>
          </a:ln>
        </p:spPr>
      </p:pic>
      <p:pic>
        <p:nvPicPr>
          <p:cNvPr id="25603" name="Picture 3"/>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220265" y="1066800"/>
            <a:ext cx="1045620" cy="1033462"/>
          </a:xfrm>
          <a:prstGeom prst="rect">
            <a:avLst/>
          </a:prstGeom>
          <a:noFill/>
        </p:spPr>
      </p:pic>
      <p:pic>
        <p:nvPicPr>
          <p:cNvPr id="8" name="Picture 3"/>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1338066" y="1981884"/>
            <a:ext cx="928884" cy="1032093"/>
          </a:xfrm>
          <a:prstGeom prst="rect">
            <a:avLst/>
          </a:prstGeom>
          <a:noFill/>
        </p:spPr>
      </p:pic>
      <p:pic>
        <p:nvPicPr>
          <p:cNvPr id="12" name="Picture 3"/>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220265" y="2895600"/>
            <a:ext cx="1045620" cy="1033462"/>
          </a:xfrm>
          <a:prstGeom prst="rect">
            <a:avLst/>
          </a:prstGeom>
          <a:noFill/>
        </p:spPr>
      </p:pic>
      <p:pic>
        <p:nvPicPr>
          <p:cNvPr id="13" name="Picture 3"/>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1338066" y="3810684"/>
            <a:ext cx="928884" cy="1032093"/>
          </a:xfrm>
          <a:prstGeom prst="rect">
            <a:avLst/>
          </a:prstGeom>
          <a:noFill/>
        </p:spPr>
      </p:pic>
      <p:pic>
        <p:nvPicPr>
          <p:cNvPr id="53251" name="Picture 3"/>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6515100" y="3733970"/>
            <a:ext cx="4419600" cy="2165493"/>
          </a:xfrm>
          <a:prstGeom prst="rect">
            <a:avLst/>
          </a:prstGeom>
          <a:noFill/>
          <a:extLst>
            <a:ext uri="{909E8E84-426E-40dd-AFC4-6F175D3DCCD1}">
              <a14:hiddenFill xmlns=""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vi-VN" noProof="1"/>
              <a:t>Tìm kiếm có đối thủ (Minimax)</a:t>
            </a:r>
          </a:p>
        </p:txBody>
      </p:sp>
      <p:sp>
        <p:nvSpPr>
          <p:cNvPr id="12291" name="Rectangle 3"/>
          <p:cNvSpPr>
            <a:spLocks noGrp="1" noChangeArrowheads="1"/>
          </p:cNvSpPr>
          <p:nvPr>
            <p:ph idx="1"/>
          </p:nvPr>
        </p:nvSpPr>
        <p:spPr>
          <a:xfrm>
            <a:off x="1066800" y="1447800"/>
            <a:ext cx="5486400" cy="4525963"/>
          </a:xfrm>
        </p:spPr>
        <p:txBody>
          <a:bodyPr/>
          <a:lstStyle/>
          <a:p>
            <a:pPr eaLnBrk="1" hangingPunct="1"/>
            <a:r>
              <a:rPr lang="vi-VN" sz="2200" noProof="1"/>
              <a:t>Trò chơi tất định có tổng bằng không:</a:t>
            </a:r>
          </a:p>
          <a:p>
            <a:pPr lvl="1" eaLnBrk="1" hangingPunct="1"/>
            <a:r>
              <a:rPr lang="vi-VN" sz="2200" noProof="1"/>
              <a:t>Tic-tac-toe, cờ vua, cờ đam</a:t>
            </a:r>
          </a:p>
          <a:p>
            <a:pPr lvl="1" eaLnBrk="1" hangingPunct="1"/>
            <a:r>
              <a:rPr lang="vi-VN" sz="2200" noProof="1"/>
              <a:t>Một người chơi cực đại giá trị</a:t>
            </a:r>
          </a:p>
          <a:p>
            <a:pPr lvl="1" eaLnBrk="1" hangingPunct="1"/>
            <a:r>
              <a:rPr lang="vi-VN" sz="2200" noProof="1"/>
              <a:t>Người còn lại cực tiểu giá trị</a:t>
            </a:r>
          </a:p>
          <a:p>
            <a:pPr lvl="1" eaLnBrk="1" hangingPunct="1"/>
            <a:endParaRPr lang="vi-VN" sz="2200" noProof="1"/>
          </a:p>
          <a:p>
            <a:pPr eaLnBrk="1" hangingPunct="1"/>
            <a:r>
              <a:rPr lang="vi-VN" sz="2200" noProof="1"/>
              <a:t>Tìm kiếm minimax:</a:t>
            </a:r>
          </a:p>
          <a:p>
            <a:pPr lvl="1" eaLnBrk="1" hangingPunct="1"/>
            <a:r>
              <a:rPr lang="vi-VN" sz="2200" noProof="1"/>
              <a:t>Cây tìm kiếm trạng thái</a:t>
            </a:r>
          </a:p>
          <a:p>
            <a:pPr lvl="1" eaLnBrk="1" hangingPunct="1"/>
            <a:r>
              <a:rPr lang="vi-VN" sz="2200" noProof="1"/>
              <a:t>Người chơi lần lượt</a:t>
            </a:r>
          </a:p>
          <a:p>
            <a:pPr lvl="1" eaLnBrk="1" hangingPunct="1"/>
            <a:r>
              <a:rPr lang="vi-VN" sz="2200" noProof="1">
                <a:solidFill>
                  <a:srgbClr val="FF0000"/>
                </a:solidFill>
              </a:rPr>
              <a:t>Tính giá trị minimax: giá trị tốt nhất đạt được khi đối thủ chơi hợp lý (tối ưu)</a:t>
            </a:r>
          </a:p>
        </p:txBody>
      </p:sp>
      <p:sp>
        <p:nvSpPr>
          <p:cNvPr id="12292" name="AutoShape 4"/>
          <p:cNvSpPr>
            <a:spLocks noChangeArrowheads="1"/>
          </p:cNvSpPr>
          <p:nvPr/>
        </p:nvSpPr>
        <p:spPr bwMode="auto">
          <a:xfrm>
            <a:off x="8763000" y="2325687"/>
            <a:ext cx="381000" cy="304800"/>
          </a:xfrm>
          <a:prstGeom prst="triangle">
            <a:avLst>
              <a:gd name="adj" fmla="val 50000"/>
            </a:avLst>
          </a:prstGeom>
          <a:solidFill>
            <a:srgbClr val="CCECFF"/>
          </a:solidFill>
          <a:ln w="9525">
            <a:solidFill>
              <a:schemeClr val="tx1"/>
            </a:solidFill>
            <a:miter lim="800000"/>
            <a:headEnd/>
            <a:tailEnd/>
          </a:ln>
        </p:spPr>
        <p:txBody>
          <a:bodyPr wrap="none" anchor="ctr"/>
          <a:lstStyle/>
          <a:p>
            <a:endParaRPr lang="en-US">
              <a:latin typeface="Calibri" pitchFamily="34" charset="0"/>
            </a:endParaRPr>
          </a:p>
        </p:txBody>
      </p:sp>
      <p:sp>
        <p:nvSpPr>
          <p:cNvPr id="12293" name="AutoShape 5"/>
          <p:cNvSpPr>
            <a:spLocks noChangeArrowheads="1"/>
          </p:cNvSpPr>
          <p:nvPr/>
        </p:nvSpPr>
        <p:spPr bwMode="auto">
          <a:xfrm rot="10800000">
            <a:off x="8001000" y="3316287"/>
            <a:ext cx="381000" cy="304800"/>
          </a:xfrm>
          <a:prstGeom prst="triangle">
            <a:avLst>
              <a:gd name="adj" fmla="val 50000"/>
            </a:avLst>
          </a:prstGeom>
          <a:solidFill>
            <a:srgbClr val="FF9999"/>
          </a:solidFill>
          <a:ln w="9525">
            <a:solidFill>
              <a:schemeClr val="tx1"/>
            </a:solidFill>
            <a:miter lim="800000"/>
            <a:headEnd/>
            <a:tailEnd/>
          </a:ln>
        </p:spPr>
        <p:txBody>
          <a:bodyPr wrap="none" anchor="ctr"/>
          <a:lstStyle/>
          <a:p>
            <a:endParaRPr lang="en-US">
              <a:latin typeface="Calibri" pitchFamily="34" charset="0"/>
            </a:endParaRPr>
          </a:p>
        </p:txBody>
      </p:sp>
      <p:sp>
        <p:nvSpPr>
          <p:cNvPr id="12294" name="AutoShape 6"/>
          <p:cNvSpPr>
            <a:spLocks noChangeArrowheads="1"/>
          </p:cNvSpPr>
          <p:nvPr/>
        </p:nvSpPr>
        <p:spPr bwMode="auto">
          <a:xfrm rot="10800000">
            <a:off x="9525000" y="3316287"/>
            <a:ext cx="381000" cy="304800"/>
          </a:xfrm>
          <a:prstGeom prst="triangle">
            <a:avLst>
              <a:gd name="adj" fmla="val 50000"/>
            </a:avLst>
          </a:prstGeom>
          <a:solidFill>
            <a:srgbClr val="FF9999"/>
          </a:solidFill>
          <a:ln w="9525">
            <a:solidFill>
              <a:schemeClr val="tx1"/>
            </a:solidFill>
            <a:miter lim="800000"/>
            <a:headEnd/>
            <a:tailEnd/>
          </a:ln>
        </p:spPr>
        <p:txBody>
          <a:bodyPr wrap="none" anchor="ctr"/>
          <a:lstStyle/>
          <a:p>
            <a:endParaRPr lang="en-US">
              <a:latin typeface="Calibri" pitchFamily="34" charset="0"/>
            </a:endParaRPr>
          </a:p>
        </p:txBody>
      </p:sp>
      <p:sp>
        <p:nvSpPr>
          <p:cNvPr id="12295" name="Rectangle 7"/>
          <p:cNvSpPr>
            <a:spLocks noChangeArrowheads="1"/>
          </p:cNvSpPr>
          <p:nvPr/>
        </p:nvSpPr>
        <p:spPr bwMode="auto">
          <a:xfrm>
            <a:off x="7620000" y="4611687"/>
            <a:ext cx="381000" cy="304800"/>
          </a:xfrm>
          <a:prstGeom prst="rect">
            <a:avLst/>
          </a:prstGeom>
          <a:solidFill>
            <a:srgbClr val="BD92DE"/>
          </a:solidFill>
          <a:ln w="9525">
            <a:solidFill>
              <a:schemeClr val="tx1"/>
            </a:solidFill>
            <a:miter lim="800000"/>
            <a:headEnd/>
            <a:tailEnd/>
          </a:ln>
        </p:spPr>
        <p:txBody>
          <a:bodyPr wrap="none" anchor="ctr"/>
          <a:lstStyle/>
          <a:p>
            <a:pPr algn="ctr"/>
            <a:r>
              <a:rPr lang="en-US">
                <a:latin typeface="Calibri" pitchFamily="34" charset="0"/>
              </a:rPr>
              <a:t>8</a:t>
            </a:r>
          </a:p>
        </p:txBody>
      </p:sp>
      <p:sp>
        <p:nvSpPr>
          <p:cNvPr id="12296" name="Rectangle 8"/>
          <p:cNvSpPr>
            <a:spLocks noChangeArrowheads="1"/>
          </p:cNvSpPr>
          <p:nvPr/>
        </p:nvSpPr>
        <p:spPr bwMode="auto">
          <a:xfrm>
            <a:off x="8305800" y="4611687"/>
            <a:ext cx="381000" cy="304800"/>
          </a:xfrm>
          <a:prstGeom prst="rect">
            <a:avLst/>
          </a:prstGeom>
          <a:solidFill>
            <a:srgbClr val="BD92DE"/>
          </a:solidFill>
          <a:ln w="9525">
            <a:solidFill>
              <a:schemeClr val="tx1"/>
            </a:solidFill>
            <a:miter lim="800000"/>
            <a:headEnd/>
            <a:tailEnd/>
          </a:ln>
        </p:spPr>
        <p:txBody>
          <a:bodyPr wrap="none" anchor="ctr"/>
          <a:lstStyle/>
          <a:p>
            <a:pPr algn="ctr"/>
            <a:r>
              <a:rPr lang="en-US">
                <a:latin typeface="Calibri" pitchFamily="34" charset="0"/>
              </a:rPr>
              <a:t>2</a:t>
            </a:r>
          </a:p>
        </p:txBody>
      </p:sp>
      <p:sp>
        <p:nvSpPr>
          <p:cNvPr id="12297" name="Rectangle 9"/>
          <p:cNvSpPr>
            <a:spLocks noChangeArrowheads="1"/>
          </p:cNvSpPr>
          <p:nvPr/>
        </p:nvSpPr>
        <p:spPr bwMode="auto">
          <a:xfrm>
            <a:off x="9144000" y="4611687"/>
            <a:ext cx="381000" cy="304800"/>
          </a:xfrm>
          <a:prstGeom prst="rect">
            <a:avLst/>
          </a:prstGeom>
          <a:solidFill>
            <a:srgbClr val="BD92DE"/>
          </a:solidFill>
          <a:ln w="9525">
            <a:solidFill>
              <a:schemeClr val="tx1"/>
            </a:solidFill>
            <a:miter lim="800000"/>
            <a:headEnd/>
            <a:tailEnd/>
          </a:ln>
        </p:spPr>
        <p:txBody>
          <a:bodyPr wrap="none" anchor="ctr"/>
          <a:lstStyle/>
          <a:p>
            <a:pPr algn="ctr"/>
            <a:r>
              <a:rPr lang="en-US">
                <a:latin typeface="Calibri" pitchFamily="34" charset="0"/>
              </a:rPr>
              <a:t>5</a:t>
            </a:r>
          </a:p>
        </p:txBody>
      </p:sp>
      <p:sp>
        <p:nvSpPr>
          <p:cNvPr id="12298" name="Rectangle 10"/>
          <p:cNvSpPr>
            <a:spLocks noChangeArrowheads="1"/>
          </p:cNvSpPr>
          <p:nvPr/>
        </p:nvSpPr>
        <p:spPr bwMode="auto">
          <a:xfrm>
            <a:off x="9906000" y="4611687"/>
            <a:ext cx="381000" cy="304800"/>
          </a:xfrm>
          <a:prstGeom prst="rect">
            <a:avLst/>
          </a:prstGeom>
          <a:solidFill>
            <a:srgbClr val="BD92DE"/>
          </a:solidFill>
          <a:ln w="9525">
            <a:solidFill>
              <a:schemeClr val="tx1"/>
            </a:solidFill>
            <a:miter lim="800000"/>
            <a:headEnd/>
            <a:tailEnd/>
          </a:ln>
        </p:spPr>
        <p:txBody>
          <a:bodyPr wrap="none" anchor="ctr"/>
          <a:lstStyle/>
          <a:p>
            <a:pPr algn="ctr"/>
            <a:r>
              <a:rPr lang="en-US" dirty="0">
                <a:latin typeface="Calibri" pitchFamily="34" charset="0"/>
              </a:rPr>
              <a:t>6</a:t>
            </a:r>
          </a:p>
        </p:txBody>
      </p:sp>
      <p:cxnSp>
        <p:nvCxnSpPr>
          <p:cNvPr id="12299" name="AutoShape 11"/>
          <p:cNvCxnSpPr>
            <a:cxnSpLocks noChangeShapeType="1"/>
            <a:stCxn id="12292" idx="3"/>
            <a:endCxn id="12293" idx="3"/>
          </p:cNvCxnSpPr>
          <p:nvPr/>
        </p:nvCxnSpPr>
        <p:spPr bwMode="auto">
          <a:xfrm flipH="1">
            <a:off x="8191500" y="2630487"/>
            <a:ext cx="762000" cy="685800"/>
          </a:xfrm>
          <a:prstGeom prst="straightConnector1">
            <a:avLst/>
          </a:prstGeom>
          <a:noFill/>
          <a:ln w="9525">
            <a:solidFill>
              <a:schemeClr val="tx1"/>
            </a:solidFill>
            <a:round/>
            <a:headEnd/>
            <a:tailEnd type="triangle" w="med" len="med"/>
          </a:ln>
        </p:spPr>
      </p:cxnSp>
      <p:cxnSp>
        <p:nvCxnSpPr>
          <p:cNvPr id="12300" name="AutoShape 12"/>
          <p:cNvCxnSpPr>
            <a:cxnSpLocks noChangeShapeType="1"/>
            <a:stCxn id="12292" idx="3"/>
            <a:endCxn id="12294" idx="3"/>
          </p:cNvCxnSpPr>
          <p:nvPr/>
        </p:nvCxnSpPr>
        <p:spPr bwMode="auto">
          <a:xfrm>
            <a:off x="8953500" y="2630487"/>
            <a:ext cx="762000" cy="685800"/>
          </a:xfrm>
          <a:prstGeom prst="straightConnector1">
            <a:avLst/>
          </a:prstGeom>
          <a:noFill/>
          <a:ln w="9525">
            <a:solidFill>
              <a:schemeClr val="tx1"/>
            </a:solidFill>
            <a:round/>
            <a:headEnd/>
            <a:tailEnd type="triangle" w="med" len="med"/>
          </a:ln>
        </p:spPr>
      </p:cxnSp>
      <p:cxnSp>
        <p:nvCxnSpPr>
          <p:cNvPr id="12301" name="AutoShape 13"/>
          <p:cNvCxnSpPr>
            <a:cxnSpLocks noChangeShapeType="1"/>
            <a:stCxn id="12293" idx="0"/>
            <a:endCxn id="12295" idx="0"/>
          </p:cNvCxnSpPr>
          <p:nvPr/>
        </p:nvCxnSpPr>
        <p:spPr bwMode="auto">
          <a:xfrm flipH="1">
            <a:off x="7810500" y="3621087"/>
            <a:ext cx="381000" cy="990600"/>
          </a:xfrm>
          <a:prstGeom prst="straightConnector1">
            <a:avLst/>
          </a:prstGeom>
          <a:noFill/>
          <a:ln w="9525">
            <a:solidFill>
              <a:schemeClr val="tx1"/>
            </a:solidFill>
            <a:round/>
            <a:headEnd/>
            <a:tailEnd type="triangle" w="med" len="med"/>
          </a:ln>
        </p:spPr>
      </p:cxnSp>
      <p:cxnSp>
        <p:nvCxnSpPr>
          <p:cNvPr id="12302" name="AutoShape 14"/>
          <p:cNvCxnSpPr>
            <a:cxnSpLocks noChangeShapeType="1"/>
            <a:stCxn id="12293" idx="0"/>
            <a:endCxn id="12296" idx="0"/>
          </p:cNvCxnSpPr>
          <p:nvPr/>
        </p:nvCxnSpPr>
        <p:spPr bwMode="auto">
          <a:xfrm>
            <a:off x="8191500" y="3621087"/>
            <a:ext cx="304800" cy="990600"/>
          </a:xfrm>
          <a:prstGeom prst="straightConnector1">
            <a:avLst/>
          </a:prstGeom>
          <a:noFill/>
          <a:ln w="9525">
            <a:solidFill>
              <a:schemeClr val="tx1"/>
            </a:solidFill>
            <a:round/>
            <a:headEnd/>
            <a:tailEnd type="triangle" w="med" len="med"/>
          </a:ln>
        </p:spPr>
      </p:cxnSp>
      <p:cxnSp>
        <p:nvCxnSpPr>
          <p:cNvPr id="12303" name="AutoShape 15"/>
          <p:cNvCxnSpPr>
            <a:cxnSpLocks noChangeShapeType="1"/>
            <a:stCxn id="12294" idx="0"/>
            <a:endCxn id="12297" idx="0"/>
          </p:cNvCxnSpPr>
          <p:nvPr/>
        </p:nvCxnSpPr>
        <p:spPr bwMode="auto">
          <a:xfrm flipH="1">
            <a:off x="9334500" y="3621087"/>
            <a:ext cx="381000" cy="990600"/>
          </a:xfrm>
          <a:prstGeom prst="straightConnector1">
            <a:avLst/>
          </a:prstGeom>
          <a:noFill/>
          <a:ln w="9525">
            <a:solidFill>
              <a:schemeClr val="tx1"/>
            </a:solidFill>
            <a:round/>
            <a:headEnd/>
            <a:tailEnd type="triangle" w="med" len="med"/>
          </a:ln>
        </p:spPr>
      </p:cxnSp>
      <p:cxnSp>
        <p:nvCxnSpPr>
          <p:cNvPr id="12304" name="AutoShape 16"/>
          <p:cNvCxnSpPr>
            <a:cxnSpLocks noChangeShapeType="1"/>
            <a:stCxn id="12294" idx="0"/>
            <a:endCxn id="12298" idx="0"/>
          </p:cNvCxnSpPr>
          <p:nvPr/>
        </p:nvCxnSpPr>
        <p:spPr bwMode="auto">
          <a:xfrm>
            <a:off x="9715500" y="3621087"/>
            <a:ext cx="381000" cy="990600"/>
          </a:xfrm>
          <a:prstGeom prst="straightConnector1">
            <a:avLst/>
          </a:prstGeom>
          <a:noFill/>
          <a:ln w="9525">
            <a:solidFill>
              <a:schemeClr val="tx1"/>
            </a:solidFill>
            <a:round/>
            <a:headEnd/>
            <a:tailEnd type="triangle" w="med" len="med"/>
          </a:ln>
        </p:spPr>
      </p:cxnSp>
      <p:sp>
        <p:nvSpPr>
          <p:cNvPr id="12305" name="Text Box 17"/>
          <p:cNvSpPr txBox="1">
            <a:spLocks noChangeArrowheads="1"/>
          </p:cNvSpPr>
          <p:nvPr/>
        </p:nvSpPr>
        <p:spPr bwMode="auto">
          <a:xfrm>
            <a:off x="9166225" y="2325687"/>
            <a:ext cx="663575" cy="366713"/>
          </a:xfrm>
          <a:prstGeom prst="rect">
            <a:avLst/>
          </a:prstGeom>
          <a:noFill/>
          <a:ln w="12700">
            <a:noFill/>
            <a:miter lim="800000"/>
            <a:headEnd/>
            <a:tailEnd/>
          </a:ln>
        </p:spPr>
        <p:txBody>
          <a:bodyPr anchor="ctr">
            <a:spAutoFit/>
          </a:bodyPr>
          <a:lstStyle/>
          <a:p>
            <a:pPr algn="ctr">
              <a:spcBef>
                <a:spcPct val="50000"/>
              </a:spcBef>
            </a:pPr>
            <a:r>
              <a:rPr lang="en-US" b="1">
                <a:latin typeface="Calibri" pitchFamily="34" charset="0"/>
              </a:rPr>
              <a:t>max</a:t>
            </a:r>
          </a:p>
        </p:txBody>
      </p:sp>
      <p:sp>
        <p:nvSpPr>
          <p:cNvPr id="12306" name="Text Box 18"/>
          <p:cNvSpPr txBox="1">
            <a:spLocks noChangeArrowheads="1"/>
          </p:cNvSpPr>
          <p:nvPr/>
        </p:nvSpPr>
        <p:spPr bwMode="auto">
          <a:xfrm>
            <a:off x="9982200" y="3240087"/>
            <a:ext cx="663575" cy="366713"/>
          </a:xfrm>
          <a:prstGeom prst="rect">
            <a:avLst/>
          </a:prstGeom>
          <a:noFill/>
          <a:ln w="12700">
            <a:noFill/>
            <a:miter lim="800000"/>
            <a:headEnd/>
            <a:tailEnd/>
          </a:ln>
        </p:spPr>
        <p:txBody>
          <a:bodyPr anchor="ctr">
            <a:spAutoFit/>
          </a:bodyPr>
          <a:lstStyle/>
          <a:p>
            <a:pPr algn="ctr">
              <a:spcBef>
                <a:spcPct val="50000"/>
              </a:spcBef>
            </a:pPr>
            <a:r>
              <a:rPr lang="en-US" b="1">
                <a:latin typeface="Calibri" pitchFamily="34" charset="0"/>
              </a:rPr>
              <a:t>min</a:t>
            </a:r>
          </a:p>
        </p:txBody>
      </p:sp>
      <p:grpSp>
        <p:nvGrpSpPr>
          <p:cNvPr id="2" name="Group 25"/>
          <p:cNvGrpSpPr>
            <a:grpSpLocks/>
          </p:cNvGrpSpPr>
          <p:nvPr/>
        </p:nvGrpSpPr>
        <p:grpSpPr bwMode="auto">
          <a:xfrm>
            <a:off x="8040688" y="3255962"/>
            <a:ext cx="1846262" cy="381000"/>
            <a:chOff x="6059424" y="3215640"/>
            <a:chExt cx="1846050" cy="381000"/>
          </a:xfrm>
        </p:grpSpPr>
        <p:sp>
          <p:nvSpPr>
            <p:cNvPr id="12316" name="TextBox 19"/>
            <p:cNvSpPr txBox="1">
              <a:spLocks noChangeArrowheads="1"/>
            </p:cNvSpPr>
            <p:nvPr/>
          </p:nvSpPr>
          <p:spPr bwMode="auto">
            <a:xfrm>
              <a:off x="6059424" y="3227308"/>
              <a:ext cx="312906" cy="369332"/>
            </a:xfrm>
            <a:prstGeom prst="rect">
              <a:avLst/>
            </a:prstGeom>
            <a:noFill/>
            <a:ln w="9525">
              <a:noFill/>
              <a:miter lim="800000"/>
              <a:headEnd/>
              <a:tailEnd/>
            </a:ln>
          </p:spPr>
          <p:txBody>
            <a:bodyPr wrap="none">
              <a:spAutoFit/>
            </a:bodyPr>
            <a:lstStyle/>
            <a:p>
              <a:r>
                <a:rPr lang="en-US" dirty="0">
                  <a:latin typeface="Calibri" pitchFamily="34" charset="0"/>
                </a:rPr>
                <a:t>2</a:t>
              </a:r>
            </a:p>
          </p:txBody>
        </p:sp>
        <p:sp>
          <p:nvSpPr>
            <p:cNvPr id="12317" name="TextBox 20"/>
            <p:cNvSpPr txBox="1">
              <a:spLocks noChangeArrowheads="1"/>
            </p:cNvSpPr>
            <p:nvPr/>
          </p:nvSpPr>
          <p:spPr bwMode="auto">
            <a:xfrm>
              <a:off x="7592568" y="3215640"/>
              <a:ext cx="312906" cy="369332"/>
            </a:xfrm>
            <a:prstGeom prst="rect">
              <a:avLst/>
            </a:prstGeom>
            <a:noFill/>
            <a:ln w="9525">
              <a:noFill/>
              <a:miter lim="800000"/>
              <a:headEnd/>
              <a:tailEnd/>
            </a:ln>
          </p:spPr>
          <p:txBody>
            <a:bodyPr wrap="none">
              <a:spAutoFit/>
            </a:bodyPr>
            <a:lstStyle/>
            <a:p>
              <a:r>
                <a:rPr lang="en-US" dirty="0">
                  <a:latin typeface="Calibri" pitchFamily="34" charset="0"/>
                </a:rPr>
                <a:t>5</a:t>
              </a:r>
            </a:p>
          </p:txBody>
        </p:sp>
      </p:grpSp>
      <p:sp>
        <p:nvSpPr>
          <p:cNvPr id="22" name="TextBox 21"/>
          <p:cNvSpPr txBox="1">
            <a:spLocks noChangeArrowheads="1"/>
          </p:cNvSpPr>
          <p:nvPr/>
        </p:nvSpPr>
        <p:spPr bwMode="auto">
          <a:xfrm>
            <a:off x="8799513" y="2349500"/>
            <a:ext cx="312737" cy="369887"/>
          </a:xfrm>
          <a:prstGeom prst="rect">
            <a:avLst/>
          </a:prstGeom>
          <a:noFill/>
          <a:ln w="9525">
            <a:noFill/>
            <a:miter lim="800000"/>
            <a:headEnd/>
            <a:tailEnd/>
          </a:ln>
        </p:spPr>
        <p:txBody>
          <a:bodyPr wrap="none">
            <a:spAutoFit/>
          </a:bodyPr>
          <a:lstStyle/>
          <a:p>
            <a:r>
              <a:rPr lang="en-US">
                <a:latin typeface="Calibri" pitchFamily="34" charset="0"/>
              </a:rPr>
              <a:t>5</a:t>
            </a:r>
          </a:p>
        </p:txBody>
      </p:sp>
      <p:grpSp>
        <p:nvGrpSpPr>
          <p:cNvPr id="3" name="Group 26"/>
          <p:cNvGrpSpPr>
            <a:grpSpLocks/>
          </p:cNvGrpSpPr>
          <p:nvPr/>
        </p:nvGrpSpPr>
        <p:grpSpPr bwMode="auto">
          <a:xfrm>
            <a:off x="7467600" y="4383086"/>
            <a:ext cx="3048000" cy="1484313"/>
            <a:chOff x="5486400" y="4343400"/>
            <a:chExt cx="3048000" cy="1484543"/>
          </a:xfrm>
        </p:grpSpPr>
        <p:sp>
          <p:nvSpPr>
            <p:cNvPr id="23" name="Rounded Rectangle 22"/>
            <p:cNvSpPr/>
            <p:nvPr/>
          </p:nvSpPr>
          <p:spPr>
            <a:xfrm>
              <a:off x="5486400" y="4343400"/>
              <a:ext cx="3048000" cy="762118"/>
            </a:xfrm>
            <a:prstGeom prst="roundRect">
              <a:avLst/>
            </a:prstGeom>
            <a:noFill/>
          </p:spPr>
          <p:style>
            <a:lnRef idx="2">
              <a:schemeClr val="accent6"/>
            </a:lnRef>
            <a:fillRef idx="1">
              <a:schemeClr val="lt1"/>
            </a:fillRef>
            <a:effectRef idx="0">
              <a:schemeClr val="accent6"/>
            </a:effectRef>
            <a:fontRef idx="minor">
              <a:schemeClr val="dk1"/>
            </a:fontRef>
          </p:style>
          <p:txBody>
            <a:bodyPr anchor="ctr"/>
            <a:lstStyle/>
            <a:p>
              <a:pPr algn="ctr">
                <a:defRPr/>
              </a:pPr>
              <a:endParaRPr lang="en-US">
                <a:latin typeface="Calibri" pitchFamily="34" charset="0"/>
              </a:endParaRPr>
            </a:p>
          </p:txBody>
        </p:sp>
        <p:sp>
          <p:nvSpPr>
            <p:cNvPr id="12315" name="Text Box 17"/>
            <p:cNvSpPr txBox="1">
              <a:spLocks noChangeArrowheads="1"/>
            </p:cNvSpPr>
            <p:nvPr/>
          </p:nvSpPr>
          <p:spPr bwMode="auto">
            <a:xfrm>
              <a:off x="5486400" y="5181612"/>
              <a:ext cx="3048000" cy="646331"/>
            </a:xfrm>
            <a:prstGeom prst="rect">
              <a:avLst/>
            </a:prstGeom>
            <a:noFill/>
            <a:ln w="12700">
              <a:noFill/>
              <a:miter lim="800000"/>
              <a:headEnd/>
              <a:tailEnd/>
            </a:ln>
          </p:spPr>
          <p:txBody>
            <a:bodyPr wrap="square" anchor="ctr">
              <a:spAutoFit/>
            </a:bodyPr>
            <a:lstStyle/>
            <a:p>
              <a:pPr algn="ctr">
                <a:spcBef>
                  <a:spcPct val="50000"/>
                </a:spcBef>
              </a:pPr>
              <a:r>
                <a:rPr lang="en-US" b="1" dirty="0" err="1">
                  <a:latin typeface="Calibri" pitchFamily="34" charset="0"/>
                </a:rPr>
                <a:t>Các</a:t>
              </a:r>
              <a:r>
                <a:rPr lang="en-US" b="1" dirty="0">
                  <a:latin typeface="Calibri" pitchFamily="34" charset="0"/>
                </a:rPr>
                <a:t> </a:t>
              </a:r>
              <a:r>
                <a:rPr lang="en-US" b="1" dirty="0" err="1">
                  <a:latin typeface="Calibri" pitchFamily="34" charset="0"/>
                </a:rPr>
                <a:t>giá</a:t>
              </a:r>
              <a:r>
                <a:rPr lang="en-US" b="1" dirty="0">
                  <a:latin typeface="Calibri" pitchFamily="34" charset="0"/>
                </a:rPr>
                <a:t> </a:t>
              </a:r>
              <a:r>
                <a:rPr lang="en-US" b="1" dirty="0" err="1">
                  <a:latin typeface="Calibri" pitchFamily="34" charset="0"/>
                </a:rPr>
                <a:t>trị</a:t>
              </a:r>
              <a:r>
                <a:rPr lang="en-US" b="1" dirty="0">
                  <a:latin typeface="Calibri" pitchFamily="34" charset="0"/>
                </a:rPr>
                <a:t> </a:t>
              </a:r>
              <a:r>
                <a:rPr lang="en-US" b="1" dirty="0" err="1">
                  <a:latin typeface="Calibri" pitchFamily="34" charset="0"/>
                </a:rPr>
                <a:t>kết</a:t>
              </a:r>
              <a:r>
                <a:rPr lang="en-US" b="1" dirty="0">
                  <a:latin typeface="Calibri" pitchFamily="34" charset="0"/>
                </a:rPr>
                <a:t> </a:t>
              </a:r>
              <a:r>
                <a:rPr lang="en-US" b="1" dirty="0" err="1">
                  <a:latin typeface="Calibri" pitchFamily="34" charset="0"/>
                </a:rPr>
                <a:t>thúc</a:t>
              </a:r>
              <a:r>
                <a:rPr lang="en-US" b="1" dirty="0">
                  <a:latin typeface="Calibri" pitchFamily="34" charset="0"/>
                </a:rPr>
                <a:t>:</a:t>
              </a:r>
              <a:br>
                <a:rPr lang="en-US" b="1" dirty="0">
                  <a:latin typeface="Calibri" pitchFamily="34" charset="0"/>
                </a:rPr>
              </a:br>
              <a:r>
                <a:rPr lang="en-US" b="1" dirty="0" err="1">
                  <a:latin typeface="Calibri" pitchFamily="34" charset="0"/>
                </a:rPr>
                <a:t>được</a:t>
              </a:r>
              <a:r>
                <a:rPr lang="en-US" b="1" dirty="0">
                  <a:latin typeface="Calibri" pitchFamily="34" charset="0"/>
                </a:rPr>
                <a:t> </a:t>
              </a:r>
              <a:r>
                <a:rPr lang="en-US" b="1" dirty="0" err="1">
                  <a:latin typeface="Calibri" pitchFamily="34" charset="0"/>
                </a:rPr>
                <a:t>định</a:t>
              </a:r>
              <a:r>
                <a:rPr lang="en-US" b="1" dirty="0">
                  <a:latin typeface="Calibri" pitchFamily="34" charset="0"/>
                </a:rPr>
                <a:t> </a:t>
              </a:r>
              <a:r>
                <a:rPr lang="en-US" b="1" dirty="0" err="1">
                  <a:latin typeface="Calibri" pitchFamily="34" charset="0"/>
                </a:rPr>
                <a:t>nghĩa</a:t>
              </a:r>
              <a:r>
                <a:rPr lang="en-US" b="1" dirty="0">
                  <a:latin typeface="Calibri" pitchFamily="34" charset="0"/>
                </a:rPr>
                <a:t> </a:t>
              </a:r>
              <a:r>
                <a:rPr lang="en-US" b="1" dirty="0" err="1">
                  <a:latin typeface="Calibri" pitchFamily="34" charset="0"/>
                </a:rPr>
                <a:t>từ</a:t>
              </a:r>
              <a:r>
                <a:rPr lang="en-US" b="1" dirty="0">
                  <a:latin typeface="Calibri" pitchFamily="34" charset="0"/>
                </a:rPr>
                <a:t> </a:t>
              </a:r>
              <a:r>
                <a:rPr lang="en-US" b="1" dirty="0" err="1">
                  <a:latin typeface="Calibri" pitchFamily="34" charset="0"/>
                </a:rPr>
                <a:t>luật</a:t>
              </a:r>
              <a:r>
                <a:rPr lang="en-US" b="1" dirty="0">
                  <a:latin typeface="Calibri" pitchFamily="34" charset="0"/>
                </a:rPr>
                <a:t> </a:t>
              </a:r>
              <a:r>
                <a:rPr lang="en-US" b="1" dirty="0" err="1">
                  <a:latin typeface="Calibri" pitchFamily="34" charset="0"/>
                </a:rPr>
                <a:t>chơi</a:t>
              </a:r>
              <a:r>
                <a:rPr lang="en-US" b="1" dirty="0">
                  <a:latin typeface="Calibri" pitchFamily="34" charset="0"/>
                </a:rPr>
                <a:t> </a:t>
              </a:r>
            </a:p>
          </p:txBody>
        </p:sp>
      </p:grpSp>
      <p:grpSp>
        <p:nvGrpSpPr>
          <p:cNvPr id="4" name="Group 27"/>
          <p:cNvGrpSpPr>
            <a:grpSpLocks/>
          </p:cNvGrpSpPr>
          <p:nvPr/>
        </p:nvGrpSpPr>
        <p:grpSpPr bwMode="auto">
          <a:xfrm>
            <a:off x="7467600" y="1447800"/>
            <a:ext cx="3124200" cy="2362200"/>
            <a:chOff x="5334000" y="2855913"/>
            <a:chExt cx="3124200" cy="2362200"/>
          </a:xfrm>
        </p:grpSpPr>
        <p:sp>
          <p:nvSpPr>
            <p:cNvPr id="29" name="Rounded Rectangle 28"/>
            <p:cNvSpPr/>
            <p:nvPr/>
          </p:nvSpPr>
          <p:spPr>
            <a:xfrm>
              <a:off x="5334000" y="3541713"/>
              <a:ext cx="3124200" cy="1676400"/>
            </a:xfrm>
            <a:prstGeom prst="roundRect">
              <a:avLst/>
            </a:prstGeom>
            <a:noFill/>
          </p:spPr>
          <p:style>
            <a:lnRef idx="2">
              <a:schemeClr val="accent6"/>
            </a:lnRef>
            <a:fillRef idx="1">
              <a:schemeClr val="lt1"/>
            </a:fillRef>
            <a:effectRef idx="0">
              <a:schemeClr val="accent6"/>
            </a:effectRef>
            <a:fontRef idx="minor">
              <a:schemeClr val="dk1"/>
            </a:fontRef>
          </p:style>
          <p:txBody>
            <a:bodyPr anchor="ctr"/>
            <a:lstStyle/>
            <a:p>
              <a:pPr algn="ctr">
                <a:defRPr/>
              </a:pPr>
              <a:endParaRPr lang="en-US">
                <a:latin typeface="Calibri" pitchFamily="34" charset="0"/>
              </a:endParaRPr>
            </a:p>
          </p:txBody>
        </p:sp>
        <p:sp>
          <p:nvSpPr>
            <p:cNvPr id="12313" name="Text Box 17"/>
            <p:cNvSpPr txBox="1">
              <a:spLocks noChangeArrowheads="1"/>
            </p:cNvSpPr>
            <p:nvPr/>
          </p:nvSpPr>
          <p:spPr bwMode="auto">
            <a:xfrm>
              <a:off x="5334000" y="2855913"/>
              <a:ext cx="3124200" cy="646331"/>
            </a:xfrm>
            <a:prstGeom prst="rect">
              <a:avLst/>
            </a:prstGeom>
            <a:noFill/>
            <a:ln w="12700">
              <a:noFill/>
              <a:miter lim="800000"/>
              <a:headEnd/>
              <a:tailEnd/>
            </a:ln>
          </p:spPr>
          <p:txBody>
            <a:bodyPr anchor="ctr">
              <a:spAutoFit/>
            </a:bodyPr>
            <a:lstStyle/>
            <a:p>
              <a:pPr algn="ctr">
                <a:spcBef>
                  <a:spcPct val="50000"/>
                </a:spcBef>
              </a:pPr>
              <a:r>
                <a:rPr lang="en-US" b="1" dirty="0" err="1">
                  <a:latin typeface="Calibri" pitchFamily="34" charset="0"/>
                </a:rPr>
                <a:t>Giá</a:t>
              </a:r>
              <a:r>
                <a:rPr lang="en-US" b="1" dirty="0">
                  <a:latin typeface="Calibri" pitchFamily="34" charset="0"/>
                </a:rPr>
                <a:t> </a:t>
              </a:r>
              <a:r>
                <a:rPr lang="en-US" b="1" dirty="0" err="1">
                  <a:latin typeface="Calibri" pitchFamily="34" charset="0"/>
                </a:rPr>
                <a:t>trị</a:t>
              </a:r>
              <a:r>
                <a:rPr lang="en-US" b="1" dirty="0">
                  <a:latin typeface="Calibri" pitchFamily="34" charset="0"/>
                </a:rPr>
                <a:t> minimax:</a:t>
              </a:r>
              <a:br>
                <a:rPr lang="en-US" b="1" dirty="0">
                  <a:latin typeface="Calibri" pitchFamily="34" charset="0"/>
                </a:rPr>
              </a:br>
              <a:r>
                <a:rPr lang="en-US" b="1" dirty="0" err="1">
                  <a:latin typeface="Calibri" pitchFamily="34" charset="0"/>
                </a:rPr>
                <a:t>Tính</a:t>
              </a:r>
              <a:r>
                <a:rPr lang="en-US" b="1" dirty="0">
                  <a:latin typeface="Calibri" pitchFamily="34" charset="0"/>
                </a:rPr>
                <a:t> </a:t>
              </a:r>
              <a:r>
                <a:rPr lang="en-US" b="1" dirty="0" err="1">
                  <a:latin typeface="Calibri" pitchFamily="34" charset="0"/>
                </a:rPr>
                <a:t>toán</a:t>
              </a:r>
              <a:r>
                <a:rPr lang="en-US" b="1" dirty="0">
                  <a:latin typeface="Calibri" pitchFamily="34" charset="0"/>
                </a:rPr>
                <a:t> </a:t>
              </a:r>
              <a:r>
                <a:rPr lang="en-US" b="1" dirty="0" err="1">
                  <a:latin typeface="Calibri" pitchFamily="34" charset="0"/>
                </a:rPr>
                <a:t>đệ</a:t>
              </a:r>
              <a:r>
                <a:rPr lang="en-US" b="1" dirty="0">
                  <a:latin typeface="Calibri" pitchFamily="34" charset="0"/>
                </a:rPr>
                <a:t> </a:t>
              </a:r>
              <a:r>
                <a:rPr lang="en-US" b="1" dirty="0" err="1">
                  <a:latin typeface="Calibri" pitchFamily="34" charset="0"/>
                </a:rPr>
                <a:t>quy</a:t>
              </a:r>
              <a:endParaRPr lang="en-US" b="1" dirty="0">
                <a:latin typeface="Calibri" pitchFamily="34" charset="0"/>
              </a:endParaRPr>
            </a:p>
          </p:txBody>
        </p:sp>
      </p:grpSp>
      <p:sp>
        <p:nvSpPr>
          <p:cNvPr id="5" name="TextBox 4">
            <a:extLst>
              <a:ext uri="{FF2B5EF4-FFF2-40B4-BE49-F238E27FC236}">
                <a16:creationId xmlns:a16="http://schemas.microsoft.com/office/drawing/2014/main" id="{56698ABC-5286-A0AC-F5EC-34280A144A55}"/>
              </a:ext>
            </a:extLst>
          </p:cNvPr>
          <p:cNvSpPr txBox="1"/>
          <p:nvPr/>
        </p:nvSpPr>
        <p:spPr>
          <a:xfrm>
            <a:off x="1447800" y="5791200"/>
            <a:ext cx="5445722" cy="461665"/>
          </a:xfrm>
          <a:prstGeom prst="rect">
            <a:avLst/>
          </a:prstGeom>
          <a:noFill/>
        </p:spPr>
        <p:txBody>
          <a:bodyPr wrap="none" rtlCol="0">
            <a:spAutoFit/>
          </a:bodyPr>
          <a:lstStyle/>
          <a:p>
            <a:r>
              <a:rPr lang="en-US" sz="2400" dirty="0">
                <a:solidFill>
                  <a:schemeClr val="accent6">
                    <a:lumMod val="75000"/>
                  </a:schemeClr>
                </a:solidFill>
              </a:rPr>
              <a:t>“</a:t>
            </a:r>
            <a:r>
              <a:rPr lang="en-US" sz="2400" dirty="0" err="1">
                <a:solidFill>
                  <a:schemeClr val="accent6">
                    <a:lumMod val="75000"/>
                  </a:schemeClr>
                </a:solidFill>
              </a:rPr>
              <a:t>Tối</a:t>
            </a:r>
            <a:r>
              <a:rPr lang="en-US" sz="2400" dirty="0">
                <a:solidFill>
                  <a:schemeClr val="accent6">
                    <a:lumMod val="75000"/>
                  </a:schemeClr>
                </a:solidFill>
              </a:rPr>
              <a:t> </a:t>
            </a:r>
            <a:r>
              <a:rPr lang="en-US" sz="2400" dirty="0" err="1">
                <a:solidFill>
                  <a:schemeClr val="accent6">
                    <a:lumMod val="75000"/>
                  </a:schemeClr>
                </a:solidFill>
              </a:rPr>
              <a:t>thiểu</a:t>
            </a:r>
            <a:r>
              <a:rPr lang="en-US" sz="2400" dirty="0">
                <a:solidFill>
                  <a:schemeClr val="accent6">
                    <a:lumMod val="75000"/>
                  </a:schemeClr>
                </a:solidFill>
              </a:rPr>
              <a:t> </a:t>
            </a:r>
            <a:r>
              <a:rPr lang="en-US" sz="2400" dirty="0" err="1">
                <a:solidFill>
                  <a:schemeClr val="accent6">
                    <a:lumMod val="75000"/>
                  </a:schemeClr>
                </a:solidFill>
              </a:rPr>
              <a:t>hóa</a:t>
            </a:r>
            <a:r>
              <a:rPr lang="en-US" sz="2400" dirty="0">
                <a:solidFill>
                  <a:schemeClr val="accent6">
                    <a:lumMod val="75000"/>
                  </a:schemeClr>
                </a:solidFill>
              </a:rPr>
              <a:t> </a:t>
            </a:r>
            <a:r>
              <a:rPr lang="en-US" sz="2400" dirty="0" err="1">
                <a:solidFill>
                  <a:schemeClr val="accent6">
                    <a:lumMod val="75000"/>
                  </a:schemeClr>
                </a:solidFill>
              </a:rPr>
              <a:t>giá</a:t>
            </a:r>
            <a:r>
              <a:rPr lang="en-US" sz="2400" dirty="0">
                <a:solidFill>
                  <a:schemeClr val="accent6">
                    <a:lumMod val="75000"/>
                  </a:schemeClr>
                </a:solidFill>
              </a:rPr>
              <a:t> </a:t>
            </a:r>
            <a:r>
              <a:rPr lang="en-US" sz="2400" dirty="0" err="1">
                <a:solidFill>
                  <a:schemeClr val="accent6">
                    <a:lumMod val="75000"/>
                  </a:schemeClr>
                </a:solidFill>
              </a:rPr>
              <a:t>trị</a:t>
            </a:r>
            <a:r>
              <a:rPr lang="en-US" sz="2400" dirty="0">
                <a:solidFill>
                  <a:schemeClr val="accent6">
                    <a:lumMod val="75000"/>
                  </a:schemeClr>
                </a:solidFill>
              </a:rPr>
              <a:t> </a:t>
            </a:r>
            <a:r>
              <a:rPr lang="en-US" sz="2400" dirty="0" err="1">
                <a:solidFill>
                  <a:schemeClr val="accent6">
                    <a:lumMod val="75000"/>
                  </a:schemeClr>
                </a:solidFill>
              </a:rPr>
              <a:t>tối</a:t>
            </a:r>
            <a:r>
              <a:rPr lang="en-US" sz="2400" dirty="0">
                <a:solidFill>
                  <a:schemeClr val="accent6">
                    <a:lumMod val="75000"/>
                  </a:schemeClr>
                </a:solidFill>
              </a:rPr>
              <a:t> </a:t>
            </a:r>
            <a:r>
              <a:rPr lang="en-US" sz="2400" dirty="0" err="1">
                <a:solidFill>
                  <a:schemeClr val="accent6">
                    <a:lumMod val="75000"/>
                  </a:schemeClr>
                </a:solidFill>
              </a:rPr>
              <a:t>đa</a:t>
            </a:r>
            <a:r>
              <a:rPr lang="en-US" sz="2400" dirty="0">
                <a:solidFill>
                  <a:schemeClr val="accent6">
                    <a:lumMod val="75000"/>
                  </a:schemeClr>
                </a:solidFill>
              </a:rPr>
              <a:t> </a:t>
            </a:r>
            <a:r>
              <a:rPr lang="en-US" sz="2400" dirty="0" err="1">
                <a:solidFill>
                  <a:schemeClr val="accent6">
                    <a:lumMod val="75000"/>
                  </a:schemeClr>
                </a:solidFill>
              </a:rPr>
              <a:t>của</a:t>
            </a:r>
            <a:r>
              <a:rPr lang="en-US" sz="2400" dirty="0">
                <a:solidFill>
                  <a:schemeClr val="accent6">
                    <a:lumMod val="75000"/>
                  </a:schemeClr>
                </a:solidFill>
              </a:rPr>
              <a:t> </a:t>
            </a:r>
            <a:r>
              <a:rPr lang="en-US" sz="2400" dirty="0" err="1">
                <a:solidFill>
                  <a:schemeClr val="accent6">
                    <a:lumMod val="75000"/>
                  </a:schemeClr>
                </a:solidFill>
              </a:rPr>
              <a:t>đối</a:t>
            </a:r>
            <a:r>
              <a:rPr lang="en-US" sz="2400" dirty="0">
                <a:solidFill>
                  <a:schemeClr val="accent6">
                    <a:lumMod val="75000"/>
                  </a:schemeClr>
                </a:solidFill>
              </a:rPr>
              <a:t> </a:t>
            </a:r>
            <a:r>
              <a:rPr lang="en-US" sz="2400" dirty="0" err="1">
                <a:solidFill>
                  <a:schemeClr val="accent6">
                    <a:lumMod val="75000"/>
                  </a:schemeClr>
                </a:solidFill>
              </a:rPr>
              <a:t>thủ</a:t>
            </a:r>
            <a:r>
              <a:rPr lang="en-US" sz="2400" dirty="0">
                <a:solidFill>
                  <a:schemeClr val="accent6">
                    <a:lumMod val="75000"/>
                  </a:schemeClr>
                </a:solidFill>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ounded Rectangle 10"/>
          <p:cNvSpPr/>
          <p:nvPr/>
        </p:nvSpPr>
        <p:spPr>
          <a:xfrm>
            <a:off x="171450" y="1981200"/>
            <a:ext cx="5257800" cy="2133600"/>
          </a:xfrm>
          <a:prstGeom prst="roundRect">
            <a:avLst/>
          </a:prstGeom>
          <a:solidFill>
            <a:srgbClr val="0066CC">
              <a:alpha val="16000"/>
            </a:srgb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6724649" y="1981200"/>
            <a:ext cx="5248276" cy="2133600"/>
          </a:xfrm>
          <a:prstGeom prst="roundRect">
            <a:avLst/>
          </a:prstGeom>
          <a:solidFill>
            <a:srgbClr val="C00000">
              <a:alpha val="16000"/>
            </a:srgb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14" name="Title 1"/>
          <p:cNvSpPr>
            <a:spLocks noGrp="1"/>
          </p:cNvSpPr>
          <p:nvPr>
            <p:ph type="title"/>
          </p:nvPr>
        </p:nvSpPr>
        <p:spPr/>
        <p:txBody>
          <a:bodyPr/>
          <a:lstStyle/>
          <a:p>
            <a:r>
              <a:rPr lang="vi-VN" noProof="1"/>
              <a:t>Cài đặt minimax</a:t>
            </a:r>
          </a:p>
        </p:txBody>
      </p:sp>
      <p:sp>
        <p:nvSpPr>
          <p:cNvPr id="7" name="Content Placeholder 2"/>
          <p:cNvSpPr txBox="1">
            <a:spLocks/>
          </p:cNvSpPr>
          <p:nvPr/>
        </p:nvSpPr>
        <p:spPr bwMode="auto">
          <a:xfrm>
            <a:off x="6800850" y="2133600"/>
            <a:ext cx="5562600" cy="2286000"/>
          </a:xfrm>
          <a:prstGeom prst="rect">
            <a:avLst/>
          </a:prstGeom>
          <a:noFill/>
          <a:ln w="9525">
            <a:noFill/>
            <a:miter lim="800000"/>
            <a:headEnd/>
            <a:tailEnd/>
          </a:ln>
        </p:spPr>
        <p:txBody>
          <a:bodyPr vert="horz" wrap="square" lIns="91436" tIns="45718" rIns="91436" bIns="45718" numCol="1" anchor="t" anchorCtr="0" compatLnSpc="1">
            <a:prstTxWarp prst="textNoShape">
              <a:avLst/>
            </a:prstTxWarp>
          </a:bodyPr>
          <a:lstStyle/>
          <a:p>
            <a:pPr marL="342882" marR="0" lvl="0" indent="-342882" algn="l" defTabSz="914400" rtl="0" eaLnBrk="1" fontAlgn="base" latinLnBrk="0" hangingPunct="1">
              <a:lnSpc>
                <a:spcPct val="80000"/>
              </a:lnSpc>
              <a:spcBef>
                <a:spcPts val="1200"/>
              </a:spcBef>
              <a:spcAft>
                <a:spcPct val="0"/>
              </a:spcAft>
              <a:buClr>
                <a:schemeClr val="accent2"/>
              </a:buClr>
              <a:buSzTx/>
              <a:buFont typeface="Wingdings" pitchFamily="2" charset="2"/>
              <a:buNone/>
              <a:tabLst/>
              <a:defRPr/>
            </a:pPr>
            <a:r>
              <a:rPr kumimoji="0" lang="en-US" sz="2400" b="0" i="0" u="none" strike="noStrike" kern="0" cap="none" spc="0" normalizeH="0" baseline="0" noProof="0" dirty="0">
                <a:ln>
                  <a:noFill/>
                </a:ln>
                <a:solidFill>
                  <a:srgbClr val="C00000"/>
                </a:solidFill>
                <a:effectLst/>
                <a:uLnTx/>
                <a:uFillTx/>
                <a:latin typeface="Calibri" pitchFamily="34" charset="0"/>
                <a:ea typeface="+mn-ea"/>
                <a:cs typeface="+mn-cs"/>
              </a:rPr>
              <a:t>def min-value(state):</a:t>
            </a:r>
          </a:p>
          <a:p>
            <a:pPr marL="742913" marR="0" lvl="1" indent="-285737" algn="l" defTabSz="914400" rtl="0" eaLnBrk="1" fontAlgn="base" latinLnBrk="0" hangingPunct="1">
              <a:lnSpc>
                <a:spcPct val="80000"/>
              </a:lnSpc>
              <a:spcBef>
                <a:spcPct val="20000"/>
              </a:spcBef>
              <a:spcAft>
                <a:spcPct val="0"/>
              </a:spcAft>
              <a:buClr>
                <a:schemeClr val="tx1"/>
              </a:buClr>
              <a:buSzTx/>
              <a:buFont typeface="Wingdings" pitchFamily="2" charset="2"/>
              <a:buNone/>
              <a:tabLst/>
              <a:defRPr/>
            </a:pPr>
            <a:r>
              <a:rPr kumimoji="0" lang="en-US" sz="2400" b="0" i="0" u="none" strike="noStrike" kern="0" cap="none" spc="0" normalizeH="0" baseline="0" noProof="0" dirty="0">
                <a:ln>
                  <a:noFill/>
                </a:ln>
                <a:solidFill>
                  <a:schemeClr val="tx1"/>
                </a:solidFill>
                <a:effectLst/>
                <a:uLnTx/>
                <a:uFillTx/>
                <a:latin typeface="Calibri" pitchFamily="34" charset="0"/>
              </a:rPr>
              <a:t>initialize v = </a:t>
            </a:r>
            <a:r>
              <a:rPr lang="en-US" sz="2400" kern="0" dirty="0">
                <a:latin typeface="Times New Roman" pitchFamily="18" charset="0"/>
                <a:cs typeface="Times New Roman" pitchFamily="18" charset="0"/>
              </a:rPr>
              <a:t>+</a:t>
            </a:r>
            <a:r>
              <a:rPr kumimoji="0" lang="en-US" sz="2400" b="0" i="0" u="none" strike="noStrike" kern="0" cap="none" spc="0" normalizeH="0" baseline="0" noProof="0" dirty="0">
                <a:ln>
                  <a:noFill/>
                </a:ln>
                <a:solidFill>
                  <a:schemeClr val="tx1"/>
                </a:solidFill>
                <a:effectLst/>
                <a:uLnTx/>
                <a:uFillTx/>
                <a:latin typeface="Times New Roman" pitchFamily="18" charset="0"/>
                <a:cs typeface="Times New Roman" pitchFamily="18" charset="0"/>
              </a:rPr>
              <a:t>∞</a:t>
            </a:r>
          </a:p>
          <a:p>
            <a:pPr marL="742913" marR="0" lvl="1" indent="-285737" algn="l" defTabSz="914400" rtl="0" eaLnBrk="1" fontAlgn="base" latinLnBrk="0" hangingPunct="1">
              <a:lnSpc>
                <a:spcPct val="80000"/>
              </a:lnSpc>
              <a:spcBef>
                <a:spcPct val="20000"/>
              </a:spcBef>
              <a:spcAft>
                <a:spcPct val="0"/>
              </a:spcAft>
              <a:buClr>
                <a:schemeClr val="tx1"/>
              </a:buClr>
              <a:buSzTx/>
              <a:buFont typeface="Wingdings" pitchFamily="2" charset="2"/>
              <a:buNone/>
              <a:tabLst/>
              <a:defRPr/>
            </a:pPr>
            <a:r>
              <a:rPr kumimoji="0" lang="en-US" sz="2400" b="0" i="0" u="none" strike="noStrike" kern="0" cap="none" spc="0" normalizeH="0" baseline="0" noProof="0" dirty="0">
                <a:ln>
                  <a:noFill/>
                </a:ln>
                <a:solidFill>
                  <a:schemeClr val="tx1"/>
                </a:solidFill>
                <a:effectLst/>
                <a:uLnTx/>
                <a:uFillTx/>
                <a:latin typeface="Calibri" pitchFamily="34" charset="0"/>
              </a:rPr>
              <a:t>for each successor of state:</a:t>
            </a:r>
          </a:p>
          <a:p>
            <a:pPr marL="1142942" marR="0" lvl="2" indent="-228589" algn="l" defTabSz="914400" rtl="0" eaLnBrk="1" fontAlgn="base" latinLnBrk="0" hangingPunct="1">
              <a:lnSpc>
                <a:spcPct val="80000"/>
              </a:lnSpc>
              <a:spcBef>
                <a:spcPct val="20000"/>
              </a:spcBef>
              <a:spcAft>
                <a:spcPct val="0"/>
              </a:spcAft>
              <a:buClr>
                <a:schemeClr val="accent2"/>
              </a:buClr>
              <a:buSzTx/>
              <a:buFont typeface="Wingdings" pitchFamily="2" charset="2"/>
              <a:buNone/>
              <a:tabLst/>
              <a:defRPr/>
            </a:pPr>
            <a:r>
              <a:rPr lang="en-US" sz="2400" kern="0" noProof="0" dirty="0">
                <a:latin typeface="Calibri" pitchFamily="34" charset="0"/>
              </a:rPr>
              <a:t>v = min(v, </a:t>
            </a:r>
            <a:r>
              <a:rPr kumimoji="0" lang="en-US" sz="2400" b="0" i="0" u="none" strike="noStrike" kern="0" cap="none" spc="0" normalizeH="0" baseline="0" noProof="0" dirty="0">
                <a:ln>
                  <a:noFill/>
                </a:ln>
                <a:solidFill>
                  <a:srgbClr val="0070C0"/>
                </a:solidFill>
                <a:effectLst/>
                <a:uLnTx/>
                <a:uFillTx/>
                <a:latin typeface="Calibri" pitchFamily="34" charset="0"/>
              </a:rPr>
              <a:t>max-value(successor)</a:t>
            </a:r>
            <a:r>
              <a:rPr kumimoji="0" lang="en-US" sz="2400" b="0" i="0" u="none" strike="noStrike" kern="0" cap="none" spc="0" normalizeH="0" baseline="0" noProof="0" dirty="0">
                <a:ln>
                  <a:noFill/>
                </a:ln>
                <a:effectLst/>
                <a:uLnTx/>
                <a:uFillTx/>
                <a:latin typeface="Calibri" pitchFamily="34" charset="0"/>
              </a:rPr>
              <a:t>)</a:t>
            </a:r>
          </a:p>
          <a:p>
            <a:pPr marL="742913" marR="0" lvl="1" indent="-285737" algn="l" defTabSz="914400" rtl="0" eaLnBrk="1" fontAlgn="base" latinLnBrk="0" hangingPunct="1">
              <a:lnSpc>
                <a:spcPct val="80000"/>
              </a:lnSpc>
              <a:spcBef>
                <a:spcPct val="20000"/>
              </a:spcBef>
              <a:spcAft>
                <a:spcPct val="0"/>
              </a:spcAft>
              <a:buClr>
                <a:schemeClr val="tx1"/>
              </a:buClr>
              <a:buSzTx/>
              <a:buFont typeface="Wingdings" pitchFamily="2" charset="2"/>
              <a:buNone/>
              <a:tabLst/>
              <a:defRPr/>
            </a:pPr>
            <a:r>
              <a:rPr kumimoji="0" lang="en-US" sz="2400" b="0" i="0" u="none" strike="noStrike" kern="0" cap="none" spc="0" normalizeH="0" baseline="0" noProof="0" dirty="0">
                <a:ln>
                  <a:noFill/>
                </a:ln>
                <a:solidFill>
                  <a:schemeClr val="tx1"/>
                </a:solidFill>
                <a:effectLst/>
                <a:uLnTx/>
                <a:uFillTx/>
                <a:latin typeface="Calibri" pitchFamily="34" charset="0"/>
              </a:rPr>
              <a:t>return v</a:t>
            </a:r>
          </a:p>
        </p:txBody>
      </p:sp>
      <p:sp>
        <p:nvSpPr>
          <p:cNvPr id="8" name="Content Placeholder 2"/>
          <p:cNvSpPr txBox="1">
            <a:spLocks/>
          </p:cNvSpPr>
          <p:nvPr/>
        </p:nvSpPr>
        <p:spPr bwMode="auto">
          <a:xfrm>
            <a:off x="247650" y="1828800"/>
            <a:ext cx="5410200" cy="2209800"/>
          </a:xfrm>
          <a:prstGeom prst="rect">
            <a:avLst/>
          </a:prstGeom>
          <a:noFill/>
          <a:ln w="9525">
            <a:noFill/>
            <a:miter lim="800000"/>
            <a:headEnd/>
            <a:tailEnd/>
          </a:ln>
        </p:spPr>
        <p:txBody>
          <a:bodyPr vert="horz" wrap="square" lIns="91436" tIns="45718" rIns="91436" bIns="45718" numCol="1" anchor="t" anchorCtr="0" compatLnSpc="1">
            <a:prstTxWarp prst="textNoShape">
              <a:avLst/>
            </a:prstTxWarp>
          </a:bodyPr>
          <a:lstStyle/>
          <a:p>
            <a:pPr marL="342882" marR="0" lvl="0" indent="-342882" algn="l" defTabSz="914400" rtl="0" eaLnBrk="1" fontAlgn="base" latinLnBrk="0" hangingPunct="1">
              <a:lnSpc>
                <a:spcPct val="80000"/>
              </a:lnSpc>
              <a:spcBef>
                <a:spcPts val="1200"/>
              </a:spcBef>
              <a:spcAft>
                <a:spcPct val="0"/>
              </a:spcAft>
              <a:buClr>
                <a:schemeClr val="accent2"/>
              </a:buClr>
              <a:buSzTx/>
              <a:buFont typeface="Wingdings" pitchFamily="2" charset="2"/>
              <a:buNone/>
              <a:tabLst/>
              <a:defRPr/>
            </a:pPr>
            <a:endParaRPr kumimoji="0" lang="en-US" sz="1100" b="0" i="0" u="none" strike="noStrike" kern="0" cap="none" spc="0" normalizeH="0" baseline="0" noProof="0" dirty="0">
              <a:ln>
                <a:noFill/>
              </a:ln>
              <a:solidFill>
                <a:srgbClr val="00B0F0"/>
              </a:solidFill>
              <a:effectLst/>
              <a:uLnTx/>
              <a:uFillTx/>
              <a:latin typeface="Calibri" pitchFamily="34" charset="0"/>
              <a:ea typeface="+mn-ea"/>
              <a:cs typeface="+mn-cs"/>
            </a:endParaRPr>
          </a:p>
          <a:p>
            <a:pPr marL="342882" marR="0" lvl="0" indent="-342882" algn="l" defTabSz="914400" rtl="0" eaLnBrk="1" fontAlgn="base" latinLnBrk="0" hangingPunct="1">
              <a:lnSpc>
                <a:spcPct val="80000"/>
              </a:lnSpc>
              <a:spcBef>
                <a:spcPts val="1200"/>
              </a:spcBef>
              <a:spcAft>
                <a:spcPct val="0"/>
              </a:spcAft>
              <a:buClr>
                <a:schemeClr val="accent2"/>
              </a:buClr>
              <a:buSzTx/>
              <a:buFont typeface="Wingdings" pitchFamily="2" charset="2"/>
              <a:buNone/>
              <a:tabLst/>
              <a:defRPr/>
            </a:pPr>
            <a:r>
              <a:rPr kumimoji="0" lang="en-US" sz="2400" b="0" i="0" u="none" strike="noStrike" kern="0" cap="none" spc="0" normalizeH="0" baseline="0" noProof="0" dirty="0">
                <a:ln>
                  <a:noFill/>
                </a:ln>
                <a:solidFill>
                  <a:srgbClr val="0070C0"/>
                </a:solidFill>
                <a:effectLst/>
                <a:uLnTx/>
                <a:uFillTx/>
                <a:latin typeface="Calibri" pitchFamily="34" charset="0"/>
                <a:ea typeface="+mn-ea"/>
                <a:cs typeface="+mn-cs"/>
              </a:rPr>
              <a:t>def max-value(state):</a:t>
            </a:r>
          </a:p>
          <a:p>
            <a:pPr marL="742913" marR="0" lvl="1" indent="-285737" algn="l" defTabSz="914400" rtl="0" eaLnBrk="1" fontAlgn="base" latinLnBrk="0" hangingPunct="1">
              <a:lnSpc>
                <a:spcPct val="80000"/>
              </a:lnSpc>
              <a:spcBef>
                <a:spcPct val="20000"/>
              </a:spcBef>
              <a:spcAft>
                <a:spcPct val="0"/>
              </a:spcAft>
              <a:buClr>
                <a:schemeClr val="tx1"/>
              </a:buClr>
              <a:buSzTx/>
              <a:buFont typeface="Wingdings" pitchFamily="2" charset="2"/>
              <a:buNone/>
              <a:tabLst/>
              <a:defRPr/>
            </a:pPr>
            <a:r>
              <a:rPr kumimoji="0" lang="en-US" sz="2400" b="0" i="0" u="none" strike="noStrike" kern="0" cap="none" spc="0" normalizeH="0" baseline="0" noProof="0" dirty="0">
                <a:ln>
                  <a:noFill/>
                </a:ln>
                <a:solidFill>
                  <a:schemeClr val="tx1"/>
                </a:solidFill>
                <a:effectLst/>
                <a:uLnTx/>
                <a:uFillTx/>
                <a:latin typeface="Calibri" pitchFamily="34" charset="0"/>
              </a:rPr>
              <a:t>initialize v = </a:t>
            </a:r>
            <a:r>
              <a:rPr kumimoji="0" lang="en-US" sz="2400" b="0" i="0" u="none" strike="noStrike" kern="0" cap="none" spc="0" normalizeH="0" baseline="0" noProof="0" dirty="0">
                <a:ln>
                  <a:noFill/>
                </a:ln>
                <a:solidFill>
                  <a:schemeClr val="tx1"/>
                </a:solidFill>
                <a:effectLst/>
                <a:uLnTx/>
                <a:uFillTx/>
                <a:latin typeface="Times New Roman" pitchFamily="18" charset="0"/>
                <a:cs typeface="Times New Roman" pitchFamily="18" charset="0"/>
              </a:rPr>
              <a:t>-∞</a:t>
            </a:r>
          </a:p>
          <a:p>
            <a:pPr marL="742913" marR="0" lvl="1" indent="-285737" algn="l" defTabSz="914400" rtl="0" eaLnBrk="1" fontAlgn="base" latinLnBrk="0" hangingPunct="1">
              <a:lnSpc>
                <a:spcPct val="80000"/>
              </a:lnSpc>
              <a:spcBef>
                <a:spcPct val="20000"/>
              </a:spcBef>
              <a:spcAft>
                <a:spcPct val="0"/>
              </a:spcAft>
              <a:buClr>
                <a:schemeClr val="tx1"/>
              </a:buClr>
              <a:buSzTx/>
              <a:buFont typeface="Wingdings" pitchFamily="2" charset="2"/>
              <a:buNone/>
              <a:tabLst/>
              <a:defRPr/>
            </a:pPr>
            <a:r>
              <a:rPr kumimoji="0" lang="en-US" sz="2400" b="0" i="0" u="none" strike="noStrike" kern="0" cap="none" spc="0" normalizeH="0" baseline="0" noProof="0" dirty="0">
                <a:ln>
                  <a:noFill/>
                </a:ln>
                <a:solidFill>
                  <a:schemeClr val="tx1"/>
                </a:solidFill>
                <a:effectLst/>
                <a:uLnTx/>
                <a:uFillTx/>
                <a:latin typeface="Calibri" pitchFamily="34" charset="0"/>
              </a:rPr>
              <a:t>for each successor of state:</a:t>
            </a:r>
          </a:p>
          <a:p>
            <a:pPr marL="1142942" marR="0" lvl="2" indent="-228589" algn="l" defTabSz="914400" rtl="0" eaLnBrk="1" fontAlgn="base" latinLnBrk="0" hangingPunct="1">
              <a:lnSpc>
                <a:spcPct val="80000"/>
              </a:lnSpc>
              <a:spcBef>
                <a:spcPct val="20000"/>
              </a:spcBef>
              <a:spcAft>
                <a:spcPct val="0"/>
              </a:spcAft>
              <a:buClr>
                <a:schemeClr val="accent2"/>
              </a:buClr>
              <a:buSzTx/>
              <a:buFont typeface="Wingdings" pitchFamily="2" charset="2"/>
              <a:buNone/>
              <a:tabLst/>
              <a:defRPr/>
            </a:pPr>
            <a:r>
              <a:rPr kumimoji="0" lang="en-US" sz="2400" b="0" i="0" u="none" strike="noStrike" kern="0" cap="none" spc="0" normalizeH="0" baseline="0" noProof="0" dirty="0">
                <a:ln>
                  <a:noFill/>
                </a:ln>
                <a:solidFill>
                  <a:schemeClr val="tx1"/>
                </a:solidFill>
                <a:effectLst/>
                <a:uLnTx/>
                <a:uFillTx/>
                <a:latin typeface="Calibri" pitchFamily="34" charset="0"/>
              </a:rPr>
              <a:t>v = max(v, </a:t>
            </a:r>
            <a:r>
              <a:rPr kumimoji="0" lang="en-US" sz="2400" b="0" i="0" u="none" strike="noStrike" kern="0" cap="none" spc="0" normalizeH="0" baseline="0" noProof="0" dirty="0">
                <a:ln>
                  <a:noFill/>
                </a:ln>
                <a:solidFill>
                  <a:srgbClr val="C00000"/>
                </a:solidFill>
                <a:effectLst/>
                <a:uLnTx/>
                <a:uFillTx/>
                <a:latin typeface="Calibri" pitchFamily="34" charset="0"/>
              </a:rPr>
              <a:t>min-value(successor)</a:t>
            </a:r>
            <a:r>
              <a:rPr kumimoji="0" lang="en-US" sz="2400" b="0" i="0" u="none" strike="noStrike" kern="0" cap="none" spc="0" normalizeH="0" baseline="0" noProof="0" dirty="0">
                <a:ln>
                  <a:noFill/>
                </a:ln>
                <a:effectLst/>
                <a:uLnTx/>
                <a:uFillTx/>
                <a:latin typeface="Calibri" pitchFamily="34" charset="0"/>
              </a:rPr>
              <a:t>)</a:t>
            </a:r>
          </a:p>
          <a:p>
            <a:pPr marL="742913" marR="0" lvl="1" indent="-285737" algn="l" defTabSz="914400" rtl="0" eaLnBrk="1" fontAlgn="base" latinLnBrk="0" hangingPunct="1">
              <a:lnSpc>
                <a:spcPct val="80000"/>
              </a:lnSpc>
              <a:spcBef>
                <a:spcPct val="20000"/>
              </a:spcBef>
              <a:spcAft>
                <a:spcPct val="0"/>
              </a:spcAft>
              <a:buClr>
                <a:schemeClr val="tx1"/>
              </a:buClr>
              <a:buSzTx/>
              <a:buFont typeface="Wingdings" pitchFamily="2" charset="2"/>
              <a:buNone/>
              <a:tabLst/>
              <a:defRPr/>
            </a:pPr>
            <a:r>
              <a:rPr kumimoji="0" lang="en-US" sz="2400" b="0" i="0" u="none" strike="noStrike" kern="0" cap="none" spc="0" normalizeH="0" baseline="0" noProof="0" dirty="0">
                <a:ln>
                  <a:noFill/>
                </a:ln>
                <a:solidFill>
                  <a:schemeClr val="tx1"/>
                </a:solidFill>
                <a:effectLst/>
                <a:uLnTx/>
                <a:uFillTx/>
                <a:latin typeface="Calibri" pitchFamily="34" charset="0"/>
              </a:rPr>
              <a:t>return v</a:t>
            </a:r>
          </a:p>
        </p:txBody>
      </p:sp>
      <p:sp>
        <p:nvSpPr>
          <p:cNvPr id="14" name="Left-Right Arrow 13"/>
          <p:cNvSpPr/>
          <p:nvPr/>
        </p:nvSpPr>
        <p:spPr>
          <a:xfrm>
            <a:off x="5581650" y="2743200"/>
            <a:ext cx="990600" cy="685800"/>
          </a:xfrm>
          <a:prstGeom prst="leftRightArrow">
            <a:avLst/>
          </a:prstGeom>
          <a:solidFill>
            <a:srgbClr val="BD92D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TP_tmp.png"/>
          <p:cNvPicPr>
            <a:picLocks noChangeAspect="1"/>
          </p:cNvPicPr>
          <p:nvPr>
            <p:custDataLst>
              <p:tags r:id="rId1"/>
            </p:custDataLst>
          </p:nvPr>
        </p:nvPicPr>
        <p:blipFill>
          <a:blip r:embed="rId5" cstate="print"/>
          <a:stretch>
            <a:fillRect/>
          </a:stretch>
        </p:blipFill>
        <p:spPr bwMode="auto">
          <a:xfrm>
            <a:off x="1085850" y="4343400"/>
            <a:ext cx="3407872" cy="533312"/>
          </a:xfrm>
          <a:prstGeom prst="rect">
            <a:avLst/>
          </a:prstGeom>
          <a:noFill/>
          <a:ln/>
          <a:effectLst/>
        </p:spPr>
      </p:pic>
      <p:pic>
        <p:nvPicPr>
          <p:cNvPr id="20" name="Picture 19" descr="TP_tmp.png"/>
          <p:cNvPicPr>
            <a:picLocks noChangeAspect="1"/>
          </p:cNvPicPr>
          <p:nvPr>
            <p:custDataLst>
              <p:tags r:id="rId2"/>
            </p:custDataLst>
          </p:nvPr>
        </p:nvPicPr>
        <p:blipFill>
          <a:blip r:embed="rId6" cstate="print"/>
          <a:stretch>
            <a:fillRect/>
          </a:stretch>
        </p:blipFill>
        <p:spPr bwMode="auto">
          <a:xfrm>
            <a:off x="7639050" y="4343400"/>
            <a:ext cx="3406613" cy="533115"/>
          </a:xfrm>
          <a:prstGeom prst="rect">
            <a:avLst/>
          </a:prstGeom>
          <a:noFill/>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Left-Right-Up Arrow 8"/>
          <p:cNvSpPr/>
          <p:nvPr/>
        </p:nvSpPr>
        <p:spPr>
          <a:xfrm>
            <a:off x="5029200" y="2895600"/>
            <a:ext cx="2133600" cy="2590800"/>
          </a:xfrm>
          <a:prstGeom prst="leftRightUpArrow">
            <a:avLst>
              <a:gd name="adj1" fmla="val 18522"/>
              <a:gd name="adj2" fmla="val 19062"/>
              <a:gd name="adj3" fmla="val 19062"/>
            </a:avLst>
          </a:prstGeom>
          <a:solidFill>
            <a:srgbClr val="BD92DE"/>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7239000" y="3962400"/>
            <a:ext cx="4724400" cy="2209800"/>
          </a:xfrm>
          <a:prstGeom prst="roundRect">
            <a:avLst/>
          </a:prstGeom>
          <a:solidFill>
            <a:srgbClr val="C00000">
              <a:alpha val="16000"/>
            </a:srgb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228600" y="3962400"/>
            <a:ext cx="4724400" cy="2209800"/>
          </a:xfrm>
          <a:prstGeom prst="roundRect">
            <a:avLst/>
          </a:prstGeom>
          <a:solidFill>
            <a:srgbClr val="0066CC">
              <a:alpha val="16000"/>
            </a:srgb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2286000" y="1371600"/>
            <a:ext cx="7620000" cy="2057400"/>
          </a:xfrm>
          <a:prstGeom prst="roundRect">
            <a:avLst/>
          </a:prstGeom>
          <a:solidFill>
            <a:srgbClr val="C39BE1"/>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14" name="Title 1"/>
          <p:cNvSpPr>
            <a:spLocks noGrp="1"/>
          </p:cNvSpPr>
          <p:nvPr>
            <p:ph type="title"/>
          </p:nvPr>
        </p:nvSpPr>
        <p:spPr/>
        <p:txBody>
          <a:bodyPr/>
          <a:lstStyle/>
          <a:p>
            <a:r>
              <a:rPr lang="vi-VN" noProof="1"/>
              <a:t>Refactor</a:t>
            </a:r>
          </a:p>
        </p:txBody>
      </p:sp>
      <p:sp>
        <p:nvSpPr>
          <p:cNvPr id="13315" name="Content Placeholder 2"/>
          <p:cNvSpPr>
            <a:spLocks noGrp="1"/>
          </p:cNvSpPr>
          <p:nvPr>
            <p:ph idx="1"/>
          </p:nvPr>
        </p:nvSpPr>
        <p:spPr>
          <a:xfrm>
            <a:off x="2438400" y="1371600"/>
            <a:ext cx="8229600" cy="3810000"/>
          </a:xfrm>
        </p:spPr>
        <p:txBody>
          <a:bodyPr/>
          <a:lstStyle/>
          <a:p>
            <a:pPr>
              <a:lnSpc>
                <a:spcPct val="80000"/>
              </a:lnSpc>
              <a:spcBef>
                <a:spcPts val="1200"/>
              </a:spcBef>
              <a:buFont typeface="Wingdings" pitchFamily="2" charset="2"/>
              <a:buNone/>
            </a:pPr>
            <a:endParaRPr lang="vi-VN" sz="200" noProof="1"/>
          </a:p>
          <a:p>
            <a:pPr>
              <a:lnSpc>
                <a:spcPct val="80000"/>
              </a:lnSpc>
              <a:spcBef>
                <a:spcPts val="1200"/>
              </a:spcBef>
              <a:buFont typeface="Wingdings" pitchFamily="2" charset="2"/>
              <a:buNone/>
            </a:pPr>
            <a:r>
              <a:rPr lang="vi-VN" sz="2400" noProof="1">
                <a:solidFill>
                  <a:srgbClr val="7030A0"/>
                </a:solidFill>
              </a:rPr>
              <a:t>def value(state):</a:t>
            </a:r>
          </a:p>
          <a:p>
            <a:pPr lvl="1">
              <a:lnSpc>
                <a:spcPct val="80000"/>
              </a:lnSpc>
              <a:buFont typeface="Wingdings" pitchFamily="2" charset="2"/>
              <a:buNone/>
            </a:pPr>
            <a:r>
              <a:rPr lang="vi-VN" sz="2400" noProof="1"/>
              <a:t>if the state is a terminal state: return the state’s utility</a:t>
            </a:r>
          </a:p>
          <a:p>
            <a:pPr lvl="1">
              <a:lnSpc>
                <a:spcPct val="80000"/>
              </a:lnSpc>
              <a:buFont typeface="Wingdings" pitchFamily="2" charset="2"/>
              <a:buNone/>
            </a:pPr>
            <a:r>
              <a:rPr lang="vi-VN" sz="2400" noProof="1"/>
              <a:t>if the next agent is </a:t>
            </a:r>
            <a:r>
              <a:rPr lang="vi-VN" sz="2400" noProof="1">
                <a:solidFill>
                  <a:srgbClr val="0070C0"/>
                </a:solidFill>
              </a:rPr>
              <a:t>MAX</a:t>
            </a:r>
            <a:r>
              <a:rPr lang="vi-VN" sz="2400" noProof="1"/>
              <a:t>: return </a:t>
            </a:r>
            <a:r>
              <a:rPr lang="vi-VN" sz="2400" noProof="1">
                <a:solidFill>
                  <a:srgbClr val="0070C0"/>
                </a:solidFill>
              </a:rPr>
              <a:t>max-value(state)</a:t>
            </a:r>
          </a:p>
          <a:p>
            <a:pPr lvl="1">
              <a:lnSpc>
                <a:spcPct val="80000"/>
              </a:lnSpc>
              <a:buFont typeface="Wingdings" pitchFamily="2" charset="2"/>
              <a:buNone/>
            </a:pPr>
            <a:r>
              <a:rPr lang="vi-VN" sz="2400" noProof="1"/>
              <a:t>if the next agent is </a:t>
            </a:r>
            <a:r>
              <a:rPr lang="vi-VN" sz="2400" noProof="1">
                <a:solidFill>
                  <a:srgbClr val="C00000"/>
                </a:solidFill>
              </a:rPr>
              <a:t>MIN</a:t>
            </a:r>
            <a:r>
              <a:rPr lang="vi-VN" sz="2400" noProof="1"/>
              <a:t>: return </a:t>
            </a:r>
            <a:r>
              <a:rPr lang="vi-VN" sz="2400" noProof="1">
                <a:solidFill>
                  <a:srgbClr val="C00000"/>
                </a:solidFill>
              </a:rPr>
              <a:t>min-value(state)</a:t>
            </a:r>
          </a:p>
        </p:txBody>
      </p:sp>
      <p:sp>
        <p:nvSpPr>
          <p:cNvPr id="7" name="Content Placeholder 2"/>
          <p:cNvSpPr txBox="1">
            <a:spLocks/>
          </p:cNvSpPr>
          <p:nvPr/>
        </p:nvSpPr>
        <p:spPr bwMode="auto">
          <a:xfrm>
            <a:off x="7365024" y="4114800"/>
            <a:ext cx="4800600" cy="2286000"/>
          </a:xfrm>
          <a:prstGeom prst="rect">
            <a:avLst/>
          </a:prstGeom>
          <a:noFill/>
          <a:ln w="9525">
            <a:noFill/>
            <a:miter lim="800000"/>
            <a:headEnd/>
            <a:tailEnd/>
          </a:ln>
        </p:spPr>
        <p:txBody>
          <a:bodyPr vert="horz" wrap="square" lIns="91436" tIns="45718" rIns="91436" bIns="45718" numCol="1" anchor="t" anchorCtr="0" compatLnSpc="1">
            <a:prstTxWarp prst="textNoShape">
              <a:avLst/>
            </a:prstTxWarp>
          </a:bodyPr>
          <a:lstStyle/>
          <a:p>
            <a:pPr marL="342882" marR="0" lvl="0" indent="-342882" algn="l" defTabSz="914400" rtl="0" eaLnBrk="1" fontAlgn="base" latinLnBrk="0" hangingPunct="1">
              <a:lnSpc>
                <a:spcPct val="80000"/>
              </a:lnSpc>
              <a:spcBef>
                <a:spcPts val="1200"/>
              </a:spcBef>
              <a:spcAft>
                <a:spcPct val="0"/>
              </a:spcAft>
              <a:buClr>
                <a:schemeClr val="accent2"/>
              </a:buClr>
              <a:buSzTx/>
              <a:buFont typeface="Wingdings" pitchFamily="2" charset="2"/>
              <a:buNone/>
              <a:tabLst/>
              <a:defRPr/>
            </a:pPr>
            <a:r>
              <a:rPr kumimoji="0" lang="en-US" sz="2400" b="0" i="0" u="none" strike="noStrike" kern="0" cap="none" spc="0" normalizeH="0" baseline="0" noProof="0" dirty="0">
                <a:ln>
                  <a:noFill/>
                </a:ln>
                <a:solidFill>
                  <a:srgbClr val="C00000"/>
                </a:solidFill>
                <a:effectLst/>
                <a:uLnTx/>
                <a:uFillTx/>
                <a:latin typeface="Calibri" pitchFamily="34" charset="0"/>
                <a:ea typeface="+mn-ea"/>
                <a:cs typeface="+mn-cs"/>
              </a:rPr>
              <a:t>def min-value(state):</a:t>
            </a:r>
          </a:p>
          <a:p>
            <a:pPr marL="742913" lvl="1" indent="-285737">
              <a:lnSpc>
                <a:spcPct val="80000"/>
              </a:lnSpc>
              <a:spcBef>
                <a:spcPct val="20000"/>
              </a:spcBef>
              <a:buClr>
                <a:schemeClr val="tx1"/>
              </a:buClr>
              <a:defRPr/>
            </a:pPr>
            <a:r>
              <a:rPr lang="en-US" sz="2400" kern="0" dirty="0">
                <a:latin typeface="Calibri" pitchFamily="34" charset="0"/>
              </a:rPr>
              <a:t>initialize v = </a:t>
            </a:r>
            <a:r>
              <a:rPr lang="en-US" sz="2400" kern="0" dirty="0">
                <a:latin typeface="Times New Roman" pitchFamily="18" charset="0"/>
                <a:cs typeface="Times New Roman" pitchFamily="18" charset="0"/>
              </a:rPr>
              <a:t>+∞</a:t>
            </a:r>
          </a:p>
          <a:p>
            <a:pPr marL="742913" lvl="1" indent="-285737">
              <a:lnSpc>
                <a:spcPct val="80000"/>
              </a:lnSpc>
              <a:spcBef>
                <a:spcPct val="20000"/>
              </a:spcBef>
              <a:buClr>
                <a:schemeClr val="tx1"/>
              </a:buClr>
              <a:defRPr/>
            </a:pPr>
            <a:r>
              <a:rPr lang="en-US" sz="2400" kern="0" dirty="0">
                <a:latin typeface="Calibri" pitchFamily="34" charset="0"/>
              </a:rPr>
              <a:t>for each successor of state:</a:t>
            </a:r>
          </a:p>
          <a:p>
            <a:pPr marL="1142942" lvl="2" indent="-228589">
              <a:lnSpc>
                <a:spcPct val="80000"/>
              </a:lnSpc>
              <a:spcBef>
                <a:spcPct val="20000"/>
              </a:spcBef>
              <a:buClr>
                <a:schemeClr val="accent2"/>
              </a:buClr>
              <a:defRPr/>
            </a:pPr>
            <a:r>
              <a:rPr lang="en-US" sz="2400" kern="0" dirty="0">
                <a:latin typeface="Calibri" pitchFamily="34" charset="0"/>
              </a:rPr>
              <a:t>v = min(v, </a:t>
            </a:r>
            <a:r>
              <a:rPr lang="en-US" sz="2400" kern="0" dirty="0">
                <a:solidFill>
                  <a:srgbClr val="7030A0"/>
                </a:solidFill>
                <a:latin typeface="Calibri" pitchFamily="34" charset="0"/>
              </a:rPr>
              <a:t>value(successor)</a:t>
            </a:r>
            <a:r>
              <a:rPr lang="en-US" sz="2400" kern="0" dirty="0">
                <a:latin typeface="Calibri" pitchFamily="34" charset="0"/>
              </a:rPr>
              <a:t>)</a:t>
            </a:r>
          </a:p>
          <a:p>
            <a:pPr marL="742913" lvl="1" indent="-285737">
              <a:lnSpc>
                <a:spcPct val="80000"/>
              </a:lnSpc>
              <a:spcBef>
                <a:spcPct val="20000"/>
              </a:spcBef>
              <a:buClr>
                <a:schemeClr val="tx1"/>
              </a:buClr>
              <a:defRPr/>
            </a:pPr>
            <a:r>
              <a:rPr lang="en-US" sz="2400" kern="0" dirty="0">
                <a:latin typeface="Calibri" pitchFamily="34" charset="0"/>
              </a:rPr>
              <a:t>return v</a:t>
            </a:r>
          </a:p>
          <a:p>
            <a:pPr marL="742913" marR="0" lvl="1" indent="-285737" algn="l" defTabSz="914400" rtl="0" eaLnBrk="1" fontAlgn="base" latinLnBrk="0" hangingPunct="1">
              <a:lnSpc>
                <a:spcPct val="80000"/>
              </a:lnSpc>
              <a:spcBef>
                <a:spcPct val="20000"/>
              </a:spcBef>
              <a:spcAft>
                <a:spcPct val="0"/>
              </a:spcAft>
              <a:buClr>
                <a:schemeClr val="tx1"/>
              </a:buClr>
              <a:buSzTx/>
              <a:buFont typeface="Wingdings" pitchFamily="2" charset="2"/>
              <a:buNone/>
              <a:tabLst/>
              <a:defRPr/>
            </a:pPr>
            <a:endParaRPr kumimoji="0" lang="en-US" sz="2400" b="0" i="0" u="none" strike="noStrike" kern="0" cap="none" spc="0" normalizeH="0" baseline="0" noProof="0" dirty="0">
              <a:ln>
                <a:noFill/>
              </a:ln>
              <a:solidFill>
                <a:schemeClr val="tx1"/>
              </a:solidFill>
              <a:effectLst/>
              <a:uLnTx/>
              <a:uFillTx/>
              <a:latin typeface="Calibri" pitchFamily="34" charset="0"/>
            </a:endParaRPr>
          </a:p>
        </p:txBody>
      </p:sp>
      <p:sp>
        <p:nvSpPr>
          <p:cNvPr id="8" name="Content Placeholder 2"/>
          <p:cNvSpPr txBox="1">
            <a:spLocks/>
          </p:cNvSpPr>
          <p:nvPr/>
        </p:nvSpPr>
        <p:spPr bwMode="auto">
          <a:xfrm>
            <a:off x="354624" y="3810000"/>
            <a:ext cx="5410200" cy="2209800"/>
          </a:xfrm>
          <a:prstGeom prst="rect">
            <a:avLst/>
          </a:prstGeom>
          <a:noFill/>
          <a:ln w="9525">
            <a:noFill/>
            <a:miter lim="800000"/>
            <a:headEnd/>
            <a:tailEnd/>
          </a:ln>
        </p:spPr>
        <p:txBody>
          <a:bodyPr vert="horz" wrap="square" lIns="91436" tIns="45718" rIns="91436" bIns="45718" numCol="1" anchor="t" anchorCtr="0" compatLnSpc="1">
            <a:prstTxWarp prst="textNoShape">
              <a:avLst/>
            </a:prstTxWarp>
          </a:bodyPr>
          <a:lstStyle/>
          <a:p>
            <a:pPr marL="342882" marR="0" lvl="0" indent="-342882" algn="l" defTabSz="914400" rtl="0" eaLnBrk="1" fontAlgn="base" latinLnBrk="0" hangingPunct="1">
              <a:lnSpc>
                <a:spcPct val="80000"/>
              </a:lnSpc>
              <a:spcBef>
                <a:spcPts val="1200"/>
              </a:spcBef>
              <a:spcAft>
                <a:spcPct val="0"/>
              </a:spcAft>
              <a:buClr>
                <a:schemeClr val="accent2"/>
              </a:buClr>
              <a:buSzTx/>
              <a:buFont typeface="Wingdings" pitchFamily="2" charset="2"/>
              <a:buNone/>
              <a:tabLst/>
              <a:defRPr/>
            </a:pPr>
            <a:endParaRPr kumimoji="0" lang="en-US" sz="1100" b="0" i="0" u="none" strike="noStrike" kern="0" cap="none" spc="0" normalizeH="0" baseline="0" noProof="0" dirty="0">
              <a:ln>
                <a:noFill/>
              </a:ln>
              <a:solidFill>
                <a:srgbClr val="00B0F0"/>
              </a:solidFill>
              <a:effectLst/>
              <a:uLnTx/>
              <a:uFillTx/>
              <a:latin typeface="Calibri" pitchFamily="34" charset="0"/>
              <a:ea typeface="+mn-ea"/>
              <a:cs typeface="+mn-cs"/>
            </a:endParaRPr>
          </a:p>
          <a:p>
            <a:pPr marL="342882" marR="0" lvl="0" indent="-342882" algn="l" defTabSz="914400" rtl="0" eaLnBrk="1" fontAlgn="base" latinLnBrk="0" hangingPunct="1">
              <a:lnSpc>
                <a:spcPct val="80000"/>
              </a:lnSpc>
              <a:spcBef>
                <a:spcPts val="1200"/>
              </a:spcBef>
              <a:spcAft>
                <a:spcPct val="0"/>
              </a:spcAft>
              <a:buClr>
                <a:schemeClr val="accent2"/>
              </a:buClr>
              <a:buSzTx/>
              <a:buFont typeface="Wingdings" pitchFamily="2" charset="2"/>
              <a:buNone/>
              <a:tabLst/>
              <a:defRPr/>
            </a:pPr>
            <a:r>
              <a:rPr kumimoji="0" lang="en-US" sz="2400" b="0" i="0" u="none" strike="noStrike" kern="0" cap="none" spc="0" normalizeH="0" baseline="0" noProof="0" dirty="0">
                <a:ln>
                  <a:noFill/>
                </a:ln>
                <a:solidFill>
                  <a:srgbClr val="0070C0"/>
                </a:solidFill>
                <a:effectLst/>
                <a:uLnTx/>
                <a:uFillTx/>
                <a:latin typeface="Calibri" pitchFamily="34" charset="0"/>
                <a:ea typeface="+mn-ea"/>
                <a:cs typeface="+mn-cs"/>
              </a:rPr>
              <a:t>def max-value(state):</a:t>
            </a:r>
          </a:p>
          <a:p>
            <a:pPr marL="742913" lvl="1" indent="-285737">
              <a:lnSpc>
                <a:spcPct val="80000"/>
              </a:lnSpc>
              <a:spcBef>
                <a:spcPct val="20000"/>
              </a:spcBef>
              <a:buClr>
                <a:schemeClr val="tx1"/>
              </a:buClr>
              <a:defRPr/>
            </a:pPr>
            <a:r>
              <a:rPr lang="en-US" sz="2400" kern="0" dirty="0">
                <a:latin typeface="Calibri" pitchFamily="34" charset="0"/>
              </a:rPr>
              <a:t>initialize v = </a:t>
            </a:r>
            <a:r>
              <a:rPr lang="en-US" sz="2400" kern="0" dirty="0">
                <a:latin typeface="Times New Roman" pitchFamily="18" charset="0"/>
                <a:cs typeface="Times New Roman" pitchFamily="18" charset="0"/>
              </a:rPr>
              <a:t>-∞</a:t>
            </a:r>
          </a:p>
          <a:p>
            <a:pPr marL="742913" lvl="1" indent="-285737">
              <a:lnSpc>
                <a:spcPct val="80000"/>
              </a:lnSpc>
              <a:spcBef>
                <a:spcPct val="20000"/>
              </a:spcBef>
              <a:buClr>
                <a:schemeClr val="tx1"/>
              </a:buClr>
              <a:defRPr/>
            </a:pPr>
            <a:r>
              <a:rPr lang="en-US" sz="2400" kern="0" dirty="0">
                <a:latin typeface="Calibri" pitchFamily="34" charset="0"/>
              </a:rPr>
              <a:t>for each successor of state:</a:t>
            </a:r>
          </a:p>
          <a:p>
            <a:pPr marL="1142942" lvl="2" indent="-228589">
              <a:lnSpc>
                <a:spcPct val="80000"/>
              </a:lnSpc>
              <a:spcBef>
                <a:spcPct val="20000"/>
              </a:spcBef>
              <a:buClr>
                <a:schemeClr val="accent2"/>
              </a:buClr>
              <a:defRPr/>
            </a:pPr>
            <a:r>
              <a:rPr lang="en-US" sz="2400" kern="0" dirty="0">
                <a:latin typeface="Calibri" pitchFamily="34" charset="0"/>
              </a:rPr>
              <a:t>v = max(v, </a:t>
            </a:r>
            <a:r>
              <a:rPr lang="en-US" sz="2400" kern="0" dirty="0">
                <a:solidFill>
                  <a:srgbClr val="7030A0"/>
                </a:solidFill>
                <a:latin typeface="Calibri" pitchFamily="34" charset="0"/>
              </a:rPr>
              <a:t>value(successor)</a:t>
            </a:r>
            <a:r>
              <a:rPr lang="en-US" sz="2400" kern="0" dirty="0">
                <a:latin typeface="Calibri" pitchFamily="34" charset="0"/>
              </a:rPr>
              <a:t>)</a:t>
            </a:r>
          </a:p>
          <a:p>
            <a:pPr marL="742913" lvl="1" indent="-285737">
              <a:lnSpc>
                <a:spcPct val="80000"/>
              </a:lnSpc>
              <a:spcBef>
                <a:spcPct val="20000"/>
              </a:spcBef>
              <a:buClr>
                <a:schemeClr val="tx1"/>
              </a:buClr>
              <a:defRPr/>
            </a:pPr>
            <a:r>
              <a:rPr lang="en-US" sz="2400" kern="0" dirty="0">
                <a:latin typeface="Calibri" pitchFamily="34" charset="0"/>
              </a:rPr>
              <a:t>return v</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vi-VN" noProof="1">
                <a:sym typeface="Symbol" pitchFamily="18" charset="2"/>
              </a:rPr>
              <a:t>Ví dụ: Minimax</a:t>
            </a:r>
          </a:p>
        </p:txBody>
      </p:sp>
      <p:sp>
        <p:nvSpPr>
          <p:cNvPr id="14339" name="AutoShape 4"/>
          <p:cNvSpPr>
            <a:spLocks noChangeArrowheads="1"/>
          </p:cNvSpPr>
          <p:nvPr/>
        </p:nvSpPr>
        <p:spPr bwMode="auto">
          <a:xfrm>
            <a:off x="5693833" y="2209800"/>
            <a:ext cx="508000" cy="304800"/>
          </a:xfrm>
          <a:prstGeom prst="triangle">
            <a:avLst>
              <a:gd name="adj" fmla="val 50000"/>
            </a:avLst>
          </a:prstGeom>
          <a:solidFill>
            <a:srgbClr val="CCCCCC"/>
          </a:solidFill>
          <a:ln w="12700">
            <a:solidFill>
              <a:schemeClr val="tx1"/>
            </a:solidFill>
            <a:miter lim="800000"/>
            <a:headEnd/>
            <a:tailEnd/>
          </a:ln>
        </p:spPr>
        <p:txBody>
          <a:bodyPr wrap="none" anchor="ctr"/>
          <a:lstStyle/>
          <a:p>
            <a:endParaRPr lang="en-US"/>
          </a:p>
        </p:txBody>
      </p:sp>
      <p:grpSp>
        <p:nvGrpSpPr>
          <p:cNvPr id="2" name="Group 60"/>
          <p:cNvGrpSpPr>
            <a:grpSpLocks/>
          </p:cNvGrpSpPr>
          <p:nvPr/>
        </p:nvGrpSpPr>
        <p:grpSpPr bwMode="auto">
          <a:xfrm>
            <a:off x="2641600" y="3765550"/>
            <a:ext cx="508000" cy="1187450"/>
            <a:chOff x="1981200" y="3765550"/>
            <a:chExt cx="381000" cy="1187450"/>
          </a:xfrm>
        </p:grpSpPr>
        <p:cxnSp>
          <p:nvCxnSpPr>
            <p:cNvPr id="14382" name="AutoShape 13"/>
            <p:cNvCxnSpPr>
              <a:cxnSpLocks noChangeShapeType="1"/>
              <a:stCxn id="14374" idx="0"/>
            </p:cNvCxnSpPr>
            <p:nvPr/>
          </p:nvCxnSpPr>
          <p:spPr bwMode="auto">
            <a:xfrm>
              <a:off x="2173288" y="3765550"/>
              <a:ext cx="1588" cy="806450"/>
            </a:xfrm>
            <a:prstGeom prst="straightConnector1">
              <a:avLst/>
            </a:prstGeom>
            <a:noFill/>
            <a:ln w="12700">
              <a:solidFill>
                <a:schemeClr val="tx1"/>
              </a:solidFill>
              <a:round/>
              <a:headEnd/>
              <a:tailEnd type="triangle" w="med" len="med"/>
            </a:ln>
          </p:spPr>
        </p:cxnSp>
        <p:sp>
          <p:nvSpPr>
            <p:cNvPr id="14383" name="Rectangle 7"/>
            <p:cNvSpPr>
              <a:spLocks noChangeArrowheads="1"/>
            </p:cNvSpPr>
            <p:nvPr/>
          </p:nvSpPr>
          <p:spPr bwMode="auto">
            <a:xfrm>
              <a:off x="1981200" y="4648200"/>
              <a:ext cx="381000" cy="304800"/>
            </a:xfrm>
            <a:prstGeom prst="rect">
              <a:avLst/>
            </a:prstGeom>
            <a:solidFill>
              <a:srgbClr val="CCCCCC"/>
            </a:solidFill>
            <a:ln w="9525">
              <a:solidFill>
                <a:schemeClr val="tx1"/>
              </a:solidFill>
              <a:miter lim="800000"/>
              <a:headEnd/>
              <a:tailEnd/>
            </a:ln>
          </p:spPr>
          <p:txBody>
            <a:bodyPr wrap="none" anchor="ctr"/>
            <a:lstStyle/>
            <a:p>
              <a:pPr algn="ctr"/>
              <a:r>
                <a:rPr lang="en-US"/>
                <a:t>12</a:t>
              </a:r>
            </a:p>
          </p:txBody>
        </p:sp>
      </p:grpSp>
      <p:grpSp>
        <p:nvGrpSpPr>
          <p:cNvPr id="3" name="Group 61"/>
          <p:cNvGrpSpPr>
            <a:grpSpLocks/>
          </p:cNvGrpSpPr>
          <p:nvPr/>
        </p:nvGrpSpPr>
        <p:grpSpPr bwMode="auto">
          <a:xfrm>
            <a:off x="2897717" y="3765550"/>
            <a:ext cx="1267883" cy="1187450"/>
            <a:chOff x="2173288" y="3765550"/>
            <a:chExt cx="950912" cy="1187450"/>
          </a:xfrm>
        </p:grpSpPr>
        <p:cxnSp>
          <p:nvCxnSpPr>
            <p:cNvPr id="14380" name="AutoShape 17"/>
            <p:cNvCxnSpPr>
              <a:cxnSpLocks noChangeShapeType="1"/>
              <a:stCxn id="14374" idx="0"/>
            </p:cNvCxnSpPr>
            <p:nvPr/>
          </p:nvCxnSpPr>
          <p:spPr bwMode="auto">
            <a:xfrm>
              <a:off x="2173288" y="3765550"/>
              <a:ext cx="763586" cy="822325"/>
            </a:xfrm>
            <a:prstGeom prst="straightConnector1">
              <a:avLst/>
            </a:prstGeom>
            <a:noFill/>
            <a:ln w="12700">
              <a:solidFill>
                <a:schemeClr val="tx1"/>
              </a:solidFill>
              <a:round/>
              <a:headEnd/>
              <a:tailEnd type="triangle" w="med" len="med"/>
            </a:ln>
          </p:spPr>
        </p:cxnSp>
        <p:sp>
          <p:nvSpPr>
            <p:cNvPr id="14381" name="Rectangle 7"/>
            <p:cNvSpPr>
              <a:spLocks noChangeArrowheads="1"/>
            </p:cNvSpPr>
            <p:nvPr/>
          </p:nvSpPr>
          <p:spPr bwMode="auto">
            <a:xfrm>
              <a:off x="2743200" y="4648200"/>
              <a:ext cx="381000" cy="304800"/>
            </a:xfrm>
            <a:prstGeom prst="rect">
              <a:avLst/>
            </a:prstGeom>
            <a:solidFill>
              <a:srgbClr val="CCCCCC"/>
            </a:solidFill>
            <a:ln w="9525">
              <a:solidFill>
                <a:schemeClr val="tx1"/>
              </a:solidFill>
              <a:miter lim="800000"/>
              <a:headEnd/>
              <a:tailEnd/>
            </a:ln>
          </p:spPr>
          <p:txBody>
            <a:bodyPr wrap="none" anchor="ctr"/>
            <a:lstStyle/>
            <a:p>
              <a:pPr algn="ctr"/>
              <a:r>
                <a:rPr lang="en-US"/>
                <a:t>8</a:t>
              </a:r>
            </a:p>
          </p:txBody>
        </p:sp>
      </p:grpSp>
      <p:grpSp>
        <p:nvGrpSpPr>
          <p:cNvPr id="4" name="Group 64"/>
          <p:cNvGrpSpPr>
            <a:grpSpLocks/>
          </p:cNvGrpSpPr>
          <p:nvPr/>
        </p:nvGrpSpPr>
        <p:grpSpPr bwMode="auto">
          <a:xfrm>
            <a:off x="8737600" y="3765550"/>
            <a:ext cx="508000" cy="1187450"/>
            <a:chOff x="6553200" y="3765550"/>
            <a:chExt cx="381000" cy="1187450"/>
          </a:xfrm>
        </p:grpSpPr>
        <p:cxnSp>
          <p:nvCxnSpPr>
            <p:cNvPr id="14378" name="AutoShape 33"/>
            <p:cNvCxnSpPr>
              <a:cxnSpLocks noChangeShapeType="1"/>
            </p:cNvCxnSpPr>
            <p:nvPr/>
          </p:nvCxnSpPr>
          <p:spPr bwMode="auto">
            <a:xfrm>
              <a:off x="6745288" y="3765550"/>
              <a:ext cx="1588" cy="806450"/>
            </a:xfrm>
            <a:prstGeom prst="straightConnector1">
              <a:avLst/>
            </a:prstGeom>
            <a:noFill/>
            <a:ln w="12700">
              <a:solidFill>
                <a:schemeClr val="tx1"/>
              </a:solidFill>
              <a:round/>
              <a:headEnd/>
              <a:tailEnd type="triangle" w="med" len="med"/>
            </a:ln>
          </p:spPr>
        </p:cxnSp>
        <p:sp>
          <p:nvSpPr>
            <p:cNvPr id="14379" name="Rectangle 7"/>
            <p:cNvSpPr>
              <a:spLocks noChangeArrowheads="1"/>
            </p:cNvSpPr>
            <p:nvPr/>
          </p:nvSpPr>
          <p:spPr bwMode="auto">
            <a:xfrm>
              <a:off x="6553200" y="4648200"/>
              <a:ext cx="381000" cy="304800"/>
            </a:xfrm>
            <a:prstGeom prst="rect">
              <a:avLst/>
            </a:prstGeom>
            <a:solidFill>
              <a:srgbClr val="CCCCCC"/>
            </a:solidFill>
            <a:ln w="9525">
              <a:solidFill>
                <a:schemeClr val="tx1"/>
              </a:solidFill>
              <a:miter lim="800000"/>
              <a:headEnd/>
              <a:tailEnd/>
            </a:ln>
          </p:spPr>
          <p:txBody>
            <a:bodyPr wrap="none" anchor="ctr"/>
            <a:lstStyle/>
            <a:p>
              <a:pPr algn="ctr"/>
              <a:r>
                <a:rPr lang="en-US"/>
                <a:t>5</a:t>
              </a:r>
            </a:p>
          </p:txBody>
        </p:sp>
      </p:grpSp>
      <p:grpSp>
        <p:nvGrpSpPr>
          <p:cNvPr id="5" name="Group 65"/>
          <p:cNvGrpSpPr>
            <a:grpSpLocks/>
          </p:cNvGrpSpPr>
          <p:nvPr/>
        </p:nvGrpSpPr>
        <p:grpSpPr bwMode="auto">
          <a:xfrm>
            <a:off x="8993717" y="3765550"/>
            <a:ext cx="1267883" cy="1187450"/>
            <a:chOff x="6745288" y="3765550"/>
            <a:chExt cx="950912" cy="1187450"/>
          </a:xfrm>
        </p:grpSpPr>
        <p:cxnSp>
          <p:nvCxnSpPr>
            <p:cNvPr id="14376" name="AutoShape 37"/>
            <p:cNvCxnSpPr>
              <a:cxnSpLocks noChangeShapeType="1"/>
            </p:cNvCxnSpPr>
            <p:nvPr/>
          </p:nvCxnSpPr>
          <p:spPr bwMode="auto">
            <a:xfrm>
              <a:off x="6745288" y="3765550"/>
              <a:ext cx="763587" cy="822325"/>
            </a:xfrm>
            <a:prstGeom prst="straightConnector1">
              <a:avLst/>
            </a:prstGeom>
            <a:noFill/>
            <a:ln w="12700">
              <a:solidFill>
                <a:schemeClr val="tx1"/>
              </a:solidFill>
              <a:round/>
              <a:headEnd/>
              <a:tailEnd type="triangle" w="med" len="med"/>
            </a:ln>
          </p:spPr>
        </p:cxnSp>
        <p:sp>
          <p:nvSpPr>
            <p:cNvPr id="14377" name="Rectangle 7"/>
            <p:cNvSpPr>
              <a:spLocks noChangeArrowheads="1"/>
            </p:cNvSpPr>
            <p:nvPr/>
          </p:nvSpPr>
          <p:spPr bwMode="auto">
            <a:xfrm>
              <a:off x="7315200" y="4648200"/>
              <a:ext cx="381000" cy="304800"/>
            </a:xfrm>
            <a:prstGeom prst="rect">
              <a:avLst/>
            </a:prstGeom>
            <a:solidFill>
              <a:srgbClr val="CCCCCC"/>
            </a:solidFill>
            <a:ln w="9525">
              <a:solidFill>
                <a:schemeClr val="tx1"/>
              </a:solidFill>
              <a:miter lim="800000"/>
              <a:headEnd/>
              <a:tailEnd/>
            </a:ln>
          </p:spPr>
          <p:txBody>
            <a:bodyPr wrap="none" anchor="ctr"/>
            <a:lstStyle/>
            <a:p>
              <a:pPr algn="ctr"/>
              <a:r>
                <a:rPr lang="en-US"/>
                <a:t>2</a:t>
              </a:r>
            </a:p>
          </p:txBody>
        </p:sp>
      </p:grpSp>
      <p:grpSp>
        <p:nvGrpSpPr>
          <p:cNvPr id="6" name="Group 51"/>
          <p:cNvGrpSpPr>
            <a:grpSpLocks/>
          </p:cNvGrpSpPr>
          <p:nvPr/>
        </p:nvGrpSpPr>
        <p:grpSpPr bwMode="auto">
          <a:xfrm>
            <a:off x="2645833" y="2514600"/>
            <a:ext cx="3302000" cy="1250950"/>
            <a:chOff x="1984375" y="2514600"/>
            <a:chExt cx="2476501" cy="1250950"/>
          </a:xfrm>
        </p:grpSpPr>
        <p:sp>
          <p:nvSpPr>
            <p:cNvPr id="14374" name="AutoShape 6"/>
            <p:cNvSpPr>
              <a:spLocks noChangeArrowheads="1"/>
            </p:cNvSpPr>
            <p:nvPr/>
          </p:nvSpPr>
          <p:spPr bwMode="auto">
            <a:xfrm flipV="1">
              <a:off x="1984375" y="3460750"/>
              <a:ext cx="381000" cy="304800"/>
            </a:xfrm>
            <a:prstGeom prst="triangle">
              <a:avLst>
                <a:gd name="adj" fmla="val 50000"/>
              </a:avLst>
            </a:prstGeom>
            <a:solidFill>
              <a:srgbClr val="CCCCCC"/>
            </a:solidFill>
            <a:ln w="12700">
              <a:solidFill>
                <a:schemeClr val="tx1"/>
              </a:solidFill>
              <a:miter lim="800000"/>
              <a:headEnd/>
              <a:tailEnd/>
            </a:ln>
          </p:spPr>
          <p:txBody>
            <a:bodyPr wrap="none" anchor="ctr"/>
            <a:lstStyle/>
            <a:p>
              <a:endParaRPr lang="en-US"/>
            </a:p>
          </p:txBody>
        </p:sp>
        <p:cxnSp>
          <p:nvCxnSpPr>
            <p:cNvPr id="14375" name="AutoShape 7"/>
            <p:cNvCxnSpPr>
              <a:cxnSpLocks noChangeShapeType="1"/>
              <a:stCxn id="14339" idx="3"/>
              <a:endCxn id="14374" idx="3"/>
            </p:cNvCxnSpPr>
            <p:nvPr/>
          </p:nvCxnSpPr>
          <p:spPr bwMode="auto">
            <a:xfrm flipH="1">
              <a:off x="2173288" y="2514600"/>
              <a:ext cx="2287588" cy="946150"/>
            </a:xfrm>
            <a:prstGeom prst="straightConnector1">
              <a:avLst/>
            </a:prstGeom>
            <a:noFill/>
            <a:ln w="12700">
              <a:solidFill>
                <a:schemeClr val="tx1"/>
              </a:solidFill>
              <a:round/>
              <a:headEnd/>
              <a:tailEnd type="triangle" w="med" len="med"/>
            </a:ln>
          </p:spPr>
        </p:cxnSp>
      </p:grpSp>
      <p:cxnSp>
        <p:nvCxnSpPr>
          <p:cNvPr id="28720" name="AutoShape 9"/>
          <p:cNvCxnSpPr>
            <a:cxnSpLocks noChangeShapeType="1"/>
            <a:stCxn id="14374" idx="0"/>
          </p:cNvCxnSpPr>
          <p:nvPr/>
        </p:nvCxnSpPr>
        <p:spPr bwMode="auto">
          <a:xfrm flipH="1">
            <a:off x="1883835" y="3765553"/>
            <a:ext cx="1013884" cy="822325"/>
          </a:xfrm>
          <a:prstGeom prst="straightConnector1">
            <a:avLst/>
          </a:prstGeom>
          <a:noFill/>
          <a:ln w="12700">
            <a:solidFill>
              <a:schemeClr val="tx1"/>
            </a:solidFill>
            <a:round/>
            <a:headEnd/>
            <a:tailEnd type="triangle" w="med" len="med"/>
          </a:ln>
        </p:spPr>
      </p:cxnSp>
      <p:sp>
        <p:nvSpPr>
          <p:cNvPr id="51" name="Rectangle 7"/>
          <p:cNvSpPr>
            <a:spLocks noChangeArrowheads="1"/>
          </p:cNvSpPr>
          <p:nvPr/>
        </p:nvSpPr>
        <p:spPr bwMode="auto">
          <a:xfrm>
            <a:off x="1625600" y="4648200"/>
            <a:ext cx="508000" cy="304800"/>
          </a:xfrm>
          <a:prstGeom prst="rect">
            <a:avLst/>
          </a:prstGeom>
          <a:solidFill>
            <a:srgbClr val="CCCCCC"/>
          </a:solidFill>
          <a:ln w="9525">
            <a:solidFill>
              <a:schemeClr val="tx1"/>
            </a:solidFill>
            <a:miter lim="800000"/>
            <a:headEnd/>
            <a:tailEnd/>
          </a:ln>
        </p:spPr>
        <p:txBody>
          <a:bodyPr wrap="none" anchor="ctr"/>
          <a:lstStyle/>
          <a:p>
            <a:pPr algn="ctr"/>
            <a:r>
              <a:rPr lang="en-US"/>
              <a:t>3</a:t>
            </a:r>
          </a:p>
        </p:txBody>
      </p:sp>
      <p:cxnSp>
        <p:nvCxnSpPr>
          <p:cNvPr id="67" name="AutoShape 21"/>
          <p:cNvCxnSpPr>
            <a:cxnSpLocks noChangeShapeType="1"/>
          </p:cNvCxnSpPr>
          <p:nvPr/>
        </p:nvCxnSpPr>
        <p:spPr bwMode="auto">
          <a:xfrm rot="5400000">
            <a:off x="5790143" y="2665943"/>
            <a:ext cx="304800" cy="2116"/>
          </a:xfrm>
          <a:prstGeom prst="straightConnector1">
            <a:avLst/>
          </a:prstGeom>
          <a:noFill/>
          <a:ln w="12700">
            <a:solidFill>
              <a:schemeClr val="tx1"/>
            </a:solidFill>
            <a:round/>
            <a:headEnd/>
            <a:tailEnd/>
          </a:ln>
        </p:spPr>
      </p:cxnSp>
      <p:cxnSp>
        <p:nvCxnSpPr>
          <p:cNvPr id="70" name="AutoShape 21"/>
          <p:cNvCxnSpPr>
            <a:cxnSpLocks noChangeShapeType="1"/>
            <a:stCxn id="14339" idx="3"/>
          </p:cNvCxnSpPr>
          <p:nvPr/>
        </p:nvCxnSpPr>
        <p:spPr bwMode="auto">
          <a:xfrm rot="16200000" flipH="1">
            <a:off x="6212417" y="2250019"/>
            <a:ext cx="228600" cy="757767"/>
          </a:xfrm>
          <a:prstGeom prst="straightConnector1">
            <a:avLst/>
          </a:prstGeom>
          <a:noFill/>
          <a:ln w="12700">
            <a:solidFill>
              <a:schemeClr val="tx1"/>
            </a:solidFill>
            <a:round/>
            <a:headEnd/>
            <a:tailEnd/>
          </a:ln>
        </p:spPr>
      </p:cxnSp>
      <p:cxnSp>
        <p:nvCxnSpPr>
          <p:cNvPr id="74" name="AutoShape 21"/>
          <p:cNvCxnSpPr>
            <a:cxnSpLocks noChangeShapeType="1"/>
          </p:cNvCxnSpPr>
          <p:nvPr/>
        </p:nvCxnSpPr>
        <p:spPr bwMode="auto">
          <a:xfrm rot="5400000">
            <a:off x="2744259" y="3913717"/>
            <a:ext cx="304800" cy="2117"/>
          </a:xfrm>
          <a:prstGeom prst="straightConnector1">
            <a:avLst/>
          </a:prstGeom>
          <a:noFill/>
          <a:ln w="12700">
            <a:solidFill>
              <a:schemeClr val="tx1"/>
            </a:solidFill>
            <a:round/>
            <a:headEnd/>
            <a:tailEnd/>
          </a:ln>
        </p:spPr>
      </p:cxnSp>
      <p:cxnSp>
        <p:nvCxnSpPr>
          <p:cNvPr id="75" name="AutoShape 21"/>
          <p:cNvCxnSpPr>
            <a:cxnSpLocks noChangeShapeType="1"/>
            <a:stCxn id="14374" idx="0"/>
          </p:cNvCxnSpPr>
          <p:nvPr/>
        </p:nvCxnSpPr>
        <p:spPr bwMode="auto">
          <a:xfrm rot="16200000" flipH="1">
            <a:off x="2926292" y="3739091"/>
            <a:ext cx="196850" cy="249767"/>
          </a:xfrm>
          <a:prstGeom prst="straightConnector1">
            <a:avLst/>
          </a:prstGeom>
          <a:noFill/>
          <a:ln w="12700">
            <a:solidFill>
              <a:schemeClr val="tx1"/>
            </a:solidFill>
            <a:round/>
            <a:headEnd/>
            <a:tailEnd/>
          </a:ln>
        </p:spPr>
      </p:cxnSp>
      <p:grpSp>
        <p:nvGrpSpPr>
          <p:cNvPr id="7" name="Group 59"/>
          <p:cNvGrpSpPr>
            <a:grpSpLocks/>
          </p:cNvGrpSpPr>
          <p:nvPr/>
        </p:nvGrpSpPr>
        <p:grpSpPr bwMode="auto">
          <a:xfrm>
            <a:off x="5693833" y="2514603"/>
            <a:ext cx="508000" cy="1235075"/>
            <a:chOff x="4270375" y="2514600"/>
            <a:chExt cx="381000" cy="1235075"/>
          </a:xfrm>
        </p:grpSpPr>
        <p:sp>
          <p:nvSpPr>
            <p:cNvPr id="14372" name="AutoShape 20"/>
            <p:cNvSpPr>
              <a:spLocks noChangeArrowheads="1"/>
            </p:cNvSpPr>
            <p:nvPr/>
          </p:nvSpPr>
          <p:spPr bwMode="auto">
            <a:xfrm flipV="1">
              <a:off x="4270375" y="3444875"/>
              <a:ext cx="381000" cy="304800"/>
            </a:xfrm>
            <a:prstGeom prst="triangle">
              <a:avLst>
                <a:gd name="adj" fmla="val 50000"/>
              </a:avLst>
            </a:prstGeom>
            <a:solidFill>
              <a:srgbClr val="CCCCCC"/>
            </a:solidFill>
            <a:ln w="12700">
              <a:solidFill>
                <a:schemeClr val="tx1"/>
              </a:solidFill>
              <a:miter lim="800000"/>
              <a:headEnd/>
              <a:tailEnd/>
            </a:ln>
          </p:spPr>
          <p:txBody>
            <a:bodyPr wrap="none" anchor="ctr"/>
            <a:lstStyle/>
            <a:p>
              <a:endParaRPr lang="en-US"/>
            </a:p>
          </p:txBody>
        </p:sp>
        <p:cxnSp>
          <p:nvCxnSpPr>
            <p:cNvPr id="14373" name="AutoShape 21"/>
            <p:cNvCxnSpPr>
              <a:cxnSpLocks noChangeShapeType="1"/>
              <a:stCxn id="14339" idx="3"/>
              <a:endCxn id="14372" idx="3"/>
            </p:cNvCxnSpPr>
            <p:nvPr/>
          </p:nvCxnSpPr>
          <p:spPr bwMode="auto">
            <a:xfrm flipH="1">
              <a:off x="4459288" y="2514600"/>
              <a:ext cx="1588" cy="930275"/>
            </a:xfrm>
            <a:prstGeom prst="straightConnector1">
              <a:avLst/>
            </a:prstGeom>
            <a:noFill/>
            <a:ln w="12700">
              <a:solidFill>
                <a:schemeClr val="tx1"/>
              </a:solidFill>
              <a:round/>
              <a:headEnd/>
              <a:tailEnd type="triangle" w="med" len="med"/>
            </a:ln>
          </p:spPr>
        </p:cxnSp>
      </p:grpSp>
      <p:grpSp>
        <p:nvGrpSpPr>
          <p:cNvPr id="8" name="Group 58"/>
          <p:cNvGrpSpPr>
            <a:grpSpLocks/>
          </p:cNvGrpSpPr>
          <p:nvPr/>
        </p:nvGrpSpPr>
        <p:grpSpPr bwMode="auto">
          <a:xfrm>
            <a:off x="4673600" y="3762375"/>
            <a:ext cx="1524000" cy="1190625"/>
            <a:chOff x="3505200" y="3762375"/>
            <a:chExt cx="1142999" cy="1190625"/>
          </a:xfrm>
        </p:grpSpPr>
        <p:cxnSp>
          <p:nvCxnSpPr>
            <p:cNvPr id="14368" name="AutoShape 23"/>
            <p:cNvCxnSpPr>
              <a:cxnSpLocks noChangeShapeType="1"/>
            </p:cNvCxnSpPr>
            <p:nvPr/>
          </p:nvCxnSpPr>
          <p:spPr bwMode="auto">
            <a:xfrm flipH="1">
              <a:off x="3698875" y="3765550"/>
              <a:ext cx="760413" cy="822325"/>
            </a:xfrm>
            <a:prstGeom prst="straightConnector1">
              <a:avLst/>
            </a:prstGeom>
            <a:noFill/>
            <a:ln w="12700">
              <a:solidFill>
                <a:schemeClr val="tx1"/>
              </a:solidFill>
              <a:round/>
              <a:headEnd/>
              <a:tailEnd type="triangle" w="med" len="med"/>
            </a:ln>
          </p:spPr>
        </p:cxnSp>
        <p:sp>
          <p:nvSpPr>
            <p:cNvPr id="14369" name="Rectangle 7"/>
            <p:cNvSpPr>
              <a:spLocks noChangeArrowheads="1"/>
            </p:cNvSpPr>
            <p:nvPr/>
          </p:nvSpPr>
          <p:spPr bwMode="auto">
            <a:xfrm>
              <a:off x="3505200" y="4648200"/>
              <a:ext cx="381000" cy="304800"/>
            </a:xfrm>
            <a:prstGeom prst="rect">
              <a:avLst/>
            </a:prstGeom>
            <a:solidFill>
              <a:srgbClr val="CCCCCC"/>
            </a:solidFill>
            <a:ln w="9525">
              <a:solidFill>
                <a:schemeClr val="tx1"/>
              </a:solidFill>
              <a:miter lim="800000"/>
              <a:headEnd/>
              <a:tailEnd/>
            </a:ln>
          </p:spPr>
          <p:txBody>
            <a:bodyPr wrap="none" anchor="ctr"/>
            <a:lstStyle/>
            <a:p>
              <a:pPr algn="ctr"/>
              <a:r>
                <a:rPr lang="en-US"/>
                <a:t>2</a:t>
              </a:r>
            </a:p>
          </p:txBody>
        </p:sp>
        <p:cxnSp>
          <p:nvCxnSpPr>
            <p:cNvPr id="14370" name="AutoShape 21"/>
            <p:cNvCxnSpPr>
              <a:cxnSpLocks noChangeShapeType="1"/>
            </p:cNvCxnSpPr>
            <p:nvPr/>
          </p:nvCxnSpPr>
          <p:spPr bwMode="auto">
            <a:xfrm rot="5400000">
              <a:off x="4306094" y="3913981"/>
              <a:ext cx="304800" cy="1588"/>
            </a:xfrm>
            <a:prstGeom prst="straightConnector1">
              <a:avLst/>
            </a:prstGeom>
            <a:noFill/>
            <a:ln w="12700">
              <a:solidFill>
                <a:schemeClr val="tx1"/>
              </a:solidFill>
              <a:round/>
              <a:headEnd/>
              <a:tailEnd/>
            </a:ln>
          </p:spPr>
        </p:cxnSp>
        <p:cxnSp>
          <p:nvCxnSpPr>
            <p:cNvPr id="14371" name="AutoShape 21"/>
            <p:cNvCxnSpPr>
              <a:cxnSpLocks noChangeShapeType="1"/>
            </p:cNvCxnSpPr>
            <p:nvPr/>
          </p:nvCxnSpPr>
          <p:spPr bwMode="auto">
            <a:xfrm rot="16200000" flipH="1">
              <a:off x="4456112" y="3770312"/>
              <a:ext cx="196850" cy="187325"/>
            </a:xfrm>
            <a:prstGeom prst="straightConnector1">
              <a:avLst/>
            </a:prstGeom>
            <a:noFill/>
            <a:ln w="12700">
              <a:solidFill>
                <a:schemeClr val="tx1"/>
              </a:solidFill>
              <a:round/>
              <a:headEnd/>
              <a:tailEnd/>
            </a:ln>
          </p:spPr>
        </p:cxnSp>
      </p:grpSp>
      <p:grpSp>
        <p:nvGrpSpPr>
          <p:cNvPr id="9" name="Group 61"/>
          <p:cNvGrpSpPr>
            <a:grpSpLocks/>
          </p:cNvGrpSpPr>
          <p:nvPr/>
        </p:nvGrpSpPr>
        <p:grpSpPr bwMode="auto">
          <a:xfrm>
            <a:off x="5947833" y="2514600"/>
            <a:ext cx="3301998" cy="1250950"/>
            <a:chOff x="4460876" y="2514600"/>
            <a:chExt cx="2476499" cy="1250950"/>
          </a:xfrm>
        </p:grpSpPr>
        <p:sp>
          <p:nvSpPr>
            <p:cNvPr id="14366" name="AutoShape 26"/>
            <p:cNvSpPr>
              <a:spLocks noChangeArrowheads="1"/>
            </p:cNvSpPr>
            <p:nvPr/>
          </p:nvSpPr>
          <p:spPr bwMode="auto">
            <a:xfrm flipV="1">
              <a:off x="6556375" y="3460750"/>
              <a:ext cx="381000" cy="304800"/>
            </a:xfrm>
            <a:prstGeom prst="triangle">
              <a:avLst>
                <a:gd name="adj" fmla="val 50000"/>
              </a:avLst>
            </a:prstGeom>
            <a:solidFill>
              <a:srgbClr val="CCCCCC"/>
            </a:solidFill>
            <a:ln w="12700">
              <a:solidFill>
                <a:schemeClr val="tx1"/>
              </a:solidFill>
              <a:miter lim="800000"/>
              <a:headEnd/>
              <a:tailEnd/>
            </a:ln>
          </p:spPr>
          <p:txBody>
            <a:bodyPr wrap="none" anchor="ctr"/>
            <a:lstStyle/>
            <a:p>
              <a:endParaRPr lang="en-US"/>
            </a:p>
          </p:txBody>
        </p:sp>
        <p:cxnSp>
          <p:nvCxnSpPr>
            <p:cNvPr id="14367" name="AutoShape 27"/>
            <p:cNvCxnSpPr>
              <a:cxnSpLocks noChangeShapeType="1"/>
              <a:stCxn id="14339" idx="3"/>
              <a:endCxn id="14366" idx="3"/>
            </p:cNvCxnSpPr>
            <p:nvPr/>
          </p:nvCxnSpPr>
          <p:spPr bwMode="auto">
            <a:xfrm>
              <a:off x="4460875" y="2514600"/>
              <a:ext cx="2284413" cy="946150"/>
            </a:xfrm>
            <a:prstGeom prst="straightConnector1">
              <a:avLst/>
            </a:prstGeom>
            <a:noFill/>
            <a:ln w="12700">
              <a:solidFill>
                <a:schemeClr val="tx1"/>
              </a:solidFill>
              <a:round/>
              <a:headEnd/>
              <a:tailEnd type="triangle" w="med" len="med"/>
            </a:ln>
          </p:spPr>
        </p:cxnSp>
      </p:grpSp>
      <p:grpSp>
        <p:nvGrpSpPr>
          <p:cNvPr id="10" name="Group 60"/>
          <p:cNvGrpSpPr>
            <a:grpSpLocks/>
          </p:cNvGrpSpPr>
          <p:nvPr/>
        </p:nvGrpSpPr>
        <p:grpSpPr bwMode="auto">
          <a:xfrm>
            <a:off x="7721600" y="3762375"/>
            <a:ext cx="1524000" cy="1190625"/>
            <a:chOff x="5791200" y="3762375"/>
            <a:chExt cx="1142999" cy="1190625"/>
          </a:xfrm>
        </p:grpSpPr>
        <p:cxnSp>
          <p:nvCxnSpPr>
            <p:cNvPr id="14362" name="AutoShape 29"/>
            <p:cNvCxnSpPr>
              <a:cxnSpLocks noChangeShapeType="1"/>
            </p:cNvCxnSpPr>
            <p:nvPr/>
          </p:nvCxnSpPr>
          <p:spPr bwMode="auto">
            <a:xfrm flipH="1">
              <a:off x="5984875" y="3765550"/>
              <a:ext cx="760413" cy="822325"/>
            </a:xfrm>
            <a:prstGeom prst="straightConnector1">
              <a:avLst/>
            </a:prstGeom>
            <a:noFill/>
            <a:ln w="12700">
              <a:solidFill>
                <a:schemeClr val="tx1"/>
              </a:solidFill>
              <a:round/>
              <a:headEnd/>
              <a:tailEnd type="triangle" w="med" len="med"/>
            </a:ln>
          </p:spPr>
        </p:cxnSp>
        <p:sp>
          <p:nvSpPr>
            <p:cNvPr id="14363" name="Rectangle 7"/>
            <p:cNvSpPr>
              <a:spLocks noChangeArrowheads="1"/>
            </p:cNvSpPr>
            <p:nvPr/>
          </p:nvSpPr>
          <p:spPr bwMode="auto">
            <a:xfrm>
              <a:off x="5791200" y="4648200"/>
              <a:ext cx="381000" cy="304800"/>
            </a:xfrm>
            <a:prstGeom prst="rect">
              <a:avLst/>
            </a:prstGeom>
            <a:solidFill>
              <a:srgbClr val="CCCCCC"/>
            </a:solidFill>
            <a:ln w="9525">
              <a:solidFill>
                <a:schemeClr val="tx1"/>
              </a:solidFill>
              <a:miter lim="800000"/>
              <a:headEnd/>
              <a:tailEnd/>
            </a:ln>
          </p:spPr>
          <p:txBody>
            <a:bodyPr wrap="none" anchor="ctr"/>
            <a:lstStyle/>
            <a:p>
              <a:pPr algn="ctr"/>
              <a:r>
                <a:rPr lang="en-US"/>
                <a:t>14</a:t>
              </a:r>
            </a:p>
          </p:txBody>
        </p:sp>
        <p:cxnSp>
          <p:nvCxnSpPr>
            <p:cNvPr id="14364" name="AutoShape 21"/>
            <p:cNvCxnSpPr>
              <a:cxnSpLocks noChangeShapeType="1"/>
            </p:cNvCxnSpPr>
            <p:nvPr/>
          </p:nvCxnSpPr>
          <p:spPr bwMode="auto">
            <a:xfrm rot="5400000">
              <a:off x="6592094" y="3913981"/>
              <a:ext cx="304800" cy="1588"/>
            </a:xfrm>
            <a:prstGeom prst="straightConnector1">
              <a:avLst/>
            </a:prstGeom>
            <a:noFill/>
            <a:ln w="12700">
              <a:solidFill>
                <a:schemeClr val="tx1"/>
              </a:solidFill>
              <a:round/>
              <a:headEnd/>
              <a:tailEnd/>
            </a:ln>
          </p:spPr>
        </p:cxnSp>
        <p:cxnSp>
          <p:nvCxnSpPr>
            <p:cNvPr id="14365" name="AutoShape 21"/>
            <p:cNvCxnSpPr>
              <a:cxnSpLocks noChangeShapeType="1"/>
            </p:cNvCxnSpPr>
            <p:nvPr/>
          </p:nvCxnSpPr>
          <p:spPr bwMode="auto">
            <a:xfrm rot="16200000" flipH="1">
              <a:off x="6742112" y="3770312"/>
              <a:ext cx="196850" cy="187325"/>
            </a:xfrm>
            <a:prstGeom prst="straightConnector1">
              <a:avLst/>
            </a:prstGeom>
            <a:noFill/>
            <a:ln w="12700">
              <a:solidFill>
                <a:schemeClr val="tx1"/>
              </a:solidFill>
              <a:round/>
              <a:headEnd/>
              <a:tailEnd/>
            </a:ln>
          </p:spPr>
        </p:cxnSp>
      </p:grpSp>
      <p:grpSp>
        <p:nvGrpSpPr>
          <p:cNvPr id="11" name="Group 64"/>
          <p:cNvGrpSpPr>
            <a:grpSpLocks/>
          </p:cNvGrpSpPr>
          <p:nvPr/>
        </p:nvGrpSpPr>
        <p:grpSpPr bwMode="auto">
          <a:xfrm>
            <a:off x="5689600" y="3765550"/>
            <a:ext cx="508000" cy="1187450"/>
            <a:chOff x="6553200" y="3765550"/>
            <a:chExt cx="381000" cy="1187450"/>
          </a:xfrm>
        </p:grpSpPr>
        <p:cxnSp>
          <p:nvCxnSpPr>
            <p:cNvPr id="14360" name="AutoShape 33"/>
            <p:cNvCxnSpPr>
              <a:cxnSpLocks noChangeShapeType="1"/>
            </p:cNvCxnSpPr>
            <p:nvPr/>
          </p:nvCxnSpPr>
          <p:spPr bwMode="auto">
            <a:xfrm>
              <a:off x="6745288" y="3765550"/>
              <a:ext cx="1588" cy="806450"/>
            </a:xfrm>
            <a:prstGeom prst="straightConnector1">
              <a:avLst/>
            </a:prstGeom>
            <a:noFill/>
            <a:ln w="12700">
              <a:solidFill>
                <a:schemeClr val="tx1"/>
              </a:solidFill>
              <a:round/>
              <a:headEnd/>
              <a:tailEnd type="triangle" w="med" len="med"/>
            </a:ln>
          </p:spPr>
        </p:cxnSp>
        <p:sp>
          <p:nvSpPr>
            <p:cNvPr id="14361" name="Rectangle 7"/>
            <p:cNvSpPr>
              <a:spLocks noChangeArrowheads="1"/>
            </p:cNvSpPr>
            <p:nvPr/>
          </p:nvSpPr>
          <p:spPr bwMode="auto">
            <a:xfrm>
              <a:off x="6553200" y="4648200"/>
              <a:ext cx="381000" cy="304800"/>
            </a:xfrm>
            <a:prstGeom prst="rect">
              <a:avLst/>
            </a:prstGeom>
            <a:solidFill>
              <a:srgbClr val="CCCCCC"/>
            </a:solidFill>
            <a:ln w="9525">
              <a:solidFill>
                <a:schemeClr val="tx1"/>
              </a:solidFill>
              <a:miter lim="800000"/>
              <a:headEnd/>
              <a:tailEnd/>
            </a:ln>
          </p:spPr>
          <p:txBody>
            <a:bodyPr wrap="none" anchor="ctr"/>
            <a:lstStyle/>
            <a:p>
              <a:pPr algn="ctr"/>
              <a:r>
                <a:rPr lang="en-US"/>
                <a:t>4</a:t>
              </a:r>
            </a:p>
          </p:txBody>
        </p:sp>
      </p:grpSp>
      <p:grpSp>
        <p:nvGrpSpPr>
          <p:cNvPr id="12" name="Group 65"/>
          <p:cNvGrpSpPr>
            <a:grpSpLocks/>
          </p:cNvGrpSpPr>
          <p:nvPr/>
        </p:nvGrpSpPr>
        <p:grpSpPr bwMode="auto">
          <a:xfrm>
            <a:off x="5945717" y="3765550"/>
            <a:ext cx="1267883" cy="1187450"/>
            <a:chOff x="6745288" y="3765550"/>
            <a:chExt cx="950912" cy="1187450"/>
          </a:xfrm>
        </p:grpSpPr>
        <p:cxnSp>
          <p:nvCxnSpPr>
            <p:cNvPr id="14358" name="AutoShape 37"/>
            <p:cNvCxnSpPr>
              <a:cxnSpLocks noChangeShapeType="1"/>
            </p:cNvCxnSpPr>
            <p:nvPr/>
          </p:nvCxnSpPr>
          <p:spPr bwMode="auto">
            <a:xfrm>
              <a:off x="6745288" y="3765550"/>
              <a:ext cx="763587" cy="822325"/>
            </a:xfrm>
            <a:prstGeom prst="straightConnector1">
              <a:avLst/>
            </a:prstGeom>
            <a:noFill/>
            <a:ln w="12700">
              <a:solidFill>
                <a:schemeClr val="tx1"/>
              </a:solidFill>
              <a:round/>
              <a:headEnd/>
              <a:tailEnd type="triangle" w="med" len="med"/>
            </a:ln>
          </p:spPr>
        </p:cxnSp>
        <p:sp>
          <p:nvSpPr>
            <p:cNvPr id="14359" name="Rectangle 7"/>
            <p:cNvSpPr>
              <a:spLocks noChangeArrowheads="1"/>
            </p:cNvSpPr>
            <p:nvPr/>
          </p:nvSpPr>
          <p:spPr bwMode="auto">
            <a:xfrm>
              <a:off x="7315200" y="4648200"/>
              <a:ext cx="381000" cy="304800"/>
            </a:xfrm>
            <a:prstGeom prst="rect">
              <a:avLst/>
            </a:prstGeom>
            <a:solidFill>
              <a:srgbClr val="CCCCCC"/>
            </a:solidFill>
            <a:ln w="9525">
              <a:solidFill>
                <a:schemeClr val="tx1"/>
              </a:solidFill>
              <a:miter lim="800000"/>
              <a:headEnd/>
              <a:tailEnd/>
            </a:ln>
          </p:spPr>
          <p:txBody>
            <a:bodyPr wrap="none" anchor="ctr"/>
            <a:lstStyle/>
            <a:p>
              <a:pPr algn="ctr"/>
              <a:r>
                <a:rPr lang="en-US"/>
                <a:t>6</a:t>
              </a:r>
            </a:p>
          </p:txBody>
        </p:sp>
      </p:gr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510025" y="1470461"/>
            <a:ext cx="4918972" cy="4549339"/>
          </a:xfrm>
          <a:prstGeom prst="rect">
            <a:avLst/>
          </a:prstGeom>
          <a:noFill/>
          <a:extLst>
            <a:ext uri="{909E8E84-426E-40dd-AFC4-6F175D3DCCD1}">
              <a14:hiddenFill xmlns=""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vi-VN" noProof="1"/>
              <a:t>Tính chất của Minimax</a:t>
            </a:r>
          </a:p>
        </p:txBody>
      </p:sp>
      <p:sp>
        <p:nvSpPr>
          <p:cNvPr id="3" name="Content Placeholder 2"/>
          <p:cNvSpPr>
            <a:spLocks noGrp="1"/>
          </p:cNvSpPr>
          <p:nvPr>
            <p:ph idx="1"/>
          </p:nvPr>
        </p:nvSpPr>
        <p:spPr>
          <a:xfrm>
            <a:off x="406400" y="1519236"/>
            <a:ext cx="5918200" cy="4729164"/>
          </a:xfrm>
        </p:spPr>
        <p:txBody>
          <a:bodyPr/>
          <a:lstStyle/>
          <a:p>
            <a:pPr lvl="0">
              <a:lnSpc>
                <a:spcPct val="90000"/>
              </a:lnSpc>
              <a:buClr>
                <a:srgbClr val="333399"/>
              </a:buClr>
            </a:pPr>
            <a:r>
              <a:rPr lang="vi-VN" sz="2800" noProof="1">
                <a:solidFill>
                  <a:srgbClr val="333399"/>
                </a:solidFill>
              </a:rPr>
              <a:t>Độ phức tạp</a:t>
            </a:r>
          </a:p>
          <a:p>
            <a:pPr lvl="1">
              <a:lnSpc>
                <a:spcPct val="90000"/>
              </a:lnSpc>
              <a:buClr>
                <a:srgbClr val="333399"/>
              </a:buClr>
            </a:pPr>
            <a:r>
              <a:rPr lang="vi-VN" sz="2400" noProof="1"/>
              <a:t>Giống DFS</a:t>
            </a:r>
          </a:p>
          <a:p>
            <a:pPr lvl="1">
              <a:lnSpc>
                <a:spcPct val="90000"/>
              </a:lnSpc>
              <a:buClr>
                <a:srgbClr val="000000"/>
              </a:buClr>
            </a:pPr>
            <a:r>
              <a:rPr lang="vi-VN" sz="2400" noProof="1">
                <a:solidFill>
                  <a:srgbClr val="000000"/>
                </a:solidFill>
                <a:ea typeface="+mn-ea"/>
                <a:cs typeface="+mn-cs"/>
              </a:rPr>
              <a:t>Thời gian: O(b</a:t>
            </a:r>
            <a:r>
              <a:rPr lang="vi-VN" sz="2400" baseline="30000" noProof="1">
                <a:solidFill>
                  <a:srgbClr val="000000"/>
                </a:solidFill>
                <a:ea typeface="+mn-ea"/>
                <a:cs typeface="+mn-cs"/>
              </a:rPr>
              <a:t>m</a:t>
            </a:r>
            <a:r>
              <a:rPr lang="vi-VN" sz="2400" noProof="1">
                <a:solidFill>
                  <a:srgbClr val="000000"/>
                </a:solidFill>
                <a:ea typeface="+mn-ea"/>
                <a:cs typeface="+mn-cs"/>
              </a:rPr>
              <a:t>)</a:t>
            </a:r>
          </a:p>
          <a:p>
            <a:pPr lvl="1">
              <a:lnSpc>
                <a:spcPct val="90000"/>
              </a:lnSpc>
              <a:buClr>
                <a:srgbClr val="000000"/>
              </a:buClr>
            </a:pPr>
            <a:r>
              <a:rPr lang="vi-VN" sz="2400" noProof="1">
                <a:solidFill>
                  <a:srgbClr val="000000"/>
                </a:solidFill>
                <a:ea typeface="+mn-ea"/>
                <a:cs typeface="+mn-cs"/>
              </a:rPr>
              <a:t>Không gian: O(bm)</a:t>
            </a:r>
          </a:p>
          <a:p>
            <a:pPr lvl="0">
              <a:lnSpc>
                <a:spcPct val="90000"/>
              </a:lnSpc>
              <a:buClr>
                <a:srgbClr val="333399"/>
              </a:buClr>
            </a:pPr>
            <a:endParaRPr lang="vi-VN" sz="2800" noProof="1">
              <a:solidFill>
                <a:srgbClr val="333399"/>
              </a:solidFill>
            </a:endParaRPr>
          </a:p>
          <a:p>
            <a:pPr lvl="0">
              <a:lnSpc>
                <a:spcPct val="90000"/>
              </a:lnSpc>
              <a:buClr>
                <a:srgbClr val="333399"/>
              </a:buClr>
            </a:pPr>
            <a:r>
              <a:rPr lang="vi-VN" sz="2800" noProof="1">
                <a:solidFill>
                  <a:srgbClr val="333399"/>
                </a:solidFill>
              </a:rPr>
              <a:t>Ví dụ: Cờ vua</a:t>
            </a:r>
            <a:r>
              <a:rPr lang="vi-VN" sz="2800" kern="1200" noProof="1">
                <a:solidFill>
                  <a:srgbClr val="333399"/>
                </a:solidFill>
              </a:rPr>
              <a:t>, b </a:t>
            </a:r>
            <a:r>
              <a:rPr lang="vi-VN" sz="2800" kern="1200" noProof="1">
                <a:solidFill>
                  <a:srgbClr val="333399"/>
                </a:solidFill>
                <a:sym typeface="Symbol" pitchFamily="18" charset="2"/>
              </a:rPr>
              <a:t> 35, m  100</a:t>
            </a:r>
            <a:endParaRPr lang="vi-VN" sz="2800" noProof="1">
              <a:solidFill>
                <a:srgbClr val="333399"/>
              </a:solidFill>
            </a:endParaRPr>
          </a:p>
          <a:p>
            <a:pPr marL="800082" lvl="1" indent="-342882">
              <a:lnSpc>
                <a:spcPct val="90000"/>
              </a:lnSpc>
              <a:buClrTx/>
            </a:pPr>
            <a:r>
              <a:rPr lang="vi-VN" sz="2400" noProof="1">
                <a:solidFill>
                  <a:srgbClr val="000000"/>
                </a:solidFill>
                <a:ea typeface="+mn-ea"/>
                <a:cs typeface="+mn-cs"/>
              </a:rPr>
              <a:t>Tính giải pháp chính xác = không khả thi</a:t>
            </a:r>
          </a:p>
          <a:p>
            <a:pPr marL="800082" lvl="1" indent="-342882">
              <a:lnSpc>
                <a:spcPct val="90000"/>
              </a:lnSpc>
              <a:buClrTx/>
            </a:pPr>
            <a:r>
              <a:rPr lang="vi-VN" sz="2400" noProof="1">
                <a:solidFill>
                  <a:srgbClr val="000000"/>
                </a:solidFill>
                <a:ea typeface="+mn-ea"/>
                <a:cs typeface="+mn-cs"/>
              </a:rPr>
              <a:t>Câu hỏi: Có cần mở rộng toàn bộ cây tìm kiếm ???</a:t>
            </a:r>
          </a:p>
          <a:p>
            <a:endParaRPr lang="vi-VN" sz="4000" noProof="1"/>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9"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290948" y="1382713"/>
            <a:ext cx="7656142" cy="4694237"/>
          </a:xfrm>
          <a:prstGeom prst="rect">
            <a:avLst/>
          </a:prstGeom>
          <a:noFill/>
          <a:extLst>
            <a:ext uri="{909E8E84-426E-40dd-AFC4-6F175D3DCCD1}">
              <a14:hiddenFill xmlns=""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vi-VN" noProof="1"/>
              <a:t>Giới hạn nguồn lực</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9"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819400" y="1448322"/>
            <a:ext cx="6723063" cy="4418556"/>
          </a:xfrm>
          <a:prstGeom prst="rect">
            <a:avLst/>
          </a:prstGeom>
          <a:noFill/>
          <a:extLst>
            <a:ext uri="{909E8E84-426E-40dd-AFC4-6F175D3DCCD1}">
              <a14:hiddenFill xmlns=""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vi-VN" noProof="1"/>
              <a:t>Cắt nhánh cây tìm kiếm</a:t>
            </a:r>
          </a:p>
        </p:txBody>
      </p:sp>
    </p:spTree>
    <p:extLst>
      <p:ext uri="{BB962C8B-B14F-4D97-AF65-F5344CB8AC3E}">
        <p14:creationId xmlns:p14="http://schemas.microsoft.com/office/powerpoint/2010/main" val="8929667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dirty="0" err="1">
                <a:sym typeface="Symbol" pitchFamily="18" charset="2"/>
              </a:rPr>
              <a:t>Ví</a:t>
            </a:r>
            <a:r>
              <a:rPr lang="en-US" dirty="0">
                <a:sym typeface="Symbol" pitchFamily="18" charset="2"/>
              </a:rPr>
              <a:t> </a:t>
            </a:r>
            <a:r>
              <a:rPr lang="en-US" dirty="0" err="1">
                <a:sym typeface="Symbol" pitchFamily="18" charset="2"/>
              </a:rPr>
              <a:t>dụ</a:t>
            </a:r>
            <a:r>
              <a:rPr lang="en-US" dirty="0">
                <a:sym typeface="Symbol" pitchFamily="18" charset="2"/>
              </a:rPr>
              <a:t>: Minimax</a:t>
            </a:r>
          </a:p>
        </p:txBody>
      </p:sp>
      <p:sp>
        <p:nvSpPr>
          <p:cNvPr id="14339" name="AutoShape 4"/>
          <p:cNvSpPr>
            <a:spLocks noChangeArrowheads="1"/>
          </p:cNvSpPr>
          <p:nvPr/>
        </p:nvSpPr>
        <p:spPr bwMode="auto">
          <a:xfrm>
            <a:off x="5693833" y="2209800"/>
            <a:ext cx="508000" cy="304800"/>
          </a:xfrm>
          <a:prstGeom prst="triangle">
            <a:avLst>
              <a:gd name="adj" fmla="val 50000"/>
            </a:avLst>
          </a:prstGeom>
          <a:solidFill>
            <a:srgbClr val="0000FF"/>
          </a:solidFill>
          <a:ln w="12700">
            <a:solidFill>
              <a:schemeClr val="tx1"/>
            </a:solidFill>
            <a:miter lim="800000"/>
            <a:headEnd/>
            <a:tailEnd/>
          </a:ln>
        </p:spPr>
        <p:txBody>
          <a:bodyPr wrap="none" anchor="ctr"/>
          <a:lstStyle/>
          <a:p>
            <a:endParaRPr lang="en-US"/>
          </a:p>
        </p:txBody>
      </p:sp>
      <p:grpSp>
        <p:nvGrpSpPr>
          <p:cNvPr id="2" name="Group 60"/>
          <p:cNvGrpSpPr>
            <a:grpSpLocks/>
          </p:cNvGrpSpPr>
          <p:nvPr/>
        </p:nvGrpSpPr>
        <p:grpSpPr bwMode="auto">
          <a:xfrm>
            <a:off x="2641600" y="3765550"/>
            <a:ext cx="508000" cy="1187450"/>
            <a:chOff x="1981200" y="3765550"/>
            <a:chExt cx="381000" cy="1187450"/>
          </a:xfrm>
          <a:solidFill>
            <a:srgbClr val="C198E0"/>
          </a:solidFill>
        </p:grpSpPr>
        <p:cxnSp>
          <p:nvCxnSpPr>
            <p:cNvPr id="14382" name="AutoShape 13"/>
            <p:cNvCxnSpPr>
              <a:cxnSpLocks noChangeShapeType="1"/>
              <a:stCxn id="14374" idx="0"/>
            </p:cNvCxnSpPr>
            <p:nvPr/>
          </p:nvCxnSpPr>
          <p:spPr bwMode="auto">
            <a:xfrm>
              <a:off x="2173288" y="3765550"/>
              <a:ext cx="1588" cy="806450"/>
            </a:xfrm>
            <a:prstGeom prst="straightConnector1">
              <a:avLst/>
            </a:prstGeom>
            <a:grpFill/>
            <a:ln w="12700">
              <a:solidFill>
                <a:schemeClr val="tx1"/>
              </a:solidFill>
              <a:round/>
              <a:headEnd/>
              <a:tailEnd type="triangle" w="med" len="med"/>
            </a:ln>
          </p:spPr>
        </p:cxnSp>
        <p:sp>
          <p:nvSpPr>
            <p:cNvPr id="14383" name="Rectangle 7"/>
            <p:cNvSpPr>
              <a:spLocks noChangeArrowheads="1"/>
            </p:cNvSpPr>
            <p:nvPr/>
          </p:nvSpPr>
          <p:spPr bwMode="auto">
            <a:xfrm>
              <a:off x="1981200" y="4648200"/>
              <a:ext cx="381000" cy="304800"/>
            </a:xfrm>
            <a:prstGeom prst="rect">
              <a:avLst/>
            </a:prstGeom>
            <a:grpFill/>
            <a:ln w="9525">
              <a:solidFill>
                <a:schemeClr val="tx1"/>
              </a:solidFill>
              <a:miter lim="800000"/>
              <a:headEnd/>
              <a:tailEnd/>
            </a:ln>
          </p:spPr>
          <p:txBody>
            <a:bodyPr wrap="none" anchor="ctr"/>
            <a:lstStyle/>
            <a:p>
              <a:pPr algn="ctr"/>
              <a:r>
                <a:rPr lang="en-US" dirty="0"/>
                <a:t>12</a:t>
              </a:r>
            </a:p>
          </p:txBody>
        </p:sp>
      </p:grpSp>
      <p:grpSp>
        <p:nvGrpSpPr>
          <p:cNvPr id="3" name="Group 61"/>
          <p:cNvGrpSpPr>
            <a:grpSpLocks/>
          </p:cNvGrpSpPr>
          <p:nvPr/>
        </p:nvGrpSpPr>
        <p:grpSpPr bwMode="auto">
          <a:xfrm>
            <a:off x="2897717" y="3765550"/>
            <a:ext cx="1267883" cy="1187450"/>
            <a:chOff x="2173288" y="3765550"/>
            <a:chExt cx="950912" cy="1187450"/>
          </a:xfrm>
          <a:solidFill>
            <a:srgbClr val="C198E0"/>
          </a:solidFill>
        </p:grpSpPr>
        <p:cxnSp>
          <p:nvCxnSpPr>
            <p:cNvPr id="14380" name="AutoShape 17"/>
            <p:cNvCxnSpPr>
              <a:cxnSpLocks noChangeShapeType="1"/>
              <a:stCxn id="14374" idx="0"/>
            </p:cNvCxnSpPr>
            <p:nvPr/>
          </p:nvCxnSpPr>
          <p:spPr bwMode="auto">
            <a:xfrm>
              <a:off x="2173288" y="3765550"/>
              <a:ext cx="763586" cy="822325"/>
            </a:xfrm>
            <a:prstGeom prst="straightConnector1">
              <a:avLst/>
            </a:prstGeom>
            <a:grpFill/>
            <a:ln w="12700">
              <a:solidFill>
                <a:schemeClr val="tx1"/>
              </a:solidFill>
              <a:round/>
              <a:headEnd/>
              <a:tailEnd type="triangle" w="med" len="med"/>
            </a:ln>
          </p:spPr>
        </p:cxnSp>
        <p:sp>
          <p:nvSpPr>
            <p:cNvPr id="14381" name="Rectangle 7"/>
            <p:cNvSpPr>
              <a:spLocks noChangeArrowheads="1"/>
            </p:cNvSpPr>
            <p:nvPr/>
          </p:nvSpPr>
          <p:spPr bwMode="auto">
            <a:xfrm>
              <a:off x="2743200" y="4648200"/>
              <a:ext cx="381000" cy="304800"/>
            </a:xfrm>
            <a:prstGeom prst="rect">
              <a:avLst/>
            </a:prstGeom>
            <a:grpFill/>
            <a:ln w="9525">
              <a:solidFill>
                <a:schemeClr val="tx1"/>
              </a:solidFill>
              <a:miter lim="800000"/>
              <a:headEnd/>
              <a:tailEnd/>
            </a:ln>
          </p:spPr>
          <p:txBody>
            <a:bodyPr wrap="none" anchor="ctr"/>
            <a:lstStyle/>
            <a:p>
              <a:pPr algn="ctr"/>
              <a:r>
                <a:rPr lang="en-US" dirty="0"/>
                <a:t>8</a:t>
              </a:r>
            </a:p>
          </p:txBody>
        </p:sp>
      </p:grpSp>
      <p:grpSp>
        <p:nvGrpSpPr>
          <p:cNvPr id="4" name="Group 64"/>
          <p:cNvGrpSpPr>
            <a:grpSpLocks/>
          </p:cNvGrpSpPr>
          <p:nvPr/>
        </p:nvGrpSpPr>
        <p:grpSpPr bwMode="auto">
          <a:xfrm>
            <a:off x="8737600" y="3765550"/>
            <a:ext cx="508000" cy="1187450"/>
            <a:chOff x="6553200" y="3765550"/>
            <a:chExt cx="381000" cy="1187450"/>
          </a:xfrm>
          <a:solidFill>
            <a:srgbClr val="C198E0"/>
          </a:solidFill>
        </p:grpSpPr>
        <p:cxnSp>
          <p:nvCxnSpPr>
            <p:cNvPr id="14378" name="AutoShape 33"/>
            <p:cNvCxnSpPr>
              <a:cxnSpLocks noChangeShapeType="1"/>
            </p:cNvCxnSpPr>
            <p:nvPr/>
          </p:nvCxnSpPr>
          <p:spPr bwMode="auto">
            <a:xfrm>
              <a:off x="6745288" y="3765550"/>
              <a:ext cx="1588" cy="806450"/>
            </a:xfrm>
            <a:prstGeom prst="straightConnector1">
              <a:avLst/>
            </a:prstGeom>
            <a:grpFill/>
            <a:ln w="12700">
              <a:solidFill>
                <a:schemeClr val="tx1"/>
              </a:solidFill>
              <a:round/>
              <a:headEnd/>
              <a:tailEnd type="triangle" w="med" len="med"/>
            </a:ln>
          </p:spPr>
        </p:cxnSp>
        <p:sp>
          <p:nvSpPr>
            <p:cNvPr id="14379" name="Rectangle 7"/>
            <p:cNvSpPr>
              <a:spLocks noChangeArrowheads="1"/>
            </p:cNvSpPr>
            <p:nvPr/>
          </p:nvSpPr>
          <p:spPr bwMode="auto">
            <a:xfrm>
              <a:off x="6553200" y="4648200"/>
              <a:ext cx="381000" cy="304800"/>
            </a:xfrm>
            <a:prstGeom prst="rect">
              <a:avLst/>
            </a:prstGeom>
            <a:grpFill/>
            <a:ln w="9525">
              <a:solidFill>
                <a:schemeClr val="tx1"/>
              </a:solidFill>
              <a:miter lim="800000"/>
              <a:headEnd/>
              <a:tailEnd/>
            </a:ln>
          </p:spPr>
          <p:txBody>
            <a:bodyPr wrap="none" anchor="ctr"/>
            <a:lstStyle/>
            <a:p>
              <a:pPr algn="ctr"/>
              <a:r>
                <a:rPr lang="en-US"/>
                <a:t>5</a:t>
              </a:r>
            </a:p>
          </p:txBody>
        </p:sp>
      </p:grpSp>
      <p:grpSp>
        <p:nvGrpSpPr>
          <p:cNvPr id="5" name="Group 65"/>
          <p:cNvGrpSpPr>
            <a:grpSpLocks/>
          </p:cNvGrpSpPr>
          <p:nvPr/>
        </p:nvGrpSpPr>
        <p:grpSpPr bwMode="auto">
          <a:xfrm>
            <a:off x="8993717" y="3765550"/>
            <a:ext cx="1267883" cy="1187450"/>
            <a:chOff x="6745288" y="3765550"/>
            <a:chExt cx="950912" cy="1187450"/>
          </a:xfrm>
          <a:solidFill>
            <a:srgbClr val="C198E0"/>
          </a:solidFill>
        </p:grpSpPr>
        <p:cxnSp>
          <p:nvCxnSpPr>
            <p:cNvPr id="14376" name="AutoShape 37"/>
            <p:cNvCxnSpPr>
              <a:cxnSpLocks noChangeShapeType="1"/>
            </p:cNvCxnSpPr>
            <p:nvPr/>
          </p:nvCxnSpPr>
          <p:spPr bwMode="auto">
            <a:xfrm>
              <a:off x="6745288" y="3765550"/>
              <a:ext cx="763587" cy="822325"/>
            </a:xfrm>
            <a:prstGeom prst="straightConnector1">
              <a:avLst/>
            </a:prstGeom>
            <a:grpFill/>
            <a:ln w="12700">
              <a:solidFill>
                <a:schemeClr val="tx1"/>
              </a:solidFill>
              <a:round/>
              <a:headEnd/>
              <a:tailEnd type="triangle" w="med" len="med"/>
            </a:ln>
          </p:spPr>
        </p:cxnSp>
        <p:sp>
          <p:nvSpPr>
            <p:cNvPr id="14377" name="Rectangle 7"/>
            <p:cNvSpPr>
              <a:spLocks noChangeArrowheads="1"/>
            </p:cNvSpPr>
            <p:nvPr/>
          </p:nvSpPr>
          <p:spPr bwMode="auto">
            <a:xfrm>
              <a:off x="7315200" y="4648200"/>
              <a:ext cx="381000" cy="304800"/>
            </a:xfrm>
            <a:prstGeom prst="rect">
              <a:avLst/>
            </a:prstGeom>
            <a:grpFill/>
            <a:ln w="9525">
              <a:solidFill>
                <a:schemeClr val="tx1"/>
              </a:solidFill>
              <a:miter lim="800000"/>
              <a:headEnd/>
              <a:tailEnd/>
            </a:ln>
          </p:spPr>
          <p:txBody>
            <a:bodyPr wrap="none" anchor="ctr"/>
            <a:lstStyle/>
            <a:p>
              <a:pPr algn="ctr"/>
              <a:r>
                <a:rPr lang="en-US"/>
                <a:t>2</a:t>
              </a:r>
            </a:p>
          </p:txBody>
        </p:sp>
      </p:grpSp>
      <p:grpSp>
        <p:nvGrpSpPr>
          <p:cNvPr id="13" name="Group 12"/>
          <p:cNvGrpSpPr/>
          <p:nvPr/>
        </p:nvGrpSpPr>
        <p:grpSpPr>
          <a:xfrm>
            <a:off x="2645833" y="2514600"/>
            <a:ext cx="3302000" cy="1250950"/>
            <a:chOff x="2645833" y="2514600"/>
            <a:chExt cx="3302000" cy="1250950"/>
          </a:xfrm>
        </p:grpSpPr>
        <p:sp>
          <p:nvSpPr>
            <p:cNvPr id="14374" name="AutoShape 6"/>
            <p:cNvSpPr>
              <a:spLocks noChangeArrowheads="1"/>
            </p:cNvSpPr>
            <p:nvPr/>
          </p:nvSpPr>
          <p:spPr bwMode="auto">
            <a:xfrm flipV="1">
              <a:off x="2645833" y="3460750"/>
              <a:ext cx="508000" cy="304800"/>
            </a:xfrm>
            <a:prstGeom prst="triangle">
              <a:avLst>
                <a:gd name="adj" fmla="val 50000"/>
              </a:avLst>
            </a:prstGeom>
            <a:solidFill>
              <a:srgbClr val="FF0000"/>
            </a:solidFill>
            <a:ln w="12700">
              <a:solidFill>
                <a:schemeClr val="tx1"/>
              </a:solidFill>
              <a:miter lim="800000"/>
              <a:headEnd/>
              <a:tailEnd/>
            </a:ln>
          </p:spPr>
          <p:txBody>
            <a:bodyPr wrap="none" anchor="ctr"/>
            <a:lstStyle/>
            <a:p>
              <a:endParaRPr lang="en-US"/>
            </a:p>
          </p:txBody>
        </p:sp>
        <p:cxnSp>
          <p:nvCxnSpPr>
            <p:cNvPr id="14375" name="AutoShape 7"/>
            <p:cNvCxnSpPr>
              <a:cxnSpLocks noChangeShapeType="1"/>
              <a:stCxn id="14339" idx="3"/>
              <a:endCxn id="14374" idx="3"/>
            </p:cNvCxnSpPr>
            <p:nvPr/>
          </p:nvCxnSpPr>
          <p:spPr bwMode="auto">
            <a:xfrm flipH="1">
              <a:off x="2897717" y="2514600"/>
              <a:ext cx="3050116" cy="946150"/>
            </a:xfrm>
            <a:prstGeom prst="straightConnector1">
              <a:avLst/>
            </a:prstGeom>
            <a:noFill/>
            <a:ln w="12700">
              <a:solidFill>
                <a:schemeClr val="tx1"/>
              </a:solidFill>
              <a:round/>
              <a:headEnd/>
              <a:tailEnd type="triangle" w="med" len="med"/>
            </a:ln>
          </p:spPr>
        </p:cxnSp>
      </p:grpSp>
      <p:cxnSp>
        <p:nvCxnSpPr>
          <p:cNvPr id="28720" name="AutoShape 9"/>
          <p:cNvCxnSpPr>
            <a:cxnSpLocks noChangeShapeType="1"/>
            <a:stCxn id="14374" idx="0"/>
          </p:cNvCxnSpPr>
          <p:nvPr/>
        </p:nvCxnSpPr>
        <p:spPr bwMode="auto">
          <a:xfrm flipH="1">
            <a:off x="1883835" y="3765553"/>
            <a:ext cx="1013884" cy="822325"/>
          </a:xfrm>
          <a:prstGeom prst="straightConnector1">
            <a:avLst/>
          </a:prstGeom>
          <a:noFill/>
          <a:ln w="12700">
            <a:solidFill>
              <a:schemeClr val="tx1"/>
            </a:solidFill>
            <a:round/>
            <a:headEnd/>
            <a:tailEnd type="triangle" w="med" len="med"/>
          </a:ln>
        </p:spPr>
      </p:cxnSp>
      <p:sp>
        <p:nvSpPr>
          <p:cNvPr id="51" name="Rectangle 7"/>
          <p:cNvSpPr>
            <a:spLocks noChangeArrowheads="1"/>
          </p:cNvSpPr>
          <p:nvPr/>
        </p:nvSpPr>
        <p:spPr bwMode="auto">
          <a:xfrm>
            <a:off x="1625600" y="4648200"/>
            <a:ext cx="508000" cy="304800"/>
          </a:xfrm>
          <a:prstGeom prst="rect">
            <a:avLst/>
          </a:prstGeom>
          <a:solidFill>
            <a:srgbClr val="C198E0"/>
          </a:solidFill>
          <a:ln w="9525">
            <a:solidFill>
              <a:schemeClr val="tx1"/>
            </a:solidFill>
            <a:miter lim="800000"/>
            <a:headEnd/>
            <a:tailEnd/>
          </a:ln>
        </p:spPr>
        <p:txBody>
          <a:bodyPr wrap="none" anchor="ctr"/>
          <a:lstStyle/>
          <a:p>
            <a:pPr algn="ctr"/>
            <a:r>
              <a:rPr lang="en-US"/>
              <a:t>3</a:t>
            </a:r>
          </a:p>
        </p:txBody>
      </p:sp>
      <p:cxnSp>
        <p:nvCxnSpPr>
          <p:cNvPr id="67" name="AutoShape 21"/>
          <p:cNvCxnSpPr>
            <a:cxnSpLocks noChangeShapeType="1"/>
          </p:cNvCxnSpPr>
          <p:nvPr/>
        </p:nvCxnSpPr>
        <p:spPr bwMode="auto">
          <a:xfrm rot="5400000">
            <a:off x="5790143" y="2665943"/>
            <a:ext cx="304800" cy="2116"/>
          </a:xfrm>
          <a:prstGeom prst="straightConnector1">
            <a:avLst/>
          </a:prstGeom>
          <a:noFill/>
          <a:ln w="12700">
            <a:solidFill>
              <a:schemeClr val="tx1"/>
            </a:solidFill>
            <a:round/>
            <a:headEnd/>
            <a:tailEnd/>
          </a:ln>
        </p:spPr>
      </p:cxnSp>
      <p:cxnSp>
        <p:nvCxnSpPr>
          <p:cNvPr id="70" name="AutoShape 21"/>
          <p:cNvCxnSpPr>
            <a:cxnSpLocks noChangeShapeType="1"/>
            <a:stCxn id="14339" idx="3"/>
          </p:cNvCxnSpPr>
          <p:nvPr/>
        </p:nvCxnSpPr>
        <p:spPr bwMode="auto">
          <a:xfrm rot="16200000" flipH="1">
            <a:off x="6212417" y="2250019"/>
            <a:ext cx="228600" cy="757767"/>
          </a:xfrm>
          <a:prstGeom prst="straightConnector1">
            <a:avLst/>
          </a:prstGeom>
          <a:noFill/>
          <a:ln w="12700">
            <a:solidFill>
              <a:schemeClr val="tx1"/>
            </a:solidFill>
            <a:round/>
            <a:headEnd/>
            <a:tailEnd/>
          </a:ln>
        </p:spPr>
      </p:cxnSp>
      <p:cxnSp>
        <p:nvCxnSpPr>
          <p:cNvPr id="74" name="AutoShape 21"/>
          <p:cNvCxnSpPr>
            <a:cxnSpLocks noChangeShapeType="1"/>
          </p:cNvCxnSpPr>
          <p:nvPr/>
        </p:nvCxnSpPr>
        <p:spPr bwMode="auto">
          <a:xfrm rot="5400000">
            <a:off x="2744259" y="3913717"/>
            <a:ext cx="304800" cy="2117"/>
          </a:xfrm>
          <a:prstGeom prst="straightConnector1">
            <a:avLst/>
          </a:prstGeom>
          <a:noFill/>
          <a:ln w="12700">
            <a:solidFill>
              <a:schemeClr val="tx1"/>
            </a:solidFill>
            <a:round/>
            <a:headEnd/>
            <a:tailEnd/>
          </a:ln>
        </p:spPr>
      </p:cxnSp>
      <p:cxnSp>
        <p:nvCxnSpPr>
          <p:cNvPr id="75" name="AutoShape 21"/>
          <p:cNvCxnSpPr>
            <a:cxnSpLocks noChangeShapeType="1"/>
            <a:stCxn id="14374" idx="0"/>
          </p:cNvCxnSpPr>
          <p:nvPr/>
        </p:nvCxnSpPr>
        <p:spPr bwMode="auto">
          <a:xfrm rot="16200000" flipH="1">
            <a:off x="2926292" y="3739091"/>
            <a:ext cx="196850" cy="249767"/>
          </a:xfrm>
          <a:prstGeom prst="straightConnector1">
            <a:avLst/>
          </a:prstGeom>
          <a:noFill/>
          <a:ln w="12700">
            <a:solidFill>
              <a:schemeClr val="tx1"/>
            </a:solidFill>
            <a:round/>
            <a:headEnd/>
            <a:tailEnd/>
          </a:ln>
        </p:spPr>
      </p:cxnSp>
      <p:grpSp>
        <p:nvGrpSpPr>
          <p:cNvPr id="14" name="Group 13"/>
          <p:cNvGrpSpPr/>
          <p:nvPr/>
        </p:nvGrpSpPr>
        <p:grpSpPr>
          <a:xfrm>
            <a:off x="5693833" y="2514603"/>
            <a:ext cx="508000" cy="1235075"/>
            <a:chOff x="5693833" y="2514603"/>
            <a:chExt cx="508000" cy="1235075"/>
          </a:xfrm>
        </p:grpSpPr>
        <p:sp>
          <p:nvSpPr>
            <p:cNvPr id="14372" name="AutoShape 20"/>
            <p:cNvSpPr>
              <a:spLocks noChangeArrowheads="1"/>
            </p:cNvSpPr>
            <p:nvPr/>
          </p:nvSpPr>
          <p:spPr bwMode="auto">
            <a:xfrm flipV="1">
              <a:off x="5693833" y="3444878"/>
              <a:ext cx="508000" cy="304800"/>
            </a:xfrm>
            <a:prstGeom prst="triangle">
              <a:avLst>
                <a:gd name="adj" fmla="val 50000"/>
              </a:avLst>
            </a:prstGeom>
            <a:solidFill>
              <a:srgbClr val="FF0000"/>
            </a:solidFill>
            <a:ln w="12700">
              <a:solidFill>
                <a:schemeClr val="tx1"/>
              </a:solidFill>
              <a:miter lim="800000"/>
              <a:headEnd/>
              <a:tailEnd/>
            </a:ln>
          </p:spPr>
          <p:txBody>
            <a:bodyPr wrap="none" anchor="ctr"/>
            <a:lstStyle/>
            <a:p>
              <a:endParaRPr lang="en-US"/>
            </a:p>
          </p:txBody>
        </p:sp>
        <p:cxnSp>
          <p:nvCxnSpPr>
            <p:cNvPr id="14373" name="AutoShape 21"/>
            <p:cNvCxnSpPr>
              <a:cxnSpLocks noChangeShapeType="1"/>
              <a:stCxn id="14339" idx="3"/>
              <a:endCxn id="14372" idx="3"/>
            </p:cNvCxnSpPr>
            <p:nvPr/>
          </p:nvCxnSpPr>
          <p:spPr bwMode="auto">
            <a:xfrm flipH="1">
              <a:off x="5945717" y="2514603"/>
              <a:ext cx="2117" cy="930275"/>
            </a:xfrm>
            <a:prstGeom prst="straightConnector1">
              <a:avLst/>
            </a:prstGeom>
            <a:noFill/>
            <a:ln w="12700">
              <a:solidFill>
                <a:schemeClr val="tx1"/>
              </a:solidFill>
              <a:round/>
              <a:headEnd/>
              <a:tailEnd type="triangle" w="med" len="med"/>
            </a:ln>
          </p:spPr>
        </p:cxnSp>
      </p:grpSp>
      <p:grpSp>
        <p:nvGrpSpPr>
          <p:cNvPr id="8" name="Group 58"/>
          <p:cNvGrpSpPr>
            <a:grpSpLocks/>
          </p:cNvGrpSpPr>
          <p:nvPr/>
        </p:nvGrpSpPr>
        <p:grpSpPr bwMode="auto">
          <a:xfrm>
            <a:off x="4673600" y="3762375"/>
            <a:ext cx="1524000" cy="1190625"/>
            <a:chOff x="3505200" y="3762375"/>
            <a:chExt cx="1142999" cy="1190625"/>
          </a:xfrm>
          <a:solidFill>
            <a:srgbClr val="C198E0"/>
          </a:solidFill>
        </p:grpSpPr>
        <p:cxnSp>
          <p:nvCxnSpPr>
            <p:cNvPr id="14368" name="AutoShape 23"/>
            <p:cNvCxnSpPr>
              <a:cxnSpLocks noChangeShapeType="1"/>
            </p:cNvCxnSpPr>
            <p:nvPr/>
          </p:nvCxnSpPr>
          <p:spPr bwMode="auto">
            <a:xfrm flipH="1">
              <a:off x="3698875" y="3765550"/>
              <a:ext cx="760413" cy="822325"/>
            </a:xfrm>
            <a:prstGeom prst="straightConnector1">
              <a:avLst/>
            </a:prstGeom>
            <a:grpFill/>
            <a:ln w="12700">
              <a:solidFill>
                <a:schemeClr val="tx1"/>
              </a:solidFill>
              <a:round/>
              <a:headEnd/>
              <a:tailEnd type="triangle" w="med" len="med"/>
            </a:ln>
          </p:spPr>
        </p:cxnSp>
        <p:sp>
          <p:nvSpPr>
            <p:cNvPr id="14369" name="Rectangle 7"/>
            <p:cNvSpPr>
              <a:spLocks noChangeArrowheads="1"/>
            </p:cNvSpPr>
            <p:nvPr/>
          </p:nvSpPr>
          <p:spPr bwMode="auto">
            <a:xfrm>
              <a:off x="3505200" y="4648200"/>
              <a:ext cx="381000" cy="304800"/>
            </a:xfrm>
            <a:prstGeom prst="rect">
              <a:avLst/>
            </a:prstGeom>
            <a:grpFill/>
            <a:ln w="9525">
              <a:solidFill>
                <a:schemeClr val="tx1"/>
              </a:solidFill>
              <a:miter lim="800000"/>
              <a:headEnd/>
              <a:tailEnd/>
            </a:ln>
          </p:spPr>
          <p:txBody>
            <a:bodyPr wrap="none" anchor="ctr"/>
            <a:lstStyle/>
            <a:p>
              <a:pPr algn="ctr"/>
              <a:r>
                <a:rPr lang="en-US"/>
                <a:t>2</a:t>
              </a:r>
            </a:p>
          </p:txBody>
        </p:sp>
        <p:cxnSp>
          <p:nvCxnSpPr>
            <p:cNvPr id="14370" name="AutoShape 21"/>
            <p:cNvCxnSpPr>
              <a:cxnSpLocks noChangeShapeType="1"/>
            </p:cNvCxnSpPr>
            <p:nvPr/>
          </p:nvCxnSpPr>
          <p:spPr bwMode="auto">
            <a:xfrm rot="5400000">
              <a:off x="4306094" y="3913981"/>
              <a:ext cx="304800" cy="1588"/>
            </a:xfrm>
            <a:prstGeom prst="straightConnector1">
              <a:avLst/>
            </a:prstGeom>
            <a:grpFill/>
            <a:ln w="12700">
              <a:solidFill>
                <a:schemeClr val="tx1"/>
              </a:solidFill>
              <a:round/>
              <a:headEnd/>
              <a:tailEnd/>
            </a:ln>
          </p:spPr>
        </p:cxnSp>
        <p:cxnSp>
          <p:nvCxnSpPr>
            <p:cNvPr id="14371" name="AutoShape 21"/>
            <p:cNvCxnSpPr>
              <a:cxnSpLocks noChangeShapeType="1"/>
            </p:cNvCxnSpPr>
            <p:nvPr/>
          </p:nvCxnSpPr>
          <p:spPr bwMode="auto">
            <a:xfrm rot="16200000" flipH="1">
              <a:off x="4456112" y="3770312"/>
              <a:ext cx="196850" cy="187325"/>
            </a:xfrm>
            <a:prstGeom prst="straightConnector1">
              <a:avLst/>
            </a:prstGeom>
            <a:grpFill/>
            <a:ln w="12700">
              <a:solidFill>
                <a:schemeClr val="tx1"/>
              </a:solidFill>
              <a:round/>
              <a:headEnd/>
              <a:tailEnd/>
            </a:ln>
          </p:spPr>
        </p:cxnSp>
      </p:grpSp>
      <p:grpSp>
        <p:nvGrpSpPr>
          <p:cNvPr id="10" name="Group 60"/>
          <p:cNvGrpSpPr>
            <a:grpSpLocks/>
          </p:cNvGrpSpPr>
          <p:nvPr/>
        </p:nvGrpSpPr>
        <p:grpSpPr bwMode="auto">
          <a:xfrm>
            <a:off x="7721600" y="3762375"/>
            <a:ext cx="1524000" cy="1190625"/>
            <a:chOff x="5791200" y="3762375"/>
            <a:chExt cx="1142999" cy="1190625"/>
          </a:xfrm>
          <a:solidFill>
            <a:srgbClr val="C198E0"/>
          </a:solidFill>
        </p:grpSpPr>
        <p:cxnSp>
          <p:nvCxnSpPr>
            <p:cNvPr id="14362" name="AutoShape 29"/>
            <p:cNvCxnSpPr>
              <a:cxnSpLocks noChangeShapeType="1"/>
            </p:cNvCxnSpPr>
            <p:nvPr/>
          </p:nvCxnSpPr>
          <p:spPr bwMode="auto">
            <a:xfrm flipH="1">
              <a:off x="5984875" y="3765550"/>
              <a:ext cx="760413" cy="822325"/>
            </a:xfrm>
            <a:prstGeom prst="straightConnector1">
              <a:avLst/>
            </a:prstGeom>
            <a:grpFill/>
            <a:ln w="12700">
              <a:solidFill>
                <a:schemeClr val="tx1"/>
              </a:solidFill>
              <a:round/>
              <a:headEnd/>
              <a:tailEnd type="triangle" w="med" len="med"/>
            </a:ln>
          </p:spPr>
        </p:cxnSp>
        <p:sp>
          <p:nvSpPr>
            <p:cNvPr id="14363" name="Rectangle 7"/>
            <p:cNvSpPr>
              <a:spLocks noChangeArrowheads="1"/>
            </p:cNvSpPr>
            <p:nvPr/>
          </p:nvSpPr>
          <p:spPr bwMode="auto">
            <a:xfrm>
              <a:off x="5791200" y="4648200"/>
              <a:ext cx="381000" cy="304800"/>
            </a:xfrm>
            <a:prstGeom prst="rect">
              <a:avLst/>
            </a:prstGeom>
            <a:grpFill/>
            <a:ln w="9525">
              <a:solidFill>
                <a:schemeClr val="tx1"/>
              </a:solidFill>
              <a:miter lim="800000"/>
              <a:headEnd/>
              <a:tailEnd/>
            </a:ln>
          </p:spPr>
          <p:txBody>
            <a:bodyPr wrap="none" anchor="ctr"/>
            <a:lstStyle/>
            <a:p>
              <a:pPr algn="ctr"/>
              <a:r>
                <a:rPr lang="en-US"/>
                <a:t>14</a:t>
              </a:r>
            </a:p>
          </p:txBody>
        </p:sp>
        <p:cxnSp>
          <p:nvCxnSpPr>
            <p:cNvPr id="14364" name="AutoShape 21"/>
            <p:cNvCxnSpPr>
              <a:cxnSpLocks noChangeShapeType="1"/>
            </p:cNvCxnSpPr>
            <p:nvPr/>
          </p:nvCxnSpPr>
          <p:spPr bwMode="auto">
            <a:xfrm rot="5400000">
              <a:off x="6592094" y="3913981"/>
              <a:ext cx="304800" cy="1588"/>
            </a:xfrm>
            <a:prstGeom prst="straightConnector1">
              <a:avLst/>
            </a:prstGeom>
            <a:grpFill/>
            <a:ln w="12700">
              <a:solidFill>
                <a:schemeClr val="tx1"/>
              </a:solidFill>
              <a:round/>
              <a:headEnd/>
              <a:tailEnd/>
            </a:ln>
          </p:spPr>
        </p:cxnSp>
        <p:cxnSp>
          <p:nvCxnSpPr>
            <p:cNvPr id="14365" name="AutoShape 21"/>
            <p:cNvCxnSpPr>
              <a:cxnSpLocks noChangeShapeType="1"/>
            </p:cNvCxnSpPr>
            <p:nvPr/>
          </p:nvCxnSpPr>
          <p:spPr bwMode="auto">
            <a:xfrm rot="16200000" flipH="1">
              <a:off x="6742112" y="3770312"/>
              <a:ext cx="196850" cy="187325"/>
            </a:xfrm>
            <a:prstGeom prst="straightConnector1">
              <a:avLst/>
            </a:prstGeom>
            <a:grpFill/>
            <a:ln w="12700">
              <a:solidFill>
                <a:schemeClr val="tx1"/>
              </a:solidFill>
              <a:round/>
              <a:headEnd/>
              <a:tailEnd/>
            </a:ln>
          </p:spPr>
        </p:cxnSp>
      </p:grpSp>
      <p:grpSp>
        <p:nvGrpSpPr>
          <p:cNvPr id="11" name="Group 64"/>
          <p:cNvGrpSpPr>
            <a:grpSpLocks/>
          </p:cNvGrpSpPr>
          <p:nvPr/>
        </p:nvGrpSpPr>
        <p:grpSpPr bwMode="auto">
          <a:xfrm>
            <a:off x="5689600" y="3765550"/>
            <a:ext cx="508000" cy="1187450"/>
            <a:chOff x="6553200" y="3765550"/>
            <a:chExt cx="381000" cy="1187450"/>
          </a:xfrm>
          <a:solidFill>
            <a:srgbClr val="C198E0"/>
          </a:solidFill>
        </p:grpSpPr>
        <p:cxnSp>
          <p:nvCxnSpPr>
            <p:cNvPr id="14360" name="AutoShape 33"/>
            <p:cNvCxnSpPr>
              <a:cxnSpLocks noChangeShapeType="1"/>
            </p:cNvCxnSpPr>
            <p:nvPr/>
          </p:nvCxnSpPr>
          <p:spPr bwMode="auto">
            <a:xfrm>
              <a:off x="6745288" y="3765550"/>
              <a:ext cx="1588" cy="806450"/>
            </a:xfrm>
            <a:prstGeom prst="straightConnector1">
              <a:avLst/>
            </a:prstGeom>
            <a:grpFill/>
            <a:ln w="12700">
              <a:solidFill>
                <a:schemeClr val="tx1"/>
              </a:solidFill>
              <a:round/>
              <a:headEnd/>
              <a:tailEnd type="triangle" w="med" len="med"/>
            </a:ln>
          </p:spPr>
        </p:cxnSp>
        <p:sp>
          <p:nvSpPr>
            <p:cNvPr id="14361" name="Rectangle 7"/>
            <p:cNvSpPr>
              <a:spLocks noChangeArrowheads="1"/>
            </p:cNvSpPr>
            <p:nvPr/>
          </p:nvSpPr>
          <p:spPr bwMode="auto">
            <a:xfrm>
              <a:off x="6553200" y="4648200"/>
              <a:ext cx="381000" cy="304800"/>
            </a:xfrm>
            <a:prstGeom prst="rect">
              <a:avLst/>
            </a:prstGeom>
            <a:grpFill/>
            <a:ln w="9525">
              <a:solidFill>
                <a:schemeClr val="tx1"/>
              </a:solidFill>
              <a:miter lim="800000"/>
              <a:headEnd/>
              <a:tailEnd/>
            </a:ln>
          </p:spPr>
          <p:txBody>
            <a:bodyPr wrap="none" anchor="ctr"/>
            <a:lstStyle/>
            <a:p>
              <a:pPr algn="ctr"/>
              <a:r>
                <a:rPr lang="en-US"/>
                <a:t>4</a:t>
              </a:r>
            </a:p>
          </p:txBody>
        </p:sp>
      </p:grpSp>
      <p:grpSp>
        <p:nvGrpSpPr>
          <p:cNvPr id="12" name="Group 65"/>
          <p:cNvGrpSpPr>
            <a:grpSpLocks/>
          </p:cNvGrpSpPr>
          <p:nvPr/>
        </p:nvGrpSpPr>
        <p:grpSpPr bwMode="auto">
          <a:xfrm>
            <a:off x="5945717" y="3765550"/>
            <a:ext cx="1267883" cy="1187450"/>
            <a:chOff x="6745288" y="3765550"/>
            <a:chExt cx="950912" cy="1187450"/>
          </a:xfrm>
          <a:solidFill>
            <a:srgbClr val="C198E0"/>
          </a:solidFill>
        </p:grpSpPr>
        <p:cxnSp>
          <p:nvCxnSpPr>
            <p:cNvPr id="14358" name="AutoShape 37"/>
            <p:cNvCxnSpPr>
              <a:cxnSpLocks noChangeShapeType="1"/>
            </p:cNvCxnSpPr>
            <p:nvPr/>
          </p:nvCxnSpPr>
          <p:spPr bwMode="auto">
            <a:xfrm>
              <a:off x="6745288" y="3765550"/>
              <a:ext cx="763587" cy="822325"/>
            </a:xfrm>
            <a:prstGeom prst="straightConnector1">
              <a:avLst/>
            </a:prstGeom>
            <a:grpFill/>
            <a:ln w="12700">
              <a:solidFill>
                <a:schemeClr val="tx1"/>
              </a:solidFill>
              <a:round/>
              <a:headEnd/>
              <a:tailEnd type="triangle" w="med" len="med"/>
            </a:ln>
          </p:spPr>
        </p:cxnSp>
        <p:sp>
          <p:nvSpPr>
            <p:cNvPr id="14359" name="Rectangle 7"/>
            <p:cNvSpPr>
              <a:spLocks noChangeArrowheads="1"/>
            </p:cNvSpPr>
            <p:nvPr/>
          </p:nvSpPr>
          <p:spPr bwMode="auto">
            <a:xfrm>
              <a:off x="7315200" y="4648200"/>
              <a:ext cx="381000" cy="304800"/>
            </a:xfrm>
            <a:prstGeom prst="rect">
              <a:avLst/>
            </a:prstGeom>
            <a:grpFill/>
            <a:ln w="9525">
              <a:solidFill>
                <a:schemeClr val="tx1"/>
              </a:solidFill>
              <a:miter lim="800000"/>
              <a:headEnd/>
              <a:tailEnd/>
            </a:ln>
          </p:spPr>
          <p:txBody>
            <a:bodyPr wrap="none" anchor="ctr"/>
            <a:lstStyle/>
            <a:p>
              <a:pPr algn="ctr"/>
              <a:r>
                <a:rPr lang="en-US"/>
                <a:t>6</a:t>
              </a:r>
            </a:p>
          </p:txBody>
        </p:sp>
      </p:grpSp>
      <p:sp>
        <p:nvSpPr>
          <p:cNvPr id="47" name="TextBox 46"/>
          <p:cNvSpPr txBox="1"/>
          <p:nvPr/>
        </p:nvSpPr>
        <p:spPr>
          <a:xfrm>
            <a:off x="2250142" y="3272135"/>
            <a:ext cx="340658" cy="461665"/>
          </a:xfrm>
          <a:prstGeom prst="rect">
            <a:avLst/>
          </a:prstGeom>
          <a:noFill/>
        </p:spPr>
        <p:txBody>
          <a:bodyPr wrap="none" rtlCol="0">
            <a:spAutoFit/>
          </a:bodyPr>
          <a:lstStyle/>
          <a:p>
            <a:r>
              <a:rPr lang="en-US" sz="2400" dirty="0">
                <a:solidFill>
                  <a:srgbClr val="FF0000"/>
                </a:solidFill>
                <a:latin typeface="Calibri"/>
                <a:cs typeface="Calibri"/>
              </a:rPr>
              <a:t>3</a:t>
            </a:r>
          </a:p>
        </p:txBody>
      </p:sp>
      <p:sp>
        <p:nvSpPr>
          <p:cNvPr id="48" name="TextBox 47"/>
          <p:cNvSpPr txBox="1"/>
          <p:nvPr/>
        </p:nvSpPr>
        <p:spPr>
          <a:xfrm>
            <a:off x="5257800" y="3272135"/>
            <a:ext cx="340658" cy="461665"/>
          </a:xfrm>
          <a:prstGeom prst="rect">
            <a:avLst/>
          </a:prstGeom>
          <a:noFill/>
        </p:spPr>
        <p:txBody>
          <a:bodyPr wrap="none" rtlCol="0">
            <a:spAutoFit/>
          </a:bodyPr>
          <a:lstStyle/>
          <a:p>
            <a:r>
              <a:rPr lang="en-US" sz="2400" dirty="0">
                <a:solidFill>
                  <a:srgbClr val="FF0000"/>
                </a:solidFill>
                <a:latin typeface="Calibri"/>
                <a:cs typeface="Calibri"/>
              </a:rPr>
              <a:t>2</a:t>
            </a:r>
          </a:p>
        </p:txBody>
      </p:sp>
      <p:sp>
        <p:nvSpPr>
          <p:cNvPr id="49" name="TextBox 48"/>
          <p:cNvSpPr txBox="1"/>
          <p:nvPr/>
        </p:nvSpPr>
        <p:spPr>
          <a:xfrm>
            <a:off x="8346142" y="3272135"/>
            <a:ext cx="340658" cy="461665"/>
          </a:xfrm>
          <a:prstGeom prst="rect">
            <a:avLst/>
          </a:prstGeom>
          <a:solidFill>
            <a:schemeClr val="bg1"/>
          </a:solidFill>
        </p:spPr>
        <p:txBody>
          <a:bodyPr wrap="none" rtlCol="0">
            <a:spAutoFit/>
          </a:bodyPr>
          <a:lstStyle/>
          <a:p>
            <a:pPr algn="r"/>
            <a:r>
              <a:rPr lang="en-US" sz="2400" dirty="0">
                <a:solidFill>
                  <a:srgbClr val="FF0000"/>
                </a:solidFill>
                <a:latin typeface="Calibri"/>
                <a:cs typeface="Calibri"/>
              </a:rPr>
              <a:t>2</a:t>
            </a:r>
          </a:p>
        </p:txBody>
      </p:sp>
      <p:sp>
        <p:nvSpPr>
          <p:cNvPr id="50" name="TextBox 49"/>
          <p:cNvSpPr txBox="1"/>
          <p:nvPr/>
        </p:nvSpPr>
        <p:spPr>
          <a:xfrm>
            <a:off x="5334000" y="1976735"/>
            <a:ext cx="340658" cy="461665"/>
          </a:xfrm>
          <a:prstGeom prst="rect">
            <a:avLst/>
          </a:prstGeom>
          <a:noFill/>
        </p:spPr>
        <p:txBody>
          <a:bodyPr wrap="none" rtlCol="0">
            <a:spAutoFit/>
          </a:bodyPr>
          <a:lstStyle/>
          <a:p>
            <a:r>
              <a:rPr lang="en-US" sz="2400" dirty="0">
                <a:solidFill>
                  <a:srgbClr val="0000FF"/>
                </a:solidFill>
                <a:latin typeface="Calibri"/>
                <a:cs typeface="Calibri"/>
              </a:rPr>
              <a:t>3</a:t>
            </a:r>
          </a:p>
        </p:txBody>
      </p:sp>
      <p:grpSp>
        <p:nvGrpSpPr>
          <p:cNvPr id="9" name="Group 61"/>
          <p:cNvGrpSpPr>
            <a:grpSpLocks/>
          </p:cNvGrpSpPr>
          <p:nvPr/>
        </p:nvGrpSpPr>
        <p:grpSpPr bwMode="auto">
          <a:xfrm>
            <a:off x="5947833" y="2514600"/>
            <a:ext cx="3301998" cy="1250950"/>
            <a:chOff x="4460876" y="2514600"/>
            <a:chExt cx="2476499" cy="1250950"/>
          </a:xfrm>
        </p:grpSpPr>
        <p:sp>
          <p:nvSpPr>
            <p:cNvPr id="14366" name="AutoShape 26"/>
            <p:cNvSpPr>
              <a:spLocks noChangeArrowheads="1"/>
            </p:cNvSpPr>
            <p:nvPr/>
          </p:nvSpPr>
          <p:spPr bwMode="auto">
            <a:xfrm flipV="1">
              <a:off x="6556375" y="3460750"/>
              <a:ext cx="381000" cy="304800"/>
            </a:xfrm>
            <a:prstGeom prst="triangle">
              <a:avLst>
                <a:gd name="adj" fmla="val 50000"/>
              </a:avLst>
            </a:prstGeom>
            <a:solidFill>
              <a:srgbClr val="FF0000"/>
            </a:solidFill>
            <a:ln w="12700">
              <a:solidFill>
                <a:schemeClr val="tx1"/>
              </a:solidFill>
              <a:miter lim="800000"/>
              <a:headEnd/>
              <a:tailEnd/>
            </a:ln>
          </p:spPr>
          <p:txBody>
            <a:bodyPr wrap="none" anchor="ctr"/>
            <a:lstStyle/>
            <a:p>
              <a:endParaRPr lang="en-US"/>
            </a:p>
          </p:txBody>
        </p:sp>
        <p:cxnSp>
          <p:nvCxnSpPr>
            <p:cNvPr id="14367" name="AutoShape 27"/>
            <p:cNvCxnSpPr>
              <a:cxnSpLocks noChangeShapeType="1"/>
              <a:stCxn id="14339" idx="3"/>
              <a:endCxn id="14366" idx="3"/>
            </p:cNvCxnSpPr>
            <p:nvPr/>
          </p:nvCxnSpPr>
          <p:spPr bwMode="auto">
            <a:xfrm>
              <a:off x="4460875" y="2514600"/>
              <a:ext cx="2284413" cy="946150"/>
            </a:xfrm>
            <a:prstGeom prst="straightConnector1">
              <a:avLst/>
            </a:prstGeom>
            <a:noFill/>
            <a:ln w="12700">
              <a:solidFill>
                <a:schemeClr val="tx1"/>
              </a:solidFill>
              <a:round/>
              <a:headEnd/>
              <a:tailEnd type="triangle" w="med" len="med"/>
            </a:ln>
          </p:spPr>
        </p:cxnSp>
      </p:grpSp>
    </p:spTree>
    <p:extLst>
      <p:ext uri="{BB962C8B-B14F-4D97-AF65-F5344CB8AC3E}">
        <p14:creationId xmlns:p14="http://schemas.microsoft.com/office/powerpoint/2010/main" val="211829280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7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9"/>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47" grpId="0"/>
      <p:bldP spid="48" grpId="0"/>
      <p:bldP spid="49" grpId="0" animBg="1"/>
      <p:bldP spid="5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dirty="0" err="1">
                <a:sym typeface="Symbol" pitchFamily="18" charset="2"/>
              </a:rPr>
              <a:t>Ví</a:t>
            </a:r>
            <a:r>
              <a:rPr lang="en-US" dirty="0">
                <a:sym typeface="Symbol" pitchFamily="18" charset="2"/>
              </a:rPr>
              <a:t> </a:t>
            </a:r>
            <a:r>
              <a:rPr lang="en-US" dirty="0" err="1">
                <a:sym typeface="Symbol" pitchFamily="18" charset="2"/>
              </a:rPr>
              <a:t>dụ</a:t>
            </a:r>
            <a:r>
              <a:rPr lang="en-US" dirty="0">
                <a:sym typeface="Symbol" pitchFamily="18" charset="2"/>
              </a:rPr>
              <a:t>: </a:t>
            </a:r>
            <a:r>
              <a:rPr lang="en-US" dirty="0" err="1">
                <a:sym typeface="Symbol" pitchFamily="18" charset="2"/>
              </a:rPr>
              <a:t>cắt</a:t>
            </a:r>
            <a:r>
              <a:rPr lang="en-US" dirty="0">
                <a:sym typeface="Symbol" pitchFamily="18" charset="2"/>
              </a:rPr>
              <a:t> </a:t>
            </a:r>
            <a:r>
              <a:rPr lang="en-US" dirty="0" err="1">
                <a:sym typeface="Symbol" pitchFamily="18" charset="2"/>
              </a:rPr>
              <a:t>nhánh</a:t>
            </a:r>
            <a:r>
              <a:rPr lang="en-US" dirty="0">
                <a:sym typeface="Symbol" pitchFamily="18" charset="2"/>
              </a:rPr>
              <a:t> Alpha-Beta</a:t>
            </a:r>
          </a:p>
        </p:txBody>
      </p:sp>
      <p:sp>
        <p:nvSpPr>
          <p:cNvPr id="14339" name="AutoShape 4"/>
          <p:cNvSpPr>
            <a:spLocks noChangeArrowheads="1"/>
          </p:cNvSpPr>
          <p:nvPr/>
        </p:nvSpPr>
        <p:spPr bwMode="auto">
          <a:xfrm>
            <a:off x="5693833" y="2209800"/>
            <a:ext cx="508000" cy="304800"/>
          </a:xfrm>
          <a:prstGeom prst="triangle">
            <a:avLst>
              <a:gd name="adj" fmla="val 50000"/>
            </a:avLst>
          </a:prstGeom>
          <a:solidFill>
            <a:srgbClr val="0000FF"/>
          </a:solidFill>
          <a:ln w="12700">
            <a:solidFill>
              <a:schemeClr val="tx1"/>
            </a:solidFill>
            <a:miter lim="800000"/>
            <a:headEnd/>
            <a:tailEnd/>
          </a:ln>
        </p:spPr>
        <p:txBody>
          <a:bodyPr wrap="none" anchor="ctr"/>
          <a:lstStyle/>
          <a:p>
            <a:endParaRPr lang="en-US"/>
          </a:p>
        </p:txBody>
      </p:sp>
      <p:grpSp>
        <p:nvGrpSpPr>
          <p:cNvPr id="2" name="Group 60"/>
          <p:cNvGrpSpPr>
            <a:grpSpLocks/>
          </p:cNvGrpSpPr>
          <p:nvPr/>
        </p:nvGrpSpPr>
        <p:grpSpPr bwMode="auto">
          <a:xfrm>
            <a:off x="2641600" y="3765550"/>
            <a:ext cx="508000" cy="1187450"/>
            <a:chOff x="1981200" y="3765550"/>
            <a:chExt cx="381000" cy="1187450"/>
          </a:xfrm>
          <a:solidFill>
            <a:srgbClr val="C198E0"/>
          </a:solidFill>
        </p:grpSpPr>
        <p:cxnSp>
          <p:nvCxnSpPr>
            <p:cNvPr id="14382" name="AutoShape 13"/>
            <p:cNvCxnSpPr>
              <a:cxnSpLocks noChangeShapeType="1"/>
              <a:stCxn id="14374" idx="0"/>
            </p:cNvCxnSpPr>
            <p:nvPr/>
          </p:nvCxnSpPr>
          <p:spPr bwMode="auto">
            <a:xfrm>
              <a:off x="2173288" y="3765550"/>
              <a:ext cx="1588" cy="806450"/>
            </a:xfrm>
            <a:prstGeom prst="straightConnector1">
              <a:avLst/>
            </a:prstGeom>
            <a:grpFill/>
            <a:ln w="12700">
              <a:solidFill>
                <a:schemeClr val="tx1"/>
              </a:solidFill>
              <a:round/>
              <a:headEnd/>
              <a:tailEnd type="triangle" w="med" len="med"/>
            </a:ln>
          </p:spPr>
        </p:cxnSp>
        <p:sp>
          <p:nvSpPr>
            <p:cNvPr id="14383" name="Rectangle 7"/>
            <p:cNvSpPr>
              <a:spLocks noChangeArrowheads="1"/>
            </p:cNvSpPr>
            <p:nvPr/>
          </p:nvSpPr>
          <p:spPr bwMode="auto">
            <a:xfrm>
              <a:off x="1981200" y="4648200"/>
              <a:ext cx="381000" cy="304800"/>
            </a:xfrm>
            <a:prstGeom prst="rect">
              <a:avLst/>
            </a:prstGeom>
            <a:grpFill/>
            <a:ln w="9525">
              <a:solidFill>
                <a:schemeClr val="tx1"/>
              </a:solidFill>
              <a:miter lim="800000"/>
              <a:headEnd/>
              <a:tailEnd/>
            </a:ln>
          </p:spPr>
          <p:txBody>
            <a:bodyPr wrap="none" anchor="ctr"/>
            <a:lstStyle/>
            <a:p>
              <a:pPr algn="ctr"/>
              <a:r>
                <a:rPr lang="en-US" dirty="0"/>
                <a:t>12</a:t>
              </a:r>
            </a:p>
          </p:txBody>
        </p:sp>
      </p:grpSp>
      <p:grpSp>
        <p:nvGrpSpPr>
          <p:cNvPr id="3" name="Group 61"/>
          <p:cNvGrpSpPr>
            <a:grpSpLocks/>
          </p:cNvGrpSpPr>
          <p:nvPr/>
        </p:nvGrpSpPr>
        <p:grpSpPr bwMode="auto">
          <a:xfrm>
            <a:off x="2897717" y="3765550"/>
            <a:ext cx="1267883" cy="1187450"/>
            <a:chOff x="2173288" y="3765550"/>
            <a:chExt cx="950912" cy="1187450"/>
          </a:xfrm>
          <a:solidFill>
            <a:srgbClr val="C198E0"/>
          </a:solidFill>
        </p:grpSpPr>
        <p:cxnSp>
          <p:nvCxnSpPr>
            <p:cNvPr id="14380" name="AutoShape 17"/>
            <p:cNvCxnSpPr>
              <a:cxnSpLocks noChangeShapeType="1"/>
              <a:stCxn id="14374" idx="0"/>
            </p:cNvCxnSpPr>
            <p:nvPr/>
          </p:nvCxnSpPr>
          <p:spPr bwMode="auto">
            <a:xfrm>
              <a:off x="2173288" y="3765550"/>
              <a:ext cx="763586" cy="822325"/>
            </a:xfrm>
            <a:prstGeom prst="straightConnector1">
              <a:avLst/>
            </a:prstGeom>
            <a:grpFill/>
            <a:ln w="12700">
              <a:solidFill>
                <a:schemeClr val="tx1"/>
              </a:solidFill>
              <a:round/>
              <a:headEnd/>
              <a:tailEnd type="triangle" w="med" len="med"/>
            </a:ln>
          </p:spPr>
        </p:cxnSp>
        <p:sp>
          <p:nvSpPr>
            <p:cNvPr id="14381" name="Rectangle 7"/>
            <p:cNvSpPr>
              <a:spLocks noChangeArrowheads="1"/>
            </p:cNvSpPr>
            <p:nvPr/>
          </p:nvSpPr>
          <p:spPr bwMode="auto">
            <a:xfrm>
              <a:off x="2743200" y="4648200"/>
              <a:ext cx="381000" cy="304800"/>
            </a:xfrm>
            <a:prstGeom prst="rect">
              <a:avLst/>
            </a:prstGeom>
            <a:grpFill/>
            <a:ln w="9525">
              <a:solidFill>
                <a:schemeClr val="tx1"/>
              </a:solidFill>
              <a:miter lim="800000"/>
              <a:headEnd/>
              <a:tailEnd/>
            </a:ln>
          </p:spPr>
          <p:txBody>
            <a:bodyPr wrap="none" anchor="ctr"/>
            <a:lstStyle/>
            <a:p>
              <a:pPr algn="ctr"/>
              <a:r>
                <a:rPr lang="en-US" dirty="0"/>
                <a:t>8</a:t>
              </a:r>
            </a:p>
          </p:txBody>
        </p:sp>
      </p:grpSp>
      <p:grpSp>
        <p:nvGrpSpPr>
          <p:cNvPr id="4" name="Group 64"/>
          <p:cNvGrpSpPr>
            <a:grpSpLocks/>
          </p:cNvGrpSpPr>
          <p:nvPr/>
        </p:nvGrpSpPr>
        <p:grpSpPr bwMode="auto">
          <a:xfrm>
            <a:off x="8737600" y="3765550"/>
            <a:ext cx="508000" cy="1187450"/>
            <a:chOff x="6553200" y="3765550"/>
            <a:chExt cx="381000" cy="1187450"/>
          </a:xfrm>
          <a:solidFill>
            <a:srgbClr val="C198E0"/>
          </a:solidFill>
        </p:grpSpPr>
        <p:cxnSp>
          <p:nvCxnSpPr>
            <p:cNvPr id="14378" name="AutoShape 33"/>
            <p:cNvCxnSpPr>
              <a:cxnSpLocks noChangeShapeType="1"/>
            </p:cNvCxnSpPr>
            <p:nvPr/>
          </p:nvCxnSpPr>
          <p:spPr bwMode="auto">
            <a:xfrm>
              <a:off x="6745288" y="3765550"/>
              <a:ext cx="1588" cy="806450"/>
            </a:xfrm>
            <a:prstGeom prst="straightConnector1">
              <a:avLst/>
            </a:prstGeom>
            <a:grpFill/>
            <a:ln w="12700">
              <a:solidFill>
                <a:schemeClr val="tx1"/>
              </a:solidFill>
              <a:round/>
              <a:headEnd/>
              <a:tailEnd type="triangle" w="med" len="med"/>
            </a:ln>
          </p:spPr>
        </p:cxnSp>
        <p:sp>
          <p:nvSpPr>
            <p:cNvPr id="14379" name="Rectangle 7"/>
            <p:cNvSpPr>
              <a:spLocks noChangeArrowheads="1"/>
            </p:cNvSpPr>
            <p:nvPr/>
          </p:nvSpPr>
          <p:spPr bwMode="auto">
            <a:xfrm>
              <a:off x="6553200" y="4648200"/>
              <a:ext cx="381000" cy="304800"/>
            </a:xfrm>
            <a:prstGeom prst="rect">
              <a:avLst/>
            </a:prstGeom>
            <a:grpFill/>
            <a:ln w="9525">
              <a:solidFill>
                <a:schemeClr val="tx1"/>
              </a:solidFill>
              <a:miter lim="800000"/>
              <a:headEnd/>
              <a:tailEnd/>
            </a:ln>
          </p:spPr>
          <p:txBody>
            <a:bodyPr wrap="none" anchor="ctr"/>
            <a:lstStyle/>
            <a:p>
              <a:pPr algn="ctr"/>
              <a:r>
                <a:rPr lang="en-US"/>
                <a:t>5</a:t>
              </a:r>
            </a:p>
          </p:txBody>
        </p:sp>
      </p:grpSp>
      <p:grpSp>
        <p:nvGrpSpPr>
          <p:cNvPr id="5" name="Group 65"/>
          <p:cNvGrpSpPr>
            <a:grpSpLocks/>
          </p:cNvGrpSpPr>
          <p:nvPr/>
        </p:nvGrpSpPr>
        <p:grpSpPr bwMode="auto">
          <a:xfrm>
            <a:off x="8993717" y="3765550"/>
            <a:ext cx="1267883" cy="1187450"/>
            <a:chOff x="6745288" y="3765550"/>
            <a:chExt cx="950912" cy="1187450"/>
          </a:xfrm>
          <a:solidFill>
            <a:srgbClr val="C198E0"/>
          </a:solidFill>
        </p:grpSpPr>
        <p:cxnSp>
          <p:nvCxnSpPr>
            <p:cNvPr id="14376" name="AutoShape 37"/>
            <p:cNvCxnSpPr>
              <a:cxnSpLocks noChangeShapeType="1"/>
            </p:cNvCxnSpPr>
            <p:nvPr/>
          </p:nvCxnSpPr>
          <p:spPr bwMode="auto">
            <a:xfrm>
              <a:off x="6745288" y="3765550"/>
              <a:ext cx="763587" cy="822325"/>
            </a:xfrm>
            <a:prstGeom prst="straightConnector1">
              <a:avLst/>
            </a:prstGeom>
            <a:grpFill/>
            <a:ln w="12700">
              <a:solidFill>
                <a:schemeClr val="tx1"/>
              </a:solidFill>
              <a:round/>
              <a:headEnd/>
              <a:tailEnd type="triangle" w="med" len="med"/>
            </a:ln>
          </p:spPr>
        </p:cxnSp>
        <p:sp>
          <p:nvSpPr>
            <p:cNvPr id="14377" name="Rectangle 7"/>
            <p:cNvSpPr>
              <a:spLocks noChangeArrowheads="1"/>
            </p:cNvSpPr>
            <p:nvPr/>
          </p:nvSpPr>
          <p:spPr bwMode="auto">
            <a:xfrm>
              <a:off x="7315200" y="4648200"/>
              <a:ext cx="381000" cy="304800"/>
            </a:xfrm>
            <a:prstGeom prst="rect">
              <a:avLst/>
            </a:prstGeom>
            <a:grpFill/>
            <a:ln w="9525">
              <a:solidFill>
                <a:schemeClr val="tx1"/>
              </a:solidFill>
              <a:miter lim="800000"/>
              <a:headEnd/>
              <a:tailEnd/>
            </a:ln>
          </p:spPr>
          <p:txBody>
            <a:bodyPr wrap="none" anchor="ctr"/>
            <a:lstStyle/>
            <a:p>
              <a:pPr algn="ctr"/>
              <a:r>
                <a:rPr lang="en-US"/>
                <a:t>2</a:t>
              </a:r>
            </a:p>
          </p:txBody>
        </p:sp>
      </p:grpSp>
      <p:grpSp>
        <p:nvGrpSpPr>
          <p:cNvPr id="13" name="Group 12"/>
          <p:cNvGrpSpPr/>
          <p:nvPr/>
        </p:nvGrpSpPr>
        <p:grpSpPr>
          <a:xfrm>
            <a:off x="2645833" y="2514600"/>
            <a:ext cx="3302000" cy="1250950"/>
            <a:chOff x="2645833" y="2514600"/>
            <a:chExt cx="3302000" cy="1250950"/>
          </a:xfrm>
        </p:grpSpPr>
        <p:sp>
          <p:nvSpPr>
            <p:cNvPr id="14374" name="AutoShape 6"/>
            <p:cNvSpPr>
              <a:spLocks noChangeArrowheads="1"/>
            </p:cNvSpPr>
            <p:nvPr/>
          </p:nvSpPr>
          <p:spPr bwMode="auto">
            <a:xfrm flipV="1">
              <a:off x="2645833" y="3460750"/>
              <a:ext cx="508000" cy="304800"/>
            </a:xfrm>
            <a:prstGeom prst="triangle">
              <a:avLst>
                <a:gd name="adj" fmla="val 50000"/>
              </a:avLst>
            </a:prstGeom>
            <a:solidFill>
              <a:srgbClr val="FF0000"/>
            </a:solidFill>
            <a:ln w="12700">
              <a:solidFill>
                <a:schemeClr val="tx1"/>
              </a:solidFill>
              <a:miter lim="800000"/>
              <a:headEnd/>
              <a:tailEnd/>
            </a:ln>
          </p:spPr>
          <p:txBody>
            <a:bodyPr wrap="none" anchor="ctr"/>
            <a:lstStyle/>
            <a:p>
              <a:endParaRPr lang="en-US"/>
            </a:p>
          </p:txBody>
        </p:sp>
        <p:cxnSp>
          <p:nvCxnSpPr>
            <p:cNvPr id="14375" name="AutoShape 7"/>
            <p:cNvCxnSpPr>
              <a:cxnSpLocks noChangeShapeType="1"/>
              <a:stCxn id="14339" idx="3"/>
              <a:endCxn id="14374" idx="3"/>
            </p:cNvCxnSpPr>
            <p:nvPr/>
          </p:nvCxnSpPr>
          <p:spPr bwMode="auto">
            <a:xfrm flipH="1">
              <a:off x="2897717" y="2514600"/>
              <a:ext cx="3050116" cy="946150"/>
            </a:xfrm>
            <a:prstGeom prst="straightConnector1">
              <a:avLst/>
            </a:prstGeom>
            <a:noFill/>
            <a:ln w="12700">
              <a:solidFill>
                <a:schemeClr val="tx1"/>
              </a:solidFill>
              <a:round/>
              <a:headEnd/>
              <a:tailEnd type="triangle" w="med" len="med"/>
            </a:ln>
          </p:spPr>
        </p:cxnSp>
      </p:grpSp>
      <p:cxnSp>
        <p:nvCxnSpPr>
          <p:cNvPr id="28720" name="AutoShape 9"/>
          <p:cNvCxnSpPr>
            <a:cxnSpLocks noChangeShapeType="1"/>
            <a:stCxn id="14374" idx="0"/>
          </p:cNvCxnSpPr>
          <p:nvPr/>
        </p:nvCxnSpPr>
        <p:spPr bwMode="auto">
          <a:xfrm flipH="1">
            <a:off x="1883835" y="3765553"/>
            <a:ext cx="1013884" cy="822325"/>
          </a:xfrm>
          <a:prstGeom prst="straightConnector1">
            <a:avLst/>
          </a:prstGeom>
          <a:noFill/>
          <a:ln w="12700">
            <a:solidFill>
              <a:schemeClr val="tx1"/>
            </a:solidFill>
            <a:round/>
            <a:headEnd/>
            <a:tailEnd type="triangle" w="med" len="med"/>
          </a:ln>
        </p:spPr>
      </p:cxnSp>
      <p:sp>
        <p:nvSpPr>
          <p:cNvPr id="51" name="Rectangle 7"/>
          <p:cNvSpPr>
            <a:spLocks noChangeArrowheads="1"/>
          </p:cNvSpPr>
          <p:nvPr/>
        </p:nvSpPr>
        <p:spPr bwMode="auto">
          <a:xfrm>
            <a:off x="1625600" y="4648200"/>
            <a:ext cx="508000" cy="304800"/>
          </a:xfrm>
          <a:prstGeom prst="rect">
            <a:avLst/>
          </a:prstGeom>
          <a:solidFill>
            <a:srgbClr val="C198E0"/>
          </a:solidFill>
          <a:ln w="9525">
            <a:solidFill>
              <a:schemeClr val="tx1"/>
            </a:solidFill>
            <a:miter lim="800000"/>
            <a:headEnd/>
            <a:tailEnd/>
          </a:ln>
        </p:spPr>
        <p:txBody>
          <a:bodyPr wrap="none" anchor="ctr"/>
          <a:lstStyle/>
          <a:p>
            <a:pPr algn="ctr"/>
            <a:r>
              <a:rPr lang="en-US"/>
              <a:t>3</a:t>
            </a:r>
          </a:p>
        </p:txBody>
      </p:sp>
      <p:cxnSp>
        <p:nvCxnSpPr>
          <p:cNvPr id="67" name="AutoShape 21"/>
          <p:cNvCxnSpPr>
            <a:cxnSpLocks noChangeShapeType="1"/>
          </p:cNvCxnSpPr>
          <p:nvPr/>
        </p:nvCxnSpPr>
        <p:spPr bwMode="auto">
          <a:xfrm rot="5400000">
            <a:off x="5790143" y="2665943"/>
            <a:ext cx="304800" cy="2116"/>
          </a:xfrm>
          <a:prstGeom prst="straightConnector1">
            <a:avLst/>
          </a:prstGeom>
          <a:noFill/>
          <a:ln w="12700">
            <a:solidFill>
              <a:schemeClr val="tx1"/>
            </a:solidFill>
            <a:round/>
            <a:headEnd/>
            <a:tailEnd/>
          </a:ln>
        </p:spPr>
      </p:cxnSp>
      <p:cxnSp>
        <p:nvCxnSpPr>
          <p:cNvPr id="70" name="AutoShape 21"/>
          <p:cNvCxnSpPr>
            <a:cxnSpLocks noChangeShapeType="1"/>
            <a:stCxn id="14339" idx="3"/>
          </p:cNvCxnSpPr>
          <p:nvPr/>
        </p:nvCxnSpPr>
        <p:spPr bwMode="auto">
          <a:xfrm rot="16200000" flipH="1">
            <a:off x="6212417" y="2250019"/>
            <a:ext cx="228600" cy="757767"/>
          </a:xfrm>
          <a:prstGeom prst="straightConnector1">
            <a:avLst/>
          </a:prstGeom>
          <a:noFill/>
          <a:ln w="12700">
            <a:solidFill>
              <a:schemeClr val="tx1"/>
            </a:solidFill>
            <a:round/>
            <a:headEnd/>
            <a:tailEnd/>
          </a:ln>
        </p:spPr>
      </p:cxnSp>
      <p:cxnSp>
        <p:nvCxnSpPr>
          <p:cNvPr id="74" name="AutoShape 21"/>
          <p:cNvCxnSpPr>
            <a:cxnSpLocks noChangeShapeType="1"/>
          </p:cNvCxnSpPr>
          <p:nvPr/>
        </p:nvCxnSpPr>
        <p:spPr bwMode="auto">
          <a:xfrm rot="5400000">
            <a:off x="2744259" y="3913717"/>
            <a:ext cx="304800" cy="2117"/>
          </a:xfrm>
          <a:prstGeom prst="straightConnector1">
            <a:avLst/>
          </a:prstGeom>
          <a:noFill/>
          <a:ln w="12700">
            <a:solidFill>
              <a:schemeClr val="tx1"/>
            </a:solidFill>
            <a:round/>
            <a:headEnd/>
            <a:tailEnd/>
          </a:ln>
        </p:spPr>
      </p:cxnSp>
      <p:cxnSp>
        <p:nvCxnSpPr>
          <p:cNvPr id="75" name="AutoShape 21"/>
          <p:cNvCxnSpPr>
            <a:cxnSpLocks noChangeShapeType="1"/>
            <a:stCxn id="14374" idx="0"/>
          </p:cNvCxnSpPr>
          <p:nvPr/>
        </p:nvCxnSpPr>
        <p:spPr bwMode="auto">
          <a:xfrm rot="16200000" flipH="1">
            <a:off x="2926292" y="3739091"/>
            <a:ext cx="196850" cy="249767"/>
          </a:xfrm>
          <a:prstGeom prst="straightConnector1">
            <a:avLst/>
          </a:prstGeom>
          <a:noFill/>
          <a:ln w="12700">
            <a:solidFill>
              <a:schemeClr val="tx1"/>
            </a:solidFill>
            <a:round/>
            <a:headEnd/>
            <a:tailEnd/>
          </a:ln>
        </p:spPr>
      </p:cxnSp>
      <p:grpSp>
        <p:nvGrpSpPr>
          <p:cNvPr id="14" name="Group 13"/>
          <p:cNvGrpSpPr/>
          <p:nvPr/>
        </p:nvGrpSpPr>
        <p:grpSpPr>
          <a:xfrm>
            <a:off x="5693833" y="2514603"/>
            <a:ext cx="508000" cy="1235075"/>
            <a:chOff x="5693833" y="2514603"/>
            <a:chExt cx="508000" cy="1235075"/>
          </a:xfrm>
        </p:grpSpPr>
        <p:sp>
          <p:nvSpPr>
            <p:cNvPr id="14372" name="AutoShape 20"/>
            <p:cNvSpPr>
              <a:spLocks noChangeArrowheads="1"/>
            </p:cNvSpPr>
            <p:nvPr/>
          </p:nvSpPr>
          <p:spPr bwMode="auto">
            <a:xfrm flipV="1">
              <a:off x="5693833" y="3444878"/>
              <a:ext cx="508000" cy="304800"/>
            </a:xfrm>
            <a:prstGeom prst="triangle">
              <a:avLst>
                <a:gd name="adj" fmla="val 50000"/>
              </a:avLst>
            </a:prstGeom>
            <a:solidFill>
              <a:srgbClr val="FF0000"/>
            </a:solidFill>
            <a:ln w="12700">
              <a:solidFill>
                <a:schemeClr val="tx1"/>
              </a:solidFill>
              <a:miter lim="800000"/>
              <a:headEnd/>
              <a:tailEnd/>
            </a:ln>
          </p:spPr>
          <p:txBody>
            <a:bodyPr wrap="none" anchor="ctr"/>
            <a:lstStyle/>
            <a:p>
              <a:endParaRPr lang="en-US"/>
            </a:p>
          </p:txBody>
        </p:sp>
        <p:cxnSp>
          <p:nvCxnSpPr>
            <p:cNvPr id="14373" name="AutoShape 21"/>
            <p:cNvCxnSpPr>
              <a:cxnSpLocks noChangeShapeType="1"/>
              <a:stCxn id="14339" idx="3"/>
              <a:endCxn id="14372" idx="3"/>
            </p:cNvCxnSpPr>
            <p:nvPr/>
          </p:nvCxnSpPr>
          <p:spPr bwMode="auto">
            <a:xfrm flipH="1">
              <a:off x="5945717" y="2514603"/>
              <a:ext cx="2117" cy="930275"/>
            </a:xfrm>
            <a:prstGeom prst="straightConnector1">
              <a:avLst/>
            </a:prstGeom>
            <a:noFill/>
            <a:ln w="12700">
              <a:solidFill>
                <a:schemeClr val="tx1"/>
              </a:solidFill>
              <a:round/>
              <a:headEnd/>
              <a:tailEnd type="triangle" w="med" len="med"/>
            </a:ln>
          </p:spPr>
        </p:cxnSp>
      </p:grpSp>
      <p:grpSp>
        <p:nvGrpSpPr>
          <p:cNvPr id="8" name="Group 58"/>
          <p:cNvGrpSpPr>
            <a:grpSpLocks/>
          </p:cNvGrpSpPr>
          <p:nvPr/>
        </p:nvGrpSpPr>
        <p:grpSpPr bwMode="auto">
          <a:xfrm>
            <a:off x="4673600" y="3762375"/>
            <a:ext cx="1524000" cy="1190625"/>
            <a:chOff x="3505200" y="3762375"/>
            <a:chExt cx="1142999" cy="1190625"/>
          </a:xfrm>
          <a:solidFill>
            <a:srgbClr val="C198E0"/>
          </a:solidFill>
        </p:grpSpPr>
        <p:cxnSp>
          <p:nvCxnSpPr>
            <p:cNvPr id="14368" name="AutoShape 23"/>
            <p:cNvCxnSpPr>
              <a:cxnSpLocks noChangeShapeType="1"/>
            </p:cNvCxnSpPr>
            <p:nvPr/>
          </p:nvCxnSpPr>
          <p:spPr bwMode="auto">
            <a:xfrm flipH="1">
              <a:off x="3698875" y="3765550"/>
              <a:ext cx="760413" cy="822325"/>
            </a:xfrm>
            <a:prstGeom prst="straightConnector1">
              <a:avLst/>
            </a:prstGeom>
            <a:grpFill/>
            <a:ln w="12700">
              <a:solidFill>
                <a:schemeClr val="tx1"/>
              </a:solidFill>
              <a:round/>
              <a:headEnd/>
              <a:tailEnd type="triangle" w="med" len="med"/>
            </a:ln>
          </p:spPr>
        </p:cxnSp>
        <p:sp>
          <p:nvSpPr>
            <p:cNvPr id="14369" name="Rectangle 7"/>
            <p:cNvSpPr>
              <a:spLocks noChangeArrowheads="1"/>
            </p:cNvSpPr>
            <p:nvPr/>
          </p:nvSpPr>
          <p:spPr bwMode="auto">
            <a:xfrm>
              <a:off x="3505200" y="4648200"/>
              <a:ext cx="381000" cy="304800"/>
            </a:xfrm>
            <a:prstGeom prst="rect">
              <a:avLst/>
            </a:prstGeom>
            <a:grpFill/>
            <a:ln w="9525">
              <a:solidFill>
                <a:schemeClr val="tx1"/>
              </a:solidFill>
              <a:miter lim="800000"/>
              <a:headEnd/>
              <a:tailEnd/>
            </a:ln>
          </p:spPr>
          <p:txBody>
            <a:bodyPr wrap="none" anchor="ctr"/>
            <a:lstStyle/>
            <a:p>
              <a:pPr algn="ctr"/>
              <a:r>
                <a:rPr lang="en-US"/>
                <a:t>2</a:t>
              </a:r>
            </a:p>
          </p:txBody>
        </p:sp>
        <p:cxnSp>
          <p:nvCxnSpPr>
            <p:cNvPr id="14370" name="AutoShape 21"/>
            <p:cNvCxnSpPr>
              <a:cxnSpLocks noChangeShapeType="1"/>
            </p:cNvCxnSpPr>
            <p:nvPr/>
          </p:nvCxnSpPr>
          <p:spPr bwMode="auto">
            <a:xfrm rot="5400000">
              <a:off x="4306094" y="3913981"/>
              <a:ext cx="304800" cy="1588"/>
            </a:xfrm>
            <a:prstGeom prst="straightConnector1">
              <a:avLst/>
            </a:prstGeom>
            <a:grpFill/>
            <a:ln w="12700">
              <a:solidFill>
                <a:schemeClr val="tx1"/>
              </a:solidFill>
              <a:round/>
              <a:headEnd/>
              <a:tailEnd/>
            </a:ln>
          </p:spPr>
        </p:cxnSp>
        <p:cxnSp>
          <p:nvCxnSpPr>
            <p:cNvPr id="14371" name="AutoShape 21"/>
            <p:cNvCxnSpPr>
              <a:cxnSpLocks noChangeShapeType="1"/>
            </p:cNvCxnSpPr>
            <p:nvPr/>
          </p:nvCxnSpPr>
          <p:spPr bwMode="auto">
            <a:xfrm rot="16200000" flipH="1">
              <a:off x="4456112" y="3770312"/>
              <a:ext cx="196850" cy="187325"/>
            </a:xfrm>
            <a:prstGeom prst="straightConnector1">
              <a:avLst/>
            </a:prstGeom>
            <a:grpFill/>
            <a:ln w="12700">
              <a:solidFill>
                <a:schemeClr val="tx1"/>
              </a:solidFill>
              <a:round/>
              <a:headEnd/>
              <a:tailEnd/>
            </a:ln>
          </p:spPr>
        </p:cxnSp>
      </p:grpSp>
      <p:grpSp>
        <p:nvGrpSpPr>
          <p:cNvPr id="9" name="Group 61"/>
          <p:cNvGrpSpPr>
            <a:grpSpLocks/>
          </p:cNvGrpSpPr>
          <p:nvPr/>
        </p:nvGrpSpPr>
        <p:grpSpPr bwMode="auto">
          <a:xfrm>
            <a:off x="5947833" y="2514600"/>
            <a:ext cx="3301998" cy="1250950"/>
            <a:chOff x="4460876" y="2514600"/>
            <a:chExt cx="2476499" cy="1250950"/>
          </a:xfrm>
        </p:grpSpPr>
        <p:sp>
          <p:nvSpPr>
            <p:cNvPr id="14366" name="AutoShape 26"/>
            <p:cNvSpPr>
              <a:spLocks noChangeArrowheads="1"/>
            </p:cNvSpPr>
            <p:nvPr/>
          </p:nvSpPr>
          <p:spPr bwMode="auto">
            <a:xfrm flipV="1">
              <a:off x="6556375" y="3460750"/>
              <a:ext cx="381000" cy="304800"/>
            </a:xfrm>
            <a:prstGeom prst="triangle">
              <a:avLst>
                <a:gd name="adj" fmla="val 50000"/>
              </a:avLst>
            </a:prstGeom>
            <a:solidFill>
              <a:srgbClr val="FF0000"/>
            </a:solidFill>
            <a:ln w="12700">
              <a:solidFill>
                <a:schemeClr val="tx1"/>
              </a:solidFill>
              <a:miter lim="800000"/>
              <a:headEnd/>
              <a:tailEnd/>
            </a:ln>
          </p:spPr>
          <p:txBody>
            <a:bodyPr wrap="none" anchor="ctr"/>
            <a:lstStyle/>
            <a:p>
              <a:endParaRPr lang="en-US"/>
            </a:p>
          </p:txBody>
        </p:sp>
        <p:cxnSp>
          <p:nvCxnSpPr>
            <p:cNvPr id="14367" name="AutoShape 27"/>
            <p:cNvCxnSpPr>
              <a:cxnSpLocks noChangeShapeType="1"/>
              <a:stCxn id="14339" idx="3"/>
              <a:endCxn id="14366" idx="3"/>
            </p:cNvCxnSpPr>
            <p:nvPr/>
          </p:nvCxnSpPr>
          <p:spPr bwMode="auto">
            <a:xfrm>
              <a:off x="4460875" y="2514600"/>
              <a:ext cx="2284413" cy="946150"/>
            </a:xfrm>
            <a:prstGeom prst="straightConnector1">
              <a:avLst/>
            </a:prstGeom>
            <a:noFill/>
            <a:ln w="12700">
              <a:solidFill>
                <a:schemeClr val="tx1"/>
              </a:solidFill>
              <a:round/>
              <a:headEnd/>
              <a:tailEnd type="triangle" w="med" len="med"/>
            </a:ln>
          </p:spPr>
        </p:cxnSp>
      </p:grpSp>
      <p:grpSp>
        <p:nvGrpSpPr>
          <p:cNvPr id="10" name="Group 60"/>
          <p:cNvGrpSpPr>
            <a:grpSpLocks/>
          </p:cNvGrpSpPr>
          <p:nvPr/>
        </p:nvGrpSpPr>
        <p:grpSpPr bwMode="auto">
          <a:xfrm>
            <a:off x="7721600" y="3762375"/>
            <a:ext cx="1524000" cy="1190625"/>
            <a:chOff x="5791200" y="3762375"/>
            <a:chExt cx="1142999" cy="1190625"/>
          </a:xfrm>
          <a:solidFill>
            <a:srgbClr val="C198E0"/>
          </a:solidFill>
        </p:grpSpPr>
        <p:cxnSp>
          <p:nvCxnSpPr>
            <p:cNvPr id="14362" name="AutoShape 29"/>
            <p:cNvCxnSpPr>
              <a:cxnSpLocks noChangeShapeType="1"/>
            </p:cNvCxnSpPr>
            <p:nvPr/>
          </p:nvCxnSpPr>
          <p:spPr bwMode="auto">
            <a:xfrm flipH="1">
              <a:off x="5984875" y="3765550"/>
              <a:ext cx="760413" cy="822325"/>
            </a:xfrm>
            <a:prstGeom prst="straightConnector1">
              <a:avLst/>
            </a:prstGeom>
            <a:grpFill/>
            <a:ln w="12700">
              <a:solidFill>
                <a:schemeClr val="tx1"/>
              </a:solidFill>
              <a:round/>
              <a:headEnd/>
              <a:tailEnd type="triangle" w="med" len="med"/>
            </a:ln>
          </p:spPr>
        </p:cxnSp>
        <p:sp>
          <p:nvSpPr>
            <p:cNvPr id="14363" name="Rectangle 7"/>
            <p:cNvSpPr>
              <a:spLocks noChangeArrowheads="1"/>
            </p:cNvSpPr>
            <p:nvPr/>
          </p:nvSpPr>
          <p:spPr bwMode="auto">
            <a:xfrm>
              <a:off x="5791200" y="4648200"/>
              <a:ext cx="381000" cy="304800"/>
            </a:xfrm>
            <a:prstGeom prst="rect">
              <a:avLst/>
            </a:prstGeom>
            <a:grpFill/>
            <a:ln w="9525">
              <a:solidFill>
                <a:schemeClr val="tx1"/>
              </a:solidFill>
              <a:miter lim="800000"/>
              <a:headEnd/>
              <a:tailEnd/>
            </a:ln>
          </p:spPr>
          <p:txBody>
            <a:bodyPr wrap="none" anchor="ctr"/>
            <a:lstStyle/>
            <a:p>
              <a:pPr algn="ctr"/>
              <a:r>
                <a:rPr lang="en-US"/>
                <a:t>14</a:t>
              </a:r>
            </a:p>
          </p:txBody>
        </p:sp>
        <p:cxnSp>
          <p:nvCxnSpPr>
            <p:cNvPr id="14364" name="AutoShape 21"/>
            <p:cNvCxnSpPr>
              <a:cxnSpLocks noChangeShapeType="1"/>
            </p:cNvCxnSpPr>
            <p:nvPr/>
          </p:nvCxnSpPr>
          <p:spPr bwMode="auto">
            <a:xfrm rot="5400000">
              <a:off x="6592094" y="3913981"/>
              <a:ext cx="304800" cy="1588"/>
            </a:xfrm>
            <a:prstGeom prst="straightConnector1">
              <a:avLst/>
            </a:prstGeom>
            <a:grpFill/>
            <a:ln w="12700">
              <a:solidFill>
                <a:schemeClr val="tx1"/>
              </a:solidFill>
              <a:round/>
              <a:headEnd/>
              <a:tailEnd/>
            </a:ln>
          </p:spPr>
        </p:cxnSp>
        <p:cxnSp>
          <p:nvCxnSpPr>
            <p:cNvPr id="14365" name="AutoShape 21"/>
            <p:cNvCxnSpPr>
              <a:cxnSpLocks noChangeShapeType="1"/>
            </p:cNvCxnSpPr>
            <p:nvPr/>
          </p:nvCxnSpPr>
          <p:spPr bwMode="auto">
            <a:xfrm rot="16200000" flipH="1">
              <a:off x="6742112" y="3770312"/>
              <a:ext cx="196850" cy="187325"/>
            </a:xfrm>
            <a:prstGeom prst="straightConnector1">
              <a:avLst/>
            </a:prstGeom>
            <a:grpFill/>
            <a:ln w="12700">
              <a:solidFill>
                <a:schemeClr val="tx1"/>
              </a:solidFill>
              <a:round/>
              <a:headEnd/>
              <a:tailEnd/>
            </a:ln>
          </p:spPr>
        </p:cxnSp>
      </p:grpSp>
      <p:sp>
        <p:nvSpPr>
          <p:cNvPr id="6" name="TextBox 5"/>
          <p:cNvSpPr txBox="1"/>
          <p:nvPr/>
        </p:nvSpPr>
        <p:spPr>
          <a:xfrm>
            <a:off x="5257800" y="2895600"/>
            <a:ext cx="719255" cy="369332"/>
          </a:xfrm>
          <a:prstGeom prst="rect">
            <a:avLst/>
          </a:prstGeom>
          <a:noFill/>
        </p:spPr>
        <p:txBody>
          <a:bodyPr wrap="none" rtlCol="0">
            <a:spAutoFit/>
          </a:bodyPr>
          <a:lstStyle/>
          <a:p>
            <a:r>
              <a:rPr lang="en-US" dirty="0">
                <a:sym typeface="Symbol" pitchFamily="18" charset="2"/>
              </a:rPr>
              <a:t> </a:t>
            </a:r>
            <a:r>
              <a:rPr lang="en-US" b="1" i="1" dirty="0">
                <a:solidFill>
                  <a:srgbClr val="0000FF"/>
                </a:solidFill>
                <a:sym typeface="Symbol" pitchFamily="18" charset="2"/>
              </a:rPr>
              <a:t>α</a:t>
            </a:r>
            <a:r>
              <a:rPr lang="en-US" dirty="0"/>
              <a:t> =3</a:t>
            </a:r>
          </a:p>
        </p:txBody>
      </p:sp>
      <p:sp>
        <p:nvSpPr>
          <p:cNvPr id="48" name="TextBox 47"/>
          <p:cNvSpPr txBox="1"/>
          <p:nvPr/>
        </p:nvSpPr>
        <p:spPr>
          <a:xfrm>
            <a:off x="6748345" y="2895600"/>
            <a:ext cx="719255" cy="369332"/>
          </a:xfrm>
          <a:prstGeom prst="rect">
            <a:avLst/>
          </a:prstGeom>
          <a:noFill/>
        </p:spPr>
        <p:txBody>
          <a:bodyPr wrap="none" rtlCol="0">
            <a:spAutoFit/>
          </a:bodyPr>
          <a:lstStyle/>
          <a:p>
            <a:r>
              <a:rPr lang="en-US" dirty="0">
                <a:sym typeface="Symbol" pitchFamily="18" charset="2"/>
              </a:rPr>
              <a:t> </a:t>
            </a:r>
            <a:r>
              <a:rPr lang="en-US" b="1" i="1" dirty="0">
                <a:solidFill>
                  <a:srgbClr val="0000FF"/>
                </a:solidFill>
                <a:sym typeface="Symbol" pitchFamily="18" charset="2"/>
              </a:rPr>
              <a:t>α</a:t>
            </a:r>
            <a:r>
              <a:rPr lang="en-US" dirty="0"/>
              <a:t> =3</a:t>
            </a:r>
          </a:p>
        </p:txBody>
      </p:sp>
      <p:sp>
        <p:nvSpPr>
          <p:cNvPr id="50" name="TextBox 49"/>
          <p:cNvSpPr txBox="1"/>
          <p:nvPr/>
        </p:nvSpPr>
        <p:spPr>
          <a:xfrm>
            <a:off x="1066800" y="1295400"/>
            <a:ext cx="3390672" cy="646331"/>
          </a:xfrm>
          <a:prstGeom prst="rect">
            <a:avLst/>
          </a:prstGeom>
          <a:noFill/>
        </p:spPr>
        <p:txBody>
          <a:bodyPr wrap="none" rtlCol="0">
            <a:spAutoFit/>
          </a:bodyPr>
          <a:lstStyle/>
          <a:p>
            <a:r>
              <a:rPr lang="en-US" dirty="0">
                <a:sym typeface="Symbol" pitchFamily="18" charset="2"/>
              </a:rPr>
              <a:t> </a:t>
            </a:r>
            <a:r>
              <a:rPr lang="en-US" b="1" i="1" dirty="0">
                <a:solidFill>
                  <a:srgbClr val="0000FF"/>
                </a:solidFill>
                <a:sym typeface="Symbol" pitchFamily="18" charset="2"/>
              </a:rPr>
              <a:t>α</a:t>
            </a:r>
            <a:r>
              <a:rPr lang="en-US" dirty="0"/>
              <a:t> = best option so far from any </a:t>
            </a:r>
          </a:p>
          <a:p>
            <a:r>
              <a:rPr lang="en-US" dirty="0"/>
              <a:t>MAX node on this path</a:t>
            </a:r>
          </a:p>
        </p:txBody>
      </p:sp>
      <p:sp>
        <p:nvSpPr>
          <p:cNvPr id="15" name="TextBox 14"/>
          <p:cNvSpPr txBox="1"/>
          <p:nvPr/>
        </p:nvSpPr>
        <p:spPr>
          <a:xfrm>
            <a:off x="6934200" y="5486400"/>
            <a:ext cx="5161765" cy="646331"/>
          </a:xfrm>
          <a:prstGeom prst="rect">
            <a:avLst/>
          </a:prstGeom>
          <a:noFill/>
        </p:spPr>
        <p:txBody>
          <a:bodyPr wrap="none" rtlCol="0">
            <a:spAutoFit/>
          </a:bodyPr>
          <a:lstStyle/>
          <a:p>
            <a:r>
              <a:rPr lang="en-US" b="1" i="1" dirty="0">
                <a:solidFill>
                  <a:srgbClr val="0000FF"/>
                </a:solidFill>
              </a:rPr>
              <a:t>The order of generation matters</a:t>
            </a:r>
            <a:r>
              <a:rPr lang="en-US" dirty="0"/>
              <a:t>: more pruning</a:t>
            </a:r>
          </a:p>
          <a:p>
            <a:r>
              <a:rPr lang="en-US" dirty="0"/>
              <a:t>is possible if good moves come first</a:t>
            </a:r>
          </a:p>
        </p:txBody>
      </p:sp>
      <p:sp>
        <p:nvSpPr>
          <p:cNvPr id="45" name="TextBox 44"/>
          <p:cNvSpPr txBox="1"/>
          <p:nvPr/>
        </p:nvSpPr>
        <p:spPr>
          <a:xfrm>
            <a:off x="2250142" y="3272135"/>
            <a:ext cx="340658" cy="461665"/>
          </a:xfrm>
          <a:prstGeom prst="rect">
            <a:avLst/>
          </a:prstGeom>
          <a:noFill/>
        </p:spPr>
        <p:txBody>
          <a:bodyPr wrap="none" rtlCol="0">
            <a:spAutoFit/>
          </a:bodyPr>
          <a:lstStyle/>
          <a:p>
            <a:r>
              <a:rPr lang="en-US" sz="2400" dirty="0">
                <a:solidFill>
                  <a:srgbClr val="FF0000"/>
                </a:solidFill>
                <a:latin typeface="Calibri"/>
                <a:cs typeface="Calibri"/>
              </a:rPr>
              <a:t>3</a:t>
            </a:r>
          </a:p>
        </p:txBody>
      </p:sp>
      <p:sp>
        <p:nvSpPr>
          <p:cNvPr id="46" name="TextBox 45"/>
          <p:cNvSpPr txBox="1"/>
          <p:nvPr/>
        </p:nvSpPr>
        <p:spPr>
          <a:xfrm>
            <a:off x="5334000" y="1976735"/>
            <a:ext cx="340658" cy="461665"/>
          </a:xfrm>
          <a:prstGeom prst="rect">
            <a:avLst/>
          </a:prstGeom>
          <a:noFill/>
        </p:spPr>
        <p:txBody>
          <a:bodyPr wrap="none" rtlCol="0">
            <a:spAutoFit/>
          </a:bodyPr>
          <a:lstStyle/>
          <a:p>
            <a:r>
              <a:rPr lang="en-US" sz="2400" dirty="0">
                <a:solidFill>
                  <a:srgbClr val="0000FF"/>
                </a:solidFill>
                <a:latin typeface="Calibri"/>
                <a:cs typeface="Calibri"/>
              </a:rPr>
              <a:t>3</a:t>
            </a:r>
          </a:p>
        </p:txBody>
      </p:sp>
      <p:pic>
        <p:nvPicPr>
          <p:cNvPr id="47" name="Picture 46" descr="BU005292.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91200" y="3429000"/>
            <a:ext cx="1230511" cy="1292352"/>
          </a:xfrm>
          <a:prstGeom prst="rect">
            <a:avLst/>
          </a:prstGeom>
        </p:spPr>
      </p:pic>
    </p:spTree>
    <p:extLst>
      <p:ext uri="{BB962C8B-B14F-4D97-AF65-F5344CB8AC3E}">
        <p14:creationId xmlns:p14="http://schemas.microsoft.com/office/powerpoint/2010/main" val="389863254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7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6" grpId="0"/>
      <p:bldP spid="48" grpId="0"/>
      <p:bldP spid="48" grpId="1"/>
      <p:bldP spid="50" grpId="0"/>
      <p:bldP spid="15" grpId="0"/>
      <p:bldP spid="45" grpId="0"/>
      <p:bldP spid="4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C00000"/>
                </a:solidFill>
              </a:rPr>
              <a:t>Ví</a:t>
            </a:r>
            <a:r>
              <a:rPr lang="en-US" dirty="0">
                <a:solidFill>
                  <a:srgbClr val="C00000"/>
                </a:solidFill>
              </a:rPr>
              <a:t> </a:t>
            </a:r>
            <a:r>
              <a:rPr lang="en-US" dirty="0" err="1">
                <a:solidFill>
                  <a:srgbClr val="C00000"/>
                </a:solidFill>
              </a:rPr>
              <a:t>dụ</a:t>
            </a:r>
            <a:endParaRPr lang="en-US" dirty="0">
              <a:solidFill>
                <a:srgbClr val="C00000"/>
              </a:solidFill>
            </a:endParaRPr>
          </a:p>
        </p:txBody>
      </p:sp>
      <p:pic>
        <p:nvPicPr>
          <p:cNvPr id="6" name="Picture 5" descr="alpha-beta-small.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5600" y="1371600"/>
            <a:ext cx="6502400" cy="4826000"/>
          </a:xfrm>
          <a:prstGeom prst="rect">
            <a:avLst/>
          </a:prstGeom>
        </p:spPr>
      </p:pic>
      <p:sp>
        <p:nvSpPr>
          <p:cNvPr id="3" name="Rectangle 2">
            <a:extLst>
              <a:ext uri="{FF2B5EF4-FFF2-40B4-BE49-F238E27FC236}">
                <a16:creationId xmlns:a16="http://schemas.microsoft.com/office/drawing/2014/main" id="{47719578-04CC-42D6-99A2-0A83F1FD4396}"/>
              </a:ext>
            </a:extLst>
          </p:cNvPr>
          <p:cNvSpPr/>
          <p:nvPr/>
        </p:nvSpPr>
        <p:spPr>
          <a:xfrm>
            <a:off x="304800" y="1219200"/>
            <a:ext cx="6096000" cy="954107"/>
          </a:xfrm>
          <a:prstGeom prst="rect">
            <a:avLst/>
          </a:prstGeom>
        </p:spPr>
        <p:txBody>
          <a:bodyPr>
            <a:spAutoFit/>
          </a:bodyPr>
          <a:lstStyle/>
          <a:p>
            <a:r>
              <a:rPr lang="en-US" sz="2800" dirty="0" err="1">
                <a:solidFill>
                  <a:schemeClr val="accent1">
                    <a:lumMod val="75000"/>
                  </a:schemeClr>
                </a:solidFill>
              </a:rPr>
              <a:t>Nhánh</a:t>
            </a:r>
            <a:r>
              <a:rPr lang="en-US" sz="2800" dirty="0">
                <a:solidFill>
                  <a:schemeClr val="accent1">
                    <a:lumMod val="75000"/>
                  </a:schemeClr>
                </a:solidFill>
              </a:rPr>
              <a:t> </a:t>
            </a:r>
            <a:r>
              <a:rPr lang="en-US" sz="2800" dirty="0" err="1">
                <a:solidFill>
                  <a:schemeClr val="accent1">
                    <a:lumMod val="75000"/>
                  </a:schemeClr>
                </a:solidFill>
              </a:rPr>
              <a:t>nào</a:t>
            </a:r>
            <a:r>
              <a:rPr lang="en-US" sz="2800" dirty="0">
                <a:solidFill>
                  <a:schemeClr val="accent1">
                    <a:lumMod val="75000"/>
                  </a:schemeClr>
                </a:solidFill>
              </a:rPr>
              <a:t> </a:t>
            </a:r>
            <a:r>
              <a:rPr lang="en-US" sz="2800" dirty="0" err="1">
                <a:solidFill>
                  <a:schemeClr val="accent1">
                    <a:lumMod val="75000"/>
                  </a:schemeClr>
                </a:solidFill>
              </a:rPr>
              <a:t>sẽ</a:t>
            </a:r>
            <a:r>
              <a:rPr lang="en-US" sz="2800" dirty="0">
                <a:solidFill>
                  <a:schemeClr val="accent1">
                    <a:lumMod val="75000"/>
                  </a:schemeClr>
                </a:solidFill>
              </a:rPr>
              <a:t> </a:t>
            </a:r>
            <a:r>
              <a:rPr lang="en-US" sz="2800" dirty="0" err="1">
                <a:solidFill>
                  <a:schemeClr val="accent1">
                    <a:lumMod val="75000"/>
                  </a:schemeClr>
                </a:solidFill>
              </a:rPr>
              <a:t>được</a:t>
            </a:r>
            <a:r>
              <a:rPr lang="en-US" sz="2800" dirty="0">
                <a:solidFill>
                  <a:schemeClr val="accent1">
                    <a:lumMod val="75000"/>
                  </a:schemeClr>
                </a:solidFill>
              </a:rPr>
              <a:t> </a:t>
            </a:r>
            <a:r>
              <a:rPr lang="en-US" sz="2800" dirty="0" err="1">
                <a:solidFill>
                  <a:schemeClr val="accent1">
                    <a:lumMod val="75000"/>
                  </a:schemeClr>
                </a:solidFill>
              </a:rPr>
              <a:t>cắt</a:t>
            </a:r>
            <a:r>
              <a:rPr lang="en-US" sz="2800" dirty="0">
                <a:solidFill>
                  <a:schemeClr val="accent1">
                    <a:lumMod val="75000"/>
                  </a:schemeClr>
                </a:solidFill>
              </a:rPr>
              <a:t>?</a:t>
            </a:r>
          </a:p>
          <a:p>
            <a:r>
              <a:rPr lang="en-US" sz="2800" dirty="0">
                <a:solidFill>
                  <a:schemeClr val="accent1">
                    <a:lumMod val="75000"/>
                  </a:schemeClr>
                </a:solidFill>
              </a:rPr>
              <a:t>(</a:t>
            </a:r>
            <a:r>
              <a:rPr lang="en-US" sz="2800" dirty="0" err="1">
                <a:solidFill>
                  <a:schemeClr val="accent1">
                    <a:lumMod val="75000"/>
                  </a:schemeClr>
                </a:solidFill>
              </a:rPr>
              <a:t>Giả</a:t>
            </a:r>
            <a:r>
              <a:rPr lang="en-US" sz="2800" dirty="0">
                <a:solidFill>
                  <a:schemeClr val="accent1">
                    <a:lumMod val="75000"/>
                  </a:schemeClr>
                </a:solidFill>
              </a:rPr>
              <a:t> </a:t>
            </a:r>
            <a:r>
              <a:rPr lang="en-US" sz="2800" dirty="0" err="1">
                <a:solidFill>
                  <a:schemeClr val="accent1">
                    <a:lumMod val="75000"/>
                  </a:schemeClr>
                </a:solidFill>
              </a:rPr>
              <a:t>sử</a:t>
            </a:r>
            <a:r>
              <a:rPr lang="en-US" sz="2800" dirty="0">
                <a:solidFill>
                  <a:schemeClr val="accent1">
                    <a:lumMod val="75000"/>
                  </a:schemeClr>
                </a:solidFill>
              </a:rPr>
              <a:t> </a:t>
            </a:r>
            <a:r>
              <a:rPr lang="en-US" sz="2800" dirty="0" err="1">
                <a:solidFill>
                  <a:schemeClr val="accent1">
                    <a:lumMod val="75000"/>
                  </a:schemeClr>
                </a:solidFill>
              </a:rPr>
              <a:t>duyệt</a:t>
            </a:r>
            <a:r>
              <a:rPr lang="en-US" sz="2800" dirty="0">
                <a:solidFill>
                  <a:schemeClr val="accent1">
                    <a:lumMod val="75000"/>
                  </a:schemeClr>
                </a:solidFill>
              </a:rPr>
              <a:t> </a:t>
            </a:r>
            <a:r>
              <a:rPr lang="en-US" sz="2800" dirty="0" err="1">
                <a:solidFill>
                  <a:schemeClr val="accent1">
                    <a:lumMod val="75000"/>
                  </a:schemeClr>
                </a:solidFill>
              </a:rPr>
              <a:t>từ</a:t>
            </a:r>
            <a:r>
              <a:rPr lang="en-US" sz="2800" dirty="0">
                <a:solidFill>
                  <a:schemeClr val="accent1">
                    <a:lumMod val="75000"/>
                  </a:schemeClr>
                </a:solidFill>
              </a:rPr>
              <a:t> </a:t>
            </a:r>
            <a:r>
              <a:rPr lang="en-US" sz="2800" dirty="0" err="1">
                <a:solidFill>
                  <a:schemeClr val="accent1">
                    <a:lumMod val="75000"/>
                  </a:schemeClr>
                </a:solidFill>
              </a:rPr>
              <a:t>trái</a:t>
            </a:r>
            <a:r>
              <a:rPr lang="en-US" sz="2800" dirty="0">
                <a:solidFill>
                  <a:schemeClr val="accent1">
                    <a:lumMod val="75000"/>
                  </a:schemeClr>
                </a:solidFill>
              </a:rPr>
              <a:t> qua </a:t>
            </a:r>
            <a:r>
              <a:rPr lang="en-US" sz="2800" dirty="0" err="1">
                <a:solidFill>
                  <a:schemeClr val="accent1">
                    <a:lumMod val="75000"/>
                  </a:schemeClr>
                </a:solidFill>
              </a:rPr>
              <a:t>phải</a:t>
            </a:r>
            <a:r>
              <a:rPr lang="en-US" sz="2800" dirty="0">
                <a:solidFill>
                  <a:schemeClr val="accent1">
                    <a:lumMod val="75000"/>
                  </a:schemeClr>
                </a:solidFill>
              </a:rPr>
              <a:t>)</a:t>
            </a:r>
          </a:p>
        </p:txBody>
      </p:sp>
    </p:spTree>
    <p:extLst>
      <p:ext uri="{BB962C8B-B14F-4D97-AF65-F5344CB8AC3E}">
        <p14:creationId xmlns:p14="http://schemas.microsoft.com/office/powerpoint/2010/main" val="4059490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C00000"/>
                </a:solidFill>
              </a:rPr>
              <a:t>Ví</a:t>
            </a:r>
            <a:r>
              <a:rPr lang="en-US" dirty="0">
                <a:solidFill>
                  <a:srgbClr val="C00000"/>
                </a:solidFill>
              </a:rPr>
              <a:t> </a:t>
            </a:r>
            <a:r>
              <a:rPr lang="en-US" dirty="0" err="1">
                <a:solidFill>
                  <a:srgbClr val="C00000"/>
                </a:solidFill>
              </a:rPr>
              <a:t>dụ</a:t>
            </a:r>
            <a:endParaRPr lang="en-US" dirty="0">
              <a:solidFill>
                <a:srgbClr val="C00000"/>
              </a:solidFill>
            </a:endParaRPr>
          </a:p>
        </p:txBody>
      </p:sp>
      <p:pic>
        <p:nvPicPr>
          <p:cNvPr id="5" name="Picture 4" descr="alpha-beta-large.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600" y="1143000"/>
            <a:ext cx="9029700" cy="5715000"/>
          </a:xfrm>
          <a:prstGeom prst="rect">
            <a:avLst/>
          </a:prstGeom>
        </p:spPr>
      </p:pic>
      <p:sp>
        <p:nvSpPr>
          <p:cNvPr id="3" name="Rectangle 2">
            <a:extLst>
              <a:ext uri="{FF2B5EF4-FFF2-40B4-BE49-F238E27FC236}">
                <a16:creationId xmlns:a16="http://schemas.microsoft.com/office/drawing/2014/main" id="{1F8B2929-1D42-6FFC-6175-5D5BDC33DC1B}"/>
              </a:ext>
            </a:extLst>
          </p:cNvPr>
          <p:cNvSpPr/>
          <p:nvPr/>
        </p:nvSpPr>
        <p:spPr>
          <a:xfrm>
            <a:off x="76200" y="1219200"/>
            <a:ext cx="6096000" cy="954107"/>
          </a:xfrm>
          <a:prstGeom prst="rect">
            <a:avLst/>
          </a:prstGeom>
        </p:spPr>
        <p:txBody>
          <a:bodyPr>
            <a:spAutoFit/>
          </a:bodyPr>
          <a:lstStyle/>
          <a:p>
            <a:r>
              <a:rPr lang="en-US" sz="2800" dirty="0" err="1">
                <a:solidFill>
                  <a:schemeClr val="accent1">
                    <a:lumMod val="75000"/>
                  </a:schemeClr>
                </a:solidFill>
              </a:rPr>
              <a:t>Nhánh</a:t>
            </a:r>
            <a:r>
              <a:rPr lang="en-US" sz="2800" dirty="0">
                <a:solidFill>
                  <a:schemeClr val="accent1">
                    <a:lumMod val="75000"/>
                  </a:schemeClr>
                </a:solidFill>
              </a:rPr>
              <a:t> </a:t>
            </a:r>
            <a:r>
              <a:rPr lang="en-US" sz="2800" dirty="0" err="1">
                <a:solidFill>
                  <a:schemeClr val="accent1">
                    <a:lumMod val="75000"/>
                  </a:schemeClr>
                </a:solidFill>
              </a:rPr>
              <a:t>nào</a:t>
            </a:r>
            <a:r>
              <a:rPr lang="en-US" sz="2800" dirty="0">
                <a:solidFill>
                  <a:schemeClr val="accent1">
                    <a:lumMod val="75000"/>
                  </a:schemeClr>
                </a:solidFill>
              </a:rPr>
              <a:t> </a:t>
            </a:r>
            <a:r>
              <a:rPr lang="en-US" sz="2800" dirty="0" err="1">
                <a:solidFill>
                  <a:schemeClr val="accent1">
                    <a:lumMod val="75000"/>
                  </a:schemeClr>
                </a:solidFill>
              </a:rPr>
              <a:t>sẽ</a:t>
            </a:r>
            <a:r>
              <a:rPr lang="en-US" sz="2800" dirty="0">
                <a:solidFill>
                  <a:schemeClr val="accent1">
                    <a:lumMod val="75000"/>
                  </a:schemeClr>
                </a:solidFill>
              </a:rPr>
              <a:t> </a:t>
            </a:r>
            <a:r>
              <a:rPr lang="en-US" sz="2800" dirty="0" err="1">
                <a:solidFill>
                  <a:schemeClr val="accent1">
                    <a:lumMod val="75000"/>
                  </a:schemeClr>
                </a:solidFill>
              </a:rPr>
              <a:t>được</a:t>
            </a:r>
            <a:r>
              <a:rPr lang="en-US" sz="2800" dirty="0">
                <a:solidFill>
                  <a:schemeClr val="accent1">
                    <a:lumMod val="75000"/>
                  </a:schemeClr>
                </a:solidFill>
              </a:rPr>
              <a:t> </a:t>
            </a:r>
            <a:r>
              <a:rPr lang="en-US" sz="2800" dirty="0" err="1">
                <a:solidFill>
                  <a:schemeClr val="accent1">
                    <a:lumMod val="75000"/>
                  </a:schemeClr>
                </a:solidFill>
              </a:rPr>
              <a:t>cắt</a:t>
            </a:r>
            <a:r>
              <a:rPr lang="en-US" sz="2800" dirty="0">
                <a:solidFill>
                  <a:schemeClr val="accent1">
                    <a:lumMod val="75000"/>
                  </a:schemeClr>
                </a:solidFill>
              </a:rPr>
              <a:t>?</a:t>
            </a:r>
          </a:p>
          <a:p>
            <a:r>
              <a:rPr lang="en-US" sz="2800" dirty="0">
                <a:solidFill>
                  <a:schemeClr val="accent1">
                    <a:lumMod val="75000"/>
                  </a:schemeClr>
                </a:solidFill>
              </a:rPr>
              <a:t>(</a:t>
            </a:r>
            <a:r>
              <a:rPr lang="en-US" sz="2800" dirty="0" err="1">
                <a:solidFill>
                  <a:schemeClr val="accent1">
                    <a:lumMod val="75000"/>
                  </a:schemeClr>
                </a:solidFill>
              </a:rPr>
              <a:t>Giả</a:t>
            </a:r>
            <a:r>
              <a:rPr lang="en-US" sz="2800" dirty="0">
                <a:solidFill>
                  <a:schemeClr val="accent1">
                    <a:lumMod val="75000"/>
                  </a:schemeClr>
                </a:solidFill>
              </a:rPr>
              <a:t> </a:t>
            </a:r>
            <a:r>
              <a:rPr lang="en-US" sz="2800" dirty="0" err="1">
                <a:solidFill>
                  <a:schemeClr val="accent1">
                    <a:lumMod val="75000"/>
                  </a:schemeClr>
                </a:solidFill>
              </a:rPr>
              <a:t>sử</a:t>
            </a:r>
            <a:r>
              <a:rPr lang="en-US" sz="2800" dirty="0">
                <a:solidFill>
                  <a:schemeClr val="accent1">
                    <a:lumMod val="75000"/>
                  </a:schemeClr>
                </a:solidFill>
              </a:rPr>
              <a:t> </a:t>
            </a:r>
            <a:r>
              <a:rPr lang="en-US" sz="2800" dirty="0" err="1">
                <a:solidFill>
                  <a:schemeClr val="accent1">
                    <a:lumMod val="75000"/>
                  </a:schemeClr>
                </a:solidFill>
              </a:rPr>
              <a:t>duyệt</a:t>
            </a:r>
            <a:r>
              <a:rPr lang="en-US" sz="2800" dirty="0">
                <a:solidFill>
                  <a:schemeClr val="accent1">
                    <a:lumMod val="75000"/>
                  </a:schemeClr>
                </a:solidFill>
              </a:rPr>
              <a:t> </a:t>
            </a:r>
            <a:r>
              <a:rPr lang="en-US" sz="2800" dirty="0" err="1">
                <a:solidFill>
                  <a:schemeClr val="accent1">
                    <a:lumMod val="75000"/>
                  </a:schemeClr>
                </a:solidFill>
              </a:rPr>
              <a:t>từ</a:t>
            </a:r>
            <a:r>
              <a:rPr lang="en-US" sz="2800" dirty="0">
                <a:solidFill>
                  <a:schemeClr val="accent1">
                    <a:lumMod val="75000"/>
                  </a:schemeClr>
                </a:solidFill>
              </a:rPr>
              <a:t> </a:t>
            </a:r>
            <a:r>
              <a:rPr lang="en-US" sz="2800" dirty="0" err="1">
                <a:solidFill>
                  <a:schemeClr val="accent1">
                    <a:lumMod val="75000"/>
                  </a:schemeClr>
                </a:solidFill>
              </a:rPr>
              <a:t>trái</a:t>
            </a:r>
            <a:r>
              <a:rPr lang="en-US" sz="2800" dirty="0">
                <a:solidFill>
                  <a:schemeClr val="accent1">
                    <a:lumMod val="75000"/>
                  </a:schemeClr>
                </a:solidFill>
              </a:rPr>
              <a:t> qua </a:t>
            </a:r>
            <a:r>
              <a:rPr lang="en-US" sz="2800" dirty="0" err="1">
                <a:solidFill>
                  <a:schemeClr val="accent1">
                    <a:lumMod val="75000"/>
                  </a:schemeClr>
                </a:solidFill>
              </a:rPr>
              <a:t>phải</a:t>
            </a:r>
            <a:r>
              <a:rPr lang="en-US" sz="2800" dirty="0">
                <a:solidFill>
                  <a:schemeClr val="accent1">
                    <a:lumMod val="75000"/>
                  </a:schemeClr>
                </a:solidFill>
              </a:rPr>
              <a:t>)</a:t>
            </a:r>
          </a:p>
        </p:txBody>
      </p:sp>
    </p:spTree>
    <p:extLst>
      <p:ext uri="{BB962C8B-B14F-4D97-AF65-F5344CB8AC3E}">
        <p14:creationId xmlns:p14="http://schemas.microsoft.com/office/powerpoint/2010/main" val="26330788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lpha-beta-large.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600" y="1143000"/>
            <a:ext cx="9029700" cy="5715000"/>
          </a:xfrm>
          <a:prstGeom prst="rect">
            <a:avLst/>
          </a:prstGeom>
        </p:spPr>
      </p:pic>
      <p:sp>
        <p:nvSpPr>
          <p:cNvPr id="29" name="Rectangle 28"/>
          <p:cNvSpPr/>
          <p:nvPr/>
        </p:nvSpPr>
        <p:spPr>
          <a:xfrm>
            <a:off x="6019800" y="4259759"/>
            <a:ext cx="1143000" cy="769441"/>
          </a:xfrm>
          <a:prstGeom prst="rect">
            <a:avLst/>
          </a:prstGeom>
          <a:solidFill>
            <a:schemeClr val="bg1"/>
          </a:solidFill>
        </p:spPr>
        <p:txBody>
          <a:bodyPr wrap="square">
            <a:spAutoFit/>
          </a:bodyPr>
          <a:lstStyle/>
          <a:p>
            <a:pPr algn="r"/>
            <a:r>
              <a:rPr lang="en-US" sz="4400" dirty="0">
                <a:solidFill>
                  <a:srgbClr val="0000FF"/>
                </a:solidFill>
                <a:latin typeface="Calibri"/>
                <a:cs typeface="Calibri"/>
              </a:rPr>
              <a:t>1</a:t>
            </a:r>
          </a:p>
        </p:txBody>
      </p:sp>
      <p:sp>
        <p:nvSpPr>
          <p:cNvPr id="2" name="Title 1"/>
          <p:cNvSpPr>
            <a:spLocks noGrp="1"/>
          </p:cNvSpPr>
          <p:nvPr>
            <p:ph type="title"/>
          </p:nvPr>
        </p:nvSpPr>
        <p:spPr/>
        <p:txBody>
          <a:bodyPr/>
          <a:lstStyle/>
          <a:p>
            <a:r>
              <a:rPr lang="en-US" dirty="0" err="1"/>
              <a:t>Cắt</a:t>
            </a:r>
            <a:r>
              <a:rPr lang="en-US" dirty="0"/>
              <a:t> </a:t>
            </a:r>
            <a:r>
              <a:rPr lang="en-US" dirty="0" err="1"/>
              <a:t>nhánh</a:t>
            </a:r>
            <a:r>
              <a:rPr lang="en-US" dirty="0"/>
              <a:t> Alpha-Beta</a:t>
            </a:r>
          </a:p>
        </p:txBody>
      </p:sp>
      <p:sp>
        <p:nvSpPr>
          <p:cNvPr id="6" name="Rectangle 5"/>
          <p:cNvSpPr/>
          <p:nvPr/>
        </p:nvSpPr>
        <p:spPr>
          <a:xfrm>
            <a:off x="9829800" y="5486400"/>
            <a:ext cx="1066800" cy="12954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9B01FF"/>
              </a:solidFill>
            </a:endParaRPr>
          </a:p>
        </p:txBody>
      </p:sp>
      <p:sp>
        <p:nvSpPr>
          <p:cNvPr id="10" name="Rectangle 9"/>
          <p:cNvSpPr/>
          <p:nvPr/>
        </p:nvSpPr>
        <p:spPr>
          <a:xfrm>
            <a:off x="8686800" y="3621505"/>
            <a:ext cx="1752600" cy="32004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9B01FF"/>
              </a:solidFill>
            </a:endParaRPr>
          </a:p>
        </p:txBody>
      </p:sp>
      <p:grpSp>
        <p:nvGrpSpPr>
          <p:cNvPr id="14" name="Group 13"/>
          <p:cNvGrpSpPr/>
          <p:nvPr/>
        </p:nvGrpSpPr>
        <p:grpSpPr>
          <a:xfrm>
            <a:off x="2895600" y="5410200"/>
            <a:ext cx="1066800" cy="1371600"/>
            <a:chOff x="2895600" y="5410200"/>
            <a:chExt cx="1066800" cy="1371600"/>
          </a:xfrm>
        </p:grpSpPr>
        <p:sp>
          <p:nvSpPr>
            <p:cNvPr id="3" name="Rectangle 2"/>
            <p:cNvSpPr/>
            <p:nvPr/>
          </p:nvSpPr>
          <p:spPr>
            <a:xfrm>
              <a:off x="2895600" y="5410200"/>
              <a:ext cx="1066800" cy="13716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9B01FF"/>
                </a:solidFill>
              </a:endParaRPr>
            </a:p>
          </p:txBody>
        </p:sp>
        <p:sp>
          <p:nvSpPr>
            <p:cNvPr id="13" name="Rectangle 12"/>
            <p:cNvSpPr/>
            <p:nvPr/>
          </p:nvSpPr>
          <p:spPr>
            <a:xfrm>
              <a:off x="3124200" y="5562600"/>
              <a:ext cx="446131" cy="769441"/>
            </a:xfrm>
            <a:prstGeom prst="rect">
              <a:avLst/>
            </a:prstGeom>
          </p:spPr>
          <p:txBody>
            <a:bodyPr wrap="none">
              <a:spAutoFit/>
            </a:bodyPr>
            <a:lstStyle/>
            <a:p>
              <a:r>
                <a:rPr lang="en-US" sz="4400" dirty="0">
                  <a:solidFill>
                    <a:srgbClr val="9B01FF"/>
                  </a:solidFill>
                  <a:latin typeface="Calibri"/>
                  <a:cs typeface="Calibri"/>
                </a:rPr>
                <a:t>?</a:t>
              </a:r>
            </a:p>
          </p:txBody>
        </p:sp>
      </p:grpSp>
      <p:sp>
        <p:nvSpPr>
          <p:cNvPr id="18" name="Rectangle 17"/>
          <p:cNvSpPr/>
          <p:nvPr/>
        </p:nvSpPr>
        <p:spPr>
          <a:xfrm>
            <a:off x="2743200" y="2438400"/>
            <a:ext cx="756637" cy="769441"/>
          </a:xfrm>
          <a:prstGeom prst="rect">
            <a:avLst/>
          </a:prstGeom>
        </p:spPr>
        <p:txBody>
          <a:bodyPr wrap="none">
            <a:spAutoFit/>
          </a:bodyPr>
          <a:lstStyle/>
          <a:p>
            <a:r>
              <a:rPr lang="en-US" sz="4400" dirty="0">
                <a:solidFill>
                  <a:srgbClr val="FF0000"/>
                </a:solidFill>
                <a:latin typeface="Calibri"/>
                <a:cs typeface="Calibri"/>
              </a:rPr>
              <a:t>10</a:t>
            </a:r>
          </a:p>
        </p:txBody>
      </p:sp>
      <p:sp>
        <p:nvSpPr>
          <p:cNvPr id="8" name="Rectangle 7"/>
          <p:cNvSpPr/>
          <p:nvPr/>
        </p:nvSpPr>
        <p:spPr>
          <a:xfrm>
            <a:off x="5105400" y="5486400"/>
            <a:ext cx="1066800" cy="12954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9B01FF"/>
              </a:solidFill>
            </a:endParaRPr>
          </a:p>
        </p:txBody>
      </p:sp>
      <p:sp>
        <p:nvSpPr>
          <p:cNvPr id="19" name="Rectangle 18"/>
          <p:cNvSpPr/>
          <p:nvPr/>
        </p:nvSpPr>
        <p:spPr>
          <a:xfrm>
            <a:off x="5486400" y="5715000"/>
            <a:ext cx="446131" cy="769441"/>
          </a:xfrm>
          <a:prstGeom prst="rect">
            <a:avLst/>
          </a:prstGeom>
        </p:spPr>
        <p:txBody>
          <a:bodyPr wrap="none">
            <a:spAutoFit/>
          </a:bodyPr>
          <a:lstStyle/>
          <a:p>
            <a:r>
              <a:rPr lang="en-US" sz="4400" dirty="0">
                <a:solidFill>
                  <a:srgbClr val="9B01FF"/>
                </a:solidFill>
                <a:latin typeface="Calibri"/>
                <a:cs typeface="Calibri"/>
              </a:rPr>
              <a:t>?</a:t>
            </a:r>
          </a:p>
        </p:txBody>
      </p:sp>
      <p:sp>
        <p:nvSpPr>
          <p:cNvPr id="9" name="Rectangle 8"/>
          <p:cNvSpPr/>
          <p:nvPr/>
        </p:nvSpPr>
        <p:spPr>
          <a:xfrm>
            <a:off x="4038600" y="3581400"/>
            <a:ext cx="1752600" cy="32004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9B01FF"/>
              </a:solidFill>
            </a:endParaRPr>
          </a:p>
        </p:txBody>
      </p:sp>
      <p:sp>
        <p:nvSpPr>
          <p:cNvPr id="22" name="Rectangle 21"/>
          <p:cNvSpPr/>
          <p:nvPr/>
        </p:nvSpPr>
        <p:spPr>
          <a:xfrm>
            <a:off x="4419600" y="3657600"/>
            <a:ext cx="446131" cy="769441"/>
          </a:xfrm>
          <a:prstGeom prst="rect">
            <a:avLst/>
          </a:prstGeom>
        </p:spPr>
        <p:txBody>
          <a:bodyPr wrap="none">
            <a:spAutoFit/>
          </a:bodyPr>
          <a:lstStyle/>
          <a:p>
            <a:r>
              <a:rPr lang="en-US" sz="4400" dirty="0">
                <a:solidFill>
                  <a:srgbClr val="9B01FF"/>
                </a:solidFill>
                <a:latin typeface="Calibri"/>
                <a:cs typeface="Calibri"/>
              </a:rPr>
              <a:t>?</a:t>
            </a:r>
          </a:p>
        </p:txBody>
      </p:sp>
      <p:sp>
        <p:nvSpPr>
          <p:cNvPr id="26" name="Rectangle 25"/>
          <p:cNvSpPr/>
          <p:nvPr/>
        </p:nvSpPr>
        <p:spPr>
          <a:xfrm>
            <a:off x="5334000" y="1066800"/>
            <a:ext cx="756637" cy="769441"/>
          </a:xfrm>
          <a:prstGeom prst="rect">
            <a:avLst/>
          </a:prstGeom>
        </p:spPr>
        <p:txBody>
          <a:bodyPr wrap="none">
            <a:spAutoFit/>
          </a:bodyPr>
          <a:lstStyle/>
          <a:p>
            <a:r>
              <a:rPr lang="en-US" sz="4400" dirty="0">
                <a:solidFill>
                  <a:srgbClr val="0000FF"/>
                </a:solidFill>
                <a:latin typeface="Calibri"/>
                <a:cs typeface="Calibri"/>
              </a:rPr>
              <a:t>10</a:t>
            </a:r>
          </a:p>
        </p:txBody>
      </p:sp>
      <p:sp>
        <p:nvSpPr>
          <p:cNvPr id="27" name="Rectangle 26"/>
          <p:cNvSpPr/>
          <p:nvPr/>
        </p:nvSpPr>
        <p:spPr>
          <a:xfrm>
            <a:off x="1524000" y="4495800"/>
            <a:ext cx="756637" cy="769441"/>
          </a:xfrm>
          <a:prstGeom prst="rect">
            <a:avLst/>
          </a:prstGeom>
        </p:spPr>
        <p:txBody>
          <a:bodyPr wrap="none">
            <a:spAutoFit/>
          </a:bodyPr>
          <a:lstStyle/>
          <a:p>
            <a:r>
              <a:rPr lang="en-US" sz="4400" dirty="0">
                <a:solidFill>
                  <a:srgbClr val="0000FF"/>
                </a:solidFill>
                <a:latin typeface="Calibri"/>
                <a:cs typeface="Calibri"/>
              </a:rPr>
              <a:t>10</a:t>
            </a:r>
          </a:p>
        </p:txBody>
      </p:sp>
      <p:sp>
        <p:nvSpPr>
          <p:cNvPr id="32" name="Rectangle 31"/>
          <p:cNvSpPr/>
          <p:nvPr/>
        </p:nvSpPr>
        <p:spPr>
          <a:xfrm>
            <a:off x="3810000" y="4488359"/>
            <a:ext cx="1042623" cy="769441"/>
          </a:xfrm>
          <a:prstGeom prst="rect">
            <a:avLst/>
          </a:prstGeom>
        </p:spPr>
        <p:txBody>
          <a:bodyPr wrap="none">
            <a:spAutoFit/>
          </a:bodyPr>
          <a:lstStyle/>
          <a:p>
            <a:r>
              <a:rPr lang="en-US" sz="4400" dirty="0">
                <a:solidFill>
                  <a:srgbClr val="0000FF"/>
                </a:solidFill>
                <a:latin typeface="Calibri"/>
                <a:cs typeface="Calibri"/>
              </a:rPr>
              <a:t>100</a:t>
            </a:r>
          </a:p>
        </p:txBody>
      </p:sp>
      <p:sp>
        <p:nvSpPr>
          <p:cNvPr id="7" name="Rectangle 6"/>
          <p:cNvSpPr/>
          <p:nvPr/>
        </p:nvSpPr>
        <p:spPr>
          <a:xfrm>
            <a:off x="7543800" y="5410200"/>
            <a:ext cx="1066800" cy="13716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9B01FF"/>
              </a:solidFill>
            </a:endParaRPr>
          </a:p>
        </p:txBody>
      </p:sp>
      <p:sp>
        <p:nvSpPr>
          <p:cNvPr id="30" name="Rectangle 29"/>
          <p:cNvSpPr/>
          <p:nvPr/>
        </p:nvSpPr>
        <p:spPr>
          <a:xfrm>
            <a:off x="7924800" y="5562600"/>
            <a:ext cx="446131" cy="769441"/>
          </a:xfrm>
          <a:prstGeom prst="rect">
            <a:avLst/>
          </a:prstGeom>
        </p:spPr>
        <p:txBody>
          <a:bodyPr wrap="none">
            <a:spAutoFit/>
          </a:bodyPr>
          <a:lstStyle/>
          <a:p>
            <a:r>
              <a:rPr lang="en-US" sz="4400" dirty="0">
                <a:solidFill>
                  <a:srgbClr val="9B01FF"/>
                </a:solidFill>
                <a:latin typeface="Calibri"/>
                <a:cs typeface="Calibri"/>
              </a:rPr>
              <a:t>?</a:t>
            </a:r>
          </a:p>
        </p:txBody>
      </p:sp>
      <p:grpSp>
        <p:nvGrpSpPr>
          <p:cNvPr id="4" name="Group 3"/>
          <p:cNvGrpSpPr/>
          <p:nvPr/>
        </p:nvGrpSpPr>
        <p:grpSpPr>
          <a:xfrm>
            <a:off x="6324600" y="1828800"/>
            <a:ext cx="2743200" cy="4953000"/>
            <a:chOff x="6324600" y="1828800"/>
            <a:chExt cx="2743200" cy="4953000"/>
          </a:xfrm>
        </p:grpSpPr>
        <p:sp>
          <p:nvSpPr>
            <p:cNvPr id="11" name="Rectangle 10"/>
            <p:cNvSpPr/>
            <p:nvPr/>
          </p:nvSpPr>
          <p:spPr>
            <a:xfrm>
              <a:off x="7162800" y="1828800"/>
              <a:ext cx="1905000" cy="3352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9B01FF"/>
                </a:solidFill>
              </a:endParaRPr>
            </a:p>
          </p:txBody>
        </p:sp>
        <p:sp>
          <p:nvSpPr>
            <p:cNvPr id="12" name="Rectangle 11"/>
            <p:cNvSpPr/>
            <p:nvPr/>
          </p:nvSpPr>
          <p:spPr>
            <a:xfrm>
              <a:off x="6324600" y="3429000"/>
              <a:ext cx="2209800" cy="3352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9B01FF"/>
                </a:solidFill>
              </a:endParaRPr>
            </a:p>
          </p:txBody>
        </p:sp>
      </p:grpSp>
      <p:sp>
        <p:nvSpPr>
          <p:cNvPr id="24" name="Rectangle 23"/>
          <p:cNvSpPr/>
          <p:nvPr/>
        </p:nvSpPr>
        <p:spPr>
          <a:xfrm>
            <a:off x="7391400" y="2209800"/>
            <a:ext cx="446131" cy="769441"/>
          </a:xfrm>
          <a:prstGeom prst="rect">
            <a:avLst/>
          </a:prstGeom>
        </p:spPr>
        <p:txBody>
          <a:bodyPr wrap="none">
            <a:spAutoFit/>
          </a:bodyPr>
          <a:lstStyle/>
          <a:p>
            <a:r>
              <a:rPr lang="en-US" sz="4400" dirty="0">
                <a:solidFill>
                  <a:srgbClr val="9B01FF"/>
                </a:solidFill>
                <a:latin typeface="Calibri"/>
                <a:cs typeface="Calibri"/>
              </a:rPr>
              <a:t>?</a:t>
            </a:r>
          </a:p>
        </p:txBody>
      </p:sp>
      <p:sp>
        <p:nvSpPr>
          <p:cNvPr id="34" name="Rectangle 33"/>
          <p:cNvSpPr/>
          <p:nvPr/>
        </p:nvSpPr>
        <p:spPr>
          <a:xfrm>
            <a:off x="6019800" y="4259759"/>
            <a:ext cx="1143000" cy="769441"/>
          </a:xfrm>
          <a:prstGeom prst="rect">
            <a:avLst/>
          </a:prstGeom>
          <a:solidFill>
            <a:schemeClr val="bg1"/>
          </a:solidFill>
        </p:spPr>
        <p:txBody>
          <a:bodyPr wrap="square">
            <a:spAutoFit/>
          </a:bodyPr>
          <a:lstStyle/>
          <a:p>
            <a:pPr algn="r"/>
            <a:r>
              <a:rPr lang="en-US" sz="4400" dirty="0">
                <a:solidFill>
                  <a:srgbClr val="0000FF"/>
                </a:solidFill>
                <a:latin typeface="Calibri"/>
                <a:cs typeface="Calibri"/>
              </a:rPr>
              <a:t>2</a:t>
            </a:r>
          </a:p>
        </p:txBody>
      </p:sp>
      <p:sp>
        <p:nvSpPr>
          <p:cNvPr id="36" name="Rectangle 35"/>
          <p:cNvSpPr/>
          <p:nvPr/>
        </p:nvSpPr>
        <p:spPr>
          <a:xfrm>
            <a:off x="7530348" y="2583359"/>
            <a:ext cx="470652" cy="769441"/>
          </a:xfrm>
          <a:prstGeom prst="rect">
            <a:avLst/>
          </a:prstGeom>
        </p:spPr>
        <p:txBody>
          <a:bodyPr wrap="none">
            <a:spAutoFit/>
          </a:bodyPr>
          <a:lstStyle/>
          <a:p>
            <a:r>
              <a:rPr lang="en-US" sz="4400" dirty="0">
                <a:solidFill>
                  <a:srgbClr val="FF0000"/>
                </a:solidFill>
                <a:latin typeface="Calibri"/>
                <a:cs typeface="Calibri"/>
              </a:rPr>
              <a:t>2</a:t>
            </a:r>
          </a:p>
        </p:txBody>
      </p:sp>
      <p:sp>
        <p:nvSpPr>
          <p:cNvPr id="37" name="Rectangle 36"/>
          <p:cNvSpPr/>
          <p:nvPr/>
        </p:nvSpPr>
        <p:spPr>
          <a:xfrm>
            <a:off x="8915400" y="3505200"/>
            <a:ext cx="446131" cy="769441"/>
          </a:xfrm>
          <a:prstGeom prst="rect">
            <a:avLst/>
          </a:prstGeom>
        </p:spPr>
        <p:txBody>
          <a:bodyPr wrap="none">
            <a:spAutoFit/>
          </a:bodyPr>
          <a:lstStyle/>
          <a:p>
            <a:r>
              <a:rPr lang="en-US" sz="4400" dirty="0">
                <a:solidFill>
                  <a:srgbClr val="9B01FF"/>
                </a:solidFill>
                <a:latin typeface="Calibri"/>
                <a:cs typeface="Calibri"/>
              </a:rPr>
              <a:t>?</a:t>
            </a:r>
          </a:p>
        </p:txBody>
      </p:sp>
      <p:pic>
        <p:nvPicPr>
          <p:cNvPr id="38" name="Picture 37" descr="BU005292.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34400" y="2895600"/>
            <a:ext cx="1230511" cy="1292352"/>
          </a:xfrm>
          <a:prstGeom prst="rect">
            <a:avLst/>
          </a:prstGeom>
        </p:spPr>
      </p:pic>
      <p:sp>
        <p:nvSpPr>
          <p:cNvPr id="39" name="Rectangle 38"/>
          <p:cNvSpPr/>
          <p:nvPr/>
        </p:nvSpPr>
        <p:spPr>
          <a:xfrm>
            <a:off x="6705600" y="2583359"/>
            <a:ext cx="893018" cy="769441"/>
          </a:xfrm>
          <a:prstGeom prst="rect">
            <a:avLst/>
          </a:prstGeom>
        </p:spPr>
        <p:txBody>
          <a:bodyPr wrap="none">
            <a:spAutoFit/>
          </a:bodyPr>
          <a:lstStyle/>
          <a:p>
            <a:r>
              <a:rPr lang="en-US" sz="4400" dirty="0">
                <a:solidFill>
                  <a:srgbClr val="FF0000"/>
                </a:solidFill>
                <a:latin typeface="Calibri"/>
                <a:cs typeface="Calibri"/>
              </a:rPr>
              <a:t>β =</a:t>
            </a:r>
          </a:p>
        </p:txBody>
      </p:sp>
      <p:sp>
        <p:nvSpPr>
          <p:cNvPr id="40" name="Rectangle 39"/>
          <p:cNvSpPr/>
          <p:nvPr/>
        </p:nvSpPr>
        <p:spPr>
          <a:xfrm>
            <a:off x="4495800" y="1059359"/>
            <a:ext cx="913406" cy="769441"/>
          </a:xfrm>
          <a:prstGeom prst="rect">
            <a:avLst/>
          </a:prstGeom>
        </p:spPr>
        <p:txBody>
          <a:bodyPr wrap="none">
            <a:spAutoFit/>
          </a:bodyPr>
          <a:lstStyle/>
          <a:p>
            <a:r>
              <a:rPr lang="en-US" sz="4400" dirty="0">
                <a:solidFill>
                  <a:srgbClr val="0000FF"/>
                </a:solidFill>
                <a:latin typeface="Calibri"/>
                <a:cs typeface="Calibri"/>
              </a:rPr>
              <a:t>α =</a:t>
            </a:r>
          </a:p>
        </p:txBody>
      </p:sp>
      <p:sp>
        <p:nvSpPr>
          <p:cNvPr id="41" name="Rectangle 40"/>
          <p:cNvSpPr/>
          <p:nvPr/>
        </p:nvSpPr>
        <p:spPr>
          <a:xfrm>
            <a:off x="890558" y="4488359"/>
            <a:ext cx="785842" cy="769441"/>
          </a:xfrm>
          <a:prstGeom prst="rect">
            <a:avLst/>
          </a:prstGeom>
        </p:spPr>
        <p:txBody>
          <a:bodyPr wrap="none">
            <a:spAutoFit/>
          </a:bodyPr>
          <a:lstStyle/>
          <a:p>
            <a:r>
              <a:rPr lang="en-US" sz="4400" dirty="0">
                <a:solidFill>
                  <a:srgbClr val="0000FF"/>
                </a:solidFill>
                <a:latin typeface="Calibri"/>
                <a:cs typeface="Calibri"/>
              </a:rPr>
              <a:t>α=</a:t>
            </a:r>
          </a:p>
        </p:txBody>
      </p:sp>
      <p:sp>
        <p:nvSpPr>
          <p:cNvPr id="42" name="Rectangle 41"/>
          <p:cNvSpPr/>
          <p:nvPr/>
        </p:nvSpPr>
        <p:spPr>
          <a:xfrm>
            <a:off x="3200400" y="4495800"/>
            <a:ext cx="785842" cy="769441"/>
          </a:xfrm>
          <a:prstGeom prst="rect">
            <a:avLst/>
          </a:prstGeom>
        </p:spPr>
        <p:txBody>
          <a:bodyPr wrap="none">
            <a:spAutoFit/>
          </a:bodyPr>
          <a:lstStyle/>
          <a:p>
            <a:r>
              <a:rPr lang="en-US" sz="4400" dirty="0">
                <a:solidFill>
                  <a:srgbClr val="0000FF"/>
                </a:solidFill>
                <a:latin typeface="Calibri"/>
                <a:cs typeface="Calibri"/>
              </a:rPr>
              <a:t>α=</a:t>
            </a:r>
          </a:p>
        </p:txBody>
      </p:sp>
      <p:sp>
        <p:nvSpPr>
          <p:cNvPr id="43" name="Rectangle 42"/>
          <p:cNvSpPr/>
          <p:nvPr/>
        </p:nvSpPr>
        <p:spPr>
          <a:xfrm>
            <a:off x="6096000" y="4259759"/>
            <a:ext cx="785842" cy="769441"/>
          </a:xfrm>
          <a:prstGeom prst="rect">
            <a:avLst/>
          </a:prstGeom>
        </p:spPr>
        <p:txBody>
          <a:bodyPr wrap="none">
            <a:spAutoFit/>
          </a:bodyPr>
          <a:lstStyle/>
          <a:p>
            <a:r>
              <a:rPr lang="en-US" sz="4400" dirty="0">
                <a:solidFill>
                  <a:srgbClr val="0000FF"/>
                </a:solidFill>
                <a:latin typeface="Calibri"/>
                <a:cs typeface="Calibri"/>
              </a:rPr>
              <a:t>α=</a:t>
            </a:r>
          </a:p>
        </p:txBody>
      </p:sp>
      <p:pic>
        <p:nvPicPr>
          <p:cNvPr id="21" name="Picture 20" descr="BU005292.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4648200"/>
            <a:ext cx="1230511" cy="1292352"/>
          </a:xfrm>
          <a:prstGeom prst="rect">
            <a:avLst/>
          </a:prstGeom>
        </p:spPr>
      </p:pic>
      <p:sp>
        <p:nvSpPr>
          <p:cNvPr id="35" name="Rectangle 34"/>
          <p:cNvSpPr/>
          <p:nvPr/>
        </p:nvSpPr>
        <p:spPr>
          <a:xfrm>
            <a:off x="1926382" y="2430959"/>
            <a:ext cx="893018" cy="769441"/>
          </a:xfrm>
          <a:prstGeom prst="rect">
            <a:avLst/>
          </a:prstGeom>
        </p:spPr>
        <p:txBody>
          <a:bodyPr wrap="none">
            <a:spAutoFit/>
          </a:bodyPr>
          <a:lstStyle/>
          <a:p>
            <a:r>
              <a:rPr lang="en-US" sz="4400" dirty="0">
                <a:solidFill>
                  <a:srgbClr val="FF0000"/>
                </a:solidFill>
                <a:latin typeface="Calibri"/>
                <a:cs typeface="Calibri"/>
              </a:rPr>
              <a:t>β =</a:t>
            </a:r>
          </a:p>
        </p:txBody>
      </p:sp>
      <p:sp>
        <p:nvSpPr>
          <p:cNvPr id="17" name="Content Placeholder 2">
            <a:extLst>
              <a:ext uri="{FF2B5EF4-FFF2-40B4-BE49-F238E27FC236}">
                <a16:creationId xmlns:a16="http://schemas.microsoft.com/office/drawing/2014/main" id="{7B3BD2F5-2D85-BEB8-1BF0-8FFD8BD28B99}"/>
              </a:ext>
            </a:extLst>
          </p:cNvPr>
          <p:cNvSpPr>
            <a:spLocks noGrp="1"/>
          </p:cNvSpPr>
          <p:nvPr>
            <p:ph idx="1"/>
          </p:nvPr>
        </p:nvSpPr>
        <p:spPr>
          <a:xfrm>
            <a:off x="6629400" y="1114346"/>
            <a:ext cx="5415563" cy="866854"/>
          </a:xfrm>
        </p:spPr>
        <p:txBody>
          <a:bodyPr/>
          <a:lstStyle/>
          <a:p>
            <a:pPr lvl="1" algn="ctr">
              <a:lnSpc>
                <a:spcPct val="80000"/>
              </a:lnSpc>
              <a:buNone/>
            </a:pPr>
            <a:r>
              <a:rPr lang="el-GR" sz="2400" dirty="0">
                <a:solidFill>
                  <a:srgbClr val="0066CC"/>
                </a:solidFill>
              </a:rPr>
              <a:t>α</a:t>
            </a:r>
            <a:r>
              <a:rPr lang="en-US" sz="2400" dirty="0">
                <a:solidFill>
                  <a:srgbClr val="0066CC"/>
                </a:solidFill>
              </a:rPr>
              <a:t>: </a:t>
            </a:r>
            <a:r>
              <a:rPr lang="en-US" sz="2400" dirty="0">
                <a:solidFill>
                  <a:srgbClr val="0070C0"/>
                </a:solidFill>
              </a:rPr>
              <a:t>MAX’s best option on path to root</a:t>
            </a:r>
          </a:p>
          <a:p>
            <a:pPr lvl="1" algn="ctr">
              <a:lnSpc>
                <a:spcPct val="80000"/>
              </a:lnSpc>
              <a:buNone/>
            </a:pPr>
            <a:r>
              <a:rPr lang="el-GR" sz="2400" dirty="0">
                <a:solidFill>
                  <a:srgbClr val="C00000"/>
                </a:solidFill>
              </a:rPr>
              <a:t>β</a:t>
            </a:r>
            <a:r>
              <a:rPr lang="en-US" sz="2400" dirty="0">
                <a:solidFill>
                  <a:srgbClr val="C00000"/>
                </a:solidFill>
              </a:rPr>
              <a:t>:</a:t>
            </a:r>
            <a:r>
              <a:rPr lang="el-GR" sz="2400" dirty="0">
                <a:solidFill>
                  <a:srgbClr val="C00000"/>
                </a:solidFill>
              </a:rPr>
              <a:t> </a:t>
            </a:r>
            <a:r>
              <a:rPr lang="en-US" sz="2400" dirty="0">
                <a:solidFill>
                  <a:srgbClr val="C00000"/>
                </a:solidFill>
              </a:rPr>
              <a:t>MIN’s best option on path to root</a:t>
            </a:r>
          </a:p>
        </p:txBody>
      </p:sp>
    </p:spTree>
    <p:extLst>
      <p:ext uri="{BB962C8B-B14F-4D97-AF65-F5344CB8AC3E}">
        <p14:creationId xmlns:p14="http://schemas.microsoft.com/office/powerpoint/2010/main" val="3443550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22"/>
                                        </p:tgtEl>
                                        <p:attrNameLst>
                                          <p:attrName>style.visibility</p:attrName>
                                        </p:attrNameLst>
                                      </p:cBhvr>
                                      <p:to>
                                        <p:strVal val="hidden"/>
                                      </p:to>
                                    </p:set>
                                  </p:childTnLst>
                                </p:cTn>
                              </p:par>
                              <p:par>
                                <p:cTn id="21" presetID="1" presetClass="exit"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24"/>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4"/>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0" nodeType="clickEffect">
                                  <p:stCondLst>
                                    <p:cond delay="0"/>
                                  </p:stCondLst>
                                  <p:childTnLst>
                                    <p:set>
                                      <p:cBhvr>
                                        <p:cTn id="54" dur="1" fill="hold">
                                          <p:stCondLst>
                                            <p:cond delay="0"/>
                                          </p:stCondLst>
                                        </p:cTn>
                                        <p:tgtEl>
                                          <p:spTgt spid="7"/>
                                        </p:tgtEl>
                                        <p:attrNameLst>
                                          <p:attrName>style.visibility</p:attrName>
                                        </p:attrNameLst>
                                      </p:cBhvr>
                                      <p:to>
                                        <p:strVal val="hidden"/>
                                      </p:to>
                                    </p:set>
                                  </p:childTnLst>
                                </p:cTn>
                              </p:par>
                              <p:par>
                                <p:cTn id="55" presetID="1" presetClass="exit" presetSubtype="0" fill="hold" grpId="1" nodeType="withEffect">
                                  <p:stCondLst>
                                    <p:cond delay="0"/>
                                  </p:stCondLst>
                                  <p:childTnLst>
                                    <p:set>
                                      <p:cBhvr>
                                        <p:cTn id="56" dur="1" fill="hold">
                                          <p:stCondLst>
                                            <p:cond delay="0"/>
                                          </p:stCondLst>
                                        </p:cTn>
                                        <p:tgtEl>
                                          <p:spTgt spid="30"/>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7"/>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xit" presetSubtype="0" fill="hold" grpId="1" nodeType="clickEffect">
                                  <p:stCondLst>
                                    <p:cond delay="0"/>
                                  </p:stCondLst>
                                  <p:childTnLst>
                                    <p:set>
                                      <p:cBhvr>
                                        <p:cTn id="72" dur="1" fill="hold">
                                          <p:stCondLst>
                                            <p:cond delay="0"/>
                                          </p:stCondLst>
                                        </p:cTn>
                                        <p:tgtEl>
                                          <p:spTgt spid="37"/>
                                        </p:tgtEl>
                                        <p:attrNameLst>
                                          <p:attrName>style.visibility</p:attrName>
                                        </p:attrNameLst>
                                      </p:cBhvr>
                                      <p:to>
                                        <p:strVal val="hidden"/>
                                      </p:to>
                                    </p:set>
                                  </p:childTnLst>
                                </p:cTn>
                              </p:par>
                              <p:par>
                                <p:cTn id="73" presetID="1" presetClass="entr" presetSubtype="0" fill="hold" nodeType="withEffect">
                                  <p:stCondLst>
                                    <p:cond delay="0"/>
                                  </p:stCondLst>
                                  <p:childTnLst>
                                    <p:set>
                                      <p:cBhvr>
                                        <p:cTn id="74" dur="1" fill="hold">
                                          <p:stCondLst>
                                            <p:cond delay="0"/>
                                          </p:stCondLst>
                                        </p:cTn>
                                        <p:tgtEl>
                                          <p:spTgt spid="3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9"/>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0"/>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5"/>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1"/>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43"/>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2" presetClass="entr" presetSubtype="4" fill="hold" grpId="0" nodeType="clickEffect">
                                  <p:stCondLst>
                                    <p:cond delay="0"/>
                                  </p:stCondLst>
                                  <p:childTnLst>
                                    <p:set>
                                      <p:cBhvr>
                                        <p:cTn id="92" dur="1" fill="hold">
                                          <p:stCondLst>
                                            <p:cond delay="0"/>
                                          </p:stCondLst>
                                        </p:cTn>
                                        <p:tgtEl>
                                          <p:spTgt spid="17">
                                            <p:txEl>
                                              <p:pRg st="0" end="0"/>
                                            </p:txEl>
                                          </p:spTgt>
                                        </p:tgtEl>
                                        <p:attrNameLst>
                                          <p:attrName>style.visibility</p:attrName>
                                        </p:attrNameLst>
                                      </p:cBhvr>
                                      <p:to>
                                        <p:strVal val="visible"/>
                                      </p:to>
                                    </p:set>
                                    <p:anim calcmode="lin" valueType="num">
                                      <p:cBhvr additive="base">
                                        <p:cTn id="93" dur="50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94" dur="500" fill="hold"/>
                                        <p:tgtEl>
                                          <p:spTgt spid="17">
                                            <p:txEl>
                                              <p:pRg st="0" end="0"/>
                                            </p:txEl>
                                          </p:spTgt>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17">
                                            <p:txEl>
                                              <p:pRg st="1" end="1"/>
                                            </p:txEl>
                                          </p:spTgt>
                                        </p:tgtEl>
                                        <p:attrNameLst>
                                          <p:attrName>style.visibility</p:attrName>
                                        </p:attrNameLst>
                                      </p:cBhvr>
                                      <p:to>
                                        <p:strVal val="visible"/>
                                      </p:to>
                                    </p:set>
                                    <p:anim calcmode="lin" valueType="num">
                                      <p:cBhvr additive="base">
                                        <p:cTn id="97" dur="500" fill="hold"/>
                                        <p:tgtEl>
                                          <p:spTgt spid="17">
                                            <p:txEl>
                                              <p:pRg st="1" end="1"/>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1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18" grpId="0"/>
      <p:bldP spid="19" grpId="0"/>
      <p:bldP spid="9" grpId="0" animBg="1"/>
      <p:bldP spid="22" grpId="0"/>
      <p:bldP spid="22" grpId="1"/>
      <p:bldP spid="26" grpId="0"/>
      <p:bldP spid="27" grpId="0"/>
      <p:bldP spid="32" grpId="0"/>
      <p:bldP spid="7" grpId="0" animBg="1"/>
      <p:bldP spid="30" grpId="0"/>
      <p:bldP spid="30" grpId="1"/>
      <p:bldP spid="24" grpId="0"/>
      <p:bldP spid="24" grpId="1"/>
      <p:bldP spid="34" grpId="0" animBg="1"/>
      <p:bldP spid="36" grpId="0"/>
      <p:bldP spid="37" grpId="0"/>
      <p:bldP spid="37" grpId="1"/>
      <p:bldP spid="39" grpId="0"/>
      <p:bldP spid="40" grpId="0"/>
      <p:bldP spid="41" grpId="0"/>
      <p:bldP spid="42" grpId="0"/>
      <p:bldP spid="43" grpId="0"/>
      <p:bldP spid="35" grpId="0"/>
      <p:bldP spid="17"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vi-VN" noProof="1">
                <a:sym typeface="Symbol" pitchFamily="18" charset="2"/>
              </a:rPr>
              <a:t>Thuật toán cắt nhánh Alpha-Beta</a:t>
            </a:r>
          </a:p>
        </p:txBody>
      </p:sp>
      <p:sp>
        <p:nvSpPr>
          <p:cNvPr id="23555" name="Rectangle 3"/>
          <p:cNvSpPr>
            <a:spLocks noGrp="1" noChangeArrowheads="1"/>
          </p:cNvSpPr>
          <p:nvPr>
            <p:ph idx="1"/>
          </p:nvPr>
        </p:nvSpPr>
        <p:spPr>
          <a:xfrm>
            <a:off x="457200" y="1143000"/>
            <a:ext cx="7167562" cy="4525963"/>
          </a:xfrm>
        </p:spPr>
        <p:txBody>
          <a:bodyPr/>
          <a:lstStyle/>
          <a:p>
            <a:pPr eaLnBrk="1" hangingPunct="1">
              <a:lnSpc>
                <a:spcPct val="110000"/>
              </a:lnSpc>
            </a:pPr>
            <a:r>
              <a:rPr lang="vi-VN" sz="2400" noProof="1"/>
              <a:t>Xét trường hợp mở rộng nút MIN</a:t>
            </a:r>
          </a:p>
          <a:p>
            <a:pPr lvl="1" eaLnBrk="1" hangingPunct="1">
              <a:lnSpc>
                <a:spcPct val="110000"/>
              </a:lnSpc>
            </a:pPr>
            <a:r>
              <a:rPr lang="vi-VN" sz="2000" noProof="1">
                <a:sym typeface="Symbol" pitchFamily="18" charset="2"/>
              </a:rPr>
              <a:t>Ta đang tính giá trị MIN tại nút </a:t>
            </a:r>
            <a:r>
              <a:rPr lang="vi-VN" sz="2000" i="1" noProof="1">
                <a:sym typeface="Symbol" pitchFamily="18" charset="2"/>
              </a:rPr>
              <a:t>n</a:t>
            </a:r>
          </a:p>
          <a:p>
            <a:pPr lvl="1" eaLnBrk="1" hangingPunct="1">
              <a:lnSpc>
                <a:spcPct val="110000"/>
              </a:lnSpc>
            </a:pPr>
            <a:r>
              <a:rPr lang="vi-VN" sz="2000" noProof="1">
                <a:sym typeface="Symbol" pitchFamily="18" charset="2"/>
              </a:rPr>
              <a:t>Cần duyệt qua các nút con của n</a:t>
            </a:r>
          </a:p>
          <a:p>
            <a:pPr lvl="1" eaLnBrk="1" hangingPunct="1">
              <a:lnSpc>
                <a:spcPct val="110000"/>
              </a:lnSpc>
            </a:pPr>
            <a:r>
              <a:rPr lang="vi-VN" sz="2000" i="1" noProof="1">
                <a:sym typeface="Symbol" pitchFamily="18" charset="2"/>
              </a:rPr>
              <a:t>Giá trị min giảm dần</a:t>
            </a:r>
            <a:endParaRPr lang="vi-VN" sz="2000" noProof="1">
              <a:sym typeface="Symbol" pitchFamily="18" charset="2"/>
            </a:endParaRPr>
          </a:p>
          <a:p>
            <a:pPr lvl="1" eaLnBrk="1" hangingPunct="1">
              <a:lnSpc>
                <a:spcPct val="110000"/>
              </a:lnSpc>
            </a:pPr>
            <a:r>
              <a:rPr lang="vi-VN" sz="2000" noProof="1">
                <a:sym typeface="Symbol" pitchFamily="18" charset="2"/>
              </a:rPr>
              <a:t>Ai quan tâm đến giá trị của n ? MAX</a:t>
            </a:r>
          </a:p>
          <a:p>
            <a:pPr lvl="1" eaLnBrk="1" hangingPunct="1">
              <a:lnSpc>
                <a:spcPct val="110000"/>
              </a:lnSpc>
            </a:pPr>
            <a:r>
              <a:rPr lang="vi-VN" sz="2000" noProof="1">
                <a:sym typeface="Symbol" pitchFamily="18" charset="2"/>
              </a:rPr>
              <a:t>Gọi </a:t>
            </a:r>
            <a:r>
              <a:rPr lang="vi-VN" sz="2000" i="1" noProof="1">
                <a:sym typeface="Symbol" pitchFamily="18" charset="2"/>
              </a:rPr>
              <a:t>a</a:t>
            </a:r>
            <a:r>
              <a:rPr lang="vi-VN" sz="2000" noProof="1"/>
              <a:t> là giá trị tốt nhất mà MAX có thể đạt được dọc theo đường đi hiện tại tính từ gốc của cây</a:t>
            </a:r>
          </a:p>
          <a:p>
            <a:pPr lvl="1" eaLnBrk="1" hangingPunct="1">
              <a:lnSpc>
                <a:spcPct val="110000"/>
              </a:lnSpc>
            </a:pPr>
            <a:r>
              <a:rPr lang="vi-VN" sz="2000" noProof="1"/>
              <a:t>Nếu giá trị của n nhỏ hơn </a:t>
            </a:r>
            <a:r>
              <a:rPr lang="vi-VN" sz="2000" i="1" noProof="1"/>
              <a:t>a</a:t>
            </a:r>
            <a:r>
              <a:rPr lang="vi-VN" sz="2000" noProof="1"/>
              <a:t>, MAX sẽ không bao giờ đi vào n </a:t>
            </a:r>
            <a:r>
              <a:rPr lang="vi-VN" sz="2000" noProof="1">
                <a:sym typeface="Wingdings" pitchFamily="2" charset="2"/>
              </a:rPr>
              <a:t> có thể bỏ qua các con khác của n</a:t>
            </a:r>
            <a:r>
              <a:rPr lang="vi-VN" sz="2000" noProof="1"/>
              <a:t> (vì các con khác không tăng được giá trị min)</a:t>
            </a:r>
          </a:p>
          <a:p>
            <a:pPr>
              <a:lnSpc>
                <a:spcPct val="110000"/>
              </a:lnSpc>
            </a:pPr>
            <a:r>
              <a:rPr lang="vi-VN" sz="2400" noProof="1"/>
              <a:t>Trường hợp mở rộng nút MAX cũng tương tự</a:t>
            </a:r>
          </a:p>
          <a:p>
            <a:pPr lvl="1">
              <a:lnSpc>
                <a:spcPct val="110000"/>
              </a:lnSpc>
            </a:pPr>
            <a:r>
              <a:rPr lang="vi-VN" sz="2000" noProof="1"/>
              <a:t>Giá trị max tăng dần, nếu vượt quá giá trị b là giá trị tốt nhất MIN đạt được dọc theo đường đi hiện tại tính từ gốc </a:t>
            </a:r>
            <a:r>
              <a:rPr lang="vi-VN" sz="2000" noProof="1">
                <a:sym typeface="Wingdings" pitchFamily="2" charset="2"/>
              </a:rPr>
              <a:t> bỏ qua các nút con khác</a:t>
            </a:r>
            <a:endParaRPr lang="vi-VN" sz="2000" noProof="1"/>
          </a:p>
        </p:txBody>
      </p:sp>
      <p:sp>
        <p:nvSpPr>
          <p:cNvPr id="23556" name="Text Box 4"/>
          <p:cNvSpPr txBox="1">
            <a:spLocks noChangeArrowheads="1"/>
          </p:cNvSpPr>
          <p:nvPr/>
        </p:nvSpPr>
        <p:spPr bwMode="auto">
          <a:xfrm>
            <a:off x="7778750" y="1995765"/>
            <a:ext cx="635110" cy="369332"/>
          </a:xfrm>
          <a:prstGeom prst="rect">
            <a:avLst/>
          </a:prstGeom>
          <a:noFill/>
          <a:ln w="12700">
            <a:noFill/>
            <a:miter lim="800000"/>
            <a:headEnd/>
            <a:tailEnd/>
          </a:ln>
        </p:spPr>
        <p:txBody>
          <a:bodyPr wrap="none" anchor="ctr">
            <a:spAutoFit/>
          </a:bodyPr>
          <a:lstStyle/>
          <a:p>
            <a:r>
              <a:rPr lang="en-US">
                <a:latin typeface="Calibri" pitchFamily="34" charset="0"/>
              </a:rPr>
              <a:t>MAX</a:t>
            </a:r>
          </a:p>
        </p:txBody>
      </p:sp>
      <p:sp>
        <p:nvSpPr>
          <p:cNvPr id="23557" name="Text Box 5"/>
          <p:cNvSpPr txBox="1">
            <a:spLocks noChangeArrowheads="1"/>
          </p:cNvSpPr>
          <p:nvPr/>
        </p:nvSpPr>
        <p:spPr bwMode="auto">
          <a:xfrm>
            <a:off x="7778750" y="2819400"/>
            <a:ext cx="608013" cy="369888"/>
          </a:xfrm>
          <a:prstGeom prst="rect">
            <a:avLst/>
          </a:prstGeom>
          <a:noFill/>
          <a:ln w="12700">
            <a:noFill/>
            <a:miter lim="800000"/>
            <a:headEnd/>
            <a:tailEnd/>
          </a:ln>
        </p:spPr>
        <p:txBody>
          <a:bodyPr wrap="none" anchor="ctr">
            <a:spAutoFit/>
          </a:bodyPr>
          <a:lstStyle/>
          <a:p>
            <a:r>
              <a:rPr lang="en-US">
                <a:latin typeface="Calibri" pitchFamily="34" charset="0"/>
              </a:rPr>
              <a:t>MIN</a:t>
            </a:r>
          </a:p>
        </p:txBody>
      </p:sp>
      <p:sp>
        <p:nvSpPr>
          <p:cNvPr id="23558" name="Text Box 6"/>
          <p:cNvSpPr txBox="1">
            <a:spLocks noChangeArrowheads="1"/>
          </p:cNvSpPr>
          <p:nvPr/>
        </p:nvSpPr>
        <p:spPr bwMode="auto">
          <a:xfrm>
            <a:off x="7778750" y="4205565"/>
            <a:ext cx="635110" cy="369332"/>
          </a:xfrm>
          <a:prstGeom prst="rect">
            <a:avLst/>
          </a:prstGeom>
          <a:noFill/>
          <a:ln w="12700">
            <a:noFill/>
            <a:miter lim="800000"/>
            <a:headEnd/>
            <a:tailEnd/>
          </a:ln>
        </p:spPr>
        <p:txBody>
          <a:bodyPr wrap="none" anchor="ctr">
            <a:spAutoFit/>
          </a:bodyPr>
          <a:lstStyle/>
          <a:p>
            <a:r>
              <a:rPr lang="en-US">
                <a:latin typeface="Calibri" pitchFamily="34" charset="0"/>
              </a:rPr>
              <a:t>MAX</a:t>
            </a:r>
          </a:p>
        </p:txBody>
      </p:sp>
      <p:sp>
        <p:nvSpPr>
          <p:cNvPr id="23559" name="Text Box 7"/>
          <p:cNvSpPr txBox="1">
            <a:spLocks noChangeArrowheads="1"/>
          </p:cNvSpPr>
          <p:nvPr/>
        </p:nvSpPr>
        <p:spPr bwMode="auto">
          <a:xfrm>
            <a:off x="7778750" y="4967288"/>
            <a:ext cx="608013" cy="369887"/>
          </a:xfrm>
          <a:prstGeom prst="rect">
            <a:avLst/>
          </a:prstGeom>
          <a:noFill/>
          <a:ln w="12700">
            <a:noFill/>
            <a:miter lim="800000"/>
            <a:headEnd/>
            <a:tailEnd/>
          </a:ln>
        </p:spPr>
        <p:txBody>
          <a:bodyPr wrap="none" anchor="ctr">
            <a:spAutoFit/>
          </a:bodyPr>
          <a:lstStyle/>
          <a:p>
            <a:r>
              <a:rPr lang="en-US">
                <a:latin typeface="Calibri" pitchFamily="34" charset="0"/>
              </a:rPr>
              <a:t>MIN</a:t>
            </a:r>
          </a:p>
        </p:txBody>
      </p:sp>
      <p:sp>
        <p:nvSpPr>
          <p:cNvPr id="23560" name="AutoShape 8"/>
          <p:cNvSpPr>
            <a:spLocks noChangeArrowheads="1"/>
          </p:cNvSpPr>
          <p:nvPr/>
        </p:nvSpPr>
        <p:spPr bwMode="auto">
          <a:xfrm flipV="1">
            <a:off x="9296400" y="2895600"/>
            <a:ext cx="381000" cy="304800"/>
          </a:xfrm>
          <a:prstGeom prst="triangle">
            <a:avLst>
              <a:gd name="adj" fmla="val 50000"/>
            </a:avLst>
          </a:prstGeom>
          <a:solidFill>
            <a:srgbClr val="FF9999"/>
          </a:solidFill>
          <a:ln w="12700">
            <a:solidFill>
              <a:schemeClr val="tx1"/>
            </a:solidFill>
            <a:miter lim="800000"/>
            <a:headEnd/>
            <a:tailEnd/>
          </a:ln>
        </p:spPr>
        <p:txBody>
          <a:bodyPr rot="10800000" wrap="none" tIns="91440" anchor="ctr"/>
          <a:lstStyle/>
          <a:p>
            <a:pPr algn="ctr"/>
            <a:r>
              <a:rPr lang="en-US" sz="1600" i="1" dirty="0">
                <a:latin typeface="Calibri" pitchFamily="34" charset="0"/>
                <a:sym typeface="Symbol" pitchFamily="18" charset="2"/>
              </a:rPr>
              <a:t>a</a:t>
            </a:r>
            <a:endParaRPr lang="en-US" sz="1600" i="1" dirty="0">
              <a:latin typeface="Calibri" pitchFamily="34" charset="0"/>
            </a:endParaRPr>
          </a:p>
        </p:txBody>
      </p:sp>
      <p:cxnSp>
        <p:nvCxnSpPr>
          <p:cNvPr id="23561" name="AutoShape 9"/>
          <p:cNvCxnSpPr>
            <a:cxnSpLocks noChangeShapeType="1"/>
            <a:stCxn id="23564" idx="3"/>
            <a:endCxn id="23560" idx="3"/>
          </p:cNvCxnSpPr>
          <p:nvPr/>
        </p:nvCxnSpPr>
        <p:spPr bwMode="auto">
          <a:xfrm flipH="1">
            <a:off x="9485313" y="2362200"/>
            <a:ext cx="763587" cy="533400"/>
          </a:xfrm>
          <a:prstGeom prst="straightConnector1">
            <a:avLst/>
          </a:prstGeom>
          <a:noFill/>
          <a:ln w="12700">
            <a:solidFill>
              <a:schemeClr val="tx1"/>
            </a:solidFill>
            <a:round/>
            <a:headEnd/>
            <a:tailEnd type="triangle" w="med" len="med"/>
          </a:ln>
        </p:spPr>
      </p:cxnSp>
      <p:sp>
        <p:nvSpPr>
          <p:cNvPr id="23562" name="AutoShape 10"/>
          <p:cNvSpPr>
            <a:spLocks noChangeArrowheads="1"/>
          </p:cNvSpPr>
          <p:nvPr/>
        </p:nvSpPr>
        <p:spPr bwMode="auto">
          <a:xfrm>
            <a:off x="10287000" y="4205288"/>
            <a:ext cx="381000" cy="304800"/>
          </a:xfrm>
          <a:prstGeom prst="triangle">
            <a:avLst>
              <a:gd name="adj" fmla="val 50000"/>
            </a:avLst>
          </a:prstGeom>
          <a:solidFill>
            <a:srgbClr val="CCECFF"/>
          </a:solidFill>
          <a:ln w="12700">
            <a:solidFill>
              <a:schemeClr val="tx1"/>
            </a:solidFill>
            <a:miter lim="800000"/>
            <a:headEnd/>
            <a:tailEnd/>
          </a:ln>
        </p:spPr>
        <p:txBody>
          <a:bodyPr wrap="none" anchor="ctr"/>
          <a:lstStyle/>
          <a:p>
            <a:pPr algn="ctr"/>
            <a:endParaRPr lang="en-US" sz="1600">
              <a:latin typeface="Calibri" pitchFamily="34" charset="0"/>
            </a:endParaRPr>
          </a:p>
        </p:txBody>
      </p:sp>
      <p:cxnSp>
        <p:nvCxnSpPr>
          <p:cNvPr id="23563" name="AutoShape 11"/>
          <p:cNvCxnSpPr>
            <a:cxnSpLocks noChangeShapeType="1"/>
            <a:stCxn id="23560" idx="0"/>
          </p:cNvCxnSpPr>
          <p:nvPr/>
        </p:nvCxnSpPr>
        <p:spPr bwMode="auto">
          <a:xfrm>
            <a:off x="9486900" y="3200400"/>
            <a:ext cx="344488" cy="381000"/>
          </a:xfrm>
          <a:prstGeom prst="straightConnector1">
            <a:avLst/>
          </a:prstGeom>
          <a:noFill/>
          <a:ln w="12700">
            <a:solidFill>
              <a:schemeClr val="tx1"/>
            </a:solidFill>
            <a:round/>
            <a:headEnd/>
            <a:tailEnd type="triangle" w="med" len="med"/>
          </a:ln>
        </p:spPr>
      </p:cxnSp>
      <p:sp>
        <p:nvSpPr>
          <p:cNvPr id="23564" name="AutoShape 12"/>
          <p:cNvSpPr>
            <a:spLocks noChangeArrowheads="1"/>
          </p:cNvSpPr>
          <p:nvPr/>
        </p:nvSpPr>
        <p:spPr bwMode="auto">
          <a:xfrm>
            <a:off x="10058400" y="2057400"/>
            <a:ext cx="381000" cy="304800"/>
          </a:xfrm>
          <a:prstGeom prst="triangle">
            <a:avLst>
              <a:gd name="adj" fmla="val 50000"/>
            </a:avLst>
          </a:prstGeom>
          <a:solidFill>
            <a:srgbClr val="CCECFF"/>
          </a:solidFill>
          <a:ln w="12700">
            <a:solidFill>
              <a:schemeClr val="tx1"/>
            </a:solidFill>
            <a:miter lim="800000"/>
            <a:headEnd/>
            <a:tailEnd/>
          </a:ln>
        </p:spPr>
        <p:txBody>
          <a:bodyPr wrap="none" anchor="ctr"/>
          <a:lstStyle/>
          <a:p>
            <a:endParaRPr lang="en-US">
              <a:latin typeface="Calibri" pitchFamily="34" charset="0"/>
            </a:endParaRPr>
          </a:p>
        </p:txBody>
      </p:sp>
      <p:sp>
        <p:nvSpPr>
          <p:cNvPr id="23565" name="Line 13"/>
          <p:cNvSpPr>
            <a:spLocks noChangeShapeType="1"/>
          </p:cNvSpPr>
          <p:nvPr/>
        </p:nvSpPr>
        <p:spPr bwMode="auto">
          <a:xfrm>
            <a:off x="8153400" y="3276600"/>
            <a:ext cx="0" cy="838200"/>
          </a:xfrm>
          <a:prstGeom prst="line">
            <a:avLst/>
          </a:prstGeom>
          <a:noFill/>
          <a:ln w="38100">
            <a:solidFill>
              <a:schemeClr val="tx1"/>
            </a:solidFill>
            <a:prstDash val="sysDot"/>
            <a:round/>
            <a:headEnd/>
            <a:tailEnd/>
          </a:ln>
        </p:spPr>
        <p:txBody>
          <a:bodyPr wrap="none" anchor="ctr"/>
          <a:lstStyle/>
          <a:p>
            <a:endParaRPr lang="en-US">
              <a:latin typeface="Calibri" pitchFamily="34" charset="0"/>
            </a:endParaRPr>
          </a:p>
        </p:txBody>
      </p:sp>
      <p:sp>
        <p:nvSpPr>
          <p:cNvPr id="23566" name="AutoShape 14"/>
          <p:cNvSpPr>
            <a:spLocks noChangeArrowheads="1"/>
          </p:cNvSpPr>
          <p:nvPr/>
        </p:nvSpPr>
        <p:spPr bwMode="auto">
          <a:xfrm flipV="1">
            <a:off x="10668000" y="5029200"/>
            <a:ext cx="381000" cy="304800"/>
          </a:xfrm>
          <a:prstGeom prst="triangle">
            <a:avLst>
              <a:gd name="adj" fmla="val 50000"/>
            </a:avLst>
          </a:prstGeom>
          <a:solidFill>
            <a:srgbClr val="FF9999"/>
          </a:solidFill>
          <a:ln w="12700">
            <a:solidFill>
              <a:schemeClr val="tx1"/>
            </a:solidFill>
            <a:miter lim="800000"/>
            <a:headEnd/>
            <a:tailEnd/>
          </a:ln>
        </p:spPr>
        <p:txBody>
          <a:bodyPr rot="10800000" wrap="none" tIns="91440" anchor="ctr"/>
          <a:lstStyle/>
          <a:p>
            <a:pPr algn="ctr"/>
            <a:r>
              <a:rPr lang="en-US" sz="1600" i="1" dirty="0">
                <a:latin typeface="Calibri" pitchFamily="34" charset="0"/>
              </a:rPr>
              <a:t>n</a:t>
            </a:r>
            <a:endParaRPr lang="en-US" sz="1600" dirty="0">
              <a:latin typeface="Calibri" pitchFamily="34" charset="0"/>
            </a:endParaRPr>
          </a:p>
        </p:txBody>
      </p:sp>
      <p:cxnSp>
        <p:nvCxnSpPr>
          <p:cNvPr id="23567" name="AutoShape 15"/>
          <p:cNvCxnSpPr>
            <a:cxnSpLocks noChangeShapeType="1"/>
            <a:stCxn id="23562" idx="3"/>
            <a:endCxn id="23566" idx="3"/>
          </p:cNvCxnSpPr>
          <p:nvPr/>
        </p:nvCxnSpPr>
        <p:spPr bwMode="auto">
          <a:xfrm rot="16200000" flipH="1">
            <a:off x="10408444" y="4579144"/>
            <a:ext cx="519112" cy="381000"/>
          </a:xfrm>
          <a:prstGeom prst="straightConnector1">
            <a:avLst/>
          </a:prstGeom>
          <a:noFill/>
          <a:ln w="12700">
            <a:solidFill>
              <a:schemeClr val="tx1"/>
            </a:solidFill>
            <a:round/>
            <a:headEnd/>
            <a:tailEnd type="triangle" w="med" len="med"/>
          </a:ln>
        </p:spPr>
      </p:cxnSp>
      <p:cxnSp>
        <p:nvCxnSpPr>
          <p:cNvPr id="23568" name="AutoShape 16"/>
          <p:cNvCxnSpPr>
            <a:cxnSpLocks noChangeShapeType="1"/>
            <a:stCxn id="23560" idx="0"/>
          </p:cNvCxnSpPr>
          <p:nvPr/>
        </p:nvCxnSpPr>
        <p:spPr bwMode="auto">
          <a:xfrm flipH="1">
            <a:off x="9145588" y="3200400"/>
            <a:ext cx="341312" cy="381000"/>
          </a:xfrm>
          <a:prstGeom prst="straightConnector1">
            <a:avLst/>
          </a:prstGeom>
          <a:noFill/>
          <a:ln w="12700">
            <a:solidFill>
              <a:schemeClr val="tx1"/>
            </a:solidFill>
            <a:round/>
            <a:headEnd/>
            <a:tailEnd type="triangle" w="med" len="med"/>
          </a:ln>
        </p:spPr>
      </p:cxnSp>
      <p:sp>
        <p:nvSpPr>
          <p:cNvPr id="23569" name="Freeform 17"/>
          <p:cNvSpPr>
            <a:spLocks/>
          </p:cNvSpPr>
          <p:nvPr/>
        </p:nvSpPr>
        <p:spPr bwMode="auto">
          <a:xfrm>
            <a:off x="10185400" y="2362200"/>
            <a:ext cx="444500" cy="1828800"/>
          </a:xfrm>
          <a:custGeom>
            <a:avLst/>
            <a:gdLst>
              <a:gd name="T0" fmla="*/ 2147483647 w 280"/>
              <a:gd name="T1" fmla="*/ 0 h 1152"/>
              <a:gd name="T2" fmla="*/ 2147483647 w 280"/>
              <a:gd name="T3" fmla="*/ 2147483647 h 1152"/>
              <a:gd name="T4" fmla="*/ 2147483647 w 280"/>
              <a:gd name="T5" fmla="*/ 2147483647 h 1152"/>
              <a:gd name="T6" fmla="*/ 2147483647 w 280"/>
              <a:gd name="T7" fmla="*/ 2147483647 h 1152"/>
              <a:gd name="T8" fmla="*/ 2147483647 w 280"/>
              <a:gd name="T9" fmla="*/ 2147483647 h 1152"/>
              <a:gd name="T10" fmla="*/ 2147483647 w 280"/>
              <a:gd name="T11" fmla="*/ 2147483647 h 1152"/>
              <a:gd name="T12" fmla="*/ 0 60000 65536"/>
              <a:gd name="T13" fmla="*/ 0 60000 65536"/>
              <a:gd name="T14" fmla="*/ 0 60000 65536"/>
              <a:gd name="T15" fmla="*/ 0 60000 65536"/>
              <a:gd name="T16" fmla="*/ 0 60000 65536"/>
              <a:gd name="T17" fmla="*/ 0 60000 65536"/>
              <a:gd name="T18" fmla="*/ 0 w 280"/>
              <a:gd name="T19" fmla="*/ 0 h 1152"/>
              <a:gd name="T20" fmla="*/ 280 w 280"/>
              <a:gd name="T21" fmla="*/ 1152 h 1152"/>
            </a:gdLst>
            <a:ahLst/>
            <a:cxnLst>
              <a:cxn ang="T12">
                <a:pos x="T0" y="T1"/>
              </a:cxn>
              <a:cxn ang="T13">
                <a:pos x="T2" y="T3"/>
              </a:cxn>
              <a:cxn ang="T14">
                <a:pos x="T4" y="T5"/>
              </a:cxn>
              <a:cxn ang="T15">
                <a:pos x="T6" y="T7"/>
              </a:cxn>
              <a:cxn ang="T16">
                <a:pos x="T8" y="T9"/>
              </a:cxn>
              <a:cxn ang="T17">
                <a:pos x="T10" y="T11"/>
              </a:cxn>
            </a:cxnLst>
            <a:rect l="T18" t="T19" r="T20" b="T21"/>
            <a:pathLst>
              <a:path w="280" h="1152">
                <a:moveTo>
                  <a:pt x="40" y="0"/>
                </a:moveTo>
                <a:cubicBezTo>
                  <a:pt x="20" y="112"/>
                  <a:pt x="0" y="224"/>
                  <a:pt x="40" y="288"/>
                </a:cubicBezTo>
                <a:cubicBezTo>
                  <a:pt x="80" y="352"/>
                  <a:pt x="280" y="304"/>
                  <a:pt x="280" y="384"/>
                </a:cubicBezTo>
                <a:cubicBezTo>
                  <a:pt x="280" y="464"/>
                  <a:pt x="48" y="688"/>
                  <a:pt x="40" y="768"/>
                </a:cubicBezTo>
                <a:cubicBezTo>
                  <a:pt x="32" y="848"/>
                  <a:pt x="208" y="800"/>
                  <a:pt x="232" y="864"/>
                </a:cubicBezTo>
                <a:cubicBezTo>
                  <a:pt x="256" y="928"/>
                  <a:pt x="220" y="1040"/>
                  <a:pt x="184" y="1152"/>
                </a:cubicBezTo>
              </a:path>
            </a:pathLst>
          </a:custGeom>
          <a:noFill/>
          <a:ln w="12700">
            <a:solidFill>
              <a:schemeClr val="tx1"/>
            </a:solidFill>
            <a:round/>
            <a:headEnd/>
            <a:tailEnd type="triangle" w="med" len="med"/>
          </a:ln>
        </p:spPr>
        <p:txBody>
          <a:bodyPr wrap="none" anchor="ctr"/>
          <a:lstStyle/>
          <a:p>
            <a:endParaRPr lang="en-US">
              <a:latin typeface="Calibri" pitchFamily="34" charset="0"/>
            </a:endParaRPr>
          </a:p>
        </p:txBody>
      </p:sp>
      <p:cxnSp>
        <p:nvCxnSpPr>
          <p:cNvPr id="23570" name="AutoShape 18"/>
          <p:cNvCxnSpPr>
            <a:cxnSpLocks noChangeShapeType="1"/>
            <a:stCxn id="23562" idx="3"/>
          </p:cNvCxnSpPr>
          <p:nvPr/>
        </p:nvCxnSpPr>
        <p:spPr bwMode="auto">
          <a:xfrm flipH="1">
            <a:off x="10134600" y="4510088"/>
            <a:ext cx="342900" cy="519112"/>
          </a:xfrm>
          <a:prstGeom prst="straightConnector1">
            <a:avLst/>
          </a:prstGeom>
          <a:noFill/>
          <a:ln w="12700">
            <a:solidFill>
              <a:schemeClr val="tx1"/>
            </a:solidFill>
            <a:round/>
            <a:headEnd/>
            <a:tailEnd type="triangle" w="med" len="med"/>
          </a:ln>
        </p:spPr>
      </p:cxnSp>
      <p:cxnSp>
        <p:nvCxnSpPr>
          <p:cNvPr id="23571" name="AutoShape 19"/>
          <p:cNvCxnSpPr>
            <a:cxnSpLocks noChangeShapeType="1"/>
            <a:endCxn id="23564" idx="0"/>
          </p:cNvCxnSpPr>
          <p:nvPr/>
        </p:nvCxnSpPr>
        <p:spPr bwMode="auto">
          <a:xfrm flipH="1">
            <a:off x="10248900" y="1600200"/>
            <a:ext cx="419100" cy="457200"/>
          </a:xfrm>
          <a:prstGeom prst="straightConnector1">
            <a:avLst/>
          </a:prstGeom>
          <a:noFill/>
          <a:ln w="12700">
            <a:solidFill>
              <a:schemeClr val="tx1"/>
            </a:solidFill>
            <a:round/>
            <a:headEnd/>
            <a:tailEnd type="triangle" w="med" len="med"/>
          </a:ln>
        </p:spPr>
      </p:cxnSp>
      <p:cxnSp>
        <p:nvCxnSpPr>
          <p:cNvPr id="23573" name="AutoShape 15"/>
          <p:cNvCxnSpPr>
            <a:cxnSpLocks noChangeShapeType="1"/>
            <a:stCxn id="23566" idx="0"/>
          </p:cNvCxnSpPr>
          <p:nvPr/>
        </p:nvCxnSpPr>
        <p:spPr bwMode="auto">
          <a:xfrm rot="16200000" flipH="1">
            <a:off x="10839450" y="5353050"/>
            <a:ext cx="228600" cy="190500"/>
          </a:xfrm>
          <a:prstGeom prst="straightConnector1">
            <a:avLst/>
          </a:prstGeom>
          <a:noFill/>
          <a:ln w="12700">
            <a:solidFill>
              <a:schemeClr val="tx1"/>
            </a:solidFill>
            <a:round/>
            <a:headEnd/>
            <a:tailEnd/>
          </a:ln>
        </p:spPr>
      </p:cxnSp>
      <p:cxnSp>
        <p:nvCxnSpPr>
          <p:cNvPr id="23574" name="AutoShape 18"/>
          <p:cNvCxnSpPr>
            <a:cxnSpLocks noChangeShapeType="1"/>
            <a:stCxn id="23566" idx="0"/>
          </p:cNvCxnSpPr>
          <p:nvPr/>
        </p:nvCxnSpPr>
        <p:spPr bwMode="auto">
          <a:xfrm rot="5400000">
            <a:off x="10447337" y="5441951"/>
            <a:ext cx="519113" cy="303212"/>
          </a:xfrm>
          <a:prstGeom prst="straightConnector1">
            <a:avLst/>
          </a:prstGeom>
          <a:noFill/>
          <a:ln w="12700">
            <a:solidFill>
              <a:schemeClr val="tx1"/>
            </a:solidFill>
            <a:round/>
            <a:headEnd/>
            <a:tailEnd type="triangle" w="med" len="med"/>
          </a:ln>
        </p:spPr>
      </p:cxnSp>
      <p:cxnSp>
        <p:nvCxnSpPr>
          <p:cNvPr id="23575" name="AutoShape 15"/>
          <p:cNvCxnSpPr>
            <a:cxnSpLocks noChangeShapeType="1"/>
            <a:stCxn id="23566" idx="0"/>
          </p:cNvCxnSpPr>
          <p:nvPr/>
        </p:nvCxnSpPr>
        <p:spPr bwMode="auto">
          <a:xfrm rot="16200000" flipH="1">
            <a:off x="10648950" y="5543550"/>
            <a:ext cx="457200" cy="38100"/>
          </a:xfrm>
          <a:prstGeom prst="straightConnector1">
            <a:avLst/>
          </a:prstGeom>
          <a:noFill/>
          <a:ln w="12700">
            <a:solidFill>
              <a:schemeClr val="tx1"/>
            </a:solidFill>
            <a:round/>
            <a:headEnd/>
            <a:tailEnd type="triangle" w="med" len="med"/>
          </a:ln>
        </p:spPr>
      </p:cxnSp>
    </p:spTree>
    <p:extLst>
      <p:ext uri="{BB962C8B-B14F-4D97-AF65-F5344CB8AC3E}">
        <p14:creationId xmlns:p14="http://schemas.microsoft.com/office/powerpoint/2010/main" val="34158889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ounded Rectangle 11"/>
          <p:cNvSpPr/>
          <p:nvPr/>
        </p:nvSpPr>
        <p:spPr>
          <a:xfrm>
            <a:off x="6324600" y="3048000"/>
            <a:ext cx="5715000" cy="3429000"/>
          </a:xfrm>
          <a:prstGeom prst="roundRect">
            <a:avLst/>
          </a:prstGeom>
          <a:solidFill>
            <a:srgbClr val="C00000">
              <a:alpha val="16000"/>
            </a:srgb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228600" y="3048000"/>
            <a:ext cx="5638800" cy="3429000"/>
          </a:xfrm>
          <a:prstGeom prst="roundRect">
            <a:avLst/>
          </a:prstGeom>
          <a:solidFill>
            <a:srgbClr val="0066CC">
              <a:alpha val="16000"/>
            </a:srgb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14" name="Title 1"/>
          <p:cNvSpPr>
            <a:spLocks noGrp="1"/>
          </p:cNvSpPr>
          <p:nvPr>
            <p:ph type="title"/>
          </p:nvPr>
        </p:nvSpPr>
        <p:spPr/>
        <p:txBody>
          <a:bodyPr/>
          <a:lstStyle/>
          <a:p>
            <a:r>
              <a:rPr lang="en-US" dirty="0" err="1"/>
              <a:t>Cài</a:t>
            </a:r>
            <a:r>
              <a:rPr lang="en-US" dirty="0"/>
              <a:t> </a:t>
            </a:r>
            <a:r>
              <a:rPr lang="en-US" dirty="0" err="1"/>
              <a:t>đặt</a:t>
            </a:r>
            <a:r>
              <a:rPr lang="en-US" dirty="0"/>
              <a:t> Alpha-Beta</a:t>
            </a:r>
          </a:p>
        </p:txBody>
      </p:sp>
      <p:sp>
        <p:nvSpPr>
          <p:cNvPr id="7" name="Content Placeholder 2"/>
          <p:cNvSpPr txBox="1">
            <a:spLocks/>
          </p:cNvSpPr>
          <p:nvPr/>
        </p:nvSpPr>
        <p:spPr bwMode="auto">
          <a:xfrm>
            <a:off x="6324600" y="3352800"/>
            <a:ext cx="5867400" cy="2286000"/>
          </a:xfrm>
          <a:prstGeom prst="rect">
            <a:avLst/>
          </a:prstGeom>
          <a:noFill/>
          <a:ln w="9525">
            <a:noFill/>
            <a:miter lim="800000"/>
            <a:headEnd/>
            <a:tailEnd/>
          </a:ln>
        </p:spPr>
        <p:txBody>
          <a:bodyPr vert="horz" wrap="square" lIns="91436" tIns="45718" rIns="91436" bIns="45718" numCol="1" anchor="t" anchorCtr="0" compatLnSpc="1">
            <a:prstTxWarp prst="textNoShape">
              <a:avLst/>
            </a:prstTxWarp>
          </a:bodyPr>
          <a:lstStyle/>
          <a:p>
            <a:pPr marL="342882" lvl="0" indent="-342882">
              <a:lnSpc>
                <a:spcPct val="80000"/>
              </a:lnSpc>
              <a:spcBef>
                <a:spcPts val="1200"/>
              </a:spcBef>
              <a:buClr>
                <a:schemeClr val="accent2"/>
              </a:buClr>
            </a:pPr>
            <a:r>
              <a:rPr kumimoji="0" lang="en-US" sz="2400" b="0" i="0" u="none" strike="noStrike" kern="0" cap="none" spc="0" normalizeH="0" baseline="0" noProof="0" dirty="0">
                <a:ln>
                  <a:noFill/>
                </a:ln>
                <a:solidFill>
                  <a:srgbClr val="C00000"/>
                </a:solidFill>
                <a:effectLst/>
                <a:uLnTx/>
                <a:uFillTx/>
                <a:latin typeface="Calibri" pitchFamily="34" charset="0"/>
                <a:ea typeface="+mn-ea"/>
                <a:cs typeface="+mn-cs"/>
              </a:rPr>
              <a:t>def min-value(state</a:t>
            </a:r>
            <a:r>
              <a:rPr lang="en-US" sz="2400" kern="0" dirty="0">
                <a:solidFill>
                  <a:srgbClr val="C00000"/>
                </a:solidFill>
                <a:latin typeface="Calibri" pitchFamily="34" charset="0"/>
              </a:rPr>
              <a:t> , </a:t>
            </a:r>
            <a:r>
              <a:rPr lang="el-GR" sz="2400" kern="0" dirty="0">
                <a:solidFill>
                  <a:srgbClr val="C00000"/>
                </a:solidFill>
                <a:latin typeface="Calibri" pitchFamily="34" charset="0"/>
              </a:rPr>
              <a:t>α</a:t>
            </a:r>
            <a:r>
              <a:rPr lang="en-US" sz="2400" kern="0" dirty="0">
                <a:solidFill>
                  <a:srgbClr val="C00000"/>
                </a:solidFill>
                <a:latin typeface="Calibri" pitchFamily="34" charset="0"/>
              </a:rPr>
              <a:t>, </a:t>
            </a:r>
            <a:r>
              <a:rPr lang="el-GR" sz="2400" kern="0" dirty="0">
                <a:solidFill>
                  <a:srgbClr val="C00000"/>
                </a:solidFill>
                <a:latin typeface="Calibri" pitchFamily="34" charset="0"/>
              </a:rPr>
              <a:t>β</a:t>
            </a:r>
            <a:r>
              <a:rPr kumimoji="0" lang="en-US" sz="2400" b="0" i="0" u="none" strike="noStrike" kern="0" cap="none" spc="0" normalizeH="0" baseline="0" noProof="0" dirty="0">
                <a:ln>
                  <a:noFill/>
                </a:ln>
                <a:solidFill>
                  <a:srgbClr val="C00000"/>
                </a:solidFill>
                <a:effectLst/>
                <a:uLnTx/>
                <a:uFillTx/>
                <a:latin typeface="Calibri" pitchFamily="34" charset="0"/>
                <a:ea typeface="+mn-ea"/>
                <a:cs typeface="+mn-cs"/>
              </a:rPr>
              <a:t>):</a:t>
            </a:r>
          </a:p>
          <a:p>
            <a:pPr marL="742913" marR="0" lvl="1" indent="-285737" algn="l" defTabSz="914400" rtl="0" eaLnBrk="1" fontAlgn="base" latinLnBrk="0" hangingPunct="1">
              <a:lnSpc>
                <a:spcPct val="80000"/>
              </a:lnSpc>
              <a:spcBef>
                <a:spcPct val="20000"/>
              </a:spcBef>
              <a:spcAft>
                <a:spcPct val="0"/>
              </a:spcAft>
              <a:buClr>
                <a:schemeClr val="tx1"/>
              </a:buClr>
              <a:buSzTx/>
              <a:buFont typeface="Wingdings" pitchFamily="2" charset="2"/>
              <a:buNone/>
              <a:tabLst/>
              <a:defRPr/>
            </a:pPr>
            <a:r>
              <a:rPr kumimoji="0" lang="en-US" sz="2400" b="0" i="0" u="none" strike="noStrike" kern="0" cap="none" spc="0" normalizeH="0" baseline="0" noProof="0" dirty="0">
                <a:ln>
                  <a:noFill/>
                </a:ln>
                <a:solidFill>
                  <a:schemeClr val="tx1"/>
                </a:solidFill>
                <a:effectLst/>
                <a:uLnTx/>
                <a:uFillTx/>
                <a:latin typeface="Calibri" pitchFamily="34" charset="0"/>
              </a:rPr>
              <a:t>initialize v = </a:t>
            </a:r>
            <a:r>
              <a:rPr lang="en-US" sz="2400" kern="0" dirty="0">
                <a:latin typeface="Times New Roman" pitchFamily="18" charset="0"/>
                <a:cs typeface="Times New Roman" pitchFamily="18" charset="0"/>
              </a:rPr>
              <a:t>+</a:t>
            </a:r>
            <a:r>
              <a:rPr kumimoji="0" lang="en-US" sz="2400" b="0" i="0" u="none" strike="noStrike" kern="0" cap="none" spc="0" normalizeH="0" baseline="0" noProof="0" dirty="0">
                <a:ln>
                  <a:noFill/>
                </a:ln>
                <a:solidFill>
                  <a:schemeClr val="tx1"/>
                </a:solidFill>
                <a:effectLst/>
                <a:uLnTx/>
                <a:uFillTx/>
                <a:latin typeface="Times New Roman" pitchFamily="18" charset="0"/>
                <a:cs typeface="Times New Roman" pitchFamily="18" charset="0"/>
              </a:rPr>
              <a:t>∞</a:t>
            </a:r>
          </a:p>
          <a:p>
            <a:pPr marL="742913" marR="0" lvl="1" indent="-285737" algn="l" defTabSz="914400" rtl="0" eaLnBrk="1" fontAlgn="base" latinLnBrk="0" hangingPunct="1">
              <a:lnSpc>
                <a:spcPct val="80000"/>
              </a:lnSpc>
              <a:spcBef>
                <a:spcPct val="20000"/>
              </a:spcBef>
              <a:spcAft>
                <a:spcPct val="0"/>
              </a:spcAft>
              <a:buClr>
                <a:schemeClr val="tx1"/>
              </a:buClr>
              <a:buSzTx/>
              <a:buFont typeface="Wingdings" pitchFamily="2" charset="2"/>
              <a:buNone/>
              <a:tabLst/>
              <a:defRPr/>
            </a:pPr>
            <a:r>
              <a:rPr kumimoji="0" lang="en-US" sz="2400" b="0" i="0" u="none" strike="noStrike" kern="0" cap="none" spc="0" normalizeH="0" baseline="0" noProof="0" dirty="0">
                <a:ln>
                  <a:noFill/>
                </a:ln>
                <a:solidFill>
                  <a:schemeClr val="tx1"/>
                </a:solidFill>
                <a:effectLst/>
                <a:uLnTx/>
                <a:uFillTx/>
                <a:latin typeface="Calibri" pitchFamily="34" charset="0"/>
              </a:rPr>
              <a:t>for each successor of state:</a:t>
            </a:r>
          </a:p>
          <a:p>
            <a:pPr marL="1142942" lvl="2" indent="-228589">
              <a:lnSpc>
                <a:spcPct val="80000"/>
              </a:lnSpc>
              <a:spcBef>
                <a:spcPct val="20000"/>
              </a:spcBef>
              <a:buClr>
                <a:schemeClr val="accent2"/>
              </a:buClr>
            </a:pPr>
            <a:r>
              <a:rPr lang="en-US" sz="2400" kern="0" dirty="0">
                <a:latin typeface="Calibri" pitchFamily="34" charset="0"/>
              </a:rPr>
              <a:t>v = min(v, </a:t>
            </a:r>
            <a:r>
              <a:rPr kumimoji="0" lang="en-US" sz="2400" b="0" i="0" u="none" strike="noStrike" kern="0" cap="none" spc="0" normalizeH="0" baseline="0" noProof="0" dirty="0">
                <a:ln>
                  <a:noFill/>
                </a:ln>
                <a:solidFill>
                  <a:srgbClr val="7030A0"/>
                </a:solidFill>
                <a:effectLst/>
                <a:uLnTx/>
                <a:uFillTx/>
                <a:latin typeface="Calibri" pitchFamily="34" charset="0"/>
              </a:rPr>
              <a:t>max-value(successor</a:t>
            </a:r>
            <a:r>
              <a:rPr lang="en-US" sz="2400" kern="0" dirty="0">
                <a:solidFill>
                  <a:srgbClr val="7030A0"/>
                </a:solidFill>
                <a:latin typeface="Calibri" pitchFamily="34" charset="0"/>
              </a:rPr>
              <a:t>, </a:t>
            </a:r>
            <a:r>
              <a:rPr lang="el-GR" sz="2400" kern="0" dirty="0">
                <a:solidFill>
                  <a:srgbClr val="7030A0"/>
                </a:solidFill>
                <a:latin typeface="Calibri" pitchFamily="34" charset="0"/>
              </a:rPr>
              <a:t>α</a:t>
            </a:r>
            <a:r>
              <a:rPr lang="en-US" sz="2400" kern="0" dirty="0">
                <a:solidFill>
                  <a:srgbClr val="7030A0"/>
                </a:solidFill>
                <a:latin typeface="Calibri" pitchFamily="34" charset="0"/>
              </a:rPr>
              <a:t>, </a:t>
            </a:r>
            <a:r>
              <a:rPr lang="el-GR" sz="2400" kern="0" dirty="0">
                <a:solidFill>
                  <a:srgbClr val="7030A0"/>
                </a:solidFill>
                <a:latin typeface="Calibri" pitchFamily="34" charset="0"/>
              </a:rPr>
              <a:t>β</a:t>
            </a:r>
            <a:r>
              <a:rPr kumimoji="0" lang="en-US" sz="2400" b="0" i="0" u="none" strike="noStrike" kern="0" cap="none" spc="0" normalizeH="0" baseline="0" noProof="0" dirty="0">
                <a:ln>
                  <a:noFill/>
                </a:ln>
                <a:solidFill>
                  <a:srgbClr val="7030A0"/>
                </a:solidFill>
                <a:effectLst/>
                <a:uLnTx/>
                <a:uFillTx/>
                <a:latin typeface="Calibri" pitchFamily="34" charset="0"/>
              </a:rPr>
              <a:t>)</a:t>
            </a:r>
            <a:r>
              <a:rPr kumimoji="0" lang="en-US" sz="2400" b="0" i="0" u="none" strike="noStrike" kern="0" cap="none" spc="0" normalizeH="0" baseline="0" noProof="0" dirty="0">
                <a:ln>
                  <a:noFill/>
                </a:ln>
                <a:effectLst/>
                <a:uLnTx/>
                <a:uFillTx/>
                <a:latin typeface="Calibri" pitchFamily="34" charset="0"/>
              </a:rPr>
              <a:t>)</a:t>
            </a:r>
          </a:p>
          <a:p>
            <a:pPr marL="1142942" lvl="2" indent="-228589">
              <a:lnSpc>
                <a:spcPct val="80000"/>
              </a:lnSpc>
              <a:spcBef>
                <a:spcPct val="20000"/>
              </a:spcBef>
              <a:buClr>
                <a:schemeClr val="accent2"/>
              </a:buClr>
            </a:pPr>
            <a:r>
              <a:rPr lang="en-US" sz="2400" kern="0" dirty="0">
                <a:latin typeface="Calibri" pitchFamily="34" charset="0"/>
              </a:rPr>
              <a:t>if v ≤ </a:t>
            </a:r>
            <a:r>
              <a:rPr lang="el-GR" sz="2400" kern="0" dirty="0">
                <a:latin typeface="Calibri" pitchFamily="34" charset="0"/>
              </a:rPr>
              <a:t>α</a:t>
            </a:r>
            <a:r>
              <a:rPr lang="en-US" sz="2400" kern="0" dirty="0">
                <a:latin typeface="Calibri" pitchFamily="34" charset="0"/>
              </a:rPr>
              <a:t> </a:t>
            </a:r>
          </a:p>
          <a:p>
            <a:pPr marL="1142942" lvl="2" indent="-228589">
              <a:lnSpc>
                <a:spcPct val="80000"/>
              </a:lnSpc>
              <a:spcBef>
                <a:spcPct val="20000"/>
              </a:spcBef>
              <a:buClr>
                <a:schemeClr val="accent2"/>
              </a:buClr>
            </a:pPr>
            <a:r>
              <a:rPr lang="en-US" sz="2400" kern="0" dirty="0">
                <a:latin typeface="Calibri" pitchFamily="34" charset="0"/>
              </a:rPr>
              <a:t>        return v</a:t>
            </a:r>
            <a:endParaRPr kumimoji="0" lang="en-US" sz="2400" b="0" i="0" u="none" strike="noStrike" kern="0" cap="none" spc="0" normalizeH="0" baseline="0" noProof="0" dirty="0">
              <a:ln>
                <a:noFill/>
              </a:ln>
              <a:solidFill>
                <a:schemeClr val="tx1"/>
              </a:solidFill>
              <a:effectLst/>
              <a:uLnTx/>
              <a:uFillTx/>
              <a:latin typeface="Calibri" pitchFamily="34" charset="0"/>
            </a:endParaRPr>
          </a:p>
          <a:p>
            <a:pPr marL="1142942" lvl="2" indent="-228589">
              <a:lnSpc>
                <a:spcPct val="80000"/>
              </a:lnSpc>
              <a:spcBef>
                <a:spcPct val="20000"/>
              </a:spcBef>
              <a:buClr>
                <a:schemeClr val="accent2"/>
              </a:buClr>
            </a:pPr>
            <a:r>
              <a:rPr lang="el-GR" sz="2400" kern="0" dirty="0">
                <a:latin typeface="Calibri" pitchFamily="34" charset="0"/>
              </a:rPr>
              <a:t>β </a:t>
            </a:r>
            <a:r>
              <a:rPr lang="en-US" sz="2400" kern="0" dirty="0">
                <a:latin typeface="Calibri" pitchFamily="34" charset="0"/>
              </a:rPr>
              <a:t>= min(</a:t>
            </a:r>
            <a:r>
              <a:rPr lang="el-GR" sz="2400" kern="0" dirty="0">
                <a:latin typeface="Calibri" pitchFamily="34" charset="0"/>
              </a:rPr>
              <a:t>β</a:t>
            </a:r>
            <a:r>
              <a:rPr lang="en-US" sz="2400" kern="0" dirty="0">
                <a:latin typeface="Calibri" pitchFamily="34" charset="0"/>
              </a:rPr>
              <a:t>, v)</a:t>
            </a:r>
            <a:endParaRPr kumimoji="0" lang="en-US" sz="2400" b="0" i="0" u="none" strike="noStrike" kern="0" cap="none" spc="0" normalizeH="0" baseline="0" noProof="0" dirty="0">
              <a:ln>
                <a:noFill/>
              </a:ln>
              <a:solidFill>
                <a:schemeClr val="tx1"/>
              </a:solidFill>
              <a:effectLst/>
              <a:uLnTx/>
              <a:uFillTx/>
              <a:latin typeface="Calibri" pitchFamily="34" charset="0"/>
            </a:endParaRPr>
          </a:p>
          <a:p>
            <a:pPr marL="742913" marR="0" lvl="1" indent="-285737" algn="l" defTabSz="914400" rtl="0" eaLnBrk="1" fontAlgn="base" latinLnBrk="0" hangingPunct="1">
              <a:lnSpc>
                <a:spcPct val="80000"/>
              </a:lnSpc>
              <a:spcBef>
                <a:spcPct val="20000"/>
              </a:spcBef>
              <a:spcAft>
                <a:spcPct val="0"/>
              </a:spcAft>
              <a:buClr>
                <a:schemeClr val="tx1"/>
              </a:buClr>
              <a:buSzTx/>
              <a:buFont typeface="Wingdings" pitchFamily="2" charset="2"/>
              <a:buNone/>
              <a:tabLst/>
              <a:defRPr/>
            </a:pPr>
            <a:r>
              <a:rPr kumimoji="0" lang="en-US" sz="2400" b="0" i="0" u="none" strike="noStrike" kern="0" cap="none" spc="0" normalizeH="0" baseline="0" noProof="0" dirty="0">
                <a:ln>
                  <a:noFill/>
                </a:ln>
                <a:solidFill>
                  <a:schemeClr val="tx1"/>
                </a:solidFill>
                <a:effectLst/>
                <a:uLnTx/>
                <a:uFillTx/>
                <a:latin typeface="Calibri" pitchFamily="34" charset="0"/>
              </a:rPr>
              <a:t>return v</a:t>
            </a:r>
          </a:p>
        </p:txBody>
      </p:sp>
      <p:sp>
        <p:nvSpPr>
          <p:cNvPr id="8" name="Content Placeholder 2"/>
          <p:cNvSpPr txBox="1">
            <a:spLocks/>
          </p:cNvSpPr>
          <p:nvPr/>
        </p:nvSpPr>
        <p:spPr bwMode="auto">
          <a:xfrm>
            <a:off x="228600" y="3124200"/>
            <a:ext cx="5867400" cy="3429000"/>
          </a:xfrm>
          <a:prstGeom prst="rect">
            <a:avLst/>
          </a:prstGeom>
          <a:noFill/>
          <a:ln w="9525">
            <a:noFill/>
            <a:miter lim="800000"/>
            <a:headEnd/>
            <a:tailEnd/>
          </a:ln>
        </p:spPr>
        <p:txBody>
          <a:bodyPr vert="horz" wrap="square" lIns="91436" tIns="45718" rIns="91436" bIns="45718" numCol="1" anchor="t" anchorCtr="0" compatLnSpc="1">
            <a:prstTxWarp prst="textNoShape">
              <a:avLst/>
            </a:prstTxWarp>
          </a:bodyPr>
          <a:lstStyle/>
          <a:p>
            <a:pPr marL="342882" marR="0" lvl="0" indent="-342882" algn="l" defTabSz="914400" rtl="0" eaLnBrk="1" fontAlgn="base" latinLnBrk="0" hangingPunct="1">
              <a:lnSpc>
                <a:spcPct val="80000"/>
              </a:lnSpc>
              <a:spcBef>
                <a:spcPts val="1200"/>
              </a:spcBef>
              <a:spcAft>
                <a:spcPct val="0"/>
              </a:spcAft>
              <a:buClr>
                <a:schemeClr val="accent2"/>
              </a:buClr>
              <a:buSzTx/>
              <a:buFont typeface="Wingdings" pitchFamily="2" charset="2"/>
              <a:buNone/>
              <a:tabLst/>
              <a:defRPr/>
            </a:pPr>
            <a:endParaRPr kumimoji="0" lang="en-US" sz="1100" b="0" i="0" u="none" strike="noStrike" kern="0" cap="none" spc="0" normalizeH="0" baseline="0" noProof="0" dirty="0">
              <a:ln>
                <a:noFill/>
              </a:ln>
              <a:solidFill>
                <a:srgbClr val="00B0F0"/>
              </a:solidFill>
              <a:effectLst/>
              <a:uLnTx/>
              <a:uFillTx/>
              <a:latin typeface="Calibri" pitchFamily="34" charset="0"/>
              <a:ea typeface="+mn-ea"/>
              <a:cs typeface="+mn-cs"/>
            </a:endParaRPr>
          </a:p>
          <a:p>
            <a:pPr marL="342882" lvl="0" indent="-342882">
              <a:lnSpc>
                <a:spcPct val="80000"/>
              </a:lnSpc>
              <a:spcBef>
                <a:spcPts val="1200"/>
              </a:spcBef>
              <a:buClr>
                <a:schemeClr val="accent2"/>
              </a:buClr>
            </a:pPr>
            <a:r>
              <a:rPr kumimoji="0" lang="en-US" sz="2400" b="0" i="0" u="none" strike="noStrike" kern="0" cap="none" spc="0" normalizeH="0" baseline="0" noProof="0" dirty="0">
                <a:ln>
                  <a:noFill/>
                </a:ln>
                <a:solidFill>
                  <a:srgbClr val="0066CC"/>
                </a:solidFill>
                <a:effectLst/>
                <a:uLnTx/>
                <a:uFillTx/>
                <a:latin typeface="Calibri" pitchFamily="34" charset="0"/>
                <a:ea typeface="+mn-ea"/>
                <a:cs typeface="+mn-cs"/>
              </a:rPr>
              <a:t>def max-value(state, </a:t>
            </a:r>
            <a:r>
              <a:rPr lang="el-GR" sz="2400" kern="0" dirty="0">
                <a:solidFill>
                  <a:srgbClr val="0066CC"/>
                </a:solidFill>
                <a:latin typeface="Calibri" pitchFamily="34" charset="0"/>
              </a:rPr>
              <a:t>α</a:t>
            </a:r>
            <a:r>
              <a:rPr lang="en-US" sz="2400" kern="0" dirty="0">
                <a:solidFill>
                  <a:srgbClr val="0066CC"/>
                </a:solidFill>
                <a:latin typeface="Calibri" pitchFamily="34" charset="0"/>
              </a:rPr>
              <a:t>, </a:t>
            </a:r>
            <a:r>
              <a:rPr lang="el-GR" sz="2400" kern="0" dirty="0">
                <a:solidFill>
                  <a:srgbClr val="0066CC"/>
                </a:solidFill>
                <a:latin typeface="Calibri" pitchFamily="34" charset="0"/>
              </a:rPr>
              <a:t>β</a:t>
            </a:r>
            <a:r>
              <a:rPr kumimoji="0" lang="en-US" sz="2400" b="0" i="0" u="none" strike="noStrike" kern="0" cap="none" spc="0" normalizeH="0" baseline="0" noProof="0" dirty="0">
                <a:ln>
                  <a:noFill/>
                </a:ln>
                <a:solidFill>
                  <a:srgbClr val="0066CC"/>
                </a:solidFill>
                <a:effectLst/>
                <a:uLnTx/>
                <a:uFillTx/>
                <a:latin typeface="Calibri" pitchFamily="34" charset="0"/>
                <a:ea typeface="+mn-ea"/>
                <a:cs typeface="+mn-cs"/>
              </a:rPr>
              <a:t>):</a:t>
            </a:r>
          </a:p>
          <a:p>
            <a:pPr marL="742913" marR="0" lvl="1" indent="-285737" algn="l" defTabSz="914400" rtl="0" eaLnBrk="1" fontAlgn="base" latinLnBrk="0" hangingPunct="1">
              <a:lnSpc>
                <a:spcPct val="80000"/>
              </a:lnSpc>
              <a:spcBef>
                <a:spcPct val="20000"/>
              </a:spcBef>
              <a:spcAft>
                <a:spcPct val="0"/>
              </a:spcAft>
              <a:buClr>
                <a:schemeClr val="tx1"/>
              </a:buClr>
              <a:buSzTx/>
              <a:buFont typeface="Wingdings" pitchFamily="2" charset="2"/>
              <a:buNone/>
              <a:tabLst/>
              <a:defRPr/>
            </a:pPr>
            <a:r>
              <a:rPr kumimoji="0" lang="en-US" sz="2400" b="0" i="0" u="none" strike="noStrike" kern="0" cap="none" spc="0" normalizeH="0" baseline="0" noProof="0" dirty="0">
                <a:ln>
                  <a:noFill/>
                </a:ln>
                <a:solidFill>
                  <a:schemeClr val="tx1"/>
                </a:solidFill>
                <a:effectLst/>
                <a:uLnTx/>
                <a:uFillTx/>
                <a:latin typeface="Calibri" pitchFamily="34" charset="0"/>
              </a:rPr>
              <a:t>initialize v = </a:t>
            </a:r>
            <a:r>
              <a:rPr kumimoji="0" lang="en-US" sz="2400" b="0" i="0" u="none" strike="noStrike" kern="0" cap="none" spc="0" normalizeH="0" baseline="0" noProof="0" dirty="0">
                <a:ln>
                  <a:noFill/>
                </a:ln>
                <a:solidFill>
                  <a:schemeClr val="tx1"/>
                </a:solidFill>
                <a:effectLst/>
                <a:uLnTx/>
                <a:uFillTx/>
                <a:latin typeface="Times New Roman" pitchFamily="18" charset="0"/>
                <a:cs typeface="Times New Roman" pitchFamily="18" charset="0"/>
              </a:rPr>
              <a:t>-∞</a:t>
            </a:r>
          </a:p>
          <a:p>
            <a:pPr marL="742913" marR="0" lvl="1" indent="-285737" algn="l" defTabSz="914400" rtl="0" eaLnBrk="1" fontAlgn="base" latinLnBrk="0" hangingPunct="1">
              <a:lnSpc>
                <a:spcPct val="80000"/>
              </a:lnSpc>
              <a:spcBef>
                <a:spcPct val="20000"/>
              </a:spcBef>
              <a:spcAft>
                <a:spcPct val="0"/>
              </a:spcAft>
              <a:buClr>
                <a:schemeClr val="tx1"/>
              </a:buClr>
              <a:buSzTx/>
              <a:buFont typeface="Wingdings" pitchFamily="2" charset="2"/>
              <a:buNone/>
              <a:tabLst/>
              <a:defRPr/>
            </a:pPr>
            <a:r>
              <a:rPr kumimoji="0" lang="en-US" sz="2400" b="0" i="0" u="none" strike="noStrike" kern="0" cap="none" spc="0" normalizeH="0" baseline="0" noProof="0" dirty="0">
                <a:ln>
                  <a:noFill/>
                </a:ln>
                <a:solidFill>
                  <a:schemeClr val="tx1"/>
                </a:solidFill>
                <a:effectLst/>
                <a:uLnTx/>
                <a:uFillTx/>
                <a:latin typeface="Calibri" pitchFamily="34" charset="0"/>
              </a:rPr>
              <a:t>for each successor of state:</a:t>
            </a:r>
          </a:p>
          <a:p>
            <a:pPr marL="1142942" lvl="2" indent="-228589">
              <a:lnSpc>
                <a:spcPct val="80000"/>
              </a:lnSpc>
              <a:spcBef>
                <a:spcPct val="20000"/>
              </a:spcBef>
              <a:buClr>
                <a:schemeClr val="accent2"/>
              </a:buClr>
            </a:pPr>
            <a:r>
              <a:rPr kumimoji="0" lang="en-US" sz="2400" b="0" i="0" u="none" strike="noStrike" kern="0" cap="none" spc="0" normalizeH="0" baseline="0" noProof="0" dirty="0">
                <a:ln>
                  <a:noFill/>
                </a:ln>
                <a:solidFill>
                  <a:schemeClr val="tx1"/>
                </a:solidFill>
                <a:effectLst/>
                <a:uLnTx/>
                <a:uFillTx/>
                <a:latin typeface="Calibri" pitchFamily="34" charset="0"/>
              </a:rPr>
              <a:t>v = </a:t>
            </a:r>
            <a:r>
              <a:rPr lang="en-US" sz="2400" kern="0" noProof="0" dirty="0">
                <a:latin typeface="Calibri" pitchFamily="34" charset="0"/>
              </a:rPr>
              <a:t>max(v, </a:t>
            </a:r>
            <a:r>
              <a:rPr kumimoji="0" lang="en-US" sz="2400" b="0" i="0" u="none" strike="noStrike" kern="0" cap="none" spc="0" normalizeH="0" baseline="0" noProof="0" dirty="0">
                <a:ln>
                  <a:noFill/>
                </a:ln>
                <a:solidFill>
                  <a:srgbClr val="7030A0"/>
                </a:solidFill>
                <a:effectLst/>
                <a:uLnTx/>
                <a:uFillTx/>
                <a:latin typeface="Calibri" pitchFamily="34" charset="0"/>
              </a:rPr>
              <a:t>min-value(successor</a:t>
            </a:r>
            <a:r>
              <a:rPr lang="en-US" sz="2400" kern="0" dirty="0">
                <a:solidFill>
                  <a:srgbClr val="7030A0"/>
                </a:solidFill>
                <a:latin typeface="Calibri" pitchFamily="34" charset="0"/>
              </a:rPr>
              <a:t>, </a:t>
            </a:r>
            <a:r>
              <a:rPr lang="el-GR" sz="2400" kern="0" dirty="0">
                <a:solidFill>
                  <a:srgbClr val="7030A0"/>
                </a:solidFill>
                <a:latin typeface="Calibri" pitchFamily="34" charset="0"/>
              </a:rPr>
              <a:t>α</a:t>
            </a:r>
            <a:r>
              <a:rPr lang="en-US" sz="2400" kern="0" dirty="0">
                <a:solidFill>
                  <a:srgbClr val="7030A0"/>
                </a:solidFill>
                <a:latin typeface="Calibri" pitchFamily="34" charset="0"/>
              </a:rPr>
              <a:t>, </a:t>
            </a:r>
            <a:r>
              <a:rPr lang="el-GR" sz="2400" kern="0" dirty="0">
                <a:solidFill>
                  <a:srgbClr val="7030A0"/>
                </a:solidFill>
                <a:latin typeface="Calibri" pitchFamily="34" charset="0"/>
              </a:rPr>
              <a:t>β</a:t>
            </a:r>
            <a:r>
              <a:rPr kumimoji="0" lang="en-US" sz="2400" b="0" i="0" u="none" strike="noStrike" kern="0" cap="none" spc="0" normalizeH="0" baseline="0" noProof="0" dirty="0">
                <a:ln>
                  <a:noFill/>
                </a:ln>
                <a:solidFill>
                  <a:srgbClr val="7030A0"/>
                </a:solidFill>
                <a:effectLst/>
                <a:uLnTx/>
                <a:uFillTx/>
                <a:latin typeface="Calibri" pitchFamily="34" charset="0"/>
              </a:rPr>
              <a:t>)</a:t>
            </a:r>
            <a:r>
              <a:rPr lang="en-US" sz="2400" kern="0" dirty="0">
                <a:latin typeface="Calibri" pitchFamily="34" charset="0"/>
              </a:rPr>
              <a:t>)</a:t>
            </a:r>
            <a:endParaRPr kumimoji="0" lang="en-US" sz="2400" b="0" i="0" u="none" strike="noStrike" kern="0" cap="none" spc="0" normalizeH="0" baseline="0" noProof="0" dirty="0">
              <a:ln>
                <a:noFill/>
              </a:ln>
              <a:solidFill>
                <a:srgbClr val="7030A0"/>
              </a:solidFill>
              <a:effectLst/>
              <a:uLnTx/>
              <a:uFillTx/>
              <a:latin typeface="Calibri" pitchFamily="34" charset="0"/>
            </a:endParaRPr>
          </a:p>
          <a:p>
            <a:pPr marL="1142942" marR="0" lvl="2" indent="-228589" algn="l" defTabSz="914400" rtl="0" eaLnBrk="1" fontAlgn="base" latinLnBrk="0" hangingPunct="1">
              <a:lnSpc>
                <a:spcPct val="80000"/>
              </a:lnSpc>
              <a:spcBef>
                <a:spcPct val="20000"/>
              </a:spcBef>
              <a:spcAft>
                <a:spcPct val="0"/>
              </a:spcAft>
              <a:buClr>
                <a:schemeClr val="accent2"/>
              </a:buClr>
              <a:buSzTx/>
              <a:buFont typeface="Wingdings" pitchFamily="2" charset="2"/>
              <a:buNone/>
              <a:tabLst/>
              <a:defRPr/>
            </a:pPr>
            <a:r>
              <a:rPr lang="en-US" sz="2400" kern="0" baseline="0" dirty="0">
                <a:latin typeface="Calibri" pitchFamily="34" charset="0"/>
              </a:rPr>
              <a:t>if</a:t>
            </a:r>
            <a:r>
              <a:rPr lang="en-US" sz="2400" kern="0" dirty="0">
                <a:latin typeface="Calibri" pitchFamily="34" charset="0"/>
              </a:rPr>
              <a:t> v ≥ </a:t>
            </a:r>
            <a:r>
              <a:rPr lang="el-GR" sz="2400" kern="0" dirty="0">
                <a:latin typeface="Calibri" pitchFamily="34" charset="0"/>
              </a:rPr>
              <a:t>β</a:t>
            </a:r>
            <a:r>
              <a:rPr lang="en-US" sz="2400" kern="0" dirty="0">
                <a:latin typeface="Calibri" pitchFamily="34" charset="0"/>
              </a:rPr>
              <a:t> </a:t>
            </a:r>
          </a:p>
          <a:p>
            <a:pPr marL="1142942" marR="0" lvl="2" indent="-228589" algn="l" defTabSz="914400" rtl="0" eaLnBrk="1" fontAlgn="base" latinLnBrk="0" hangingPunct="1">
              <a:lnSpc>
                <a:spcPct val="80000"/>
              </a:lnSpc>
              <a:spcBef>
                <a:spcPct val="20000"/>
              </a:spcBef>
              <a:spcAft>
                <a:spcPct val="0"/>
              </a:spcAft>
              <a:buClr>
                <a:schemeClr val="accent2"/>
              </a:buClr>
              <a:buSzTx/>
              <a:buFont typeface="Wingdings" pitchFamily="2" charset="2"/>
              <a:buNone/>
              <a:tabLst/>
              <a:defRPr/>
            </a:pPr>
            <a:r>
              <a:rPr lang="en-US" sz="2400" kern="0" dirty="0">
                <a:latin typeface="Calibri" pitchFamily="34" charset="0"/>
              </a:rPr>
              <a:t>        return v</a:t>
            </a:r>
          </a:p>
          <a:p>
            <a:pPr marL="1142942" lvl="2" indent="-228589">
              <a:lnSpc>
                <a:spcPct val="80000"/>
              </a:lnSpc>
              <a:spcBef>
                <a:spcPct val="20000"/>
              </a:spcBef>
              <a:buClr>
                <a:schemeClr val="accent2"/>
              </a:buClr>
            </a:pPr>
            <a:r>
              <a:rPr lang="el-GR" sz="2400" kern="0" dirty="0">
                <a:latin typeface="Calibri" pitchFamily="34" charset="0"/>
              </a:rPr>
              <a:t>α</a:t>
            </a:r>
            <a:r>
              <a:rPr lang="en-US" sz="2400" kern="0" dirty="0">
                <a:latin typeface="Calibri" pitchFamily="34" charset="0"/>
              </a:rPr>
              <a:t> = max(</a:t>
            </a:r>
            <a:r>
              <a:rPr lang="el-GR" sz="2400" kern="0" dirty="0">
                <a:latin typeface="Calibri" pitchFamily="34" charset="0"/>
              </a:rPr>
              <a:t>α</a:t>
            </a:r>
            <a:r>
              <a:rPr lang="en-US" sz="2400" kern="0" dirty="0">
                <a:latin typeface="Calibri" pitchFamily="34" charset="0"/>
              </a:rPr>
              <a:t>, v)</a:t>
            </a:r>
            <a:endParaRPr kumimoji="0" lang="en-US" sz="2400" b="0" i="0" u="none" strike="noStrike" kern="0" cap="none" spc="0" normalizeH="0" baseline="0" noProof="0" dirty="0">
              <a:ln>
                <a:noFill/>
              </a:ln>
              <a:solidFill>
                <a:schemeClr val="tx1"/>
              </a:solidFill>
              <a:effectLst/>
              <a:uLnTx/>
              <a:uFillTx/>
              <a:latin typeface="Calibri" pitchFamily="34" charset="0"/>
            </a:endParaRPr>
          </a:p>
          <a:p>
            <a:pPr marL="742913" marR="0" lvl="1" indent="-285737" algn="l" defTabSz="914400" rtl="0" eaLnBrk="1" fontAlgn="base" latinLnBrk="0" hangingPunct="1">
              <a:lnSpc>
                <a:spcPct val="80000"/>
              </a:lnSpc>
              <a:spcBef>
                <a:spcPct val="20000"/>
              </a:spcBef>
              <a:spcAft>
                <a:spcPct val="0"/>
              </a:spcAft>
              <a:buClr>
                <a:schemeClr val="tx1"/>
              </a:buClr>
              <a:buSzTx/>
              <a:buFont typeface="Wingdings" pitchFamily="2" charset="2"/>
              <a:buNone/>
              <a:tabLst/>
              <a:defRPr/>
            </a:pPr>
            <a:r>
              <a:rPr kumimoji="0" lang="en-US" sz="2400" b="0" i="0" u="none" strike="noStrike" kern="0" cap="none" spc="0" normalizeH="0" baseline="0" noProof="0" dirty="0">
                <a:ln>
                  <a:noFill/>
                </a:ln>
                <a:solidFill>
                  <a:schemeClr val="tx1"/>
                </a:solidFill>
                <a:effectLst/>
                <a:uLnTx/>
                <a:uFillTx/>
                <a:latin typeface="Calibri" pitchFamily="34" charset="0"/>
              </a:rPr>
              <a:t>return v</a:t>
            </a:r>
          </a:p>
        </p:txBody>
      </p:sp>
      <p:sp>
        <p:nvSpPr>
          <p:cNvPr id="14" name="Rounded Rectangle 13"/>
          <p:cNvSpPr/>
          <p:nvPr/>
        </p:nvSpPr>
        <p:spPr>
          <a:xfrm>
            <a:off x="3505200" y="1524000"/>
            <a:ext cx="5105400" cy="1066800"/>
          </a:xfrm>
          <a:prstGeom prst="roundRect">
            <a:avLst/>
          </a:prstGeom>
          <a:solidFill>
            <a:srgbClr val="7030A0">
              <a:alpha val="16000"/>
            </a:srgb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ntent Placeholder 2"/>
          <p:cNvSpPr>
            <a:spLocks noGrp="1"/>
          </p:cNvSpPr>
          <p:nvPr>
            <p:ph idx="1"/>
          </p:nvPr>
        </p:nvSpPr>
        <p:spPr>
          <a:xfrm>
            <a:off x="0" y="1676400"/>
            <a:ext cx="11734800" cy="1447800"/>
          </a:xfrm>
        </p:spPr>
        <p:txBody>
          <a:bodyPr/>
          <a:lstStyle/>
          <a:p>
            <a:pPr lvl="1" algn="ctr">
              <a:lnSpc>
                <a:spcPct val="80000"/>
              </a:lnSpc>
              <a:buNone/>
            </a:pPr>
            <a:r>
              <a:rPr lang="el-GR" sz="2400" dirty="0">
                <a:solidFill>
                  <a:srgbClr val="0066CC"/>
                </a:solidFill>
              </a:rPr>
              <a:t>α</a:t>
            </a:r>
            <a:r>
              <a:rPr lang="en-US" sz="2400" dirty="0">
                <a:solidFill>
                  <a:srgbClr val="0066CC"/>
                </a:solidFill>
              </a:rPr>
              <a:t>: </a:t>
            </a:r>
            <a:r>
              <a:rPr lang="en-US" sz="2400" dirty="0">
                <a:solidFill>
                  <a:srgbClr val="0070C0"/>
                </a:solidFill>
              </a:rPr>
              <a:t>MAX’s best option on path to root</a:t>
            </a:r>
          </a:p>
          <a:p>
            <a:pPr lvl="1" algn="ctr">
              <a:lnSpc>
                <a:spcPct val="80000"/>
              </a:lnSpc>
              <a:buNone/>
            </a:pPr>
            <a:r>
              <a:rPr lang="el-GR" sz="2400" dirty="0">
                <a:solidFill>
                  <a:srgbClr val="C00000"/>
                </a:solidFill>
              </a:rPr>
              <a:t>β</a:t>
            </a:r>
            <a:r>
              <a:rPr lang="en-US" sz="2400" dirty="0">
                <a:solidFill>
                  <a:srgbClr val="C00000"/>
                </a:solidFill>
              </a:rPr>
              <a:t>:</a:t>
            </a:r>
            <a:r>
              <a:rPr lang="el-GR" sz="2400" dirty="0">
                <a:solidFill>
                  <a:srgbClr val="C00000"/>
                </a:solidFill>
              </a:rPr>
              <a:t> </a:t>
            </a:r>
            <a:r>
              <a:rPr lang="en-US" sz="2400" dirty="0">
                <a:solidFill>
                  <a:srgbClr val="C00000"/>
                </a:solidFill>
              </a:rPr>
              <a:t>MIN’s best option on path to root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lpha-beta-large.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778643"/>
            <a:ext cx="7543800" cy="4774557"/>
          </a:xfrm>
          <a:prstGeom prst="rect">
            <a:avLst/>
          </a:prstGeom>
        </p:spPr>
      </p:pic>
      <p:sp>
        <p:nvSpPr>
          <p:cNvPr id="2" name="Title 1"/>
          <p:cNvSpPr>
            <a:spLocks noGrp="1"/>
          </p:cNvSpPr>
          <p:nvPr>
            <p:ph type="title"/>
          </p:nvPr>
        </p:nvSpPr>
        <p:spPr/>
        <p:txBody>
          <a:bodyPr/>
          <a:lstStyle/>
          <a:p>
            <a:r>
              <a:rPr lang="en-US" dirty="0"/>
              <a:t>Alpha-Beta</a:t>
            </a:r>
          </a:p>
        </p:txBody>
      </p:sp>
      <p:sp>
        <p:nvSpPr>
          <p:cNvPr id="6" name="Rectangle 5"/>
          <p:cNvSpPr/>
          <p:nvPr/>
        </p:nvSpPr>
        <p:spPr>
          <a:xfrm>
            <a:off x="4114800" y="4572000"/>
            <a:ext cx="1295400" cy="1981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solidFill>
                <a:srgbClr val="9B01FF"/>
              </a:solidFill>
            </a:endParaRPr>
          </a:p>
        </p:txBody>
      </p:sp>
      <p:sp>
        <p:nvSpPr>
          <p:cNvPr id="10" name="Rectangle 9"/>
          <p:cNvSpPr/>
          <p:nvPr/>
        </p:nvSpPr>
        <p:spPr>
          <a:xfrm>
            <a:off x="4800600" y="2438400"/>
            <a:ext cx="2971800" cy="430730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solidFill>
                <a:srgbClr val="9B01FF"/>
              </a:solidFill>
            </a:endParaRPr>
          </a:p>
        </p:txBody>
      </p:sp>
      <p:sp>
        <p:nvSpPr>
          <p:cNvPr id="27" name="Rectangle 26"/>
          <p:cNvSpPr/>
          <p:nvPr/>
        </p:nvSpPr>
        <p:spPr>
          <a:xfrm>
            <a:off x="161355" y="4572000"/>
            <a:ext cx="600645" cy="584776"/>
          </a:xfrm>
          <a:prstGeom prst="rect">
            <a:avLst/>
          </a:prstGeom>
        </p:spPr>
        <p:txBody>
          <a:bodyPr wrap="none">
            <a:spAutoFit/>
          </a:bodyPr>
          <a:lstStyle/>
          <a:p>
            <a:r>
              <a:rPr lang="en-US" sz="3200" dirty="0">
                <a:solidFill>
                  <a:srgbClr val="0000FF"/>
                </a:solidFill>
                <a:latin typeface="Calibri"/>
                <a:cs typeface="Calibri"/>
              </a:rPr>
              <a:t>10</a:t>
            </a:r>
          </a:p>
        </p:txBody>
      </p:sp>
      <p:sp>
        <p:nvSpPr>
          <p:cNvPr id="32" name="Rectangle 31"/>
          <p:cNvSpPr/>
          <p:nvPr/>
        </p:nvSpPr>
        <p:spPr>
          <a:xfrm>
            <a:off x="1621035" y="4572000"/>
            <a:ext cx="1198365" cy="584776"/>
          </a:xfrm>
          <a:prstGeom prst="rect">
            <a:avLst/>
          </a:prstGeom>
        </p:spPr>
        <p:txBody>
          <a:bodyPr wrap="none">
            <a:spAutoFit/>
          </a:bodyPr>
          <a:lstStyle/>
          <a:p>
            <a:r>
              <a:rPr lang="en-US" sz="3200" dirty="0">
                <a:solidFill>
                  <a:srgbClr val="0000FF"/>
                </a:solidFill>
                <a:latin typeface="Calibri"/>
                <a:cs typeface="Calibri"/>
              </a:rPr>
              <a:t>v=100</a:t>
            </a:r>
          </a:p>
        </p:txBody>
      </p:sp>
      <p:sp>
        <p:nvSpPr>
          <p:cNvPr id="13" name="Rectangle 12"/>
          <p:cNvSpPr/>
          <p:nvPr/>
        </p:nvSpPr>
        <p:spPr>
          <a:xfrm>
            <a:off x="3048000" y="5410200"/>
            <a:ext cx="1295400" cy="12954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solidFill>
                <a:srgbClr val="9B01FF"/>
              </a:solidFill>
            </a:endParaRPr>
          </a:p>
        </p:txBody>
      </p:sp>
      <p:sp>
        <p:nvSpPr>
          <p:cNvPr id="14" name="Rectangle 13"/>
          <p:cNvSpPr/>
          <p:nvPr/>
        </p:nvSpPr>
        <p:spPr>
          <a:xfrm>
            <a:off x="391616" y="3072824"/>
            <a:ext cx="1208584" cy="584776"/>
          </a:xfrm>
          <a:prstGeom prst="rect">
            <a:avLst/>
          </a:prstGeom>
        </p:spPr>
        <p:txBody>
          <a:bodyPr wrap="none">
            <a:spAutoFit/>
          </a:bodyPr>
          <a:lstStyle/>
          <a:p>
            <a:r>
              <a:rPr lang="en-US" sz="3200" dirty="0">
                <a:solidFill>
                  <a:srgbClr val="FF0000"/>
                </a:solidFill>
                <a:latin typeface="Calibri"/>
                <a:cs typeface="Calibri"/>
              </a:rPr>
              <a:t>β = 10</a:t>
            </a:r>
          </a:p>
        </p:txBody>
      </p:sp>
      <p:pic>
        <p:nvPicPr>
          <p:cNvPr id="15" name="Picture 14" descr="BU005292.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00400" y="5029200"/>
            <a:ext cx="940296" cy="911352"/>
          </a:xfrm>
          <a:prstGeom prst="rect">
            <a:avLst/>
          </a:prstGeom>
        </p:spPr>
      </p:pic>
      <p:sp>
        <p:nvSpPr>
          <p:cNvPr id="16" name="Content Placeholder 2"/>
          <p:cNvSpPr txBox="1">
            <a:spLocks/>
          </p:cNvSpPr>
          <p:nvPr/>
        </p:nvSpPr>
        <p:spPr bwMode="auto">
          <a:xfrm>
            <a:off x="6477000" y="1905000"/>
            <a:ext cx="5867400" cy="2971800"/>
          </a:xfrm>
          <a:prstGeom prst="rect">
            <a:avLst/>
          </a:prstGeom>
          <a:noFill/>
          <a:ln w="9525">
            <a:noFill/>
            <a:miter lim="800000"/>
            <a:headEnd/>
            <a:tailEnd/>
          </a:ln>
        </p:spPr>
        <p:txBody>
          <a:bodyPr vert="horz" wrap="square" lIns="91436" tIns="45718" rIns="91436" bIns="45718" numCol="1" anchor="t" anchorCtr="0" compatLnSpc="1">
            <a:prstTxWarp prst="textNoShape">
              <a:avLst/>
            </a:prstTxWarp>
          </a:bodyPr>
          <a:lstStyle/>
          <a:p>
            <a:pPr marL="342882" marR="0" lvl="0" indent="-342882" algn="l" defTabSz="914400" rtl="0" eaLnBrk="1" fontAlgn="base" latinLnBrk="0" hangingPunct="1">
              <a:lnSpc>
                <a:spcPct val="80000"/>
              </a:lnSpc>
              <a:spcBef>
                <a:spcPts val="1200"/>
              </a:spcBef>
              <a:spcAft>
                <a:spcPct val="0"/>
              </a:spcAft>
              <a:buClr>
                <a:schemeClr val="accent2"/>
              </a:buClr>
              <a:buSzTx/>
              <a:buFont typeface="Wingdings" pitchFamily="2" charset="2"/>
              <a:buNone/>
              <a:tabLst/>
              <a:defRPr/>
            </a:pPr>
            <a:endParaRPr kumimoji="0" lang="en-US" sz="1100" b="0" i="0" u="none" strike="noStrike" kern="0" cap="none" spc="0" normalizeH="0" baseline="0" noProof="0" dirty="0">
              <a:ln>
                <a:noFill/>
              </a:ln>
              <a:solidFill>
                <a:srgbClr val="00B0F0"/>
              </a:solidFill>
              <a:effectLst/>
              <a:uLnTx/>
              <a:uFillTx/>
              <a:latin typeface="Calibri" pitchFamily="34" charset="0"/>
              <a:ea typeface="+mn-ea"/>
              <a:cs typeface="+mn-cs"/>
            </a:endParaRPr>
          </a:p>
          <a:p>
            <a:pPr marL="342882" lvl="0" indent="-342882">
              <a:lnSpc>
                <a:spcPct val="80000"/>
              </a:lnSpc>
              <a:spcBef>
                <a:spcPts val="1200"/>
              </a:spcBef>
              <a:buClr>
                <a:schemeClr val="accent2"/>
              </a:buClr>
            </a:pPr>
            <a:r>
              <a:rPr kumimoji="0" lang="en-US" sz="2400" b="0" i="0" u="none" strike="noStrike" kern="0" cap="none" spc="0" normalizeH="0" baseline="0" noProof="0" dirty="0">
                <a:ln>
                  <a:noFill/>
                </a:ln>
                <a:solidFill>
                  <a:srgbClr val="0066CC"/>
                </a:solidFill>
                <a:effectLst/>
                <a:uLnTx/>
                <a:uFillTx/>
                <a:latin typeface="Calibri" pitchFamily="34" charset="0"/>
                <a:ea typeface="+mn-ea"/>
                <a:cs typeface="+mn-cs"/>
              </a:rPr>
              <a:t>def max-value(state, </a:t>
            </a:r>
            <a:r>
              <a:rPr lang="el-GR" sz="2400" kern="0" dirty="0">
                <a:solidFill>
                  <a:srgbClr val="0066CC"/>
                </a:solidFill>
                <a:latin typeface="Calibri" pitchFamily="34" charset="0"/>
              </a:rPr>
              <a:t>α</a:t>
            </a:r>
            <a:r>
              <a:rPr lang="en-US" sz="2400" kern="0" dirty="0">
                <a:solidFill>
                  <a:srgbClr val="0066CC"/>
                </a:solidFill>
                <a:latin typeface="Calibri" pitchFamily="34" charset="0"/>
              </a:rPr>
              <a:t>, </a:t>
            </a:r>
            <a:r>
              <a:rPr lang="el-GR" sz="2400" kern="0" dirty="0">
                <a:solidFill>
                  <a:srgbClr val="0066CC"/>
                </a:solidFill>
                <a:latin typeface="Calibri" pitchFamily="34" charset="0"/>
              </a:rPr>
              <a:t>β</a:t>
            </a:r>
            <a:r>
              <a:rPr kumimoji="0" lang="en-US" sz="2400" b="0" i="0" u="none" strike="noStrike" kern="0" cap="none" spc="0" normalizeH="0" baseline="0" noProof="0" dirty="0">
                <a:ln>
                  <a:noFill/>
                </a:ln>
                <a:solidFill>
                  <a:srgbClr val="0066CC"/>
                </a:solidFill>
                <a:effectLst/>
                <a:uLnTx/>
                <a:uFillTx/>
                <a:latin typeface="Calibri" pitchFamily="34" charset="0"/>
                <a:ea typeface="+mn-ea"/>
                <a:cs typeface="+mn-cs"/>
              </a:rPr>
              <a:t>):</a:t>
            </a:r>
          </a:p>
          <a:p>
            <a:pPr marL="742913" marR="0" lvl="1" indent="-285737" algn="l" defTabSz="914400" rtl="0" eaLnBrk="1" fontAlgn="base" latinLnBrk="0" hangingPunct="1">
              <a:lnSpc>
                <a:spcPct val="80000"/>
              </a:lnSpc>
              <a:spcBef>
                <a:spcPct val="20000"/>
              </a:spcBef>
              <a:spcAft>
                <a:spcPct val="0"/>
              </a:spcAft>
              <a:buClr>
                <a:schemeClr val="tx1"/>
              </a:buClr>
              <a:buSzTx/>
              <a:buFont typeface="Wingdings" pitchFamily="2" charset="2"/>
              <a:buNone/>
              <a:tabLst/>
              <a:defRPr/>
            </a:pPr>
            <a:r>
              <a:rPr kumimoji="0" lang="en-US" sz="2400" b="0" i="0" u="none" strike="noStrike" kern="0" cap="none" spc="0" normalizeH="0" baseline="0" noProof="0" dirty="0">
                <a:ln>
                  <a:noFill/>
                </a:ln>
                <a:solidFill>
                  <a:schemeClr val="tx1"/>
                </a:solidFill>
                <a:effectLst/>
                <a:uLnTx/>
                <a:uFillTx/>
                <a:latin typeface="Calibri" pitchFamily="34" charset="0"/>
              </a:rPr>
              <a:t>initialize v = </a:t>
            </a:r>
            <a:r>
              <a:rPr kumimoji="0" lang="en-US" sz="2400" b="0" i="0" u="none" strike="noStrike" kern="0" cap="none" spc="0" normalizeH="0" baseline="0" noProof="0" dirty="0">
                <a:ln>
                  <a:noFill/>
                </a:ln>
                <a:solidFill>
                  <a:schemeClr val="tx1"/>
                </a:solidFill>
                <a:effectLst/>
                <a:uLnTx/>
                <a:uFillTx/>
                <a:latin typeface="Times New Roman" pitchFamily="18" charset="0"/>
                <a:cs typeface="Times New Roman" pitchFamily="18" charset="0"/>
              </a:rPr>
              <a:t>-∞</a:t>
            </a:r>
          </a:p>
          <a:p>
            <a:pPr marL="742913" marR="0" lvl="1" indent="-285737" algn="l" defTabSz="914400" rtl="0" eaLnBrk="1" fontAlgn="base" latinLnBrk="0" hangingPunct="1">
              <a:lnSpc>
                <a:spcPct val="80000"/>
              </a:lnSpc>
              <a:spcBef>
                <a:spcPct val="20000"/>
              </a:spcBef>
              <a:spcAft>
                <a:spcPct val="0"/>
              </a:spcAft>
              <a:buClr>
                <a:schemeClr val="tx1"/>
              </a:buClr>
              <a:buSzTx/>
              <a:buFont typeface="Wingdings" pitchFamily="2" charset="2"/>
              <a:buNone/>
              <a:tabLst/>
              <a:defRPr/>
            </a:pPr>
            <a:r>
              <a:rPr kumimoji="0" lang="en-US" sz="2400" b="0" i="0" u="none" strike="noStrike" kern="0" cap="none" spc="0" normalizeH="0" baseline="0" noProof="0" dirty="0">
                <a:ln>
                  <a:noFill/>
                </a:ln>
                <a:solidFill>
                  <a:schemeClr val="tx1"/>
                </a:solidFill>
                <a:effectLst/>
                <a:uLnTx/>
                <a:uFillTx/>
                <a:latin typeface="Calibri" pitchFamily="34" charset="0"/>
              </a:rPr>
              <a:t>for each successor of state:</a:t>
            </a:r>
          </a:p>
          <a:p>
            <a:pPr marL="1142942" lvl="2" indent="-228589">
              <a:lnSpc>
                <a:spcPct val="80000"/>
              </a:lnSpc>
              <a:spcBef>
                <a:spcPct val="20000"/>
              </a:spcBef>
              <a:buClr>
                <a:schemeClr val="accent2"/>
              </a:buClr>
            </a:pPr>
            <a:r>
              <a:rPr kumimoji="0" lang="en-US" sz="2400" b="0" i="0" u="none" strike="noStrike" kern="0" cap="none" spc="0" normalizeH="0" baseline="0" noProof="0" dirty="0">
                <a:ln>
                  <a:noFill/>
                </a:ln>
                <a:solidFill>
                  <a:schemeClr val="tx1"/>
                </a:solidFill>
                <a:effectLst/>
                <a:uLnTx/>
                <a:uFillTx/>
                <a:latin typeface="Calibri" pitchFamily="34" charset="0"/>
              </a:rPr>
              <a:t>v = </a:t>
            </a:r>
            <a:r>
              <a:rPr lang="en-US" sz="2400" kern="0" noProof="0" dirty="0">
                <a:latin typeface="Calibri" pitchFamily="34" charset="0"/>
              </a:rPr>
              <a:t>max(v, </a:t>
            </a:r>
            <a:r>
              <a:rPr kumimoji="0" lang="en-US" sz="2400" b="0" i="0" u="none" strike="noStrike" kern="0" cap="none" spc="0" normalizeH="0" baseline="0" noProof="0" dirty="0">
                <a:ln>
                  <a:noFill/>
                </a:ln>
                <a:solidFill>
                  <a:srgbClr val="7030A0"/>
                </a:solidFill>
                <a:effectLst/>
                <a:uLnTx/>
                <a:uFillTx/>
                <a:latin typeface="Calibri" pitchFamily="34" charset="0"/>
              </a:rPr>
              <a:t>min-value(successor</a:t>
            </a:r>
            <a:r>
              <a:rPr lang="en-US" sz="2400" kern="0" dirty="0">
                <a:solidFill>
                  <a:srgbClr val="7030A0"/>
                </a:solidFill>
                <a:latin typeface="Calibri" pitchFamily="34" charset="0"/>
              </a:rPr>
              <a:t>, </a:t>
            </a:r>
            <a:r>
              <a:rPr lang="el-GR" sz="2400" kern="0" dirty="0">
                <a:solidFill>
                  <a:srgbClr val="7030A0"/>
                </a:solidFill>
                <a:latin typeface="Calibri" pitchFamily="34" charset="0"/>
              </a:rPr>
              <a:t>α</a:t>
            </a:r>
            <a:r>
              <a:rPr lang="en-US" sz="2400" kern="0" dirty="0">
                <a:solidFill>
                  <a:srgbClr val="7030A0"/>
                </a:solidFill>
                <a:latin typeface="Calibri" pitchFamily="34" charset="0"/>
              </a:rPr>
              <a:t>, </a:t>
            </a:r>
            <a:r>
              <a:rPr lang="el-GR" sz="2400" kern="0" dirty="0">
                <a:solidFill>
                  <a:srgbClr val="7030A0"/>
                </a:solidFill>
                <a:latin typeface="Calibri" pitchFamily="34" charset="0"/>
              </a:rPr>
              <a:t>β</a:t>
            </a:r>
            <a:r>
              <a:rPr kumimoji="0" lang="en-US" sz="2400" b="0" i="0" u="none" strike="noStrike" kern="0" cap="none" spc="0" normalizeH="0" baseline="0" noProof="0" dirty="0">
                <a:ln>
                  <a:noFill/>
                </a:ln>
                <a:solidFill>
                  <a:srgbClr val="7030A0"/>
                </a:solidFill>
                <a:effectLst/>
                <a:uLnTx/>
                <a:uFillTx/>
                <a:latin typeface="Calibri" pitchFamily="34" charset="0"/>
              </a:rPr>
              <a:t>)</a:t>
            </a:r>
            <a:r>
              <a:rPr lang="en-US" sz="2400" kern="0" dirty="0">
                <a:latin typeface="Calibri" pitchFamily="34" charset="0"/>
              </a:rPr>
              <a:t>)</a:t>
            </a:r>
            <a:endParaRPr kumimoji="0" lang="en-US" sz="2400" b="0" i="0" u="none" strike="noStrike" kern="0" cap="none" spc="0" normalizeH="0" baseline="0" noProof="0" dirty="0">
              <a:ln>
                <a:noFill/>
              </a:ln>
              <a:solidFill>
                <a:srgbClr val="7030A0"/>
              </a:solidFill>
              <a:effectLst/>
              <a:uLnTx/>
              <a:uFillTx/>
              <a:latin typeface="Calibri" pitchFamily="34" charset="0"/>
            </a:endParaRPr>
          </a:p>
          <a:p>
            <a:pPr marL="1142942" marR="0" lvl="2" indent="-228589" algn="l" defTabSz="914400" rtl="0" eaLnBrk="1" fontAlgn="base" latinLnBrk="0" hangingPunct="1">
              <a:lnSpc>
                <a:spcPct val="80000"/>
              </a:lnSpc>
              <a:spcBef>
                <a:spcPct val="20000"/>
              </a:spcBef>
              <a:spcAft>
                <a:spcPct val="0"/>
              </a:spcAft>
              <a:buClr>
                <a:schemeClr val="accent2"/>
              </a:buClr>
              <a:buSzTx/>
              <a:buFont typeface="Wingdings" pitchFamily="2" charset="2"/>
              <a:buNone/>
              <a:tabLst/>
              <a:defRPr/>
            </a:pPr>
            <a:r>
              <a:rPr lang="en-US" sz="2400" b="1" kern="0" baseline="0" dirty="0">
                <a:latin typeface="Calibri" pitchFamily="34" charset="0"/>
              </a:rPr>
              <a:t>if</a:t>
            </a:r>
            <a:r>
              <a:rPr lang="en-US" sz="2400" b="1" kern="0" dirty="0">
                <a:latin typeface="Calibri" pitchFamily="34" charset="0"/>
              </a:rPr>
              <a:t> v ≥ </a:t>
            </a:r>
            <a:r>
              <a:rPr lang="el-GR" sz="2400" b="1" kern="0" dirty="0">
                <a:latin typeface="Calibri" pitchFamily="34" charset="0"/>
              </a:rPr>
              <a:t>β</a:t>
            </a:r>
            <a:r>
              <a:rPr lang="en-US" sz="2400" b="1" kern="0" dirty="0">
                <a:latin typeface="Calibri" pitchFamily="34" charset="0"/>
              </a:rPr>
              <a:t> </a:t>
            </a:r>
          </a:p>
          <a:p>
            <a:pPr marL="1142942" marR="0" lvl="2" indent="-228589" algn="l" defTabSz="914400" rtl="0" eaLnBrk="1" fontAlgn="base" latinLnBrk="0" hangingPunct="1">
              <a:lnSpc>
                <a:spcPct val="80000"/>
              </a:lnSpc>
              <a:spcBef>
                <a:spcPct val="20000"/>
              </a:spcBef>
              <a:spcAft>
                <a:spcPct val="0"/>
              </a:spcAft>
              <a:buClr>
                <a:schemeClr val="accent2"/>
              </a:buClr>
              <a:buSzTx/>
              <a:buFont typeface="Wingdings" pitchFamily="2" charset="2"/>
              <a:buNone/>
              <a:tabLst/>
              <a:defRPr/>
            </a:pPr>
            <a:r>
              <a:rPr lang="en-US" sz="2400" b="1" kern="0" dirty="0">
                <a:latin typeface="Calibri" pitchFamily="34" charset="0"/>
              </a:rPr>
              <a:t>        return v</a:t>
            </a:r>
          </a:p>
          <a:p>
            <a:pPr marL="1142942" lvl="2" indent="-228589">
              <a:lnSpc>
                <a:spcPct val="80000"/>
              </a:lnSpc>
              <a:spcBef>
                <a:spcPct val="20000"/>
              </a:spcBef>
              <a:buClr>
                <a:schemeClr val="accent2"/>
              </a:buClr>
            </a:pPr>
            <a:r>
              <a:rPr lang="el-GR" sz="2400" kern="0" dirty="0">
                <a:latin typeface="Calibri" pitchFamily="34" charset="0"/>
              </a:rPr>
              <a:t>α</a:t>
            </a:r>
            <a:r>
              <a:rPr lang="en-US" sz="2400" kern="0" dirty="0">
                <a:latin typeface="Calibri" pitchFamily="34" charset="0"/>
              </a:rPr>
              <a:t> = max(</a:t>
            </a:r>
            <a:r>
              <a:rPr lang="el-GR" sz="2400" kern="0" dirty="0">
                <a:latin typeface="Calibri" pitchFamily="34" charset="0"/>
              </a:rPr>
              <a:t>α</a:t>
            </a:r>
            <a:r>
              <a:rPr lang="en-US" sz="2400" kern="0" dirty="0">
                <a:latin typeface="Calibri" pitchFamily="34" charset="0"/>
              </a:rPr>
              <a:t>, v)</a:t>
            </a:r>
            <a:endParaRPr kumimoji="0" lang="en-US" sz="2400" b="0" i="0" u="none" strike="noStrike" kern="0" cap="none" spc="0" normalizeH="0" baseline="0" noProof="0" dirty="0">
              <a:ln>
                <a:noFill/>
              </a:ln>
              <a:solidFill>
                <a:schemeClr val="tx1"/>
              </a:solidFill>
              <a:effectLst/>
              <a:uLnTx/>
              <a:uFillTx/>
              <a:latin typeface="Calibri" pitchFamily="34" charset="0"/>
            </a:endParaRPr>
          </a:p>
          <a:p>
            <a:pPr marL="742913" marR="0" lvl="1" indent="-285737" algn="l" defTabSz="914400" rtl="0" eaLnBrk="1" fontAlgn="base" latinLnBrk="0" hangingPunct="1">
              <a:lnSpc>
                <a:spcPct val="80000"/>
              </a:lnSpc>
              <a:spcBef>
                <a:spcPct val="20000"/>
              </a:spcBef>
              <a:spcAft>
                <a:spcPct val="0"/>
              </a:spcAft>
              <a:buClr>
                <a:schemeClr val="tx1"/>
              </a:buClr>
              <a:buSzTx/>
              <a:buFont typeface="Wingdings" pitchFamily="2" charset="2"/>
              <a:buNone/>
              <a:tabLst/>
              <a:defRPr/>
            </a:pPr>
            <a:r>
              <a:rPr kumimoji="0" lang="en-US" sz="2400" b="0" i="0" u="none" strike="noStrike" kern="0" cap="none" spc="0" normalizeH="0" baseline="0" noProof="0" dirty="0">
                <a:ln>
                  <a:noFill/>
                </a:ln>
                <a:solidFill>
                  <a:schemeClr val="tx1"/>
                </a:solidFill>
                <a:effectLst/>
                <a:uLnTx/>
                <a:uFillTx/>
                <a:latin typeface="Calibri" pitchFamily="34" charset="0"/>
              </a:rPr>
              <a:t>return v</a:t>
            </a:r>
          </a:p>
        </p:txBody>
      </p:sp>
      <p:cxnSp>
        <p:nvCxnSpPr>
          <p:cNvPr id="4" name="Straight Arrow Connector 3"/>
          <p:cNvCxnSpPr>
            <a:cxnSpLocks/>
          </p:cNvCxnSpPr>
          <p:nvPr/>
        </p:nvCxnSpPr>
        <p:spPr>
          <a:xfrm flipH="1">
            <a:off x="3352800" y="4191000"/>
            <a:ext cx="4114800" cy="685800"/>
          </a:xfrm>
          <a:prstGeom prst="straightConnector1">
            <a:avLst/>
          </a:prstGeom>
          <a:ln w="38100">
            <a:solidFill>
              <a:srgbClr val="3366FF"/>
            </a:solidFill>
            <a:tailEnd type="arrow" w="lg" len="med"/>
          </a:ln>
        </p:spPr>
        <p:style>
          <a:lnRef idx="2">
            <a:schemeClr val="accent1"/>
          </a:lnRef>
          <a:fillRef idx="0">
            <a:schemeClr val="accent1"/>
          </a:fillRef>
          <a:effectRef idx="1">
            <a:schemeClr val="accent1"/>
          </a:effectRef>
          <a:fontRef idx="minor">
            <a:schemeClr val="tx1"/>
          </a:fontRef>
        </p:style>
      </p:cxnSp>
      <p:sp>
        <p:nvSpPr>
          <p:cNvPr id="26" name="Content Placeholder 2"/>
          <p:cNvSpPr>
            <a:spLocks noGrp="1"/>
          </p:cNvSpPr>
          <p:nvPr>
            <p:ph idx="1"/>
          </p:nvPr>
        </p:nvSpPr>
        <p:spPr>
          <a:xfrm>
            <a:off x="5791200" y="1219200"/>
            <a:ext cx="5638800" cy="838200"/>
          </a:xfrm>
        </p:spPr>
        <p:txBody>
          <a:bodyPr/>
          <a:lstStyle/>
          <a:p>
            <a:pPr lvl="1" algn="ctr">
              <a:lnSpc>
                <a:spcPct val="80000"/>
              </a:lnSpc>
              <a:buNone/>
            </a:pPr>
            <a:r>
              <a:rPr lang="el-GR" sz="2400" dirty="0">
                <a:solidFill>
                  <a:srgbClr val="0066CC"/>
                </a:solidFill>
              </a:rPr>
              <a:t>α</a:t>
            </a:r>
            <a:r>
              <a:rPr lang="en-US" sz="2400" dirty="0">
                <a:solidFill>
                  <a:srgbClr val="0066CC"/>
                </a:solidFill>
              </a:rPr>
              <a:t>: </a:t>
            </a:r>
            <a:r>
              <a:rPr lang="en-US" sz="2400" dirty="0">
                <a:solidFill>
                  <a:srgbClr val="0070C0"/>
                </a:solidFill>
              </a:rPr>
              <a:t>MAX’s best option on path to root</a:t>
            </a:r>
          </a:p>
          <a:p>
            <a:pPr lvl="1" algn="ctr">
              <a:lnSpc>
                <a:spcPct val="80000"/>
              </a:lnSpc>
              <a:buNone/>
            </a:pPr>
            <a:r>
              <a:rPr lang="el-GR" sz="2400" dirty="0">
                <a:solidFill>
                  <a:srgbClr val="C00000"/>
                </a:solidFill>
              </a:rPr>
              <a:t>β</a:t>
            </a:r>
            <a:r>
              <a:rPr lang="en-US" sz="2400" dirty="0">
                <a:solidFill>
                  <a:srgbClr val="C00000"/>
                </a:solidFill>
              </a:rPr>
              <a:t>:</a:t>
            </a:r>
            <a:r>
              <a:rPr lang="el-GR" sz="2400" dirty="0">
                <a:solidFill>
                  <a:srgbClr val="C00000"/>
                </a:solidFill>
              </a:rPr>
              <a:t> </a:t>
            </a:r>
            <a:r>
              <a:rPr lang="en-US" sz="2400" dirty="0">
                <a:solidFill>
                  <a:srgbClr val="C00000"/>
                </a:solidFill>
              </a:rPr>
              <a:t>MIN’s best option on path to root</a:t>
            </a:r>
          </a:p>
        </p:txBody>
      </p:sp>
    </p:spTree>
    <p:extLst>
      <p:ext uri="{BB962C8B-B14F-4D97-AF65-F5344CB8AC3E}">
        <p14:creationId xmlns:p14="http://schemas.microsoft.com/office/powerpoint/2010/main" val="39496547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lpha-beta-large.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778643"/>
            <a:ext cx="7543800" cy="4774557"/>
          </a:xfrm>
          <a:prstGeom prst="rect">
            <a:avLst/>
          </a:prstGeom>
        </p:spPr>
      </p:pic>
      <p:sp>
        <p:nvSpPr>
          <p:cNvPr id="2" name="Title 1"/>
          <p:cNvSpPr>
            <a:spLocks noGrp="1"/>
          </p:cNvSpPr>
          <p:nvPr>
            <p:ph type="title"/>
          </p:nvPr>
        </p:nvSpPr>
        <p:spPr/>
        <p:txBody>
          <a:bodyPr/>
          <a:lstStyle/>
          <a:p>
            <a:r>
              <a:rPr lang="en-US" dirty="0"/>
              <a:t>Alpha-Beta</a:t>
            </a:r>
          </a:p>
        </p:txBody>
      </p:sp>
      <p:sp>
        <p:nvSpPr>
          <p:cNvPr id="6" name="Rectangle 5"/>
          <p:cNvSpPr/>
          <p:nvPr/>
        </p:nvSpPr>
        <p:spPr>
          <a:xfrm>
            <a:off x="7239000" y="5486400"/>
            <a:ext cx="1066800" cy="12954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solidFill>
                <a:srgbClr val="9B01FF"/>
              </a:solidFill>
            </a:endParaRPr>
          </a:p>
        </p:txBody>
      </p:sp>
      <p:sp>
        <p:nvSpPr>
          <p:cNvPr id="10" name="Rectangle 9"/>
          <p:cNvSpPr/>
          <p:nvPr/>
        </p:nvSpPr>
        <p:spPr>
          <a:xfrm>
            <a:off x="6096000" y="3621505"/>
            <a:ext cx="1752600" cy="32004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solidFill>
                <a:srgbClr val="9B01FF"/>
              </a:solidFill>
            </a:endParaRPr>
          </a:p>
        </p:txBody>
      </p:sp>
      <p:sp>
        <p:nvSpPr>
          <p:cNvPr id="18" name="Rectangle 17"/>
          <p:cNvSpPr/>
          <p:nvPr/>
        </p:nvSpPr>
        <p:spPr>
          <a:xfrm>
            <a:off x="1066800" y="3072824"/>
            <a:ext cx="600645" cy="584776"/>
          </a:xfrm>
          <a:prstGeom prst="rect">
            <a:avLst/>
          </a:prstGeom>
        </p:spPr>
        <p:txBody>
          <a:bodyPr wrap="none">
            <a:spAutoFit/>
          </a:bodyPr>
          <a:lstStyle/>
          <a:p>
            <a:r>
              <a:rPr lang="en-US" sz="3200" dirty="0">
                <a:solidFill>
                  <a:srgbClr val="FF0000"/>
                </a:solidFill>
                <a:latin typeface="Calibri"/>
                <a:cs typeface="Calibri"/>
              </a:rPr>
              <a:t>10</a:t>
            </a:r>
          </a:p>
        </p:txBody>
      </p:sp>
      <p:sp>
        <p:nvSpPr>
          <p:cNvPr id="27" name="Rectangle 26"/>
          <p:cNvSpPr/>
          <p:nvPr/>
        </p:nvSpPr>
        <p:spPr>
          <a:xfrm>
            <a:off x="161355" y="4572000"/>
            <a:ext cx="600645" cy="584776"/>
          </a:xfrm>
          <a:prstGeom prst="rect">
            <a:avLst/>
          </a:prstGeom>
        </p:spPr>
        <p:txBody>
          <a:bodyPr wrap="none">
            <a:spAutoFit/>
          </a:bodyPr>
          <a:lstStyle/>
          <a:p>
            <a:r>
              <a:rPr lang="en-US" sz="3200" dirty="0">
                <a:solidFill>
                  <a:srgbClr val="0000FF"/>
                </a:solidFill>
                <a:latin typeface="Calibri"/>
                <a:cs typeface="Calibri"/>
              </a:rPr>
              <a:t>10</a:t>
            </a:r>
          </a:p>
        </p:txBody>
      </p:sp>
      <p:sp>
        <p:nvSpPr>
          <p:cNvPr id="32" name="Rectangle 31"/>
          <p:cNvSpPr/>
          <p:nvPr/>
        </p:nvSpPr>
        <p:spPr>
          <a:xfrm>
            <a:off x="1905000" y="4572000"/>
            <a:ext cx="808635" cy="584776"/>
          </a:xfrm>
          <a:prstGeom prst="rect">
            <a:avLst/>
          </a:prstGeom>
        </p:spPr>
        <p:txBody>
          <a:bodyPr wrap="none">
            <a:spAutoFit/>
          </a:bodyPr>
          <a:lstStyle/>
          <a:p>
            <a:r>
              <a:rPr lang="en-US" sz="3200" dirty="0">
                <a:solidFill>
                  <a:srgbClr val="0000FF"/>
                </a:solidFill>
                <a:latin typeface="Calibri"/>
                <a:cs typeface="Calibri"/>
              </a:rPr>
              <a:t>100</a:t>
            </a:r>
          </a:p>
        </p:txBody>
      </p:sp>
      <p:sp>
        <p:nvSpPr>
          <p:cNvPr id="34" name="Rectangle 33"/>
          <p:cNvSpPr/>
          <p:nvPr/>
        </p:nvSpPr>
        <p:spPr>
          <a:xfrm>
            <a:off x="3505200" y="4572000"/>
            <a:ext cx="1143000" cy="584776"/>
          </a:xfrm>
          <a:prstGeom prst="rect">
            <a:avLst/>
          </a:prstGeom>
          <a:noFill/>
        </p:spPr>
        <p:txBody>
          <a:bodyPr wrap="square">
            <a:spAutoFit/>
          </a:bodyPr>
          <a:lstStyle/>
          <a:p>
            <a:pPr algn="r"/>
            <a:r>
              <a:rPr lang="en-US" sz="3200" dirty="0">
                <a:solidFill>
                  <a:srgbClr val="0000FF"/>
                </a:solidFill>
                <a:latin typeface="Calibri"/>
                <a:cs typeface="Calibri"/>
              </a:rPr>
              <a:t>2</a:t>
            </a:r>
          </a:p>
        </p:txBody>
      </p:sp>
      <p:sp>
        <p:nvSpPr>
          <p:cNvPr id="36" name="Rectangle 35"/>
          <p:cNvSpPr/>
          <p:nvPr/>
        </p:nvSpPr>
        <p:spPr>
          <a:xfrm>
            <a:off x="4518467" y="3072824"/>
            <a:ext cx="967933" cy="584776"/>
          </a:xfrm>
          <a:prstGeom prst="rect">
            <a:avLst/>
          </a:prstGeom>
        </p:spPr>
        <p:txBody>
          <a:bodyPr wrap="none">
            <a:spAutoFit/>
          </a:bodyPr>
          <a:lstStyle/>
          <a:p>
            <a:r>
              <a:rPr lang="en-US" sz="3200" dirty="0">
                <a:solidFill>
                  <a:srgbClr val="FF0000"/>
                </a:solidFill>
                <a:latin typeface="Calibri"/>
                <a:cs typeface="Calibri"/>
              </a:rPr>
              <a:t>v = 2</a:t>
            </a:r>
          </a:p>
        </p:txBody>
      </p:sp>
      <p:sp>
        <p:nvSpPr>
          <p:cNvPr id="40" name="Rectangle 39"/>
          <p:cNvSpPr/>
          <p:nvPr/>
        </p:nvSpPr>
        <p:spPr>
          <a:xfrm>
            <a:off x="2662788" y="1701224"/>
            <a:ext cx="1223412" cy="584776"/>
          </a:xfrm>
          <a:prstGeom prst="rect">
            <a:avLst/>
          </a:prstGeom>
        </p:spPr>
        <p:txBody>
          <a:bodyPr wrap="none">
            <a:spAutoFit/>
          </a:bodyPr>
          <a:lstStyle/>
          <a:p>
            <a:r>
              <a:rPr lang="en-US" sz="3200" dirty="0">
                <a:solidFill>
                  <a:srgbClr val="0000FF"/>
                </a:solidFill>
                <a:latin typeface="Calibri"/>
                <a:cs typeface="Calibri"/>
              </a:rPr>
              <a:t>α = 10</a:t>
            </a:r>
          </a:p>
        </p:txBody>
      </p:sp>
      <p:sp>
        <p:nvSpPr>
          <p:cNvPr id="44" name="Content Placeholder 2"/>
          <p:cNvSpPr txBox="1">
            <a:spLocks/>
          </p:cNvSpPr>
          <p:nvPr/>
        </p:nvSpPr>
        <p:spPr bwMode="auto">
          <a:xfrm>
            <a:off x="6553200" y="2209800"/>
            <a:ext cx="5867400" cy="2667000"/>
          </a:xfrm>
          <a:prstGeom prst="rect">
            <a:avLst/>
          </a:prstGeom>
          <a:noFill/>
          <a:ln w="9525">
            <a:noFill/>
            <a:miter lim="800000"/>
            <a:headEnd/>
            <a:tailEnd/>
          </a:ln>
        </p:spPr>
        <p:txBody>
          <a:bodyPr vert="horz" wrap="square" lIns="91436" tIns="45718" rIns="91436" bIns="45718" numCol="1" anchor="t" anchorCtr="0" compatLnSpc="1">
            <a:prstTxWarp prst="textNoShape">
              <a:avLst/>
            </a:prstTxWarp>
          </a:bodyPr>
          <a:lstStyle/>
          <a:p>
            <a:pPr marL="342882" lvl="0" indent="-342882">
              <a:lnSpc>
                <a:spcPct val="80000"/>
              </a:lnSpc>
              <a:spcBef>
                <a:spcPts val="1200"/>
              </a:spcBef>
              <a:buClr>
                <a:schemeClr val="accent2"/>
              </a:buClr>
            </a:pPr>
            <a:r>
              <a:rPr kumimoji="0" lang="en-US" sz="2400" b="0" i="0" u="none" strike="noStrike" kern="0" cap="none" spc="0" normalizeH="0" baseline="0" noProof="0" dirty="0">
                <a:ln>
                  <a:noFill/>
                </a:ln>
                <a:solidFill>
                  <a:srgbClr val="C00000"/>
                </a:solidFill>
                <a:effectLst/>
                <a:uLnTx/>
                <a:uFillTx/>
                <a:latin typeface="Calibri" pitchFamily="34" charset="0"/>
                <a:ea typeface="+mn-ea"/>
                <a:cs typeface="+mn-cs"/>
              </a:rPr>
              <a:t>def min-value(state</a:t>
            </a:r>
            <a:r>
              <a:rPr lang="en-US" sz="2400" kern="0" dirty="0">
                <a:solidFill>
                  <a:srgbClr val="C00000"/>
                </a:solidFill>
                <a:latin typeface="Calibri" pitchFamily="34" charset="0"/>
              </a:rPr>
              <a:t> , </a:t>
            </a:r>
            <a:r>
              <a:rPr lang="el-GR" sz="2400" kern="0" dirty="0">
                <a:solidFill>
                  <a:srgbClr val="C00000"/>
                </a:solidFill>
                <a:latin typeface="Calibri" pitchFamily="34" charset="0"/>
              </a:rPr>
              <a:t>α</a:t>
            </a:r>
            <a:r>
              <a:rPr lang="en-US" sz="2400" kern="0" dirty="0">
                <a:solidFill>
                  <a:srgbClr val="C00000"/>
                </a:solidFill>
                <a:latin typeface="Calibri" pitchFamily="34" charset="0"/>
              </a:rPr>
              <a:t>, </a:t>
            </a:r>
            <a:r>
              <a:rPr lang="el-GR" sz="2400" kern="0" dirty="0">
                <a:solidFill>
                  <a:srgbClr val="C00000"/>
                </a:solidFill>
                <a:latin typeface="Calibri" pitchFamily="34" charset="0"/>
              </a:rPr>
              <a:t>β</a:t>
            </a:r>
            <a:r>
              <a:rPr kumimoji="0" lang="en-US" sz="2400" b="0" i="0" u="none" strike="noStrike" kern="0" cap="none" spc="0" normalizeH="0" baseline="0" noProof="0" dirty="0">
                <a:ln>
                  <a:noFill/>
                </a:ln>
                <a:solidFill>
                  <a:srgbClr val="C00000"/>
                </a:solidFill>
                <a:effectLst/>
                <a:uLnTx/>
                <a:uFillTx/>
                <a:latin typeface="Calibri" pitchFamily="34" charset="0"/>
                <a:ea typeface="+mn-ea"/>
                <a:cs typeface="+mn-cs"/>
              </a:rPr>
              <a:t>):</a:t>
            </a:r>
          </a:p>
          <a:p>
            <a:pPr marL="742913" marR="0" lvl="1" indent="-285737" algn="l" defTabSz="914400" rtl="0" eaLnBrk="1" fontAlgn="base" latinLnBrk="0" hangingPunct="1">
              <a:lnSpc>
                <a:spcPct val="80000"/>
              </a:lnSpc>
              <a:spcBef>
                <a:spcPct val="20000"/>
              </a:spcBef>
              <a:spcAft>
                <a:spcPct val="0"/>
              </a:spcAft>
              <a:buClr>
                <a:schemeClr val="tx1"/>
              </a:buClr>
              <a:buSzTx/>
              <a:buFont typeface="Wingdings" pitchFamily="2" charset="2"/>
              <a:buNone/>
              <a:tabLst/>
              <a:defRPr/>
            </a:pPr>
            <a:r>
              <a:rPr kumimoji="0" lang="en-US" sz="2400" b="0" i="0" u="none" strike="noStrike" kern="0" cap="none" spc="0" normalizeH="0" baseline="0" noProof="0" dirty="0">
                <a:ln>
                  <a:noFill/>
                </a:ln>
                <a:solidFill>
                  <a:schemeClr val="tx1"/>
                </a:solidFill>
                <a:effectLst/>
                <a:uLnTx/>
                <a:uFillTx/>
                <a:latin typeface="Calibri" pitchFamily="34" charset="0"/>
              </a:rPr>
              <a:t>initialize v = </a:t>
            </a:r>
            <a:r>
              <a:rPr lang="en-US" sz="2400" kern="0" dirty="0">
                <a:latin typeface="Times New Roman" pitchFamily="18" charset="0"/>
                <a:cs typeface="Times New Roman" pitchFamily="18" charset="0"/>
              </a:rPr>
              <a:t>+</a:t>
            </a:r>
            <a:r>
              <a:rPr kumimoji="0" lang="en-US" sz="2400" b="0" i="0" u="none" strike="noStrike" kern="0" cap="none" spc="0" normalizeH="0" baseline="0" noProof="0" dirty="0">
                <a:ln>
                  <a:noFill/>
                </a:ln>
                <a:solidFill>
                  <a:schemeClr val="tx1"/>
                </a:solidFill>
                <a:effectLst/>
                <a:uLnTx/>
                <a:uFillTx/>
                <a:latin typeface="Times New Roman" pitchFamily="18" charset="0"/>
                <a:cs typeface="Times New Roman" pitchFamily="18" charset="0"/>
              </a:rPr>
              <a:t>∞</a:t>
            </a:r>
          </a:p>
          <a:p>
            <a:pPr marL="742913" marR="0" lvl="1" indent="-285737" algn="l" defTabSz="914400" rtl="0" eaLnBrk="1" fontAlgn="base" latinLnBrk="0" hangingPunct="1">
              <a:lnSpc>
                <a:spcPct val="80000"/>
              </a:lnSpc>
              <a:spcBef>
                <a:spcPct val="20000"/>
              </a:spcBef>
              <a:spcAft>
                <a:spcPct val="0"/>
              </a:spcAft>
              <a:buClr>
                <a:schemeClr val="tx1"/>
              </a:buClr>
              <a:buSzTx/>
              <a:buFont typeface="Wingdings" pitchFamily="2" charset="2"/>
              <a:buNone/>
              <a:tabLst/>
              <a:defRPr/>
            </a:pPr>
            <a:r>
              <a:rPr kumimoji="0" lang="en-US" sz="2400" b="0" i="0" u="none" strike="noStrike" kern="0" cap="none" spc="0" normalizeH="0" baseline="0" noProof="0" dirty="0">
                <a:ln>
                  <a:noFill/>
                </a:ln>
                <a:solidFill>
                  <a:schemeClr val="tx1"/>
                </a:solidFill>
                <a:effectLst/>
                <a:uLnTx/>
                <a:uFillTx/>
                <a:latin typeface="Calibri" pitchFamily="34" charset="0"/>
              </a:rPr>
              <a:t>for each successor of state:</a:t>
            </a:r>
          </a:p>
          <a:p>
            <a:pPr marL="1142942" lvl="2" indent="-228589">
              <a:lnSpc>
                <a:spcPct val="80000"/>
              </a:lnSpc>
              <a:spcBef>
                <a:spcPct val="20000"/>
              </a:spcBef>
              <a:buClr>
                <a:schemeClr val="accent2"/>
              </a:buClr>
            </a:pPr>
            <a:r>
              <a:rPr lang="en-US" sz="2400" kern="0" dirty="0">
                <a:latin typeface="Calibri" pitchFamily="34" charset="0"/>
              </a:rPr>
              <a:t>v = min(v, </a:t>
            </a:r>
            <a:r>
              <a:rPr kumimoji="0" lang="en-US" sz="2400" b="0" i="0" u="none" strike="noStrike" kern="0" cap="none" spc="0" normalizeH="0" baseline="0" noProof="0" dirty="0">
                <a:ln>
                  <a:noFill/>
                </a:ln>
                <a:solidFill>
                  <a:srgbClr val="7030A0"/>
                </a:solidFill>
                <a:effectLst/>
                <a:uLnTx/>
                <a:uFillTx/>
                <a:latin typeface="Calibri" pitchFamily="34" charset="0"/>
              </a:rPr>
              <a:t>max-value(successor</a:t>
            </a:r>
            <a:r>
              <a:rPr lang="en-US" sz="2400" kern="0" dirty="0">
                <a:solidFill>
                  <a:srgbClr val="7030A0"/>
                </a:solidFill>
                <a:latin typeface="Calibri" pitchFamily="34" charset="0"/>
              </a:rPr>
              <a:t>, </a:t>
            </a:r>
            <a:r>
              <a:rPr lang="el-GR" sz="2400" kern="0" dirty="0">
                <a:solidFill>
                  <a:srgbClr val="7030A0"/>
                </a:solidFill>
                <a:latin typeface="Calibri" pitchFamily="34" charset="0"/>
              </a:rPr>
              <a:t>α</a:t>
            </a:r>
            <a:r>
              <a:rPr lang="en-US" sz="2400" kern="0" dirty="0">
                <a:solidFill>
                  <a:srgbClr val="7030A0"/>
                </a:solidFill>
                <a:latin typeface="Calibri" pitchFamily="34" charset="0"/>
              </a:rPr>
              <a:t>, </a:t>
            </a:r>
            <a:r>
              <a:rPr lang="el-GR" sz="2400" kern="0" dirty="0">
                <a:solidFill>
                  <a:srgbClr val="7030A0"/>
                </a:solidFill>
                <a:latin typeface="Calibri" pitchFamily="34" charset="0"/>
              </a:rPr>
              <a:t>β</a:t>
            </a:r>
            <a:r>
              <a:rPr kumimoji="0" lang="en-US" sz="2400" b="0" i="0" u="none" strike="noStrike" kern="0" cap="none" spc="0" normalizeH="0" baseline="0" noProof="0" dirty="0">
                <a:ln>
                  <a:noFill/>
                </a:ln>
                <a:solidFill>
                  <a:srgbClr val="7030A0"/>
                </a:solidFill>
                <a:effectLst/>
                <a:uLnTx/>
                <a:uFillTx/>
                <a:latin typeface="Calibri" pitchFamily="34" charset="0"/>
              </a:rPr>
              <a:t>)</a:t>
            </a:r>
            <a:r>
              <a:rPr kumimoji="0" lang="en-US" sz="2400" b="0" i="0" u="none" strike="noStrike" kern="0" cap="none" spc="0" normalizeH="0" baseline="0" noProof="0" dirty="0">
                <a:ln>
                  <a:noFill/>
                </a:ln>
                <a:effectLst/>
                <a:uLnTx/>
                <a:uFillTx/>
                <a:latin typeface="Calibri" pitchFamily="34" charset="0"/>
              </a:rPr>
              <a:t>)</a:t>
            </a:r>
          </a:p>
          <a:p>
            <a:pPr marL="1142942" lvl="2" indent="-228589">
              <a:lnSpc>
                <a:spcPct val="80000"/>
              </a:lnSpc>
              <a:spcBef>
                <a:spcPct val="20000"/>
              </a:spcBef>
              <a:buClr>
                <a:schemeClr val="accent2"/>
              </a:buClr>
            </a:pPr>
            <a:r>
              <a:rPr lang="en-US" sz="2400" b="1" kern="0" dirty="0">
                <a:latin typeface="Calibri" pitchFamily="34" charset="0"/>
              </a:rPr>
              <a:t>if v ≤ </a:t>
            </a:r>
            <a:r>
              <a:rPr lang="el-GR" sz="2400" b="1" kern="0" dirty="0">
                <a:latin typeface="Calibri" pitchFamily="34" charset="0"/>
              </a:rPr>
              <a:t>α</a:t>
            </a:r>
            <a:r>
              <a:rPr lang="en-US" sz="2400" b="1" kern="0" dirty="0">
                <a:latin typeface="Calibri" pitchFamily="34" charset="0"/>
              </a:rPr>
              <a:t> </a:t>
            </a:r>
          </a:p>
          <a:p>
            <a:pPr marL="1142942" lvl="2" indent="-228589">
              <a:lnSpc>
                <a:spcPct val="80000"/>
              </a:lnSpc>
              <a:spcBef>
                <a:spcPct val="20000"/>
              </a:spcBef>
              <a:buClr>
                <a:schemeClr val="accent2"/>
              </a:buClr>
            </a:pPr>
            <a:r>
              <a:rPr lang="en-US" sz="2400" b="1" kern="0" dirty="0">
                <a:latin typeface="Calibri" pitchFamily="34" charset="0"/>
              </a:rPr>
              <a:t>        return v</a:t>
            </a:r>
            <a:endParaRPr kumimoji="0" lang="en-US" sz="2400" b="1" i="0" u="none" strike="noStrike" kern="0" cap="none" spc="0" normalizeH="0" baseline="0" noProof="0" dirty="0">
              <a:ln>
                <a:noFill/>
              </a:ln>
              <a:solidFill>
                <a:schemeClr val="tx1"/>
              </a:solidFill>
              <a:effectLst/>
              <a:uLnTx/>
              <a:uFillTx/>
              <a:latin typeface="Calibri" pitchFamily="34" charset="0"/>
            </a:endParaRPr>
          </a:p>
          <a:p>
            <a:pPr marL="1142942" lvl="2" indent="-228589">
              <a:lnSpc>
                <a:spcPct val="80000"/>
              </a:lnSpc>
              <a:spcBef>
                <a:spcPct val="20000"/>
              </a:spcBef>
              <a:buClr>
                <a:schemeClr val="accent2"/>
              </a:buClr>
            </a:pPr>
            <a:r>
              <a:rPr lang="el-GR" sz="2400" kern="0" dirty="0">
                <a:latin typeface="Calibri" pitchFamily="34" charset="0"/>
              </a:rPr>
              <a:t>β </a:t>
            </a:r>
            <a:r>
              <a:rPr lang="en-US" sz="2400" kern="0" dirty="0">
                <a:latin typeface="Calibri" pitchFamily="34" charset="0"/>
              </a:rPr>
              <a:t>= min(</a:t>
            </a:r>
            <a:r>
              <a:rPr lang="el-GR" sz="2400" kern="0" dirty="0">
                <a:latin typeface="Calibri" pitchFamily="34" charset="0"/>
              </a:rPr>
              <a:t>β</a:t>
            </a:r>
            <a:r>
              <a:rPr lang="en-US" sz="2400" kern="0" dirty="0">
                <a:latin typeface="Calibri" pitchFamily="34" charset="0"/>
              </a:rPr>
              <a:t>, v)</a:t>
            </a:r>
            <a:endParaRPr kumimoji="0" lang="en-US" sz="2400" b="0" i="0" u="none" strike="noStrike" kern="0" cap="none" spc="0" normalizeH="0" baseline="0" noProof="0" dirty="0">
              <a:ln>
                <a:noFill/>
              </a:ln>
              <a:solidFill>
                <a:schemeClr val="tx1"/>
              </a:solidFill>
              <a:effectLst/>
              <a:uLnTx/>
              <a:uFillTx/>
              <a:latin typeface="Calibri" pitchFamily="34" charset="0"/>
            </a:endParaRPr>
          </a:p>
          <a:p>
            <a:pPr marL="742913" marR="0" lvl="1" indent="-285737" algn="l" defTabSz="914400" rtl="0" eaLnBrk="1" fontAlgn="base" latinLnBrk="0" hangingPunct="1">
              <a:lnSpc>
                <a:spcPct val="80000"/>
              </a:lnSpc>
              <a:spcBef>
                <a:spcPct val="20000"/>
              </a:spcBef>
              <a:spcAft>
                <a:spcPct val="0"/>
              </a:spcAft>
              <a:buClr>
                <a:schemeClr val="tx1"/>
              </a:buClr>
              <a:buSzTx/>
              <a:buFont typeface="Wingdings" pitchFamily="2" charset="2"/>
              <a:buNone/>
              <a:tabLst/>
              <a:defRPr/>
            </a:pPr>
            <a:r>
              <a:rPr kumimoji="0" lang="en-US" sz="2400" b="0" i="0" u="none" strike="noStrike" kern="0" cap="none" spc="0" normalizeH="0" baseline="0" noProof="0" dirty="0">
                <a:ln>
                  <a:noFill/>
                </a:ln>
                <a:solidFill>
                  <a:schemeClr val="tx1"/>
                </a:solidFill>
                <a:effectLst/>
                <a:uLnTx/>
                <a:uFillTx/>
                <a:latin typeface="Calibri" pitchFamily="34" charset="0"/>
              </a:rPr>
              <a:t>return v</a:t>
            </a:r>
          </a:p>
        </p:txBody>
      </p:sp>
      <p:pic>
        <p:nvPicPr>
          <p:cNvPr id="46" name="Picture 45" descr="BU005292.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43600" y="3429000"/>
            <a:ext cx="940296" cy="911352"/>
          </a:xfrm>
          <a:prstGeom prst="rect">
            <a:avLst/>
          </a:prstGeom>
        </p:spPr>
      </p:pic>
      <p:cxnSp>
        <p:nvCxnSpPr>
          <p:cNvPr id="47" name="Straight Arrow Connector 46"/>
          <p:cNvCxnSpPr>
            <a:cxnSpLocks/>
          </p:cNvCxnSpPr>
          <p:nvPr/>
        </p:nvCxnSpPr>
        <p:spPr>
          <a:xfrm flipH="1">
            <a:off x="5791200" y="3175576"/>
            <a:ext cx="914402" cy="177224"/>
          </a:xfrm>
          <a:prstGeom prst="straightConnector1">
            <a:avLst/>
          </a:prstGeom>
          <a:ln w="38100">
            <a:solidFill>
              <a:srgbClr val="C00000"/>
            </a:solidFill>
            <a:tailEnd type="arrow" w="lg" len="med"/>
          </a:ln>
        </p:spPr>
        <p:style>
          <a:lnRef idx="2">
            <a:schemeClr val="accent1"/>
          </a:lnRef>
          <a:fillRef idx="0">
            <a:schemeClr val="accent1"/>
          </a:fillRef>
          <a:effectRef idx="1">
            <a:schemeClr val="accent1"/>
          </a:effectRef>
          <a:fontRef idx="minor">
            <a:schemeClr val="tx1"/>
          </a:fontRef>
        </p:style>
      </p:cxnSp>
      <p:sp>
        <p:nvSpPr>
          <p:cNvPr id="50" name="Content Placeholder 2"/>
          <p:cNvSpPr>
            <a:spLocks noGrp="1"/>
          </p:cNvSpPr>
          <p:nvPr>
            <p:ph idx="1"/>
          </p:nvPr>
        </p:nvSpPr>
        <p:spPr>
          <a:xfrm>
            <a:off x="5867400" y="1219200"/>
            <a:ext cx="5638800" cy="838200"/>
          </a:xfrm>
        </p:spPr>
        <p:txBody>
          <a:bodyPr/>
          <a:lstStyle/>
          <a:p>
            <a:pPr lvl="1" algn="ctr">
              <a:lnSpc>
                <a:spcPct val="80000"/>
              </a:lnSpc>
              <a:buNone/>
            </a:pPr>
            <a:r>
              <a:rPr lang="el-GR" sz="2400" dirty="0">
                <a:solidFill>
                  <a:srgbClr val="0066CC"/>
                </a:solidFill>
              </a:rPr>
              <a:t>α</a:t>
            </a:r>
            <a:r>
              <a:rPr lang="en-US" sz="2400" dirty="0">
                <a:solidFill>
                  <a:srgbClr val="0066CC"/>
                </a:solidFill>
              </a:rPr>
              <a:t>: </a:t>
            </a:r>
            <a:r>
              <a:rPr lang="en-US" sz="2400" dirty="0">
                <a:solidFill>
                  <a:srgbClr val="0070C0"/>
                </a:solidFill>
              </a:rPr>
              <a:t>MAX’s best option on path to root</a:t>
            </a:r>
          </a:p>
          <a:p>
            <a:pPr lvl="1" algn="ctr">
              <a:lnSpc>
                <a:spcPct val="80000"/>
              </a:lnSpc>
              <a:buNone/>
            </a:pPr>
            <a:r>
              <a:rPr lang="el-GR" sz="2400" dirty="0">
                <a:solidFill>
                  <a:srgbClr val="C00000"/>
                </a:solidFill>
              </a:rPr>
              <a:t>β</a:t>
            </a:r>
            <a:r>
              <a:rPr lang="en-US" sz="2400" dirty="0">
                <a:solidFill>
                  <a:srgbClr val="C00000"/>
                </a:solidFill>
              </a:rPr>
              <a:t>:</a:t>
            </a:r>
            <a:r>
              <a:rPr lang="el-GR" sz="2400" dirty="0">
                <a:solidFill>
                  <a:srgbClr val="C00000"/>
                </a:solidFill>
              </a:rPr>
              <a:t> </a:t>
            </a:r>
            <a:r>
              <a:rPr lang="en-US" sz="2400" dirty="0">
                <a:solidFill>
                  <a:srgbClr val="C00000"/>
                </a:solidFill>
              </a:rPr>
              <a:t>MIN’s best option on path to root</a:t>
            </a:r>
          </a:p>
        </p:txBody>
      </p:sp>
    </p:spTree>
    <p:extLst>
      <p:ext uri="{BB962C8B-B14F-4D97-AF65-F5344CB8AC3E}">
        <p14:creationId xmlns:p14="http://schemas.microsoft.com/office/powerpoint/2010/main" val="22250714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vi-VN" noProof="1">
                <a:sym typeface="Symbol" pitchFamily="18" charset="2"/>
              </a:rPr>
              <a:t>Tính chất của cắt nhánh Alpha-Beta</a:t>
            </a:r>
          </a:p>
        </p:txBody>
      </p:sp>
      <p:sp>
        <p:nvSpPr>
          <p:cNvPr id="32771" name="Rectangle 3"/>
          <p:cNvSpPr>
            <a:spLocks noGrp="1" noChangeArrowheads="1"/>
          </p:cNvSpPr>
          <p:nvPr>
            <p:ph idx="1"/>
          </p:nvPr>
        </p:nvSpPr>
        <p:spPr>
          <a:xfrm>
            <a:off x="406400" y="1397001"/>
            <a:ext cx="8242296" cy="4729164"/>
          </a:xfrm>
        </p:spPr>
        <p:txBody>
          <a:bodyPr/>
          <a:lstStyle/>
          <a:p>
            <a:pPr eaLnBrk="1" hangingPunct="1">
              <a:lnSpc>
                <a:spcPct val="90000"/>
              </a:lnSpc>
            </a:pPr>
            <a:r>
              <a:rPr lang="vi-VN" sz="2400" noProof="1">
                <a:solidFill>
                  <a:srgbClr val="FF0000"/>
                </a:solidFill>
              </a:rPr>
              <a:t>Không thay đổi </a:t>
            </a:r>
            <a:r>
              <a:rPr lang="vi-VN" sz="2400" noProof="1"/>
              <a:t>giá trị minimax của nút gốc !!!</a:t>
            </a:r>
          </a:p>
          <a:p>
            <a:pPr lvl="1" eaLnBrk="1" hangingPunct="1">
              <a:lnSpc>
                <a:spcPct val="90000"/>
              </a:lnSpc>
            </a:pPr>
            <a:endParaRPr lang="vi-VN" sz="2000" noProof="1"/>
          </a:p>
          <a:p>
            <a:pPr eaLnBrk="1" hangingPunct="1">
              <a:lnSpc>
                <a:spcPct val="90000"/>
              </a:lnSpc>
            </a:pPr>
            <a:r>
              <a:rPr lang="vi-VN" sz="2400" noProof="1"/>
              <a:t>Giá trị của các nút ở giữa có thể sai</a:t>
            </a:r>
          </a:p>
          <a:p>
            <a:pPr lvl="1" eaLnBrk="1" hangingPunct="1">
              <a:lnSpc>
                <a:spcPct val="90000"/>
              </a:lnSpc>
            </a:pPr>
            <a:r>
              <a:rPr lang="vi-VN" sz="2000" noProof="1"/>
              <a:t>Lưu ý: giá trị các nút con của gốc có thể sai</a:t>
            </a:r>
          </a:p>
          <a:p>
            <a:pPr lvl="1" eaLnBrk="1" hangingPunct="1">
              <a:lnSpc>
                <a:spcPct val="90000"/>
              </a:lnSpc>
            </a:pPr>
            <a:endParaRPr lang="vi-VN" sz="2000" noProof="1"/>
          </a:p>
          <a:p>
            <a:pPr eaLnBrk="1" hangingPunct="1">
              <a:lnSpc>
                <a:spcPct val="90000"/>
              </a:lnSpc>
            </a:pPr>
            <a:r>
              <a:rPr lang="vi-VN" sz="2400" noProof="1"/>
              <a:t>Thứ tự duyệt các nút con thay đổi khả năng mở rộng các nút khác</a:t>
            </a:r>
          </a:p>
          <a:p>
            <a:pPr lvl="1" eaLnBrk="1" hangingPunct="1">
              <a:lnSpc>
                <a:spcPct val="90000"/>
              </a:lnSpc>
            </a:pPr>
            <a:endParaRPr lang="vi-VN" sz="2000" noProof="1"/>
          </a:p>
          <a:p>
            <a:pPr eaLnBrk="1" hangingPunct="1">
              <a:lnSpc>
                <a:spcPct val="90000"/>
              </a:lnSpc>
            </a:pPr>
            <a:r>
              <a:rPr lang="vi-VN" sz="2400" noProof="1"/>
              <a:t>Thứ tự tối ưu:</a:t>
            </a:r>
          </a:p>
          <a:p>
            <a:pPr lvl="1" eaLnBrk="1" hangingPunct="1">
              <a:lnSpc>
                <a:spcPct val="90000"/>
              </a:lnSpc>
            </a:pPr>
            <a:r>
              <a:rPr lang="vi-VN" sz="2000" noProof="1"/>
              <a:t>Thời gian giảm xuống còn O(b</a:t>
            </a:r>
            <a:r>
              <a:rPr lang="vi-VN" sz="2000" baseline="30000" noProof="1"/>
              <a:t>m/2</a:t>
            </a:r>
            <a:r>
              <a:rPr lang="vi-VN" sz="2000" noProof="1"/>
              <a:t>)</a:t>
            </a:r>
          </a:p>
          <a:p>
            <a:pPr lvl="1" eaLnBrk="1" hangingPunct="1">
              <a:lnSpc>
                <a:spcPct val="90000"/>
              </a:lnSpc>
            </a:pPr>
            <a:r>
              <a:rPr lang="vi-VN" sz="2000" noProof="1"/>
              <a:t>Tăng gấp đôi độ sâu hiệu quả !</a:t>
            </a:r>
            <a:endParaRPr lang="en-US" sz="2000" noProof="1"/>
          </a:p>
          <a:p>
            <a:pPr marL="457176" lvl="1" indent="0" eaLnBrk="1" hangingPunct="1">
              <a:lnSpc>
                <a:spcPct val="90000"/>
              </a:lnSpc>
              <a:buNone/>
            </a:pPr>
            <a:endParaRPr lang="vi-VN" sz="2000" noProof="1"/>
          </a:p>
          <a:p>
            <a:pPr>
              <a:lnSpc>
                <a:spcPct val="90000"/>
              </a:lnSpc>
            </a:pPr>
            <a:r>
              <a:rPr lang="en-US" sz="2400" noProof="1"/>
              <a:t>Vẫn không đủ mạnh để đảm bảo t</a:t>
            </a:r>
            <a:r>
              <a:rPr lang="vi-VN" sz="2400" noProof="1"/>
              <a:t>ìm kiếm đầy đủ</a:t>
            </a:r>
            <a:r>
              <a:rPr lang="en-US" sz="2400" noProof="1"/>
              <a:t> (</a:t>
            </a:r>
            <a:r>
              <a:rPr lang="vi-VN" sz="2400" noProof="1"/>
              <a:t>ví dụ cho cờ vua</a:t>
            </a:r>
            <a:r>
              <a:rPr lang="en-US" sz="2400" noProof="1"/>
              <a:t>)</a:t>
            </a:r>
            <a:endParaRPr lang="vi-VN" sz="2400" noProof="1"/>
          </a:p>
        </p:txBody>
      </p:sp>
      <p:sp>
        <p:nvSpPr>
          <p:cNvPr id="6" name="AutoShape 5"/>
          <p:cNvSpPr>
            <a:spLocks noChangeArrowheads="1"/>
          </p:cNvSpPr>
          <p:nvPr/>
        </p:nvSpPr>
        <p:spPr bwMode="auto">
          <a:xfrm>
            <a:off x="9525000" y="2438400"/>
            <a:ext cx="381000" cy="304800"/>
          </a:xfrm>
          <a:prstGeom prst="triangle">
            <a:avLst>
              <a:gd name="adj" fmla="val 50000"/>
            </a:avLst>
          </a:prstGeom>
          <a:solidFill>
            <a:srgbClr val="CCECFF"/>
          </a:solidFill>
          <a:ln w="9525">
            <a:solidFill>
              <a:schemeClr val="tx1"/>
            </a:solidFill>
            <a:miter lim="800000"/>
            <a:headEnd/>
            <a:tailEnd/>
          </a:ln>
        </p:spPr>
        <p:txBody>
          <a:bodyPr wrap="none" anchor="ctr"/>
          <a:lstStyle/>
          <a:p>
            <a:endParaRPr lang="en-US"/>
          </a:p>
        </p:txBody>
      </p:sp>
      <p:sp>
        <p:nvSpPr>
          <p:cNvPr id="7" name="AutoShape 6"/>
          <p:cNvSpPr>
            <a:spLocks noChangeArrowheads="1"/>
          </p:cNvSpPr>
          <p:nvPr/>
        </p:nvSpPr>
        <p:spPr bwMode="auto">
          <a:xfrm rot="10800000">
            <a:off x="8763000" y="3429000"/>
            <a:ext cx="381000" cy="304800"/>
          </a:xfrm>
          <a:prstGeom prst="triangle">
            <a:avLst>
              <a:gd name="adj" fmla="val 50000"/>
            </a:avLst>
          </a:prstGeom>
          <a:solidFill>
            <a:srgbClr val="FF9999"/>
          </a:solidFill>
          <a:ln w="9525">
            <a:solidFill>
              <a:schemeClr val="tx1"/>
            </a:solidFill>
            <a:miter lim="800000"/>
            <a:headEnd/>
            <a:tailEnd/>
          </a:ln>
        </p:spPr>
        <p:txBody>
          <a:bodyPr wrap="none" anchor="ctr"/>
          <a:lstStyle/>
          <a:p>
            <a:endParaRPr lang="en-US"/>
          </a:p>
        </p:txBody>
      </p:sp>
      <p:sp>
        <p:nvSpPr>
          <p:cNvPr id="8" name="AutoShape 7"/>
          <p:cNvSpPr>
            <a:spLocks noChangeArrowheads="1"/>
          </p:cNvSpPr>
          <p:nvPr/>
        </p:nvSpPr>
        <p:spPr bwMode="auto">
          <a:xfrm rot="10800000">
            <a:off x="10287000" y="3429000"/>
            <a:ext cx="381000" cy="304800"/>
          </a:xfrm>
          <a:prstGeom prst="triangle">
            <a:avLst>
              <a:gd name="adj" fmla="val 50000"/>
            </a:avLst>
          </a:prstGeom>
          <a:solidFill>
            <a:srgbClr val="FF9999"/>
          </a:solidFill>
          <a:ln w="9525">
            <a:solidFill>
              <a:schemeClr val="tx1"/>
            </a:solidFill>
            <a:miter lim="800000"/>
            <a:headEnd/>
            <a:tailEnd/>
          </a:ln>
        </p:spPr>
        <p:txBody>
          <a:bodyPr wrap="none" anchor="ctr"/>
          <a:lstStyle/>
          <a:p>
            <a:endParaRPr lang="en-US"/>
          </a:p>
        </p:txBody>
      </p:sp>
      <p:sp>
        <p:nvSpPr>
          <p:cNvPr id="9" name="Rectangle 8"/>
          <p:cNvSpPr>
            <a:spLocks noChangeArrowheads="1"/>
          </p:cNvSpPr>
          <p:nvPr/>
        </p:nvSpPr>
        <p:spPr bwMode="auto">
          <a:xfrm>
            <a:off x="8763000" y="4724400"/>
            <a:ext cx="381000" cy="304800"/>
          </a:xfrm>
          <a:prstGeom prst="rect">
            <a:avLst/>
          </a:prstGeom>
          <a:solidFill>
            <a:srgbClr val="BD92DE"/>
          </a:solidFill>
          <a:ln w="9525">
            <a:solidFill>
              <a:schemeClr val="tx1"/>
            </a:solidFill>
            <a:miter lim="800000"/>
            <a:headEnd/>
            <a:tailEnd/>
          </a:ln>
        </p:spPr>
        <p:txBody>
          <a:bodyPr wrap="none" anchor="ctr"/>
          <a:lstStyle/>
          <a:p>
            <a:pPr algn="ctr"/>
            <a:r>
              <a:rPr lang="en-US" dirty="0"/>
              <a:t>10</a:t>
            </a:r>
          </a:p>
        </p:txBody>
      </p:sp>
      <p:sp>
        <p:nvSpPr>
          <p:cNvPr id="11" name="Rectangle 10"/>
          <p:cNvSpPr>
            <a:spLocks noChangeArrowheads="1"/>
          </p:cNvSpPr>
          <p:nvPr/>
        </p:nvSpPr>
        <p:spPr bwMode="auto">
          <a:xfrm>
            <a:off x="9906000" y="4724400"/>
            <a:ext cx="381000" cy="304800"/>
          </a:xfrm>
          <a:prstGeom prst="rect">
            <a:avLst/>
          </a:prstGeom>
          <a:solidFill>
            <a:srgbClr val="BD92DE"/>
          </a:solidFill>
          <a:ln w="9525">
            <a:solidFill>
              <a:schemeClr val="tx1"/>
            </a:solidFill>
            <a:miter lim="800000"/>
            <a:headEnd/>
            <a:tailEnd/>
          </a:ln>
        </p:spPr>
        <p:txBody>
          <a:bodyPr wrap="none" anchor="ctr"/>
          <a:lstStyle/>
          <a:p>
            <a:pPr algn="ctr"/>
            <a:r>
              <a:rPr lang="en-US" dirty="0"/>
              <a:t>10</a:t>
            </a:r>
          </a:p>
        </p:txBody>
      </p:sp>
      <p:sp>
        <p:nvSpPr>
          <p:cNvPr id="12" name="Rectangle 11"/>
          <p:cNvSpPr>
            <a:spLocks noChangeArrowheads="1"/>
          </p:cNvSpPr>
          <p:nvPr/>
        </p:nvSpPr>
        <p:spPr bwMode="auto">
          <a:xfrm>
            <a:off x="10668000" y="4724400"/>
            <a:ext cx="381000" cy="304800"/>
          </a:xfrm>
          <a:prstGeom prst="rect">
            <a:avLst/>
          </a:prstGeom>
          <a:solidFill>
            <a:srgbClr val="BD92DE"/>
          </a:solidFill>
          <a:ln w="9525">
            <a:solidFill>
              <a:schemeClr val="tx1"/>
            </a:solidFill>
            <a:miter lim="800000"/>
            <a:headEnd/>
            <a:tailEnd/>
          </a:ln>
        </p:spPr>
        <p:txBody>
          <a:bodyPr wrap="none" anchor="ctr"/>
          <a:lstStyle/>
          <a:p>
            <a:pPr algn="ctr"/>
            <a:r>
              <a:rPr lang="en-US" dirty="0"/>
              <a:t>0</a:t>
            </a:r>
          </a:p>
        </p:txBody>
      </p:sp>
      <p:cxnSp>
        <p:nvCxnSpPr>
          <p:cNvPr id="13" name="AutoShape 12"/>
          <p:cNvCxnSpPr>
            <a:cxnSpLocks noChangeShapeType="1"/>
            <a:stCxn id="6" idx="3"/>
            <a:endCxn id="7" idx="3"/>
          </p:cNvCxnSpPr>
          <p:nvPr/>
        </p:nvCxnSpPr>
        <p:spPr bwMode="auto">
          <a:xfrm flipH="1">
            <a:off x="8953500" y="2743200"/>
            <a:ext cx="762000" cy="685800"/>
          </a:xfrm>
          <a:prstGeom prst="straightConnector1">
            <a:avLst/>
          </a:prstGeom>
          <a:noFill/>
          <a:ln w="9525">
            <a:solidFill>
              <a:schemeClr val="tx1"/>
            </a:solidFill>
            <a:round/>
            <a:headEnd/>
            <a:tailEnd type="triangle" w="med" len="med"/>
          </a:ln>
        </p:spPr>
      </p:cxnSp>
      <p:cxnSp>
        <p:nvCxnSpPr>
          <p:cNvPr id="14" name="AutoShape 13"/>
          <p:cNvCxnSpPr>
            <a:cxnSpLocks noChangeShapeType="1"/>
            <a:stCxn id="6" idx="3"/>
            <a:endCxn id="8" idx="3"/>
          </p:cNvCxnSpPr>
          <p:nvPr/>
        </p:nvCxnSpPr>
        <p:spPr bwMode="auto">
          <a:xfrm>
            <a:off x="9715500" y="2743200"/>
            <a:ext cx="762000" cy="685800"/>
          </a:xfrm>
          <a:prstGeom prst="straightConnector1">
            <a:avLst/>
          </a:prstGeom>
          <a:noFill/>
          <a:ln w="9525">
            <a:solidFill>
              <a:schemeClr val="tx1"/>
            </a:solidFill>
            <a:round/>
            <a:headEnd/>
            <a:tailEnd type="triangle" w="med" len="med"/>
          </a:ln>
        </p:spPr>
      </p:cxnSp>
      <p:cxnSp>
        <p:nvCxnSpPr>
          <p:cNvPr id="15" name="AutoShape 14"/>
          <p:cNvCxnSpPr>
            <a:cxnSpLocks noChangeShapeType="1"/>
            <a:stCxn id="7" idx="0"/>
            <a:endCxn id="9" idx="0"/>
          </p:cNvCxnSpPr>
          <p:nvPr/>
        </p:nvCxnSpPr>
        <p:spPr bwMode="auto">
          <a:xfrm>
            <a:off x="8953500" y="3733800"/>
            <a:ext cx="0" cy="990600"/>
          </a:xfrm>
          <a:prstGeom prst="straightConnector1">
            <a:avLst/>
          </a:prstGeom>
          <a:noFill/>
          <a:ln w="9525">
            <a:solidFill>
              <a:schemeClr val="tx1"/>
            </a:solidFill>
            <a:round/>
            <a:headEnd/>
            <a:tailEnd type="triangle" w="med" len="med"/>
          </a:ln>
        </p:spPr>
      </p:cxnSp>
      <p:cxnSp>
        <p:nvCxnSpPr>
          <p:cNvPr id="17" name="AutoShape 16"/>
          <p:cNvCxnSpPr>
            <a:cxnSpLocks noChangeShapeType="1"/>
            <a:stCxn id="8" idx="0"/>
            <a:endCxn id="11" idx="0"/>
          </p:cNvCxnSpPr>
          <p:nvPr/>
        </p:nvCxnSpPr>
        <p:spPr bwMode="auto">
          <a:xfrm flipH="1">
            <a:off x="10096500" y="3733800"/>
            <a:ext cx="381000" cy="990600"/>
          </a:xfrm>
          <a:prstGeom prst="straightConnector1">
            <a:avLst/>
          </a:prstGeom>
          <a:noFill/>
          <a:ln w="9525">
            <a:solidFill>
              <a:schemeClr val="tx1"/>
            </a:solidFill>
            <a:round/>
            <a:headEnd/>
            <a:tailEnd type="triangle" w="med" len="med"/>
          </a:ln>
        </p:spPr>
      </p:cxnSp>
      <p:cxnSp>
        <p:nvCxnSpPr>
          <p:cNvPr id="18" name="AutoShape 17"/>
          <p:cNvCxnSpPr>
            <a:cxnSpLocks noChangeShapeType="1"/>
            <a:stCxn id="8" idx="0"/>
            <a:endCxn id="12" idx="0"/>
          </p:cNvCxnSpPr>
          <p:nvPr/>
        </p:nvCxnSpPr>
        <p:spPr bwMode="auto">
          <a:xfrm>
            <a:off x="10477500" y="3733800"/>
            <a:ext cx="381000" cy="990600"/>
          </a:xfrm>
          <a:prstGeom prst="straightConnector1">
            <a:avLst/>
          </a:prstGeom>
          <a:noFill/>
          <a:ln w="9525">
            <a:solidFill>
              <a:schemeClr val="tx1"/>
            </a:solidFill>
            <a:round/>
            <a:headEnd/>
            <a:tailEnd type="triangle" w="med" len="med"/>
          </a:ln>
        </p:spPr>
      </p:cxnSp>
      <p:sp>
        <p:nvSpPr>
          <p:cNvPr id="19" name="Text Box 18"/>
          <p:cNvSpPr txBox="1">
            <a:spLocks noChangeArrowheads="1"/>
          </p:cNvSpPr>
          <p:nvPr/>
        </p:nvSpPr>
        <p:spPr bwMode="auto">
          <a:xfrm>
            <a:off x="9928225" y="2438400"/>
            <a:ext cx="663575" cy="366713"/>
          </a:xfrm>
          <a:prstGeom prst="rect">
            <a:avLst/>
          </a:prstGeom>
          <a:noFill/>
          <a:ln w="12700">
            <a:noFill/>
            <a:miter lim="800000"/>
            <a:headEnd/>
            <a:tailEnd/>
          </a:ln>
        </p:spPr>
        <p:txBody>
          <a:bodyPr anchor="ctr">
            <a:spAutoFit/>
          </a:bodyPr>
          <a:lstStyle/>
          <a:p>
            <a:pPr algn="ctr">
              <a:spcBef>
                <a:spcPct val="50000"/>
              </a:spcBef>
            </a:pPr>
            <a:r>
              <a:rPr lang="en-US" b="1"/>
              <a:t>max</a:t>
            </a:r>
          </a:p>
        </p:txBody>
      </p:sp>
      <p:sp>
        <p:nvSpPr>
          <p:cNvPr id="20" name="Text Box 19"/>
          <p:cNvSpPr txBox="1">
            <a:spLocks noChangeArrowheads="1"/>
          </p:cNvSpPr>
          <p:nvPr/>
        </p:nvSpPr>
        <p:spPr bwMode="auto">
          <a:xfrm>
            <a:off x="10744200" y="3352800"/>
            <a:ext cx="663575" cy="366713"/>
          </a:xfrm>
          <a:prstGeom prst="rect">
            <a:avLst/>
          </a:prstGeom>
          <a:noFill/>
          <a:ln w="12700">
            <a:noFill/>
            <a:miter lim="800000"/>
            <a:headEnd/>
            <a:tailEnd/>
          </a:ln>
        </p:spPr>
        <p:txBody>
          <a:bodyPr anchor="ctr">
            <a:spAutoFit/>
          </a:bodyPr>
          <a:lstStyle/>
          <a:p>
            <a:pPr algn="ctr">
              <a:spcBef>
                <a:spcPct val="50000"/>
              </a:spcBef>
            </a:pPr>
            <a:r>
              <a:rPr lang="en-US" b="1"/>
              <a:t>min</a:t>
            </a:r>
          </a:p>
        </p:txBody>
      </p:sp>
    </p:spTree>
    <p:extLst>
      <p:ext uri="{BB962C8B-B14F-4D97-AF65-F5344CB8AC3E}">
        <p14:creationId xmlns:p14="http://schemas.microsoft.com/office/powerpoint/2010/main" val="15728923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9"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290948" y="1382713"/>
            <a:ext cx="7656142" cy="4694237"/>
          </a:xfrm>
          <a:prstGeom prst="rect">
            <a:avLst/>
          </a:prstGeom>
          <a:noFill/>
          <a:extLst>
            <a:ext uri="{909E8E84-426E-40dd-AFC4-6F175D3DCCD1}">
              <a14:hiddenFill xmlns=""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vi-VN" noProof="1"/>
              <a:t>Giới hạn tài nguyên</a:t>
            </a:r>
          </a:p>
        </p:txBody>
      </p:sp>
    </p:spTree>
    <p:extLst>
      <p:ext uri="{BB962C8B-B14F-4D97-AF65-F5344CB8AC3E}">
        <p14:creationId xmlns:p14="http://schemas.microsoft.com/office/powerpoint/2010/main" val="4151650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vi-VN" noProof="1"/>
              <a:t>Giới hạn tài nguyên</a:t>
            </a:r>
          </a:p>
        </p:txBody>
      </p:sp>
      <p:sp>
        <p:nvSpPr>
          <p:cNvPr id="17411" name="Rectangle 3"/>
          <p:cNvSpPr>
            <a:spLocks noGrp="1" noChangeArrowheads="1"/>
          </p:cNvSpPr>
          <p:nvPr>
            <p:ph idx="1"/>
          </p:nvPr>
        </p:nvSpPr>
        <p:spPr>
          <a:xfrm>
            <a:off x="304800" y="1371600"/>
            <a:ext cx="7086600" cy="5334000"/>
          </a:xfrm>
        </p:spPr>
        <p:txBody>
          <a:bodyPr/>
          <a:lstStyle/>
          <a:p>
            <a:pPr eaLnBrk="1" hangingPunct="1">
              <a:lnSpc>
                <a:spcPct val="80000"/>
              </a:lnSpc>
            </a:pPr>
            <a:r>
              <a:rPr lang="vi-VN" sz="2400" noProof="1"/>
              <a:t>Vấn đề: Thực tế: thường không thể tìm kiếm đến lá!</a:t>
            </a:r>
          </a:p>
          <a:p>
            <a:pPr lvl="1" eaLnBrk="1" hangingPunct="1">
              <a:lnSpc>
                <a:spcPct val="80000"/>
              </a:lnSpc>
            </a:pPr>
            <a:endParaRPr lang="vi-VN" sz="1400" noProof="1"/>
          </a:p>
          <a:p>
            <a:pPr eaLnBrk="1" hangingPunct="1">
              <a:lnSpc>
                <a:spcPct val="80000"/>
              </a:lnSpc>
            </a:pPr>
            <a:r>
              <a:rPr lang="vi-VN" sz="2400" noProof="1"/>
              <a:t>Giải pháp: Giới hạn độ sâu tìm kiếm</a:t>
            </a:r>
          </a:p>
          <a:p>
            <a:pPr lvl="1" eaLnBrk="1" hangingPunct="1">
              <a:lnSpc>
                <a:spcPct val="80000"/>
              </a:lnSpc>
            </a:pPr>
            <a:r>
              <a:rPr lang="vi-VN" sz="2000" noProof="1"/>
              <a:t>Chỉ tìm kiếm đến một độ sâu giới hạn</a:t>
            </a:r>
          </a:p>
          <a:p>
            <a:pPr lvl="1" eaLnBrk="1" hangingPunct="1">
              <a:lnSpc>
                <a:spcPct val="80000"/>
              </a:lnSpc>
            </a:pPr>
            <a:r>
              <a:rPr lang="vi-VN" sz="2000" noProof="1"/>
              <a:t>Thay thế hàm tính lợi ích (trạng thái kết thúc) bằng hàm ước lượng lợi ích (cho trạng thái không kết thúc)</a:t>
            </a:r>
          </a:p>
          <a:p>
            <a:pPr lvl="1" eaLnBrk="1" hangingPunct="1">
              <a:lnSpc>
                <a:spcPct val="80000"/>
              </a:lnSpc>
            </a:pPr>
            <a:endParaRPr lang="vi-VN" sz="1400" noProof="1"/>
          </a:p>
          <a:p>
            <a:pPr eaLnBrk="1" hangingPunct="1">
              <a:lnSpc>
                <a:spcPct val="80000"/>
              </a:lnSpc>
            </a:pPr>
            <a:r>
              <a:rPr lang="vi-VN" sz="2400" noProof="1"/>
              <a:t>Ví dụ:</a:t>
            </a:r>
            <a:r>
              <a:rPr lang="en-US" sz="2400" noProof="1"/>
              <a:t> Chess</a:t>
            </a:r>
            <a:endParaRPr lang="vi-VN" sz="2400" noProof="1"/>
          </a:p>
          <a:p>
            <a:pPr lvl="1" eaLnBrk="1" hangingPunct="1">
              <a:lnSpc>
                <a:spcPct val="80000"/>
              </a:lnSpc>
            </a:pPr>
            <a:r>
              <a:rPr lang="vi-VN" sz="2000" noProof="1"/>
              <a:t>Giả sử giới hạn thời gian 100 giây, mỗi giây mở rộng 10 nghìn trạng thái</a:t>
            </a:r>
          </a:p>
          <a:p>
            <a:pPr lvl="1" eaLnBrk="1" hangingPunct="1">
              <a:lnSpc>
                <a:spcPct val="80000"/>
              </a:lnSpc>
            </a:pPr>
            <a:r>
              <a:rPr lang="vi-VN" sz="2000" noProof="1"/>
              <a:t>Có thể tính 1 triệu trạng thái cho mỗi lượt đi</a:t>
            </a:r>
          </a:p>
          <a:p>
            <a:pPr lvl="1" eaLnBrk="1" hangingPunct="1">
              <a:lnSpc>
                <a:spcPct val="80000"/>
              </a:lnSpc>
            </a:pPr>
            <a:r>
              <a:rPr lang="vi-VN" sz="2000" noProof="1">
                <a:sym typeface="Symbol" pitchFamily="18" charset="2"/>
              </a:rPr>
              <a:t>- có thể tính đến độ sâu 8</a:t>
            </a:r>
          </a:p>
          <a:p>
            <a:pPr eaLnBrk="1" hangingPunct="1">
              <a:lnSpc>
                <a:spcPct val="80000"/>
              </a:lnSpc>
            </a:pPr>
            <a:endParaRPr lang="vi-VN" sz="1400" noProof="1"/>
          </a:p>
          <a:p>
            <a:pPr eaLnBrk="1" hangingPunct="1">
              <a:lnSpc>
                <a:spcPct val="80000"/>
              </a:lnSpc>
            </a:pPr>
            <a:r>
              <a:rPr lang="vi-VN" sz="2400" noProof="1"/>
              <a:t>Tính tối ưu không được đảm bảo</a:t>
            </a:r>
          </a:p>
          <a:p>
            <a:pPr lvl="1" eaLnBrk="1" hangingPunct="1">
              <a:lnSpc>
                <a:spcPct val="80000"/>
              </a:lnSpc>
            </a:pPr>
            <a:endParaRPr lang="vi-VN" sz="1400" noProof="1"/>
          </a:p>
          <a:p>
            <a:pPr eaLnBrk="1" hangingPunct="1">
              <a:lnSpc>
                <a:spcPct val="80000"/>
              </a:lnSpc>
            </a:pPr>
            <a:r>
              <a:rPr lang="vi-VN" sz="2400" noProof="1"/>
              <a:t>Độ sâu tăng = tác tử càng giỏi</a:t>
            </a:r>
          </a:p>
          <a:p>
            <a:pPr eaLnBrk="1" hangingPunct="1">
              <a:lnSpc>
                <a:spcPct val="80000"/>
              </a:lnSpc>
            </a:pPr>
            <a:endParaRPr lang="vi-VN" sz="1400" noProof="1"/>
          </a:p>
          <a:p>
            <a:pPr eaLnBrk="1" hangingPunct="1">
              <a:lnSpc>
                <a:spcPct val="80000"/>
              </a:lnSpc>
            </a:pPr>
            <a:r>
              <a:rPr lang="vi-VN" sz="2400" noProof="1"/>
              <a:t>Sử dụng tìm kiếm độ sâu tăng dần (để thoát khi cần)</a:t>
            </a:r>
          </a:p>
          <a:p>
            <a:pPr lvl="1" eaLnBrk="1" hangingPunct="1">
              <a:lnSpc>
                <a:spcPct val="80000"/>
              </a:lnSpc>
            </a:pPr>
            <a:endParaRPr lang="vi-VN" sz="2000" noProof="1">
              <a:solidFill>
                <a:srgbClr val="CC0000"/>
              </a:solidFill>
            </a:endParaRPr>
          </a:p>
        </p:txBody>
      </p:sp>
      <p:sp>
        <p:nvSpPr>
          <p:cNvPr id="17412" name="AutoShape 22"/>
          <p:cNvSpPr>
            <a:spLocks noChangeArrowheads="1"/>
          </p:cNvSpPr>
          <p:nvPr/>
        </p:nvSpPr>
        <p:spPr bwMode="auto">
          <a:xfrm>
            <a:off x="9296400" y="1524000"/>
            <a:ext cx="381000" cy="304800"/>
          </a:xfrm>
          <a:prstGeom prst="triangle">
            <a:avLst>
              <a:gd name="adj" fmla="val 50000"/>
            </a:avLst>
          </a:prstGeom>
          <a:solidFill>
            <a:srgbClr val="CCCCCC"/>
          </a:solidFill>
          <a:ln w="9525">
            <a:solidFill>
              <a:schemeClr val="tx1"/>
            </a:solidFill>
            <a:miter lim="800000"/>
            <a:headEnd/>
            <a:tailEnd/>
          </a:ln>
        </p:spPr>
        <p:txBody>
          <a:bodyPr wrap="none" anchor="ctr"/>
          <a:lstStyle/>
          <a:p>
            <a:pPr algn="ctr"/>
            <a:endParaRPr lang="en-US">
              <a:latin typeface="Calibri" pitchFamily="34" charset="0"/>
            </a:endParaRPr>
          </a:p>
        </p:txBody>
      </p:sp>
      <p:sp>
        <p:nvSpPr>
          <p:cNvPr id="17413" name="AutoShape 23"/>
          <p:cNvSpPr>
            <a:spLocks noChangeArrowheads="1"/>
          </p:cNvSpPr>
          <p:nvPr/>
        </p:nvSpPr>
        <p:spPr bwMode="auto">
          <a:xfrm rot="10800000">
            <a:off x="8458200" y="1981200"/>
            <a:ext cx="381000" cy="304800"/>
          </a:xfrm>
          <a:prstGeom prst="triangle">
            <a:avLst>
              <a:gd name="adj" fmla="val 50000"/>
            </a:avLst>
          </a:prstGeom>
          <a:solidFill>
            <a:srgbClr val="CCCCCC"/>
          </a:solidFill>
          <a:ln w="9525">
            <a:solidFill>
              <a:schemeClr val="tx1"/>
            </a:solidFill>
            <a:miter lim="800000"/>
            <a:headEnd/>
            <a:tailEnd/>
          </a:ln>
        </p:spPr>
        <p:txBody>
          <a:bodyPr wrap="none" anchor="ctr"/>
          <a:lstStyle/>
          <a:p>
            <a:endParaRPr lang="en-US">
              <a:latin typeface="Calibri" pitchFamily="34" charset="0"/>
            </a:endParaRPr>
          </a:p>
        </p:txBody>
      </p:sp>
      <p:sp>
        <p:nvSpPr>
          <p:cNvPr id="17414" name="AutoShape 24"/>
          <p:cNvSpPr>
            <a:spLocks noChangeArrowheads="1"/>
          </p:cNvSpPr>
          <p:nvPr/>
        </p:nvSpPr>
        <p:spPr bwMode="auto">
          <a:xfrm rot="10800000">
            <a:off x="10134600" y="1981200"/>
            <a:ext cx="381000" cy="304800"/>
          </a:xfrm>
          <a:prstGeom prst="triangle">
            <a:avLst>
              <a:gd name="adj" fmla="val 50000"/>
            </a:avLst>
          </a:prstGeom>
          <a:solidFill>
            <a:srgbClr val="CCCCCC"/>
          </a:solidFill>
          <a:ln w="9525">
            <a:solidFill>
              <a:schemeClr val="tx1"/>
            </a:solidFill>
            <a:miter lim="800000"/>
            <a:headEnd/>
            <a:tailEnd/>
          </a:ln>
        </p:spPr>
        <p:txBody>
          <a:bodyPr rot="10800000" wrap="none" anchor="ctr"/>
          <a:lstStyle/>
          <a:p>
            <a:pPr algn="ctr"/>
            <a:endParaRPr lang="en-US">
              <a:latin typeface="Calibri" pitchFamily="34" charset="0"/>
            </a:endParaRPr>
          </a:p>
        </p:txBody>
      </p:sp>
      <p:cxnSp>
        <p:nvCxnSpPr>
          <p:cNvPr id="17415" name="AutoShape 25"/>
          <p:cNvCxnSpPr>
            <a:cxnSpLocks noChangeShapeType="1"/>
            <a:stCxn id="17412" idx="3"/>
            <a:endCxn id="17413" idx="3"/>
          </p:cNvCxnSpPr>
          <p:nvPr/>
        </p:nvCxnSpPr>
        <p:spPr bwMode="auto">
          <a:xfrm flipH="1">
            <a:off x="8648700" y="1828800"/>
            <a:ext cx="838200" cy="152400"/>
          </a:xfrm>
          <a:prstGeom prst="straightConnector1">
            <a:avLst/>
          </a:prstGeom>
          <a:noFill/>
          <a:ln w="9525">
            <a:solidFill>
              <a:schemeClr val="tx1"/>
            </a:solidFill>
            <a:round/>
            <a:headEnd/>
            <a:tailEnd type="triangle" w="med" len="med"/>
          </a:ln>
        </p:spPr>
      </p:cxnSp>
      <p:cxnSp>
        <p:nvCxnSpPr>
          <p:cNvPr id="17416" name="AutoShape 26"/>
          <p:cNvCxnSpPr>
            <a:cxnSpLocks noChangeShapeType="1"/>
            <a:stCxn id="17412" idx="3"/>
            <a:endCxn id="17414" idx="3"/>
          </p:cNvCxnSpPr>
          <p:nvPr/>
        </p:nvCxnSpPr>
        <p:spPr bwMode="auto">
          <a:xfrm>
            <a:off x="9486900" y="1828800"/>
            <a:ext cx="838200" cy="152400"/>
          </a:xfrm>
          <a:prstGeom prst="straightConnector1">
            <a:avLst/>
          </a:prstGeom>
          <a:noFill/>
          <a:ln w="9525">
            <a:solidFill>
              <a:schemeClr val="tx1"/>
            </a:solidFill>
            <a:round/>
            <a:headEnd/>
            <a:tailEnd type="triangle" w="med" len="med"/>
          </a:ln>
        </p:spPr>
      </p:cxnSp>
      <p:cxnSp>
        <p:nvCxnSpPr>
          <p:cNvPr id="17417" name="AutoShape 27"/>
          <p:cNvCxnSpPr>
            <a:cxnSpLocks noChangeShapeType="1"/>
            <a:stCxn id="17413" idx="0"/>
            <a:endCxn id="1085499" idx="0"/>
          </p:cNvCxnSpPr>
          <p:nvPr/>
        </p:nvCxnSpPr>
        <p:spPr bwMode="auto">
          <a:xfrm flipH="1">
            <a:off x="8305800" y="2286000"/>
            <a:ext cx="342900" cy="152400"/>
          </a:xfrm>
          <a:prstGeom prst="straightConnector1">
            <a:avLst/>
          </a:prstGeom>
          <a:noFill/>
          <a:ln w="9525">
            <a:solidFill>
              <a:schemeClr val="tx1"/>
            </a:solidFill>
            <a:round/>
            <a:headEnd/>
            <a:tailEnd type="triangle" w="med" len="med"/>
          </a:ln>
        </p:spPr>
      </p:cxnSp>
      <p:cxnSp>
        <p:nvCxnSpPr>
          <p:cNvPr id="17418" name="AutoShape 28"/>
          <p:cNvCxnSpPr>
            <a:cxnSpLocks noChangeShapeType="1"/>
            <a:stCxn id="17413" idx="0"/>
            <a:endCxn id="1085500" idx="0"/>
          </p:cNvCxnSpPr>
          <p:nvPr/>
        </p:nvCxnSpPr>
        <p:spPr bwMode="auto">
          <a:xfrm>
            <a:off x="8648700" y="2286000"/>
            <a:ext cx="342900" cy="152400"/>
          </a:xfrm>
          <a:prstGeom prst="straightConnector1">
            <a:avLst/>
          </a:prstGeom>
          <a:noFill/>
          <a:ln w="9525">
            <a:solidFill>
              <a:schemeClr val="tx1"/>
            </a:solidFill>
            <a:round/>
            <a:headEnd/>
            <a:tailEnd type="triangle" w="med" len="med"/>
          </a:ln>
        </p:spPr>
      </p:cxnSp>
      <p:cxnSp>
        <p:nvCxnSpPr>
          <p:cNvPr id="17419" name="AutoShape 29"/>
          <p:cNvCxnSpPr>
            <a:cxnSpLocks noChangeShapeType="1"/>
            <a:stCxn id="17424" idx="3"/>
            <a:endCxn id="17427" idx="0"/>
          </p:cNvCxnSpPr>
          <p:nvPr/>
        </p:nvCxnSpPr>
        <p:spPr bwMode="auto">
          <a:xfrm flipH="1">
            <a:off x="10325100" y="2743200"/>
            <a:ext cx="304800" cy="152400"/>
          </a:xfrm>
          <a:prstGeom prst="straightConnector1">
            <a:avLst/>
          </a:prstGeom>
          <a:noFill/>
          <a:ln w="9525">
            <a:solidFill>
              <a:schemeClr val="tx1"/>
            </a:solidFill>
            <a:round/>
            <a:headEnd/>
            <a:tailEnd type="triangle" w="med" len="med"/>
          </a:ln>
        </p:spPr>
      </p:cxnSp>
      <p:cxnSp>
        <p:nvCxnSpPr>
          <p:cNvPr id="17420" name="AutoShape 30"/>
          <p:cNvCxnSpPr>
            <a:cxnSpLocks noChangeShapeType="1"/>
            <a:stCxn id="17424" idx="3"/>
            <a:endCxn id="17428" idx="0"/>
          </p:cNvCxnSpPr>
          <p:nvPr/>
        </p:nvCxnSpPr>
        <p:spPr bwMode="auto">
          <a:xfrm>
            <a:off x="10629900" y="2743200"/>
            <a:ext cx="304800" cy="152400"/>
          </a:xfrm>
          <a:prstGeom prst="straightConnector1">
            <a:avLst/>
          </a:prstGeom>
          <a:noFill/>
          <a:ln w="9525">
            <a:solidFill>
              <a:schemeClr val="tx1"/>
            </a:solidFill>
            <a:round/>
            <a:headEnd/>
            <a:tailEnd type="triangle" w="med" len="med"/>
          </a:ln>
        </p:spPr>
      </p:cxnSp>
      <p:sp>
        <p:nvSpPr>
          <p:cNvPr id="17421" name="AutoShape 31"/>
          <p:cNvSpPr>
            <a:spLocks noChangeArrowheads="1"/>
          </p:cNvSpPr>
          <p:nvPr/>
        </p:nvSpPr>
        <p:spPr bwMode="auto">
          <a:xfrm>
            <a:off x="8153400" y="2438400"/>
            <a:ext cx="381000" cy="304800"/>
          </a:xfrm>
          <a:prstGeom prst="triangle">
            <a:avLst>
              <a:gd name="adj" fmla="val 50000"/>
            </a:avLst>
          </a:prstGeom>
          <a:solidFill>
            <a:srgbClr val="CCCCCC"/>
          </a:solidFill>
          <a:ln w="9525">
            <a:solidFill>
              <a:schemeClr val="tx1"/>
            </a:solidFill>
            <a:miter lim="800000"/>
            <a:headEnd/>
            <a:tailEnd/>
          </a:ln>
        </p:spPr>
        <p:txBody>
          <a:bodyPr wrap="none" anchor="ctr"/>
          <a:lstStyle/>
          <a:p>
            <a:endParaRPr lang="en-US">
              <a:latin typeface="Calibri" pitchFamily="34" charset="0"/>
            </a:endParaRPr>
          </a:p>
        </p:txBody>
      </p:sp>
      <p:sp>
        <p:nvSpPr>
          <p:cNvPr id="17422" name="AutoShape 32"/>
          <p:cNvSpPr>
            <a:spLocks noChangeArrowheads="1"/>
          </p:cNvSpPr>
          <p:nvPr/>
        </p:nvSpPr>
        <p:spPr bwMode="auto">
          <a:xfrm>
            <a:off x="8763000" y="2438400"/>
            <a:ext cx="381000" cy="304800"/>
          </a:xfrm>
          <a:prstGeom prst="triangle">
            <a:avLst>
              <a:gd name="adj" fmla="val 50000"/>
            </a:avLst>
          </a:prstGeom>
          <a:solidFill>
            <a:srgbClr val="CCCCCC"/>
          </a:solidFill>
          <a:ln w="9525">
            <a:solidFill>
              <a:schemeClr val="tx1"/>
            </a:solidFill>
            <a:miter lim="800000"/>
            <a:headEnd/>
            <a:tailEnd/>
          </a:ln>
        </p:spPr>
        <p:txBody>
          <a:bodyPr wrap="none" anchor="ctr"/>
          <a:lstStyle/>
          <a:p>
            <a:endParaRPr lang="en-US">
              <a:latin typeface="Calibri" pitchFamily="34" charset="0"/>
            </a:endParaRPr>
          </a:p>
        </p:txBody>
      </p:sp>
      <p:sp>
        <p:nvSpPr>
          <p:cNvPr id="17423" name="AutoShape 33"/>
          <p:cNvSpPr>
            <a:spLocks noChangeArrowheads="1"/>
          </p:cNvSpPr>
          <p:nvPr/>
        </p:nvSpPr>
        <p:spPr bwMode="auto">
          <a:xfrm>
            <a:off x="9829800" y="2438400"/>
            <a:ext cx="381000" cy="304800"/>
          </a:xfrm>
          <a:prstGeom prst="triangle">
            <a:avLst>
              <a:gd name="adj" fmla="val 50000"/>
            </a:avLst>
          </a:prstGeom>
          <a:solidFill>
            <a:srgbClr val="CCCCCC"/>
          </a:solidFill>
          <a:ln w="9525">
            <a:solidFill>
              <a:schemeClr val="tx1"/>
            </a:solidFill>
            <a:miter lim="800000"/>
            <a:headEnd/>
            <a:tailEnd/>
          </a:ln>
        </p:spPr>
        <p:txBody>
          <a:bodyPr wrap="none" anchor="ctr"/>
          <a:lstStyle/>
          <a:p>
            <a:endParaRPr lang="en-US">
              <a:latin typeface="Calibri" pitchFamily="34" charset="0"/>
            </a:endParaRPr>
          </a:p>
        </p:txBody>
      </p:sp>
      <p:sp>
        <p:nvSpPr>
          <p:cNvPr id="17424" name="AutoShape 34"/>
          <p:cNvSpPr>
            <a:spLocks noChangeArrowheads="1"/>
          </p:cNvSpPr>
          <p:nvPr/>
        </p:nvSpPr>
        <p:spPr bwMode="auto">
          <a:xfrm>
            <a:off x="10439400" y="2438400"/>
            <a:ext cx="381000" cy="304800"/>
          </a:xfrm>
          <a:prstGeom prst="triangle">
            <a:avLst>
              <a:gd name="adj" fmla="val 50000"/>
            </a:avLst>
          </a:prstGeom>
          <a:solidFill>
            <a:srgbClr val="CCCCCC"/>
          </a:solidFill>
          <a:ln w="9525">
            <a:solidFill>
              <a:schemeClr val="tx1"/>
            </a:solidFill>
            <a:miter lim="800000"/>
            <a:headEnd/>
            <a:tailEnd/>
          </a:ln>
        </p:spPr>
        <p:txBody>
          <a:bodyPr wrap="none" anchor="ctr"/>
          <a:lstStyle/>
          <a:p>
            <a:endParaRPr lang="en-US">
              <a:latin typeface="Calibri" pitchFamily="34" charset="0"/>
            </a:endParaRPr>
          </a:p>
        </p:txBody>
      </p:sp>
      <p:sp>
        <p:nvSpPr>
          <p:cNvPr id="17425" name="AutoShape 35"/>
          <p:cNvSpPr>
            <a:spLocks noChangeArrowheads="1"/>
          </p:cNvSpPr>
          <p:nvPr/>
        </p:nvSpPr>
        <p:spPr bwMode="auto">
          <a:xfrm>
            <a:off x="8458200" y="2895600"/>
            <a:ext cx="381000" cy="304800"/>
          </a:xfrm>
          <a:prstGeom prst="triangle">
            <a:avLst>
              <a:gd name="adj" fmla="val 50000"/>
            </a:avLst>
          </a:prstGeom>
          <a:solidFill>
            <a:srgbClr val="CCCCCC"/>
          </a:solidFill>
          <a:ln w="9525">
            <a:solidFill>
              <a:schemeClr val="tx1"/>
            </a:solidFill>
            <a:miter lim="800000"/>
            <a:headEnd/>
            <a:tailEnd/>
          </a:ln>
        </p:spPr>
        <p:txBody>
          <a:bodyPr wrap="none" anchor="ctr"/>
          <a:lstStyle/>
          <a:p>
            <a:endParaRPr lang="en-US">
              <a:latin typeface="Calibri" pitchFamily="34" charset="0"/>
            </a:endParaRPr>
          </a:p>
        </p:txBody>
      </p:sp>
      <p:sp>
        <p:nvSpPr>
          <p:cNvPr id="17426" name="AutoShape 36"/>
          <p:cNvSpPr>
            <a:spLocks noChangeArrowheads="1"/>
          </p:cNvSpPr>
          <p:nvPr/>
        </p:nvSpPr>
        <p:spPr bwMode="auto">
          <a:xfrm>
            <a:off x="8458200" y="3810000"/>
            <a:ext cx="381000" cy="304800"/>
          </a:xfrm>
          <a:prstGeom prst="triangle">
            <a:avLst>
              <a:gd name="adj" fmla="val 50000"/>
            </a:avLst>
          </a:prstGeom>
          <a:solidFill>
            <a:srgbClr val="CCCCCC"/>
          </a:solidFill>
          <a:ln w="9525">
            <a:solidFill>
              <a:schemeClr val="tx1"/>
            </a:solidFill>
            <a:miter lim="800000"/>
            <a:headEnd/>
            <a:tailEnd/>
          </a:ln>
        </p:spPr>
        <p:txBody>
          <a:bodyPr wrap="none" anchor="ctr"/>
          <a:lstStyle/>
          <a:p>
            <a:endParaRPr lang="en-US"/>
          </a:p>
        </p:txBody>
      </p:sp>
      <p:sp>
        <p:nvSpPr>
          <p:cNvPr id="17427" name="AutoShape 37"/>
          <p:cNvSpPr>
            <a:spLocks noChangeArrowheads="1"/>
          </p:cNvSpPr>
          <p:nvPr/>
        </p:nvSpPr>
        <p:spPr bwMode="auto">
          <a:xfrm>
            <a:off x="10134600" y="2895600"/>
            <a:ext cx="381000" cy="304800"/>
          </a:xfrm>
          <a:prstGeom prst="triangle">
            <a:avLst>
              <a:gd name="adj" fmla="val 50000"/>
            </a:avLst>
          </a:prstGeom>
          <a:solidFill>
            <a:srgbClr val="CCCCCC"/>
          </a:solidFill>
          <a:ln w="9525">
            <a:solidFill>
              <a:schemeClr val="tx1"/>
            </a:solidFill>
            <a:miter lim="800000"/>
            <a:headEnd/>
            <a:tailEnd/>
          </a:ln>
        </p:spPr>
        <p:txBody>
          <a:bodyPr wrap="none" anchor="ctr"/>
          <a:lstStyle/>
          <a:p>
            <a:endParaRPr lang="en-US">
              <a:latin typeface="Calibri" pitchFamily="34" charset="0"/>
            </a:endParaRPr>
          </a:p>
        </p:txBody>
      </p:sp>
      <p:sp>
        <p:nvSpPr>
          <p:cNvPr id="17428" name="AutoShape 38"/>
          <p:cNvSpPr>
            <a:spLocks noChangeArrowheads="1"/>
          </p:cNvSpPr>
          <p:nvPr/>
        </p:nvSpPr>
        <p:spPr bwMode="auto">
          <a:xfrm>
            <a:off x="10744200" y="2895600"/>
            <a:ext cx="381000" cy="304800"/>
          </a:xfrm>
          <a:prstGeom prst="triangle">
            <a:avLst>
              <a:gd name="adj" fmla="val 50000"/>
            </a:avLst>
          </a:prstGeom>
          <a:solidFill>
            <a:srgbClr val="CCCCCC"/>
          </a:solidFill>
          <a:ln w="9525">
            <a:solidFill>
              <a:schemeClr val="tx1"/>
            </a:solidFill>
            <a:miter lim="800000"/>
            <a:headEnd/>
            <a:tailEnd/>
          </a:ln>
        </p:spPr>
        <p:txBody>
          <a:bodyPr wrap="none" anchor="ctr"/>
          <a:lstStyle/>
          <a:p>
            <a:endParaRPr lang="en-US">
              <a:latin typeface="Calibri" pitchFamily="34" charset="0"/>
            </a:endParaRPr>
          </a:p>
        </p:txBody>
      </p:sp>
      <p:sp>
        <p:nvSpPr>
          <p:cNvPr id="17429" name="AutoShape 39"/>
          <p:cNvSpPr>
            <a:spLocks noChangeArrowheads="1"/>
          </p:cNvSpPr>
          <p:nvPr/>
        </p:nvSpPr>
        <p:spPr bwMode="auto">
          <a:xfrm>
            <a:off x="8153400" y="3352800"/>
            <a:ext cx="381000" cy="304800"/>
          </a:xfrm>
          <a:prstGeom prst="triangle">
            <a:avLst>
              <a:gd name="adj" fmla="val 50000"/>
            </a:avLst>
          </a:prstGeom>
          <a:solidFill>
            <a:srgbClr val="CCCCCC"/>
          </a:solidFill>
          <a:ln w="9525">
            <a:solidFill>
              <a:schemeClr val="tx1"/>
            </a:solidFill>
            <a:miter lim="800000"/>
            <a:headEnd/>
            <a:tailEnd/>
          </a:ln>
        </p:spPr>
        <p:txBody>
          <a:bodyPr wrap="none" anchor="ctr"/>
          <a:lstStyle/>
          <a:p>
            <a:endParaRPr lang="en-US"/>
          </a:p>
        </p:txBody>
      </p:sp>
      <p:sp>
        <p:nvSpPr>
          <p:cNvPr id="17430" name="AutoShape 40"/>
          <p:cNvSpPr>
            <a:spLocks noChangeArrowheads="1"/>
          </p:cNvSpPr>
          <p:nvPr/>
        </p:nvSpPr>
        <p:spPr bwMode="auto">
          <a:xfrm>
            <a:off x="8763000" y="3352800"/>
            <a:ext cx="381000" cy="304800"/>
          </a:xfrm>
          <a:prstGeom prst="triangle">
            <a:avLst>
              <a:gd name="adj" fmla="val 50000"/>
            </a:avLst>
          </a:prstGeom>
          <a:solidFill>
            <a:srgbClr val="CCCCCC"/>
          </a:solidFill>
          <a:ln w="9525">
            <a:solidFill>
              <a:schemeClr val="tx1"/>
            </a:solidFill>
            <a:miter lim="800000"/>
            <a:headEnd/>
            <a:tailEnd/>
          </a:ln>
        </p:spPr>
        <p:txBody>
          <a:bodyPr wrap="none" anchor="ctr"/>
          <a:lstStyle/>
          <a:p>
            <a:endParaRPr lang="en-US"/>
          </a:p>
        </p:txBody>
      </p:sp>
      <p:cxnSp>
        <p:nvCxnSpPr>
          <p:cNvPr id="17431" name="AutoShape 41"/>
          <p:cNvCxnSpPr>
            <a:cxnSpLocks noChangeShapeType="1"/>
            <a:stCxn id="17414" idx="0"/>
            <a:endCxn id="17423" idx="0"/>
          </p:cNvCxnSpPr>
          <p:nvPr/>
        </p:nvCxnSpPr>
        <p:spPr bwMode="auto">
          <a:xfrm flipH="1">
            <a:off x="10020300" y="2286000"/>
            <a:ext cx="304800" cy="152400"/>
          </a:xfrm>
          <a:prstGeom prst="straightConnector1">
            <a:avLst/>
          </a:prstGeom>
          <a:noFill/>
          <a:ln w="9525">
            <a:solidFill>
              <a:schemeClr val="tx1"/>
            </a:solidFill>
            <a:round/>
            <a:headEnd/>
            <a:tailEnd type="triangle" w="med" len="med"/>
          </a:ln>
        </p:spPr>
      </p:cxnSp>
      <p:cxnSp>
        <p:nvCxnSpPr>
          <p:cNvPr id="17432" name="AutoShape 42"/>
          <p:cNvCxnSpPr>
            <a:cxnSpLocks noChangeShapeType="1"/>
            <a:stCxn id="17414" idx="0"/>
            <a:endCxn id="17424" idx="0"/>
          </p:cNvCxnSpPr>
          <p:nvPr/>
        </p:nvCxnSpPr>
        <p:spPr bwMode="auto">
          <a:xfrm>
            <a:off x="10325100" y="2286000"/>
            <a:ext cx="304800" cy="152400"/>
          </a:xfrm>
          <a:prstGeom prst="straightConnector1">
            <a:avLst/>
          </a:prstGeom>
          <a:noFill/>
          <a:ln w="9525">
            <a:solidFill>
              <a:schemeClr val="tx1"/>
            </a:solidFill>
            <a:round/>
            <a:headEnd/>
            <a:tailEnd type="triangle" w="med" len="med"/>
          </a:ln>
        </p:spPr>
      </p:cxnSp>
      <p:cxnSp>
        <p:nvCxnSpPr>
          <p:cNvPr id="17433" name="AutoShape 43"/>
          <p:cNvCxnSpPr>
            <a:cxnSpLocks noChangeShapeType="1"/>
            <a:stCxn id="17422" idx="3"/>
            <a:endCxn id="17425" idx="0"/>
          </p:cNvCxnSpPr>
          <p:nvPr/>
        </p:nvCxnSpPr>
        <p:spPr bwMode="auto">
          <a:xfrm flipH="1">
            <a:off x="8648700" y="2743200"/>
            <a:ext cx="304800" cy="152400"/>
          </a:xfrm>
          <a:prstGeom prst="straightConnector1">
            <a:avLst/>
          </a:prstGeom>
          <a:noFill/>
          <a:ln w="9525">
            <a:solidFill>
              <a:schemeClr val="tx1"/>
            </a:solidFill>
            <a:round/>
            <a:headEnd/>
            <a:tailEnd type="triangle" w="med" len="med"/>
          </a:ln>
        </p:spPr>
      </p:cxnSp>
      <p:sp>
        <p:nvSpPr>
          <p:cNvPr id="17434" name="AutoShape 44"/>
          <p:cNvSpPr>
            <a:spLocks noChangeArrowheads="1"/>
          </p:cNvSpPr>
          <p:nvPr/>
        </p:nvSpPr>
        <p:spPr bwMode="auto">
          <a:xfrm>
            <a:off x="9067800" y="3810000"/>
            <a:ext cx="381000" cy="304800"/>
          </a:xfrm>
          <a:prstGeom prst="triangle">
            <a:avLst>
              <a:gd name="adj" fmla="val 50000"/>
            </a:avLst>
          </a:prstGeom>
          <a:solidFill>
            <a:srgbClr val="CCCCCC"/>
          </a:solidFill>
          <a:ln w="9525">
            <a:solidFill>
              <a:schemeClr val="tx1"/>
            </a:solidFill>
            <a:miter lim="800000"/>
            <a:headEnd/>
            <a:tailEnd/>
          </a:ln>
        </p:spPr>
        <p:txBody>
          <a:bodyPr wrap="none" anchor="ctr"/>
          <a:lstStyle/>
          <a:p>
            <a:endParaRPr lang="en-US"/>
          </a:p>
        </p:txBody>
      </p:sp>
      <p:cxnSp>
        <p:nvCxnSpPr>
          <p:cNvPr id="17435" name="AutoShape 45"/>
          <p:cNvCxnSpPr>
            <a:cxnSpLocks noChangeShapeType="1"/>
            <a:stCxn id="17425" idx="3"/>
            <a:endCxn id="17429" idx="0"/>
          </p:cNvCxnSpPr>
          <p:nvPr/>
        </p:nvCxnSpPr>
        <p:spPr bwMode="auto">
          <a:xfrm flipH="1">
            <a:off x="8343900" y="3200400"/>
            <a:ext cx="304800" cy="152400"/>
          </a:xfrm>
          <a:prstGeom prst="straightConnector1">
            <a:avLst/>
          </a:prstGeom>
          <a:noFill/>
          <a:ln w="9525">
            <a:solidFill>
              <a:schemeClr val="tx1"/>
            </a:solidFill>
            <a:round/>
            <a:headEnd/>
            <a:tailEnd type="triangle" w="med" len="med"/>
          </a:ln>
        </p:spPr>
      </p:cxnSp>
      <p:cxnSp>
        <p:nvCxnSpPr>
          <p:cNvPr id="17436" name="AutoShape 46"/>
          <p:cNvCxnSpPr>
            <a:cxnSpLocks noChangeShapeType="1"/>
            <a:stCxn id="17425" idx="3"/>
            <a:endCxn id="17430" idx="0"/>
          </p:cNvCxnSpPr>
          <p:nvPr/>
        </p:nvCxnSpPr>
        <p:spPr bwMode="auto">
          <a:xfrm>
            <a:off x="8648700" y="3200400"/>
            <a:ext cx="304800" cy="152400"/>
          </a:xfrm>
          <a:prstGeom prst="straightConnector1">
            <a:avLst/>
          </a:prstGeom>
          <a:noFill/>
          <a:ln w="9525">
            <a:solidFill>
              <a:schemeClr val="tx1"/>
            </a:solidFill>
            <a:round/>
            <a:headEnd/>
            <a:tailEnd type="triangle" w="med" len="med"/>
          </a:ln>
        </p:spPr>
      </p:cxnSp>
      <p:cxnSp>
        <p:nvCxnSpPr>
          <p:cNvPr id="17437" name="AutoShape 47"/>
          <p:cNvCxnSpPr>
            <a:cxnSpLocks noChangeShapeType="1"/>
            <a:stCxn id="17430" idx="3"/>
            <a:endCxn id="17426" idx="0"/>
          </p:cNvCxnSpPr>
          <p:nvPr/>
        </p:nvCxnSpPr>
        <p:spPr bwMode="auto">
          <a:xfrm flipH="1">
            <a:off x="8648700" y="3657600"/>
            <a:ext cx="304800" cy="152400"/>
          </a:xfrm>
          <a:prstGeom prst="straightConnector1">
            <a:avLst/>
          </a:prstGeom>
          <a:noFill/>
          <a:ln w="9525">
            <a:solidFill>
              <a:schemeClr val="tx1"/>
            </a:solidFill>
            <a:round/>
            <a:headEnd/>
            <a:tailEnd type="triangle" w="med" len="med"/>
          </a:ln>
        </p:spPr>
      </p:cxnSp>
      <p:cxnSp>
        <p:nvCxnSpPr>
          <p:cNvPr id="17438" name="AutoShape 48"/>
          <p:cNvCxnSpPr>
            <a:cxnSpLocks noChangeShapeType="1"/>
            <a:stCxn id="17430" idx="3"/>
            <a:endCxn id="17434" idx="0"/>
          </p:cNvCxnSpPr>
          <p:nvPr/>
        </p:nvCxnSpPr>
        <p:spPr bwMode="auto">
          <a:xfrm>
            <a:off x="8953500" y="3657600"/>
            <a:ext cx="304800" cy="152400"/>
          </a:xfrm>
          <a:prstGeom prst="straightConnector1">
            <a:avLst/>
          </a:prstGeom>
          <a:noFill/>
          <a:ln w="9525">
            <a:solidFill>
              <a:schemeClr val="tx1"/>
            </a:solidFill>
            <a:round/>
            <a:headEnd/>
            <a:tailEnd type="triangle" w="med" len="med"/>
          </a:ln>
        </p:spPr>
      </p:cxnSp>
      <p:sp>
        <p:nvSpPr>
          <p:cNvPr id="17439" name="Rectangle 49"/>
          <p:cNvSpPr>
            <a:spLocks noChangeArrowheads="1"/>
          </p:cNvSpPr>
          <p:nvPr/>
        </p:nvSpPr>
        <p:spPr bwMode="auto">
          <a:xfrm>
            <a:off x="7924800" y="5791200"/>
            <a:ext cx="533400" cy="304800"/>
          </a:xfrm>
          <a:prstGeom prst="rect">
            <a:avLst/>
          </a:prstGeom>
          <a:solidFill>
            <a:srgbClr val="CCCCCC"/>
          </a:solidFill>
          <a:ln w="12700">
            <a:solidFill>
              <a:schemeClr val="tx1"/>
            </a:solidFill>
            <a:miter lim="800000"/>
            <a:headEnd/>
            <a:tailEnd/>
          </a:ln>
        </p:spPr>
        <p:txBody>
          <a:bodyPr wrap="none" anchor="ctr"/>
          <a:lstStyle/>
          <a:p>
            <a:pPr algn="ctr"/>
            <a:r>
              <a:rPr lang="en-US"/>
              <a:t>?</a:t>
            </a:r>
          </a:p>
        </p:txBody>
      </p:sp>
      <p:sp>
        <p:nvSpPr>
          <p:cNvPr id="17440" name="Rectangle 50"/>
          <p:cNvSpPr>
            <a:spLocks noChangeArrowheads="1"/>
          </p:cNvSpPr>
          <p:nvPr/>
        </p:nvSpPr>
        <p:spPr bwMode="auto">
          <a:xfrm>
            <a:off x="8763000" y="5791200"/>
            <a:ext cx="533400" cy="304800"/>
          </a:xfrm>
          <a:prstGeom prst="rect">
            <a:avLst/>
          </a:prstGeom>
          <a:solidFill>
            <a:srgbClr val="CCCCCC"/>
          </a:solidFill>
          <a:ln w="12700">
            <a:solidFill>
              <a:schemeClr val="tx1"/>
            </a:solidFill>
            <a:miter lim="800000"/>
            <a:headEnd/>
            <a:tailEnd/>
          </a:ln>
        </p:spPr>
        <p:txBody>
          <a:bodyPr wrap="none" anchor="ctr"/>
          <a:lstStyle/>
          <a:p>
            <a:pPr algn="ctr"/>
            <a:r>
              <a:rPr lang="en-US"/>
              <a:t>?</a:t>
            </a:r>
          </a:p>
        </p:txBody>
      </p:sp>
      <p:sp>
        <p:nvSpPr>
          <p:cNvPr id="17441" name="Rectangle 51"/>
          <p:cNvSpPr>
            <a:spLocks noChangeArrowheads="1"/>
          </p:cNvSpPr>
          <p:nvPr/>
        </p:nvSpPr>
        <p:spPr bwMode="auto">
          <a:xfrm>
            <a:off x="9753600" y="5791200"/>
            <a:ext cx="533400" cy="304800"/>
          </a:xfrm>
          <a:prstGeom prst="rect">
            <a:avLst/>
          </a:prstGeom>
          <a:solidFill>
            <a:srgbClr val="CCCCCC"/>
          </a:solidFill>
          <a:ln w="12700">
            <a:solidFill>
              <a:schemeClr val="tx1"/>
            </a:solidFill>
            <a:miter lim="800000"/>
            <a:headEnd/>
            <a:tailEnd/>
          </a:ln>
        </p:spPr>
        <p:txBody>
          <a:bodyPr wrap="none" anchor="ctr"/>
          <a:lstStyle/>
          <a:p>
            <a:pPr algn="ctr"/>
            <a:r>
              <a:rPr lang="en-US"/>
              <a:t>?</a:t>
            </a:r>
          </a:p>
        </p:txBody>
      </p:sp>
      <p:sp>
        <p:nvSpPr>
          <p:cNvPr id="17442" name="Rectangle 52"/>
          <p:cNvSpPr>
            <a:spLocks noChangeArrowheads="1"/>
          </p:cNvSpPr>
          <p:nvPr/>
        </p:nvSpPr>
        <p:spPr bwMode="auto">
          <a:xfrm>
            <a:off x="10591800" y="5791200"/>
            <a:ext cx="533400" cy="304800"/>
          </a:xfrm>
          <a:prstGeom prst="rect">
            <a:avLst/>
          </a:prstGeom>
          <a:solidFill>
            <a:srgbClr val="CCCCCC"/>
          </a:solidFill>
          <a:ln w="12700">
            <a:solidFill>
              <a:schemeClr val="tx1"/>
            </a:solidFill>
            <a:miter lim="800000"/>
            <a:headEnd/>
            <a:tailEnd/>
          </a:ln>
        </p:spPr>
        <p:txBody>
          <a:bodyPr wrap="none" anchor="ctr"/>
          <a:lstStyle/>
          <a:p>
            <a:pPr algn="ctr"/>
            <a:r>
              <a:rPr lang="en-US"/>
              <a:t>?</a:t>
            </a:r>
          </a:p>
        </p:txBody>
      </p:sp>
      <p:sp>
        <p:nvSpPr>
          <p:cNvPr id="17443" name="Freeform 53"/>
          <p:cNvSpPr>
            <a:spLocks/>
          </p:cNvSpPr>
          <p:nvPr/>
        </p:nvSpPr>
        <p:spPr bwMode="auto">
          <a:xfrm>
            <a:off x="8102600" y="4114800"/>
            <a:ext cx="508000" cy="1676400"/>
          </a:xfrm>
          <a:custGeom>
            <a:avLst/>
            <a:gdLst>
              <a:gd name="T0" fmla="*/ 2147483647 w 320"/>
              <a:gd name="T1" fmla="*/ 0 h 1440"/>
              <a:gd name="T2" fmla="*/ 2147483647 w 320"/>
              <a:gd name="T3" fmla="*/ 2147483647 h 1440"/>
              <a:gd name="T4" fmla="*/ 2147483647 w 320"/>
              <a:gd name="T5" fmla="*/ 2147483647 h 1440"/>
              <a:gd name="T6" fmla="*/ 2147483647 w 320"/>
              <a:gd name="T7" fmla="*/ 2147483647 h 1440"/>
              <a:gd name="T8" fmla="*/ 2147483647 w 320"/>
              <a:gd name="T9" fmla="*/ 2147483647 h 1440"/>
              <a:gd name="T10" fmla="*/ 2147483647 w 320"/>
              <a:gd name="T11" fmla="*/ 2147483647 h 1440"/>
              <a:gd name="T12" fmla="*/ 0 60000 65536"/>
              <a:gd name="T13" fmla="*/ 0 60000 65536"/>
              <a:gd name="T14" fmla="*/ 0 60000 65536"/>
              <a:gd name="T15" fmla="*/ 0 60000 65536"/>
              <a:gd name="T16" fmla="*/ 0 60000 65536"/>
              <a:gd name="T17" fmla="*/ 0 60000 65536"/>
              <a:gd name="T18" fmla="*/ 0 w 320"/>
              <a:gd name="T19" fmla="*/ 0 h 1440"/>
              <a:gd name="T20" fmla="*/ 320 w 320"/>
              <a:gd name="T21" fmla="*/ 1440 h 1440"/>
            </a:gdLst>
            <a:ahLst/>
            <a:cxnLst>
              <a:cxn ang="T12">
                <a:pos x="T0" y="T1"/>
              </a:cxn>
              <a:cxn ang="T13">
                <a:pos x="T2" y="T3"/>
              </a:cxn>
              <a:cxn ang="T14">
                <a:pos x="T4" y="T5"/>
              </a:cxn>
              <a:cxn ang="T15">
                <a:pos x="T6" y="T7"/>
              </a:cxn>
              <a:cxn ang="T16">
                <a:pos x="T8" y="T9"/>
              </a:cxn>
              <a:cxn ang="T17">
                <a:pos x="T10" y="T11"/>
              </a:cxn>
            </a:cxnLst>
            <a:rect l="T18" t="T19" r="T20" b="T21"/>
            <a:pathLst>
              <a:path w="320" h="1440">
                <a:moveTo>
                  <a:pt x="320" y="0"/>
                </a:moveTo>
                <a:cubicBezTo>
                  <a:pt x="232" y="72"/>
                  <a:pt x="144" y="144"/>
                  <a:pt x="128" y="240"/>
                </a:cubicBezTo>
                <a:cubicBezTo>
                  <a:pt x="112" y="336"/>
                  <a:pt x="240" y="480"/>
                  <a:pt x="224" y="576"/>
                </a:cubicBezTo>
                <a:cubicBezTo>
                  <a:pt x="208" y="672"/>
                  <a:pt x="64" y="736"/>
                  <a:pt x="32" y="816"/>
                </a:cubicBezTo>
                <a:cubicBezTo>
                  <a:pt x="0" y="896"/>
                  <a:pt x="32" y="952"/>
                  <a:pt x="32" y="1056"/>
                </a:cubicBezTo>
                <a:cubicBezTo>
                  <a:pt x="32" y="1160"/>
                  <a:pt x="32" y="1300"/>
                  <a:pt x="32" y="1440"/>
                </a:cubicBezTo>
              </a:path>
            </a:pathLst>
          </a:custGeom>
          <a:noFill/>
          <a:ln w="12700">
            <a:solidFill>
              <a:schemeClr val="tx1"/>
            </a:solidFill>
            <a:round/>
            <a:headEnd/>
            <a:tailEnd type="triangle" w="med" len="med"/>
          </a:ln>
        </p:spPr>
        <p:txBody>
          <a:bodyPr wrap="none" anchor="ctr"/>
          <a:lstStyle/>
          <a:p>
            <a:endParaRPr lang="en-US"/>
          </a:p>
        </p:txBody>
      </p:sp>
      <p:sp>
        <p:nvSpPr>
          <p:cNvPr id="17444" name="Freeform 54"/>
          <p:cNvSpPr>
            <a:spLocks/>
          </p:cNvSpPr>
          <p:nvPr/>
        </p:nvSpPr>
        <p:spPr bwMode="auto">
          <a:xfrm>
            <a:off x="8890000" y="4114800"/>
            <a:ext cx="406400" cy="1676400"/>
          </a:xfrm>
          <a:custGeom>
            <a:avLst/>
            <a:gdLst>
              <a:gd name="T0" fmla="*/ 2147483647 w 256"/>
              <a:gd name="T1" fmla="*/ 0 h 1056"/>
              <a:gd name="T2" fmla="*/ 2147483647 w 256"/>
              <a:gd name="T3" fmla="*/ 2147483647 h 1056"/>
              <a:gd name="T4" fmla="*/ 2147483647 w 256"/>
              <a:gd name="T5" fmla="*/ 2147483647 h 1056"/>
              <a:gd name="T6" fmla="*/ 2147483647 w 256"/>
              <a:gd name="T7" fmla="*/ 2147483647 h 1056"/>
              <a:gd name="T8" fmla="*/ 2147483647 w 256"/>
              <a:gd name="T9" fmla="*/ 2147483647 h 1056"/>
              <a:gd name="T10" fmla="*/ 0 60000 65536"/>
              <a:gd name="T11" fmla="*/ 0 60000 65536"/>
              <a:gd name="T12" fmla="*/ 0 60000 65536"/>
              <a:gd name="T13" fmla="*/ 0 60000 65536"/>
              <a:gd name="T14" fmla="*/ 0 60000 65536"/>
              <a:gd name="T15" fmla="*/ 0 w 256"/>
              <a:gd name="T16" fmla="*/ 0 h 1056"/>
              <a:gd name="T17" fmla="*/ 256 w 256"/>
              <a:gd name="T18" fmla="*/ 1056 h 1056"/>
            </a:gdLst>
            <a:ahLst/>
            <a:cxnLst>
              <a:cxn ang="T10">
                <a:pos x="T0" y="T1"/>
              </a:cxn>
              <a:cxn ang="T11">
                <a:pos x="T2" y="T3"/>
              </a:cxn>
              <a:cxn ang="T12">
                <a:pos x="T4" y="T5"/>
              </a:cxn>
              <a:cxn ang="T13">
                <a:pos x="T6" y="T7"/>
              </a:cxn>
              <a:cxn ang="T14">
                <a:pos x="T8" y="T9"/>
              </a:cxn>
            </a:cxnLst>
            <a:rect l="T15" t="T16" r="T17" b="T18"/>
            <a:pathLst>
              <a:path w="256" h="1056">
                <a:moveTo>
                  <a:pt x="256" y="0"/>
                </a:moveTo>
                <a:cubicBezTo>
                  <a:pt x="140" y="148"/>
                  <a:pt x="24" y="296"/>
                  <a:pt x="16" y="384"/>
                </a:cubicBezTo>
                <a:cubicBezTo>
                  <a:pt x="8" y="472"/>
                  <a:pt x="208" y="456"/>
                  <a:pt x="208" y="528"/>
                </a:cubicBezTo>
                <a:cubicBezTo>
                  <a:pt x="208" y="600"/>
                  <a:pt x="32" y="728"/>
                  <a:pt x="16" y="816"/>
                </a:cubicBezTo>
                <a:cubicBezTo>
                  <a:pt x="0" y="904"/>
                  <a:pt x="56" y="980"/>
                  <a:pt x="112" y="1056"/>
                </a:cubicBezTo>
              </a:path>
            </a:pathLst>
          </a:custGeom>
          <a:noFill/>
          <a:ln w="12700">
            <a:solidFill>
              <a:schemeClr val="tx1"/>
            </a:solidFill>
            <a:round/>
            <a:headEnd/>
            <a:tailEnd type="triangle" w="med" len="med"/>
          </a:ln>
        </p:spPr>
        <p:txBody>
          <a:bodyPr wrap="none" anchor="ctr"/>
          <a:lstStyle/>
          <a:p>
            <a:endParaRPr lang="en-US"/>
          </a:p>
        </p:txBody>
      </p:sp>
      <p:sp>
        <p:nvSpPr>
          <p:cNvPr id="17445" name="Freeform 55"/>
          <p:cNvSpPr>
            <a:spLocks/>
          </p:cNvSpPr>
          <p:nvPr/>
        </p:nvSpPr>
        <p:spPr bwMode="auto">
          <a:xfrm>
            <a:off x="10515600" y="3200400"/>
            <a:ext cx="457200" cy="2590800"/>
          </a:xfrm>
          <a:custGeom>
            <a:avLst/>
            <a:gdLst>
              <a:gd name="T0" fmla="*/ 2147483647 w 256"/>
              <a:gd name="T1" fmla="*/ 0 h 1056"/>
              <a:gd name="T2" fmla="*/ 2147483647 w 256"/>
              <a:gd name="T3" fmla="*/ 2147483647 h 1056"/>
              <a:gd name="T4" fmla="*/ 2147483647 w 256"/>
              <a:gd name="T5" fmla="*/ 2147483647 h 1056"/>
              <a:gd name="T6" fmla="*/ 2147483647 w 256"/>
              <a:gd name="T7" fmla="*/ 2147483647 h 1056"/>
              <a:gd name="T8" fmla="*/ 2147483647 w 256"/>
              <a:gd name="T9" fmla="*/ 2147483647 h 1056"/>
              <a:gd name="T10" fmla="*/ 0 60000 65536"/>
              <a:gd name="T11" fmla="*/ 0 60000 65536"/>
              <a:gd name="T12" fmla="*/ 0 60000 65536"/>
              <a:gd name="T13" fmla="*/ 0 60000 65536"/>
              <a:gd name="T14" fmla="*/ 0 60000 65536"/>
              <a:gd name="T15" fmla="*/ 0 w 256"/>
              <a:gd name="T16" fmla="*/ 0 h 1056"/>
              <a:gd name="T17" fmla="*/ 256 w 256"/>
              <a:gd name="T18" fmla="*/ 1056 h 1056"/>
            </a:gdLst>
            <a:ahLst/>
            <a:cxnLst>
              <a:cxn ang="T10">
                <a:pos x="T0" y="T1"/>
              </a:cxn>
              <a:cxn ang="T11">
                <a:pos x="T2" y="T3"/>
              </a:cxn>
              <a:cxn ang="T12">
                <a:pos x="T4" y="T5"/>
              </a:cxn>
              <a:cxn ang="T13">
                <a:pos x="T6" y="T7"/>
              </a:cxn>
              <a:cxn ang="T14">
                <a:pos x="T8" y="T9"/>
              </a:cxn>
            </a:cxnLst>
            <a:rect l="T15" t="T16" r="T17" b="T18"/>
            <a:pathLst>
              <a:path w="256" h="1056">
                <a:moveTo>
                  <a:pt x="256" y="0"/>
                </a:moveTo>
                <a:cubicBezTo>
                  <a:pt x="140" y="148"/>
                  <a:pt x="24" y="296"/>
                  <a:pt x="16" y="384"/>
                </a:cubicBezTo>
                <a:cubicBezTo>
                  <a:pt x="8" y="472"/>
                  <a:pt x="208" y="456"/>
                  <a:pt x="208" y="528"/>
                </a:cubicBezTo>
                <a:cubicBezTo>
                  <a:pt x="208" y="600"/>
                  <a:pt x="32" y="728"/>
                  <a:pt x="16" y="816"/>
                </a:cubicBezTo>
                <a:cubicBezTo>
                  <a:pt x="0" y="904"/>
                  <a:pt x="56" y="980"/>
                  <a:pt x="112" y="1056"/>
                </a:cubicBezTo>
              </a:path>
            </a:pathLst>
          </a:custGeom>
          <a:noFill/>
          <a:ln w="12700">
            <a:solidFill>
              <a:schemeClr val="tx1"/>
            </a:solidFill>
            <a:round/>
            <a:headEnd/>
            <a:tailEnd type="triangle" w="med" len="med"/>
          </a:ln>
        </p:spPr>
        <p:txBody>
          <a:bodyPr wrap="none" anchor="ctr"/>
          <a:lstStyle/>
          <a:p>
            <a:endParaRPr lang="en-US"/>
          </a:p>
        </p:txBody>
      </p:sp>
      <p:sp>
        <p:nvSpPr>
          <p:cNvPr id="17446" name="Freeform 56"/>
          <p:cNvSpPr>
            <a:spLocks/>
          </p:cNvSpPr>
          <p:nvPr/>
        </p:nvSpPr>
        <p:spPr bwMode="auto">
          <a:xfrm>
            <a:off x="9944100" y="3200400"/>
            <a:ext cx="508000" cy="2590800"/>
          </a:xfrm>
          <a:custGeom>
            <a:avLst/>
            <a:gdLst>
              <a:gd name="T0" fmla="*/ 2147483647 w 320"/>
              <a:gd name="T1" fmla="*/ 0 h 1632"/>
              <a:gd name="T2" fmla="*/ 2147483647 w 320"/>
              <a:gd name="T3" fmla="*/ 2147483647 h 1632"/>
              <a:gd name="T4" fmla="*/ 2147483647 w 320"/>
              <a:gd name="T5" fmla="*/ 2147483647 h 1632"/>
              <a:gd name="T6" fmla="*/ 2147483647 w 320"/>
              <a:gd name="T7" fmla="*/ 2147483647 h 1632"/>
              <a:gd name="T8" fmla="*/ 2147483647 w 320"/>
              <a:gd name="T9" fmla="*/ 2147483647 h 1632"/>
              <a:gd name="T10" fmla="*/ 2147483647 w 320"/>
              <a:gd name="T11" fmla="*/ 2147483647 h 1632"/>
              <a:gd name="T12" fmla="*/ 0 60000 65536"/>
              <a:gd name="T13" fmla="*/ 0 60000 65536"/>
              <a:gd name="T14" fmla="*/ 0 60000 65536"/>
              <a:gd name="T15" fmla="*/ 0 60000 65536"/>
              <a:gd name="T16" fmla="*/ 0 60000 65536"/>
              <a:gd name="T17" fmla="*/ 0 60000 65536"/>
              <a:gd name="T18" fmla="*/ 0 w 320"/>
              <a:gd name="T19" fmla="*/ 0 h 1632"/>
              <a:gd name="T20" fmla="*/ 320 w 320"/>
              <a:gd name="T21" fmla="*/ 1632 h 1632"/>
            </a:gdLst>
            <a:ahLst/>
            <a:cxnLst>
              <a:cxn ang="T12">
                <a:pos x="T0" y="T1"/>
              </a:cxn>
              <a:cxn ang="T13">
                <a:pos x="T2" y="T3"/>
              </a:cxn>
              <a:cxn ang="T14">
                <a:pos x="T4" y="T5"/>
              </a:cxn>
              <a:cxn ang="T15">
                <a:pos x="T6" y="T7"/>
              </a:cxn>
              <a:cxn ang="T16">
                <a:pos x="T8" y="T9"/>
              </a:cxn>
              <a:cxn ang="T17">
                <a:pos x="T10" y="T11"/>
              </a:cxn>
            </a:cxnLst>
            <a:rect l="T18" t="T19" r="T20" b="T21"/>
            <a:pathLst>
              <a:path w="320" h="1632">
                <a:moveTo>
                  <a:pt x="216" y="0"/>
                </a:moveTo>
                <a:cubicBezTo>
                  <a:pt x="268" y="108"/>
                  <a:pt x="320" y="216"/>
                  <a:pt x="312" y="336"/>
                </a:cubicBezTo>
                <a:cubicBezTo>
                  <a:pt x="304" y="456"/>
                  <a:pt x="192" y="576"/>
                  <a:pt x="168" y="720"/>
                </a:cubicBezTo>
                <a:cubicBezTo>
                  <a:pt x="144" y="864"/>
                  <a:pt x="192" y="1104"/>
                  <a:pt x="168" y="1200"/>
                </a:cubicBezTo>
                <a:cubicBezTo>
                  <a:pt x="144" y="1296"/>
                  <a:pt x="48" y="1224"/>
                  <a:pt x="24" y="1296"/>
                </a:cubicBezTo>
                <a:cubicBezTo>
                  <a:pt x="0" y="1368"/>
                  <a:pt x="12" y="1500"/>
                  <a:pt x="24" y="1632"/>
                </a:cubicBezTo>
              </a:path>
            </a:pathLst>
          </a:custGeom>
          <a:noFill/>
          <a:ln w="12700">
            <a:solidFill>
              <a:schemeClr val="tx1"/>
            </a:solidFill>
            <a:round/>
            <a:headEnd/>
            <a:tailEnd type="triangle" w="med" len="med"/>
          </a:ln>
        </p:spPr>
        <p:txBody>
          <a:bodyPr wrap="none" anchor="ctr"/>
          <a:lstStyle/>
          <a:p>
            <a:endParaRPr lang="en-US"/>
          </a:p>
        </p:txBody>
      </p:sp>
      <p:cxnSp>
        <p:nvCxnSpPr>
          <p:cNvPr id="17447" name="AutoShape 57"/>
          <p:cNvCxnSpPr>
            <a:cxnSpLocks noChangeShapeType="1"/>
            <a:stCxn id="17422" idx="3"/>
            <a:endCxn id="17448" idx="0"/>
          </p:cNvCxnSpPr>
          <p:nvPr/>
        </p:nvCxnSpPr>
        <p:spPr bwMode="auto">
          <a:xfrm>
            <a:off x="8953500" y="2743200"/>
            <a:ext cx="304800" cy="152400"/>
          </a:xfrm>
          <a:prstGeom prst="straightConnector1">
            <a:avLst/>
          </a:prstGeom>
          <a:noFill/>
          <a:ln w="9525">
            <a:solidFill>
              <a:schemeClr val="tx1"/>
            </a:solidFill>
            <a:round/>
            <a:headEnd/>
            <a:tailEnd type="triangle" w="med" len="med"/>
          </a:ln>
        </p:spPr>
      </p:cxnSp>
      <p:sp>
        <p:nvSpPr>
          <p:cNvPr id="17448" name="AutoShape 58"/>
          <p:cNvSpPr>
            <a:spLocks noChangeArrowheads="1"/>
          </p:cNvSpPr>
          <p:nvPr/>
        </p:nvSpPr>
        <p:spPr bwMode="auto">
          <a:xfrm>
            <a:off x="9067800" y="2895600"/>
            <a:ext cx="381000" cy="304800"/>
          </a:xfrm>
          <a:prstGeom prst="triangle">
            <a:avLst>
              <a:gd name="adj" fmla="val 50000"/>
            </a:avLst>
          </a:prstGeom>
          <a:solidFill>
            <a:srgbClr val="CCCCCC"/>
          </a:solidFill>
          <a:ln w="9525">
            <a:solidFill>
              <a:schemeClr val="tx1"/>
            </a:solidFill>
            <a:miter lim="800000"/>
            <a:headEnd/>
            <a:tailEnd/>
          </a:ln>
        </p:spPr>
        <p:txBody>
          <a:bodyPr wrap="none" anchor="ctr"/>
          <a:lstStyle/>
          <a:p>
            <a:endParaRPr lang="en-US">
              <a:latin typeface="Calibri" pitchFamily="34" charset="0"/>
            </a:endParaRPr>
          </a:p>
        </p:txBody>
      </p:sp>
      <p:sp>
        <p:nvSpPr>
          <p:cNvPr id="1085499" name="Rectangle 59"/>
          <p:cNvSpPr>
            <a:spLocks noChangeArrowheads="1"/>
          </p:cNvSpPr>
          <p:nvPr/>
        </p:nvSpPr>
        <p:spPr bwMode="auto">
          <a:xfrm>
            <a:off x="8077200" y="2438400"/>
            <a:ext cx="457200" cy="304800"/>
          </a:xfrm>
          <a:prstGeom prst="rect">
            <a:avLst/>
          </a:prstGeom>
          <a:solidFill>
            <a:srgbClr val="0099FF"/>
          </a:solidFill>
          <a:ln w="12700">
            <a:solidFill>
              <a:schemeClr val="tx1"/>
            </a:solidFill>
            <a:miter lim="800000"/>
            <a:headEnd/>
            <a:tailEnd/>
          </a:ln>
        </p:spPr>
        <p:txBody>
          <a:bodyPr wrap="none" anchor="ctr"/>
          <a:lstStyle/>
          <a:p>
            <a:pPr algn="ctr"/>
            <a:r>
              <a:rPr lang="en-US">
                <a:latin typeface="Calibri" pitchFamily="34" charset="0"/>
              </a:rPr>
              <a:t>-1</a:t>
            </a:r>
          </a:p>
        </p:txBody>
      </p:sp>
      <p:sp>
        <p:nvSpPr>
          <p:cNvPr id="1085500" name="Rectangle 60"/>
          <p:cNvSpPr>
            <a:spLocks noChangeArrowheads="1"/>
          </p:cNvSpPr>
          <p:nvPr/>
        </p:nvSpPr>
        <p:spPr bwMode="auto">
          <a:xfrm>
            <a:off x="8763000" y="2438400"/>
            <a:ext cx="457200" cy="304800"/>
          </a:xfrm>
          <a:prstGeom prst="rect">
            <a:avLst/>
          </a:prstGeom>
          <a:solidFill>
            <a:srgbClr val="0099FF"/>
          </a:solidFill>
          <a:ln w="12700">
            <a:solidFill>
              <a:schemeClr val="tx1"/>
            </a:solidFill>
            <a:miter lim="800000"/>
            <a:headEnd/>
            <a:tailEnd/>
          </a:ln>
        </p:spPr>
        <p:txBody>
          <a:bodyPr wrap="none" anchor="ctr"/>
          <a:lstStyle/>
          <a:p>
            <a:pPr algn="ctr"/>
            <a:r>
              <a:rPr lang="en-US">
                <a:latin typeface="Calibri" pitchFamily="34" charset="0"/>
              </a:rPr>
              <a:t>-2</a:t>
            </a:r>
          </a:p>
        </p:txBody>
      </p:sp>
      <p:sp>
        <p:nvSpPr>
          <p:cNvPr id="1085501" name="Rectangle 61"/>
          <p:cNvSpPr>
            <a:spLocks noChangeArrowheads="1"/>
          </p:cNvSpPr>
          <p:nvPr/>
        </p:nvSpPr>
        <p:spPr bwMode="auto">
          <a:xfrm>
            <a:off x="9753600" y="2438400"/>
            <a:ext cx="457200" cy="304800"/>
          </a:xfrm>
          <a:prstGeom prst="rect">
            <a:avLst/>
          </a:prstGeom>
          <a:solidFill>
            <a:srgbClr val="0099FF"/>
          </a:solidFill>
          <a:ln w="12700">
            <a:solidFill>
              <a:schemeClr val="tx1"/>
            </a:solidFill>
            <a:miter lim="800000"/>
            <a:headEnd/>
            <a:tailEnd/>
          </a:ln>
        </p:spPr>
        <p:txBody>
          <a:bodyPr wrap="none" anchor="ctr"/>
          <a:lstStyle/>
          <a:p>
            <a:pPr algn="ctr"/>
            <a:r>
              <a:rPr lang="en-US">
                <a:latin typeface="Calibri" pitchFamily="34" charset="0"/>
              </a:rPr>
              <a:t>4</a:t>
            </a:r>
          </a:p>
        </p:txBody>
      </p:sp>
      <p:sp>
        <p:nvSpPr>
          <p:cNvPr id="1085502" name="Rectangle 62"/>
          <p:cNvSpPr>
            <a:spLocks noChangeArrowheads="1"/>
          </p:cNvSpPr>
          <p:nvPr/>
        </p:nvSpPr>
        <p:spPr bwMode="auto">
          <a:xfrm>
            <a:off x="10439400" y="2438400"/>
            <a:ext cx="457200" cy="304800"/>
          </a:xfrm>
          <a:prstGeom prst="rect">
            <a:avLst/>
          </a:prstGeom>
          <a:solidFill>
            <a:srgbClr val="0099FF"/>
          </a:solidFill>
          <a:ln w="12700">
            <a:solidFill>
              <a:schemeClr val="tx1"/>
            </a:solidFill>
            <a:miter lim="800000"/>
            <a:headEnd/>
            <a:tailEnd/>
          </a:ln>
        </p:spPr>
        <p:txBody>
          <a:bodyPr wrap="none" anchor="ctr"/>
          <a:lstStyle/>
          <a:p>
            <a:pPr algn="ctr"/>
            <a:r>
              <a:rPr lang="en-US">
                <a:latin typeface="Calibri" pitchFamily="34" charset="0"/>
              </a:rPr>
              <a:t>9</a:t>
            </a:r>
          </a:p>
        </p:txBody>
      </p:sp>
      <p:sp>
        <p:nvSpPr>
          <p:cNvPr id="1085505" name="AutoShape 65"/>
          <p:cNvSpPr>
            <a:spLocks noChangeArrowheads="1"/>
          </p:cNvSpPr>
          <p:nvPr/>
        </p:nvSpPr>
        <p:spPr bwMode="auto">
          <a:xfrm>
            <a:off x="9296400" y="1524000"/>
            <a:ext cx="381000" cy="304800"/>
          </a:xfrm>
          <a:prstGeom prst="triangle">
            <a:avLst>
              <a:gd name="adj" fmla="val 50000"/>
            </a:avLst>
          </a:prstGeom>
          <a:solidFill>
            <a:srgbClr val="0099FF"/>
          </a:solidFill>
          <a:ln w="9525">
            <a:solidFill>
              <a:schemeClr val="tx1"/>
            </a:solidFill>
            <a:miter lim="800000"/>
            <a:headEnd/>
            <a:tailEnd/>
          </a:ln>
        </p:spPr>
        <p:txBody>
          <a:bodyPr wrap="none" tIns="182880" anchor="b" anchorCtr="0"/>
          <a:lstStyle/>
          <a:p>
            <a:pPr algn="ctr"/>
            <a:r>
              <a:rPr lang="en-US" dirty="0">
                <a:latin typeface="Calibri" pitchFamily="34" charset="0"/>
              </a:rPr>
              <a:t>4</a:t>
            </a:r>
          </a:p>
        </p:txBody>
      </p:sp>
      <p:sp>
        <p:nvSpPr>
          <p:cNvPr id="1085507" name="Text Box 67"/>
          <p:cNvSpPr txBox="1">
            <a:spLocks noChangeArrowheads="1"/>
          </p:cNvSpPr>
          <p:nvPr/>
        </p:nvSpPr>
        <p:spPr bwMode="auto">
          <a:xfrm>
            <a:off x="11223625" y="1919288"/>
            <a:ext cx="663575" cy="366712"/>
          </a:xfrm>
          <a:prstGeom prst="rect">
            <a:avLst/>
          </a:prstGeom>
          <a:noFill/>
          <a:ln w="12700">
            <a:noFill/>
            <a:miter lim="800000"/>
            <a:headEnd/>
            <a:tailEnd/>
          </a:ln>
        </p:spPr>
        <p:txBody>
          <a:bodyPr anchor="ctr">
            <a:spAutoFit/>
          </a:bodyPr>
          <a:lstStyle/>
          <a:p>
            <a:pPr algn="ctr">
              <a:spcBef>
                <a:spcPct val="50000"/>
              </a:spcBef>
            </a:pPr>
            <a:r>
              <a:rPr lang="en-US" b="1" dirty="0">
                <a:latin typeface="Calibri" pitchFamily="34" charset="0"/>
              </a:rPr>
              <a:t>min</a:t>
            </a:r>
          </a:p>
        </p:txBody>
      </p:sp>
      <p:sp>
        <p:nvSpPr>
          <p:cNvPr id="1085508" name="Text Box 68"/>
          <p:cNvSpPr txBox="1">
            <a:spLocks noChangeArrowheads="1"/>
          </p:cNvSpPr>
          <p:nvPr/>
        </p:nvSpPr>
        <p:spPr bwMode="auto">
          <a:xfrm>
            <a:off x="11223625" y="1462088"/>
            <a:ext cx="663575" cy="366712"/>
          </a:xfrm>
          <a:prstGeom prst="rect">
            <a:avLst/>
          </a:prstGeom>
          <a:noFill/>
          <a:ln w="12700">
            <a:noFill/>
            <a:miter lim="800000"/>
            <a:headEnd/>
            <a:tailEnd/>
          </a:ln>
        </p:spPr>
        <p:txBody>
          <a:bodyPr anchor="ctr">
            <a:spAutoFit/>
          </a:bodyPr>
          <a:lstStyle/>
          <a:p>
            <a:pPr algn="ctr">
              <a:spcBef>
                <a:spcPct val="50000"/>
              </a:spcBef>
            </a:pPr>
            <a:r>
              <a:rPr lang="en-US" b="1" dirty="0">
                <a:latin typeface="Calibri" pitchFamily="34" charset="0"/>
              </a:rPr>
              <a:t>max</a:t>
            </a:r>
          </a:p>
        </p:txBody>
      </p:sp>
      <p:sp>
        <p:nvSpPr>
          <p:cNvPr id="1085509" name="AutoShape 69"/>
          <p:cNvSpPr>
            <a:spLocks noChangeArrowheads="1"/>
          </p:cNvSpPr>
          <p:nvPr/>
        </p:nvSpPr>
        <p:spPr bwMode="auto">
          <a:xfrm rot="10800000">
            <a:off x="8458200" y="1981200"/>
            <a:ext cx="381000" cy="304800"/>
          </a:xfrm>
          <a:prstGeom prst="triangle">
            <a:avLst>
              <a:gd name="adj" fmla="val 50000"/>
            </a:avLst>
          </a:prstGeom>
          <a:solidFill>
            <a:srgbClr val="FF7575"/>
          </a:solidFill>
          <a:ln w="9525">
            <a:solidFill>
              <a:schemeClr val="tx1"/>
            </a:solidFill>
            <a:miter lim="800000"/>
            <a:headEnd/>
            <a:tailEnd/>
          </a:ln>
        </p:spPr>
        <p:txBody>
          <a:bodyPr rot="10800000" wrap="none" tIns="91440" anchor="ctr" anchorCtr="1"/>
          <a:lstStyle/>
          <a:p>
            <a:pPr algn="ctr"/>
            <a:r>
              <a:rPr lang="en-US" dirty="0">
                <a:latin typeface="Calibri" pitchFamily="34" charset="0"/>
              </a:rPr>
              <a:t>-2</a:t>
            </a:r>
          </a:p>
        </p:txBody>
      </p:sp>
      <p:sp>
        <p:nvSpPr>
          <p:cNvPr id="1085510" name="AutoShape 70"/>
          <p:cNvSpPr>
            <a:spLocks noChangeArrowheads="1"/>
          </p:cNvSpPr>
          <p:nvPr/>
        </p:nvSpPr>
        <p:spPr bwMode="auto">
          <a:xfrm rot="10800000">
            <a:off x="10134600" y="1981200"/>
            <a:ext cx="381000" cy="304800"/>
          </a:xfrm>
          <a:prstGeom prst="triangle">
            <a:avLst>
              <a:gd name="adj" fmla="val 50000"/>
            </a:avLst>
          </a:prstGeom>
          <a:solidFill>
            <a:srgbClr val="FF7575"/>
          </a:solidFill>
          <a:ln w="9525">
            <a:solidFill>
              <a:schemeClr val="tx1"/>
            </a:solidFill>
            <a:miter lim="800000"/>
            <a:headEnd/>
            <a:tailEnd/>
          </a:ln>
        </p:spPr>
        <p:txBody>
          <a:bodyPr rot="10800000" wrap="none" tIns="91440" anchor="ctr" anchorCtr="1"/>
          <a:lstStyle/>
          <a:p>
            <a:pPr algn="ctr"/>
            <a:r>
              <a:rPr lang="en-US" dirty="0">
                <a:latin typeface="Calibri" pitchFamily="34" charset="0"/>
              </a:rPr>
              <a:t>4</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vi-VN" noProof="1"/>
              <a:t>Tại sao</a:t>
            </a:r>
          </a:p>
        </p:txBody>
      </p:sp>
      <p:sp>
        <p:nvSpPr>
          <p:cNvPr id="20483" name="Content Placeholder 2"/>
          <p:cNvSpPr>
            <a:spLocks noGrp="1"/>
          </p:cNvSpPr>
          <p:nvPr>
            <p:ph idx="1"/>
          </p:nvPr>
        </p:nvSpPr>
        <p:spPr>
          <a:xfrm>
            <a:off x="457200" y="4114800"/>
            <a:ext cx="11430000" cy="2133600"/>
          </a:xfrm>
        </p:spPr>
        <p:txBody>
          <a:bodyPr/>
          <a:lstStyle/>
          <a:p>
            <a:r>
              <a:rPr lang="vi-VN" sz="2800" noProof="1"/>
              <a:t>Tính lại kế hoạch !</a:t>
            </a:r>
          </a:p>
          <a:p>
            <a:pPr lvl="1"/>
            <a:r>
              <a:rPr lang="vi-VN" sz="2200" noProof="1"/>
              <a:t>Điểm tăng khi ăn bánh bây giờ (west, east)</a:t>
            </a:r>
          </a:p>
          <a:p>
            <a:pPr lvl="1"/>
            <a:r>
              <a:rPr lang="vi-VN" sz="2200" noProof="1"/>
              <a:t>Điểm cũng tăng khi ăn bánh sau đó (east, west)</a:t>
            </a:r>
          </a:p>
          <a:p>
            <a:pPr lvl="1"/>
            <a:r>
              <a:rPr lang="vi-VN" sz="2200" noProof="1"/>
              <a:t>Trong độ sâu 2: cả 2 phương án là như nhau</a:t>
            </a:r>
          </a:p>
          <a:p>
            <a:pPr lvl="1"/>
            <a:r>
              <a:rPr lang="vi-VN" sz="2200" noProof="1"/>
              <a:t>Do đó, </a:t>
            </a:r>
            <a:r>
              <a:rPr lang="vi-VN" sz="2200" noProof="1">
                <a:solidFill>
                  <a:srgbClr val="FF0000"/>
                </a:solidFill>
              </a:rPr>
              <a:t>chờ đợi = ăn ngay</a:t>
            </a:r>
            <a:r>
              <a:rPr lang="vi-VN" sz="2200" noProof="1"/>
              <a:t>. Lượt sau lại tính lại kế hoạch (và tiếp tục chờ) !</a:t>
            </a:r>
          </a:p>
          <a:p>
            <a:endParaRPr lang="vi-VN" sz="2800" noProof="1"/>
          </a:p>
        </p:txBody>
      </p:sp>
      <p:sp>
        <p:nvSpPr>
          <p:cNvPr id="9" name="Rectangle 8"/>
          <p:cNvSpPr/>
          <p:nvPr/>
        </p:nvSpPr>
        <p:spPr>
          <a:xfrm>
            <a:off x="5257800" y="1447800"/>
            <a:ext cx="1219200" cy="381000"/>
          </a:xfrm>
          <a:prstGeom prst="rect">
            <a:avLst/>
          </a:prstGeom>
          <a:solidFill>
            <a:schemeClr val="tx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20485" name="Picture 3" descr="\\.host\Shared Folders\Shared with PC\images\Pacman_stuck_minimax.png"/>
          <p:cNvPicPr>
            <a:picLocks noChangeAspect="1" noChangeArrowheads="1"/>
          </p:cNvPicPr>
          <p:nvPr/>
        </p:nvPicPr>
        <p:blipFill>
          <a:blip r:embed="rId3" cstate="print"/>
          <a:srcRect l="38135" t="16438" r="44067" b="58904"/>
          <a:stretch>
            <a:fillRect/>
          </a:stretch>
        </p:blipFill>
        <p:spPr bwMode="auto">
          <a:xfrm>
            <a:off x="5562600" y="1512888"/>
            <a:ext cx="304800" cy="261937"/>
          </a:xfrm>
          <a:prstGeom prst="rect">
            <a:avLst/>
          </a:prstGeom>
          <a:noFill/>
          <a:ln w="9525">
            <a:noFill/>
            <a:miter lim="800000"/>
            <a:headEnd/>
            <a:tailEnd/>
          </a:ln>
        </p:spPr>
      </p:pic>
      <p:sp>
        <p:nvSpPr>
          <p:cNvPr id="11" name="Oval 10"/>
          <p:cNvSpPr/>
          <p:nvPr/>
        </p:nvSpPr>
        <p:spPr>
          <a:xfrm>
            <a:off x="5410200" y="16002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Oval 11"/>
          <p:cNvSpPr/>
          <p:nvPr/>
        </p:nvSpPr>
        <p:spPr>
          <a:xfrm>
            <a:off x="6248400" y="16002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Rectangle 12"/>
          <p:cNvSpPr/>
          <p:nvPr/>
        </p:nvSpPr>
        <p:spPr>
          <a:xfrm>
            <a:off x="2895600" y="2362200"/>
            <a:ext cx="1219200" cy="381000"/>
          </a:xfrm>
          <a:prstGeom prst="rect">
            <a:avLst/>
          </a:prstGeom>
          <a:solidFill>
            <a:schemeClr val="tx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4" name="Picture 3" descr="\\.host\Shared Folders\Shared with PC\images\Pacman_stuck_minimax.png"/>
          <p:cNvPicPr>
            <a:picLocks noChangeAspect="1" noChangeArrowheads="1"/>
          </p:cNvPicPr>
          <p:nvPr/>
        </p:nvPicPr>
        <p:blipFill>
          <a:blip r:embed="rId3" cstate="print"/>
          <a:srcRect l="38135" t="16438" r="44067" b="58904"/>
          <a:stretch>
            <a:fillRect/>
          </a:stretch>
        </p:blipFill>
        <p:spPr bwMode="auto">
          <a:xfrm>
            <a:off x="2971800" y="2427288"/>
            <a:ext cx="304800" cy="261937"/>
          </a:xfrm>
          <a:prstGeom prst="rect">
            <a:avLst/>
          </a:prstGeom>
          <a:noFill/>
          <a:ln w="9525">
            <a:noFill/>
            <a:miter lim="800000"/>
            <a:headEnd/>
            <a:tailEnd/>
          </a:ln>
        </p:spPr>
      </p:pic>
      <p:sp>
        <p:nvSpPr>
          <p:cNvPr id="16" name="Oval 15"/>
          <p:cNvSpPr/>
          <p:nvPr/>
        </p:nvSpPr>
        <p:spPr>
          <a:xfrm>
            <a:off x="3886200" y="25146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 name="Rectangle 19"/>
          <p:cNvSpPr/>
          <p:nvPr/>
        </p:nvSpPr>
        <p:spPr>
          <a:xfrm>
            <a:off x="7467600" y="2362200"/>
            <a:ext cx="1219200" cy="381000"/>
          </a:xfrm>
          <a:prstGeom prst="rect">
            <a:avLst/>
          </a:prstGeom>
          <a:solidFill>
            <a:schemeClr val="tx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21" name="Picture 3" descr="\\.host\Shared Folders\Shared with PC\images\Pacman_stuck_minimax.png"/>
          <p:cNvPicPr>
            <a:picLocks noChangeAspect="1" noChangeArrowheads="1"/>
          </p:cNvPicPr>
          <p:nvPr/>
        </p:nvPicPr>
        <p:blipFill>
          <a:blip r:embed="rId3" cstate="print"/>
          <a:srcRect l="38135" t="16438" r="44067" b="58904"/>
          <a:stretch>
            <a:fillRect/>
          </a:stretch>
        </p:blipFill>
        <p:spPr bwMode="auto">
          <a:xfrm>
            <a:off x="8077200" y="2427288"/>
            <a:ext cx="304800" cy="261937"/>
          </a:xfrm>
          <a:prstGeom prst="rect">
            <a:avLst/>
          </a:prstGeom>
          <a:noFill/>
          <a:ln w="9525">
            <a:noFill/>
            <a:miter lim="800000"/>
            <a:headEnd/>
            <a:tailEnd/>
          </a:ln>
        </p:spPr>
      </p:pic>
      <p:sp>
        <p:nvSpPr>
          <p:cNvPr id="22" name="Oval 21"/>
          <p:cNvSpPr/>
          <p:nvPr/>
        </p:nvSpPr>
        <p:spPr>
          <a:xfrm>
            <a:off x="7620000" y="25146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3" name="Oval 22"/>
          <p:cNvSpPr/>
          <p:nvPr/>
        </p:nvSpPr>
        <p:spPr>
          <a:xfrm>
            <a:off x="8458200" y="25146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4" name="Rectangle 23"/>
          <p:cNvSpPr/>
          <p:nvPr/>
        </p:nvSpPr>
        <p:spPr>
          <a:xfrm>
            <a:off x="2895600" y="3276600"/>
            <a:ext cx="1219200" cy="381000"/>
          </a:xfrm>
          <a:prstGeom prst="rect">
            <a:avLst/>
          </a:prstGeom>
          <a:solidFill>
            <a:schemeClr val="tx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25" name="Picture 3" descr="\\.host\Shared Folders\Shared with PC\images\Pacman_stuck_minimax.png"/>
          <p:cNvPicPr>
            <a:picLocks noChangeAspect="1" noChangeArrowheads="1"/>
          </p:cNvPicPr>
          <p:nvPr/>
        </p:nvPicPr>
        <p:blipFill>
          <a:blip r:embed="rId3" cstate="print"/>
          <a:srcRect l="38135" t="16438" r="44067" b="58904"/>
          <a:stretch>
            <a:fillRect/>
          </a:stretch>
        </p:blipFill>
        <p:spPr bwMode="auto">
          <a:xfrm>
            <a:off x="3200400" y="3341688"/>
            <a:ext cx="304800" cy="261937"/>
          </a:xfrm>
          <a:prstGeom prst="rect">
            <a:avLst/>
          </a:prstGeom>
          <a:noFill/>
          <a:ln w="9525">
            <a:noFill/>
            <a:miter lim="800000"/>
            <a:headEnd/>
            <a:tailEnd/>
          </a:ln>
        </p:spPr>
      </p:pic>
      <p:sp>
        <p:nvSpPr>
          <p:cNvPr id="26" name="Oval 25"/>
          <p:cNvSpPr/>
          <p:nvPr/>
        </p:nvSpPr>
        <p:spPr>
          <a:xfrm>
            <a:off x="3886200" y="34290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7" name="Rectangle 26"/>
          <p:cNvSpPr/>
          <p:nvPr/>
        </p:nvSpPr>
        <p:spPr>
          <a:xfrm>
            <a:off x="6400800" y="3276600"/>
            <a:ext cx="1219200" cy="381000"/>
          </a:xfrm>
          <a:prstGeom prst="rect">
            <a:avLst/>
          </a:prstGeom>
          <a:solidFill>
            <a:schemeClr val="tx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28" name="Picture 3" descr="\\.host\Shared Folders\Shared with PC\images\Pacman_stuck_minimax.png"/>
          <p:cNvPicPr>
            <a:picLocks noChangeAspect="1" noChangeArrowheads="1"/>
          </p:cNvPicPr>
          <p:nvPr/>
        </p:nvPicPr>
        <p:blipFill>
          <a:blip r:embed="rId3" cstate="print"/>
          <a:srcRect l="38135" t="16438" r="44067" b="58904"/>
          <a:stretch>
            <a:fillRect/>
          </a:stretch>
        </p:blipFill>
        <p:spPr bwMode="auto">
          <a:xfrm>
            <a:off x="6705600" y="3341688"/>
            <a:ext cx="304800" cy="261937"/>
          </a:xfrm>
          <a:prstGeom prst="rect">
            <a:avLst/>
          </a:prstGeom>
          <a:noFill/>
          <a:ln w="9525">
            <a:noFill/>
            <a:miter lim="800000"/>
            <a:headEnd/>
            <a:tailEnd/>
          </a:ln>
        </p:spPr>
      </p:pic>
      <p:sp>
        <p:nvSpPr>
          <p:cNvPr id="29" name="Oval 28"/>
          <p:cNvSpPr/>
          <p:nvPr/>
        </p:nvSpPr>
        <p:spPr>
          <a:xfrm>
            <a:off x="6553200" y="34290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0" name="Oval 29"/>
          <p:cNvSpPr/>
          <p:nvPr/>
        </p:nvSpPr>
        <p:spPr>
          <a:xfrm>
            <a:off x="7391400" y="34290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1" name="Rectangle 30"/>
          <p:cNvSpPr/>
          <p:nvPr/>
        </p:nvSpPr>
        <p:spPr>
          <a:xfrm>
            <a:off x="8610600" y="3276600"/>
            <a:ext cx="1219200" cy="381000"/>
          </a:xfrm>
          <a:prstGeom prst="rect">
            <a:avLst/>
          </a:prstGeom>
          <a:solidFill>
            <a:schemeClr val="tx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32" name="Picture 3" descr="\\.host\Shared Folders\Shared with PC\images\Pacman_stuck_minimax.png"/>
          <p:cNvPicPr>
            <a:picLocks noChangeAspect="1" noChangeArrowheads="1"/>
          </p:cNvPicPr>
          <p:nvPr/>
        </p:nvPicPr>
        <p:blipFill>
          <a:blip r:embed="rId3" cstate="print"/>
          <a:srcRect l="38135" t="16438" r="44067" b="58904"/>
          <a:stretch>
            <a:fillRect/>
          </a:stretch>
        </p:blipFill>
        <p:spPr bwMode="auto">
          <a:xfrm>
            <a:off x="9448800" y="3341688"/>
            <a:ext cx="304800" cy="261937"/>
          </a:xfrm>
          <a:prstGeom prst="rect">
            <a:avLst/>
          </a:prstGeom>
          <a:noFill/>
          <a:ln w="9525">
            <a:noFill/>
            <a:miter lim="800000"/>
            <a:headEnd/>
            <a:tailEnd/>
          </a:ln>
        </p:spPr>
      </p:pic>
      <p:sp>
        <p:nvSpPr>
          <p:cNvPr id="33" name="Oval 32"/>
          <p:cNvSpPr/>
          <p:nvPr/>
        </p:nvSpPr>
        <p:spPr>
          <a:xfrm>
            <a:off x="8763000" y="3429000"/>
            <a:ext cx="76200" cy="76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36" name="Straight Connector 35"/>
          <p:cNvCxnSpPr/>
          <p:nvPr/>
        </p:nvCxnSpPr>
        <p:spPr>
          <a:xfrm rot="10800000" flipV="1">
            <a:off x="3505200" y="1905000"/>
            <a:ext cx="2362200" cy="381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5867400" y="1905000"/>
            <a:ext cx="2286000" cy="381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rot="5400000">
            <a:off x="3314700" y="3009900"/>
            <a:ext cx="381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rot="10800000" flipV="1">
            <a:off x="7010400" y="2819400"/>
            <a:ext cx="1066800" cy="381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8077200" y="2819400"/>
            <a:ext cx="1219200" cy="381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6" grpId="0" animBg="1"/>
      <p:bldP spid="20" grpId="0" animBg="1"/>
      <p:bldP spid="22" grpId="0" animBg="1"/>
      <p:bldP spid="23" grpId="0" animBg="1"/>
      <p:bldP spid="24" grpId="0" animBg="1"/>
      <p:bldP spid="26" grpId="0" animBg="1"/>
      <p:bldP spid="27" grpId="0" animBg="1"/>
      <p:bldP spid="29" grpId="0" animBg="1"/>
      <p:bldP spid="30" grpId="0" animBg="1"/>
      <p:bldP spid="31" grpId="0" animBg="1"/>
      <p:bldP spid="33" grpId="0" animBg="1"/>
    </p:bld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6083"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743200" y="1314643"/>
            <a:ext cx="6729412" cy="5035161"/>
          </a:xfrm>
          <a:prstGeom prst="rect">
            <a:avLst/>
          </a:prstGeom>
          <a:noFill/>
          <a:extLst>
            <a:ext uri="{909E8E84-426E-40dd-AFC4-6F175D3DCCD1}">
              <a14:hiddenFill xmlns=""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vi-VN" noProof="1"/>
              <a:t>Hàm ước lượng giá trị</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noProof="1"/>
              <a:t>Hàm giá trị cho</a:t>
            </a:r>
            <a:r>
              <a:rPr lang="vi-VN" noProof="1"/>
              <a:t> Tic-Tac-Toe</a:t>
            </a:r>
          </a:p>
        </p:txBody>
      </p:sp>
      <p:pic>
        <p:nvPicPr>
          <p:cNvPr id="15363" name="Picture 3"/>
          <p:cNvPicPr>
            <a:picLocks noChangeAspect="1" noChangeArrowheads="1"/>
          </p:cNvPicPr>
          <p:nvPr/>
        </p:nvPicPr>
        <p:blipFill>
          <a:blip r:embed="rId3" cstate="print"/>
          <a:srcRect/>
          <a:stretch>
            <a:fillRect/>
          </a:stretch>
        </p:blipFill>
        <p:spPr bwMode="auto">
          <a:xfrm>
            <a:off x="2305050" y="1295400"/>
            <a:ext cx="7296150" cy="5283200"/>
          </a:xfrm>
          <a:prstGeom prst="rect">
            <a:avLst/>
          </a:prstGeom>
          <a:noFill/>
          <a:ln w="9525">
            <a:noFill/>
            <a:miter lim="800000"/>
            <a:headEnd/>
            <a:tailEnd/>
          </a:ln>
        </p:spPr>
      </p:pic>
      <p:pic>
        <p:nvPicPr>
          <p:cNvPr id="25603" name="Picture 3"/>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220265" y="1066800"/>
            <a:ext cx="1045620" cy="1033462"/>
          </a:xfrm>
          <a:prstGeom prst="rect">
            <a:avLst/>
          </a:prstGeom>
          <a:noFill/>
        </p:spPr>
      </p:pic>
      <p:pic>
        <p:nvPicPr>
          <p:cNvPr id="8" name="Picture 3"/>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1338066" y="1981884"/>
            <a:ext cx="928884" cy="1032093"/>
          </a:xfrm>
          <a:prstGeom prst="rect">
            <a:avLst/>
          </a:prstGeom>
          <a:noFill/>
        </p:spPr>
      </p:pic>
      <p:pic>
        <p:nvPicPr>
          <p:cNvPr id="12" name="Picture 3"/>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220265" y="2895600"/>
            <a:ext cx="1045620" cy="1033462"/>
          </a:xfrm>
          <a:prstGeom prst="rect">
            <a:avLst/>
          </a:prstGeom>
          <a:noFill/>
        </p:spPr>
      </p:pic>
      <p:pic>
        <p:nvPicPr>
          <p:cNvPr id="13" name="Picture 3"/>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1338066" y="3810684"/>
            <a:ext cx="928884" cy="1032093"/>
          </a:xfrm>
          <a:prstGeom prst="rect">
            <a:avLst/>
          </a:prstGeom>
          <a:noFill/>
        </p:spPr>
      </p:pic>
      <p:pic>
        <p:nvPicPr>
          <p:cNvPr id="53251" name="Picture 3"/>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6515100" y="3733970"/>
            <a:ext cx="4419600" cy="2165493"/>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3775869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vi-VN" noProof="1"/>
              <a:t>Hàm ước lượng giá trị</a:t>
            </a:r>
          </a:p>
        </p:txBody>
      </p:sp>
      <p:sp>
        <p:nvSpPr>
          <p:cNvPr id="19459" name="Rectangle 3"/>
          <p:cNvSpPr>
            <a:spLocks noGrp="1" noChangeArrowheads="1"/>
          </p:cNvSpPr>
          <p:nvPr>
            <p:ph idx="1"/>
          </p:nvPr>
        </p:nvSpPr>
        <p:spPr>
          <a:xfrm>
            <a:off x="1676400" y="1295400"/>
            <a:ext cx="11506200" cy="4953000"/>
          </a:xfrm>
        </p:spPr>
        <p:txBody>
          <a:bodyPr/>
          <a:lstStyle/>
          <a:p>
            <a:pPr eaLnBrk="1" hangingPunct="1">
              <a:lnSpc>
                <a:spcPct val="80000"/>
              </a:lnSpc>
            </a:pPr>
            <a:r>
              <a:rPr lang="vi-VN" sz="2400" noProof="1"/>
              <a:t>Hàm ước lượng giá trị của trạng thái (không kết thúc)</a:t>
            </a:r>
          </a:p>
          <a:p>
            <a:pPr eaLnBrk="1" hangingPunct="1">
              <a:lnSpc>
                <a:spcPct val="80000"/>
              </a:lnSpc>
            </a:pPr>
            <a:endParaRPr lang="vi-VN" sz="2400" noProof="1"/>
          </a:p>
          <a:p>
            <a:pPr eaLnBrk="1" hangingPunct="1">
              <a:lnSpc>
                <a:spcPct val="80000"/>
              </a:lnSpc>
            </a:pPr>
            <a:endParaRPr lang="vi-VN" sz="2400" noProof="1"/>
          </a:p>
          <a:p>
            <a:pPr eaLnBrk="1" hangingPunct="1">
              <a:lnSpc>
                <a:spcPct val="80000"/>
              </a:lnSpc>
            </a:pPr>
            <a:endParaRPr lang="vi-VN" sz="2400" noProof="1"/>
          </a:p>
          <a:p>
            <a:pPr eaLnBrk="1" hangingPunct="1">
              <a:lnSpc>
                <a:spcPct val="80000"/>
              </a:lnSpc>
            </a:pPr>
            <a:endParaRPr lang="vi-VN" sz="2400" noProof="1"/>
          </a:p>
          <a:p>
            <a:pPr eaLnBrk="1" hangingPunct="1">
              <a:lnSpc>
                <a:spcPct val="80000"/>
              </a:lnSpc>
            </a:pPr>
            <a:endParaRPr lang="vi-VN" sz="2400" noProof="1"/>
          </a:p>
          <a:p>
            <a:pPr eaLnBrk="1" hangingPunct="1">
              <a:lnSpc>
                <a:spcPct val="80000"/>
              </a:lnSpc>
            </a:pPr>
            <a:endParaRPr lang="vi-VN" sz="2400" noProof="1"/>
          </a:p>
          <a:p>
            <a:pPr eaLnBrk="1" hangingPunct="1">
              <a:lnSpc>
                <a:spcPct val="80000"/>
              </a:lnSpc>
            </a:pPr>
            <a:endParaRPr lang="vi-VN" sz="2400" noProof="1"/>
          </a:p>
          <a:p>
            <a:pPr eaLnBrk="1" hangingPunct="1">
              <a:lnSpc>
                <a:spcPct val="80000"/>
              </a:lnSpc>
            </a:pPr>
            <a:endParaRPr lang="vi-VN" sz="2400" noProof="1"/>
          </a:p>
          <a:p>
            <a:pPr eaLnBrk="1" hangingPunct="1">
              <a:lnSpc>
                <a:spcPct val="80000"/>
              </a:lnSpc>
            </a:pPr>
            <a:r>
              <a:rPr lang="vi-VN" sz="2400" noProof="1"/>
              <a:t>Ước lượng lý tưởng = giá trị minimax</a:t>
            </a:r>
          </a:p>
          <a:p>
            <a:pPr eaLnBrk="1" hangingPunct="1">
              <a:lnSpc>
                <a:spcPct val="80000"/>
              </a:lnSpc>
            </a:pPr>
            <a:r>
              <a:rPr lang="vi-VN" sz="2400" noProof="1"/>
              <a:t>Thực tế = tổng có trọng số của các đặc trưng</a:t>
            </a:r>
          </a:p>
          <a:p>
            <a:pPr eaLnBrk="1" hangingPunct="1">
              <a:lnSpc>
                <a:spcPct val="80000"/>
              </a:lnSpc>
            </a:pPr>
            <a:endParaRPr lang="vi-VN" sz="2400" noProof="1"/>
          </a:p>
          <a:p>
            <a:pPr eaLnBrk="1" hangingPunct="1">
              <a:lnSpc>
                <a:spcPct val="80000"/>
              </a:lnSpc>
            </a:pPr>
            <a:endParaRPr lang="vi-VN" sz="2400" noProof="1"/>
          </a:p>
          <a:p>
            <a:pPr eaLnBrk="1" hangingPunct="1">
              <a:lnSpc>
                <a:spcPct val="80000"/>
              </a:lnSpc>
            </a:pPr>
            <a:r>
              <a:rPr lang="vi-VN" sz="2400" noProof="1"/>
              <a:t>Ví dụ: </a:t>
            </a:r>
            <a:r>
              <a:rPr lang="vi-VN" sz="2400" i="1" noProof="1">
                <a:solidFill>
                  <a:srgbClr val="CC0000"/>
                </a:solidFill>
                <a:latin typeface="Times New Roman" pitchFamily="18" charset="0"/>
                <a:cs typeface="Times New Roman" pitchFamily="18" charset="0"/>
              </a:rPr>
              <a:t>f</a:t>
            </a:r>
            <a:r>
              <a:rPr lang="vi-VN" sz="2400" baseline="-25000" noProof="1">
                <a:solidFill>
                  <a:srgbClr val="CC0000"/>
                </a:solidFill>
              </a:rPr>
              <a:t>1</a:t>
            </a:r>
            <a:r>
              <a:rPr lang="vi-VN" sz="2400" noProof="1">
                <a:solidFill>
                  <a:srgbClr val="CC0000"/>
                </a:solidFill>
              </a:rPr>
              <a:t>(</a:t>
            </a:r>
            <a:r>
              <a:rPr lang="vi-VN" sz="2400" i="1" noProof="1">
                <a:solidFill>
                  <a:srgbClr val="CC0000"/>
                </a:solidFill>
                <a:latin typeface="Times New Roman" pitchFamily="18" charset="0"/>
                <a:cs typeface="Times New Roman" pitchFamily="18" charset="0"/>
              </a:rPr>
              <a:t>s</a:t>
            </a:r>
            <a:r>
              <a:rPr lang="vi-VN" sz="2400" noProof="1">
                <a:solidFill>
                  <a:srgbClr val="CC0000"/>
                </a:solidFill>
              </a:rPr>
              <a:t>) = (Số hậu trắng – số hậu đen)</a:t>
            </a:r>
            <a:r>
              <a:rPr lang="vi-VN" sz="2400" noProof="1"/>
              <a:t>, v.v…</a:t>
            </a:r>
          </a:p>
        </p:txBody>
      </p:sp>
      <p:pic>
        <p:nvPicPr>
          <p:cNvPr id="19460" name="Picture 22"/>
          <p:cNvPicPr>
            <a:picLocks noChangeAspect="1" noChangeArrowheads="1"/>
          </p:cNvPicPr>
          <p:nvPr/>
        </p:nvPicPr>
        <p:blipFill>
          <a:blip r:embed="rId4" cstate="print"/>
          <a:srcRect/>
          <a:stretch>
            <a:fillRect/>
          </a:stretch>
        </p:blipFill>
        <p:spPr bwMode="auto">
          <a:xfrm>
            <a:off x="2286000" y="1828800"/>
            <a:ext cx="2184400" cy="2449513"/>
          </a:xfrm>
          <a:prstGeom prst="rect">
            <a:avLst/>
          </a:prstGeom>
          <a:noFill/>
          <a:ln w="9525">
            <a:noFill/>
            <a:miter lim="800000"/>
            <a:headEnd/>
            <a:tailEnd/>
          </a:ln>
        </p:spPr>
      </p:pic>
      <p:pic>
        <p:nvPicPr>
          <p:cNvPr id="19461" name="Picture 23"/>
          <p:cNvPicPr>
            <a:picLocks noChangeAspect="1" noChangeArrowheads="1"/>
          </p:cNvPicPr>
          <p:nvPr/>
        </p:nvPicPr>
        <p:blipFill>
          <a:blip r:embed="rId5" cstate="print"/>
          <a:srcRect/>
          <a:stretch>
            <a:fillRect/>
          </a:stretch>
        </p:blipFill>
        <p:spPr bwMode="auto">
          <a:xfrm>
            <a:off x="7877175" y="1828800"/>
            <a:ext cx="2257425" cy="2460625"/>
          </a:xfrm>
          <a:prstGeom prst="rect">
            <a:avLst/>
          </a:prstGeom>
          <a:noFill/>
          <a:ln w="9525">
            <a:noFill/>
            <a:miter lim="800000"/>
            <a:headEnd/>
            <a:tailEnd/>
          </a:ln>
        </p:spPr>
      </p:pic>
      <p:pic>
        <p:nvPicPr>
          <p:cNvPr id="19462" name="Picture 26" descr="txp_fig"/>
          <p:cNvPicPr>
            <a:picLocks noChangeAspect="1" noChangeArrowheads="1"/>
          </p:cNvPicPr>
          <p:nvPr>
            <p:custDataLst>
              <p:tags r:id="rId1"/>
            </p:custDataLst>
          </p:nvPr>
        </p:nvPicPr>
        <p:blipFill>
          <a:blip r:embed="rId6" cstate="print"/>
          <a:srcRect/>
          <a:stretch>
            <a:fillRect/>
          </a:stretch>
        </p:blipFill>
        <p:spPr bwMode="auto">
          <a:xfrm>
            <a:off x="2209800" y="5486400"/>
            <a:ext cx="7416800" cy="334963"/>
          </a:xfrm>
          <a:prstGeom prst="rect">
            <a:avLst/>
          </a:prstGeom>
          <a:noFill/>
          <a:ln w="9525">
            <a:noFill/>
            <a:miter lim="800000"/>
            <a:headEnd/>
            <a:tailEnd/>
          </a:ln>
        </p:spPr>
      </p:pic>
      <p:sp>
        <p:nvSpPr>
          <p:cNvPr id="19463" name="AutoShape 27"/>
          <p:cNvSpPr>
            <a:spLocks noChangeArrowheads="1"/>
          </p:cNvSpPr>
          <p:nvPr/>
        </p:nvSpPr>
        <p:spPr bwMode="auto">
          <a:xfrm>
            <a:off x="5967413" y="2349500"/>
            <a:ext cx="166687" cy="168275"/>
          </a:xfrm>
          <a:prstGeom prst="triangle">
            <a:avLst>
              <a:gd name="adj" fmla="val 50000"/>
            </a:avLst>
          </a:prstGeom>
          <a:solidFill>
            <a:srgbClr val="CCECFF"/>
          </a:solidFill>
          <a:ln w="9525">
            <a:solidFill>
              <a:schemeClr val="tx1"/>
            </a:solidFill>
            <a:miter lim="800000"/>
            <a:headEnd/>
            <a:tailEnd/>
          </a:ln>
        </p:spPr>
        <p:txBody>
          <a:bodyPr wrap="none" anchor="ctr"/>
          <a:lstStyle/>
          <a:p>
            <a:endParaRPr lang="en-US"/>
          </a:p>
        </p:txBody>
      </p:sp>
      <p:sp>
        <p:nvSpPr>
          <p:cNvPr id="19464" name="AutoShape 28"/>
          <p:cNvSpPr>
            <a:spLocks noChangeArrowheads="1"/>
          </p:cNvSpPr>
          <p:nvPr/>
        </p:nvSpPr>
        <p:spPr bwMode="auto">
          <a:xfrm rot="10800000">
            <a:off x="5380038" y="2743200"/>
            <a:ext cx="168275" cy="168275"/>
          </a:xfrm>
          <a:prstGeom prst="triangle">
            <a:avLst>
              <a:gd name="adj" fmla="val 50000"/>
            </a:avLst>
          </a:prstGeom>
          <a:solidFill>
            <a:srgbClr val="FF9999"/>
          </a:solidFill>
          <a:ln w="9525">
            <a:solidFill>
              <a:schemeClr val="tx1"/>
            </a:solidFill>
            <a:miter lim="800000"/>
            <a:headEnd/>
            <a:tailEnd/>
          </a:ln>
        </p:spPr>
        <p:txBody>
          <a:bodyPr wrap="none" anchor="ctr"/>
          <a:lstStyle/>
          <a:p>
            <a:endParaRPr lang="en-US"/>
          </a:p>
        </p:txBody>
      </p:sp>
      <p:sp>
        <p:nvSpPr>
          <p:cNvPr id="19465" name="AutoShape 29"/>
          <p:cNvSpPr>
            <a:spLocks noChangeArrowheads="1"/>
          </p:cNvSpPr>
          <p:nvPr/>
        </p:nvSpPr>
        <p:spPr bwMode="auto">
          <a:xfrm rot="10800000">
            <a:off x="6469063" y="2743200"/>
            <a:ext cx="168275" cy="168275"/>
          </a:xfrm>
          <a:prstGeom prst="triangle">
            <a:avLst>
              <a:gd name="adj" fmla="val 50000"/>
            </a:avLst>
          </a:prstGeom>
          <a:solidFill>
            <a:srgbClr val="FF9999"/>
          </a:solidFill>
          <a:ln w="9525">
            <a:solidFill>
              <a:schemeClr val="tx1"/>
            </a:solidFill>
            <a:miter lim="800000"/>
            <a:headEnd/>
            <a:tailEnd/>
          </a:ln>
        </p:spPr>
        <p:txBody>
          <a:bodyPr wrap="none" anchor="ctr"/>
          <a:lstStyle/>
          <a:p>
            <a:endParaRPr lang="en-US"/>
          </a:p>
        </p:txBody>
      </p:sp>
      <p:sp>
        <p:nvSpPr>
          <p:cNvPr id="19466" name="AutoShape 30"/>
          <p:cNvSpPr>
            <a:spLocks noChangeArrowheads="1"/>
          </p:cNvSpPr>
          <p:nvPr/>
        </p:nvSpPr>
        <p:spPr bwMode="auto">
          <a:xfrm>
            <a:off x="5089525" y="3032125"/>
            <a:ext cx="168275" cy="168275"/>
          </a:xfrm>
          <a:prstGeom prst="triangle">
            <a:avLst>
              <a:gd name="adj" fmla="val 50000"/>
            </a:avLst>
          </a:prstGeom>
          <a:solidFill>
            <a:srgbClr val="CCECFF"/>
          </a:solidFill>
          <a:ln w="9525">
            <a:solidFill>
              <a:schemeClr val="tx1"/>
            </a:solidFill>
            <a:miter lim="800000"/>
            <a:headEnd/>
            <a:tailEnd/>
          </a:ln>
        </p:spPr>
        <p:txBody>
          <a:bodyPr wrap="none" anchor="ctr"/>
          <a:lstStyle/>
          <a:p>
            <a:endParaRPr lang="en-US"/>
          </a:p>
        </p:txBody>
      </p:sp>
      <p:sp>
        <p:nvSpPr>
          <p:cNvPr id="19467" name="AutoShape 31"/>
          <p:cNvSpPr>
            <a:spLocks noChangeArrowheads="1"/>
          </p:cNvSpPr>
          <p:nvPr/>
        </p:nvSpPr>
        <p:spPr bwMode="auto">
          <a:xfrm>
            <a:off x="5699125" y="3032125"/>
            <a:ext cx="168275" cy="168275"/>
          </a:xfrm>
          <a:prstGeom prst="triangle">
            <a:avLst>
              <a:gd name="adj" fmla="val 50000"/>
            </a:avLst>
          </a:prstGeom>
          <a:solidFill>
            <a:srgbClr val="CCECFF"/>
          </a:solidFill>
          <a:ln w="9525">
            <a:solidFill>
              <a:schemeClr val="tx1"/>
            </a:solidFill>
            <a:miter lim="800000"/>
            <a:headEnd/>
            <a:tailEnd/>
          </a:ln>
        </p:spPr>
        <p:txBody>
          <a:bodyPr wrap="none" anchor="ctr"/>
          <a:lstStyle/>
          <a:p>
            <a:endParaRPr lang="en-US"/>
          </a:p>
        </p:txBody>
      </p:sp>
      <p:sp>
        <p:nvSpPr>
          <p:cNvPr id="19468" name="AutoShape 32"/>
          <p:cNvSpPr>
            <a:spLocks noChangeArrowheads="1"/>
          </p:cNvSpPr>
          <p:nvPr/>
        </p:nvSpPr>
        <p:spPr bwMode="auto">
          <a:xfrm>
            <a:off x="6156325" y="3032125"/>
            <a:ext cx="168275" cy="168275"/>
          </a:xfrm>
          <a:prstGeom prst="triangle">
            <a:avLst>
              <a:gd name="adj" fmla="val 50000"/>
            </a:avLst>
          </a:prstGeom>
          <a:solidFill>
            <a:srgbClr val="CCECFF"/>
          </a:solidFill>
          <a:ln w="9525">
            <a:solidFill>
              <a:schemeClr val="tx1"/>
            </a:solidFill>
            <a:miter lim="800000"/>
            <a:headEnd/>
            <a:tailEnd/>
          </a:ln>
        </p:spPr>
        <p:txBody>
          <a:bodyPr wrap="none" anchor="ctr"/>
          <a:lstStyle/>
          <a:p>
            <a:endParaRPr lang="en-US"/>
          </a:p>
        </p:txBody>
      </p:sp>
      <p:sp>
        <p:nvSpPr>
          <p:cNvPr id="19469" name="AutoShape 33"/>
          <p:cNvSpPr>
            <a:spLocks noChangeArrowheads="1"/>
          </p:cNvSpPr>
          <p:nvPr/>
        </p:nvSpPr>
        <p:spPr bwMode="auto">
          <a:xfrm>
            <a:off x="6805613" y="3032125"/>
            <a:ext cx="168275" cy="168275"/>
          </a:xfrm>
          <a:prstGeom prst="triangle">
            <a:avLst>
              <a:gd name="adj" fmla="val 50000"/>
            </a:avLst>
          </a:prstGeom>
          <a:solidFill>
            <a:srgbClr val="CCECFF"/>
          </a:solidFill>
          <a:ln w="9525">
            <a:solidFill>
              <a:schemeClr val="tx1"/>
            </a:solidFill>
            <a:miter lim="800000"/>
            <a:headEnd/>
            <a:tailEnd/>
          </a:ln>
        </p:spPr>
        <p:txBody>
          <a:bodyPr wrap="none" anchor="ctr"/>
          <a:lstStyle/>
          <a:p>
            <a:endParaRPr lang="en-US"/>
          </a:p>
        </p:txBody>
      </p:sp>
      <p:cxnSp>
        <p:nvCxnSpPr>
          <p:cNvPr id="19470" name="AutoShape 34"/>
          <p:cNvCxnSpPr>
            <a:cxnSpLocks noChangeShapeType="1"/>
            <a:stCxn id="19463" idx="3"/>
            <a:endCxn id="19464" idx="3"/>
          </p:cNvCxnSpPr>
          <p:nvPr/>
        </p:nvCxnSpPr>
        <p:spPr bwMode="auto">
          <a:xfrm flipH="1">
            <a:off x="5462588" y="2517775"/>
            <a:ext cx="588962" cy="223838"/>
          </a:xfrm>
          <a:prstGeom prst="straightConnector1">
            <a:avLst/>
          </a:prstGeom>
          <a:noFill/>
          <a:ln w="9525">
            <a:solidFill>
              <a:schemeClr val="tx1"/>
            </a:solidFill>
            <a:round/>
            <a:headEnd/>
            <a:tailEnd/>
          </a:ln>
        </p:spPr>
      </p:cxnSp>
      <p:cxnSp>
        <p:nvCxnSpPr>
          <p:cNvPr id="19471" name="AutoShape 35"/>
          <p:cNvCxnSpPr>
            <a:cxnSpLocks noChangeShapeType="1"/>
            <a:stCxn id="19463" idx="3"/>
            <a:endCxn id="19465" idx="3"/>
          </p:cNvCxnSpPr>
          <p:nvPr/>
        </p:nvCxnSpPr>
        <p:spPr bwMode="auto">
          <a:xfrm>
            <a:off x="6051550" y="2517775"/>
            <a:ext cx="500063" cy="223838"/>
          </a:xfrm>
          <a:prstGeom prst="straightConnector1">
            <a:avLst/>
          </a:prstGeom>
          <a:noFill/>
          <a:ln w="9525">
            <a:solidFill>
              <a:schemeClr val="tx1"/>
            </a:solidFill>
            <a:round/>
            <a:headEnd/>
            <a:tailEnd/>
          </a:ln>
        </p:spPr>
      </p:cxnSp>
      <p:cxnSp>
        <p:nvCxnSpPr>
          <p:cNvPr id="19472" name="AutoShape 36"/>
          <p:cNvCxnSpPr>
            <a:cxnSpLocks noChangeShapeType="1"/>
            <a:stCxn id="19464" idx="0"/>
            <a:endCxn id="19466" idx="0"/>
          </p:cNvCxnSpPr>
          <p:nvPr/>
        </p:nvCxnSpPr>
        <p:spPr bwMode="auto">
          <a:xfrm flipH="1">
            <a:off x="5173663" y="2909888"/>
            <a:ext cx="290512" cy="122237"/>
          </a:xfrm>
          <a:prstGeom prst="straightConnector1">
            <a:avLst/>
          </a:prstGeom>
          <a:noFill/>
          <a:ln w="9525">
            <a:solidFill>
              <a:schemeClr val="tx1"/>
            </a:solidFill>
            <a:round/>
            <a:headEnd/>
            <a:tailEnd/>
          </a:ln>
        </p:spPr>
      </p:cxnSp>
      <p:cxnSp>
        <p:nvCxnSpPr>
          <p:cNvPr id="19473" name="AutoShape 37"/>
          <p:cNvCxnSpPr>
            <a:cxnSpLocks noChangeShapeType="1"/>
            <a:stCxn id="19464" idx="0"/>
            <a:endCxn id="19467" idx="0"/>
          </p:cNvCxnSpPr>
          <p:nvPr/>
        </p:nvCxnSpPr>
        <p:spPr bwMode="auto">
          <a:xfrm>
            <a:off x="5464175" y="2909888"/>
            <a:ext cx="319088" cy="122237"/>
          </a:xfrm>
          <a:prstGeom prst="straightConnector1">
            <a:avLst/>
          </a:prstGeom>
          <a:noFill/>
          <a:ln w="9525">
            <a:solidFill>
              <a:schemeClr val="tx1"/>
            </a:solidFill>
            <a:round/>
            <a:headEnd/>
            <a:tailEnd/>
          </a:ln>
        </p:spPr>
      </p:cxnSp>
      <p:cxnSp>
        <p:nvCxnSpPr>
          <p:cNvPr id="19474" name="AutoShape 38"/>
          <p:cNvCxnSpPr>
            <a:cxnSpLocks noChangeShapeType="1"/>
            <a:stCxn id="19465" idx="0"/>
            <a:endCxn id="19468" idx="0"/>
          </p:cNvCxnSpPr>
          <p:nvPr/>
        </p:nvCxnSpPr>
        <p:spPr bwMode="auto">
          <a:xfrm flipH="1">
            <a:off x="6240463" y="2909888"/>
            <a:ext cx="312737" cy="122237"/>
          </a:xfrm>
          <a:prstGeom prst="straightConnector1">
            <a:avLst/>
          </a:prstGeom>
          <a:noFill/>
          <a:ln w="9525">
            <a:solidFill>
              <a:schemeClr val="tx1"/>
            </a:solidFill>
            <a:round/>
            <a:headEnd/>
            <a:tailEnd/>
          </a:ln>
        </p:spPr>
      </p:cxnSp>
      <p:cxnSp>
        <p:nvCxnSpPr>
          <p:cNvPr id="19475" name="AutoShape 39"/>
          <p:cNvCxnSpPr>
            <a:cxnSpLocks noChangeShapeType="1"/>
            <a:stCxn id="19465" idx="0"/>
            <a:endCxn id="19469" idx="0"/>
          </p:cNvCxnSpPr>
          <p:nvPr/>
        </p:nvCxnSpPr>
        <p:spPr bwMode="auto">
          <a:xfrm>
            <a:off x="6553200" y="2909888"/>
            <a:ext cx="336550" cy="122237"/>
          </a:xfrm>
          <a:prstGeom prst="straightConnector1">
            <a:avLst/>
          </a:prstGeom>
          <a:noFill/>
          <a:ln w="9525">
            <a:solidFill>
              <a:schemeClr val="tx1"/>
            </a:solidFill>
            <a:round/>
            <a:headEnd/>
            <a:tailEnd/>
          </a:ln>
        </p:spPr>
      </p:cxnSp>
      <p:sp>
        <p:nvSpPr>
          <p:cNvPr id="19476" name="AutoShape 40"/>
          <p:cNvSpPr>
            <a:spLocks noChangeArrowheads="1"/>
          </p:cNvSpPr>
          <p:nvPr/>
        </p:nvSpPr>
        <p:spPr bwMode="auto">
          <a:xfrm>
            <a:off x="6629400" y="3690938"/>
            <a:ext cx="609600" cy="271462"/>
          </a:xfrm>
          <a:prstGeom prst="triangle">
            <a:avLst>
              <a:gd name="adj" fmla="val 50000"/>
            </a:avLst>
          </a:prstGeom>
          <a:solidFill>
            <a:schemeClr val="bg1"/>
          </a:solidFill>
          <a:ln w="9525">
            <a:solidFill>
              <a:schemeClr val="tx1"/>
            </a:solidFill>
            <a:prstDash val="dash"/>
            <a:miter lim="800000"/>
            <a:headEnd/>
            <a:tailEnd/>
          </a:ln>
        </p:spPr>
        <p:txBody>
          <a:bodyPr wrap="none" anchor="ctr"/>
          <a:lstStyle/>
          <a:p>
            <a:endParaRPr lang="en-US"/>
          </a:p>
        </p:txBody>
      </p:sp>
      <p:cxnSp>
        <p:nvCxnSpPr>
          <p:cNvPr id="19477" name="AutoShape 41"/>
          <p:cNvCxnSpPr>
            <a:cxnSpLocks noChangeShapeType="1"/>
            <a:endCxn id="19463" idx="1"/>
          </p:cNvCxnSpPr>
          <p:nvPr/>
        </p:nvCxnSpPr>
        <p:spPr bwMode="auto">
          <a:xfrm flipV="1">
            <a:off x="4470400" y="2433638"/>
            <a:ext cx="1538288" cy="620712"/>
          </a:xfrm>
          <a:prstGeom prst="curvedConnector3">
            <a:avLst>
              <a:gd name="adj1" fmla="val 48606"/>
            </a:avLst>
          </a:prstGeom>
          <a:noFill/>
          <a:ln w="9525">
            <a:solidFill>
              <a:schemeClr val="tx1"/>
            </a:solidFill>
            <a:prstDash val="dash"/>
            <a:round/>
            <a:headEnd/>
            <a:tailEnd type="triangle" w="med" len="med"/>
          </a:ln>
        </p:spPr>
      </p:cxnSp>
      <p:cxnSp>
        <p:nvCxnSpPr>
          <p:cNvPr id="19478" name="AutoShape 42"/>
          <p:cNvCxnSpPr>
            <a:cxnSpLocks noChangeShapeType="1"/>
            <a:endCxn id="19482" idx="1"/>
          </p:cNvCxnSpPr>
          <p:nvPr/>
        </p:nvCxnSpPr>
        <p:spPr bwMode="auto">
          <a:xfrm flipH="1">
            <a:off x="7010400" y="3059113"/>
            <a:ext cx="866775" cy="530225"/>
          </a:xfrm>
          <a:prstGeom prst="straightConnector1">
            <a:avLst/>
          </a:prstGeom>
          <a:noFill/>
          <a:ln w="9525">
            <a:solidFill>
              <a:schemeClr val="tx1"/>
            </a:solidFill>
            <a:prstDash val="dash"/>
            <a:round/>
            <a:headEnd/>
            <a:tailEnd type="triangle" w="med" len="med"/>
          </a:ln>
        </p:spPr>
      </p:cxnSp>
      <p:sp>
        <p:nvSpPr>
          <p:cNvPr id="19479" name="Rectangle 43"/>
          <p:cNvSpPr>
            <a:spLocks noChangeArrowheads="1"/>
          </p:cNvSpPr>
          <p:nvPr/>
        </p:nvSpPr>
        <p:spPr bwMode="auto">
          <a:xfrm rot="10800000">
            <a:off x="6156325" y="3489325"/>
            <a:ext cx="168275" cy="168275"/>
          </a:xfrm>
          <a:prstGeom prst="rect">
            <a:avLst/>
          </a:prstGeom>
          <a:solidFill>
            <a:srgbClr val="FF9999"/>
          </a:solidFill>
          <a:ln w="9525">
            <a:solidFill>
              <a:schemeClr val="tx1"/>
            </a:solidFill>
            <a:miter lim="800000"/>
            <a:headEnd/>
            <a:tailEnd/>
          </a:ln>
        </p:spPr>
        <p:txBody>
          <a:bodyPr wrap="none" anchor="ctr"/>
          <a:lstStyle/>
          <a:p>
            <a:endParaRPr lang="en-US"/>
          </a:p>
        </p:txBody>
      </p:sp>
      <p:cxnSp>
        <p:nvCxnSpPr>
          <p:cNvPr id="19480" name="AutoShape 44"/>
          <p:cNvCxnSpPr>
            <a:cxnSpLocks noChangeShapeType="1"/>
            <a:stCxn id="19468" idx="3"/>
            <a:endCxn id="19479" idx="2"/>
          </p:cNvCxnSpPr>
          <p:nvPr/>
        </p:nvCxnSpPr>
        <p:spPr bwMode="auto">
          <a:xfrm flipH="1">
            <a:off x="6238875" y="3200400"/>
            <a:ext cx="1588" cy="287338"/>
          </a:xfrm>
          <a:prstGeom prst="straightConnector1">
            <a:avLst/>
          </a:prstGeom>
          <a:noFill/>
          <a:ln w="9525">
            <a:solidFill>
              <a:schemeClr val="tx1"/>
            </a:solidFill>
            <a:round/>
            <a:headEnd/>
            <a:tailEnd/>
          </a:ln>
        </p:spPr>
      </p:cxnSp>
      <p:cxnSp>
        <p:nvCxnSpPr>
          <p:cNvPr id="19481" name="AutoShape 45"/>
          <p:cNvCxnSpPr>
            <a:cxnSpLocks noChangeShapeType="1"/>
            <a:stCxn id="19468" idx="4"/>
            <a:endCxn id="19482" idx="2"/>
          </p:cNvCxnSpPr>
          <p:nvPr/>
        </p:nvCxnSpPr>
        <p:spPr bwMode="auto">
          <a:xfrm>
            <a:off x="6324600" y="3200400"/>
            <a:ext cx="600075" cy="303213"/>
          </a:xfrm>
          <a:prstGeom prst="straightConnector1">
            <a:avLst/>
          </a:prstGeom>
          <a:noFill/>
          <a:ln w="9525">
            <a:solidFill>
              <a:schemeClr val="tx1"/>
            </a:solidFill>
            <a:round/>
            <a:headEnd/>
            <a:tailEnd/>
          </a:ln>
        </p:spPr>
      </p:cxnSp>
      <p:sp>
        <p:nvSpPr>
          <p:cNvPr id="19482" name="Rectangle 46"/>
          <p:cNvSpPr>
            <a:spLocks noChangeArrowheads="1"/>
          </p:cNvSpPr>
          <p:nvPr/>
        </p:nvSpPr>
        <p:spPr bwMode="auto">
          <a:xfrm rot="10800000">
            <a:off x="6842125" y="3505200"/>
            <a:ext cx="168275" cy="168275"/>
          </a:xfrm>
          <a:prstGeom prst="rect">
            <a:avLst/>
          </a:prstGeom>
          <a:solidFill>
            <a:srgbClr val="FF9999"/>
          </a:solidFill>
          <a:ln w="9525">
            <a:solidFill>
              <a:schemeClr val="tx1"/>
            </a:solidFill>
            <a:miter lim="800000"/>
            <a:headEnd/>
            <a:tailEnd/>
          </a:ln>
        </p:spPr>
        <p:txBody>
          <a:bodyPr wrap="none" anchor="ctr"/>
          <a:lstStyle/>
          <a:p>
            <a:endParaRPr lang="en-US"/>
          </a:p>
        </p:txBody>
      </p:sp>
      <p:sp>
        <p:nvSpPr>
          <p:cNvPr id="19483" name="AutoShape 47"/>
          <p:cNvSpPr>
            <a:spLocks noChangeArrowheads="1"/>
          </p:cNvSpPr>
          <p:nvPr/>
        </p:nvSpPr>
        <p:spPr bwMode="auto">
          <a:xfrm>
            <a:off x="5943600" y="3690938"/>
            <a:ext cx="609600" cy="271462"/>
          </a:xfrm>
          <a:prstGeom prst="triangle">
            <a:avLst>
              <a:gd name="adj" fmla="val 50000"/>
            </a:avLst>
          </a:prstGeom>
          <a:solidFill>
            <a:schemeClr val="bg1"/>
          </a:solidFill>
          <a:ln w="9525">
            <a:solidFill>
              <a:schemeClr val="tx1"/>
            </a:solidFill>
            <a:prstDash val="dash"/>
            <a:miter lim="800000"/>
            <a:headEnd/>
            <a:tailEnd/>
          </a:ln>
        </p:spPr>
        <p:txBody>
          <a:bodyPr wrap="none" anchor="ctr"/>
          <a:lstStyle/>
          <a:p>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053" name="Group 37"/>
          <p:cNvGrpSpPr>
            <a:grpSpLocks/>
          </p:cNvGrpSpPr>
          <p:nvPr/>
        </p:nvGrpSpPr>
        <p:grpSpPr bwMode="auto">
          <a:xfrm>
            <a:off x="3862388" y="1447800"/>
            <a:ext cx="4519612" cy="2462213"/>
            <a:chOff x="1457" y="1425"/>
            <a:chExt cx="2847" cy="1551"/>
          </a:xfrm>
        </p:grpSpPr>
        <p:grpSp>
          <p:nvGrpSpPr>
            <p:cNvPr id="2079" name="Group 34"/>
            <p:cNvGrpSpPr>
              <a:grpSpLocks/>
            </p:cNvGrpSpPr>
            <p:nvPr/>
          </p:nvGrpSpPr>
          <p:grpSpPr bwMode="auto">
            <a:xfrm>
              <a:off x="1457" y="1425"/>
              <a:ext cx="2847" cy="1551"/>
              <a:chOff x="1457" y="1425"/>
              <a:chExt cx="2847" cy="1551"/>
            </a:xfrm>
          </p:grpSpPr>
          <p:pic>
            <p:nvPicPr>
              <p:cNvPr id="2080" name="Picture 28"/>
              <p:cNvPicPr>
                <a:picLocks noChangeAspect="1" noChangeArrowheads="1"/>
              </p:cNvPicPr>
              <p:nvPr/>
            </p:nvPicPr>
            <p:blipFill>
              <a:blip r:embed="rId2" cstate="print"/>
              <a:srcRect/>
              <a:stretch>
                <a:fillRect/>
              </a:stretch>
            </p:blipFill>
            <p:spPr bwMode="auto">
              <a:xfrm>
                <a:off x="1457" y="1425"/>
                <a:ext cx="2847" cy="1551"/>
              </a:xfrm>
              <a:prstGeom prst="rect">
                <a:avLst/>
              </a:prstGeom>
              <a:noFill/>
              <a:ln w="9525">
                <a:noFill/>
                <a:miter lim="800000"/>
                <a:headEnd/>
                <a:tailEnd/>
              </a:ln>
            </p:spPr>
          </p:pic>
          <p:graphicFrame>
            <p:nvGraphicFramePr>
              <p:cNvPr id="2051" name="Object 31"/>
              <p:cNvGraphicFramePr>
                <a:graphicFrameLocks noChangeAspect="1"/>
              </p:cNvGraphicFramePr>
              <p:nvPr/>
            </p:nvGraphicFramePr>
            <p:xfrm>
              <a:off x="2432" y="2400"/>
              <a:ext cx="174" cy="168"/>
            </p:xfrm>
            <a:graphic>
              <a:graphicData uri="http://schemas.openxmlformats.org/presentationml/2006/ole">
                <mc:AlternateContent xmlns:mc="http://schemas.openxmlformats.org/markup-compatibility/2006">
                  <mc:Choice xmlns:v="urn:schemas-microsoft-com:vml" Requires="v">
                    <p:oleObj name="Photo Editor Photo" r:id="rId3" imgW="327619" imgH="343075" progId="MSPhotoEd.3">
                      <p:embed/>
                    </p:oleObj>
                  </mc:Choice>
                  <mc:Fallback>
                    <p:oleObj name="Photo Editor Photo" r:id="rId3" imgW="327619" imgH="343075" progId="MSPhotoEd.3">
                      <p:embed/>
                      <p:pic>
                        <p:nvPicPr>
                          <p:cNvPr id="2051" name="Object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2" y="2400"/>
                            <a:ext cx="174" cy="16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2" name="Object 33"/>
              <p:cNvGraphicFramePr>
                <a:graphicFrameLocks noChangeAspect="1"/>
              </p:cNvGraphicFramePr>
              <p:nvPr/>
            </p:nvGraphicFramePr>
            <p:xfrm>
              <a:off x="3264" y="2544"/>
              <a:ext cx="206" cy="168"/>
            </p:xfrm>
            <a:graphic>
              <a:graphicData uri="http://schemas.openxmlformats.org/presentationml/2006/ole">
                <mc:AlternateContent xmlns:mc="http://schemas.openxmlformats.org/markup-compatibility/2006">
                  <mc:Choice xmlns:v="urn:schemas-microsoft-com:vml" Requires="v">
                    <p:oleObj name="Photo Editor Photo" r:id="rId3" imgW="327619" imgH="343075" progId="MSPhotoEd.3">
                      <p:embed/>
                    </p:oleObj>
                  </mc:Choice>
                  <mc:Fallback>
                    <p:oleObj name="Photo Editor Photo" r:id="rId3" imgW="327619" imgH="343075" progId="MSPhotoEd.3">
                      <p:embed/>
                      <p:pic>
                        <p:nvPicPr>
                          <p:cNvPr id="2052" name="Object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64" y="2544"/>
                            <a:ext cx="206" cy="16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2050" name="Object 35"/>
            <p:cNvGraphicFramePr>
              <a:graphicFrameLocks noChangeAspect="1"/>
            </p:cNvGraphicFramePr>
            <p:nvPr/>
          </p:nvGraphicFramePr>
          <p:xfrm>
            <a:off x="2880" y="2400"/>
            <a:ext cx="192" cy="168"/>
          </p:xfrm>
          <a:graphic>
            <a:graphicData uri="http://schemas.openxmlformats.org/presentationml/2006/ole">
              <mc:AlternateContent xmlns:mc="http://schemas.openxmlformats.org/markup-compatibility/2006">
                <mc:Choice xmlns:v="urn:schemas-microsoft-com:vml" Requires="v">
                  <p:oleObj name="Photo Editor Photo" r:id="rId5" imgW="327619" imgH="343075" progId="MSPhotoEd.3">
                    <p:embed/>
                  </p:oleObj>
                </mc:Choice>
                <mc:Fallback>
                  <p:oleObj name="Photo Editor Photo" r:id="rId5" imgW="327619" imgH="343075" progId="MSPhotoEd.3">
                    <p:embed/>
                    <p:pic>
                      <p:nvPicPr>
                        <p:cNvPr id="2050" name="Object 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0" y="2400"/>
                          <a:ext cx="192" cy="16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054" name="Rectangle 2"/>
          <p:cNvSpPr>
            <a:spLocks noGrp="1" noChangeArrowheads="1"/>
          </p:cNvSpPr>
          <p:nvPr>
            <p:ph type="title"/>
          </p:nvPr>
        </p:nvSpPr>
        <p:spPr/>
        <p:txBody>
          <a:bodyPr/>
          <a:lstStyle/>
          <a:p>
            <a:pPr eaLnBrk="1" hangingPunct="1"/>
            <a:r>
              <a:rPr lang="vi-VN" noProof="1"/>
              <a:t>Hàm ước lượng cho Pacman</a:t>
            </a:r>
          </a:p>
        </p:txBody>
      </p:sp>
      <p:grpSp>
        <p:nvGrpSpPr>
          <p:cNvPr id="4" name="Group 45"/>
          <p:cNvGrpSpPr>
            <a:grpSpLocks/>
          </p:cNvGrpSpPr>
          <p:nvPr/>
        </p:nvGrpSpPr>
        <p:grpSpPr bwMode="auto">
          <a:xfrm>
            <a:off x="5511800" y="3452813"/>
            <a:ext cx="1257300" cy="296862"/>
            <a:chOff x="2496" y="2688"/>
            <a:chExt cx="792" cy="187"/>
          </a:xfrm>
        </p:grpSpPr>
        <p:pic>
          <p:nvPicPr>
            <p:cNvPr id="2076" name="Picture 42"/>
            <p:cNvPicPr>
              <a:picLocks noChangeAspect="1" noChangeArrowheads="1"/>
            </p:cNvPicPr>
            <p:nvPr/>
          </p:nvPicPr>
          <p:blipFill>
            <a:blip r:embed="rId6" cstate="print"/>
            <a:srcRect/>
            <a:stretch>
              <a:fillRect/>
            </a:stretch>
          </p:blipFill>
          <p:spPr bwMode="auto">
            <a:xfrm>
              <a:off x="3072" y="2688"/>
              <a:ext cx="216" cy="168"/>
            </a:xfrm>
            <a:prstGeom prst="rect">
              <a:avLst/>
            </a:prstGeom>
            <a:noFill/>
            <a:ln w="9525">
              <a:noFill/>
              <a:miter lim="800000"/>
              <a:headEnd/>
              <a:tailEnd/>
            </a:ln>
          </p:spPr>
        </p:pic>
        <p:pic>
          <p:nvPicPr>
            <p:cNvPr id="2077" name="Picture 43"/>
            <p:cNvPicPr>
              <a:picLocks noChangeAspect="1" noChangeArrowheads="1"/>
            </p:cNvPicPr>
            <p:nvPr/>
          </p:nvPicPr>
          <p:blipFill>
            <a:blip r:embed="rId7" cstate="print"/>
            <a:srcRect/>
            <a:stretch>
              <a:fillRect/>
            </a:stretch>
          </p:blipFill>
          <p:spPr bwMode="auto">
            <a:xfrm>
              <a:off x="2496" y="2688"/>
              <a:ext cx="197" cy="178"/>
            </a:xfrm>
            <a:prstGeom prst="rect">
              <a:avLst/>
            </a:prstGeom>
            <a:noFill/>
            <a:ln w="9525">
              <a:noFill/>
              <a:miter lim="800000"/>
              <a:headEnd/>
              <a:tailEnd/>
            </a:ln>
          </p:spPr>
        </p:pic>
        <p:pic>
          <p:nvPicPr>
            <p:cNvPr id="2078" name="Picture 44"/>
            <p:cNvPicPr>
              <a:picLocks noChangeAspect="1" noChangeArrowheads="1"/>
            </p:cNvPicPr>
            <p:nvPr/>
          </p:nvPicPr>
          <p:blipFill>
            <a:blip r:embed="rId8" cstate="print"/>
            <a:srcRect/>
            <a:stretch>
              <a:fillRect/>
            </a:stretch>
          </p:blipFill>
          <p:spPr bwMode="auto">
            <a:xfrm>
              <a:off x="2784" y="2688"/>
              <a:ext cx="216" cy="187"/>
            </a:xfrm>
            <a:prstGeom prst="rect">
              <a:avLst/>
            </a:prstGeom>
            <a:noFill/>
            <a:ln w="9525">
              <a:noFill/>
              <a:miter lim="800000"/>
              <a:headEnd/>
              <a:tailEnd/>
            </a:ln>
          </p:spPr>
        </p:pic>
      </p:grpSp>
      <p:grpSp>
        <p:nvGrpSpPr>
          <p:cNvPr id="5" name="Group 52"/>
          <p:cNvGrpSpPr>
            <a:grpSpLocks/>
          </p:cNvGrpSpPr>
          <p:nvPr/>
        </p:nvGrpSpPr>
        <p:grpSpPr bwMode="auto">
          <a:xfrm>
            <a:off x="5207000" y="2538413"/>
            <a:ext cx="1866900" cy="754062"/>
            <a:chOff x="2304" y="2112"/>
            <a:chExt cx="1176" cy="475"/>
          </a:xfrm>
        </p:grpSpPr>
        <p:pic>
          <p:nvPicPr>
            <p:cNvPr id="2073" name="Picture 49"/>
            <p:cNvPicPr>
              <a:picLocks noChangeAspect="1" noChangeArrowheads="1"/>
            </p:cNvPicPr>
            <p:nvPr/>
          </p:nvPicPr>
          <p:blipFill>
            <a:blip r:embed="rId6" cstate="print"/>
            <a:srcRect/>
            <a:stretch>
              <a:fillRect/>
            </a:stretch>
          </p:blipFill>
          <p:spPr bwMode="auto">
            <a:xfrm>
              <a:off x="3264" y="2256"/>
              <a:ext cx="216" cy="168"/>
            </a:xfrm>
            <a:prstGeom prst="rect">
              <a:avLst/>
            </a:prstGeom>
            <a:noFill/>
            <a:ln w="9525">
              <a:noFill/>
              <a:miter lim="800000"/>
              <a:headEnd/>
              <a:tailEnd/>
            </a:ln>
          </p:spPr>
        </p:pic>
        <p:pic>
          <p:nvPicPr>
            <p:cNvPr id="2074" name="Picture 50"/>
            <p:cNvPicPr>
              <a:picLocks noChangeAspect="1" noChangeArrowheads="1"/>
            </p:cNvPicPr>
            <p:nvPr/>
          </p:nvPicPr>
          <p:blipFill>
            <a:blip r:embed="rId7" cstate="print"/>
            <a:srcRect/>
            <a:stretch>
              <a:fillRect/>
            </a:stretch>
          </p:blipFill>
          <p:spPr bwMode="auto">
            <a:xfrm>
              <a:off x="2592" y="2112"/>
              <a:ext cx="197" cy="178"/>
            </a:xfrm>
            <a:prstGeom prst="rect">
              <a:avLst/>
            </a:prstGeom>
            <a:noFill/>
            <a:ln w="9525">
              <a:noFill/>
              <a:miter lim="800000"/>
              <a:headEnd/>
              <a:tailEnd/>
            </a:ln>
          </p:spPr>
        </p:pic>
        <p:pic>
          <p:nvPicPr>
            <p:cNvPr id="2075" name="Picture 51"/>
            <p:cNvPicPr>
              <a:picLocks noChangeAspect="1" noChangeArrowheads="1"/>
            </p:cNvPicPr>
            <p:nvPr/>
          </p:nvPicPr>
          <p:blipFill>
            <a:blip r:embed="rId8" cstate="print"/>
            <a:srcRect/>
            <a:stretch>
              <a:fillRect/>
            </a:stretch>
          </p:blipFill>
          <p:spPr bwMode="auto">
            <a:xfrm>
              <a:off x="2304" y="2400"/>
              <a:ext cx="216" cy="187"/>
            </a:xfrm>
            <a:prstGeom prst="rect">
              <a:avLst/>
            </a:prstGeom>
            <a:noFill/>
            <a:ln w="9525">
              <a:noFill/>
              <a:miter lim="800000"/>
              <a:headEnd/>
              <a:tailEnd/>
            </a:ln>
          </p:spPr>
        </p:pic>
      </p:grpSp>
      <p:grpSp>
        <p:nvGrpSpPr>
          <p:cNvPr id="6" name="Group 59"/>
          <p:cNvGrpSpPr>
            <a:grpSpLocks/>
          </p:cNvGrpSpPr>
          <p:nvPr/>
        </p:nvGrpSpPr>
        <p:grpSpPr bwMode="auto">
          <a:xfrm>
            <a:off x="5207000" y="2971800"/>
            <a:ext cx="1104900" cy="296862"/>
            <a:chOff x="2304" y="2400"/>
            <a:chExt cx="696" cy="187"/>
          </a:xfrm>
        </p:grpSpPr>
        <p:pic>
          <p:nvPicPr>
            <p:cNvPr id="2070" name="Picture 56"/>
            <p:cNvPicPr>
              <a:picLocks noChangeAspect="1" noChangeArrowheads="1"/>
            </p:cNvPicPr>
            <p:nvPr/>
          </p:nvPicPr>
          <p:blipFill>
            <a:blip r:embed="rId6" cstate="print"/>
            <a:srcRect/>
            <a:stretch>
              <a:fillRect/>
            </a:stretch>
          </p:blipFill>
          <p:spPr bwMode="auto">
            <a:xfrm>
              <a:off x="2784" y="2400"/>
              <a:ext cx="216" cy="168"/>
            </a:xfrm>
            <a:prstGeom prst="rect">
              <a:avLst/>
            </a:prstGeom>
            <a:noFill/>
            <a:ln w="9525">
              <a:noFill/>
              <a:miter lim="800000"/>
              <a:headEnd/>
              <a:tailEnd/>
            </a:ln>
          </p:spPr>
        </p:pic>
        <p:pic>
          <p:nvPicPr>
            <p:cNvPr id="2071" name="Picture 57"/>
            <p:cNvPicPr>
              <a:picLocks noChangeAspect="1" noChangeArrowheads="1"/>
            </p:cNvPicPr>
            <p:nvPr/>
          </p:nvPicPr>
          <p:blipFill>
            <a:blip r:embed="rId7" cstate="print"/>
            <a:srcRect/>
            <a:stretch>
              <a:fillRect/>
            </a:stretch>
          </p:blipFill>
          <p:spPr bwMode="auto">
            <a:xfrm>
              <a:off x="2544" y="2400"/>
              <a:ext cx="197" cy="178"/>
            </a:xfrm>
            <a:prstGeom prst="rect">
              <a:avLst/>
            </a:prstGeom>
            <a:noFill/>
            <a:ln w="9525">
              <a:noFill/>
              <a:miter lim="800000"/>
              <a:headEnd/>
              <a:tailEnd/>
            </a:ln>
          </p:spPr>
        </p:pic>
        <p:pic>
          <p:nvPicPr>
            <p:cNvPr id="2072" name="Picture 58"/>
            <p:cNvPicPr>
              <a:picLocks noChangeAspect="1" noChangeArrowheads="1"/>
            </p:cNvPicPr>
            <p:nvPr/>
          </p:nvPicPr>
          <p:blipFill>
            <a:blip r:embed="rId8" cstate="print"/>
            <a:srcRect/>
            <a:stretch>
              <a:fillRect/>
            </a:stretch>
          </p:blipFill>
          <p:spPr bwMode="auto">
            <a:xfrm>
              <a:off x="2304" y="2400"/>
              <a:ext cx="216" cy="187"/>
            </a:xfrm>
            <a:prstGeom prst="rect">
              <a:avLst/>
            </a:prstGeom>
            <a:noFill/>
            <a:ln w="9525">
              <a:noFill/>
              <a:miter lim="800000"/>
              <a:headEnd/>
              <a:tailEnd/>
            </a:ln>
          </p:spPr>
        </p:pic>
      </p:grpSp>
      <p:grpSp>
        <p:nvGrpSpPr>
          <p:cNvPr id="7" name="Group 66"/>
          <p:cNvGrpSpPr>
            <a:grpSpLocks/>
          </p:cNvGrpSpPr>
          <p:nvPr/>
        </p:nvGrpSpPr>
        <p:grpSpPr bwMode="auto">
          <a:xfrm>
            <a:off x="4445000" y="2995613"/>
            <a:ext cx="1104900" cy="296862"/>
            <a:chOff x="2304" y="2400"/>
            <a:chExt cx="696" cy="187"/>
          </a:xfrm>
        </p:grpSpPr>
        <p:pic>
          <p:nvPicPr>
            <p:cNvPr id="2067" name="Picture 67"/>
            <p:cNvPicPr>
              <a:picLocks noChangeAspect="1" noChangeArrowheads="1"/>
            </p:cNvPicPr>
            <p:nvPr/>
          </p:nvPicPr>
          <p:blipFill>
            <a:blip r:embed="rId6" cstate="print"/>
            <a:srcRect/>
            <a:stretch>
              <a:fillRect/>
            </a:stretch>
          </p:blipFill>
          <p:spPr bwMode="auto">
            <a:xfrm>
              <a:off x="2784" y="2400"/>
              <a:ext cx="216" cy="168"/>
            </a:xfrm>
            <a:prstGeom prst="rect">
              <a:avLst/>
            </a:prstGeom>
            <a:noFill/>
            <a:ln w="9525">
              <a:noFill/>
              <a:miter lim="800000"/>
              <a:headEnd/>
              <a:tailEnd/>
            </a:ln>
          </p:spPr>
        </p:pic>
        <p:pic>
          <p:nvPicPr>
            <p:cNvPr id="2068" name="Picture 68"/>
            <p:cNvPicPr>
              <a:picLocks noChangeAspect="1" noChangeArrowheads="1"/>
            </p:cNvPicPr>
            <p:nvPr/>
          </p:nvPicPr>
          <p:blipFill>
            <a:blip r:embed="rId7" cstate="print"/>
            <a:srcRect/>
            <a:stretch>
              <a:fillRect/>
            </a:stretch>
          </p:blipFill>
          <p:spPr bwMode="auto">
            <a:xfrm>
              <a:off x="2544" y="2400"/>
              <a:ext cx="197" cy="178"/>
            </a:xfrm>
            <a:prstGeom prst="rect">
              <a:avLst/>
            </a:prstGeom>
            <a:noFill/>
            <a:ln w="9525">
              <a:noFill/>
              <a:miter lim="800000"/>
              <a:headEnd/>
              <a:tailEnd/>
            </a:ln>
          </p:spPr>
        </p:pic>
        <p:pic>
          <p:nvPicPr>
            <p:cNvPr id="2069" name="Picture 69"/>
            <p:cNvPicPr>
              <a:picLocks noChangeAspect="1" noChangeArrowheads="1"/>
            </p:cNvPicPr>
            <p:nvPr/>
          </p:nvPicPr>
          <p:blipFill>
            <a:blip r:embed="rId8" cstate="print"/>
            <a:srcRect/>
            <a:stretch>
              <a:fillRect/>
            </a:stretch>
          </p:blipFill>
          <p:spPr bwMode="auto">
            <a:xfrm>
              <a:off x="2304" y="2400"/>
              <a:ext cx="216" cy="187"/>
            </a:xfrm>
            <a:prstGeom prst="rect">
              <a:avLst/>
            </a:prstGeom>
            <a:noFill/>
            <a:ln w="9525">
              <a:noFill/>
              <a:miter lim="800000"/>
              <a:headEnd/>
              <a:tailEnd/>
            </a:ln>
          </p:spPr>
        </p:pic>
      </p:grpSp>
      <p:grpSp>
        <p:nvGrpSpPr>
          <p:cNvPr id="8" name="Group 75"/>
          <p:cNvGrpSpPr>
            <a:grpSpLocks/>
          </p:cNvGrpSpPr>
          <p:nvPr/>
        </p:nvGrpSpPr>
        <p:grpSpPr bwMode="auto">
          <a:xfrm>
            <a:off x="5732463" y="3429000"/>
            <a:ext cx="808037" cy="296863"/>
            <a:chOff x="2635" y="2837"/>
            <a:chExt cx="509" cy="187"/>
          </a:xfrm>
        </p:grpSpPr>
        <p:pic>
          <p:nvPicPr>
            <p:cNvPr id="2064" name="Picture 73"/>
            <p:cNvPicPr>
              <a:picLocks noChangeAspect="1" noChangeArrowheads="1"/>
            </p:cNvPicPr>
            <p:nvPr/>
          </p:nvPicPr>
          <p:blipFill>
            <a:blip r:embed="rId7" cstate="print"/>
            <a:srcRect/>
            <a:stretch>
              <a:fillRect/>
            </a:stretch>
          </p:blipFill>
          <p:spPr bwMode="auto">
            <a:xfrm>
              <a:off x="2635" y="2846"/>
              <a:ext cx="197" cy="178"/>
            </a:xfrm>
            <a:prstGeom prst="rect">
              <a:avLst/>
            </a:prstGeom>
            <a:noFill/>
            <a:ln w="9525">
              <a:noFill/>
              <a:miter lim="800000"/>
              <a:headEnd/>
              <a:tailEnd/>
            </a:ln>
          </p:spPr>
        </p:pic>
        <p:pic>
          <p:nvPicPr>
            <p:cNvPr id="2065" name="Picture 72"/>
            <p:cNvPicPr>
              <a:picLocks noChangeAspect="1" noChangeArrowheads="1"/>
            </p:cNvPicPr>
            <p:nvPr/>
          </p:nvPicPr>
          <p:blipFill>
            <a:blip r:embed="rId6" cstate="print"/>
            <a:srcRect/>
            <a:stretch>
              <a:fillRect/>
            </a:stretch>
          </p:blipFill>
          <p:spPr bwMode="auto">
            <a:xfrm>
              <a:off x="2928" y="2856"/>
              <a:ext cx="216" cy="168"/>
            </a:xfrm>
            <a:prstGeom prst="rect">
              <a:avLst/>
            </a:prstGeom>
            <a:noFill/>
            <a:ln w="9525">
              <a:noFill/>
              <a:miter lim="800000"/>
              <a:headEnd/>
              <a:tailEnd/>
            </a:ln>
          </p:spPr>
        </p:pic>
        <p:pic>
          <p:nvPicPr>
            <p:cNvPr id="2066" name="Picture 74"/>
            <p:cNvPicPr>
              <a:picLocks noChangeAspect="1" noChangeArrowheads="1"/>
            </p:cNvPicPr>
            <p:nvPr/>
          </p:nvPicPr>
          <p:blipFill>
            <a:blip r:embed="rId8" cstate="print">
              <a:clrChange>
                <a:clrFrom>
                  <a:srgbClr val="000000"/>
                </a:clrFrom>
                <a:clrTo>
                  <a:srgbClr val="000000">
                    <a:alpha val="0"/>
                  </a:srgbClr>
                </a:clrTo>
              </a:clrChange>
            </a:blip>
            <a:srcRect/>
            <a:stretch>
              <a:fillRect/>
            </a:stretch>
          </p:blipFill>
          <p:spPr bwMode="auto">
            <a:xfrm>
              <a:off x="2784" y="2837"/>
              <a:ext cx="216" cy="187"/>
            </a:xfrm>
            <a:prstGeom prst="rect">
              <a:avLst/>
            </a:prstGeom>
            <a:no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6"/>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7"/>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xit" presetSubtype="0" fill="hold" nodeType="withEffect">
                                  <p:stCondLst>
                                    <p:cond delay="0"/>
                                  </p:stCondLst>
                                  <p:childTnLst>
                                    <p:set>
                                      <p:cBhvr>
                                        <p:cTn id="26"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1"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124700" y="1404536"/>
            <a:ext cx="4610100" cy="2267569"/>
          </a:xfrm>
          <a:prstGeom prst="rect">
            <a:avLst/>
          </a:prstGeom>
          <a:noFill/>
          <a:extLst>
            <a:ext uri="{909E8E84-426E-40dd-AFC4-6F175D3DCCD1}">
              <a14:hiddenFill xmlns="" xmlns:a14="http://schemas.microsoft.com/office/drawing/2010/main">
                <a:solidFill>
                  <a:srgbClr val="FFFFFF"/>
                </a:solidFill>
              </a14:hiddenFill>
            </a:ext>
          </a:extLst>
        </p:spPr>
      </p:pic>
      <p:pic>
        <p:nvPicPr>
          <p:cNvPr id="9"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934200" y="3886200"/>
            <a:ext cx="4686300" cy="2158790"/>
          </a:xfrm>
          <a:prstGeom prst="rect">
            <a:avLst/>
          </a:prstGeom>
          <a:noFill/>
          <a:extLst>
            <a:ext uri="{909E8E84-426E-40dd-AFC4-6F175D3DCCD1}">
              <a14:hiddenFill xmlns=""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vi-VN" noProof="1"/>
              <a:t>Độ sâu </a:t>
            </a:r>
            <a:r>
              <a:rPr lang="en-US" noProof="1"/>
              <a:t>tìm kiếm và hàm ước lượng</a:t>
            </a:r>
            <a:endParaRPr lang="vi-VN" noProof="1"/>
          </a:p>
        </p:txBody>
      </p:sp>
      <p:sp>
        <p:nvSpPr>
          <p:cNvPr id="3" name="Content Placeholder 2"/>
          <p:cNvSpPr>
            <a:spLocks noGrp="1"/>
          </p:cNvSpPr>
          <p:nvPr>
            <p:ph idx="1"/>
          </p:nvPr>
        </p:nvSpPr>
        <p:spPr>
          <a:xfrm>
            <a:off x="406400" y="1397001"/>
            <a:ext cx="6451600" cy="4729164"/>
          </a:xfrm>
        </p:spPr>
        <p:txBody>
          <a:bodyPr/>
          <a:lstStyle/>
          <a:p>
            <a:r>
              <a:rPr lang="vi-VN" sz="2800" noProof="1"/>
              <a:t>Hàm ước lượng không bao giờ hoàn hảo</a:t>
            </a:r>
            <a:endParaRPr lang="en-US" sz="2800" noProof="1"/>
          </a:p>
          <a:p>
            <a:pPr lvl="1"/>
            <a:r>
              <a:rPr lang="en-US" sz="2400" noProof="1"/>
              <a:t>Định hướng mở rộng các nút “hứa hẹn”  -&gt; có sự tương quan với hàm kinh nghiệm trong A*</a:t>
            </a:r>
            <a:endParaRPr lang="vi-VN" sz="2400" noProof="1"/>
          </a:p>
          <a:p>
            <a:r>
              <a:rPr lang="vi-VN" sz="2800" noProof="1"/>
              <a:t>Độ sâu lớn </a:t>
            </a:r>
            <a:r>
              <a:rPr lang="en-US" sz="2800" noProof="1"/>
              <a:t>hơn thì</a:t>
            </a:r>
            <a:r>
              <a:rPr lang="vi-VN" sz="2800" noProof="1"/>
              <a:t> ước lượng </a:t>
            </a:r>
            <a:r>
              <a:rPr lang="en-US" sz="2800" noProof="1"/>
              <a:t>dễ hơn?</a:t>
            </a:r>
            <a:endParaRPr lang="vi-VN" sz="2800" noProof="1"/>
          </a:p>
          <a:p>
            <a:r>
              <a:rPr lang="vi-VN" sz="2800" noProof="1"/>
              <a:t>Đánh đổi giữa</a:t>
            </a:r>
          </a:p>
          <a:p>
            <a:pPr lvl="1"/>
            <a:r>
              <a:rPr lang="vi-VN" sz="2400" noProof="1"/>
              <a:t>Độ phức tạp đặc trưng</a:t>
            </a:r>
            <a:r>
              <a:rPr lang="en-US" sz="2400" noProof="1"/>
              <a:t> trò chơi</a:t>
            </a:r>
          </a:p>
          <a:p>
            <a:pPr lvl="2"/>
            <a:r>
              <a:rPr lang="en-US" sz="2000" noProof="1"/>
              <a:t>Ước lượng sát với đặc trưng</a:t>
            </a:r>
            <a:endParaRPr lang="vi-VN" sz="2000" noProof="1"/>
          </a:p>
          <a:p>
            <a:pPr lvl="1"/>
            <a:r>
              <a:rPr lang="vi-VN" sz="2400" noProof="1"/>
              <a:t>Độ phức tạp tính toán</a:t>
            </a:r>
            <a:r>
              <a:rPr lang="en-US" sz="2400" noProof="1"/>
              <a:t> của hàm ước lượng</a:t>
            </a:r>
            <a:endParaRPr lang="vi-VN" sz="2400" noProof="1"/>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575D4-E4C4-554F-98D0-08644BC78548}"/>
              </a:ext>
            </a:extLst>
          </p:cNvPr>
          <p:cNvSpPr>
            <a:spLocks noGrp="1"/>
          </p:cNvSpPr>
          <p:nvPr>
            <p:ph type="title"/>
          </p:nvPr>
        </p:nvSpPr>
        <p:spPr/>
        <p:txBody>
          <a:bodyPr/>
          <a:lstStyle/>
          <a:p>
            <a:r>
              <a:rPr lang="vi-VN" sz="4000" noProof="1"/>
              <a:t>Synergies between Evaluation Function and Alpha-Beta?</a:t>
            </a:r>
          </a:p>
        </p:txBody>
      </p:sp>
      <p:sp>
        <p:nvSpPr>
          <p:cNvPr id="3" name="Content Placeholder 2">
            <a:extLst>
              <a:ext uri="{FF2B5EF4-FFF2-40B4-BE49-F238E27FC236}">
                <a16:creationId xmlns:a16="http://schemas.microsoft.com/office/drawing/2014/main" id="{7404E906-14CC-F147-86E0-4866A091B4E8}"/>
              </a:ext>
            </a:extLst>
          </p:cNvPr>
          <p:cNvSpPr>
            <a:spLocks noGrp="1"/>
          </p:cNvSpPr>
          <p:nvPr>
            <p:ph idx="1"/>
          </p:nvPr>
        </p:nvSpPr>
        <p:spPr/>
        <p:txBody>
          <a:bodyPr/>
          <a:lstStyle/>
          <a:p>
            <a:r>
              <a:rPr lang="vi-VN" sz="2800" noProof="1"/>
              <a:t>Alpha-Beta: Cắt nhánh phụ thuộc vào thứ tự mở rộng biên tìm kiếm</a:t>
            </a:r>
          </a:p>
          <a:p>
            <a:pPr lvl="1"/>
            <a:r>
              <a:rPr lang="vi-VN" sz="2400" noProof="1"/>
              <a:t>Hàm ước lượng: hướng dẫn mở rộng các nút “hứa hẹn” trước (sử dụng nhánh này để cắt các nhánh khác)</a:t>
            </a:r>
          </a:p>
          <a:p>
            <a:pPr lvl="2"/>
            <a:r>
              <a:rPr lang="vi-VN" sz="2000" noProof="1"/>
              <a:t>Gần giống hàm kinh nghiệm trong A*</a:t>
            </a:r>
          </a:p>
          <a:p>
            <a:pPr lvl="2"/>
            <a:endParaRPr lang="vi-VN" sz="2000" noProof="1"/>
          </a:p>
          <a:p>
            <a:r>
              <a:rPr lang="vi-VN" sz="2800" noProof="1"/>
              <a:t>Alpha-Beta:  (lập luận cho max tương tự)</a:t>
            </a:r>
          </a:p>
          <a:p>
            <a:pPr lvl="1"/>
            <a:r>
              <a:rPr lang="vi-VN" sz="2400" noProof="1"/>
              <a:t>Giá trị nút MIN chỉ có thể giảm xuống</a:t>
            </a:r>
          </a:p>
          <a:p>
            <a:pPr lvl="1"/>
            <a:r>
              <a:rPr lang="vi-VN" sz="2400" noProof="1"/>
              <a:t>Khi giá trị nút MIN nhỏ hơn giá trị tốt nhất cho MAX </a:t>
            </a:r>
            <a:r>
              <a:rPr lang="vi-VN" sz="2400" noProof="1">
                <a:sym typeface="Wingdings" pitchFamily="2" charset="2"/>
              </a:rPr>
              <a:t> cắt nhánh</a:t>
            </a:r>
            <a:endParaRPr lang="vi-VN" sz="2400" noProof="1"/>
          </a:p>
          <a:p>
            <a:pPr lvl="1"/>
            <a:r>
              <a:rPr lang="vi-VN" sz="2400" noProof="1"/>
              <a:t>Do đó: nếu hàm ước lượng là </a:t>
            </a:r>
            <a:r>
              <a:rPr lang="vi-VN" sz="2400" noProof="1">
                <a:solidFill>
                  <a:srgbClr val="FF0000"/>
                </a:solidFill>
              </a:rPr>
              <a:t>cận trên </a:t>
            </a:r>
            <a:r>
              <a:rPr lang="vi-VN" sz="2400" noProof="1"/>
              <a:t>của nút MIN và cận trên nhỏ hơn giá trị tốt nhất cho MAX </a:t>
            </a:r>
            <a:r>
              <a:rPr lang="vi-VN" sz="2400" noProof="1">
                <a:sym typeface="Wingdings" pitchFamily="2" charset="2"/>
              </a:rPr>
              <a:t> cắt nhánh</a:t>
            </a:r>
            <a:endParaRPr lang="vi-VN" sz="2400" noProof="1"/>
          </a:p>
          <a:p>
            <a:endParaRPr lang="vi-VN" sz="2800" noProof="1"/>
          </a:p>
        </p:txBody>
      </p:sp>
    </p:spTree>
    <p:extLst>
      <p:ext uri="{BB962C8B-B14F-4D97-AF65-F5344CB8AC3E}">
        <p14:creationId xmlns:p14="http://schemas.microsoft.com/office/powerpoint/2010/main" val="21912427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7" name="Picture 5"/>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997822" y="1888303"/>
            <a:ext cx="3579027" cy="1395412"/>
          </a:xfrm>
          <a:prstGeom prst="rect">
            <a:avLst/>
          </a:prstGeom>
          <a:noFill/>
          <a:extLst>
            <a:ext uri="{909E8E84-426E-40dd-AFC4-6F175D3DCCD1}">
              <a14:hiddenFill xmlns="" xmlns:a14="http://schemas.microsoft.com/office/drawing/2010/main">
                <a:solidFill>
                  <a:srgbClr val="FFFFFF"/>
                </a:solidFill>
              </a14:hiddenFill>
            </a:ext>
          </a:extLst>
        </p:spPr>
      </p:pic>
      <p:pic>
        <p:nvPicPr>
          <p:cNvPr id="44036" name="Picture 4"/>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357071" y="1536553"/>
            <a:ext cx="3674720" cy="1974850"/>
          </a:xfrm>
          <a:prstGeom prst="rect">
            <a:avLst/>
          </a:prstGeom>
          <a:noFill/>
          <a:extLst>
            <a:ext uri="{909E8E84-426E-40dd-AFC4-6F175D3DCCD1}">
              <a14:hiddenFill xmlns="" xmlns:a14="http://schemas.microsoft.com/office/drawing/2010/main">
                <a:solidFill>
                  <a:srgbClr val="FFFFFF"/>
                </a:solidFill>
              </a14:hiddenFill>
            </a:ext>
          </a:extLst>
        </p:spPr>
      </p:pic>
      <p:sp>
        <p:nvSpPr>
          <p:cNvPr id="16386" name="Rectangle 2"/>
          <p:cNvSpPr>
            <a:spLocks noGrp="1" noChangeArrowheads="1"/>
          </p:cNvSpPr>
          <p:nvPr>
            <p:ph type="title"/>
          </p:nvPr>
        </p:nvSpPr>
        <p:spPr/>
        <p:txBody>
          <a:bodyPr/>
          <a:lstStyle/>
          <a:p>
            <a:pPr eaLnBrk="1" hangingPunct="1"/>
            <a:r>
              <a:rPr lang="vi-VN" noProof="1"/>
              <a:t>Minimax</a:t>
            </a:r>
            <a:r>
              <a:rPr lang="en-US" noProof="1"/>
              <a:t>: giả thiết về đối thủ</a:t>
            </a:r>
            <a:endParaRPr lang="vi-VN" noProof="1"/>
          </a:p>
        </p:txBody>
      </p:sp>
      <p:sp>
        <p:nvSpPr>
          <p:cNvPr id="935939" name="Rectangle 3"/>
          <p:cNvSpPr>
            <a:spLocks noGrp="1" noChangeArrowheads="1"/>
          </p:cNvSpPr>
          <p:nvPr>
            <p:ph idx="1"/>
          </p:nvPr>
        </p:nvSpPr>
        <p:spPr>
          <a:xfrm>
            <a:off x="2286000" y="5257800"/>
            <a:ext cx="7366000" cy="685800"/>
          </a:xfrm>
        </p:spPr>
        <p:txBody>
          <a:bodyPr/>
          <a:lstStyle/>
          <a:p>
            <a:pPr algn="ctr" eaLnBrk="1" hangingPunct="1">
              <a:lnSpc>
                <a:spcPct val="90000"/>
              </a:lnSpc>
              <a:buNone/>
            </a:pPr>
            <a:r>
              <a:rPr lang="vi-VN" sz="2800" noProof="1"/>
              <a:t>Tối ưu </a:t>
            </a:r>
            <a:r>
              <a:rPr lang="en-US" sz="2800" noProof="1"/>
              <a:t>khi chơi với đối thủ</a:t>
            </a:r>
            <a:r>
              <a:rPr lang="vi-VN" sz="2800" noProof="1"/>
              <a:t> tối ưu. </a:t>
            </a:r>
            <a:r>
              <a:rPr lang="en-US" sz="2800" noProof="1"/>
              <a:t>Nếu đối thủ không chơi tối ưu</a:t>
            </a:r>
            <a:r>
              <a:rPr lang="vi-VN" sz="2800" noProof="1"/>
              <a:t>?</a:t>
            </a:r>
          </a:p>
          <a:p>
            <a:pPr algn="ctr" eaLnBrk="1" hangingPunct="1">
              <a:lnSpc>
                <a:spcPct val="90000"/>
              </a:lnSpc>
            </a:pPr>
            <a:endParaRPr lang="vi-VN" sz="2800" noProof="1"/>
          </a:p>
        </p:txBody>
      </p:sp>
      <p:sp>
        <p:nvSpPr>
          <p:cNvPr id="16388" name="AutoShape 5"/>
          <p:cNvSpPr>
            <a:spLocks noChangeArrowheads="1"/>
          </p:cNvSpPr>
          <p:nvPr/>
        </p:nvSpPr>
        <p:spPr bwMode="auto">
          <a:xfrm>
            <a:off x="5791200" y="2057400"/>
            <a:ext cx="381000" cy="304800"/>
          </a:xfrm>
          <a:prstGeom prst="triangle">
            <a:avLst>
              <a:gd name="adj" fmla="val 50000"/>
            </a:avLst>
          </a:prstGeom>
          <a:solidFill>
            <a:srgbClr val="CCECFF"/>
          </a:solidFill>
          <a:ln w="9525">
            <a:solidFill>
              <a:schemeClr val="tx1"/>
            </a:solidFill>
            <a:miter lim="800000"/>
            <a:headEnd/>
            <a:tailEnd/>
          </a:ln>
        </p:spPr>
        <p:txBody>
          <a:bodyPr wrap="none" anchor="ctr"/>
          <a:lstStyle/>
          <a:p>
            <a:endParaRPr lang="en-US">
              <a:latin typeface="Calibri" pitchFamily="34" charset="0"/>
            </a:endParaRPr>
          </a:p>
        </p:txBody>
      </p:sp>
      <p:sp>
        <p:nvSpPr>
          <p:cNvPr id="16389" name="AutoShape 6"/>
          <p:cNvSpPr>
            <a:spLocks noChangeArrowheads="1"/>
          </p:cNvSpPr>
          <p:nvPr/>
        </p:nvSpPr>
        <p:spPr bwMode="auto">
          <a:xfrm rot="10800000">
            <a:off x="5029200" y="3048000"/>
            <a:ext cx="381000" cy="304800"/>
          </a:xfrm>
          <a:prstGeom prst="triangle">
            <a:avLst>
              <a:gd name="adj" fmla="val 50000"/>
            </a:avLst>
          </a:prstGeom>
          <a:solidFill>
            <a:srgbClr val="FF9999"/>
          </a:solidFill>
          <a:ln w="9525">
            <a:solidFill>
              <a:schemeClr val="tx1"/>
            </a:solidFill>
            <a:miter lim="800000"/>
            <a:headEnd/>
            <a:tailEnd/>
          </a:ln>
        </p:spPr>
        <p:txBody>
          <a:bodyPr wrap="none" anchor="ctr"/>
          <a:lstStyle/>
          <a:p>
            <a:endParaRPr lang="en-US">
              <a:latin typeface="Calibri" pitchFamily="34" charset="0"/>
            </a:endParaRPr>
          </a:p>
        </p:txBody>
      </p:sp>
      <p:sp>
        <p:nvSpPr>
          <p:cNvPr id="16390" name="AutoShape 7"/>
          <p:cNvSpPr>
            <a:spLocks noChangeArrowheads="1"/>
          </p:cNvSpPr>
          <p:nvPr/>
        </p:nvSpPr>
        <p:spPr bwMode="auto">
          <a:xfrm rot="10800000">
            <a:off x="6553200" y="3048000"/>
            <a:ext cx="381000" cy="304800"/>
          </a:xfrm>
          <a:prstGeom prst="triangle">
            <a:avLst>
              <a:gd name="adj" fmla="val 50000"/>
            </a:avLst>
          </a:prstGeom>
          <a:solidFill>
            <a:srgbClr val="FF9999"/>
          </a:solidFill>
          <a:ln w="9525">
            <a:solidFill>
              <a:schemeClr val="tx1"/>
            </a:solidFill>
            <a:miter lim="800000"/>
            <a:headEnd/>
            <a:tailEnd/>
          </a:ln>
        </p:spPr>
        <p:txBody>
          <a:bodyPr wrap="none" anchor="ctr"/>
          <a:lstStyle/>
          <a:p>
            <a:endParaRPr lang="en-US">
              <a:latin typeface="Calibri" pitchFamily="34" charset="0"/>
            </a:endParaRPr>
          </a:p>
        </p:txBody>
      </p:sp>
      <p:sp>
        <p:nvSpPr>
          <p:cNvPr id="16391" name="Rectangle 8"/>
          <p:cNvSpPr>
            <a:spLocks noChangeArrowheads="1"/>
          </p:cNvSpPr>
          <p:nvPr/>
        </p:nvSpPr>
        <p:spPr bwMode="auto">
          <a:xfrm>
            <a:off x="4648200" y="4343400"/>
            <a:ext cx="381000" cy="304800"/>
          </a:xfrm>
          <a:prstGeom prst="rect">
            <a:avLst/>
          </a:prstGeom>
          <a:solidFill>
            <a:srgbClr val="BD92DE"/>
          </a:solidFill>
          <a:ln w="9525">
            <a:solidFill>
              <a:schemeClr val="tx1"/>
            </a:solidFill>
            <a:miter lim="800000"/>
            <a:headEnd/>
            <a:tailEnd/>
          </a:ln>
        </p:spPr>
        <p:txBody>
          <a:bodyPr wrap="none" anchor="ctr"/>
          <a:lstStyle/>
          <a:p>
            <a:pPr algn="ctr"/>
            <a:r>
              <a:rPr lang="en-US" dirty="0">
                <a:latin typeface="Calibri" pitchFamily="34" charset="0"/>
              </a:rPr>
              <a:t>10</a:t>
            </a:r>
          </a:p>
        </p:txBody>
      </p:sp>
      <p:sp>
        <p:nvSpPr>
          <p:cNvPr id="16392" name="Rectangle 9"/>
          <p:cNvSpPr>
            <a:spLocks noChangeArrowheads="1"/>
          </p:cNvSpPr>
          <p:nvPr/>
        </p:nvSpPr>
        <p:spPr bwMode="auto">
          <a:xfrm>
            <a:off x="5334000" y="4343400"/>
            <a:ext cx="381000" cy="304800"/>
          </a:xfrm>
          <a:prstGeom prst="rect">
            <a:avLst/>
          </a:prstGeom>
          <a:solidFill>
            <a:srgbClr val="BD92DE"/>
          </a:solidFill>
          <a:ln w="9525">
            <a:solidFill>
              <a:schemeClr val="tx1"/>
            </a:solidFill>
            <a:miter lim="800000"/>
            <a:headEnd/>
            <a:tailEnd/>
          </a:ln>
        </p:spPr>
        <p:txBody>
          <a:bodyPr wrap="none" anchor="ctr"/>
          <a:lstStyle/>
          <a:p>
            <a:pPr algn="ctr"/>
            <a:r>
              <a:rPr lang="en-US">
                <a:latin typeface="Calibri" pitchFamily="34" charset="0"/>
              </a:rPr>
              <a:t>10</a:t>
            </a:r>
          </a:p>
        </p:txBody>
      </p:sp>
      <p:sp>
        <p:nvSpPr>
          <p:cNvPr id="16393" name="Rectangle 10"/>
          <p:cNvSpPr>
            <a:spLocks noChangeArrowheads="1"/>
          </p:cNvSpPr>
          <p:nvPr/>
        </p:nvSpPr>
        <p:spPr bwMode="auto">
          <a:xfrm>
            <a:off x="6172200" y="4343400"/>
            <a:ext cx="381000" cy="304800"/>
          </a:xfrm>
          <a:prstGeom prst="rect">
            <a:avLst/>
          </a:prstGeom>
          <a:solidFill>
            <a:srgbClr val="BD92DE"/>
          </a:solidFill>
          <a:ln w="9525">
            <a:solidFill>
              <a:schemeClr val="tx1"/>
            </a:solidFill>
            <a:miter lim="800000"/>
            <a:headEnd/>
            <a:tailEnd/>
          </a:ln>
        </p:spPr>
        <p:txBody>
          <a:bodyPr wrap="none" anchor="ctr"/>
          <a:lstStyle/>
          <a:p>
            <a:pPr algn="ctr"/>
            <a:r>
              <a:rPr lang="en-US">
                <a:latin typeface="Calibri" pitchFamily="34" charset="0"/>
              </a:rPr>
              <a:t>9</a:t>
            </a:r>
          </a:p>
        </p:txBody>
      </p:sp>
      <p:sp>
        <p:nvSpPr>
          <p:cNvPr id="16394" name="Rectangle 11"/>
          <p:cNvSpPr>
            <a:spLocks noChangeArrowheads="1"/>
          </p:cNvSpPr>
          <p:nvPr/>
        </p:nvSpPr>
        <p:spPr bwMode="auto">
          <a:xfrm>
            <a:off x="6934200" y="4343400"/>
            <a:ext cx="381000" cy="304800"/>
          </a:xfrm>
          <a:prstGeom prst="rect">
            <a:avLst/>
          </a:prstGeom>
          <a:solidFill>
            <a:srgbClr val="BD92DE"/>
          </a:solidFill>
          <a:ln w="9525">
            <a:solidFill>
              <a:schemeClr val="tx1"/>
            </a:solidFill>
            <a:miter lim="800000"/>
            <a:headEnd/>
            <a:tailEnd/>
          </a:ln>
        </p:spPr>
        <p:txBody>
          <a:bodyPr wrap="none" anchor="ctr"/>
          <a:lstStyle/>
          <a:p>
            <a:pPr algn="ctr"/>
            <a:r>
              <a:rPr lang="en-US" dirty="0">
                <a:latin typeface="Calibri" pitchFamily="34" charset="0"/>
              </a:rPr>
              <a:t>100</a:t>
            </a:r>
          </a:p>
        </p:txBody>
      </p:sp>
      <p:cxnSp>
        <p:nvCxnSpPr>
          <p:cNvPr id="16395" name="AutoShape 12"/>
          <p:cNvCxnSpPr>
            <a:cxnSpLocks noChangeShapeType="1"/>
            <a:stCxn id="16388" idx="3"/>
            <a:endCxn id="16389" idx="3"/>
          </p:cNvCxnSpPr>
          <p:nvPr/>
        </p:nvCxnSpPr>
        <p:spPr bwMode="auto">
          <a:xfrm flipH="1">
            <a:off x="5219700" y="2362200"/>
            <a:ext cx="762000" cy="685800"/>
          </a:xfrm>
          <a:prstGeom prst="straightConnector1">
            <a:avLst/>
          </a:prstGeom>
          <a:noFill/>
          <a:ln w="9525">
            <a:solidFill>
              <a:schemeClr val="tx1"/>
            </a:solidFill>
            <a:round/>
            <a:headEnd/>
            <a:tailEnd type="triangle" w="med" len="med"/>
          </a:ln>
        </p:spPr>
      </p:cxnSp>
      <p:cxnSp>
        <p:nvCxnSpPr>
          <p:cNvPr id="16396" name="AutoShape 13"/>
          <p:cNvCxnSpPr>
            <a:cxnSpLocks noChangeShapeType="1"/>
            <a:stCxn id="16388" idx="3"/>
            <a:endCxn id="16390" idx="3"/>
          </p:cNvCxnSpPr>
          <p:nvPr/>
        </p:nvCxnSpPr>
        <p:spPr bwMode="auto">
          <a:xfrm>
            <a:off x="5981700" y="2362200"/>
            <a:ext cx="762000" cy="685800"/>
          </a:xfrm>
          <a:prstGeom prst="straightConnector1">
            <a:avLst/>
          </a:prstGeom>
          <a:noFill/>
          <a:ln w="9525">
            <a:solidFill>
              <a:schemeClr val="tx1"/>
            </a:solidFill>
            <a:round/>
            <a:headEnd/>
            <a:tailEnd type="triangle" w="med" len="med"/>
          </a:ln>
        </p:spPr>
      </p:cxnSp>
      <p:cxnSp>
        <p:nvCxnSpPr>
          <p:cNvPr id="16397" name="AutoShape 14"/>
          <p:cNvCxnSpPr>
            <a:cxnSpLocks noChangeShapeType="1"/>
            <a:stCxn id="16389" idx="0"/>
            <a:endCxn id="16391" idx="0"/>
          </p:cNvCxnSpPr>
          <p:nvPr/>
        </p:nvCxnSpPr>
        <p:spPr bwMode="auto">
          <a:xfrm flipH="1">
            <a:off x="4838700" y="3352800"/>
            <a:ext cx="381000" cy="990600"/>
          </a:xfrm>
          <a:prstGeom prst="straightConnector1">
            <a:avLst/>
          </a:prstGeom>
          <a:noFill/>
          <a:ln w="9525">
            <a:solidFill>
              <a:schemeClr val="tx1"/>
            </a:solidFill>
            <a:round/>
            <a:headEnd/>
            <a:tailEnd type="triangle" w="med" len="med"/>
          </a:ln>
        </p:spPr>
      </p:cxnSp>
      <p:cxnSp>
        <p:nvCxnSpPr>
          <p:cNvPr id="16398" name="AutoShape 15"/>
          <p:cNvCxnSpPr>
            <a:cxnSpLocks noChangeShapeType="1"/>
            <a:stCxn id="16389" idx="0"/>
            <a:endCxn id="16392" idx="0"/>
          </p:cNvCxnSpPr>
          <p:nvPr/>
        </p:nvCxnSpPr>
        <p:spPr bwMode="auto">
          <a:xfrm>
            <a:off x="5219700" y="3352800"/>
            <a:ext cx="304800" cy="990600"/>
          </a:xfrm>
          <a:prstGeom prst="straightConnector1">
            <a:avLst/>
          </a:prstGeom>
          <a:noFill/>
          <a:ln w="9525">
            <a:solidFill>
              <a:schemeClr val="tx1"/>
            </a:solidFill>
            <a:round/>
            <a:headEnd/>
            <a:tailEnd type="triangle" w="med" len="med"/>
          </a:ln>
        </p:spPr>
      </p:cxnSp>
      <p:cxnSp>
        <p:nvCxnSpPr>
          <p:cNvPr id="16399" name="AutoShape 16"/>
          <p:cNvCxnSpPr>
            <a:cxnSpLocks noChangeShapeType="1"/>
            <a:stCxn id="16390" idx="0"/>
            <a:endCxn id="16393" idx="0"/>
          </p:cNvCxnSpPr>
          <p:nvPr/>
        </p:nvCxnSpPr>
        <p:spPr bwMode="auto">
          <a:xfrm flipH="1">
            <a:off x="6362700" y="3352800"/>
            <a:ext cx="381000" cy="990600"/>
          </a:xfrm>
          <a:prstGeom prst="straightConnector1">
            <a:avLst/>
          </a:prstGeom>
          <a:noFill/>
          <a:ln w="9525">
            <a:solidFill>
              <a:schemeClr val="tx1"/>
            </a:solidFill>
            <a:round/>
            <a:headEnd/>
            <a:tailEnd type="triangle" w="med" len="med"/>
          </a:ln>
        </p:spPr>
      </p:cxnSp>
      <p:cxnSp>
        <p:nvCxnSpPr>
          <p:cNvPr id="16400" name="AutoShape 17"/>
          <p:cNvCxnSpPr>
            <a:cxnSpLocks noChangeShapeType="1"/>
            <a:stCxn id="16390" idx="0"/>
            <a:endCxn id="16394" idx="0"/>
          </p:cNvCxnSpPr>
          <p:nvPr/>
        </p:nvCxnSpPr>
        <p:spPr bwMode="auto">
          <a:xfrm>
            <a:off x="6743700" y="3352800"/>
            <a:ext cx="381000" cy="990600"/>
          </a:xfrm>
          <a:prstGeom prst="straightConnector1">
            <a:avLst/>
          </a:prstGeom>
          <a:noFill/>
          <a:ln w="9525">
            <a:solidFill>
              <a:schemeClr val="tx1"/>
            </a:solidFill>
            <a:round/>
            <a:headEnd/>
            <a:tailEnd type="triangle" w="med" len="med"/>
          </a:ln>
        </p:spPr>
      </p:cxnSp>
      <p:sp>
        <p:nvSpPr>
          <p:cNvPr id="16401" name="Text Box 18"/>
          <p:cNvSpPr txBox="1">
            <a:spLocks noChangeArrowheads="1"/>
          </p:cNvSpPr>
          <p:nvPr/>
        </p:nvSpPr>
        <p:spPr bwMode="auto">
          <a:xfrm>
            <a:off x="6194425" y="2057400"/>
            <a:ext cx="663575" cy="366713"/>
          </a:xfrm>
          <a:prstGeom prst="rect">
            <a:avLst/>
          </a:prstGeom>
          <a:noFill/>
          <a:ln w="12700">
            <a:noFill/>
            <a:miter lim="800000"/>
            <a:headEnd/>
            <a:tailEnd/>
          </a:ln>
        </p:spPr>
        <p:txBody>
          <a:bodyPr anchor="ctr">
            <a:spAutoFit/>
          </a:bodyPr>
          <a:lstStyle/>
          <a:p>
            <a:pPr algn="ctr">
              <a:spcBef>
                <a:spcPct val="50000"/>
              </a:spcBef>
            </a:pPr>
            <a:r>
              <a:rPr lang="en-US" b="1">
                <a:latin typeface="Calibri" pitchFamily="34" charset="0"/>
              </a:rPr>
              <a:t>max</a:t>
            </a:r>
          </a:p>
        </p:txBody>
      </p:sp>
      <p:sp>
        <p:nvSpPr>
          <p:cNvPr id="16402" name="Text Box 19"/>
          <p:cNvSpPr txBox="1">
            <a:spLocks noChangeArrowheads="1"/>
          </p:cNvSpPr>
          <p:nvPr/>
        </p:nvSpPr>
        <p:spPr bwMode="auto">
          <a:xfrm>
            <a:off x="7010400" y="2971800"/>
            <a:ext cx="663575" cy="366713"/>
          </a:xfrm>
          <a:prstGeom prst="rect">
            <a:avLst/>
          </a:prstGeom>
          <a:noFill/>
          <a:ln w="12700">
            <a:noFill/>
            <a:miter lim="800000"/>
            <a:headEnd/>
            <a:tailEnd/>
          </a:ln>
        </p:spPr>
        <p:txBody>
          <a:bodyPr anchor="ctr">
            <a:spAutoFit/>
          </a:bodyPr>
          <a:lstStyle/>
          <a:p>
            <a:pPr algn="ctr">
              <a:spcBef>
                <a:spcPct val="50000"/>
              </a:spcBef>
            </a:pPr>
            <a:r>
              <a:rPr lang="en-US" b="1">
                <a:latin typeface="Calibri" pitchFamily="34" charset="0"/>
              </a:rPr>
              <a:t>min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vi-VN" noProof="1"/>
              <a:t>Bài t</a:t>
            </a:r>
            <a:r>
              <a:rPr lang="en-US" noProof="1"/>
              <a:t>ập</a:t>
            </a:r>
            <a:endParaRPr lang="vi-VN" noProof="1"/>
          </a:p>
        </p:txBody>
      </p:sp>
      <p:sp>
        <p:nvSpPr>
          <p:cNvPr id="29699" name="Content Placeholder 2"/>
          <p:cNvSpPr>
            <a:spLocks noGrp="1"/>
          </p:cNvSpPr>
          <p:nvPr>
            <p:ph idx="1"/>
          </p:nvPr>
        </p:nvSpPr>
        <p:spPr/>
        <p:txBody>
          <a:bodyPr/>
          <a:lstStyle/>
          <a:p>
            <a:r>
              <a:rPr lang="en-US" dirty="0" err="1"/>
              <a:t>Cài</a:t>
            </a:r>
            <a:r>
              <a:rPr lang="en-US" dirty="0"/>
              <a:t> </a:t>
            </a:r>
            <a:r>
              <a:rPr lang="en-US" dirty="0" err="1"/>
              <a:t>đặt</a:t>
            </a:r>
            <a:r>
              <a:rPr lang="en-US" dirty="0"/>
              <a:t> Tic-Tac-Toe</a:t>
            </a:r>
          </a:p>
          <a:p>
            <a:r>
              <a:rPr lang="en-US" dirty="0" err="1"/>
              <a:t>Cài</a:t>
            </a:r>
            <a:r>
              <a:rPr lang="en-US" dirty="0"/>
              <a:t> </a:t>
            </a:r>
            <a:r>
              <a:rPr lang="en-US" dirty="0" err="1"/>
              <a:t>đặt</a:t>
            </a:r>
            <a:r>
              <a:rPr lang="en-US" dirty="0"/>
              <a:t> </a:t>
            </a:r>
            <a:r>
              <a:rPr lang="en-US" dirty="0" err="1"/>
              <a:t>trò</a:t>
            </a:r>
            <a:r>
              <a:rPr lang="en-US" dirty="0"/>
              <a:t> </a:t>
            </a:r>
            <a:r>
              <a:rPr lang="en-US" dirty="0" err="1"/>
              <a:t>chơi</a:t>
            </a:r>
            <a:r>
              <a:rPr lang="en-US" dirty="0"/>
              <a:t> </a:t>
            </a:r>
            <a:r>
              <a:rPr lang="en-US" dirty="0" err="1"/>
              <a:t>cờ</a:t>
            </a:r>
            <a:r>
              <a:rPr lang="en-US" dirty="0"/>
              <a:t> ca </a:t>
            </a:r>
            <a:r>
              <a:rPr lang="en-US" dirty="0" err="1"/>
              <a:t>rô</a:t>
            </a:r>
            <a:r>
              <a:rPr lang="en-US" dirty="0"/>
              <a:t> (</a:t>
            </a:r>
            <a:r>
              <a:rPr lang="en-US" dirty="0" err="1"/>
              <a:t>tự</a:t>
            </a:r>
            <a:r>
              <a:rPr lang="en-US" dirty="0"/>
              <a:t> </a:t>
            </a:r>
            <a:r>
              <a:rPr lang="en-US" dirty="0" err="1"/>
              <a:t>đặt</a:t>
            </a:r>
            <a:r>
              <a:rPr lang="en-US" dirty="0"/>
              <a:t> </a:t>
            </a:r>
            <a:r>
              <a:rPr lang="en-US" dirty="0" err="1"/>
              <a:t>giới</a:t>
            </a:r>
            <a:r>
              <a:rPr lang="en-US" dirty="0"/>
              <a:t> </a:t>
            </a:r>
            <a:r>
              <a:rPr lang="en-US" dirty="0" err="1"/>
              <a:t>hạn</a:t>
            </a:r>
            <a:r>
              <a:rPr lang="en-US" dirty="0"/>
              <a:t> </a:t>
            </a:r>
            <a:r>
              <a:rPr lang="en-US" dirty="0" err="1"/>
              <a:t>kích</a:t>
            </a:r>
            <a:r>
              <a:rPr lang="en-US" dirty="0"/>
              <a:t> </a:t>
            </a:r>
            <a:r>
              <a:rPr lang="en-US" dirty="0" err="1"/>
              <a:t>thước</a:t>
            </a:r>
            <a:r>
              <a:rPr lang="en-US" dirty="0"/>
              <a:t>)</a:t>
            </a:r>
          </a:p>
          <a:p>
            <a:r>
              <a:rPr lang="en-US" dirty="0" err="1"/>
              <a:t>Tìm</a:t>
            </a:r>
            <a:r>
              <a:rPr lang="en-US" dirty="0"/>
              <a:t> </a:t>
            </a:r>
            <a:r>
              <a:rPr lang="en-US" dirty="0" err="1"/>
              <a:t>hiểu</a:t>
            </a:r>
            <a:r>
              <a:rPr lang="en-US" dirty="0"/>
              <a:t> </a:t>
            </a:r>
            <a:r>
              <a:rPr lang="en-US" dirty="0" err="1"/>
              <a:t>giải</a:t>
            </a:r>
            <a:r>
              <a:rPr lang="en-US" dirty="0"/>
              <a:t> </a:t>
            </a:r>
            <a:r>
              <a:rPr lang="en-US" dirty="0" err="1"/>
              <a:t>thuật</a:t>
            </a:r>
            <a:r>
              <a:rPr lang="en-US" dirty="0"/>
              <a:t> </a:t>
            </a:r>
            <a:r>
              <a:rPr lang="en-US" dirty="0" err="1"/>
              <a:t>các</a:t>
            </a:r>
            <a:r>
              <a:rPr lang="en-US" dirty="0"/>
              <a:t> </a:t>
            </a:r>
            <a:r>
              <a:rPr lang="en-US" dirty="0" err="1"/>
              <a:t>trò</a:t>
            </a:r>
            <a:r>
              <a:rPr lang="en-US" dirty="0"/>
              <a:t> </a:t>
            </a:r>
            <a:r>
              <a:rPr lang="en-US" dirty="0" err="1"/>
              <a:t>chơi</a:t>
            </a:r>
            <a:r>
              <a:rPr lang="en-US" dirty="0"/>
              <a:t> </a:t>
            </a:r>
            <a:r>
              <a:rPr lang="en-US" dirty="0" err="1"/>
              <a:t>như</a:t>
            </a:r>
            <a:r>
              <a:rPr lang="en-US" dirty="0"/>
              <a:t> </a:t>
            </a:r>
            <a:r>
              <a:rPr lang="en-US" dirty="0" err="1"/>
              <a:t>cờ</a:t>
            </a:r>
            <a:r>
              <a:rPr lang="en-US" dirty="0"/>
              <a:t> </a:t>
            </a:r>
            <a:r>
              <a:rPr lang="en-US" dirty="0" err="1"/>
              <a:t>vua</a:t>
            </a:r>
            <a:r>
              <a:rPr lang="en-US" dirty="0"/>
              <a:t>, </a:t>
            </a:r>
            <a:r>
              <a:rPr lang="en-US" dirty="0" err="1"/>
              <a:t>cờ</a:t>
            </a:r>
            <a:r>
              <a:rPr lang="en-US" dirty="0"/>
              <a:t> </a:t>
            </a:r>
            <a:r>
              <a:rPr lang="en-US" dirty="0" err="1"/>
              <a:t>tướng</a:t>
            </a:r>
            <a:r>
              <a:rPr lang="en-US" dirty="0"/>
              <a:t>, </a:t>
            </a:r>
            <a:r>
              <a:rPr lang="en-US" dirty="0" err="1"/>
              <a:t>cờ</a:t>
            </a:r>
            <a:r>
              <a:rPr lang="en-US" dirty="0"/>
              <a:t> </a:t>
            </a:r>
            <a:r>
              <a:rPr lang="en-US" dirty="0" err="1"/>
              <a:t>vây</a:t>
            </a:r>
            <a:r>
              <a:rPr lang="en-US" dirty="0"/>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49989-8EDC-B2DB-3F20-F08EE9D74A39}"/>
              </a:ext>
            </a:extLst>
          </p:cNvPr>
          <p:cNvSpPr>
            <a:spLocks noGrp="1"/>
          </p:cNvSpPr>
          <p:nvPr>
            <p:ph type="title"/>
          </p:nvPr>
        </p:nvSpPr>
        <p:spPr/>
        <p:txBody>
          <a:bodyPr/>
          <a:lstStyle/>
          <a:p>
            <a:r>
              <a:rPr lang="en-US" dirty="0" err="1"/>
              <a:t>Đọc</a:t>
            </a:r>
            <a:r>
              <a:rPr lang="en-US" dirty="0"/>
              <a:t> </a:t>
            </a:r>
            <a:r>
              <a:rPr lang="en-US" dirty="0" err="1"/>
              <a:t>thêm</a:t>
            </a:r>
            <a:r>
              <a:rPr lang="en-US" dirty="0"/>
              <a:t>: Monte Carlo Search Tree</a:t>
            </a:r>
          </a:p>
        </p:txBody>
      </p:sp>
      <p:sp>
        <p:nvSpPr>
          <p:cNvPr id="3" name="Content Placeholder 2">
            <a:extLst>
              <a:ext uri="{FF2B5EF4-FFF2-40B4-BE49-F238E27FC236}">
                <a16:creationId xmlns:a16="http://schemas.microsoft.com/office/drawing/2014/main" id="{BA4C0D2D-602C-7A3A-4139-13E2C35B7ED1}"/>
              </a:ext>
            </a:extLst>
          </p:cNvPr>
          <p:cNvSpPr>
            <a:spLocks noGrp="1"/>
          </p:cNvSpPr>
          <p:nvPr>
            <p:ph idx="1"/>
          </p:nvPr>
        </p:nvSpPr>
        <p:spPr/>
        <p:txBody>
          <a:bodyPr/>
          <a:lstStyle/>
          <a:p>
            <a:r>
              <a:rPr lang="en-US" dirty="0" err="1"/>
              <a:t>Tìm</a:t>
            </a:r>
            <a:r>
              <a:rPr lang="en-US" dirty="0"/>
              <a:t> </a:t>
            </a:r>
            <a:r>
              <a:rPr lang="en-US" dirty="0" err="1"/>
              <a:t>kiếm</a:t>
            </a:r>
            <a:r>
              <a:rPr lang="en-US" dirty="0"/>
              <a:t> </a:t>
            </a:r>
            <a:r>
              <a:rPr lang="en-US" dirty="0" err="1"/>
              <a:t>dựa</a:t>
            </a:r>
            <a:r>
              <a:rPr lang="en-US" dirty="0"/>
              <a:t> </a:t>
            </a:r>
            <a:r>
              <a:rPr lang="en-US" dirty="0" err="1"/>
              <a:t>trên</a:t>
            </a:r>
            <a:r>
              <a:rPr lang="en-US" dirty="0"/>
              <a:t> </a:t>
            </a:r>
            <a:r>
              <a:rPr lang="en-US" dirty="0" err="1"/>
              <a:t>xác</a:t>
            </a:r>
            <a:r>
              <a:rPr lang="en-US" dirty="0"/>
              <a:t> </a:t>
            </a:r>
            <a:r>
              <a:rPr lang="en-US" dirty="0" err="1"/>
              <a:t>suất</a:t>
            </a:r>
            <a:r>
              <a:rPr lang="en-US" dirty="0"/>
              <a:t> </a:t>
            </a:r>
            <a:r>
              <a:rPr lang="en-US" dirty="0" err="1"/>
              <a:t>và</a:t>
            </a:r>
            <a:r>
              <a:rPr lang="en-US" dirty="0"/>
              <a:t> </a:t>
            </a:r>
            <a:r>
              <a:rPr lang="en-US" dirty="0" err="1"/>
              <a:t>mô</a:t>
            </a:r>
            <a:r>
              <a:rPr lang="en-US" dirty="0"/>
              <a:t> </a:t>
            </a:r>
            <a:r>
              <a:rPr lang="en-US" dirty="0" err="1"/>
              <a:t>phỏng</a:t>
            </a:r>
            <a:endParaRPr lang="en-US" dirty="0"/>
          </a:p>
          <a:p>
            <a:r>
              <a:rPr lang="en-US" dirty="0" err="1"/>
              <a:t>Phù</a:t>
            </a:r>
            <a:r>
              <a:rPr lang="en-US" dirty="0"/>
              <a:t> </a:t>
            </a:r>
            <a:r>
              <a:rPr lang="en-US" dirty="0" err="1"/>
              <a:t>hợp</a:t>
            </a:r>
            <a:r>
              <a:rPr lang="en-US" dirty="0"/>
              <a:t> </a:t>
            </a:r>
            <a:r>
              <a:rPr lang="en-US" dirty="0" err="1"/>
              <a:t>với</a:t>
            </a:r>
            <a:r>
              <a:rPr lang="en-US" dirty="0"/>
              <a:t> </a:t>
            </a:r>
            <a:r>
              <a:rPr lang="en-US" dirty="0" err="1"/>
              <a:t>các</a:t>
            </a:r>
            <a:r>
              <a:rPr lang="en-US" dirty="0"/>
              <a:t> </a:t>
            </a:r>
            <a:r>
              <a:rPr lang="en-US" dirty="0" err="1"/>
              <a:t>bài</a:t>
            </a:r>
            <a:r>
              <a:rPr lang="en-US" dirty="0"/>
              <a:t> </a:t>
            </a:r>
            <a:r>
              <a:rPr lang="en-US" dirty="0" err="1"/>
              <a:t>toán</a:t>
            </a:r>
            <a:r>
              <a:rPr lang="en-US" dirty="0"/>
              <a:t> </a:t>
            </a:r>
            <a:r>
              <a:rPr lang="en-US" dirty="0" err="1"/>
              <a:t>mà</a:t>
            </a:r>
            <a:r>
              <a:rPr lang="en-US" dirty="0"/>
              <a:t> </a:t>
            </a:r>
            <a:r>
              <a:rPr lang="en-US" dirty="0" err="1"/>
              <a:t>chưa</a:t>
            </a:r>
            <a:r>
              <a:rPr lang="en-US" dirty="0"/>
              <a:t> </a:t>
            </a:r>
            <a:r>
              <a:rPr lang="en-US" dirty="0" err="1"/>
              <a:t>có</a:t>
            </a:r>
            <a:r>
              <a:rPr lang="en-US" dirty="0"/>
              <a:t> tri </a:t>
            </a:r>
            <a:r>
              <a:rPr lang="en-US" dirty="0" err="1"/>
              <a:t>thức</a:t>
            </a:r>
            <a:r>
              <a:rPr lang="en-US" dirty="0"/>
              <a:t>/</a:t>
            </a:r>
            <a:r>
              <a:rPr lang="en-US" dirty="0" err="1"/>
              <a:t>kinh</a:t>
            </a:r>
            <a:r>
              <a:rPr lang="en-US" dirty="0"/>
              <a:t> </a:t>
            </a:r>
            <a:r>
              <a:rPr lang="en-US" dirty="0" err="1"/>
              <a:t>nghiệm</a:t>
            </a:r>
            <a:r>
              <a:rPr lang="en-US" dirty="0"/>
              <a:t> </a:t>
            </a:r>
            <a:r>
              <a:rPr lang="en-US" dirty="0" err="1"/>
              <a:t>tường</a:t>
            </a:r>
            <a:r>
              <a:rPr lang="en-US" dirty="0"/>
              <a:t> </a:t>
            </a:r>
            <a:r>
              <a:rPr lang="en-US" dirty="0" err="1"/>
              <a:t>minh</a:t>
            </a:r>
            <a:endParaRPr lang="en-US" dirty="0"/>
          </a:p>
          <a:p>
            <a:r>
              <a:rPr lang="en-US" dirty="0" err="1"/>
              <a:t>Có</a:t>
            </a:r>
            <a:r>
              <a:rPr lang="en-US" dirty="0"/>
              <a:t> </a:t>
            </a:r>
            <a:r>
              <a:rPr lang="en-US" dirty="0" err="1"/>
              <a:t>thể</a:t>
            </a:r>
            <a:r>
              <a:rPr lang="en-US" dirty="0"/>
              <a:t> </a:t>
            </a:r>
            <a:r>
              <a:rPr lang="en-US" dirty="0" err="1"/>
              <a:t>dùng</a:t>
            </a:r>
            <a:r>
              <a:rPr lang="en-US" dirty="0"/>
              <a:t> online </a:t>
            </a:r>
            <a:r>
              <a:rPr lang="en-US" dirty="0" err="1"/>
              <a:t>trong</a:t>
            </a:r>
            <a:r>
              <a:rPr lang="en-US" dirty="0"/>
              <a:t> </a:t>
            </a:r>
            <a:r>
              <a:rPr lang="en-US" dirty="0" err="1"/>
              <a:t>pha</a:t>
            </a:r>
            <a:r>
              <a:rPr lang="en-US" dirty="0"/>
              <a:t> </a:t>
            </a:r>
            <a:r>
              <a:rPr lang="en-US" dirty="0" err="1"/>
              <a:t>tìm</a:t>
            </a:r>
            <a:r>
              <a:rPr lang="en-US" dirty="0"/>
              <a:t> </a:t>
            </a:r>
            <a:r>
              <a:rPr lang="en-US" dirty="0" err="1"/>
              <a:t>kiếm</a:t>
            </a:r>
            <a:r>
              <a:rPr lang="en-US" dirty="0"/>
              <a:t> </a:t>
            </a:r>
            <a:r>
              <a:rPr lang="en-US" dirty="0" err="1"/>
              <a:t>hoặc</a:t>
            </a:r>
            <a:r>
              <a:rPr lang="en-US" dirty="0"/>
              <a:t> offline (</a:t>
            </a:r>
            <a:r>
              <a:rPr lang="en-US" dirty="0" err="1"/>
              <a:t>kết</a:t>
            </a:r>
            <a:r>
              <a:rPr lang="en-US" dirty="0"/>
              <a:t> </a:t>
            </a:r>
            <a:r>
              <a:rPr lang="en-US" dirty="0" err="1"/>
              <a:t>hợp</a:t>
            </a:r>
            <a:r>
              <a:rPr lang="en-US" dirty="0"/>
              <a:t> </a:t>
            </a:r>
            <a:r>
              <a:rPr lang="en-US" dirty="0" err="1"/>
              <a:t>với</a:t>
            </a:r>
            <a:r>
              <a:rPr lang="en-US" dirty="0"/>
              <a:t> </a:t>
            </a:r>
            <a:r>
              <a:rPr lang="en-US" dirty="0" err="1"/>
              <a:t>một</a:t>
            </a:r>
            <a:r>
              <a:rPr lang="en-US" dirty="0"/>
              <a:t> </a:t>
            </a:r>
            <a:r>
              <a:rPr lang="en-US" dirty="0" err="1"/>
              <a:t>phương</a:t>
            </a:r>
            <a:r>
              <a:rPr lang="en-US" dirty="0"/>
              <a:t> </a:t>
            </a:r>
            <a:r>
              <a:rPr lang="en-US" dirty="0" err="1"/>
              <a:t>pháp</a:t>
            </a:r>
            <a:r>
              <a:rPr lang="en-US" dirty="0"/>
              <a:t> </a:t>
            </a:r>
            <a:r>
              <a:rPr lang="en-US" dirty="0" err="1"/>
              <a:t>học</a:t>
            </a:r>
            <a:r>
              <a:rPr lang="en-US" dirty="0"/>
              <a:t> </a:t>
            </a:r>
            <a:r>
              <a:rPr lang="en-US" dirty="0" err="1"/>
              <a:t>máy</a:t>
            </a:r>
            <a:r>
              <a:rPr lang="en-US"/>
              <a:t>)</a:t>
            </a:r>
          </a:p>
        </p:txBody>
      </p:sp>
    </p:spTree>
    <p:extLst>
      <p:ext uri="{BB962C8B-B14F-4D97-AF65-F5344CB8AC3E}">
        <p14:creationId xmlns:p14="http://schemas.microsoft.com/office/powerpoint/2010/main" val="334882014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EFAULTFONTSIZE" val="10"/>
  <p:tag name="DEFAULTWIDTH" val="385"/>
  <p:tag name="DEFAULTHEIGHT" val="283"/>
</p:tagLst>
</file>

<file path=ppt/tags/tag2.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10;V(s) = \max_{s' \in \mathrm{children}(s)} V(s')&#10;\]&#10;\end{document}&#10;"/>
  <p:tag name="FILENAME" val="TP_tmp"/>
  <p:tag name="FORMAT" val="png16m"/>
  <p:tag name="RES" val="1200"/>
  <p:tag name="BLEND" val="0"/>
  <p:tag name="TRANSPARENT" val="0"/>
  <p:tag name="TBUG" val="0"/>
  <p:tag name="ALLOWFS" val="0"/>
  <p:tag name="ORIGWIDTH" val="107"/>
  <p:tag name="PICTUREFILESIZE" val="9043"/>
</p:tagLst>
</file>

<file path=ppt/tags/tag3.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10;V(s) = \mathrm{known}&#10;\]&#10;\end{document}&#10;"/>
  <p:tag name="FILENAME" val="TP_tmp"/>
  <p:tag name="FORMAT" val="png16m"/>
  <p:tag name="RES" val="1200"/>
  <p:tag name="BLEND" val="0"/>
  <p:tag name="TRANSPARENT" val="0"/>
  <p:tag name="TBUG" val="0"/>
  <p:tag name="ALLOWFS" val="0"/>
  <p:tag name="ORIGWIDTH" val="62"/>
  <p:tag name="PICTUREFILESIZE" val="4173"/>
</p:tagLst>
</file>

<file path=ppt/tags/tag4.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10;V(s) = \max_{s' \in \mathrm{successors}(s)} V(s')&#10;\]&#10;\end{document}&#10;"/>
  <p:tag name="FILENAME" val="TP_tmp"/>
  <p:tag name="FORMAT" val="png16m"/>
  <p:tag name="RES" val="1200"/>
  <p:tag name="BLEND" val="0"/>
  <p:tag name="TRANSPARENT" val="0"/>
  <p:tag name="TBUG" val="0"/>
  <p:tag name="ALLOWFS" val="0"/>
  <p:tag name="ORIGWIDTH" val="115"/>
  <p:tag name="PICTUREFILESIZE" val="9848"/>
</p:tagLst>
</file>

<file path=ppt/tags/tag5.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10;V(s) = \mathrm{known}&#10;\]&#10;\end{document}&#10;"/>
  <p:tag name="FILENAME" val="TP_tmp"/>
  <p:tag name="FORMAT" val="png16m"/>
  <p:tag name="RES" val="1200"/>
  <p:tag name="BLEND" val="0"/>
  <p:tag name="TRANSPARENT" val="0"/>
  <p:tag name="TBUG" val="0"/>
  <p:tag name="ALLOWFS" val="0"/>
  <p:tag name="ORIGWIDTH" val="62"/>
  <p:tag name="PICTUREFILESIZE" val="4173"/>
</p:tagLst>
</file>

<file path=ppt/tags/tag6.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10;V(s') = \min_{s \in \mathrm{successors}(s')} V(s)&#10;\]&#10;\end{document}&#10;"/>
  <p:tag name="FILENAME" val="TP_tmp"/>
  <p:tag name="FORMAT" val="png16m"/>
  <p:tag name="RES" val="1200"/>
  <p:tag name="BLEND" val="0"/>
  <p:tag name="TRANSPARENT" val="0"/>
  <p:tag name="TBUG" val="0"/>
  <p:tag name="ALLOWFS" val="0"/>
  <p:tag name="ORIGWIDTH" val="115"/>
  <p:tag name="PICTUREFILESIZE" val="9213"/>
</p:tagLst>
</file>

<file path=ppt/tags/tag7.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10;V(s) = \max_{s' \in \mathrm{successors}(s)} V(s')&#10;\]&#10;\end{document}&#10;"/>
  <p:tag name="FILENAME" val="TP_tmp"/>
  <p:tag name="FORMAT" val="png16m"/>
  <p:tag name="RES" val="1200"/>
  <p:tag name="BLEND" val="0"/>
  <p:tag name="TRANSPARENT" val="0"/>
  <p:tag name="TBUG" val="0"/>
  <p:tag name="ALLOWFS" val="0"/>
  <p:tag name="ORIGWIDTH" val="115"/>
  <p:tag name="PICTUREFILESIZE" val="9848"/>
</p:tagLst>
</file>

<file path=ppt/tags/tag8.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10;V(s') = \min_{s \in \mathrm{successors}(s')} V(s)&#10;\]&#10;\end{document}&#10;"/>
  <p:tag name="FILENAME" val="TP_tmp"/>
  <p:tag name="FORMAT" val="png16m"/>
  <p:tag name="RES" val="1200"/>
  <p:tag name="BLEND" val="0"/>
  <p:tag name="TRANSPARENT" val="0"/>
  <p:tag name="TBUG" val="0"/>
  <p:tag name="ALLOWFS" val="0"/>
  <p:tag name="ORIGWIDTH" val="115"/>
  <p:tag name="PICTUREFILESIZE" val="9213"/>
</p:tagLst>
</file>

<file path=ppt/tags/tag9.xml><?xml version="1.0" encoding="utf-8"?>
<p:tagLst xmlns:a="http://schemas.openxmlformats.org/drawingml/2006/main" xmlns:r="http://schemas.openxmlformats.org/officeDocument/2006/relationships" xmlns:p="http://schemas.openxmlformats.org/presentationml/2006/main">
  <p:tag name="SOURCE" val="\documentclass{slides}\pagestyle{empty}&#10;\usepackage[usenames]{color}&#10;\begin{document}&#10;\[&#10;{\sc Eval}(s) = w_1 f_1(s) + w_2 f_2(s) + \ldots + w_n f_n(s)&#10;\]&#10;\end{document}&#10;"/>
  <p:tag name="EXTERNALNAME" val="txp_fig"/>
  <p:tag name="BLEND" val="False"/>
  <p:tag name="TRANSPARENT" val="False"/>
  <p:tag name="KEEPFILES" val="False"/>
  <p:tag name="DEBUGPAUSE" val="False"/>
  <p:tag name="RESOLUTION" val="1200"/>
  <p:tag name="TIMEOUT" val="(none)"/>
  <p:tag name="BOXWIDTH" val="727"/>
  <p:tag name="BOXHEIGHT" val="381"/>
  <p:tag name="BOXFONT" val="10"/>
  <p:tag name="BOXWRAP" val="False"/>
  <p:tag name="WORKAROUNDTRANSPARENCYBUG" val="False"/>
  <p:tag name="ALLOWFONTSUBSTITUTION" val="False"/>
  <p:tag name="BITMAPFORMAT" val="pngmono"/>
  <p:tag name="ORIGWIDTH" val="442"/>
  <p:tag name="PICTUREFILESIZE" val="20164"/>
</p:tagLst>
</file>

<file path=ppt/theme/theme1.xml><?xml version="1.0" encoding="utf-8"?>
<a:theme xmlns:a="http://schemas.openxmlformats.org/drawingml/2006/main" name="dan-berkeley-nlp-v1">
  <a:themeElements>
    <a:clrScheme name="dan-berkeley-nlp-v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an-berkeley-nlp-v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an-berkeley-nlp-v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an-berkeley-nlp-v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an-berkeley-nlp-v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an-berkeley-nlp-v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an-berkeley-nlp-v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an-berkeley-nlp-v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an-berkeley-nlp-v1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an-berkeley-nlp-v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an-berkeley-nlp-v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an-berkeley-nlp-v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an-berkeley-nlp-v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an-berkeley-nlp-v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FA12 cs188 lecture 3 -- a-star search</Template>
  <TotalTime>34361</TotalTime>
  <Words>2614</Words>
  <Application>Microsoft Office PowerPoint</Application>
  <PresentationFormat>Widescreen</PresentationFormat>
  <Paragraphs>447</Paragraphs>
  <Slides>43</Slides>
  <Notes>30</Notes>
  <HiddenSlides>5</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43</vt:i4>
      </vt:variant>
    </vt:vector>
  </HeadingPairs>
  <TitlesOfParts>
    <vt:vector size="50" baseType="lpstr">
      <vt:lpstr>Arial</vt:lpstr>
      <vt:lpstr>Calibri</vt:lpstr>
      <vt:lpstr>Symbol</vt:lpstr>
      <vt:lpstr>Times New Roman</vt:lpstr>
      <vt:lpstr>Wingdings</vt:lpstr>
      <vt:lpstr>dan-berkeley-nlp-v1</vt:lpstr>
      <vt:lpstr>Photo Editor Photo</vt:lpstr>
      <vt:lpstr>AIT2004: Cơ sở Trí tuệ nhân tạo </vt:lpstr>
      <vt:lpstr>Học liệu</vt:lpstr>
      <vt:lpstr>Trò chơi trí tuệ (State-of-the-Art – SOTA)</vt:lpstr>
      <vt:lpstr>Game Playing State-of-the-Art</vt:lpstr>
      <vt:lpstr>Trò chơi</vt:lpstr>
      <vt:lpstr>Các loại trò chơi</vt:lpstr>
      <vt:lpstr>Trò chơi “tiêu chuẩn”</vt:lpstr>
      <vt:lpstr>Trò chơi có tổng bằng không (Zero-sum games)</vt:lpstr>
      <vt:lpstr>Tìm kiếm có đối thủ</vt:lpstr>
      <vt:lpstr>Cây tìm kiếm của một tác tử</vt:lpstr>
      <vt:lpstr>Giá trị của trạng thái</vt:lpstr>
      <vt:lpstr>Cây tìm kiếm khi có đối thủ</vt:lpstr>
      <vt:lpstr>Giá trị Minimax</vt:lpstr>
      <vt:lpstr>Cây tìm kiếm của Tic-Tac-Toe</vt:lpstr>
      <vt:lpstr>Tìm kiếm có đối thủ (Minimax)</vt:lpstr>
      <vt:lpstr>Cài đặt minimax</vt:lpstr>
      <vt:lpstr>Refactor</vt:lpstr>
      <vt:lpstr>Ví dụ: Minimax</vt:lpstr>
      <vt:lpstr>Tính chất của Minimax</vt:lpstr>
      <vt:lpstr>Giới hạn nguồn lực</vt:lpstr>
      <vt:lpstr>Cắt nhánh cây tìm kiếm</vt:lpstr>
      <vt:lpstr>Ví dụ: Minimax</vt:lpstr>
      <vt:lpstr>Ví dụ: cắt nhánh Alpha-Beta</vt:lpstr>
      <vt:lpstr>Ví dụ</vt:lpstr>
      <vt:lpstr>Ví dụ</vt:lpstr>
      <vt:lpstr>Cắt nhánh Alpha-Beta</vt:lpstr>
      <vt:lpstr>Thuật toán cắt nhánh Alpha-Beta</vt:lpstr>
      <vt:lpstr>Cài đặt Alpha-Beta</vt:lpstr>
      <vt:lpstr>Alpha-Beta</vt:lpstr>
      <vt:lpstr>Alpha-Beta</vt:lpstr>
      <vt:lpstr>Tính chất của cắt nhánh Alpha-Beta</vt:lpstr>
      <vt:lpstr>Giới hạn tài nguyên</vt:lpstr>
      <vt:lpstr>Giới hạn tài nguyên</vt:lpstr>
      <vt:lpstr>Tại sao</vt:lpstr>
      <vt:lpstr>Hàm ước lượng giá trị</vt:lpstr>
      <vt:lpstr>Hàm giá trị cho Tic-Tac-Toe</vt:lpstr>
      <vt:lpstr>Hàm ước lượng giá trị</vt:lpstr>
      <vt:lpstr>Hàm ước lượng cho Pacman</vt:lpstr>
      <vt:lpstr>Độ sâu tìm kiếm và hàm ước lượng</vt:lpstr>
      <vt:lpstr>Synergies between Evaluation Function and Alpha-Beta?</vt:lpstr>
      <vt:lpstr>Minimax: giả thiết về đối thủ</vt:lpstr>
      <vt:lpstr>Bài tập</vt:lpstr>
      <vt:lpstr>Đọc thêm: Monte Carlo Search Tree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294-5: Statistical Natural Language Processing</dc:title>
  <dc:creator>Preferred Customer</dc:creator>
  <cp:lastModifiedBy>Nguyễn Việt Hà</cp:lastModifiedBy>
  <cp:revision>2154</cp:revision>
  <cp:lastPrinted>2024-09-13T03:25:13Z</cp:lastPrinted>
  <dcterms:created xsi:type="dcterms:W3CDTF">2004-08-27T04:16:05Z</dcterms:created>
  <dcterms:modified xsi:type="dcterms:W3CDTF">2025-09-23T04:08:35Z</dcterms:modified>
</cp:coreProperties>
</file>