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Lst>
  <p:sldSz cy="5143500" cx="9144000"/>
  <p:notesSz cx="7315200" cy="9601200"/>
  <p:embeddedFontLst>
    <p:embeddedFont>
      <p:font typeface="Tahoma"/>
      <p:regular r:id="rId89"/>
      <p:bold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2D200454-40CA-4A62-9FC3-DE9A4176ACB9}">
      <p15:notesGuideLst>
        <p15:guide id="1" orient="horz" pos="3024">
          <p15:clr>
            <a:srgbClr val="A4A3A4"/>
          </p15:clr>
        </p15:guide>
        <p15:guide id="2" pos="2305">
          <p15:clr>
            <a:srgbClr val="A4A3A4"/>
          </p15:clr>
        </p15:guide>
      </p15:notesGuideLst>
    </p:ext>
    <p:ext uri="GoogleSlidesCustomDataVersion2">
      <go:slidesCustomData xmlns:go="http://customooxmlschemas.google.com/" r:id="rId91" roundtripDataSignature="AMtx7mhMkAc1AWh1r3YcnzYaH2qtIt9Y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F1D0D0-C102-47CD-AD03-D1244FFE746E}">
  <a:tblStyle styleId="{7AF1D0D0-C102-47CD-AD03-D1244FFE746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notesViewPr>
    <p:cSldViewPr snapToGrid="0">
      <p:cViewPr varScale="1">
        <p:scale>
          <a:sx n="100" d="100"/>
          <a:sy n="100" d="100"/>
        </p:scale>
        <p:origin x="0" y="0"/>
      </p:cViewPr>
      <p:guideLst>
        <p:guide pos="3024" orient="horz"/>
        <p:guide pos="2305"/>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slide" Target="slides/slide80.xml"/><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88" Type="http://schemas.openxmlformats.org/officeDocument/2006/relationships/slide" Target="slides/slide82.xml"/><Relationship Id="rId43" Type="http://schemas.openxmlformats.org/officeDocument/2006/relationships/slide" Target="slides/slide37.xml"/><Relationship Id="rId87" Type="http://schemas.openxmlformats.org/officeDocument/2006/relationships/slide" Target="slides/slide81.xml"/><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Tahoma-regular.fnt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customschemas.google.com/relationships/presentationmetadata" Target="metadata"/><Relationship Id="rId90" Type="http://schemas.openxmlformats.org/officeDocument/2006/relationships/font" Target="fonts/Tahoma-bold.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3169920" cy="480060"/>
          </a:xfrm>
          <a:prstGeom prst="rect">
            <a:avLst/>
          </a:prstGeom>
          <a:noFill/>
          <a:ln>
            <a:noFill/>
          </a:ln>
        </p:spPr>
        <p:txBody>
          <a:bodyPr anchorCtr="0" anchor="t"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1"/>
            <a:ext cx="3169920" cy="480060"/>
          </a:xfrm>
          <a:prstGeom prst="rect">
            <a:avLst/>
          </a:prstGeom>
          <a:noFill/>
          <a:ln>
            <a:noFill/>
          </a:ln>
        </p:spPr>
        <p:txBody>
          <a:bodyPr anchorCtr="0" anchor="t" bIns="48325" lIns="96650" spcFirstLastPara="1" rIns="96650" wrap="square" tIns="48325">
            <a:noAutofit/>
          </a:bodyPr>
          <a:lstStyle>
            <a:lvl1pPr lvl="0" marR="0" rtl="0" algn="r">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lvl1pPr indent="-228600" lvl="0" marL="4572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5"/>
            <a:ext cx="3169920" cy="480060"/>
          </a:xfrm>
          <a:prstGeom prst="rect">
            <a:avLst/>
          </a:prstGeom>
          <a:noFill/>
          <a:ln>
            <a:noFill/>
          </a:ln>
        </p:spPr>
        <p:txBody>
          <a:bodyPr anchorCtr="0" anchor="b"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1: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a:t>Here we introduce the individual computing unit that makes up neural networks.</a:t>
            </a:r>
            <a:endParaRPr/>
          </a:p>
        </p:txBody>
      </p:sp>
      <p:sp>
        <p:nvSpPr>
          <p:cNvPr id="67" name="Google Shape;67;p1: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2: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Neural networks are called neural because their origins lie in the </a:t>
            </a:r>
            <a:r>
              <a:rPr b="0" lang="en-US" sz="1200">
                <a:solidFill>
                  <a:schemeClr val="dk1"/>
                </a:solidFill>
                <a:latin typeface="Calibri"/>
                <a:ea typeface="Calibri"/>
                <a:cs typeface="Calibri"/>
                <a:sym typeface="Calibri"/>
              </a:rPr>
              <a:t>McCulloch-Pitts neuron, which was  </a:t>
            </a:r>
            <a:r>
              <a:rPr lang="en-US" sz="1200">
                <a:solidFill>
                  <a:schemeClr val="dk1"/>
                </a:solidFill>
                <a:latin typeface="Calibri"/>
                <a:ea typeface="Calibri"/>
                <a:cs typeface="Calibri"/>
                <a:sym typeface="Calibri"/>
              </a:rPr>
              <a:t>a 1943 simplified model of the human neuron as a kind of computing element that could be described in terms of propositional logic. But the modern use in language processing no longer draws on these early biological inspirations and the name neural is really just a kind of historical remnant.</a:t>
            </a:r>
            <a:endParaRPr/>
          </a:p>
        </p:txBody>
      </p:sp>
      <p:sp>
        <p:nvSpPr>
          <p:cNvPr id="75" name="Google Shape;75;p2: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3: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Instead, a modern neural network is a network of small computing units, each of which takes a vector of input values and produces a single output value.</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Over the next few lectures we'll introduce these units and see how they connect together into </a:t>
            </a:r>
            <a:r>
              <a:rPr b="0" lang="en-US" sz="1200">
                <a:solidFill>
                  <a:schemeClr val="dk1"/>
                </a:solidFill>
                <a:latin typeface="Calibri"/>
                <a:ea typeface="Calibri"/>
                <a:cs typeface="Calibri"/>
                <a:sym typeface="Calibri"/>
              </a:rPr>
              <a:t>feedforward networks, so called </a:t>
            </a:r>
            <a:r>
              <a:rPr lang="en-US" sz="1200">
                <a:solidFill>
                  <a:schemeClr val="dk1"/>
                </a:solidFill>
                <a:latin typeface="Calibri"/>
                <a:ea typeface="Calibri"/>
                <a:cs typeface="Calibri"/>
                <a:sym typeface="Calibri"/>
              </a:rPr>
              <a:t>because the computation proceeds iteratively from one layer of units to the next. The use of modern neural nets is often called </a:t>
            </a:r>
            <a:r>
              <a:rPr b="0" lang="en-US" sz="1200">
                <a:solidFill>
                  <a:schemeClr val="dk1"/>
                </a:solidFill>
                <a:latin typeface="Calibri"/>
                <a:ea typeface="Calibri"/>
                <a:cs typeface="Calibri"/>
                <a:sym typeface="Calibri"/>
              </a:rPr>
              <a:t>deep learning</a:t>
            </a:r>
            <a:r>
              <a:rPr lang="en-US" sz="1200">
                <a:solidFill>
                  <a:schemeClr val="dk1"/>
                </a:solidFill>
                <a:latin typeface="Calibri"/>
                <a:ea typeface="Calibri"/>
                <a:cs typeface="Calibri"/>
                <a:sym typeface="Calibri"/>
              </a:rPr>
              <a:t>, because modern networks are often </a:t>
            </a:r>
            <a:r>
              <a:rPr b="0" lang="en-US" sz="1200">
                <a:solidFill>
                  <a:schemeClr val="dk1"/>
                </a:solidFill>
                <a:latin typeface="Calibri"/>
                <a:ea typeface="Calibri"/>
                <a:cs typeface="Calibri"/>
                <a:sym typeface="Calibri"/>
              </a:rPr>
              <a:t>deep </a:t>
            </a:r>
            <a:r>
              <a:rPr lang="en-US" sz="1200">
                <a:solidFill>
                  <a:schemeClr val="dk1"/>
                </a:solidFill>
                <a:latin typeface="Calibri"/>
                <a:ea typeface="Calibri"/>
                <a:cs typeface="Calibri"/>
                <a:sym typeface="Calibri"/>
              </a:rPr>
              <a:t>(have many layers).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The building block of a neural network is a single computational unit. A unit takes a set of real valued numbers as input, performs some computation on them (combining with weights and biases and a non-linear transform), and produces an output. Let's see this in more detail.</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p:txBody>
      </p:sp>
      <p:sp>
        <p:nvSpPr>
          <p:cNvPr id="84" name="Google Shape;84;p3: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4: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its heart, a neural unit is taking a weighted sum of its inputs, with one additional term in the sum called a </a:t>
            </a:r>
            <a:r>
              <a:rPr b="0" lang="en-US" sz="1200">
                <a:solidFill>
                  <a:schemeClr val="dk1"/>
                </a:solidFill>
                <a:latin typeface="Calibri"/>
                <a:ea typeface="Calibri"/>
                <a:cs typeface="Calibri"/>
                <a:sym typeface="Calibri"/>
              </a:rPr>
              <a:t>bias term</a:t>
            </a:r>
            <a:r>
              <a:rPr lang="en-US" sz="1200">
                <a:solidFill>
                  <a:schemeClr val="dk1"/>
                </a:solidFill>
                <a:latin typeface="Calibri"/>
                <a:ea typeface="Calibri"/>
                <a:cs typeface="Calibri"/>
                <a:sym typeface="Calibri"/>
              </a:rPr>
              <a:t>. Given a set of inputs </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1...</a:t>
            </a:r>
            <a:r>
              <a:rPr i="1" lang="en-US" sz="1200">
                <a:solidFill>
                  <a:schemeClr val="dk1"/>
                </a:solidFill>
                <a:latin typeface="Calibri"/>
                <a:ea typeface="Calibri"/>
                <a:cs typeface="Calibri"/>
                <a:sym typeface="Calibri"/>
              </a:rPr>
              <a:t>xn</a:t>
            </a:r>
            <a:r>
              <a:rPr lang="en-US" sz="1200">
                <a:solidFill>
                  <a:schemeClr val="dk1"/>
                </a:solidFill>
                <a:latin typeface="Calibri"/>
                <a:ea typeface="Calibri"/>
                <a:cs typeface="Calibri"/>
                <a:sym typeface="Calibri"/>
              </a:rPr>
              <a:t>, a unit has a set of corresponding weights </a:t>
            </a:r>
            <a:r>
              <a:rPr i="1" lang="en-US" sz="1200">
                <a:solidFill>
                  <a:schemeClr val="dk1"/>
                </a:solidFill>
                <a:latin typeface="Calibri"/>
                <a:ea typeface="Calibri"/>
                <a:cs typeface="Calibri"/>
                <a:sym typeface="Calibri"/>
              </a:rPr>
              <a:t>w</a:t>
            </a:r>
            <a:r>
              <a:rPr lang="en-US" sz="1200">
                <a:solidFill>
                  <a:schemeClr val="dk1"/>
                </a:solidFill>
                <a:latin typeface="Calibri"/>
                <a:ea typeface="Calibri"/>
                <a:cs typeface="Calibri"/>
                <a:sym typeface="Calibri"/>
              </a:rPr>
              <a:t>1...</a:t>
            </a:r>
            <a:r>
              <a:rPr i="1" lang="en-US" sz="1200">
                <a:solidFill>
                  <a:schemeClr val="dk1"/>
                </a:solidFill>
                <a:latin typeface="Calibri"/>
                <a:ea typeface="Calibri"/>
                <a:cs typeface="Calibri"/>
                <a:sym typeface="Calibri"/>
              </a:rPr>
              <a:t>wn </a:t>
            </a:r>
            <a:r>
              <a:rPr lang="en-US" sz="1200">
                <a:solidFill>
                  <a:schemeClr val="dk1"/>
                </a:solidFill>
                <a:latin typeface="Calibri"/>
                <a:ea typeface="Calibri"/>
                <a:cs typeface="Calibri"/>
                <a:sym typeface="Calibri"/>
              </a:rPr>
              <a:t>and a bias </a:t>
            </a:r>
            <a:r>
              <a:rPr i="1" lang="en-US" sz="1200">
                <a:solidFill>
                  <a:schemeClr val="dk1"/>
                </a:solidFill>
                <a:latin typeface="Calibri"/>
                <a:ea typeface="Calibri"/>
                <a:cs typeface="Calibri"/>
                <a:sym typeface="Calibri"/>
              </a:rPr>
              <a:t>b</a:t>
            </a:r>
            <a:r>
              <a:rPr lang="en-US" sz="1200">
                <a:solidFill>
                  <a:schemeClr val="dk1"/>
                </a:solidFill>
                <a:latin typeface="Calibri"/>
                <a:ea typeface="Calibri"/>
                <a:cs typeface="Calibri"/>
                <a:sym typeface="Calibri"/>
              </a:rPr>
              <a:t>, so the weighted sum </a:t>
            </a:r>
            <a:r>
              <a:rPr i="1" lang="en-US" sz="1200">
                <a:solidFill>
                  <a:schemeClr val="dk1"/>
                </a:solidFill>
                <a:latin typeface="Calibri"/>
                <a:ea typeface="Calibri"/>
                <a:cs typeface="Calibri"/>
                <a:sym typeface="Calibri"/>
              </a:rPr>
              <a:t>z </a:t>
            </a:r>
            <a:r>
              <a:rPr lang="en-US" sz="1200">
                <a:solidFill>
                  <a:schemeClr val="dk1"/>
                </a:solidFill>
                <a:latin typeface="Calibri"/>
                <a:ea typeface="Calibri"/>
                <a:cs typeface="Calibri"/>
                <a:sym typeface="Calibri"/>
              </a:rPr>
              <a:t>can be represented as: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Often it’s more convenient to express this weighted sum using vector notation, i.e. a scalar z computed from the dot product of a weight vector </a:t>
            </a:r>
            <a:r>
              <a:rPr i="1" lang="en-US" sz="1200">
                <a:solidFill>
                  <a:schemeClr val="dk1"/>
                </a:solidFill>
                <a:latin typeface="Calibri"/>
                <a:ea typeface="Calibri"/>
                <a:cs typeface="Calibri"/>
                <a:sym typeface="Calibri"/>
              </a:rPr>
              <a:t>w and an input vector x</a:t>
            </a:r>
            <a:r>
              <a:rPr lang="en-US" sz="1200">
                <a:solidFill>
                  <a:schemeClr val="dk1"/>
                </a:solidFill>
                <a:latin typeface="Calibri"/>
                <a:ea typeface="Calibri"/>
                <a:cs typeface="Calibri"/>
                <a:sym typeface="Calibri"/>
              </a:rPr>
              <a:t>, plus a scalar bias </a:t>
            </a:r>
            <a:r>
              <a:rPr i="1" lang="en-US" sz="1200">
                <a:solidFill>
                  <a:schemeClr val="dk1"/>
                </a:solidFill>
                <a:latin typeface="Calibri"/>
                <a:ea typeface="Calibri"/>
                <a:cs typeface="Calibri"/>
                <a:sym typeface="Calibri"/>
              </a:rPr>
              <a:t>b</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Finally, instead of using </a:t>
            </a:r>
            <a:r>
              <a:rPr i="1" lang="en-US" sz="1200">
                <a:solidFill>
                  <a:schemeClr val="dk1"/>
                </a:solidFill>
                <a:latin typeface="Calibri"/>
                <a:ea typeface="Calibri"/>
                <a:cs typeface="Calibri"/>
                <a:sym typeface="Calibri"/>
              </a:rPr>
              <a:t>z</a:t>
            </a:r>
            <a:r>
              <a:rPr lang="en-US" sz="1200">
                <a:solidFill>
                  <a:schemeClr val="dk1"/>
                </a:solidFill>
                <a:latin typeface="Calibri"/>
                <a:ea typeface="Calibri"/>
                <a:cs typeface="Calibri"/>
                <a:sym typeface="Calibri"/>
              </a:rPr>
              <a:t>, a linear function of </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 as the output, neural units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apply a non-linear function </a:t>
            </a:r>
            <a:r>
              <a:rPr i="1" lang="en-US" sz="1200">
                <a:solidFill>
                  <a:schemeClr val="dk1"/>
                </a:solidFill>
                <a:latin typeface="Calibri"/>
                <a:ea typeface="Calibri"/>
                <a:cs typeface="Calibri"/>
                <a:sym typeface="Calibri"/>
              </a:rPr>
              <a:t>f </a:t>
            </a:r>
            <a:r>
              <a:rPr lang="en-US" sz="1200">
                <a:solidFill>
                  <a:schemeClr val="dk1"/>
                </a:solidFill>
                <a:latin typeface="Calibri"/>
                <a:ea typeface="Calibri"/>
                <a:cs typeface="Calibri"/>
                <a:sym typeface="Calibri"/>
              </a:rPr>
              <a:t>to </a:t>
            </a:r>
            <a:r>
              <a:rPr i="1" lang="en-US" sz="1200">
                <a:solidFill>
                  <a:schemeClr val="dk1"/>
                </a:solidFill>
                <a:latin typeface="Calibri"/>
                <a:ea typeface="Calibri"/>
                <a:cs typeface="Calibri"/>
                <a:sym typeface="Calibri"/>
              </a:rPr>
              <a:t>z</a:t>
            </a:r>
            <a:r>
              <a:rPr lang="en-US" sz="1200">
                <a:solidFill>
                  <a:schemeClr val="dk1"/>
                </a:solidFill>
                <a:latin typeface="Calibri"/>
                <a:ea typeface="Calibri"/>
                <a:cs typeface="Calibri"/>
                <a:sym typeface="Calibri"/>
              </a:rPr>
              <a:t>. We will refer to the output of this function as the </a:t>
            </a:r>
            <a:r>
              <a:rPr b="0" lang="en-US" sz="1200">
                <a:solidFill>
                  <a:schemeClr val="dk1"/>
                </a:solidFill>
                <a:latin typeface="Calibri"/>
                <a:ea typeface="Calibri"/>
                <a:cs typeface="Calibri"/>
                <a:sym typeface="Calibri"/>
              </a:rPr>
              <a:t>activation </a:t>
            </a:r>
            <a:r>
              <a:rPr lang="en-US" sz="1200">
                <a:solidFill>
                  <a:schemeClr val="dk1"/>
                </a:solidFill>
                <a:latin typeface="Calibri"/>
                <a:ea typeface="Calibri"/>
                <a:cs typeface="Calibri"/>
                <a:sym typeface="Calibri"/>
              </a:rPr>
              <a:t>value for the unit, </a:t>
            </a:r>
            <a:r>
              <a:rPr i="1" lang="en-US" sz="1200">
                <a:solidFill>
                  <a:schemeClr val="dk1"/>
                </a:solidFill>
                <a:latin typeface="Calibri"/>
                <a:ea typeface="Calibri"/>
                <a:cs typeface="Calibri"/>
                <a:sym typeface="Calibri"/>
              </a:rPr>
              <a:t>a</a:t>
            </a:r>
            <a:r>
              <a:rPr lang="en-US" sz="1200">
                <a:solidFill>
                  <a:schemeClr val="dk1"/>
                </a:solidFill>
                <a:latin typeface="Calibri"/>
                <a:ea typeface="Calibri"/>
                <a:cs typeface="Calibri"/>
                <a:sym typeface="Calibri"/>
              </a:rPr>
              <a:t>. Since we are just modeling a single unit, the activation for the node is in fact the final output of the network, which we’ll generally call </a:t>
            </a:r>
            <a:r>
              <a:rPr i="1" lang="en-US" sz="1200">
                <a:solidFill>
                  <a:schemeClr val="dk1"/>
                </a:solidFill>
                <a:latin typeface="Calibri"/>
                <a:ea typeface="Calibri"/>
                <a:cs typeface="Calibri"/>
                <a:sym typeface="Calibri"/>
              </a:rPr>
              <a:t>y</a:t>
            </a:r>
            <a:r>
              <a:rPr lang="en-US" sz="1200">
                <a:solidFill>
                  <a:schemeClr val="dk1"/>
                </a:solidFill>
                <a:latin typeface="Calibri"/>
                <a:ea typeface="Calibri"/>
                <a:cs typeface="Calibri"/>
                <a:sym typeface="Calibri"/>
              </a:rPr>
              <a:t>. So the value </a:t>
            </a:r>
            <a:r>
              <a:rPr i="1" lang="en-US" sz="1200">
                <a:solidFill>
                  <a:schemeClr val="dk1"/>
                </a:solidFill>
                <a:latin typeface="Calibri"/>
                <a:ea typeface="Calibri"/>
                <a:cs typeface="Calibri"/>
                <a:sym typeface="Calibri"/>
              </a:rPr>
              <a:t>y </a:t>
            </a:r>
            <a:r>
              <a:rPr lang="en-US" sz="1200">
                <a:solidFill>
                  <a:schemeClr val="dk1"/>
                </a:solidFill>
                <a:latin typeface="Calibri"/>
                <a:ea typeface="Calibri"/>
                <a:cs typeface="Calibri"/>
                <a:sym typeface="Calibri"/>
              </a:rPr>
              <a:t>is defined as:  </a:t>
            </a:r>
            <a:r>
              <a:rPr i="1" lang="en-US" sz="1200">
                <a:solidFill>
                  <a:schemeClr val="dk1"/>
                </a:solidFill>
                <a:latin typeface="Calibri"/>
                <a:ea typeface="Calibri"/>
                <a:cs typeface="Calibri"/>
                <a:sym typeface="Calibri"/>
              </a:rPr>
              <a:t>y</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a</a:t>
            </a:r>
            <a:r>
              <a:rPr lang="en-US" sz="1200">
                <a:solidFill>
                  <a:schemeClr val="dk1"/>
                </a:solidFill>
                <a:latin typeface="Calibri"/>
                <a:ea typeface="Calibri"/>
                <a:cs typeface="Calibri"/>
                <a:sym typeface="Calibri"/>
              </a:rPr>
              <a:t>= </a:t>
            </a:r>
            <a:r>
              <a:rPr i="1" lang="en-US" sz="1200">
                <a:solidFill>
                  <a:schemeClr val="dk1"/>
                </a:solidFill>
                <a:latin typeface="Calibri"/>
                <a:ea typeface="Calibri"/>
                <a:cs typeface="Calibri"/>
                <a:sym typeface="Calibri"/>
              </a:rPr>
              <a:t>f</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z</a:t>
            </a: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p:txBody>
      </p:sp>
      <p:sp>
        <p:nvSpPr>
          <p:cNvPr id="99" name="Google Shape;99;p4: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5: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t>We're already seen the sigmoid for logistic regression: 1 over 1 plus exp (-z).</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The sigmoid has a number of advantages; it maps the output into the range [0,1], which is useful in squashing outliers toward 0 or 1. And it’s differentiable, which as we saw is handy for learning </a:t>
            </a:r>
            <a:endParaRPr/>
          </a:p>
          <a:p>
            <a:pPr indent="0" lvl="0" marL="0" rtl="0" algn="l">
              <a:spcBef>
                <a:spcPts val="0"/>
              </a:spcBef>
              <a:spcAft>
                <a:spcPts val="0"/>
              </a:spcAft>
              <a:buNone/>
            </a:pPr>
            <a:r>
              <a:t/>
            </a:r>
            <a:endParaRPr/>
          </a:p>
        </p:txBody>
      </p:sp>
      <p:sp>
        <p:nvSpPr>
          <p:cNvPr id="109" name="Google Shape;109;p5: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6: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a:t>So here's the function that a simple unit with a sigmoid activation function is computing from an input x, a weight vector w, and a bias term b</a:t>
            </a:r>
            <a:endParaRPr/>
          </a:p>
        </p:txBody>
      </p:sp>
      <p:sp>
        <p:nvSpPr>
          <p:cNvPr id="120" name="Google Shape;120;p6: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7: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a:t>And here's our picture of the unit again, showing the pieces</a:t>
            </a:r>
            <a:endParaRPr/>
          </a:p>
        </p:txBody>
      </p:sp>
      <p:sp>
        <p:nvSpPr>
          <p:cNvPr id="127" name="Google Shape;127;p7: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8: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Let’s walk through an example just to get an intuition. Let’s suppose we have a unit with the following weight vector and bias , and given the input</a:t>
            </a:r>
            <a:endParaRPr/>
          </a:p>
          <a:p>
            <a:pPr indent="0" lvl="0" marL="0" rtl="0" algn="l">
              <a:spcBef>
                <a:spcPts val="0"/>
              </a:spcBef>
              <a:spcAft>
                <a:spcPts val="0"/>
              </a:spcAft>
              <a:buNone/>
            </a:pPr>
            <a:r>
              <a:t/>
            </a:r>
            <a:endParaRPr/>
          </a:p>
        </p:txBody>
      </p:sp>
      <p:sp>
        <p:nvSpPr>
          <p:cNvPr id="142" name="Google Shape;142;p8: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49" name="Google Shape;149;p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57" name="Google Shape;157;p1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1: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66" name="Google Shape;166;p1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12: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In practice, the sigmoid is not commonly used as an activation function. A function that is very similar but almost always better is the </a:t>
            </a:r>
            <a:r>
              <a:rPr b="0" lang="en-US" sz="1200">
                <a:solidFill>
                  <a:schemeClr val="dk1"/>
                </a:solidFill>
                <a:latin typeface="Calibri"/>
                <a:ea typeface="Calibri"/>
                <a:cs typeface="Calibri"/>
                <a:sym typeface="Calibri"/>
              </a:rPr>
              <a:t>tanh </a:t>
            </a:r>
            <a:r>
              <a:rPr lang="en-US" sz="1200">
                <a:solidFill>
                  <a:schemeClr val="dk1"/>
                </a:solidFill>
                <a:latin typeface="Calibri"/>
                <a:ea typeface="Calibri"/>
                <a:cs typeface="Calibri"/>
                <a:sym typeface="Calibri"/>
              </a:rPr>
              <a:t>function; tanh is a variant of the sigmoid that ranges from -1 to +1: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The tanh function has the nice properties of being smoothly differentiable and mapping outlier values toward the mean.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simplest activation function, and perhaps the most commonly used, is the rectified linear unit, also called the </a:t>
            </a:r>
            <a:r>
              <a:rPr b="0" lang="en-US" sz="1200">
                <a:solidFill>
                  <a:schemeClr val="dk1"/>
                </a:solidFill>
                <a:latin typeface="Calibri"/>
                <a:ea typeface="Calibri"/>
                <a:cs typeface="Calibri"/>
                <a:sym typeface="Calibri"/>
              </a:rPr>
              <a:t>ReLU</a:t>
            </a:r>
            <a:r>
              <a:rPr lang="en-US" sz="1200">
                <a:solidFill>
                  <a:schemeClr val="dk1"/>
                </a:solidFill>
                <a:latin typeface="Calibri"/>
                <a:ea typeface="Calibri"/>
                <a:cs typeface="Calibri"/>
                <a:sym typeface="Calibri"/>
              </a:rPr>
              <a:t>,. It’s just the same as </a:t>
            </a:r>
            <a:r>
              <a:rPr i="1" lang="en-US" sz="1200">
                <a:solidFill>
                  <a:schemeClr val="dk1"/>
                </a:solidFill>
                <a:latin typeface="Calibri"/>
                <a:ea typeface="Calibri"/>
                <a:cs typeface="Calibri"/>
                <a:sym typeface="Calibri"/>
              </a:rPr>
              <a:t>z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when </a:t>
            </a:r>
            <a:r>
              <a:rPr i="1" lang="en-US" sz="1200">
                <a:solidFill>
                  <a:schemeClr val="dk1"/>
                </a:solidFill>
                <a:latin typeface="Calibri"/>
                <a:ea typeface="Calibri"/>
                <a:cs typeface="Calibri"/>
                <a:sym typeface="Calibri"/>
              </a:rPr>
              <a:t>z </a:t>
            </a:r>
            <a:r>
              <a:rPr lang="en-US" sz="1200">
                <a:solidFill>
                  <a:schemeClr val="dk1"/>
                </a:solidFill>
                <a:latin typeface="Calibri"/>
                <a:ea typeface="Calibri"/>
                <a:cs typeface="Calibri"/>
                <a:sym typeface="Calibri"/>
              </a:rPr>
              <a:t>is positive, and 0 otherwise:</a:t>
            </a:r>
            <a:br>
              <a:rPr lang="en-US" sz="1200">
                <a:solidFill>
                  <a:schemeClr val="dk1"/>
                </a:solidFill>
                <a:latin typeface="Calibri"/>
                <a:ea typeface="Calibri"/>
                <a:cs typeface="Calibri"/>
                <a:sym typeface="Calibri"/>
              </a:rPr>
            </a:b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The Rectified Linear Unit function, has nice properties that result from it being very close to linear. In the sigmoid or tanh functions, very high values of </a:t>
            </a:r>
            <a:r>
              <a:rPr i="1" lang="en-US" sz="1200">
                <a:solidFill>
                  <a:schemeClr val="dk1"/>
                </a:solidFill>
                <a:latin typeface="Calibri"/>
                <a:ea typeface="Calibri"/>
                <a:cs typeface="Calibri"/>
                <a:sym typeface="Calibri"/>
              </a:rPr>
              <a:t>z </a:t>
            </a:r>
            <a:r>
              <a:rPr lang="en-US" sz="1200">
                <a:solidFill>
                  <a:schemeClr val="dk1"/>
                </a:solidFill>
                <a:latin typeface="Calibri"/>
                <a:ea typeface="Calibri"/>
                <a:cs typeface="Calibri"/>
                <a:sym typeface="Calibri"/>
              </a:rPr>
              <a:t>result in values of </a:t>
            </a:r>
            <a:r>
              <a:rPr i="1" lang="en-US" sz="1200">
                <a:solidFill>
                  <a:schemeClr val="dk1"/>
                </a:solidFill>
                <a:latin typeface="Calibri"/>
                <a:ea typeface="Calibri"/>
                <a:cs typeface="Calibri"/>
                <a:sym typeface="Calibri"/>
              </a:rPr>
              <a:t>y </a:t>
            </a:r>
            <a:r>
              <a:rPr lang="en-US" sz="1200">
                <a:solidFill>
                  <a:schemeClr val="dk1"/>
                </a:solidFill>
                <a:latin typeface="Calibri"/>
                <a:ea typeface="Calibri"/>
                <a:cs typeface="Calibri"/>
                <a:sym typeface="Calibri"/>
              </a:rPr>
              <a:t>that are </a:t>
            </a:r>
            <a:r>
              <a:rPr b="1" lang="en-US" sz="1200">
                <a:solidFill>
                  <a:schemeClr val="dk1"/>
                </a:solidFill>
                <a:latin typeface="Calibri"/>
                <a:ea typeface="Calibri"/>
                <a:cs typeface="Calibri"/>
                <a:sym typeface="Calibri"/>
              </a:rPr>
              <a:t>saturated</a:t>
            </a:r>
            <a:r>
              <a:rPr lang="en-US" sz="1200">
                <a:solidFill>
                  <a:schemeClr val="dk1"/>
                </a:solidFill>
                <a:latin typeface="Calibri"/>
                <a:ea typeface="Calibri"/>
                <a:cs typeface="Calibri"/>
                <a:sym typeface="Calibri"/>
              </a:rPr>
              <a:t>, i.e., extremely close to 1 and have derivatives very close to 0. Zero derivatives cause problems for learning: gradients that are almost 0 cause the error signal to get smaller and smaller until it is too small to be used for training, a problem called the </a:t>
            </a:r>
            <a:r>
              <a:rPr b="1" lang="en-US" sz="1200">
                <a:solidFill>
                  <a:schemeClr val="dk1"/>
                </a:solidFill>
                <a:latin typeface="Calibri"/>
                <a:ea typeface="Calibri"/>
                <a:cs typeface="Calibri"/>
                <a:sym typeface="Calibri"/>
              </a:rPr>
              <a:t>vanishing gradient problem</a:t>
            </a:r>
            <a:r>
              <a:rPr lang="en-US" sz="1200">
                <a:solidFill>
                  <a:schemeClr val="dk1"/>
                </a:solidFill>
                <a:latin typeface="Calibri"/>
                <a:ea typeface="Calibri"/>
                <a:cs typeface="Calibri"/>
                <a:sym typeface="Calibri"/>
              </a:rPr>
              <a:t>. Rectifiers don’t have this problem, since the derivative of ReLU for high values of </a:t>
            </a:r>
            <a:r>
              <a:rPr i="1" lang="en-US" sz="1200">
                <a:solidFill>
                  <a:schemeClr val="dk1"/>
                </a:solidFill>
                <a:latin typeface="Calibri"/>
                <a:ea typeface="Calibri"/>
                <a:cs typeface="Calibri"/>
                <a:sym typeface="Calibri"/>
              </a:rPr>
              <a:t>z </a:t>
            </a:r>
            <a:r>
              <a:rPr lang="en-US" sz="1200">
                <a:solidFill>
                  <a:schemeClr val="dk1"/>
                </a:solidFill>
                <a:latin typeface="Calibri"/>
                <a:ea typeface="Calibri"/>
                <a:cs typeface="Calibri"/>
                <a:sym typeface="Calibri"/>
              </a:rPr>
              <a:t>is 1 rather than very close to 0. </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p:txBody>
      </p:sp>
      <p:sp>
        <p:nvSpPr>
          <p:cNvPr id="178" name="Google Shape;178;p12: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3: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a:t>We've introduced the basic neural computing unit that underlies modern neural networks. </a:t>
            </a:r>
            <a:endParaRPr/>
          </a:p>
        </p:txBody>
      </p:sp>
      <p:sp>
        <p:nvSpPr>
          <p:cNvPr id="192" name="Google Shape;192;p13: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4: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power of neural networks comes from combining these units into larger networks.  One of the most clever demonstrations of the need for multi-layer networks was the early proof by Minsky and Papert (1969) that a single neural unit cannot compute some very simple functions of its input. </a:t>
            </a:r>
            <a:endParaRPr/>
          </a:p>
          <a:p>
            <a:pPr indent="0" lvl="0" marL="0" rtl="0" algn="l">
              <a:spcBef>
                <a:spcPts val="0"/>
              </a:spcBef>
              <a:spcAft>
                <a:spcPts val="0"/>
              </a:spcAft>
              <a:buNone/>
            </a:pPr>
            <a:r>
              <a:t/>
            </a:r>
            <a:endParaRPr/>
          </a:p>
        </p:txBody>
      </p:sp>
      <p:sp>
        <p:nvSpPr>
          <p:cNvPr id="200" name="Google Shape;200;p14: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5: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Consider the task of computing elementary logical functions of two inputs, like AND, OR, and XOR. As a reminder, here are the truth tables for those functions: </a:t>
            </a:r>
            <a:endParaRPr/>
          </a:p>
          <a:p>
            <a:pPr indent="0" lvl="0" marL="0" rtl="0" algn="l">
              <a:spcBef>
                <a:spcPts val="0"/>
              </a:spcBef>
              <a:spcAft>
                <a:spcPts val="0"/>
              </a:spcAft>
              <a:buNone/>
            </a:pPr>
            <a:r>
              <a:t/>
            </a:r>
            <a:endParaRPr/>
          </a:p>
        </p:txBody>
      </p:sp>
      <p:sp>
        <p:nvSpPr>
          <p:cNvPr id="208" name="Google Shape;208;p15: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6: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example was first shown for the </a:t>
            </a:r>
            <a:r>
              <a:rPr b="0" lang="en-US" sz="1200">
                <a:solidFill>
                  <a:schemeClr val="dk1"/>
                </a:solidFill>
                <a:latin typeface="Calibri"/>
                <a:ea typeface="Calibri"/>
                <a:cs typeface="Calibri"/>
                <a:sym typeface="Calibri"/>
              </a:rPr>
              <a:t>perceptron</a:t>
            </a:r>
            <a:r>
              <a:rPr lang="en-US" sz="1200">
                <a:solidFill>
                  <a:schemeClr val="dk1"/>
                </a:solidFill>
                <a:latin typeface="Calibri"/>
                <a:ea typeface="Calibri"/>
                <a:cs typeface="Calibri"/>
                <a:sym typeface="Calibri"/>
              </a:rPr>
              <a:t>, which is a very simple neural unit that has a binary output and does </a:t>
            </a:r>
            <a:r>
              <a:rPr b="0" lang="en-US" sz="1200">
                <a:solidFill>
                  <a:schemeClr val="dk1"/>
                </a:solidFill>
                <a:latin typeface="Calibri"/>
                <a:ea typeface="Calibri"/>
                <a:cs typeface="Calibri"/>
                <a:sym typeface="Calibri"/>
              </a:rPr>
              <a:t>not </a:t>
            </a:r>
            <a:r>
              <a:rPr lang="en-US" sz="1200">
                <a:solidFill>
                  <a:schemeClr val="dk1"/>
                </a:solidFill>
                <a:latin typeface="Calibri"/>
                <a:ea typeface="Calibri"/>
                <a:cs typeface="Calibri"/>
                <a:sym typeface="Calibri"/>
              </a:rPr>
              <a:t>have a non-linear activation function.  The output </a:t>
            </a:r>
            <a:r>
              <a:rPr i="1" lang="en-US" sz="1200">
                <a:solidFill>
                  <a:schemeClr val="dk1"/>
                </a:solidFill>
                <a:latin typeface="Calibri"/>
                <a:ea typeface="Calibri"/>
                <a:cs typeface="Calibri"/>
                <a:sym typeface="Calibri"/>
              </a:rPr>
              <a:t>y </a:t>
            </a:r>
            <a:r>
              <a:rPr lang="en-US" sz="1200">
                <a:solidFill>
                  <a:schemeClr val="dk1"/>
                </a:solidFill>
                <a:latin typeface="Calibri"/>
                <a:ea typeface="Calibri"/>
                <a:cs typeface="Calibri"/>
                <a:sym typeface="Calibri"/>
              </a:rPr>
              <a:t>of a perceptron is 0 or 1, and is computed as follows (using the same weight </a:t>
            </a:r>
            <a:endParaRPr/>
          </a:p>
          <a:p>
            <a:pPr indent="0" lvl="0" marL="0" rtl="0" algn="l">
              <a:spcBef>
                <a:spcPts val="0"/>
              </a:spcBef>
              <a:spcAft>
                <a:spcPts val="0"/>
              </a:spcAft>
              <a:buNone/>
            </a:pPr>
            <a:r>
              <a:rPr i="1" lang="en-US" sz="1200">
                <a:solidFill>
                  <a:schemeClr val="dk1"/>
                </a:solidFill>
                <a:latin typeface="Calibri"/>
                <a:ea typeface="Calibri"/>
                <a:cs typeface="Calibri"/>
                <a:sym typeface="Calibri"/>
              </a:rPr>
              <a:t>w</a:t>
            </a:r>
            <a:r>
              <a:rPr lang="en-US" sz="1200">
                <a:solidFill>
                  <a:schemeClr val="dk1"/>
                </a:solidFill>
                <a:latin typeface="Calibri"/>
                <a:ea typeface="Calibri"/>
                <a:cs typeface="Calibri"/>
                <a:sym typeface="Calibri"/>
              </a:rPr>
              <a:t>, input </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 and bias </a:t>
            </a:r>
            <a:r>
              <a:rPr i="1" lang="en-US" sz="1200">
                <a:solidFill>
                  <a:schemeClr val="dk1"/>
                </a:solidFill>
                <a:latin typeface="Calibri"/>
                <a:ea typeface="Calibri"/>
                <a:cs typeface="Calibri"/>
                <a:sym typeface="Calibri"/>
              </a:rPr>
              <a:t>b </a:t>
            </a:r>
            <a:r>
              <a:rPr i="0" lang="en-US" sz="1200">
                <a:solidFill>
                  <a:schemeClr val="dk1"/>
                </a:solidFill>
                <a:latin typeface="Calibri"/>
                <a:ea typeface="Calibri"/>
                <a:cs typeface="Calibri"/>
                <a:sym typeface="Calibri"/>
              </a:rPr>
              <a:t>we've seen already</a:t>
            </a:r>
            <a:br>
              <a:rPr lang="en-US" sz="1200">
                <a:solidFill>
                  <a:schemeClr val="dk1"/>
                </a:solidFill>
                <a:latin typeface="Calibri"/>
                <a:ea typeface="Calibri"/>
                <a:cs typeface="Calibri"/>
                <a:sym typeface="Calibri"/>
              </a:rPr>
            </a:b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p:txBody>
      </p:sp>
      <p:sp>
        <p:nvSpPr>
          <p:cNvPr id="218" name="Google Shape;218;p16: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17: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It’s very easy to build a perceptron that can compute the logical AND and OR functions of its binary inputs</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Here's an example of</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logical AND, showing weights </a:t>
            </a:r>
            <a:r>
              <a:rPr i="1" lang="en-US" sz="1200">
                <a:solidFill>
                  <a:schemeClr val="dk1"/>
                </a:solidFill>
                <a:latin typeface="Calibri"/>
                <a:ea typeface="Calibri"/>
                <a:cs typeface="Calibri"/>
                <a:sym typeface="Calibri"/>
              </a:rPr>
              <a:t>w</a:t>
            </a:r>
            <a:r>
              <a:rPr lang="en-US" sz="1200">
                <a:solidFill>
                  <a:schemeClr val="dk1"/>
                </a:solidFill>
                <a:latin typeface="Calibri"/>
                <a:ea typeface="Calibri"/>
                <a:cs typeface="Calibri"/>
                <a:sym typeface="Calibri"/>
              </a:rPr>
              <a:t>1 = 1 and </a:t>
            </a:r>
            <a:r>
              <a:rPr i="1" lang="en-US" sz="1200">
                <a:solidFill>
                  <a:schemeClr val="dk1"/>
                </a:solidFill>
                <a:latin typeface="Calibri"/>
                <a:ea typeface="Calibri"/>
                <a:cs typeface="Calibri"/>
                <a:sym typeface="Calibri"/>
              </a:rPr>
              <a:t>w</a:t>
            </a:r>
            <a:r>
              <a:rPr lang="en-US" sz="1200">
                <a:solidFill>
                  <a:schemeClr val="dk1"/>
                </a:solidFill>
                <a:latin typeface="Calibri"/>
                <a:ea typeface="Calibri"/>
                <a:cs typeface="Calibri"/>
                <a:sym typeface="Calibri"/>
              </a:rPr>
              <a:t>2 = 1 and bias weight </a:t>
            </a:r>
            <a:r>
              <a:rPr i="1" lang="en-US" sz="1200">
                <a:solidFill>
                  <a:schemeClr val="dk1"/>
                </a:solidFill>
                <a:latin typeface="Calibri"/>
                <a:ea typeface="Calibri"/>
                <a:cs typeface="Calibri"/>
                <a:sym typeface="Calibri"/>
              </a:rPr>
              <a:t>b </a:t>
            </a:r>
            <a:r>
              <a:rPr lang="en-US" sz="1200">
                <a:solidFill>
                  <a:schemeClr val="dk1"/>
                </a:solidFill>
                <a:latin typeface="Calibri"/>
                <a:ea typeface="Calibri"/>
                <a:cs typeface="Calibri"/>
                <a:sym typeface="Calibri"/>
              </a:rPr>
              <a:t>= −1 and logical OR, showing weights </a:t>
            </a:r>
            <a:r>
              <a:rPr i="1" lang="en-US" sz="1200">
                <a:solidFill>
                  <a:schemeClr val="dk1"/>
                </a:solidFill>
                <a:latin typeface="Calibri"/>
                <a:ea typeface="Calibri"/>
                <a:cs typeface="Calibri"/>
                <a:sym typeface="Calibri"/>
              </a:rPr>
              <a:t>w</a:t>
            </a:r>
            <a:r>
              <a:rPr lang="en-US" sz="1200">
                <a:solidFill>
                  <a:schemeClr val="dk1"/>
                </a:solidFill>
                <a:latin typeface="Calibri"/>
                <a:ea typeface="Calibri"/>
                <a:cs typeface="Calibri"/>
                <a:sym typeface="Calibri"/>
              </a:rPr>
              <a:t>1 = 1 and </a:t>
            </a:r>
            <a:r>
              <a:rPr i="1" lang="en-US" sz="1200">
                <a:solidFill>
                  <a:schemeClr val="dk1"/>
                </a:solidFill>
                <a:latin typeface="Calibri"/>
                <a:ea typeface="Calibri"/>
                <a:cs typeface="Calibri"/>
                <a:sym typeface="Calibri"/>
              </a:rPr>
              <a:t>w</a:t>
            </a:r>
            <a:r>
              <a:rPr lang="en-US" sz="1200">
                <a:solidFill>
                  <a:schemeClr val="dk1"/>
                </a:solidFill>
                <a:latin typeface="Calibri"/>
                <a:ea typeface="Calibri"/>
                <a:cs typeface="Calibri"/>
                <a:sym typeface="Calibri"/>
              </a:rPr>
              <a:t>2 = 1 and bias weight </a:t>
            </a:r>
            <a:r>
              <a:rPr i="1" lang="en-US" sz="1200">
                <a:solidFill>
                  <a:schemeClr val="dk1"/>
                </a:solidFill>
                <a:latin typeface="Calibri"/>
                <a:ea typeface="Calibri"/>
                <a:cs typeface="Calibri"/>
                <a:sym typeface="Calibri"/>
              </a:rPr>
              <a:t>b </a:t>
            </a:r>
            <a:r>
              <a:rPr lang="en-US" sz="1200">
                <a:solidFill>
                  <a:schemeClr val="dk1"/>
                </a:solidFill>
                <a:latin typeface="Calibri"/>
                <a:ea typeface="Calibri"/>
                <a:cs typeface="Calibri"/>
                <a:sym typeface="Calibri"/>
              </a:rPr>
              <a:t>= 0. These weights/biases are just one from an infinite number of possible sets of weights and biases that would implement the functions. </a:t>
            </a:r>
            <a:endParaRPr/>
          </a:p>
          <a:p>
            <a:pPr indent="0" lvl="0" marL="0" rtl="0" algn="l">
              <a:spcBef>
                <a:spcPts val="0"/>
              </a:spcBef>
              <a:spcAft>
                <a:spcPts val="0"/>
              </a:spcAft>
              <a:buNone/>
            </a:pPr>
            <a:r>
              <a:t/>
            </a:r>
            <a:endParaRPr/>
          </a:p>
        </p:txBody>
      </p:sp>
      <p:sp>
        <p:nvSpPr>
          <p:cNvPr id="226" name="Google Shape;226;p17: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8: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8: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Let's see what happens with values 1 and 0:</a:t>
            </a:r>
            <a:endParaRPr/>
          </a:p>
          <a:p>
            <a:pPr indent="0" lvl="0" marL="0" rtl="0" algn="l">
              <a:spcBef>
                <a:spcPts val="0"/>
              </a:spcBef>
              <a:spcAft>
                <a:spcPts val="0"/>
              </a:spcAft>
              <a:buNone/>
            </a:pPr>
            <a:r>
              <a:t/>
            </a:r>
            <a:endParaRPr/>
          </a:p>
        </p:txBody>
      </p:sp>
      <p:sp>
        <p:nvSpPr>
          <p:cNvPr id="239" name="Google Shape;239;p18: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9: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How about OR?  Let's see 0 and 1?</a:t>
            </a:r>
            <a:endParaRPr/>
          </a:p>
          <a:p>
            <a:pPr indent="0" lvl="0" marL="0" rtl="0" algn="l">
              <a:spcBef>
                <a:spcPts val="0"/>
              </a:spcBef>
              <a:spcAft>
                <a:spcPts val="0"/>
              </a:spcAft>
              <a:buNone/>
            </a:pPr>
            <a:r>
              <a:t/>
            </a:r>
            <a:endParaRPr/>
          </a:p>
        </p:txBody>
      </p:sp>
      <p:sp>
        <p:nvSpPr>
          <p:cNvPr id="252" name="Google Shape;252;p19: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f96dad6641_0_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f96dad6641_0_2:notes"/>
          <p:cNvSpPr txBox="1"/>
          <p:nvPr>
            <p:ph idx="1" type="body"/>
          </p:nvPr>
        </p:nvSpPr>
        <p:spPr>
          <a:xfrm>
            <a:off x="731521" y="4560571"/>
            <a:ext cx="5852100" cy="432060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65" name="Google Shape;265;g2f96dad6641_0_2:notes"/>
          <p:cNvSpPr txBox="1"/>
          <p:nvPr>
            <p:ph idx="12" type="sldNum"/>
          </p:nvPr>
        </p:nvSpPr>
        <p:spPr>
          <a:xfrm>
            <a:off x="4143587" y="9119475"/>
            <a:ext cx="3169800" cy="4800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0: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81" name="Google Shape;281;p2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21: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Why? Crucially, the perceptron is a </a:t>
            </a:r>
            <a:r>
              <a:rPr b="1" lang="en-US" sz="1200">
                <a:solidFill>
                  <a:schemeClr val="dk1"/>
                </a:solidFill>
                <a:latin typeface="Calibri"/>
                <a:ea typeface="Calibri"/>
                <a:cs typeface="Calibri"/>
                <a:sym typeface="Calibri"/>
              </a:rPr>
              <a:t>linear</a:t>
            </a:r>
            <a:r>
              <a:rPr lang="en-US" sz="1200">
                <a:solidFill>
                  <a:schemeClr val="dk1"/>
                </a:solidFill>
                <a:latin typeface="Calibri"/>
                <a:ea typeface="Calibri"/>
                <a:cs typeface="Calibri"/>
                <a:sym typeface="Calibri"/>
              </a:rPr>
              <a:t> classifier. For a two-dimensional input </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1 and </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2, the perception equation, </a:t>
            </a:r>
            <a:r>
              <a:rPr i="1" lang="en-US" sz="1200">
                <a:solidFill>
                  <a:schemeClr val="dk1"/>
                </a:solidFill>
                <a:latin typeface="Calibri"/>
                <a:ea typeface="Calibri"/>
                <a:cs typeface="Calibri"/>
                <a:sym typeface="Calibri"/>
              </a:rPr>
              <a:t>w</a:t>
            </a:r>
            <a:r>
              <a:rPr lang="en-US" sz="1200">
                <a:solidFill>
                  <a:schemeClr val="dk1"/>
                </a:solidFill>
                <a:latin typeface="Calibri"/>
                <a:ea typeface="Calibri"/>
                <a:cs typeface="Calibri"/>
                <a:sym typeface="Calibri"/>
              </a:rPr>
              <a:t>1 </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1 + </a:t>
            </a:r>
            <a:r>
              <a:rPr i="1" lang="en-US" sz="1200">
                <a:solidFill>
                  <a:schemeClr val="dk1"/>
                </a:solidFill>
                <a:latin typeface="Calibri"/>
                <a:ea typeface="Calibri"/>
                <a:cs typeface="Calibri"/>
                <a:sym typeface="Calibri"/>
              </a:rPr>
              <a:t>w</a:t>
            </a:r>
            <a:r>
              <a:rPr lang="en-US" sz="1200">
                <a:solidFill>
                  <a:schemeClr val="dk1"/>
                </a:solidFill>
                <a:latin typeface="Calibri"/>
                <a:ea typeface="Calibri"/>
                <a:cs typeface="Calibri"/>
                <a:sym typeface="Calibri"/>
              </a:rPr>
              <a:t>2 </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2 + </a:t>
            </a:r>
            <a:r>
              <a:rPr i="1" lang="en-US" sz="1200">
                <a:solidFill>
                  <a:schemeClr val="dk1"/>
                </a:solidFill>
                <a:latin typeface="Calibri"/>
                <a:ea typeface="Calibri"/>
                <a:cs typeface="Calibri"/>
                <a:sym typeface="Calibri"/>
              </a:rPr>
              <a:t>b </a:t>
            </a:r>
            <a:r>
              <a:rPr lang="en-US" sz="1200">
                <a:solidFill>
                  <a:schemeClr val="dk1"/>
                </a:solidFill>
                <a:latin typeface="Calibri"/>
                <a:ea typeface="Calibri"/>
                <a:cs typeface="Calibri"/>
                <a:sym typeface="Calibri"/>
              </a:rPr>
              <a:t>= 0 is the equation of a line. (We can see this by putting it in the standard linear format: </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2 = (−</a:t>
            </a:r>
            <a:r>
              <a:rPr i="1" lang="en-US" sz="1200">
                <a:solidFill>
                  <a:schemeClr val="dk1"/>
                </a:solidFill>
                <a:latin typeface="Calibri"/>
                <a:ea typeface="Calibri"/>
                <a:cs typeface="Calibri"/>
                <a:sym typeface="Calibri"/>
              </a:rPr>
              <a:t>w</a:t>
            </a:r>
            <a:r>
              <a:rPr lang="en-US" sz="1200">
                <a:solidFill>
                  <a:schemeClr val="dk1"/>
                </a:solidFill>
                <a:latin typeface="Calibri"/>
                <a:ea typeface="Calibri"/>
                <a:cs typeface="Calibri"/>
                <a:sym typeface="Calibri"/>
              </a:rPr>
              <a:t>1/</a:t>
            </a:r>
            <a:r>
              <a:rPr i="1" lang="en-US" sz="1200">
                <a:solidFill>
                  <a:schemeClr val="dk1"/>
                </a:solidFill>
                <a:latin typeface="Calibri"/>
                <a:ea typeface="Calibri"/>
                <a:cs typeface="Calibri"/>
                <a:sym typeface="Calibri"/>
              </a:rPr>
              <a:t>w</a:t>
            </a:r>
            <a:r>
              <a:rPr lang="en-US" sz="1200">
                <a:solidFill>
                  <a:schemeClr val="dk1"/>
                </a:solidFill>
                <a:latin typeface="Calibri"/>
                <a:ea typeface="Calibri"/>
                <a:cs typeface="Calibri"/>
                <a:sym typeface="Calibri"/>
              </a:rPr>
              <a:t>2)</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1 + (−</a:t>
            </a:r>
            <a:r>
              <a:rPr i="1" lang="en-US" sz="1200">
                <a:solidFill>
                  <a:schemeClr val="dk1"/>
                </a:solidFill>
                <a:latin typeface="Calibri"/>
                <a:ea typeface="Calibri"/>
                <a:cs typeface="Calibri"/>
                <a:sym typeface="Calibri"/>
              </a:rPr>
              <a:t>b</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w</a:t>
            </a:r>
            <a:r>
              <a:rPr lang="en-US" sz="1200">
                <a:solidFill>
                  <a:schemeClr val="dk1"/>
                </a:solidFill>
                <a:latin typeface="Calibri"/>
                <a:ea typeface="Calibri"/>
                <a:cs typeface="Calibri"/>
                <a:sym typeface="Calibri"/>
              </a:rPr>
              <a:t>2).)</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marR="0" rtl="0" algn="l">
              <a:lnSpc>
                <a:spcPct val="100000"/>
              </a:lnSpc>
              <a:spcBef>
                <a:spcPts val="0"/>
              </a:spcBef>
              <a:spcAft>
                <a:spcPts val="0"/>
              </a:spcAft>
              <a:buClr>
                <a:schemeClr val="dk1"/>
              </a:buClr>
              <a:buSzPts val="900"/>
              <a:buFont typeface="Calibri"/>
              <a:buNone/>
            </a:pPr>
            <a:r>
              <a:rPr lang="en-US"/>
              <a:t>This line acts as a decision boundary in two-dimensional space in which the output 0 is assigned to all inputs lying on one side of the line, and the output 1 to all input points lying on the other side of the line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If we had more than 2 inputs, the decision boundary becomes a hyperplane instead of a line, but the idea is the same, separating the space into two categories. </a:t>
            </a:r>
            <a:endParaRPr/>
          </a:p>
          <a:p>
            <a:pPr indent="0" lvl="0" marL="0" rtl="0" algn="l">
              <a:spcBef>
                <a:spcPts val="0"/>
              </a:spcBef>
              <a:spcAft>
                <a:spcPts val="0"/>
              </a:spcAft>
              <a:buNone/>
            </a:pPr>
            <a:r>
              <a:t/>
            </a:r>
            <a:endParaRPr/>
          </a:p>
        </p:txBody>
      </p:sp>
      <p:sp>
        <p:nvSpPr>
          <p:cNvPr id="288" name="Google Shape;288;p21: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22: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These figures shows the possible logical inputs (00, 01, 10, and 11) and the line drawn by one possible set of parameters for an AND and an OR classifier. Notice that there is simply no way to draw a line that separates the positive cases of XOR (01 and 10) from the negative cases (00 and 11).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CLICK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We say that XOR is not </a:t>
            </a:r>
            <a:r>
              <a:rPr b="1" lang="en-US" sz="1200">
                <a:solidFill>
                  <a:schemeClr val="dk1"/>
                </a:solidFill>
                <a:latin typeface="Calibri"/>
                <a:ea typeface="Calibri"/>
                <a:cs typeface="Calibri"/>
                <a:sym typeface="Calibri"/>
              </a:rPr>
              <a:t>a linearly separable</a:t>
            </a:r>
            <a:r>
              <a:rPr b="0" lang="en-US" sz="12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function. Of course we could draw a boundary with a curve, or some other function, but not a single line. </a:t>
            </a:r>
            <a:endParaRPr/>
          </a:p>
          <a:p>
            <a:pPr indent="0" lvl="0" marL="0" rtl="0" algn="l">
              <a:spcBef>
                <a:spcPts val="0"/>
              </a:spcBef>
              <a:spcAft>
                <a:spcPts val="0"/>
              </a:spcAft>
              <a:buNone/>
            </a:pPr>
            <a:r>
              <a:t/>
            </a:r>
            <a:endParaRPr/>
          </a:p>
        </p:txBody>
      </p:sp>
      <p:sp>
        <p:nvSpPr>
          <p:cNvPr id="295" name="Google Shape;295;p22: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23: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Let’s see an example of how to compute XOR using two layers of ReLU-based units.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middle layer (called </a:t>
            </a:r>
            <a:r>
              <a:rPr i="1" lang="en-US" sz="1200">
                <a:solidFill>
                  <a:schemeClr val="dk1"/>
                </a:solidFill>
                <a:latin typeface="Calibri"/>
                <a:ea typeface="Calibri"/>
                <a:cs typeface="Calibri"/>
                <a:sym typeface="Calibri"/>
              </a:rPr>
              <a:t>h</a:t>
            </a:r>
            <a:r>
              <a:rPr lang="en-US" sz="1200">
                <a:solidFill>
                  <a:schemeClr val="dk1"/>
                </a:solidFill>
                <a:latin typeface="Calibri"/>
                <a:ea typeface="Calibri"/>
                <a:cs typeface="Calibri"/>
                <a:sym typeface="Calibri"/>
              </a:rPr>
              <a:t>) has two units, and the output layer (called </a:t>
            </a:r>
            <a:r>
              <a:rPr i="1" lang="en-US" sz="1200">
                <a:solidFill>
                  <a:schemeClr val="dk1"/>
                </a:solidFill>
                <a:latin typeface="Calibri"/>
                <a:ea typeface="Calibri"/>
                <a:cs typeface="Calibri"/>
                <a:sym typeface="Calibri"/>
              </a:rPr>
              <a:t>y</a:t>
            </a:r>
            <a:r>
              <a:rPr lang="en-US" sz="1200">
                <a:solidFill>
                  <a:schemeClr val="dk1"/>
                </a:solidFill>
                <a:latin typeface="Calibri"/>
                <a:ea typeface="Calibri"/>
                <a:cs typeface="Calibri"/>
                <a:sym typeface="Calibri"/>
              </a:rPr>
              <a:t>) has one unit.  These weights and biases will computes XOR. </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Consider input x = [0, 0] ]. If we multiply each input value by the appropriate weight, sum, and then add the bias </a:t>
            </a:r>
            <a:r>
              <a:rPr i="1" lang="en-US" sz="1200">
                <a:solidFill>
                  <a:schemeClr val="dk1"/>
                </a:solidFill>
                <a:latin typeface="Calibri"/>
                <a:ea typeface="Calibri"/>
                <a:cs typeface="Calibri"/>
                <a:sym typeface="Calibri"/>
              </a:rPr>
              <a:t>b</a:t>
            </a:r>
            <a:r>
              <a:rPr lang="en-US" sz="1200">
                <a:solidFill>
                  <a:schemeClr val="dk1"/>
                </a:solidFill>
                <a:latin typeface="Calibri"/>
                <a:ea typeface="Calibri"/>
                <a:cs typeface="Calibri"/>
                <a:sym typeface="Calibri"/>
              </a:rPr>
              <a:t>, DO THIS ON SLIDE  we get the vector [0 -1]  apply the ReLU and we get [0 0], and the final value is 0.</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03" name="Google Shape;303;p23: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24: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 recommend you pause the video and work through the computation of the remaining 3 possible input pairs to see that the resulting </a:t>
            </a:r>
            <a:r>
              <a:rPr i="1" lang="en-US" sz="1200">
                <a:solidFill>
                  <a:schemeClr val="dk1"/>
                </a:solidFill>
                <a:latin typeface="Calibri"/>
                <a:ea typeface="Calibri"/>
                <a:cs typeface="Calibri"/>
                <a:sym typeface="Calibri"/>
              </a:rPr>
              <a:t>y </a:t>
            </a:r>
            <a:r>
              <a:rPr lang="en-US" sz="1200">
                <a:solidFill>
                  <a:schemeClr val="dk1"/>
                </a:solidFill>
                <a:latin typeface="Calibri"/>
                <a:ea typeface="Calibri"/>
                <a:cs typeface="Calibri"/>
                <a:sym typeface="Calibri"/>
              </a:rPr>
              <a:t>values are 1 for the inputs [0 1] and [1 0] and 0 for [0 0] and [1 1]. </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14" name="Google Shape;314;p24: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25: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It’s also instructive to look at the intermediate results, the outputs of the two hidden nodes </a:t>
            </a:r>
            <a:r>
              <a:rPr i="1" lang="en-US" sz="1200">
                <a:solidFill>
                  <a:schemeClr val="dk1"/>
                </a:solidFill>
                <a:latin typeface="Calibri"/>
                <a:ea typeface="Calibri"/>
                <a:cs typeface="Calibri"/>
                <a:sym typeface="Calibri"/>
              </a:rPr>
              <a:t>h</a:t>
            </a:r>
            <a:r>
              <a:rPr lang="en-US" sz="1200">
                <a:solidFill>
                  <a:schemeClr val="dk1"/>
                </a:solidFill>
                <a:latin typeface="Calibri"/>
                <a:ea typeface="Calibri"/>
                <a:cs typeface="Calibri"/>
                <a:sym typeface="Calibri"/>
              </a:rPr>
              <a:t>1 and </a:t>
            </a:r>
            <a:r>
              <a:rPr i="1" lang="en-US" sz="1200">
                <a:solidFill>
                  <a:schemeClr val="dk1"/>
                </a:solidFill>
                <a:latin typeface="Calibri"/>
                <a:ea typeface="Calibri"/>
                <a:cs typeface="Calibri"/>
                <a:sym typeface="Calibri"/>
              </a:rPr>
              <a:t>h</a:t>
            </a:r>
            <a:r>
              <a:rPr lang="en-US" sz="1200">
                <a:solidFill>
                  <a:schemeClr val="dk1"/>
                </a:solidFill>
                <a:latin typeface="Calibri"/>
                <a:ea typeface="Calibri"/>
                <a:cs typeface="Calibri"/>
                <a:sym typeface="Calibri"/>
              </a:rPr>
              <a:t>2.</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Here are the values of the </a:t>
            </a:r>
            <a:r>
              <a:rPr i="1" lang="en-US" sz="1200">
                <a:solidFill>
                  <a:schemeClr val="dk1"/>
                </a:solidFill>
                <a:latin typeface="Calibri"/>
                <a:ea typeface="Calibri"/>
                <a:cs typeface="Calibri"/>
                <a:sym typeface="Calibri"/>
              </a:rPr>
              <a:t>h </a:t>
            </a:r>
            <a:r>
              <a:rPr lang="en-US" sz="1200">
                <a:solidFill>
                  <a:schemeClr val="dk1"/>
                </a:solidFill>
                <a:latin typeface="Calibri"/>
                <a:ea typeface="Calibri"/>
                <a:cs typeface="Calibri"/>
                <a:sym typeface="Calibri"/>
              </a:rPr>
              <a:t>layer for all 4 inputs. Notice that hidden representations of the two input points </a:t>
            </a:r>
            <a:r>
              <a:rPr i="1" lang="en-US" sz="1200">
                <a:solidFill>
                  <a:schemeClr val="dk1"/>
                </a:solidFill>
                <a:latin typeface="Calibri"/>
                <a:ea typeface="Calibri"/>
                <a:cs typeface="Calibri"/>
                <a:sym typeface="Calibri"/>
              </a:rPr>
              <a:t>x </a:t>
            </a:r>
            <a:r>
              <a:rPr lang="en-US" sz="1200">
                <a:solidFill>
                  <a:schemeClr val="dk1"/>
                </a:solidFill>
                <a:latin typeface="Calibri"/>
                <a:ea typeface="Calibri"/>
                <a:cs typeface="Calibri"/>
                <a:sym typeface="Calibri"/>
              </a:rPr>
              <a:t>= [0 1] and </a:t>
            </a:r>
            <a:r>
              <a:rPr i="1" lang="en-US" sz="1200">
                <a:solidFill>
                  <a:schemeClr val="dk1"/>
                </a:solidFill>
                <a:latin typeface="Calibri"/>
                <a:ea typeface="Calibri"/>
                <a:cs typeface="Calibri"/>
                <a:sym typeface="Calibri"/>
              </a:rPr>
              <a:t>x </a:t>
            </a:r>
            <a:r>
              <a:rPr lang="en-US" sz="1200">
                <a:solidFill>
                  <a:schemeClr val="dk1"/>
                </a:solidFill>
                <a:latin typeface="Calibri"/>
                <a:ea typeface="Calibri"/>
                <a:cs typeface="Calibri"/>
                <a:sym typeface="Calibri"/>
              </a:rPr>
              <a:t>= [1 0] (the two cases with XOR output = 1) are merged to the single point </a:t>
            </a:r>
            <a:r>
              <a:rPr i="1" lang="en-US" sz="1200">
                <a:solidFill>
                  <a:schemeClr val="dk1"/>
                </a:solidFill>
                <a:latin typeface="Calibri"/>
                <a:ea typeface="Calibri"/>
                <a:cs typeface="Calibri"/>
                <a:sym typeface="Calibri"/>
              </a:rPr>
              <a:t>h </a:t>
            </a:r>
            <a:r>
              <a:rPr lang="en-US" sz="1200">
                <a:solidFill>
                  <a:schemeClr val="dk1"/>
                </a:solidFill>
                <a:latin typeface="Calibri"/>
                <a:ea typeface="Calibri"/>
                <a:cs typeface="Calibri"/>
                <a:sym typeface="Calibri"/>
              </a:rPr>
              <a:t>= [1 0]. The merger makes it easy to linearly separate the positive and negative cases of XOR. In other words, we can view the hidden layer of the network </a:t>
            </a:r>
            <a:r>
              <a:rPr b="1" lang="en-US" sz="1200">
                <a:solidFill>
                  <a:schemeClr val="dk1"/>
                </a:solidFill>
                <a:latin typeface="Calibri"/>
                <a:ea typeface="Calibri"/>
                <a:cs typeface="Calibri"/>
                <a:sym typeface="Calibri"/>
              </a:rPr>
              <a:t>as forming a useful representation </a:t>
            </a:r>
            <a:r>
              <a:rPr lang="en-US" sz="1200">
                <a:solidFill>
                  <a:schemeClr val="dk1"/>
                </a:solidFill>
                <a:latin typeface="Calibri"/>
                <a:ea typeface="Calibri"/>
                <a:cs typeface="Calibri"/>
                <a:sym typeface="Calibri"/>
              </a:rPr>
              <a:t>for the input.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In this example we just stipulated the weights. But for real examples the weights for neural networks are learned automatically using the error backpropagation algorithm we'll turn to. That means the hidden layers will learn to form useful representations. This intuition, that neural networks can automatically learn useful representations of the input, is one of their key advantages, </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p:txBody>
      </p:sp>
      <p:sp>
        <p:nvSpPr>
          <p:cNvPr id="323" name="Google Shape;323;p25: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26: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a:t>We've shown why single units cannot compute XOR, and how multilayer networks with non-linearities are able to form new representations that make it possible to solve the problem!</a:t>
            </a:r>
            <a:endParaRPr/>
          </a:p>
        </p:txBody>
      </p:sp>
      <p:sp>
        <p:nvSpPr>
          <p:cNvPr id="332" name="Google Shape;332;p26: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27: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Here we introduce the simple feedforward network. While NLP uses many more complex kinds of networks (the RNN, the Transformer, attention), the simple feed-forward network is still an important tool, and underlies these more complex kinds of networks.</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340" name="Google Shape;340;p27: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8: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28: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 feedforward network is a multilayer network in which the units are connected with no cycles; the outputs from units in each layer are passed to units in the next higher layer, and no outputs are passed back to lower layers.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For historical reasons feed-forward netowrks can also be called multi-layer perceptrons or MLPs (although they aren't technically composed of perceptrons any more).</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Simple feedforward networks have three kinds of nodes: input units, hidden units, and output units.</a:t>
            </a:r>
            <a:endParaRPr/>
          </a:p>
        </p:txBody>
      </p:sp>
      <p:sp>
        <p:nvSpPr>
          <p:cNvPr id="348" name="Google Shape;348;p28: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29: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900"/>
              <a:buFont typeface="Calibri"/>
              <a:buNone/>
            </a:pPr>
            <a:r>
              <a:rPr lang="en-US"/>
              <a:t>Let's go back to logistic regression.  We can think of binary logistic regression as a 1-layer network (</a:t>
            </a:r>
            <a:r>
              <a:rPr lang="en-US" sz="1200"/>
              <a:t>we don't count the input layer in counting layers!).  So we have an  input layer we could call layer 0 consisting of a vector x, we multiply x b a weight matrix, add a scalar bias, and then the 1</a:t>
            </a:r>
            <a:r>
              <a:rPr baseline="30000" lang="en-US" sz="1200"/>
              <a:t>st</a:t>
            </a:r>
            <a:r>
              <a:rPr lang="en-US" sz="1200"/>
              <a:t> layer, the output layer computes a a scalar y as a sigmoid of w dot x + b.</a:t>
            </a:r>
            <a:endParaRPr/>
          </a:p>
          <a:p>
            <a:pPr indent="0" lvl="0" marL="0" rtl="0" algn="l">
              <a:spcBef>
                <a:spcPts val="0"/>
              </a:spcBef>
              <a:spcAft>
                <a:spcPts val="0"/>
              </a:spcAft>
              <a:buNone/>
            </a:pPr>
            <a:r>
              <a:t/>
            </a:r>
            <a:endParaRPr/>
          </a:p>
        </p:txBody>
      </p:sp>
      <p:sp>
        <p:nvSpPr>
          <p:cNvPr id="356" name="Google Shape;356;p29: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30: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a:t>Remember multinomial Logistic Regression, where instead of a single sigmoid at the output, we have a softmax to turn the output values into probabilities</a:t>
            </a:r>
            <a:endParaRPr/>
          </a:p>
        </p:txBody>
      </p:sp>
      <p:sp>
        <p:nvSpPr>
          <p:cNvPr id="393" name="Google Shape;393;p30: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1: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44" name="Google Shape;444;p3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32: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Here are the final equations for a feedforward network with a single hidden layer, which takes an input vector </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 outputs a probability distribution </a:t>
            </a:r>
            <a:r>
              <a:rPr i="1" lang="en-US" sz="1200">
                <a:solidFill>
                  <a:schemeClr val="dk1"/>
                </a:solidFill>
                <a:latin typeface="Calibri"/>
                <a:ea typeface="Calibri"/>
                <a:cs typeface="Calibri"/>
                <a:sym typeface="Calibri"/>
              </a:rPr>
              <a:t>y</a:t>
            </a:r>
            <a:r>
              <a:rPr lang="en-US" sz="1200">
                <a:solidFill>
                  <a:schemeClr val="dk1"/>
                </a:solidFill>
                <a:latin typeface="Calibri"/>
                <a:ea typeface="Calibri"/>
                <a:cs typeface="Calibri"/>
                <a:sym typeface="Calibri"/>
              </a:rPr>
              <a:t>, and is parameterized by weight matrices </a:t>
            </a:r>
            <a:r>
              <a:rPr i="1" lang="en-US" sz="1200">
                <a:solidFill>
                  <a:schemeClr val="dk1"/>
                </a:solidFill>
                <a:latin typeface="Calibri"/>
                <a:ea typeface="Calibri"/>
                <a:cs typeface="Calibri"/>
                <a:sym typeface="Calibri"/>
              </a:rPr>
              <a:t>W </a:t>
            </a:r>
            <a:r>
              <a:rPr lang="en-US" sz="1200">
                <a:solidFill>
                  <a:schemeClr val="dk1"/>
                </a:solidFill>
                <a:latin typeface="Calibri"/>
                <a:ea typeface="Calibri"/>
                <a:cs typeface="Calibri"/>
                <a:sym typeface="Calibri"/>
              </a:rPr>
              <a:t>and </a:t>
            </a:r>
            <a:r>
              <a:rPr i="1" lang="en-US" sz="1200">
                <a:solidFill>
                  <a:schemeClr val="dk1"/>
                </a:solidFill>
                <a:latin typeface="Calibri"/>
                <a:ea typeface="Calibri"/>
                <a:cs typeface="Calibri"/>
                <a:sym typeface="Calibri"/>
              </a:rPr>
              <a:t>U </a:t>
            </a:r>
            <a:r>
              <a:rPr lang="en-US" sz="1200">
                <a:solidFill>
                  <a:schemeClr val="dk1"/>
                </a:solidFill>
                <a:latin typeface="Calibri"/>
                <a:ea typeface="Calibri"/>
                <a:cs typeface="Calibri"/>
                <a:sym typeface="Calibri"/>
              </a:rPr>
              <a:t>and a bias vector </a:t>
            </a:r>
            <a:r>
              <a:rPr i="1" lang="en-US" sz="1200">
                <a:solidFill>
                  <a:schemeClr val="dk1"/>
                </a:solidFill>
                <a:latin typeface="Calibri"/>
                <a:ea typeface="Calibri"/>
                <a:cs typeface="Calibri"/>
                <a:sym typeface="Calibri"/>
              </a:rPr>
              <a:t>b</a:t>
            </a:r>
            <a:r>
              <a:rPr lang="en-US" sz="1200">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p:txBody>
      </p:sp>
      <p:sp>
        <p:nvSpPr>
          <p:cNvPr id="456" name="Google Shape;456;p32: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33: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Each element </a:t>
            </a:r>
            <a:r>
              <a:rPr i="1" lang="en-US" sz="1200">
                <a:solidFill>
                  <a:schemeClr val="dk1"/>
                </a:solidFill>
                <a:latin typeface="Calibri"/>
                <a:ea typeface="Calibri"/>
                <a:cs typeface="Calibri"/>
                <a:sym typeface="Calibri"/>
              </a:rPr>
              <a:t>Wji </a:t>
            </a:r>
            <a:r>
              <a:rPr lang="en-US" sz="1200">
                <a:solidFill>
                  <a:schemeClr val="dk1"/>
                </a:solidFill>
                <a:latin typeface="Calibri"/>
                <a:ea typeface="Calibri"/>
                <a:cs typeface="Calibri"/>
                <a:sym typeface="Calibri"/>
              </a:rPr>
              <a:t>of the weight matrix </a:t>
            </a:r>
            <a:r>
              <a:rPr i="1" lang="en-US" sz="1200">
                <a:solidFill>
                  <a:schemeClr val="dk1"/>
                </a:solidFill>
                <a:latin typeface="Calibri"/>
                <a:ea typeface="Calibri"/>
                <a:cs typeface="Calibri"/>
                <a:sym typeface="Calibri"/>
              </a:rPr>
              <a:t>W </a:t>
            </a:r>
            <a:r>
              <a:rPr lang="en-US" sz="1200">
                <a:solidFill>
                  <a:schemeClr val="dk1"/>
                </a:solidFill>
                <a:latin typeface="Calibri"/>
                <a:ea typeface="Calibri"/>
                <a:cs typeface="Calibri"/>
                <a:sym typeface="Calibri"/>
              </a:rPr>
              <a:t>represents the weight of the connection from the </a:t>
            </a:r>
            <a:r>
              <a:rPr i="1" lang="en-US" sz="1200">
                <a:solidFill>
                  <a:schemeClr val="dk1"/>
                </a:solidFill>
                <a:latin typeface="Calibri"/>
                <a:ea typeface="Calibri"/>
                <a:cs typeface="Calibri"/>
                <a:sym typeface="Calibri"/>
              </a:rPr>
              <a:t>i</a:t>
            </a:r>
            <a:r>
              <a:rPr lang="en-US" sz="1200">
                <a:solidFill>
                  <a:schemeClr val="dk1"/>
                </a:solidFill>
                <a:latin typeface="Calibri"/>
                <a:ea typeface="Calibri"/>
                <a:cs typeface="Calibri"/>
                <a:sym typeface="Calibri"/>
              </a:rPr>
              <a:t>th input unit </a:t>
            </a:r>
            <a:r>
              <a:rPr i="1" lang="en-US" sz="1200">
                <a:solidFill>
                  <a:schemeClr val="dk1"/>
                </a:solidFill>
                <a:latin typeface="Calibri"/>
                <a:ea typeface="Calibri"/>
                <a:cs typeface="Calibri"/>
                <a:sym typeface="Calibri"/>
              </a:rPr>
              <a:t>xi </a:t>
            </a:r>
            <a:r>
              <a:rPr lang="en-US" sz="1200">
                <a:solidFill>
                  <a:schemeClr val="dk1"/>
                </a:solidFill>
                <a:latin typeface="Calibri"/>
                <a:ea typeface="Calibri"/>
                <a:cs typeface="Calibri"/>
                <a:sym typeface="Calibri"/>
              </a:rPr>
              <a:t>to the </a:t>
            </a:r>
            <a:r>
              <a:rPr i="1" lang="en-US" sz="1200">
                <a:solidFill>
                  <a:schemeClr val="dk1"/>
                </a:solidFill>
                <a:latin typeface="Calibri"/>
                <a:ea typeface="Calibri"/>
                <a:cs typeface="Calibri"/>
                <a:sym typeface="Calibri"/>
              </a:rPr>
              <a:t>j</a:t>
            </a:r>
            <a:r>
              <a:rPr lang="en-US" sz="1200">
                <a:solidFill>
                  <a:schemeClr val="dk1"/>
                </a:solidFill>
                <a:latin typeface="Calibri"/>
                <a:ea typeface="Calibri"/>
                <a:cs typeface="Calibri"/>
                <a:sym typeface="Calibri"/>
              </a:rPr>
              <a:t>th hidden unit </a:t>
            </a:r>
            <a:r>
              <a:rPr i="1" lang="en-US" sz="1200">
                <a:solidFill>
                  <a:schemeClr val="dk1"/>
                </a:solidFill>
                <a:latin typeface="Calibri"/>
                <a:ea typeface="Calibri"/>
                <a:cs typeface="Calibri"/>
                <a:sym typeface="Calibri"/>
              </a:rPr>
              <a:t>hj</a:t>
            </a: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a:p>
        </p:txBody>
      </p:sp>
      <p:sp>
        <p:nvSpPr>
          <p:cNvPr id="507" name="Google Shape;507;p33: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3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p34: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We're showing the activation function here as sigma, but it can be the sigmoid, tanh, or ReLU activation function we defined earlier.</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Notice that we’re applying the σ function here to a vector, allowing σ(·), to apply to a vector element-wise, so </a:t>
            </a:r>
            <a:r>
              <a:rPr i="1" lang="en-US" sz="1200">
                <a:solidFill>
                  <a:schemeClr val="dk1"/>
                </a:solidFill>
                <a:latin typeface="Calibri"/>
                <a:ea typeface="Calibri"/>
                <a:cs typeface="Calibri"/>
                <a:sym typeface="Calibri"/>
              </a:rPr>
              <a:t>g</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z</a:t>
            </a:r>
            <a:r>
              <a:rPr lang="en-US" sz="1200">
                <a:solidFill>
                  <a:schemeClr val="dk1"/>
                </a:solidFill>
                <a:latin typeface="Calibri"/>
                <a:ea typeface="Calibri"/>
                <a:cs typeface="Calibri"/>
                <a:sym typeface="Calibri"/>
              </a:rPr>
              <a:t>1,</a:t>
            </a:r>
            <a:r>
              <a:rPr i="1" lang="en-US" sz="1200">
                <a:solidFill>
                  <a:schemeClr val="dk1"/>
                </a:solidFill>
                <a:latin typeface="Calibri"/>
                <a:ea typeface="Calibri"/>
                <a:cs typeface="Calibri"/>
                <a:sym typeface="Calibri"/>
              </a:rPr>
              <a:t>z</a:t>
            </a:r>
            <a:r>
              <a:rPr lang="en-US" sz="1200">
                <a:solidFill>
                  <a:schemeClr val="dk1"/>
                </a:solidFill>
                <a:latin typeface="Calibri"/>
                <a:ea typeface="Calibri"/>
                <a:cs typeface="Calibri"/>
                <a:sym typeface="Calibri"/>
              </a:rPr>
              <a:t>2,</a:t>
            </a:r>
            <a:r>
              <a:rPr i="1" lang="en-US" sz="1200">
                <a:solidFill>
                  <a:schemeClr val="dk1"/>
                </a:solidFill>
                <a:latin typeface="Calibri"/>
                <a:ea typeface="Calibri"/>
                <a:cs typeface="Calibri"/>
                <a:sym typeface="Calibri"/>
              </a:rPr>
              <a:t>z</a:t>
            </a:r>
            <a:r>
              <a:rPr lang="en-US" sz="1200">
                <a:solidFill>
                  <a:schemeClr val="dk1"/>
                </a:solidFill>
                <a:latin typeface="Calibri"/>
                <a:ea typeface="Calibri"/>
                <a:cs typeface="Calibri"/>
                <a:sym typeface="Calibri"/>
              </a:rPr>
              <a:t>3] = [</a:t>
            </a:r>
            <a:r>
              <a:rPr i="1" lang="en-US" sz="1200">
                <a:solidFill>
                  <a:schemeClr val="dk1"/>
                </a:solidFill>
                <a:latin typeface="Calibri"/>
                <a:ea typeface="Calibri"/>
                <a:cs typeface="Calibri"/>
                <a:sym typeface="Calibri"/>
              </a:rPr>
              <a:t>g</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z</a:t>
            </a:r>
            <a:r>
              <a:rPr lang="en-US" sz="1200">
                <a:solidFill>
                  <a:schemeClr val="dk1"/>
                </a:solidFill>
                <a:latin typeface="Calibri"/>
                <a:ea typeface="Calibri"/>
                <a:cs typeface="Calibri"/>
                <a:sym typeface="Calibri"/>
              </a:rPr>
              <a:t>1),</a:t>
            </a:r>
            <a:r>
              <a:rPr i="1" lang="en-US" sz="1200">
                <a:solidFill>
                  <a:schemeClr val="dk1"/>
                </a:solidFill>
                <a:latin typeface="Calibri"/>
                <a:ea typeface="Calibri"/>
                <a:cs typeface="Calibri"/>
                <a:sym typeface="Calibri"/>
              </a:rPr>
              <a:t>g</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z</a:t>
            </a:r>
            <a:r>
              <a:rPr lang="en-US" sz="1200">
                <a:solidFill>
                  <a:schemeClr val="dk1"/>
                </a:solidFill>
                <a:latin typeface="Calibri"/>
                <a:ea typeface="Calibri"/>
                <a:cs typeface="Calibri"/>
                <a:sym typeface="Calibri"/>
              </a:rPr>
              <a:t>2),</a:t>
            </a:r>
            <a:r>
              <a:rPr i="1" lang="en-US" sz="1200">
                <a:solidFill>
                  <a:schemeClr val="dk1"/>
                </a:solidFill>
                <a:latin typeface="Calibri"/>
                <a:ea typeface="Calibri"/>
                <a:cs typeface="Calibri"/>
                <a:sym typeface="Calibri"/>
              </a:rPr>
              <a:t>g</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z</a:t>
            </a:r>
            <a:r>
              <a:rPr lang="en-US" sz="1200">
                <a:solidFill>
                  <a:schemeClr val="dk1"/>
                </a:solidFill>
                <a:latin typeface="Calibri"/>
                <a:ea typeface="Calibri"/>
                <a:cs typeface="Calibri"/>
                <a:sym typeface="Calibri"/>
              </a:rPr>
              <a:t>3)].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As we saw in the lecture on XOR, the resulting value </a:t>
            </a:r>
            <a:r>
              <a:rPr i="1" lang="en-US" sz="1200">
                <a:solidFill>
                  <a:schemeClr val="dk1"/>
                </a:solidFill>
                <a:latin typeface="Calibri"/>
                <a:ea typeface="Calibri"/>
                <a:cs typeface="Calibri"/>
                <a:sym typeface="Calibri"/>
              </a:rPr>
              <a:t>h </a:t>
            </a:r>
            <a:r>
              <a:rPr lang="en-US" sz="1200">
                <a:solidFill>
                  <a:schemeClr val="dk1"/>
                </a:solidFill>
                <a:latin typeface="Calibri"/>
                <a:ea typeface="Calibri"/>
                <a:cs typeface="Calibri"/>
                <a:sym typeface="Calibri"/>
              </a:rPr>
              <a:t>(for </a:t>
            </a:r>
            <a:r>
              <a:rPr i="1" lang="en-US" sz="1200">
                <a:solidFill>
                  <a:schemeClr val="dk1"/>
                </a:solidFill>
                <a:latin typeface="Calibri"/>
                <a:ea typeface="Calibri"/>
                <a:cs typeface="Calibri"/>
                <a:sym typeface="Calibri"/>
              </a:rPr>
              <a:t>hidden</a:t>
            </a:r>
            <a:r>
              <a:rPr lang="en-US" sz="1200">
                <a:solidFill>
                  <a:schemeClr val="dk1"/>
                </a:solidFill>
                <a:latin typeface="Calibri"/>
                <a:ea typeface="Calibri"/>
                <a:cs typeface="Calibri"/>
                <a:sym typeface="Calibri"/>
              </a:rPr>
              <a:t>) forms a </a:t>
            </a:r>
            <a:r>
              <a:rPr i="1" lang="en-US" sz="1200">
                <a:solidFill>
                  <a:schemeClr val="dk1"/>
                </a:solidFill>
                <a:latin typeface="Calibri"/>
                <a:ea typeface="Calibri"/>
                <a:cs typeface="Calibri"/>
                <a:sym typeface="Calibri"/>
              </a:rPr>
              <a:t>representation </a:t>
            </a:r>
            <a:r>
              <a:rPr lang="en-US" sz="1200">
                <a:solidFill>
                  <a:schemeClr val="dk1"/>
                </a:solidFill>
                <a:latin typeface="Calibri"/>
                <a:ea typeface="Calibri"/>
                <a:cs typeface="Calibri"/>
                <a:sym typeface="Calibri"/>
              </a:rPr>
              <a:t>of the input. The role of the output layer is to take this new representation </a:t>
            </a:r>
            <a:r>
              <a:rPr i="1" lang="en-US" sz="1200">
                <a:solidFill>
                  <a:schemeClr val="dk1"/>
                </a:solidFill>
                <a:latin typeface="Calibri"/>
                <a:ea typeface="Calibri"/>
                <a:cs typeface="Calibri"/>
                <a:sym typeface="Calibri"/>
              </a:rPr>
              <a:t>h </a:t>
            </a:r>
            <a:r>
              <a:rPr lang="en-US" sz="1200">
                <a:solidFill>
                  <a:schemeClr val="dk1"/>
                </a:solidFill>
                <a:latin typeface="Calibri"/>
                <a:ea typeface="Calibri"/>
                <a:cs typeface="Calibri"/>
                <a:sym typeface="Calibri"/>
              </a:rPr>
              <a:t>and compute a final output. This output could be a real- valued number, but in many cases the goal of the network is to make some sort of classification decision, and so we will focus on the case of classification.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If we are doing a binary task like sentiment classification, we might have a single output node, and its value </a:t>
            </a:r>
            <a:r>
              <a:rPr i="1" lang="en-US" sz="1200">
                <a:solidFill>
                  <a:schemeClr val="dk1"/>
                </a:solidFill>
                <a:latin typeface="Calibri"/>
                <a:ea typeface="Calibri"/>
                <a:cs typeface="Calibri"/>
                <a:sym typeface="Calibri"/>
              </a:rPr>
              <a:t>y </a:t>
            </a:r>
            <a:r>
              <a:rPr lang="en-US" sz="1200">
                <a:solidFill>
                  <a:schemeClr val="dk1"/>
                </a:solidFill>
                <a:latin typeface="Calibri"/>
                <a:ea typeface="Calibri"/>
                <a:cs typeface="Calibri"/>
                <a:sym typeface="Calibri"/>
              </a:rPr>
              <a:t>is the probability of positive versus negative sentiment.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output layer has a weight matrix </a:t>
            </a:r>
            <a:r>
              <a:rPr i="1" lang="en-US" sz="1200">
                <a:solidFill>
                  <a:schemeClr val="dk1"/>
                </a:solidFill>
                <a:latin typeface="Calibri"/>
                <a:ea typeface="Calibri"/>
                <a:cs typeface="Calibri"/>
                <a:sym typeface="Calibri"/>
              </a:rPr>
              <a:t>U</a:t>
            </a:r>
            <a:r>
              <a:rPr lang="en-US" sz="1200">
                <a:solidFill>
                  <a:schemeClr val="dk1"/>
                </a:solidFill>
                <a:latin typeface="Calibri"/>
                <a:ea typeface="Calibri"/>
                <a:cs typeface="Calibri"/>
                <a:sym typeface="Calibri"/>
              </a:rPr>
              <a:t>, but some models don’t include a bias vector </a:t>
            </a:r>
            <a:r>
              <a:rPr i="1" lang="en-US" sz="1200">
                <a:solidFill>
                  <a:schemeClr val="dk1"/>
                </a:solidFill>
                <a:latin typeface="Calibri"/>
                <a:ea typeface="Calibri"/>
                <a:cs typeface="Calibri"/>
                <a:sym typeface="Calibri"/>
              </a:rPr>
              <a:t>b </a:t>
            </a:r>
            <a:r>
              <a:rPr lang="en-US" sz="1200">
                <a:solidFill>
                  <a:schemeClr val="dk1"/>
                </a:solidFill>
                <a:latin typeface="Calibri"/>
                <a:ea typeface="Calibri"/>
                <a:cs typeface="Calibri"/>
                <a:sym typeface="Calibri"/>
              </a:rPr>
              <a:t>in the output layer, so we’ll simplify by eliminating the bias vector in this example. The weight matrix is multiplied by its input vector (</a:t>
            </a:r>
            <a:r>
              <a:rPr i="1" lang="en-US" sz="1200">
                <a:solidFill>
                  <a:schemeClr val="dk1"/>
                </a:solidFill>
                <a:latin typeface="Calibri"/>
                <a:ea typeface="Calibri"/>
                <a:cs typeface="Calibri"/>
                <a:sym typeface="Calibri"/>
              </a:rPr>
              <a:t>h</a:t>
            </a:r>
            <a:r>
              <a:rPr lang="en-US" sz="1200">
                <a:solidFill>
                  <a:schemeClr val="dk1"/>
                </a:solidFill>
                <a:latin typeface="Calibri"/>
                <a:ea typeface="Calibri"/>
                <a:cs typeface="Calibri"/>
                <a:sym typeface="Calibri"/>
              </a:rPr>
              <a:t>) to produce the intermediate output </a:t>
            </a:r>
            <a:r>
              <a:rPr i="1" lang="en-US" sz="1200">
                <a:solidFill>
                  <a:schemeClr val="dk1"/>
                </a:solidFill>
                <a:latin typeface="Calibri"/>
                <a:ea typeface="Calibri"/>
                <a:cs typeface="Calibri"/>
                <a:sym typeface="Calibri"/>
              </a:rPr>
              <a:t>z</a:t>
            </a: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i="1" lang="en-US" sz="1200">
                <a:solidFill>
                  <a:schemeClr val="dk1"/>
                </a:solidFill>
                <a:latin typeface="Calibri"/>
                <a:ea typeface="Calibri"/>
                <a:cs typeface="Calibri"/>
                <a:sym typeface="Calibri"/>
              </a:rPr>
              <a:t>z</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Uh </a:t>
            </a:r>
            <a:endParaRPr/>
          </a:p>
          <a:p>
            <a:pPr indent="0" lvl="0" marL="0" rtl="0" algn="l">
              <a:spcBef>
                <a:spcPts val="0"/>
              </a:spcBef>
              <a:spcAft>
                <a:spcPts val="0"/>
              </a:spcAft>
              <a:buNone/>
            </a:pPr>
            <a:r>
              <a:rPr i="0" lang="en-US" sz="1200">
                <a:solidFill>
                  <a:schemeClr val="dk1"/>
                </a:solidFill>
                <a:latin typeface="Calibri"/>
                <a:ea typeface="Calibri"/>
                <a:cs typeface="Calibri"/>
                <a:sym typeface="Calibri"/>
              </a:rPr>
              <a:t>And then we use the sigmoid to turn this into a probability.</a:t>
            </a:r>
            <a:endParaRPr i="0"/>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p:txBody>
      </p:sp>
      <p:sp>
        <p:nvSpPr>
          <p:cNvPr id="562" name="Google Shape;562;p34: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3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p35: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900"/>
              <a:buFont typeface="Calibri"/>
              <a:buNone/>
            </a:pPr>
            <a:r>
              <a:rPr lang="en-US"/>
              <a:t>What if you have more than two output classes?</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If we are doing multinomial classification, such as assigning a part-of-speech tag,</a:t>
            </a:r>
            <a:r>
              <a:rPr lang="en-US"/>
              <a:t> we just add more output units (one for each class).</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So we might have one output node for each potential part-of-speech, whose output value is the probability of that part-of-speech,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 The output layer thus gives a probability distribution across the output nodes.   We use the softmax to compute this distribution,  just as for multinomial logistic regression</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That means we can think of a neural network classifier with one hidden layer as building a vector </a:t>
            </a:r>
            <a:r>
              <a:rPr i="1" lang="en-US" sz="1200">
                <a:solidFill>
                  <a:schemeClr val="dk1"/>
                </a:solidFill>
                <a:latin typeface="Calibri"/>
                <a:ea typeface="Calibri"/>
                <a:cs typeface="Calibri"/>
                <a:sym typeface="Calibri"/>
              </a:rPr>
              <a:t>h </a:t>
            </a:r>
            <a:r>
              <a:rPr lang="en-US" sz="1200">
                <a:solidFill>
                  <a:schemeClr val="dk1"/>
                </a:solidFill>
                <a:latin typeface="Calibri"/>
                <a:ea typeface="Calibri"/>
                <a:cs typeface="Calibri"/>
                <a:sym typeface="Calibri"/>
              </a:rPr>
              <a:t>which is a hidden layer representation of the input, and then running standard logistic regression on the features that the network develops in </a:t>
            </a:r>
            <a:r>
              <a:rPr i="1" lang="en-US" sz="1200">
                <a:solidFill>
                  <a:schemeClr val="dk1"/>
                </a:solidFill>
                <a:latin typeface="Calibri"/>
                <a:ea typeface="Calibri"/>
                <a:cs typeface="Calibri"/>
                <a:sym typeface="Calibri"/>
              </a:rPr>
              <a:t>h</a:t>
            </a:r>
            <a:r>
              <a:rPr lang="en-US" sz="1200">
                <a:solidFill>
                  <a:schemeClr val="dk1"/>
                </a:solidFill>
                <a:latin typeface="Calibri"/>
                <a:ea typeface="Calibri"/>
                <a:cs typeface="Calibri"/>
                <a:sym typeface="Calibri"/>
              </a:rPr>
              <a:t>. By contrast, in Chapter 5 the features were mainly designed by hand via feature templates. So a neural network is like logistic regression, but (a) with many layers, since a deep neural network is like layer after layer of logistic regression classifiers, and (b) rather than forming the features by feature templates, the prior layers of the network induce the feature representations themselves.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p:txBody>
      </p:sp>
      <p:sp>
        <p:nvSpPr>
          <p:cNvPr id="613" name="Google Shape;613;p35: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3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7" name="Google Shape;667;p36: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Let’s now set up some notation to make it easier to talk about deeper networks of depth more than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We’ll use superscripts in square brackets to mean layer num- bers, starting at 0 for the input layer. So </a:t>
            </a:r>
            <a:r>
              <a:rPr i="1" lang="en-US" sz="1200">
                <a:solidFill>
                  <a:schemeClr val="dk1"/>
                </a:solidFill>
                <a:latin typeface="Calibri"/>
                <a:ea typeface="Calibri"/>
                <a:cs typeface="Calibri"/>
                <a:sym typeface="Calibri"/>
              </a:rPr>
              <a:t>W </a:t>
            </a:r>
            <a:r>
              <a:rPr lang="en-US" sz="1200">
                <a:solidFill>
                  <a:schemeClr val="dk1"/>
                </a:solidFill>
                <a:latin typeface="Calibri"/>
                <a:ea typeface="Calibri"/>
                <a:cs typeface="Calibri"/>
                <a:sym typeface="Calibri"/>
              </a:rPr>
              <a:t>[1] will mean the weight matrix for the (first) hidden layer, and </a:t>
            </a:r>
            <a:r>
              <a:rPr i="1" lang="en-US" sz="1200">
                <a:solidFill>
                  <a:schemeClr val="dk1"/>
                </a:solidFill>
                <a:latin typeface="Calibri"/>
                <a:ea typeface="Calibri"/>
                <a:cs typeface="Calibri"/>
                <a:sym typeface="Calibri"/>
              </a:rPr>
              <a:t>b</a:t>
            </a:r>
            <a:r>
              <a:rPr lang="en-US" sz="1200">
                <a:solidFill>
                  <a:schemeClr val="dk1"/>
                </a:solidFill>
                <a:latin typeface="Calibri"/>
                <a:ea typeface="Calibri"/>
                <a:cs typeface="Calibri"/>
                <a:sym typeface="Calibri"/>
              </a:rPr>
              <a:t>[1] will mean the bias vector for the (first) hidden layer. We’ll use </a:t>
            </a:r>
            <a:r>
              <a:rPr i="1" lang="en-US" sz="1200">
                <a:solidFill>
                  <a:schemeClr val="dk1"/>
                </a:solidFill>
                <a:latin typeface="Calibri"/>
                <a:ea typeface="Calibri"/>
                <a:cs typeface="Calibri"/>
                <a:sym typeface="Calibri"/>
              </a:rPr>
              <a:t>g</a:t>
            </a:r>
            <a:r>
              <a:rPr lang="en-US" sz="1200">
                <a:solidFill>
                  <a:schemeClr val="dk1"/>
                </a:solidFill>
                <a:latin typeface="Calibri"/>
                <a:ea typeface="Calibri"/>
                <a:cs typeface="Calibri"/>
                <a:sym typeface="Calibri"/>
              </a:rPr>
              <a:t>(·) to stand for the activation function, which will tend to be ReLU or tanh for intermediate layers and softmax for output layers. We’ll use </a:t>
            </a:r>
            <a:r>
              <a:rPr i="1" lang="en-US" sz="1200">
                <a:solidFill>
                  <a:schemeClr val="dk1"/>
                </a:solidFill>
                <a:latin typeface="Calibri"/>
                <a:ea typeface="Calibri"/>
                <a:cs typeface="Calibri"/>
                <a:sym typeface="Calibri"/>
              </a:rPr>
              <a:t>a</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i</a:t>
            </a:r>
            <a:r>
              <a:rPr lang="en-US" sz="1200">
                <a:solidFill>
                  <a:schemeClr val="dk1"/>
                </a:solidFill>
                <a:latin typeface="Calibri"/>
                <a:ea typeface="Calibri"/>
                <a:cs typeface="Calibri"/>
                <a:sym typeface="Calibri"/>
              </a:rPr>
              <a:t>] to mean the output from layer </a:t>
            </a:r>
            <a:r>
              <a:rPr i="1" lang="en-US" sz="1200">
                <a:solidFill>
                  <a:schemeClr val="dk1"/>
                </a:solidFill>
                <a:latin typeface="Calibri"/>
                <a:ea typeface="Calibri"/>
                <a:cs typeface="Calibri"/>
                <a:sym typeface="Calibri"/>
              </a:rPr>
              <a:t>i</a:t>
            </a:r>
            <a:r>
              <a:rPr lang="en-US" sz="1200">
                <a:solidFill>
                  <a:schemeClr val="dk1"/>
                </a:solidFill>
                <a:latin typeface="Calibri"/>
                <a:ea typeface="Calibri"/>
                <a:cs typeface="Calibri"/>
                <a:sym typeface="Calibri"/>
              </a:rPr>
              <a:t>, and </a:t>
            </a:r>
            <a:r>
              <a:rPr i="1" lang="en-US" sz="1200">
                <a:solidFill>
                  <a:schemeClr val="dk1"/>
                </a:solidFill>
                <a:latin typeface="Calibri"/>
                <a:ea typeface="Calibri"/>
                <a:cs typeface="Calibri"/>
                <a:sym typeface="Calibri"/>
              </a:rPr>
              <a:t>z</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i</a:t>
            </a:r>
            <a:r>
              <a:rPr lang="en-US" sz="1200">
                <a:solidFill>
                  <a:schemeClr val="dk1"/>
                </a:solidFill>
                <a:latin typeface="Calibri"/>
                <a:ea typeface="Calibri"/>
                <a:cs typeface="Calibri"/>
                <a:sym typeface="Calibri"/>
              </a:rPr>
              <a:t>] to mean the  combination of weights and biases</a:t>
            </a:r>
            <a:r>
              <a:rPr i="0" lang="en-US" sz="1200">
                <a:solidFill>
                  <a:schemeClr val="dk1"/>
                </a:solidFill>
                <a:latin typeface="Calibri"/>
                <a:ea typeface="Calibri"/>
                <a:cs typeface="Calibri"/>
                <a:sym typeface="Calibri"/>
              </a:rPr>
              <a:t>.  The inputs </a:t>
            </a:r>
            <a:r>
              <a:rPr i="1" lang="en-US" sz="1200">
                <a:solidFill>
                  <a:schemeClr val="dk1"/>
                </a:solidFill>
                <a:latin typeface="Calibri"/>
                <a:ea typeface="Calibri"/>
                <a:cs typeface="Calibri"/>
                <a:sym typeface="Calibri"/>
              </a:rPr>
              <a:t>x </a:t>
            </a:r>
            <a:r>
              <a:rPr lang="en-US" sz="1200">
                <a:solidFill>
                  <a:schemeClr val="dk1"/>
                </a:solidFill>
                <a:latin typeface="Calibri"/>
                <a:ea typeface="Calibri"/>
                <a:cs typeface="Calibri"/>
                <a:sym typeface="Calibri"/>
              </a:rPr>
              <a:t>we’ll refer to more generally as </a:t>
            </a:r>
            <a:r>
              <a:rPr i="1" lang="en-US" sz="1200">
                <a:solidFill>
                  <a:schemeClr val="dk1"/>
                </a:solidFill>
                <a:latin typeface="Calibri"/>
                <a:ea typeface="Calibri"/>
                <a:cs typeface="Calibri"/>
                <a:sym typeface="Calibri"/>
              </a:rPr>
              <a:t>a ^[0]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Thus we can re-represent our 2-layer net as follows: </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p:txBody>
      </p:sp>
      <p:sp>
        <p:nvSpPr>
          <p:cNvPr id="668" name="Google Shape;668;p36: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3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p37: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Note that with this notation, the equations for the computation done at each layer are the same. The algorithm for computing the forward step in an n-layer feedforward network, given the input vector </a:t>
            </a:r>
            <a:r>
              <a:rPr i="1" lang="en-US" sz="1200">
                <a:solidFill>
                  <a:schemeClr val="dk1"/>
                </a:solidFill>
                <a:latin typeface="Calibri"/>
                <a:ea typeface="Calibri"/>
                <a:cs typeface="Calibri"/>
                <a:sym typeface="Calibri"/>
              </a:rPr>
              <a:t>a</a:t>
            </a:r>
            <a:r>
              <a:rPr lang="en-US" sz="1200">
                <a:solidFill>
                  <a:schemeClr val="dk1"/>
                </a:solidFill>
                <a:latin typeface="Calibri"/>
                <a:ea typeface="Calibri"/>
                <a:cs typeface="Calibri"/>
                <a:sym typeface="Calibri"/>
              </a:rPr>
              <a:t>[0] is thus simply </a:t>
            </a:r>
            <a:endParaRPr/>
          </a:p>
          <a:p>
            <a:pPr indent="0" lvl="0" marL="0" rtl="0" algn="l">
              <a:spcBef>
                <a:spcPts val="0"/>
              </a:spcBef>
              <a:spcAft>
                <a:spcPts val="0"/>
              </a:spcAft>
              <a:buNone/>
            </a:pPr>
            <a:r>
              <a:t/>
            </a:r>
            <a:endParaRPr/>
          </a:p>
        </p:txBody>
      </p:sp>
      <p:sp>
        <p:nvSpPr>
          <p:cNvPr id="721" name="Google Shape;721;p37: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38: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 name="Google Shape;730;p38: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In describing networks, we will often use a slightly simplified notation that represents exactly the same function without referring to an explicit bias node </a:t>
            </a:r>
            <a:r>
              <a:rPr i="1" lang="en-US" sz="1200">
                <a:solidFill>
                  <a:schemeClr val="dk1"/>
                </a:solidFill>
                <a:latin typeface="Calibri"/>
                <a:ea typeface="Calibri"/>
                <a:cs typeface="Calibri"/>
                <a:sym typeface="Calibri"/>
              </a:rPr>
              <a:t>b</a:t>
            </a:r>
            <a:r>
              <a:rPr lang="en-US" sz="1200">
                <a:solidFill>
                  <a:schemeClr val="dk1"/>
                </a:solidFill>
                <a:latin typeface="Calibri"/>
                <a:ea typeface="Calibri"/>
                <a:cs typeface="Calibri"/>
                <a:sym typeface="Calibri"/>
              </a:rPr>
              <a:t>. Instead, we add a dummy node </a:t>
            </a:r>
            <a:r>
              <a:rPr i="1" lang="en-US" sz="1200">
                <a:solidFill>
                  <a:schemeClr val="dk1"/>
                </a:solidFill>
                <a:latin typeface="Calibri"/>
                <a:ea typeface="Calibri"/>
                <a:cs typeface="Calibri"/>
                <a:sym typeface="Calibri"/>
              </a:rPr>
              <a:t>a</a:t>
            </a:r>
            <a:r>
              <a:rPr lang="en-US" sz="1200">
                <a:solidFill>
                  <a:schemeClr val="dk1"/>
                </a:solidFill>
                <a:latin typeface="Calibri"/>
                <a:ea typeface="Calibri"/>
                <a:cs typeface="Calibri"/>
                <a:sym typeface="Calibri"/>
              </a:rPr>
              <a:t>0 to each layer whose value will always be 1. Thus layer 0, the input layer, will have a dummy node </a:t>
            </a:r>
            <a:r>
              <a:rPr i="1" lang="en-US" sz="1200">
                <a:solidFill>
                  <a:schemeClr val="dk1"/>
                </a:solidFill>
                <a:latin typeface="Calibri"/>
                <a:ea typeface="Calibri"/>
                <a:cs typeface="Calibri"/>
                <a:sym typeface="Calibri"/>
              </a:rPr>
              <a:t>a_0^</a:t>
            </a:r>
            <a:r>
              <a:rPr lang="en-US" sz="1200">
                <a:solidFill>
                  <a:schemeClr val="dk1"/>
                </a:solidFill>
                <a:latin typeface="Calibri"/>
                <a:ea typeface="Calibri"/>
                <a:cs typeface="Calibri"/>
                <a:sym typeface="Calibri"/>
              </a:rPr>
              <a:t>[0] = 1, layer 1 0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will have </a:t>
            </a:r>
            <a:r>
              <a:rPr i="1" lang="en-US" sz="1200">
                <a:solidFill>
                  <a:schemeClr val="dk1"/>
                </a:solidFill>
                <a:latin typeface="Calibri"/>
                <a:ea typeface="Calibri"/>
                <a:cs typeface="Calibri"/>
                <a:sym typeface="Calibri"/>
              </a:rPr>
              <a:t>a_0^</a:t>
            </a:r>
            <a:r>
              <a:rPr lang="en-US" sz="1200">
                <a:solidFill>
                  <a:schemeClr val="dk1"/>
                </a:solidFill>
                <a:latin typeface="Calibri"/>
                <a:ea typeface="Calibri"/>
                <a:cs typeface="Calibri"/>
                <a:sym typeface="Calibri"/>
              </a:rPr>
              <a:t>[1] = 1, and so on. This dummy node still has an associated weight, and that weight represents the bias value </a:t>
            </a:r>
            <a:r>
              <a:rPr i="1" lang="en-US" sz="1200">
                <a:solidFill>
                  <a:schemeClr val="dk1"/>
                </a:solidFill>
                <a:latin typeface="Calibri"/>
                <a:ea typeface="Calibri"/>
                <a:cs typeface="Calibri"/>
                <a:sym typeface="Calibri"/>
              </a:rPr>
              <a:t>b</a:t>
            </a:r>
            <a:r>
              <a:rPr lang="en-US" sz="1200">
                <a:solidFill>
                  <a:schemeClr val="dk1"/>
                </a:solidFill>
                <a:latin typeface="Calibri"/>
                <a:ea typeface="Calibri"/>
                <a:cs typeface="Calibri"/>
                <a:sym typeface="Calibri"/>
              </a:rPr>
              <a:t>.</a:t>
            </a:r>
            <a:br>
              <a:rPr lang="en-US" sz="1200">
                <a:solidFill>
                  <a:schemeClr val="dk1"/>
                </a:solidFill>
                <a:latin typeface="Calibri"/>
                <a:ea typeface="Calibri"/>
                <a:cs typeface="Calibri"/>
                <a:sym typeface="Calibri"/>
              </a:rPr>
            </a:b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31" name="Google Shape;731;p38: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3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39: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But now our vector </a:t>
            </a:r>
            <a:r>
              <a:rPr i="1" lang="en-US" sz="1200">
                <a:solidFill>
                  <a:schemeClr val="dk1"/>
                </a:solidFill>
                <a:latin typeface="Calibri"/>
                <a:ea typeface="Calibri"/>
                <a:cs typeface="Calibri"/>
                <a:sym typeface="Calibri"/>
              </a:rPr>
              <a:t>x </a:t>
            </a:r>
            <a:r>
              <a:rPr lang="en-US" sz="1200">
                <a:solidFill>
                  <a:schemeClr val="dk1"/>
                </a:solidFill>
                <a:latin typeface="Calibri"/>
                <a:ea typeface="Calibri"/>
                <a:cs typeface="Calibri"/>
                <a:sym typeface="Calibri"/>
              </a:rPr>
              <a:t>has one extra value.</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738" name="Google Shape;738;p39: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4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p40: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We’ll continue showing the bias as </a:t>
            </a:r>
            <a:r>
              <a:rPr i="1" lang="en-US" sz="1200">
                <a:solidFill>
                  <a:schemeClr val="dk1"/>
                </a:solidFill>
                <a:latin typeface="Calibri"/>
                <a:ea typeface="Calibri"/>
                <a:cs typeface="Calibri"/>
                <a:sym typeface="Calibri"/>
              </a:rPr>
              <a:t>b </a:t>
            </a:r>
            <a:r>
              <a:rPr lang="en-US" sz="1200">
                <a:solidFill>
                  <a:schemeClr val="dk1"/>
                </a:solidFill>
                <a:latin typeface="Calibri"/>
                <a:ea typeface="Calibri"/>
                <a:cs typeface="Calibri"/>
                <a:sym typeface="Calibri"/>
              </a:rPr>
              <a:t>for the learning example in the next lectures, but afterwards we'll switch to this simplified notation without explicit bias terms.</a:t>
            </a:r>
            <a:endParaRPr/>
          </a:p>
          <a:p>
            <a:pPr indent="0" lvl="0" marL="0" rtl="0" algn="l">
              <a:spcBef>
                <a:spcPts val="0"/>
              </a:spcBef>
              <a:spcAft>
                <a:spcPts val="0"/>
              </a:spcAft>
              <a:buNone/>
            </a:pPr>
            <a:r>
              <a:t/>
            </a:r>
            <a:endParaRPr/>
          </a:p>
        </p:txBody>
      </p:sp>
      <p:sp>
        <p:nvSpPr>
          <p:cNvPr id="751" name="Google Shape;751;p40: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4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p41: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a:t>We've seen the feedforward neural networks, the most basic neural network architecture.</a:t>
            </a:r>
            <a:endParaRPr/>
          </a:p>
        </p:txBody>
      </p:sp>
      <p:sp>
        <p:nvSpPr>
          <p:cNvPr id="760" name="Google Shape;760;p41: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4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p42: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a:t>Let's see how the simple feedforward network can be applied to NLP tasks.</a:t>
            </a:r>
            <a:endParaRPr/>
          </a:p>
        </p:txBody>
      </p:sp>
      <p:sp>
        <p:nvSpPr>
          <p:cNvPr id="768" name="Google Shape;768;p42: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43: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775" name="Google Shape;775;p4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44: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782" name="Google Shape;782;p4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45: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825" name="Google Shape;825;p4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46: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832" name="Google Shape;832;p4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47: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908" name="Google Shape;908;p4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48: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955" name="Google Shape;955;p48: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49: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962" name="Google Shape;962;p4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50: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970" name="Google Shape;970;p5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51: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017" name="Google Shape;1017;p5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52: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024" name="Google Shape;1024;p5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5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2" name="Google Shape;1032;p53: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Here's a sketch of this simplified feedforward neural language model with N=3; we have a moving window at time </a:t>
            </a:r>
            <a:r>
              <a:rPr i="1" lang="en-US" sz="1200">
                <a:solidFill>
                  <a:schemeClr val="dk1"/>
                </a:solidFill>
                <a:latin typeface="Calibri"/>
                <a:ea typeface="Calibri"/>
                <a:cs typeface="Calibri"/>
                <a:sym typeface="Calibri"/>
              </a:rPr>
              <a:t>t </a:t>
            </a:r>
            <a:r>
              <a:rPr lang="en-US" sz="1200">
                <a:solidFill>
                  <a:schemeClr val="dk1"/>
                </a:solidFill>
                <a:latin typeface="Calibri"/>
                <a:ea typeface="Calibri"/>
                <a:cs typeface="Calibri"/>
                <a:sym typeface="Calibri"/>
              </a:rPr>
              <a:t>with an embedding vector representing each of the 3 previous words (words </a:t>
            </a:r>
            <a:r>
              <a:rPr i="1" lang="en-US" sz="1200">
                <a:solidFill>
                  <a:schemeClr val="dk1"/>
                </a:solidFill>
                <a:latin typeface="Calibri"/>
                <a:ea typeface="Calibri"/>
                <a:cs typeface="Calibri"/>
                <a:sym typeface="Calibri"/>
              </a:rPr>
              <a:t>wt</a:t>
            </a:r>
            <a:r>
              <a:rPr lang="en-US" sz="1200">
                <a:solidFill>
                  <a:schemeClr val="dk1"/>
                </a:solidFill>
                <a:latin typeface="Calibri"/>
                <a:ea typeface="Calibri"/>
                <a:cs typeface="Calibri"/>
                <a:sym typeface="Calibri"/>
              </a:rPr>
              <a:t>−1, </a:t>
            </a:r>
            <a:r>
              <a:rPr i="1" lang="en-US" sz="1200">
                <a:solidFill>
                  <a:schemeClr val="dk1"/>
                </a:solidFill>
                <a:latin typeface="Calibri"/>
                <a:ea typeface="Calibri"/>
                <a:cs typeface="Calibri"/>
                <a:sym typeface="Calibri"/>
              </a:rPr>
              <a:t>wt</a:t>
            </a:r>
            <a:r>
              <a:rPr lang="en-US" sz="1200">
                <a:solidFill>
                  <a:schemeClr val="dk1"/>
                </a:solidFill>
                <a:latin typeface="Calibri"/>
                <a:ea typeface="Calibri"/>
                <a:cs typeface="Calibri"/>
                <a:sym typeface="Calibri"/>
              </a:rPr>
              <a:t>−2, and </a:t>
            </a:r>
            <a:r>
              <a:rPr i="1" lang="en-US" sz="1200">
                <a:solidFill>
                  <a:schemeClr val="dk1"/>
                </a:solidFill>
                <a:latin typeface="Calibri"/>
                <a:ea typeface="Calibri"/>
                <a:cs typeface="Calibri"/>
                <a:sym typeface="Calibri"/>
              </a:rPr>
              <a:t>wt</a:t>
            </a:r>
            <a:r>
              <a:rPr lang="en-US" sz="1200">
                <a:solidFill>
                  <a:schemeClr val="dk1"/>
                </a:solidFill>
                <a:latin typeface="Calibri"/>
                <a:ea typeface="Calibri"/>
                <a:cs typeface="Calibri"/>
                <a:sym typeface="Calibri"/>
              </a:rPr>
              <a:t>−3). These 3 vectors are concatenated together to produce </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 the input layer of a neural network whose output is a softmax with a probability distribution over words. Thus </a:t>
            </a:r>
            <a:r>
              <a:rPr i="1" lang="en-US" sz="1200">
                <a:solidFill>
                  <a:schemeClr val="dk1"/>
                </a:solidFill>
                <a:latin typeface="Calibri"/>
                <a:ea typeface="Calibri"/>
                <a:cs typeface="Calibri"/>
                <a:sym typeface="Calibri"/>
              </a:rPr>
              <a:t>y</a:t>
            </a:r>
            <a:r>
              <a:rPr lang="en-US" sz="1200">
                <a:solidFill>
                  <a:schemeClr val="dk1"/>
                </a:solidFill>
                <a:latin typeface="Calibri"/>
                <a:ea typeface="Calibri"/>
                <a:cs typeface="Calibri"/>
                <a:sym typeface="Calibri"/>
              </a:rPr>
              <a:t>42, the value of output node 42 is the probability of the next word </a:t>
            </a:r>
            <a:r>
              <a:rPr i="1" lang="en-US" sz="1200">
                <a:solidFill>
                  <a:schemeClr val="dk1"/>
                </a:solidFill>
                <a:latin typeface="Calibri"/>
                <a:ea typeface="Calibri"/>
                <a:cs typeface="Calibri"/>
                <a:sym typeface="Calibri"/>
              </a:rPr>
              <a:t>wt </a:t>
            </a:r>
            <a:r>
              <a:rPr lang="en-US" sz="1200">
                <a:solidFill>
                  <a:schemeClr val="dk1"/>
                </a:solidFill>
                <a:latin typeface="Calibri"/>
                <a:ea typeface="Calibri"/>
                <a:cs typeface="Calibri"/>
                <a:sym typeface="Calibri"/>
              </a:rPr>
              <a:t>being </a:t>
            </a:r>
            <a:r>
              <a:rPr i="1" lang="en-US" sz="1200">
                <a:solidFill>
                  <a:schemeClr val="dk1"/>
                </a:solidFill>
                <a:latin typeface="Calibri"/>
                <a:ea typeface="Calibri"/>
                <a:cs typeface="Calibri"/>
                <a:sym typeface="Calibri"/>
              </a:rPr>
              <a:t>V</a:t>
            </a:r>
            <a:r>
              <a:rPr lang="en-US" sz="1200">
                <a:solidFill>
                  <a:schemeClr val="dk1"/>
                </a:solidFill>
                <a:latin typeface="Calibri"/>
                <a:ea typeface="Calibri"/>
                <a:cs typeface="Calibri"/>
                <a:sym typeface="Calibri"/>
              </a:rPr>
              <a:t>42, the vocabulary word with index 42. </a:t>
            </a:r>
            <a:endParaRPr/>
          </a:p>
          <a:p>
            <a:pPr indent="0" lvl="0" marL="0" rtl="0" algn="l">
              <a:spcBef>
                <a:spcPts val="0"/>
              </a:spcBef>
              <a:spcAft>
                <a:spcPts val="0"/>
              </a:spcAft>
              <a:buNone/>
            </a:pPr>
            <a:r>
              <a:t/>
            </a:r>
            <a:endParaRPr/>
          </a:p>
        </p:txBody>
      </p:sp>
      <p:sp>
        <p:nvSpPr>
          <p:cNvPr id="1033" name="Google Shape;1033;p53: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54: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040" name="Google Shape;1040;p5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5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6" name="Google Shape;1046;p55: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a:t>We've seen how simple feedforward networks can be applied to various NLP tasks.</a:t>
            </a:r>
            <a:endParaRPr/>
          </a:p>
        </p:txBody>
      </p:sp>
      <p:sp>
        <p:nvSpPr>
          <p:cNvPr id="1047" name="Google Shape;1047;p55: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5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4" name="Google Shape;1054;p56: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a:t>How do we train neural networks? Let's start with an overview</a:t>
            </a:r>
            <a:endParaRPr/>
          </a:p>
        </p:txBody>
      </p:sp>
      <p:sp>
        <p:nvSpPr>
          <p:cNvPr id="1055" name="Google Shape;1055;p56: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p5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2" name="Google Shape;1062;p57: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a:t>The intuition of neural net training is the </a:t>
            </a:r>
            <a:r>
              <a:rPr b="1" lang="en-US"/>
              <a:t>forward</a:t>
            </a:r>
            <a:r>
              <a:rPr lang="en-US"/>
              <a:t> computation of the loss and the </a:t>
            </a:r>
            <a:r>
              <a:rPr b="1" lang="en-US"/>
              <a:t>backward</a:t>
            </a:r>
            <a:r>
              <a:rPr lang="en-US"/>
              <a:t> computation of the weight updates.  Given an input x,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CLICK</a:t>
            </a:r>
            <a:endParaRPr/>
          </a:p>
          <a:p>
            <a:pPr indent="0" lvl="0" marL="0" rtl="0" algn="l">
              <a:spcBef>
                <a:spcPts val="0"/>
              </a:spcBef>
              <a:spcAft>
                <a:spcPts val="0"/>
              </a:spcAft>
              <a:buNone/>
            </a:pPr>
            <a:r>
              <a:rPr lang="en-US"/>
              <a:t>we run a forward pass through the network, computing the system output y-hat. 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Then we compare y-hat to the true answer y, CLICK to get a loss for this example.  CLICK Then CLICK we do a backward pass through the network, computing the gradients we need to update the weights.</a:t>
            </a:r>
            <a:endParaRPr/>
          </a:p>
        </p:txBody>
      </p:sp>
      <p:sp>
        <p:nvSpPr>
          <p:cNvPr id="1063" name="Google Shape;1063;p57: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58: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1" name="Google Shape;1121;p58: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a:t>Let's</a:t>
            </a:r>
            <a:endParaRPr/>
          </a:p>
        </p:txBody>
      </p:sp>
      <p:sp>
        <p:nvSpPr>
          <p:cNvPr id="1122" name="Google Shape;1122;p58: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5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9" name="Google Shape;1129;p59: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900"/>
              <a:buFont typeface="Calibri"/>
              <a:buNone/>
            </a:pPr>
            <a:r>
              <a:rPr lang="en-US"/>
              <a:t>Let's next get an intuition from what we did for logistic regression. Remember our loss function for binary logistic regression. </a:t>
            </a:r>
            <a:r>
              <a:rPr lang="en-US" sz="900">
                <a:solidFill>
                  <a:schemeClr val="dk1"/>
                </a:solidFill>
                <a:latin typeface="Calibri"/>
                <a:ea typeface="Calibri"/>
                <a:cs typeface="Calibri"/>
                <a:sym typeface="Calibri"/>
              </a:rPr>
              <a:t>We’d like to learn weights that maximize the log probability of the correct label </a:t>
            </a:r>
            <a:r>
              <a:rPr i="1" lang="en-US" sz="900">
                <a:solidFill>
                  <a:schemeClr val="dk1"/>
                </a:solidFill>
                <a:latin typeface="Calibri"/>
                <a:ea typeface="Calibri"/>
                <a:cs typeface="Calibri"/>
                <a:sym typeface="Calibri"/>
              </a:rPr>
              <a:t>p</a:t>
            </a:r>
            <a:r>
              <a:rPr lang="en-US" sz="900">
                <a:solidFill>
                  <a:schemeClr val="dk1"/>
                </a:solidFill>
                <a:latin typeface="Calibri"/>
                <a:ea typeface="Calibri"/>
                <a:cs typeface="Calibri"/>
                <a:sym typeface="Calibri"/>
              </a:rPr>
              <a:t>(</a:t>
            </a:r>
            <a:r>
              <a:rPr i="1" lang="en-US" sz="900">
                <a:solidFill>
                  <a:schemeClr val="dk1"/>
                </a:solidFill>
                <a:latin typeface="Calibri"/>
                <a:ea typeface="Calibri"/>
                <a:cs typeface="Calibri"/>
                <a:sym typeface="Calibri"/>
              </a:rPr>
              <a:t>y</a:t>
            </a:r>
            <a:r>
              <a:rPr lang="en-US" sz="900">
                <a:solidFill>
                  <a:schemeClr val="dk1"/>
                </a:solidFill>
                <a:latin typeface="Calibri"/>
                <a:ea typeface="Calibri"/>
                <a:cs typeface="Calibri"/>
                <a:sym typeface="Calibri"/>
              </a:rPr>
              <a:t>|</a:t>
            </a:r>
            <a:r>
              <a:rPr i="1" lang="en-US" sz="900">
                <a:solidFill>
                  <a:schemeClr val="dk1"/>
                </a:solidFill>
                <a:latin typeface="Calibri"/>
                <a:ea typeface="Calibri"/>
                <a:cs typeface="Calibri"/>
                <a:sym typeface="Calibri"/>
              </a:rPr>
              <a:t>x</a:t>
            </a:r>
            <a:r>
              <a:rPr lang="en-US" sz="900">
                <a:solidFill>
                  <a:schemeClr val="dk1"/>
                </a:solidFill>
                <a:latin typeface="Calibri"/>
                <a:ea typeface="Calibri"/>
                <a:cs typeface="Calibri"/>
                <a:sym typeface="Calibri"/>
              </a:rPr>
              <a:t>). To turn this into loss function (something that we need to minimize), we flipped the sign, and then we can plug in our estimate of the probability from the sigmoid of the weights</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p:txBody>
      </p:sp>
      <p:sp>
        <p:nvSpPr>
          <p:cNvPr id="1130" name="Google Shape;1130;p59: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p6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9" name="Google Shape;1139;p60: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And let's recall from the lecture on logistic regression how gradient descent works for weight updates. The magnitude of the amount to move in gradient descent is the value of the graident of the loss function (with respect to w) weighted by a </a:t>
            </a:r>
            <a:r>
              <a:rPr b="0" lang="en-US" sz="1200">
                <a:solidFill>
                  <a:schemeClr val="dk1"/>
                </a:solidFill>
                <a:latin typeface="Arial"/>
                <a:ea typeface="Arial"/>
                <a:cs typeface="Arial"/>
                <a:sym typeface="Arial"/>
              </a:rPr>
              <a:t>learning rate </a:t>
            </a:r>
            <a:r>
              <a:rPr lang="en-US" sz="1200">
                <a:solidFill>
                  <a:schemeClr val="dk1"/>
                </a:solidFill>
                <a:latin typeface="Arial"/>
                <a:ea typeface="Arial"/>
                <a:cs typeface="Arial"/>
                <a:sym typeface="Arial"/>
              </a:rPr>
              <a:t>η . A higher (faster) learning rate means that we should move </a:t>
            </a:r>
            <a:r>
              <a:rPr i="1" lang="en-US" sz="1200">
                <a:solidFill>
                  <a:schemeClr val="dk1"/>
                </a:solidFill>
                <a:latin typeface="Arial"/>
                <a:ea typeface="Arial"/>
                <a:cs typeface="Arial"/>
                <a:sym typeface="Arial"/>
              </a:rPr>
              <a:t>w </a:t>
            </a:r>
            <a:r>
              <a:rPr lang="en-US" sz="1200">
                <a:solidFill>
                  <a:schemeClr val="dk1"/>
                </a:solidFill>
                <a:latin typeface="Arial"/>
                <a:ea typeface="Arial"/>
                <a:cs typeface="Arial"/>
                <a:sym typeface="Arial"/>
              </a:rPr>
              <a:t>more on each step. The change we make in our parameter is the learning rate times the gradient. </a:t>
            </a:r>
            <a:endParaRPr/>
          </a:p>
          <a:p>
            <a:pPr indent="0" lvl="0" marL="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For logistic regression, we saw that </a:t>
            </a:r>
            <a:r>
              <a:rPr lang="en-US" sz="900">
                <a:solidFill>
                  <a:schemeClr val="dk1"/>
                </a:solidFill>
                <a:latin typeface="Calibri"/>
                <a:ea typeface="Calibri"/>
                <a:cs typeface="Calibri"/>
                <a:sym typeface="Calibri"/>
              </a:rPr>
              <a:t>the derivative of the loss function with respect to one weight  w_j coming from input x_j is </a:t>
            </a:r>
            <a:endParaRPr/>
          </a:p>
          <a:p>
            <a:pPr indent="0" lvl="0" marL="0" rtl="0" algn="l">
              <a:spcBef>
                <a:spcPts val="0"/>
              </a:spcBef>
              <a:spcAft>
                <a:spcPts val="0"/>
              </a:spcAft>
              <a:buNone/>
            </a:pPr>
            <a:r>
              <a:t/>
            </a:r>
            <a:endParaRPr/>
          </a:p>
        </p:txBody>
      </p:sp>
      <p:sp>
        <p:nvSpPr>
          <p:cNvPr id="1140" name="Google Shape;1140;p60: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6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8" name="Google Shape;1148;p61: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a:t>Where did that derivative come from?</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900"/>
              <a:buFont typeface="Calibri"/>
              <a:buNone/>
            </a:pPr>
            <a:r>
              <a:rPr lang="en-US"/>
              <a:t>Using the chain rule!  Remember the chain rule says that if </a:t>
            </a:r>
            <a:r>
              <a:rPr lang="en-US" sz="900">
                <a:solidFill>
                  <a:schemeClr val="dk1"/>
                </a:solidFill>
                <a:latin typeface="Calibri"/>
                <a:ea typeface="Calibri"/>
                <a:cs typeface="Calibri"/>
                <a:sym typeface="Calibri"/>
              </a:rPr>
              <a:t>we have a compositive function f(x)= u(v(x)), the derivative of </a:t>
            </a:r>
            <a:r>
              <a:rPr i="1" lang="en-US" sz="900">
                <a:solidFill>
                  <a:schemeClr val="dk1"/>
                </a:solidFill>
                <a:latin typeface="Calibri"/>
                <a:ea typeface="Calibri"/>
                <a:cs typeface="Calibri"/>
                <a:sym typeface="Calibri"/>
              </a:rPr>
              <a:t>f </a:t>
            </a:r>
            <a:r>
              <a:rPr lang="en-US" sz="900">
                <a:solidFill>
                  <a:schemeClr val="dk1"/>
                </a:solidFill>
                <a:latin typeface="Calibri"/>
                <a:ea typeface="Calibri"/>
                <a:cs typeface="Calibri"/>
                <a:sym typeface="Calibri"/>
              </a:rPr>
              <a:t>(</a:t>
            </a:r>
            <a:r>
              <a:rPr i="1" lang="en-US" sz="900">
                <a:solidFill>
                  <a:schemeClr val="dk1"/>
                </a:solidFill>
                <a:latin typeface="Calibri"/>
                <a:ea typeface="Calibri"/>
                <a:cs typeface="Calibri"/>
                <a:sym typeface="Calibri"/>
              </a:rPr>
              <a:t>x</a:t>
            </a:r>
            <a:r>
              <a:rPr lang="en-US" sz="900">
                <a:solidFill>
                  <a:schemeClr val="dk1"/>
                </a:solidFill>
                <a:latin typeface="Calibri"/>
                <a:ea typeface="Calibri"/>
                <a:cs typeface="Calibri"/>
                <a:sym typeface="Calibri"/>
              </a:rPr>
              <a:t>) is the derivative of </a:t>
            </a:r>
            <a:r>
              <a:rPr i="1" lang="en-US" sz="900">
                <a:solidFill>
                  <a:schemeClr val="dk1"/>
                </a:solidFill>
                <a:latin typeface="Calibri"/>
                <a:ea typeface="Calibri"/>
                <a:cs typeface="Calibri"/>
                <a:sym typeface="Calibri"/>
              </a:rPr>
              <a:t>u</a:t>
            </a:r>
            <a:r>
              <a:rPr lang="en-US" sz="900">
                <a:solidFill>
                  <a:schemeClr val="dk1"/>
                </a:solidFill>
                <a:latin typeface="Calibri"/>
                <a:ea typeface="Calibri"/>
                <a:cs typeface="Calibri"/>
                <a:sym typeface="Calibri"/>
              </a:rPr>
              <a:t>(</a:t>
            </a:r>
            <a:r>
              <a:rPr i="1" lang="en-US" sz="900">
                <a:solidFill>
                  <a:schemeClr val="dk1"/>
                </a:solidFill>
                <a:latin typeface="Calibri"/>
                <a:ea typeface="Calibri"/>
                <a:cs typeface="Calibri"/>
                <a:sym typeface="Calibri"/>
              </a:rPr>
              <a:t>x</a:t>
            </a:r>
            <a:r>
              <a:rPr lang="en-US" sz="900">
                <a:solidFill>
                  <a:schemeClr val="dk1"/>
                </a:solidFill>
                <a:latin typeface="Calibri"/>
                <a:ea typeface="Calibri"/>
                <a:cs typeface="Calibri"/>
                <a:sym typeface="Calibri"/>
              </a:rPr>
              <a:t>) with respect to </a:t>
            </a:r>
            <a:r>
              <a:rPr i="1" lang="en-US" sz="900">
                <a:solidFill>
                  <a:schemeClr val="dk1"/>
                </a:solidFill>
                <a:latin typeface="Calibri"/>
                <a:ea typeface="Calibri"/>
                <a:cs typeface="Calibri"/>
                <a:sym typeface="Calibri"/>
              </a:rPr>
              <a:t>v</a:t>
            </a:r>
            <a:r>
              <a:rPr lang="en-US" sz="900">
                <a:solidFill>
                  <a:schemeClr val="dk1"/>
                </a:solidFill>
                <a:latin typeface="Calibri"/>
                <a:ea typeface="Calibri"/>
                <a:cs typeface="Calibri"/>
                <a:sym typeface="Calibri"/>
              </a:rPr>
              <a:t>(</a:t>
            </a:r>
            <a:r>
              <a:rPr i="1" lang="en-US" sz="900">
                <a:solidFill>
                  <a:schemeClr val="dk1"/>
                </a:solidFill>
                <a:latin typeface="Calibri"/>
                <a:ea typeface="Calibri"/>
                <a:cs typeface="Calibri"/>
                <a:sym typeface="Calibri"/>
              </a:rPr>
              <a:t>x</a:t>
            </a:r>
            <a:r>
              <a:rPr lang="en-US" sz="900">
                <a:solidFill>
                  <a:schemeClr val="dk1"/>
                </a:solidFill>
                <a:latin typeface="Calibri"/>
                <a:ea typeface="Calibri"/>
                <a:cs typeface="Calibri"/>
                <a:sym typeface="Calibri"/>
              </a:rPr>
              <a:t>) times the derivative of </a:t>
            </a:r>
            <a:r>
              <a:rPr i="1" lang="en-US" sz="900">
                <a:solidFill>
                  <a:schemeClr val="dk1"/>
                </a:solidFill>
                <a:latin typeface="Calibri"/>
                <a:ea typeface="Calibri"/>
                <a:cs typeface="Calibri"/>
                <a:sym typeface="Calibri"/>
              </a:rPr>
              <a:t>v</a:t>
            </a:r>
            <a:r>
              <a:rPr lang="en-US" sz="900">
                <a:solidFill>
                  <a:schemeClr val="dk1"/>
                </a:solidFill>
                <a:latin typeface="Calibri"/>
                <a:ea typeface="Calibri"/>
                <a:cs typeface="Calibri"/>
                <a:sym typeface="Calibri"/>
              </a:rPr>
              <a:t>(</a:t>
            </a:r>
            <a:r>
              <a:rPr i="1" lang="en-US" sz="900">
                <a:solidFill>
                  <a:schemeClr val="dk1"/>
                </a:solidFill>
                <a:latin typeface="Calibri"/>
                <a:ea typeface="Calibri"/>
                <a:cs typeface="Calibri"/>
                <a:sym typeface="Calibri"/>
              </a:rPr>
              <a:t>x</a:t>
            </a:r>
            <a:r>
              <a:rPr lang="en-US" sz="900">
                <a:solidFill>
                  <a:schemeClr val="dk1"/>
                </a:solidFill>
                <a:latin typeface="Calibri"/>
                <a:ea typeface="Calibri"/>
                <a:cs typeface="Calibri"/>
                <a:sym typeface="Calibri"/>
              </a:rPr>
              <a:t>) with respect to </a:t>
            </a:r>
            <a:r>
              <a:rPr i="1" lang="en-US" sz="900">
                <a:solidFill>
                  <a:schemeClr val="dk1"/>
                </a:solidFill>
                <a:latin typeface="Calibri"/>
                <a:ea typeface="Calibri"/>
                <a:cs typeface="Calibri"/>
                <a:sym typeface="Calibri"/>
              </a:rPr>
              <a:t>x</a:t>
            </a:r>
            <a:endParaRPr/>
          </a:p>
          <a:p>
            <a:pPr indent="0" lvl="0" marL="0" marR="0" rtl="0" algn="l">
              <a:lnSpc>
                <a:spcPct val="100000"/>
              </a:lnSpc>
              <a:spcBef>
                <a:spcPts val="0"/>
              </a:spcBef>
              <a:spcAft>
                <a:spcPts val="0"/>
              </a:spcAft>
              <a:buClr>
                <a:schemeClr val="dk1"/>
              </a:buClr>
              <a:buSzPts val="900"/>
              <a:buFont typeface="Calibri"/>
              <a:buNone/>
            </a:pPr>
            <a:r>
              <a:t/>
            </a:r>
            <a:endParaRPr i="1" sz="9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rPr i="1" lang="en-US" sz="900">
                <a:solidFill>
                  <a:schemeClr val="dk1"/>
                </a:solidFill>
                <a:latin typeface="Calibri"/>
                <a:ea typeface="Calibri"/>
                <a:cs typeface="Calibri"/>
                <a:sym typeface="Calibri"/>
              </a:rPr>
              <a:t>Here's our neural unit, which is the same as logistic regression. It's computing the loss as a function of y, which is computed as the sigmoid of the sum of the weights time values.  If we want to do the derivative of the entire loss function with respect to one weight w_i, we can compute this using the chain rule:  the derivative of L with respective to w_i is the product of the derivative of L with respect to y times the derivative of y with respect to z times the derivative of z with respect to w_i</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1149" name="Google Shape;1149;p61: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p62: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162" name="Google Shape;1162;p6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6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9" name="Google Shape;1169;p63: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900"/>
              <a:buFont typeface="Calibri"/>
              <a:buNone/>
            </a:pPr>
            <a:r>
              <a:rPr lang="en-US"/>
              <a:t>We've seen an overview of neural net training.  In the next lecture we'll see the details of computation graphs and backward differentiation</a:t>
            </a:r>
            <a:endParaRPr/>
          </a:p>
          <a:p>
            <a:pPr indent="0" lvl="0" marL="0" rtl="0" algn="l">
              <a:spcBef>
                <a:spcPts val="0"/>
              </a:spcBef>
              <a:spcAft>
                <a:spcPts val="0"/>
              </a:spcAft>
              <a:buNone/>
            </a:pPr>
            <a:r>
              <a:t/>
            </a:r>
            <a:endParaRPr/>
          </a:p>
        </p:txBody>
      </p:sp>
      <p:sp>
        <p:nvSpPr>
          <p:cNvPr id="1170" name="Google Shape;1170;p63: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p6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7" name="Google Shape;1177;p64: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1178" name="Google Shape;1178;p64: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p6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5" name="Google Shape;1185;p65: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For training a neural network with gradient descent, we need the relevant gradients for each weight: the derivative of the loss with respect to each weight in every layer of the network.</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But the loss is computed only at the very end of the network.  How do we find these gradients for weights in the early layers?</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The solution is a method called error backpropagation, or backprop in the neural network world.  It turns out that backprop is a special case of backward differentiation, a method that relies on computation graphs.</a:t>
            </a:r>
            <a:endParaRPr/>
          </a:p>
          <a:p>
            <a:pPr indent="0" lvl="0" marL="0" rtl="0" algn="l">
              <a:spcBef>
                <a:spcPts val="0"/>
              </a:spcBef>
              <a:spcAft>
                <a:spcPts val="0"/>
              </a:spcAft>
              <a:buNone/>
            </a:pPr>
            <a:r>
              <a:t/>
            </a:r>
            <a:endParaRPr/>
          </a:p>
        </p:txBody>
      </p:sp>
      <p:sp>
        <p:nvSpPr>
          <p:cNvPr id="1186" name="Google Shape;1186;p65: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p6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3" name="Google Shape;1193;p66: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 computation graph is a representation of the process of computing a mathematical expression, in which the computation is broken down into separate operations, each of which is modeled as a node in a graph. </a:t>
            </a:r>
            <a:endParaRPr/>
          </a:p>
          <a:p>
            <a:pPr indent="0" lvl="0" marL="0" rtl="0" algn="l">
              <a:spcBef>
                <a:spcPts val="0"/>
              </a:spcBef>
              <a:spcAft>
                <a:spcPts val="0"/>
              </a:spcAft>
              <a:buNone/>
            </a:pPr>
            <a:r>
              <a:t/>
            </a:r>
            <a:endParaRPr/>
          </a:p>
        </p:txBody>
      </p:sp>
      <p:sp>
        <p:nvSpPr>
          <p:cNvPr id="1194" name="Google Shape;1194;p66: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p6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1" name="Google Shape;1201;p67: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Consider computing the function </a:t>
            </a:r>
            <a:r>
              <a:rPr i="1" lang="en-US" sz="1200">
                <a:solidFill>
                  <a:schemeClr val="dk1"/>
                </a:solidFill>
                <a:latin typeface="Calibri"/>
                <a:ea typeface="Calibri"/>
                <a:cs typeface="Calibri"/>
                <a:sym typeface="Calibri"/>
              </a:rPr>
              <a:t>L</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a</a:t>
            </a:r>
            <a:r>
              <a:rPr lang="en-US" sz="1200">
                <a:solidFill>
                  <a:schemeClr val="dk1"/>
                </a:solidFill>
                <a:latin typeface="Calibri"/>
                <a:ea typeface="Calibri"/>
                <a:cs typeface="Calibri"/>
                <a:sym typeface="Calibri"/>
              </a:rPr>
              <a:t>, </a:t>
            </a:r>
            <a:r>
              <a:rPr i="1" lang="en-US" sz="1200">
                <a:solidFill>
                  <a:schemeClr val="dk1"/>
                </a:solidFill>
                <a:latin typeface="Calibri"/>
                <a:ea typeface="Calibri"/>
                <a:cs typeface="Calibri"/>
                <a:sym typeface="Calibri"/>
              </a:rPr>
              <a:t>b</a:t>
            </a:r>
            <a:r>
              <a:rPr lang="en-US" sz="1200">
                <a:solidFill>
                  <a:schemeClr val="dk1"/>
                </a:solidFill>
                <a:latin typeface="Calibri"/>
                <a:ea typeface="Calibri"/>
                <a:cs typeface="Calibri"/>
                <a:sym typeface="Calibri"/>
              </a:rPr>
              <a:t>, </a:t>
            </a:r>
            <a:r>
              <a:rPr i="1" lang="en-US" sz="1200">
                <a:solidFill>
                  <a:schemeClr val="dk1"/>
                </a:solidFill>
                <a:latin typeface="Calibri"/>
                <a:ea typeface="Calibri"/>
                <a:cs typeface="Calibri"/>
                <a:sym typeface="Calibri"/>
              </a:rPr>
              <a:t>c</a:t>
            </a:r>
            <a:r>
              <a:rPr lang="en-US" sz="1200">
                <a:solidFill>
                  <a:schemeClr val="dk1"/>
                </a:solidFill>
                <a:latin typeface="Calibri"/>
                <a:ea typeface="Calibri"/>
                <a:cs typeface="Calibri"/>
                <a:sym typeface="Calibri"/>
              </a:rPr>
              <a:t>) = </a:t>
            </a:r>
            <a:r>
              <a:rPr i="1" lang="en-US" sz="1200">
                <a:solidFill>
                  <a:schemeClr val="dk1"/>
                </a:solidFill>
                <a:latin typeface="Calibri"/>
                <a:ea typeface="Calibri"/>
                <a:cs typeface="Calibri"/>
                <a:sym typeface="Calibri"/>
              </a:rPr>
              <a:t>c</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a </a:t>
            </a:r>
            <a:r>
              <a:rPr lang="en-US" sz="1200">
                <a:solidFill>
                  <a:schemeClr val="dk1"/>
                </a:solidFill>
                <a:latin typeface="Calibri"/>
                <a:ea typeface="Calibri"/>
                <a:cs typeface="Calibri"/>
                <a:sym typeface="Calibri"/>
              </a:rPr>
              <a:t>+ 2</a:t>
            </a:r>
            <a:r>
              <a:rPr i="1" lang="en-US" sz="1200">
                <a:solidFill>
                  <a:schemeClr val="dk1"/>
                </a:solidFill>
                <a:latin typeface="Calibri"/>
                <a:ea typeface="Calibri"/>
                <a:cs typeface="Calibri"/>
                <a:sym typeface="Calibri"/>
              </a:rPr>
              <a:t>b</a:t>
            </a:r>
            <a:r>
              <a:rPr lang="en-US" sz="1200">
                <a:solidFill>
                  <a:schemeClr val="dk1"/>
                </a:solidFill>
                <a:latin typeface="Calibri"/>
                <a:ea typeface="Calibri"/>
                <a:cs typeface="Calibri"/>
                <a:sym typeface="Calibri"/>
              </a:rPr>
              <a:t>). If we make each of the component addition and multiplication operations explicit, and add names (</a:t>
            </a:r>
            <a:r>
              <a:rPr i="1" lang="en-US" sz="1200">
                <a:solidFill>
                  <a:schemeClr val="dk1"/>
                </a:solidFill>
                <a:latin typeface="Calibri"/>
                <a:ea typeface="Calibri"/>
                <a:cs typeface="Calibri"/>
                <a:sym typeface="Calibri"/>
              </a:rPr>
              <a:t>d </a:t>
            </a:r>
            <a:r>
              <a:rPr lang="en-US" sz="1200">
                <a:solidFill>
                  <a:schemeClr val="dk1"/>
                </a:solidFill>
                <a:latin typeface="Calibri"/>
                <a:ea typeface="Calibri"/>
                <a:cs typeface="Calibri"/>
                <a:sym typeface="Calibri"/>
              </a:rPr>
              <a:t>and </a:t>
            </a:r>
            <a:r>
              <a:rPr i="1" lang="en-US" sz="1200">
                <a:solidFill>
                  <a:schemeClr val="dk1"/>
                </a:solidFill>
                <a:latin typeface="Calibri"/>
                <a:ea typeface="Calibri"/>
                <a:cs typeface="Calibri"/>
                <a:sym typeface="Calibri"/>
              </a:rPr>
              <a:t>e</a:t>
            </a:r>
            <a:r>
              <a:rPr lang="en-US" sz="1200">
                <a:solidFill>
                  <a:schemeClr val="dk1"/>
                </a:solidFill>
                <a:latin typeface="Calibri"/>
                <a:ea typeface="Calibri"/>
                <a:cs typeface="Calibri"/>
                <a:sym typeface="Calibri"/>
              </a:rPr>
              <a:t>) for the intermediate outputs, the resulting series of computations is: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D=2*b</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E=a+d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L=c*e</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We can now represent this as a graph, with nodes for each operation, and directed edges showing the outputs from each operation as the inputs to the next.. The simplest use of computation graphs is to compute the value of the function with some given inputs. Lets assume the inputs </a:t>
            </a:r>
            <a:r>
              <a:rPr i="1" lang="en-US" sz="1200">
                <a:solidFill>
                  <a:schemeClr val="dk1"/>
                </a:solidFill>
                <a:latin typeface="Calibri"/>
                <a:ea typeface="Calibri"/>
                <a:cs typeface="Calibri"/>
                <a:sym typeface="Calibri"/>
              </a:rPr>
              <a:t>a </a:t>
            </a:r>
            <a:r>
              <a:rPr lang="en-US" sz="1200">
                <a:solidFill>
                  <a:schemeClr val="dk1"/>
                </a:solidFill>
                <a:latin typeface="Calibri"/>
                <a:ea typeface="Calibri"/>
                <a:cs typeface="Calibri"/>
                <a:sym typeface="Calibri"/>
              </a:rPr>
              <a:t>= 3, </a:t>
            </a:r>
            <a:r>
              <a:rPr i="1" lang="en-US" sz="1200">
                <a:solidFill>
                  <a:schemeClr val="dk1"/>
                </a:solidFill>
                <a:latin typeface="Calibri"/>
                <a:ea typeface="Calibri"/>
                <a:cs typeface="Calibri"/>
                <a:sym typeface="Calibri"/>
              </a:rPr>
              <a:t>b </a:t>
            </a:r>
            <a:r>
              <a:rPr lang="en-US" sz="1200">
                <a:solidFill>
                  <a:schemeClr val="dk1"/>
                </a:solidFill>
                <a:latin typeface="Calibri"/>
                <a:ea typeface="Calibri"/>
                <a:cs typeface="Calibri"/>
                <a:sym typeface="Calibri"/>
              </a:rPr>
              <a:t>= 1, </a:t>
            </a:r>
            <a:r>
              <a:rPr i="1" lang="en-US" sz="1200">
                <a:solidFill>
                  <a:schemeClr val="dk1"/>
                </a:solidFill>
                <a:latin typeface="Calibri"/>
                <a:ea typeface="Calibri"/>
                <a:cs typeface="Calibri"/>
                <a:sym typeface="Calibri"/>
              </a:rPr>
              <a:t>c </a:t>
            </a:r>
            <a:r>
              <a:rPr lang="en-US" sz="1200">
                <a:solidFill>
                  <a:schemeClr val="dk1"/>
                </a:solidFill>
                <a:latin typeface="Calibri"/>
                <a:ea typeface="Calibri"/>
                <a:cs typeface="Calibri"/>
                <a:sym typeface="Calibri"/>
              </a:rPr>
              <a:t>= −2,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We can walk forward and compute a value for d, and then a value for e, and then a value for C</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p:txBody>
      </p:sp>
      <p:sp>
        <p:nvSpPr>
          <p:cNvPr id="1202" name="Google Shape;1202;p67: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68: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2" name="Google Shape;1212;p68: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a:t>Here it is without my messy handwriting.</a:t>
            </a:r>
            <a:endParaRPr/>
          </a:p>
        </p:txBody>
      </p:sp>
      <p:sp>
        <p:nvSpPr>
          <p:cNvPr id="1213" name="Google Shape;1213;p68: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p6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3" name="Google Shape;1223;p69: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importance of the computation graph comes from the </a:t>
            </a:r>
            <a:r>
              <a:rPr b="0" lang="en-US" sz="1200">
                <a:solidFill>
                  <a:schemeClr val="dk1"/>
                </a:solidFill>
                <a:latin typeface="Calibri"/>
                <a:ea typeface="Calibri"/>
                <a:cs typeface="Calibri"/>
                <a:sym typeface="Calibri"/>
              </a:rPr>
              <a:t>backward pass</a:t>
            </a:r>
            <a:r>
              <a:rPr lang="en-US" sz="1200">
                <a:solidFill>
                  <a:schemeClr val="dk1"/>
                </a:solidFill>
                <a:latin typeface="Calibri"/>
                <a:ea typeface="Calibri"/>
                <a:cs typeface="Calibri"/>
                <a:sym typeface="Calibri"/>
              </a:rPr>
              <a:t>, which </a:t>
            </a:r>
            <a:r>
              <a:rPr lang="en-US" sz="9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is used to compute the derivatives that we’ll need for the weight update.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1224" name="Google Shape;1224;p69: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p7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0" name="Google Shape;1230;p70: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900"/>
              <a:buFont typeface="Calibri"/>
              <a:buNone/>
            </a:pPr>
            <a:r>
              <a:rPr lang="en-US" sz="900">
                <a:solidFill>
                  <a:schemeClr val="dk1"/>
                </a:solidFill>
                <a:latin typeface="Calibri"/>
                <a:ea typeface="Calibri"/>
                <a:cs typeface="Calibri"/>
                <a:sym typeface="Calibri"/>
              </a:rPr>
              <a:t>In this example our goal is to compute the derivative of the output function </a:t>
            </a:r>
            <a:r>
              <a:rPr i="1" lang="en-US" sz="900">
                <a:solidFill>
                  <a:schemeClr val="dk1"/>
                </a:solidFill>
                <a:latin typeface="Calibri"/>
                <a:ea typeface="Calibri"/>
                <a:cs typeface="Calibri"/>
                <a:sym typeface="Calibri"/>
              </a:rPr>
              <a:t>L </a:t>
            </a:r>
            <a:r>
              <a:rPr lang="en-US" sz="900">
                <a:solidFill>
                  <a:schemeClr val="dk1"/>
                </a:solidFill>
                <a:latin typeface="Calibri"/>
                <a:ea typeface="Calibri"/>
                <a:cs typeface="Calibri"/>
                <a:sym typeface="Calibri"/>
              </a:rPr>
              <a:t>with respect</a:t>
            </a:r>
            <a:r>
              <a:rPr lang="en-US" sz="800">
                <a:solidFill>
                  <a:schemeClr val="dk1"/>
                </a:solidFill>
                <a:latin typeface="Calibri"/>
                <a:ea typeface="Calibri"/>
                <a:cs typeface="Calibri"/>
                <a:sym typeface="Calibri"/>
              </a:rPr>
              <a:t> </a:t>
            </a:r>
            <a:r>
              <a:rPr lang="en-US" sz="900">
                <a:solidFill>
                  <a:schemeClr val="dk1"/>
                </a:solidFill>
                <a:latin typeface="Calibri"/>
                <a:ea typeface="Calibri"/>
                <a:cs typeface="Calibri"/>
                <a:sym typeface="Calibri"/>
              </a:rPr>
              <a:t>to each of the input variables, i.e., ∂</a:t>
            </a:r>
            <a:r>
              <a:rPr i="1" lang="en-US" sz="900">
                <a:solidFill>
                  <a:schemeClr val="dk1"/>
                </a:solidFill>
                <a:latin typeface="Calibri"/>
                <a:ea typeface="Calibri"/>
                <a:cs typeface="Calibri"/>
                <a:sym typeface="Calibri"/>
              </a:rPr>
              <a:t>L /</a:t>
            </a:r>
            <a:r>
              <a:rPr lang="en-US" sz="900">
                <a:solidFill>
                  <a:schemeClr val="dk1"/>
                </a:solidFill>
                <a:latin typeface="Calibri"/>
                <a:ea typeface="Calibri"/>
                <a:cs typeface="Calibri"/>
                <a:sym typeface="Calibri"/>
              </a:rPr>
              <a:t>∂</a:t>
            </a:r>
            <a:r>
              <a:rPr i="1" lang="en-US" sz="900">
                <a:solidFill>
                  <a:schemeClr val="dk1"/>
                </a:solidFill>
                <a:latin typeface="Calibri"/>
                <a:ea typeface="Calibri"/>
                <a:cs typeface="Calibri"/>
                <a:sym typeface="Calibri"/>
              </a:rPr>
              <a:t>a</a:t>
            </a:r>
            <a:r>
              <a:rPr lang="en-US" sz="900">
                <a:solidFill>
                  <a:schemeClr val="dk1"/>
                </a:solidFill>
                <a:latin typeface="Calibri"/>
                <a:ea typeface="Calibri"/>
                <a:cs typeface="Calibri"/>
                <a:sym typeface="Calibri"/>
              </a:rPr>
              <a:t>, ∂</a:t>
            </a:r>
            <a:r>
              <a:rPr i="1" lang="en-US" sz="900">
                <a:solidFill>
                  <a:schemeClr val="dk1"/>
                </a:solidFill>
                <a:latin typeface="Calibri"/>
                <a:ea typeface="Calibri"/>
                <a:cs typeface="Calibri"/>
                <a:sym typeface="Calibri"/>
              </a:rPr>
              <a:t>L /</a:t>
            </a:r>
            <a:r>
              <a:rPr lang="en-US" sz="900">
                <a:solidFill>
                  <a:schemeClr val="dk1"/>
                </a:solidFill>
                <a:latin typeface="Calibri"/>
                <a:ea typeface="Calibri"/>
                <a:cs typeface="Calibri"/>
                <a:sym typeface="Calibri"/>
              </a:rPr>
              <a:t>∂</a:t>
            </a:r>
            <a:r>
              <a:rPr i="1" lang="en-US" sz="900">
                <a:solidFill>
                  <a:schemeClr val="dk1"/>
                </a:solidFill>
                <a:latin typeface="Calibri"/>
                <a:ea typeface="Calibri"/>
                <a:cs typeface="Calibri"/>
                <a:sym typeface="Calibri"/>
              </a:rPr>
              <a:t>b</a:t>
            </a:r>
            <a:r>
              <a:rPr lang="en-US" sz="900">
                <a:solidFill>
                  <a:schemeClr val="dk1"/>
                </a:solidFill>
                <a:latin typeface="Calibri"/>
                <a:ea typeface="Calibri"/>
                <a:cs typeface="Calibri"/>
                <a:sym typeface="Calibri"/>
              </a:rPr>
              <a:t>, and ∂</a:t>
            </a:r>
            <a:r>
              <a:rPr i="1" lang="en-US" sz="900">
                <a:solidFill>
                  <a:schemeClr val="dk1"/>
                </a:solidFill>
                <a:latin typeface="Calibri"/>
                <a:ea typeface="Calibri"/>
                <a:cs typeface="Calibri"/>
                <a:sym typeface="Calibri"/>
              </a:rPr>
              <a:t>L/</a:t>
            </a:r>
            <a:r>
              <a:rPr lang="en-US" sz="900">
                <a:solidFill>
                  <a:schemeClr val="dk1"/>
                </a:solidFill>
                <a:latin typeface="Calibri"/>
                <a:ea typeface="Calibri"/>
                <a:cs typeface="Calibri"/>
                <a:sym typeface="Calibri"/>
              </a:rPr>
              <a:t>∂</a:t>
            </a:r>
            <a:r>
              <a:rPr i="1" lang="en-US" sz="900">
                <a:solidFill>
                  <a:schemeClr val="dk1"/>
                </a:solidFill>
                <a:latin typeface="Calibri"/>
                <a:ea typeface="Calibri"/>
                <a:cs typeface="Calibri"/>
                <a:sym typeface="Calibri"/>
              </a:rPr>
              <a:t>c  </a:t>
            </a:r>
            <a:r>
              <a:rPr lang="en-US" sz="900">
                <a:solidFill>
                  <a:schemeClr val="dk1"/>
                </a:solidFill>
                <a:latin typeface="Calibri"/>
                <a:ea typeface="Calibri"/>
                <a:cs typeface="Calibri"/>
                <a:sym typeface="Calibri"/>
              </a:rPr>
              <a:t>. The derivative ∂</a:t>
            </a:r>
            <a:r>
              <a:rPr i="1" lang="en-US" sz="900">
                <a:solidFill>
                  <a:schemeClr val="dk1"/>
                </a:solidFill>
                <a:latin typeface="Calibri"/>
                <a:ea typeface="Calibri"/>
                <a:cs typeface="Calibri"/>
                <a:sym typeface="Calibri"/>
              </a:rPr>
              <a:t>L/</a:t>
            </a:r>
            <a:r>
              <a:rPr lang="en-US" sz="900">
                <a:solidFill>
                  <a:schemeClr val="dk1"/>
                </a:solidFill>
                <a:latin typeface="Calibri"/>
                <a:ea typeface="Calibri"/>
                <a:cs typeface="Calibri"/>
                <a:sym typeface="Calibri"/>
              </a:rPr>
              <a:t>∂</a:t>
            </a:r>
            <a:r>
              <a:rPr i="1" lang="en-US" sz="900">
                <a:solidFill>
                  <a:schemeClr val="dk1"/>
                </a:solidFill>
                <a:latin typeface="Calibri"/>
                <a:ea typeface="Calibri"/>
                <a:cs typeface="Calibri"/>
                <a:sym typeface="Calibri"/>
              </a:rPr>
              <a:t>a </a:t>
            </a:r>
            <a:r>
              <a:rPr lang="en-US" sz="900">
                <a:solidFill>
                  <a:schemeClr val="dk1"/>
                </a:solidFill>
                <a:latin typeface="Calibri"/>
                <a:ea typeface="Calibri"/>
                <a:cs typeface="Calibri"/>
                <a:sym typeface="Calibri"/>
              </a:rPr>
              <a:t> tells us how much a small change in </a:t>
            </a:r>
            <a:r>
              <a:rPr i="1" lang="en-US" sz="900">
                <a:solidFill>
                  <a:schemeClr val="dk1"/>
                </a:solidFill>
                <a:latin typeface="Calibri"/>
                <a:ea typeface="Calibri"/>
                <a:cs typeface="Calibri"/>
                <a:sym typeface="Calibri"/>
              </a:rPr>
              <a:t>a </a:t>
            </a:r>
            <a:r>
              <a:rPr lang="en-US" sz="900">
                <a:solidFill>
                  <a:schemeClr val="dk1"/>
                </a:solidFill>
                <a:latin typeface="Calibri"/>
                <a:ea typeface="Calibri"/>
                <a:cs typeface="Calibri"/>
                <a:sym typeface="Calibri"/>
              </a:rPr>
              <a:t>affects </a:t>
            </a:r>
            <a:r>
              <a:rPr i="1" lang="en-US" sz="900">
                <a:solidFill>
                  <a:schemeClr val="dk1"/>
                </a:solidFill>
                <a:latin typeface="Calibri"/>
                <a:ea typeface="Calibri"/>
                <a:cs typeface="Calibri"/>
                <a:sym typeface="Calibri"/>
              </a:rPr>
              <a:t>L, </a:t>
            </a:r>
            <a:r>
              <a:rPr lang="en-US" sz="900"/>
              <a:t>while holding the others constant"</a:t>
            </a:r>
            <a:endParaRPr/>
          </a:p>
          <a:p>
            <a:pPr indent="0" lvl="0" marL="0" rtl="0" algn="l">
              <a:spcBef>
                <a:spcPts val="0"/>
              </a:spcBef>
              <a:spcAft>
                <a:spcPts val="0"/>
              </a:spcAft>
              <a:buNone/>
            </a:pPr>
            <a:r>
              <a:t/>
            </a:r>
            <a:endParaRPr/>
          </a:p>
        </p:txBody>
      </p:sp>
      <p:sp>
        <p:nvSpPr>
          <p:cNvPr id="1231" name="Google Shape;1231;p70: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p7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2" name="Google Shape;1242;p71: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Consider a composite function f(x) = u(v(x)).  CLICK. The derivative of </a:t>
            </a:r>
            <a:r>
              <a:rPr i="1" lang="en-US" sz="1200">
                <a:solidFill>
                  <a:schemeClr val="dk1"/>
                </a:solidFill>
                <a:latin typeface="Calibri"/>
                <a:ea typeface="Calibri"/>
                <a:cs typeface="Calibri"/>
                <a:sym typeface="Calibri"/>
              </a:rPr>
              <a:t>f </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 is the derivative of </a:t>
            </a:r>
            <a:r>
              <a:rPr i="1" lang="en-US" sz="1200">
                <a:solidFill>
                  <a:schemeClr val="dk1"/>
                </a:solidFill>
                <a:latin typeface="Calibri"/>
                <a:ea typeface="Calibri"/>
                <a:cs typeface="Calibri"/>
                <a:sym typeface="Calibri"/>
              </a:rPr>
              <a:t>u</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 with respect to </a:t>
            </a:r>
            <a:r>
              <a:rPr i="1" lang="en-US" sz="1200">
                <a:solidFill>
                  <a:schemeClr val="dk1"/>
                </a:solidFill>
                <a:latin typeface="Calibri"/>
                <a:ea typeface="Calibri"/>
                <a:cs typeface="Calibri"/>
                <a:sym typeface="Calibri"/>
              </a:rPr>
              <a:t>v</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 times the derivative of </a:t>
            </a:r>
            <a:r>
              <a:rPr i="1" lang="en-US" sz="1200">
                <a:solidFill>
                  <a:schemeClr val="dk1"/>
                </a:solidFill>
                <a:latin typeface="Calibri"/>
                <a:ea typeface="Calibri"/>
                <a:cs typeface="Calibri"/>
                <a:sym typeface="Calibri"/>
              </a:rPr>
              <a:t>v</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 with respect to </a:t>
            </a:r>
            <a:r>
              <a:rPr i="1" lang="en-US" sz="1200">
                <a:solidFill>
                  <a:schemeClr val="dk1"/>
                </a:solidFill>
                <a:latin typeface="Calibri"/>
                <a:ea typeface="Calibri"/>
                <a:cs typeface="Calibri"/>
                <a:sym typeface="Calibri"/>
              </a:rPr>
              <a:t>x</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The chain rule extends to more than two functions. If computing the derivative of a composite function </a:t>
            </a:r>
            <a:r>
              <a:rPr i="1" lang="en-US" sz="1200">
                <a:solidFill>
                  <a:schemeClr val="dk1"/>
                </a:solidFill>
                <a:latin typeface="Calibri"/>
                <a:ea typeface="Calibri"/>
                <a:cs typeface="Calibri"/>
                <a:sym typeface="Calibri"/>
              </a:rPr>
              <a:t>f </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 = </a:t>
            </a:r>
            <a:r>
              <a:rPr i="1" lang="en-US" sz="1200">
                <a:solidFill>
                  <a:schemeClr val="dk1"/>
                </a:solidFill>
                <a:latin typeface="Calibri"/>
                <a:ea typeface="Calibri"/>
                <a:cs typeface="Calibri"/>
                <a:sym typeface="Calibri"/>
              </a:rPr>
              <a:t>u</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v</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w</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 the derivative of </a:t>
            </a:r>
            <a:r>
              <a:rPr i="1" lang="en-US" sz="1200">
                <a:solidFill>
                  <a:schemeClr val="dk1"/>
                </a:solidFill>
                <a:latin typeface="Calibri"/>
                <a:ea typeface="Calibri"/>
                <a:cs typeface="Calibri"/>
                <a:sym typeface="Calibri"/>
              </a:rPr>
              <a:t>f </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x</a:t>
            </a:r>
            <a:r>
              <a:rPr lang="en-US" sz="1200">
                <a:solidFill>
                  <a:schemeClr val="dk1"/>
                </a:solidFill>
                <a:latin typeface="Calibri"/>
                <a:ea typeface="Calibri"/>
                <a:cs typeface="Calibri"/>
                <a:sym typeface="Calibri"/>
              </a:rPr>
              <a:t>) is: </a:t>
            </a:r>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p:txBody>
      </p:sp>
      <p:sp>
        <p:nvSpPr>
          <p:cNvPr id="1243" name="Google Shape;1243;p71: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p7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1" name="Google Shape;1251;p72: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900"/>
              <a:buFont typeface="Calibri"/>
              <a:buNone/>
            </a:pPr>
            <a:r>
              <a:rPr lang="en-US" sz="900">
                <a:solidFill>
                  <a:schemeClr val="dk1"/>
                </a:solidFill>
                <a:latin typeface="Calibri"/>
                <a:ea typeface="Calibri"/>
                <a:cs typeface="Calibri"/>
                <a:sym typeface="Calibri"/>
              </a:rPr>
              <a:t>Let’s now compute the 3 derivatives we need. </a:t>
            </a:r>
            <a:r>
              <a:rPr lang="en-US" sz="1200">
                <a:solidFill>
                  <a:schemeClr val="dk1"/>
                </a:solidFill>
                <a:latin typeface="Calibri"/>
                <a:ea typeface="Calibri"/>
                <a:cs typeface="Calibri"/>
                <a:sym typeface="Calibri"/>
              </a:rPr>
              <a:t> Since in the computation graph </a:t>
            </a:r>
            <a:r>
              <a:rPr i="1" lang="en-US" sz="1200">
                <a:solidFill>
                  <a:schemeClr val="dk1"/>
                </a:solidFill>
                <a:latin typeface="Calibri"/>
                <a:ea typeface="Calibri"/>
                <a:cs typeface="Calibri"/>
                <a:sym typeface="Calibri"/>
              </a:rPr>
              <a:t>L </a:t>
            </a:r>
            <a:r>
              <a:rPr lang="en-US" sz="1200">
                <a:solidFill>
                  <a:schemeClr val="dk1"/>
                </a:solidFill>
                <a:latin typeface="Calibri"/>
                <a:ea typeface="Calibri"/>
                <a:cs typeface="Calibri"/>
                <a:sym typeface="Calibri"/>
              </a:rPr>
              <a:t>= </a:t>
            </a:r>
            <a:r>
              <a:rPr i="1" lang="en-US" sz="1200">
                <a:solidFill>
                  <a:schemeClr val="dk1"/>
                </a:solidFill>
                <a:latin typeface="Calibri"/>
                <a:ea typeface="Calibri"/>
                <a:cs typeface="Calibri"/>
                <a:sym typeface="Calibri"/>
              </a:rPr>
              <a:t>ce</a:t>
            </a:r>
            <a:r>
              <a:rPr lang="en-US" sz="1200">
                <a:solidFill>
                  <a:schemeClr val="dk1"/>
                </a:solidFill>
                <a:latin typeface="Calibri"/>
                <a:ea typeface="Calibri"/>
                <a:cs typeface="Calibri"/>
                <a:sym typeface="Calibri"/>
              </a:rPr>
              <a:t>, we can directly compute the derivative ∂ </a:t>
            </a:r>
            <a:r>
              <a:rPr i="1" lang="en-US" sz="1200">
                <a:solidFill>
                  <a:schemeClr val="dk1"/>
                </a:solidFill>
                <a:latin typeface="Calibri"/>
                <a:ea typeface="Calibri"/>
                <a:cs typeface="Calibri"/>
                <a:sym typeface="Calibri"/>
              </a:rPr>
              <a:t>L /</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c: it will be e.</a:t>
            </a:r>
            <a:endParaRPr/>
          </a:p>
          <a:p>
            <a:pPr indent="0" lvl="0" marL="0" marR="0" rtl="0" algn="l">
              <a:lnSpc>
                <a:spcPct val="100000"/>
              </a:lnSpc>
              <a:spcBef>
                <a:spcPts val="0"/>
              </a:spcBef>
              <a:spcAft>
                <a:spcPts val="0"/>
              </a:spcAft>
              <a:buClr>
                <a:schemeClr val="dk1"/>
              </a:buClr>
              <a:buSzPts val="1200"/>
              <a:buFont typeface="Calibri"/>
              <a:buNone/>
            </a:pPr>
            <a:r>
              <a:t/>
            </a:r>
            <a:endParaRPr i="1"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i="0" lang="en-US" sz="1200">
                <a:solidFill>
                  <a:schemeClr val="dk1"/>
                </a:solidFill>
                <a:latin typeface="Calibri"/>
                <a:ea typeface="Calibri"/>
                <a:cs typeface="Calibri"/>
                <a:sym typeface="Calibri"/>
              </a:rPr>
              <a:t>For the other two, we'll need to use the chain rule</a:t>
            </a:r>
            <a:br>
              <a:rPr i="0" lang="en-US" sz="1200">
                <a:solidFill>
                  <a:schemeClr val="dk1"/>
                </a:solidFill>
                <a:latin typeface="Calibri"/>
                <a:ea typeface="Calibri"/>
                <a:cs typeface="Calibri"/>
                <a:sym typeface="Calibri"/>
              </a:rPr>
            </a:br>
            <a:endParaRPr i="0"/>
          </a:p>
          <a:p>
            <a:pPr indent="0" lvl="0" marL="0" rtl="0" algn="l">
              <a:spcBef>
                <a:spcPts val="0"/>
              </a:spcBef>
              <a:spcAft>
                <a:spcPts val="0"/>
              </a:spcAft>
              <a:buNone/>
            </a:pPr>
            <a:r>
              <a:t/>
            </a:r>
            <a:endParaRPr/>
          </a:p>
        </p:txBody>
      </p:sp>
      <p:sp>
        <p:nvSpPr>
          <p:cNvPr id="1252" name="Google Shape;1252;p72: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p7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4" name="Google Shape;1264;p73: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Those equations, we've put them here on the top, thus require five intermediate derivatives: ∂</a:t>
            </a:r>
            <a:r>
              <a:rPr i="1" lang="en-US" sz="1200">
                <a:solidFill>
                  <a:schemeClr val="dk1"/>
                </a:solidFill>
                <a:latin typeface="Calibri"/>
                <a:ea typeface="Calibri"/>
                <a:cs typeface="Calibri"/>
                <a:sym typeface="Calibri"/>
              </a:rPr>
              <a:t>L/</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e </a:t>
            </a:r>
            <a:r>
              <a:rPr lang="en-US" sz="1200">
                <a:solidFill>
                  <a:schemeClr val="dk1"/>
                </a:solidFill>
                <a:latin typeface="Calibri"/>
                <a:ea typeface="Calibri"/>
                <a:cs typeface="Calibri"/>
                <a:sym typeface="Calibri"/>
              </a:rPr>
              <a:t>, ∂</a:t>
            </a:r>
            <a:r>
              <a:rPr i="1" lang="en-US" sz="1200">
                <a:solidFill>
                  <a:schemeClr val="dk1"/>
                </a:solidFill>
                <a:latin typeface="Calibri"/>
                <a:ea typeface="Calibri"/>
                <a:cs typeface="Calibri"/>
                <a:sym typeface="Calibri"/>
              </a:rPr>
              <a:t>L/</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c </a:t>
            </a:r>
            <a:r>
              <a:rPr lang="en-US" sz="1200">
                <a:solidFill>
                  <a:schemeClr val="dk1"/>
                </a:solidFill>
                <a:latin typeface="Calibri"/>
                <a:ea typeface="Calibri"/>
                <a:cs typeface="Calibri"/>
                <a:sym typeface="Calibri"/>
              </a:rPr>
              <a:t>, ∂</a:t>
            </a:r>
            <a:r>
              <a:rPr i="1" lang="en-US" sz="1200">
                <a:solidFill>
                  <a:schemeClr val="dk1"/>
                </a:solidFill>
                <a:latin typeface="Calibri"/>
                <a:ea typeface="Calibri"/>
                <a:cs typeface="Calibri"/>
                <a:sym typeface="Calibri"/>
              </a:rPr>
              <a:t>e/</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a </a:t>
            </a:r>
            <a:r>
              <a:rPr lang="en-US" sz="1200">
                <a:solidFill>
                  <a:schemeClr val="dk1"/>
                </a:solidFill>
                <a:latin typeface="Calibri"/>
                <a:ea typeface="Calibri"/>
                <a:cs typeface="Calibri"/>
                <a:sym typeface="Calibri"/>
              </a:rPr>
              <a:t>, ∂</a:t>
            </a:r>
            <a:r>
              <a:rPr i="1" lang="en-US" sz="1200">
                <a:solidFill>
                  <a:schemeClr val="dk1"/>
                </a:solidFill>
                <a:latin typeface="Calibri"/>
                <a:ea typeface="Calibri"/>
                <a:cs typeface="Calibri"/>
                <a:sym typeface="Calibri"/>
              </a:rPr>
              <a:t>e/</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d </a:t>
            </a:r>
            <a:r>
              <a:rPr lang="en-US" sz="1200">
                <a:solidFill>
                  <a:schemeClr val="dk1"/>
                </a:solidFill>
                <a:latin typeface="Calibri"/>
                <a:ea typeface="Calibri"/>
                <a:cs typeface="Calibri"/>
                <a:sym typeface="Calibri"/>
              </a:rPr>
              <a:t>, and ∂</a:t>
            </a:r>
            <a:r>
              <a:rPr i="1" lang="en-US" sz="1200">
                <a:solidFill>
                  <a:schemeClr val="dk1"/>
                </a:solidFill>
                <a:latin typeface="Calibri"/>
                <a:ea typeface="Calibri"/>
                <a:cs typeface="Calibri"/>
                <a:sym typeface="Calibri"/>
              </a:rPr>
              <a:t>d/</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b </a:t>
            </a:r>
            <a:r>
              <a:rPr lang="en-US" sz="1200">
                <a:solidFill>
                  <a:schemeClr val="dk1"/>
                </a:solidFill>
                <a:latin typeface="Calibri"/>
                <a:ea typeface="Calibri"/>
                <a:cs typeface="Calibri"/>
                <a:sym typeface="Calibri"/>
              </a:rPr>
              <a:t>, </a:t>
            </a:r>
            <a:r>
              <a:rPr lang="en-US" sz="9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which are as follows (making use of the fact that the derivative of a sum is the sum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of the derivatives): </a:t>
            </a:r>
            <a:endParaRPr/>
          </a:p>
          <a:p>
            <a:pPr indent="0" lvl="0" marL="0" rtl="0" algn="l">
              <a:spcBef>
                <a:spcPts val="0"/>
              </a:spcBef>
              <a:spcAft>
                <a:spcPts val="0"/>
              </a:spcAft>
              <a:buNone/>
            </a:pPr>
            <a:r>
              <a:t/>
            </a:r>
            <a:endParaRPr/>
          </a:p>
        </p:txBody>
      </p:sp>
      <p:sp>
        <p:nvSpPr>
          <p:cNvPr id="1265" name="Google Shape;1265;p73: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p7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5" name="Google Shape;1275;p74: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In the backward pass, we compute each of these partials along each edge of the graph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from right to left, multiplying the necessary partials to result in the final derivative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we need. Thus we begin by annotating the final node with ∂ </a:t>
            </a:r>
            <a:r>
              <a:rPr i="1" lang="en-US" sz="1200">
                <a:solidFill>
                  <a:schemeClr val="dk1"/>
                </a:solidFill>
                <a:latin typeface="Calibri"/>
                <a:ea typeface="Calibri"/>
                <a:cs typeface="Calibri"/>
                <a:sym typeface="Calibri"/>
              </a:rPr>
              <a:t>L/</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L  </a:t>
            </a:r>
            <a:r>
              <a:rPr lang="en-US" sz="1200">
                <a:solidFill>
                  <a:schemeClr val="dk1"/>
                </a:solidFill>
                <a:latin typeface="Calibri"/>
                <a:ea typeface="Calibri"/>
                <a:cs typeface="Calibri"/>
                <a:sym typeface="Calibri"/>
              </a:rPr>
              <a:t>= 1. Moving to the</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left, we then compute ∂ </a:t>
            </a:r>
            <a:r>
              <a:rPr i="1" lang="en-US" sz="1200">
                <a:solidFill>
                  <a:schemeClr val="dk1"/>
                </a:solidFill>
                <a:latin typeface="Calibri"/>
                <a:ea typeface="Calibri"/>
                <a:cs typeface="Calibri"/>
                <a:sym typeface="Calibri"/>
              </a:rPr>
              <a:t>L/</a:t>
            </a:r>
            <a:r>
              <a:rPr lang="en-US" sz="1200">
                <a:solidFill>
                  <a:schemeClr val="dk1"/>
                </a:solidFill>
                <a:latin typeface="Calibri"/>
                <a:ea typeface="Calibri"/>
                <a:cs typeface="Calibri"/>
                <a:sym typeface="Calibri"/>
              </a:rPr>
              <a:t> ∂</a:t>
            </a:r>
            <a:r>
              <a:rPr i="1" lang="en-US" sz="1200">
                <a:solidFill>
                  <a:schemeClr val="dk1"/>
                </a:solidFill>
                <a:latin typeface="Calibri"/>
                <a:ea typeface="Calibri"/>
                <a:cs typeface="Calibri"/>
                <a:sym typeface="Calibri"/>
              </a:rPr>
              <a:t>c  </a:t>
            </a:r>
            <a:r>
              <a:rPr lang="en-US" sz="1200">
                <a:solidFill>
                  <a:schemeClr val="dk1"/>
                </a:solidFill>
                <a:latin typeface="Calibri"/>
                <a:ea typeface="Calibri"/>
                <a:cs typeface="Calibri"/>
                <a:sym typeface="Calibri"/>
              </a:rPr>
              <a:t>and ∂</a:t>
            </a:r>
            <a:r>
              <a:rPr i="1" lang="en-US" sz="1200">
                <a:solidFill>
                  <a:schemeClr val="dk1"/>
                </a:solidFill>
                <a:latin typeface="Calibri"/>
                <a:ea typeface="Calibri"/>
                <a:cs typeface="Calibri"/>
                <a:sym typeface="Calibri"/>
              </a:rPr>
              <a:t>L/</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e </a:t>
            </a:r>
            <a:r>
              <a:rPr lang="en-US" sz="1200">
                <a:solidFill>
                  <a:schemeClr val="dk1"/>
                </a:solidFill>
                <a:latin typeface="Calibri"/>
                <a:ea typeface="Calibri"/>
                <a:cs typeface="Calibri"/>
                <a:sym typeface="Calibri"/>
              </a:rPr>
              <a:t>, and so on, until we have annotated the graph all the way to the input variables. The forward pass conveniently already will have computed the values of the forward intermediate variables we need (like </a:t>
            </a:r>
            <a:r>
              <a:rPr i="1" lang="en-US" sz="1200">
                <a:solidFill>
                  <a:schemeClr val="dk1"/>
                </a:solidFill>
                <a:latin typeface="Calibri"/>
                <a:ea typeface="Calibri"/>
                <a:cs typeface="Calibri"/>
                <a:sym typeface="Calibri"/>
              </a:rPr>
              <a:t>d </a:t>
            </a:r>
            <a:r>
              <a:rPr lang="en-US" sz="1200">
                <a:solidFill>
                  <a:schemeClr val="dk1"/>
                </a:solidFill>
                <a:latin typeface="Calibri"/>
                <a:ea typeface="Calibri"/>
                <a:cs typeface="Calibri"/>
                <a:sym typeface="Calibri"/>
              </a:rPr>
              <a:t>and </a:t>
            </a:r>
            <a:r>
              <a:rPr i="1" lang="en-US" sz="1200">
                <a:solidFill>
                  <a:schemeClr val="dk1"/>
                </a:solidFill>
                <a:latin typeface="Calibri"/>
                <a:ea typeface="Calibri"/>
                <a:cs typeface="Calibri"/>
                <a:sym typeface="Calibri"/>
              </a:rPr>
              <a:t>e</a:t>
            </a:r>
            <a:r>
              <a:rPr lang="en-US" sz="1200">
                <a:solidFill>
                  <a:schemeClr val="dk1"/>
                </a:solidFill>
                <a:latin typeface="Calibri"/>
                <a:ea typeface="Calibri"/>
                <a:cs typeface="Calibri"/>
                <a:sym typeface="Calibri"/>
              </a:rPr>
              <a:t>)  to compute these derivatives. </a:t>
            </a:r>
            <a:endParaRPr/>
          </a:p>
          <a:p>
            <a:pPr indent="0" lvl="0" marL="0" rtl="0" algn="l">
              <a:spcBef>
                <a:spcPts val="0"/>
              </a:spcBef>
              <a:spcAft>
                <a:spcPts val="0"/>
              </a:spcAft>
              <a:buNone/>
            </a:pPr>
            <a:r>
              <a:t/>
            </a:r>
            <a:endParaRPr/>
          </a:p>
        </p:txBody>
      </p:sp>
      <p:sp>
        <p:nvSpPr>
          <p:cNvPr id="1276" name="Google Shape;1276;p74: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p7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7" name="Google Shape;1287;p75: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n the backward pass, we compute each of these partials along each edge of the graph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from right to left, multiplying the necessary partials to result in the final derivative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we need.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each node we need to compute the local partial derivative with respect to the parent, multiply it by the partial derivative that is being passed down from the parent, and then pass it to the child. </a:t>
            </a:r>
            <a:endParaRPr sz="1200"/>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Thus we begin by annotating the final node with ∂ </a:t>
            </a:r>
            <a:r>
              <a:rPr i="1" lang="en-US" sz="1200">
                <a:solidFill>
                  <a:schemeClr val="dk1"/>
                </a:solidFill>
                <a:latin typeface="Calibri"/>
                <a:ea typeface="Calibri"/>
                <a:cs typeface="Calibri"/>
                <a:sym typeface="Calibri"/>
              </a:rPr>
              <a:t>L/</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L </a:t>
            </a:r>
            <a:r>
              <a:rPr lang="en-US" sz="1200">
                <a:solidFill>
                  <a:schemeClr val="dk1"/>
                </a:solidFill>
                <a:latin typeface="Calibri"/>
                <a:ea typeface="Calibri"/>
                <a:cs typeface="Calibri"/>
                <a:sym typeface="Calibri"/>
              </a:rPr>
              <a:t>= 1. Moving to the</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left, we then compute ∂ </a:t>
            </a:r>
            <a:r>
              <a:rPr i="1" lang="en-US" sz="1200">
                <a:solidFill>
                  <a:schemeClr val="dk1"/>
                </a:solidFill>
                <a:latin typeface="Calibri"/>
                <a:ea typeface="Calibri"/>
                <a:cs typeface="Calibri"/>
                <a:sym typeface="Calibri"/>
              </a:rPr>
              <a:t>L/</a:t>
            </a:r>
            <a:r>
              <a:rPr lang="en-US" sz="1200">
                <a:solidFill>
                  <a:schemeClr val="dk1"/>
                </a:solidFill>
                <a:latin typeface="Calibri"/>
                <a:ea typeface="Calibri"/>
                <a:cs typeface="Calibri"/>
                <a:sym typeface="Calibri"/>
              </a:rPr>
              <a:t> ∂</a:t>
            </a:r>
            <a:r>
              <a:rPr i="1" lang="en-US" sz="1200">
                <a:solidFill>
                  <a:schemeClr val="dk1"/>
                </a:solidFill>
                <a:latin typeface="Calibri"/>
                <a:ea typeface="Calibri"/>
                <a:cs typeface="Calibri"/>
                <a:sym typeface="Calibri"/>
              </a:rPr>
              <a:t>c  </a:t>
            </a:r>
            <a:r>
              <a:rPr lang="en-US" sz="1200">
                <a:solidFill>
                  <a:schemeClr val="dk1"/>
                </a:solidFill>
                <a:latin typeface="Calibri"/>
                <a:ea typeface="Calibri"/>
                <a:cs typeface="Calibri"/>
                <a:sym typeface="Calibri"/>
              </a:rPr>
              <a:t>and ∂</a:t>
            </a:r>
            <a:r>
              <a:rPr i="1" lang="en-US" sz="1200">
                <a:solidFill>
                  <a:schemeClr val="dk1"/>
                </a:solidFill>
                <a:latin typeface="Calibri"/>
                <a:ea typeface="Calibri"/>
                <a:cs typeface="Calibri"/>
                <a:sym typeface="Calibri"/>
              </a:rPr>
              <a:t>L/</a:t>
            </a:r>
            <a:r>
              <a:rPr lang="en-US" sz="1200">
                <a:solidFill>
                  <a:schemeClr val="dk1"/>
                </a:solidFill>
                <a:latin typeface="Calibri"/>
                <a:ea typeface="Calibri"/>
                <a:cs typeface="Calibri"/>
                <a:sym typeface="Calibri"/>
              </a:rPr>
              <a:t>∂</a:t>
            </a:r>
            <a:r>
              <a:rPr i="1" lang="en-US" sz="1200">
                <a:solidFill>
                  <a:schemeClr val="dk1"/>
                </a:solidFill>
                <a:latin typeface="Calibri"/>
                <a:ea typeface="Calibri"/>
                <a:cs typeface="Calibri"/>
                <a:sym typeface="Calibri"/>
              </a:rPr>
              <a:t>e </a:t>
            </a:r>
            <a:r>
              <a:rPr lang="en-US" sz="1200">
                <a:solidFill>
                  <a:schemeClr val="dk1"/>
                </a:solidFill>
                <a:latin typeface="Calibri"/>
                <a:ea typeface="Calibri"/>
                <a:cs typeface="Calibri"/>
                <a:sym typeface="Calibri"/>
              </a:rPr>
              <a:t>, and so on, until we have annotated the graph all the way to the input variables. The forward pass conveniently already will have computed the values of the forward intermediate variables we need (like </a:t>
            </a:r>
            <a:r>
              <a:rPr i="1" lang="en-US" sz="1200">
                <a:solidFill>
                  <a:schemeClr val="dk1"/>
                </a:solidFill>
                <a:latin typeface="Calibri"/>
                <a:ea typeface="Calibri"/>
                <a:cs typeface="Calibri"/>
                <a:sym typeface="Calibri"/>
              </a:rPr>
              <a:t>d </a:t>
            </a:r>
            <a:r>
              <a:rPr lang="en-US" sz="1200">
                <a:solidFill>
                  <a:schemeClr val="dk1"/>
                </a:solidFill>
                <a:latin typeface="Calibri"/>
                <a:ea typeface="Calibri"/>
                <a:cs typeface="Calibri"/>
                <a:sym typeface="Calibri"/>
              </a:rPr>
              <a:t>and </a:t>
            </a:r>
            <a:r>
              <a:rPr i="1" lang="en-US" sz="1200">
                <a:solidFill>
                  <a:schemeClr val="dk1"/>
                </a:solidFill>
                <a:latin typeface="Calibri"/>
                <a:ea typeface="Calibri"/>
                <a:cs typeface="Calibri"/>
                <a:sym typeface="Calibri"/>
              </a:rPr>
              <a:t>e</a:t>
            </a:r>
            <a:r>
              <a:rPr lang="en-US" sz="1200">
                <a:solidFill>
                  <a:schemeClr val="dk1"/>
                </a:solidFill>
                <a:latin typeface="Calibri"/>
                <a:ea typeface="Calibri"/>
                <a:cs typeface="Calibri"/>
                <a:sym typeface="Calibri"/>
              </a:rPr>
              <a:t>)  to compute these derivatives.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a:p>
          <a:p>
            <a:pPr indent="0" lvl="0" marL="0" rtl="0" algn="l">
              <a:spcBef>
                <a:spcPts val="0"/>
              </a:spcBef>
              <a:spcAft>
                <a:spcPts val="0"/>
              </a:spcAft>
              <a:buNone/>
            </a:pPr>
            <a:r>
              <a:t/>
            </a:r>
            <a:endParaRPr/>
          </a:p>
        </p:txBody>
      </p:sp>
      <p:sp>
        <p:nvSpPr>
          <p:cNvPr id="1288" name="Google Shape;1288;p75: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p7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5" name="Google Shape;1295;p76: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900"/>
              <a:buFont typeface="Calibri"/>
              <a:buNone/>
            </a:pPr>
            <a:r>
              <a:rPr lang="en-US" sz="900">
                <a:solidFill>
                  <a:schemeClr val="dk1"/>
                </a:solidFill>
                <a:latin typeface="Calibri"/>
                <a:ea typeface="Calibri"/>
                <a:cs typeface="Calibri"/>
                <a:sym typeface="Calibri"/>
              </a:rPr>
              <a:t>Of course computation graphs for real neural networks are much more complex. Here's a sample computation graph for a 2-layer neural network with </a:t>
            </a:r>
            <a:r>
              <a:rPr i="1" lang="en-US" sz="900">
                <a:solidFill>
                  <a:schemeClr val="dk1"/>
                </a:solidFill>
                <a:latin typeface="Calibri"/>
                <a:ea typeface="Calibri"/>
                <a:cs typeface="Calibri"/>
                <a:sym typeface="Calibri"/>
              </a:rPr>
              <a:t>n</a:t>
            </a:r>
            <a:r>
              <a:rPr lang="en-US" sz="900">
                <a:solidFill>
                  <a:schemeClr val="dk1"/>
                </a:solidFill>
                <a:latin typeface="Calibri"/>
                <a:ea typeface="Calibri"/>
                <a:cs typeface="Calibri"/>
                <a:sym typeface="Calibri"/>
              </a:rPr>
              <a:t>0 = 2, </a:t>
            </a:r>
            <a:r>
              <a:rPr i="1" lang="en-US" sz="900">
                <a:solidFill>
                  <a:schemeClr val="dk1"/>
                </a:solidFill>
                <a:latin typeface="Calibri"/>
                <a:ea typeface="Calibri"/>
                <a:cs typeface="Calibri"/>
                <a:sym typeface="Calibri"/>
              </a:rPr>
              <a:t>n</a:t>
            </a:r>
            <a:r>
              <a:rPr lang="en-US" sz="900">
                <a:solidFill>
                  <a:schemeClr val="dk1"/>
                </a:solidFill>
                <a:latin typeface="Calibri"/>
                <a:ea typeface="Calibri"/>
                <a:cs typeface="Calibri"/>
                <a:sym typeface="Calibri"/>
              </a:rPr>
              <a:t>1 = 2, and </a:t>
            </a:r>
            <a:r>
              <a:rPr i="1" lang="en-US" sz="900">
                <a:solidFill>
                  <a:schemeClr val="dk1"/>
                </a:solidFill>
                <a:latin typeface="Calibri"/>
                <a:ea typeface="Calibri"/>
                <a:cs typeface="Calibri"/>
                <a:sym typeface="Calibri"/>
              </a:rPr>
              <a:t>n</a:t>
            </a:r>
            <a:r>
              <a:rPr lang="en-US" sz="900">
                <a:solidFill>
                  <a:schemeClr val="dk1"/>
                </a:solidFill>
                <a:latin typeface="Calibri"/>
                <a:ea typeface="Calibri"/>
                <a:cs typeface="Calibri"/>
                <a:sym typeface="Calibri"/>
              </a:rPr>
              <a:t>2 = 1, </a:t>
            </a:r>
            <a:endParaRPr/>
          </a:p>
          <a:p>
            <a:pPr indent="0" lvl="0" marL="0" rtl="0" algn="l">
              <a:spcBef>
                <a:spcPts val="0"/>
              </a:spcBef>
              <a:spcAft>
                <a:spcPts val="0"/>
              </a:spcAft>
              <a:buNone/>
            </a:pPr>
            <a:r>
              <a:t/>
            </a:r>
            <a:endParaRPr/>
          </a:p>
        </p:txBody>
      </p:sp>
      <p:sp>
        <p:nvSpPr>
          <p:cNvPr id="1296" name="Google Shape;1296;p76: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p7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2" name="Google Shape;1332;p77: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900"/>
              <a:buFont typeface="Calibri"/>
              <a:buNone/>
            </a:pPr>
            <a:r>
              <a:rPr lang="en-US" sz="900">
                <a:solidFill>
                  <a:schemeClr val="dk1"/>
                </a:solidFill>
                <a:latin typeface="Calibri"/>
                <a:ea typeface="Calibri"/>
                <a:cs typeface="Calibri"/>
                <a:sym typeface="Calibri"/>
              </a:rPr>
              <a:t>In order to do the backward pass, we’ll need to know the derivatives of all the functions in the graph. We already saw in Section </a:t>
            </a:r>
            <a:r>
              <a:rPr b="0" lang="en-US" sz="900">
                <a:solidFill>
                  <a:schemeClr val="dk1"/>
                </a:solidFill>
                <a:latin typeface="Calibri"/>
                <a:ea typeface="Calibri"/>
                <a:cs typeface="Calibri"/>
                <a:sym typeface="Calibri"/>
              </a:rPr>
              <a:t>?? </a:t>
            </a:r>
            <a:r>
              <a:rPr lang="en-US" sz="900">
                <a:solidFill>
                  <a:schemeClr val="dk1"/>
                </a:solidFill>
                <a:latin typeface="Calibri"/>
                <a:ea typeface="Calibri"/>
                <a:cs typeface="Calibri"/>
                <a:sym typeface="Calibri"/>
              </a:rPr>
              <a:t>the derivative of the sigmoid σ :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900"/>
              <a:buFont typeface="Calibri"/>
              <a:buNone/>
            </a:pPr>
            <a:r>
              <a:rPr lang="en-US" sz="900">
                <a:solidFill>
                  <a:schemeClr val="dk1"/>
                </a:solidFill>
                <a:latin typeface="Calibri"/>
                <a:ea typeface="Calibri"/>
                <a:cs typeface="Calibri"/>
                <a:sym typeface="Calibri"/>
              </a:rPr>
              <a:t>The derivative of the ReLU is </a:t>
            </a:r>
            <a:endParaRPr/>
          </a:p>
          <a:p>
            <a:pPr indent="0" lvl="0" marL="0" rtl="0" algn="l">
              <a:spcBef>
                <a:spcPts val="0"/>
              </a:spcBef>
              <a:spcAft>
                <a:spcPts val="0"/>
              </a:spcAft>
              <a:buNone/>
            </a:pPr>
            <a:r>
              <a:t/>
            </a:r>
            <a:endParaRPr/>
          </a:p>
        </p:txBody>
      </p:sp>
      <p:sp>
        <p:nvSpPr>
          <p:cNvPr id="1333" name="Google Shape;1333;p77: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p78: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3" name="Google Shape;1343;p78: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marR="0" rtl="0" algn="l">
              <a:lnSpc>
                <a:spcPct val="100000"/>
              </a:lnSpc>
              <a:spcBef>
                <a:spcPts val="0"/>
              </a:spcBef>
              <a:spcAft>
                <a:spcPts val="0"/>
              </a:spcAft>
              <a:buClr>
                <a:schemeClr val="dk1"/>
              </a:buClr>
              <a:buSzPts val="900"/>
              <a:buFont typeface="Calibri"/>
              <a:buNone/>
            </a:pPr>
            <a:r>
              <a:rPr lang="en-US" sz="900">
                <a:solidFill>
                  <a:schemeClr val="dk1"/>
                </a:solidFill>
                <a:latin typeface="Calibri"/>
                <a:ea typeface="Calibri"/>
                <a:cs typeface="Calibri"/>
                <a:sym typeface="Calibri"/>
              </a:rPr>
              <a:t>The weights that need updating (those for which we need to know the partial derivative of the loss function) are shown in orange .</a:t>
            </a:r>
            <a:endParaRPr/>
          </a:p>
          <a:p>
            <a:pPr indent="0" lvl="0" marL="0" marR="0" rtl="0" algn="l">
              <a:lnSpc>
                <a:spcPct val="100000"/>
              </a:lnSpc>
              <a:spcBef>
                <a:spcPts val="0"/>
              </a:spcBef>
              <a:spcAft>
                <a:spcPts val="0"/>
              </a:spcAft>
              <a:buClr>
                <a:schemeClr val="dk1"/>
              </a:buClr>
              <a:buSzPts val="900"/>
              <a:buFont typeface="Calibri"/>
              <a:buNone/>
            </a:pPr>
            <a:r>
              <a:t/>
            </a:r>
            <a:endParaRPr sz="9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rPr lang="en-US" sz="900">
                <a:solidFill>
                  <a:schemeClr val="dk1"/>
                </a:solidFill>
                <a:latin typeface="Calibri"/>
                <a:ea typeface="Calibri"/>
                <a:cs typeface="Calibri"/>
                <a:sym typeface="Calibri"/>
              </a:rPr>
              <a:t>So for a particular example x1,x2, we would run the forward pass, assign values to each of our nodes, and then starting with this last node, run backwards pass</a:t>
            </a:r>
            <a:endParaRPr/>
          </a:p>
          <a:p>
            <a:pPr indent="0" lvl="0" marL="0" rtl="0" algn="l">
              <a:spcBef>
                <a:spcPts val="0"/>
              </a:spcBef>
              <a:spcAft>
                <a:spcPts val="0"/>
              </a:spcAft>
              <a:buNone/>
            </a:pPr>
            <a:r>
              <a:t/>
            </a:r>
            <a:endParaRPr/>
          </a:p>
        </p:txBody>
      </p:sp>
      <p:sp>
        <p:nvSpPr>
          <p:cNvPr id="1344" name="Google Shape;1344;p78: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p7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3" name="Google Shape;1353;p79: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1354" name="Google Shape;1354;p79: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p80:notes"/>
          <p:cNvSpPr txBox="1"/>
          <p:nvPr>
            <p:ph idx="1" type="body"/>
          </p:nvPr>
        </p:nvSpPr>
        <p:spPr>
          <a:xfrm>
            <a:off x="731521" y="4560571"/>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367" name="Google Shape;1367;p8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p8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4" name="Google Shape;1374;p81:notes"/>
          <p:cNvSpPr txBox="1"/>
          <p:nvPr>
            <p:ph idx="1" type="body"/>
          </p:nvPr>
        </p:nvSpPr>
        <p:spPr>
          <a:xfrm>
            <a:off x="731521" y="4560571"/>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1375" name="Google Shape;1375;p81:notes"/>
          <p:cNvSpPr txBox="1"/>
          <p:nvPr>
            <p:ph idx="12" type="sldNum"/>
          </p:nvPr>
        </p:nvSpPr>
        <p:spPr>
          <a:xfrm>
            <a:off x="4143587" y="9119475"/>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7" name="Shape 17"/>
        <p:cNvGrpSpPr/>
        <p:nvPr/>
      </p:nvGrpSpPr>
      <p:grpSpPr>
        <a:xfrm>
          <a:off x="0" y="0"/>
          <a:ext cx="0" cy="0"/>
          <a:chOff x="0" y="0"/>
          <a:chExt cx="0" cy="0"/>
        </a:xfrm>
      </p:grpSpPr>
      <p:sp>
        <p:nvSpPr>
          <p:cNvPr id="18" name="Google Shape;18;p83"/>
          <p:cNvSpPr/>
          <p:nvPr/>
        </p:nvSpPr>
        <p:spPr>
          <a:xfrm>
            <a:off x="16" y="0"/>
            <a:ext cx="3038093"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83"/>
          <p:cNvSpPr/>
          <p:nvPr/>
        </p:nvSpPr>
        <p:spPr>
          <a:xfrm>
            <a:off x="3030053" y="0"/>
            <a:ext cx="48006"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83"/>
          <p:cNvSpPr txBox="1"/>
          <p:nvPr>
            <p:ph type="title"/>
          </p:nvPr>
        </p:nvSpPr>
        <p:spPr>
          <a:xfrm>
            <a:off x="342900" y="445769"/>
            <a:ext cx="2400300" cy="17145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2700"/>
              <a:buFont typeface="Calibri"/>
              <a:buNone/>
              <a:defRPr b="0" sz="27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83"/>
          <p:cNvSpPr txBox="1"/>
          <p:nvPr>
            <p:ph idx="1" type="body"/>
          </p:nvPr>
        </p:nvSpPr>
        <p:spPr>
          <a:xfrm>
            <a:off x="3460240" y="548640"/>
            <a:ext cx="5009393" cy="3943350"/>
          </a:xfrm>
          <a:prstGeom prst="rect">
            <a:avLst/>
          </a:prstGeom>
          <a:noFill/>
          <a:ln>
            <a:noFill/>
          </a:ln>
        </p:spPr>
        <p:txBody>
          <a:bodyPr anchorCtr="0" anchor="t" bIns="45700" lIns="0" spcFirstLastPara="1" rIns="0" wrap="square" tIns="45700">
            <a:normAutofit/>
          </a:bodyPr>
          <a:lstStyle>
            <a:lvl1pPr indent="-431800" lvl="0" marL="457200" algn="l">
              <a:lnSpc>
                <a:spcPct val="90000"/>
              </a:lnSpc>
              <a:spcBef>
                <a:spcPts val="900"/>
              </a:spcBef>
              <a:spcAft>
                <a:spcPts val="0"/>
              </a:spcAft>
              <a:buSzPts val="3200"/>
              <a:buChar char=" "/>
              <a:defRPr sz="3200">
                <a:solidFill>
                  <a:schemeClr val="accent2"/>
                </a:solidFill>
              </a:defRPr>
            </a:lvl1pPr>
            <a:lvl2pPr indent="-406400" lvl="1" marL="914400" algn="l">
              <a:lnSpc>
                <a:spcPct val="90000"/>
              </a:lnSpc>
              <a:spcBef>
                <a:spcPts val="150"/>
              </a:spcBef>
              <a:spcAft>
                <a:spcPts val="0"/>
              </a:spcAft>
              <a:buSzPts val="2800"/>
              <a:buChar char="◦"/>
              <a:defRPr sz="2800">
                <a:solidFill>
                  <a:schemeClr val="accent2"/>
                </a:solidFill>
              </a:defRPr>
            </a:lvl2pPr>
            <a:lvl3pPr indent="-381000" lvl="2" marL="1371600" algn="l">
              <a:lnSpc>
                <a:spcPct val="90000"/>
              </a:lnSpc>
              <a:spcBef>
                <a:spcPts val="300"/>
              </a:spcBef>
              <a:spcAft>
                <a:spcPts val="0"/>
              </a:spcAft>
              <a:buSzPts val="2400"/>
              <a:buChar char="◦"/>
              <a:defRPr sz="2400">
                <a:solidFill>
                  <a:schemeClr val="accent2"/>
                </a:solidFill>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22" name="Google Shape;22;p83"/>
          <p:cNvSpPr txBox="1"/>
          <p:nvPr>
            <p:ph idx="2" type="body"/>
          </p:nvPr>
        </p:nvSpPr>
        <p:spPr>
          <a:xfrm>
            <a:off x="342900" y="2194562"/>
            <a:ext cx="2400300" cy="25343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00"/>
              </a:spcBef>
              <a:spcAft>
                <a:spcPts val="0"/>
              </a:spcAft>
              <a:buSzPts val="1125"/>
              <a:buNone/>
              <a:defRPr sz="1125">
                <a:solidFill>
                  <a:srgbClr val="FFFFFF"/>
                </a:solidFill>
              </a:defRPr>
            </a:lvl1pPr>
            <a:lvl2pPr indent="-228600" lvl="1" marL="914400" algn="l">
              <a:lnSpc>
                <a:spcPct val="90000"/>
              </a:lnSpc>
              <a:spcBef>
                <a:spcPts val="150"/>
              </a:spcBef>
              <a:spcAft>
                <a:spcPts val="0"/>
              </a:spcAft>
              <a:buSzPts val="900"/>
              <a:buNone/>
              <a:defRPr sz="900"/>
            </a:lvl2pPr>
            <a:lvl3pPr indent="-228600" lvl="2" marL="1371600" algn="l">
              <a:lnSpc>
                <a:spcPct val="90000"/>
              </a:lnSpc>
              <a:spcBef>
                <a:spcPts val="300"/>
              </a:spcBef>
              <a:spcAft>
                <a:spcPts val="0"/>
              </a:spcAft>
              <a:buSzPts val="750"/>
              <a:buNone/>
              <a:defRPr sz="750"/>
            </a:lvl3pPr>
            <a:lvl4pPr indent="-228600" lvl="3" marL="1828800" algn="l">
              <a:lnSpc>
                <a:spcPct val="90000"/>
              </a:lnSpc>
              <a:spcBef>
                <a:spcPts val="300"/>
              </a:spcBef>
              <a:spcAft>
                <a:spcPts val="0"/>
              </a:spcAft>
              <a:buSzPts val="675"/>
              <a:buNone/>
              <a:defRPr sz="675"/>
            </a:lvl4pPr>
            <a:lvl5pPr indent="-228600" lvl="4" marL="2286000" algn="l">
              <a:lnSpc>
                <a:spcPct val="90000"/>
              </a:lnSpc>
              <a:spcBef>
                <a:spcPts val="300"/>
              </a:spcBef>
              <a:spcAft>
                <a:spcPts val="0"/>
              </a:spcAft>
              <a:buSzPts val="675"/>
              <a:buNone/>
              <a:defRPr sz="675"/>
            </a:lvl5pPr>
            <a:lvl6pPr indent="-228600" lvl="5" marL="2743200" algn="l">
              <a:lnSpc>
                <a:spcPct val="90000"/>
              </a:lnSpc>
              <a:spcBef>
                <a:spcPts val="300"/>
              </a:spcBef>
              <a:spcAft>
                <a:spcPts val="0"/>
              </a:spcAft>
              <a:buSzPts val="675"/>
              <a:buNone/>
              <a:defRPr sz="675"/>
            </a:lvl6pPr>
            <a:lvl7pPr indent="-228600" lvl="6" marL="3200400" algn="l">
              <a:lnSpc>
                <a:spcPct val="90000"/>
              </a:lnSpc>
              <a:spcBef>
                <a:spcPts val="300"/>
              </a:spcBef>
              <a:spcAft>
                <a:spcPts val="0"/>
              </a:spcAft>
              <a:buSzPts val="675"/>
              <a:buNone/>
              <a:defRPr sz="675"/>
            </a:lvl7pPr>
            <a:lvl8pPr indent="-228600" lvl="7" marL="3657600" algn="l">
              <a:lnSpc>
                <a:spcPct val="90000"/>
              </a:lnSpc>
              <a:spcBef>
                <a:spcPts val="300"/>
              </a:spcBef>
              <a:spcAft>
                <a:spcPts val="0"/>
              </a:spcAft>
              <a:buSzPts val="675"/>
              <a:buNone/>
              <a:defRPr sz="675"/>
            </a:lvl8pPr>
            <a:lvl9pPr indent="-228600" lvl="8" marL="4114800" algn="l">
              <a:lnSpc>
                <a:spcPct val="90000"/>
              </a:lnSpc>
              <a:spcBef>
                <a:spcPts val="300"/>
              </a:spcBef>
              <a:spcAft>
                <a:spcPts val="300"/>
              </a:spcAft>
              <a:buSzPts val="675"/>
              <a:buNone/>
              <a:defRPr sz="675"/>
            </a:lvl9pPr>
          </a:lstStyle>
          <a:p/>
        </p:txBody>
      </p:sp>
      <p:sp>
        <p:nvSpPr>
          <p:cNvPr id="23" name="Google Shape;23;p83"/>
          <p:cNvSpPr txBox="1"/>
          <p:nvPr>
            <p:ph idx="10" type="dt"/>
          </p:nvPr>
        </p:nvSpPr>
        <p:spPr>
          <a:xfrm>
            <a:off x="349137" y="4844841"/>
            <a:ext cx="1963883"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83"/>
          <p:cNvSpPr txBox="1"/>
          <p:nvPr>
            <p:ph idx="11" type="ftr"/>
          </p:nvPr>
        </p:nvSpPr>
        <p:spPr>
          <a:xfrm>
            <a:off x="3600450" y="4844841"/>
            <a:ext cx="348615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83"/>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88" u="none" cap="none" strike="noStrike">
                <a:solidFill>
                  <a:schemeClr val="dk2"/>
                </a:solidFill>
                <a:latin typeface="Calibri"/>
                <a:ea typeface="Calibri"/>
                <a:cs typeface="Calibri"/>
                <a:sym typeface="Calibri"/>
              </a:defRPr>
            </a:lvl1pPr>
            <a:lvl2pPr indent="0" lvl="1" marL="0" algn="r">
              <a:spcBef>
                <a:spcPts val="0"/>
              </a:spcBef>
              <a:buNone/>
              <a:defRPr b="0" i="0" sz="788" u="none" cap="none" strike="noStrike">
                <a:solidFill>
                  <a:schemeClr val="dk2"/>
                </a:solidFill>
                <a:latin typeface="Calibri"/>
                <a:ea typeface="Calibri"/>
                <a:cs typeface="Calibri"/>
                <a:sym typeface="Calibri"/>
              </a:defRPr>
            </a:lvl2pPr>
            <a:lvl3pPr indent="0" lvl="2" marL="0" algn="r">
              <a:spcBef>
                <a:spcPts val="0"/>
              </a:spcBef>
              <a:buNone/>
              <a:defRPr b="0" i="0" sz="788" u="none" cap="none" strike="noStrike">
                <a:solidFill>
                  <a:schemeClr val="dk2"/>
                </a:solidFill>
                <a:latin typeface="Calibri"/>
                <a:ea typeface="Calibri"/>
                <a:cs typeface="Calibri"/>
                <a:sym typeface="Calibri"/>
              </a:defRPr>
            </a:lvl3pPr>
            <a:lvl4pPr indent="0" lvl="3" marL="0" algn="r">
              <a:spcBef>
                <a:spcPts val="0"/>
              </a:spcBef>
              <a:buNone/>
              <a:defRPr b="0" i="0" sz="788" u="none" cap="none" strike="noStrike">
                <a:solidFill>
                  <a:schemeClr val="dk2"/>
                </a:solidFill>
                <a:latin typeface="Calibri"/>
                <a:ea typeface="Calibri"/>
                <a:cs typeface="Calibri"/>
                <a:sym typeface="Calibri"/>
              </a:defRPr>
            </a:lvl4pPr>
            <a:lvl5pPr indent="0" lvl="4" marL="0" algn="r">
              <a:spcBef>
                <a:spcPts val="0"/>
              </a:spcBef>
              <a:buNone/>
              <a:defRPr b="0" i="0" sz="788" u="none" cap="none" strike="noStrike">
                <a:solidFill>
                  <a:schemeClr val="dk2"/>
                </a:solidFill>
                <a:latin typeface="Calibri"/>
                <a:ea typeface="Calibri"/>
                <a:cs typeface="Calibri"/>
                <a:sym typeface="Calibri"/>
              </a:defRPr>
            </a:lvl5pPr>
            <a:lvl6pPr indent="0" lvl="5" marL="0" algn="r">
              <a:spcBef>
                <a:spcPts val="0"/>
              </a:spcBef>
              <a:buNone/>
              <a:defRPr b="0" i="0" sz="788" u="none" cap="none" strike="noStrike">
                <a:solidFill>
                  <a:schemeClr val="dk2"/>
                </a:solidFill>
                <a:latin typeface="Calibri"/>
                <a:ea typeface="Calibri"/>
                <a:cs typeface="Calibri"/>
                <a:sym typeface="Calibri"/>
              </a:defRPr>
            </a:lvl6pPr>
            <a:lvl7pPr indent="0" lvl="6" marL="0" algn="r">
              <a:spcBef>
                <a:spcPts val="0"/>
              </a:spcBef>
              <a:buNone/>
              <a:defRPr b="0" i="0" sz="788" u="none" cap="none" strike="noStrike">
                <a:solidFill>
                  <a:schemeClr val="dk2"/>
                </a:solidFill>
                <a:latin typeface="Calibri"/>
                <a:ea typeface="Calibri"/>
                <a:cs typeface="Calibri"/>
                <a:sym typeface="Calibri"/>
              </a:defRPr>
            </a:lvl7pPr>
            <a:lvl8pPr indent="0" lvl="7" marL="0" algn="r">
              <a:spcBef>
                <a:spcPts val="0"/>
              </a:spcBef>
              <a:buNone/>
              <a:defRPr b="0" i="0" sz="788" u="none" cap="none" strike="noStrike">
                <a:solidFill>
                  <a:schemeClr val="dk2"/>
                </a:solidFill>
                <a:latin typeface="Calibri"/>
                <a:ea typeface="Calibri"/>
                <a:cs typeface="Calibri"/>
                <a:sym typeface="Calibri"/>
              </a:defRPr>
            </a:lvl8pPr>
            <a:lvl9pPr indent="0" lvl="8" marL="0" algn="r">
              <a:spcBef>
                <a:spcPts val="0"/>
              </a:spcBef>
              <a:buNone/>
              <a:defRPr b="0" i="0" sz="788"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84"/>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84"/>
          <p:cNvSpPr txBox="1"/>
          <p:nvPr>
            <p:ph idx="1" type="body"/>
          </p:nvPr>
        </p:nvSpPr>
        <p:spPr>
          <a:xfrm>
            <a:off x="822962" y="1200150"/>
            <a:ext cx="7543801" cy="342900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900"/>
              </a:spcBef>
              <a:spcAft>
                <a:spcPts val="0"/>
              </a:spcAft>
              <a:buSzPts val="2800"/>
              <a:buNone/>
              <a:defRPr sz="2800"/>
            </a:lvl1pPr>
            <a:lvl2pPr indent="-381000" lvl="1" marL="914400" algn="l">
              <a:lnSpc>
                <a:spcPct val="90000"/>
              </a:lnSpc>
              <a:spcBef>
                <a:spcPts val="150"/>
              </a:spcBef>
              <a:spcAft>
                <a:spcPts val="0"/>
              </a:spcAft>
              <a:buSzPts val="2400"/>
              <a:buChar char="◦"/>
              <a:defRPr sz="2400"/>
            </a:lvl2pPr>
            <a:lvl3pPr indent="-355600" lvl="2" marL="1371600" algn="l">
              <a:lnSpc>
                <a:spcPct val="90000"/>
              </a:lnSpc>
              <a:spcBef>
                <a:spcPts val="300"/>
              </a:spcBef>
              <a:spcAft>
                <a:spcPts val="0"/>
              </a:spcAft>
              <a:buSzPts val="2000"/>
              <a:buChar char="◦"/>
              <a:defRPr sz="2000"/>
            </a:lvl3pPr>
            <a:lvl4pPr indent="-330200" lvl="3" marL="1828800" algn="l">
              <a:lnSpc>
                <a:spcPct val="90000"/>
              </a:lnSpc>
              <a:spcBef>
                <a:spcPts val="300"/>
              </a:spcBef>
              <a:spcAft>
                <a:spcPts val="0"/>
              </a:spcAft>
              <a:buSzPts val="1600"/>
              <a:buChar char="◦"/>
              <a:defRPr sz="1600"/>
            </a:lvl4pPr>
            <a:lvl5pPr indent="-317500" lvl="4" marL="2286000" algn="l">
              <a:lnSpc>
                <a:spcPct val="90000"/>
              </a:lnSpc>
              <a:spcBef>
                <a:spcPts val="300"/>
              </a:spcBef>
              <a:spcAft>
                <a:spcPts val="0"/>
              </a:spcAft>
              <a:buSzPts val="1400"/>
              <a:buChar char="◦"/>
              <a:defRPr sz="1400">
                <a:latin typeface="Calibri"/>
                <a:ea typeface="Calibri"/>
                <a:cs typeface="Calibri"/>
                <a:sym typeface="Calibri"/>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29" name="Google Shape;29;p84"/>
          <p:cNvSpPr txBox="1"/>
          <p:nvPr>
            <p:ph idx="10" type="dt"/>
          </p:nvPr>
        </p:nvSpPr>
        <p:spPr>
          <a:xfrm>
            <a:off x="822964" y="4844841"/>
            <a:ext cx="1854203"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84"/>
          <p:cNvSpPr txBox="1"/>
          <p:nvPr>
            <p:ph idx="11" type="ftr"/>
          </p:nvPr>
        </p:nvSpPr>
        <p:spPr>
          <a:xfrm>
            <a:off x="2764640" y="5029203"/>
            <a:ext cx="3617103" cy="8948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6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84"/>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BAE40"/>
          </p15:clr>
        </p15:guide>
        <p15:guide id="2"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32" name="Shape 32"/>
        <p:cNvGrpSpPr/>
        <p:nvPr/>
      </p:nvGrpSpPr>
      <p:grpSpPr>
        <a:xfrm>
          <a:off x="0" y="0"/>
          <a:ext cx="0" cy="0"/>
          <a:chOff x="0" y="0"/>
          <a:chExt cx="0" cy="0"/>
        </a:xfrm>
      </p:grpSpPr>
      <p:sp>
        <p:nvSpPr>
          <p:cNvPr id="33" name="Google Shape;33;p85"/>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85"/>
          <p:cNvSpPr txBox="1"/>
          <p:nvPr>
            <p:ph idx="1" type="body"/>
          </p:nvPr>
        </p:nvSpPr>
        <p:spPr>
          <a:xfrm>
            <a:off x="822962" y="1200150"/>
            <a:ext cx="7543801" cy="342900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900"/>
              </a:spcBef>
              <a:spcAft>
                <a:spcPts val="0"/>
              </a:spcAft>
              <a:buSzPts val="2800"/>
              <a:buNone/>
              <a:defRPr sz="2800"/>
            </a:lvl1pPr>
            <a:lvl2pPr indent="-381000" lvl="1" marL="914400" algn="l">
              <a:lnSpc>
                <a:spcPct val="90000"/>
              </a:lnSpc>
              <a:spcBef>
                <a:spcPts val="150"/>
              </a:spcBef>
              <a:spcAft>
                <a:spcPts val="0"/>
              </a:spcAft>
              <a:buSzPts val="2400"/>
              <a:buChar char="◦"/>
              <a:defRPr sz="2400"/>
            </a:lvl2pPr>
            <a:lvl3pPr indent="-355600" lvl="2" marL="1371600" algn="l">
              <a:lnSpc>
                <a:spcPct val="90000"/>
              </a:lnSpc>
              <a:spcBef>
                <a:spcPts val="300"/>
              </a:spcBef>
              <a:spcAft>
                <a:spcPts val="0"/>
              </a:spcAft>
              <a:buSzPts val="2000"/>
              <a:buChar char="◦"/>
              <a:defRPr sz="2000"/>
            </a:lvl3pPr>
            <a:lvl4pPr indent="-330200" lvl="3" marL="1828800" algn="l">
              <a:lnSpc>
                <a:spcPct val="90000"/>
              </a:lnSpc>
              <a:spcBef>
                <a:spcPts val="300"/>
              </a:spcBef>
              <a:spcAft>
                <a:spcPts val="0"/>
              </a:spcAft>
              <a:buSzPts val="1600"/>
              <a:buChar char="◦"/>
              <a:defRPr sz="1600"/>
            </a:lvl4pPr>
            <a:lvl5pPr indent="-317500" lvl="4" marL="2286000" algn="l">
              <a:lnSpc>
                <a:spcPct val="90000"/>
              </a:lnSpc>
              <a:spcBef>
                <a:spcPts val="300"/>
              </a:spcBef>
              <a:spcAft>
                <a:spcPts val="0"/>
              </a:spcAft>
              <a:buSzPts val="1400"/>
              <a:buChar char="◦"/>
              <a:defRPr sz="1400">
                <a:latin typeface="Calibri"/>
                <a:ea typeface="Calibri"/>
                <a:cs typeface="Calibri"/>
                <a:sym typeface="Calibri"/>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35" name="Google Shape;35;p85"/>
          <p:cNvSpPr txBox="1"/>
          <p:nvPr>
            <p:ph idx="10" type="dt"/>
          </p:nvPr>
        </p:nvSpPr>
        <p:spPr>
          <a:xfrm>
            <a:off x="822964" y="4844841"/>
            <a:ext cx="1854203"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85"/>
          <p:cNvSpPr txBox="1"/>
          <p:nvPr>
            <p:ph idx="11" type="ftr"/>
          </p:nvPr>
        </p:nvSpPr>
        <p:spPr>
          <a:xfrm>
            <a:off x="2764640" y="5029203"/>
            <a:ext cx="3617103" cy="8948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6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85"/>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BAE40"/>
          </p15:clr>
        </p15:guide>
        <p15:guide id="2"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86"/>
          <p:cNvSpPr txBox="1"/>
          <p:nvPr>
            <p:ph type="title"/>
          </p:nvPr>
        </p:nvSpPr>
        <p:spPr>
          <a:xfrm>
            <a:off x="822960" y="214953"/>
            <a:ext cx="7543800" cy="108806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86"/>
          <p:cNvSpPr txBox="1"/>
          <p:nvPr>
            <p:ph idx="1" type="body"/>
          </p:nvPr>
        </p:nvSpPr>
        <p:spPr>
          <a:xfrm>
            <a:off x="822960" y="1384301"/>
            <a:ext cx="3703320" cy="301752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41" name="Google Shape;41;p86"/>
          <p:cNvSpPr txBox="1"/>
          <p:nvPr>
            <p:ph idx="2" type="body"/>
          </p:nvPr>
        </p:nvSpPr>
        <p:spPr>
          <a:xfrm>
            <a:off x="4663440" y="1384305"/>
            <a:ext cx="3703320" cy="301751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42" name="Google Shape;42;p86"/>
          <p:cNvSpPr txBox="1"/>
          <p:nvPr>
            <p:ph idx="10" type="dt"/>
          </p:nvPr>
        </p:nvSpPr>
        <p:spPr>
          <a:xfrm>
            <a:off x="822964" y="4844841"/>
            <a:ext cx="1854203"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86"/>
          <p:cNvSpPr txBox="1"/>
          <p:nvPr>
            <p:ph idx="11" type="ftr"/>
          </p:nvPr>
        </p:nvSpPr>
        <p:spPr>
          <a:xfrm>
            <a:off x="2764640" y="4844841"/>
            <a:ext cx="3617103"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6"/>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87"/>
          <p:cNvSpPr txBox="1"/>
          <p:nvPr>
            <p:ph type="title"/>
          </p:nvPr>
        </p:nvSpPr>
        <p:spPr>
          <a:xfrm>
            <a:off x="822960" y="214953"/>
            <a:ext cx="7543800" cy="108806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7"/>
          <p:cNvSpPr txBox="1"/>
          <p:nvPr>
            <p:ph idx="1" type="body"/>
          </p:nvPr>
        </p:nvSpPr>
        <p:spPr>
          <a:xfrm>
            <a:off x="822960" y="1384540"/>
            <a:ext cx="3703320" cy="55221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900"/>
              </a:spcBef>
              <a:spcAft>
                <a:spcPts val="0"/>
              </a:spcAft>
              <a:buSzPts val="1500"/>
              <a:buNone/>
              <a:defRPr b="0" sz="1500" cap="none">
                <a:solidFill>
                  <a:schemeClr val="dk2"/>
                </a:solidFill>
              </a:defRPr>
            </a:lvl1pPr>
            <a:lvl2pPr indent="-228600" lvl="1" marL="914400" algn="l">
              <a:lnSpc>
                <a:spcPct val="90000"/>
              </a:lnSpc>
              <a:spcBef>
                <a:spcPts val="150"/>
              </a:spcBef>
              <a:spcAft>
                <a:spcPts val="0"/>
              </a:spcAft>
              <a:buSzPts val="1500"/>
              <a:buNone/>
              <a:defRPr b="1" sz="1500"/>
            </a:lvl2pPr>
            <a:lvl3pPr indent="-228600" lvl="2" marL="1371600" algn="l">
              <a:lnSpc>
                <a:spcPct val="90000"/>
              </a:lnSpc>
              <a:spcBef>
                <a:spcPts val="300"/>
              </a:spcBef>
              <a:spcAft>
                <a:spcPts val="0"/>
              </a:spcAft>
              <a:buSzPts val="1350"/>
              <a:buNone/>
              <a:defRPr b="1" sz="1350"/>
            </a:lvl3pPr>
            <a:lvl4pPr indent="-228600" lvl="3" marL="1828800" algn="l">
              <a:lnSpc>
                <a:spcPct val="90000"/>
              </a:lnSpc>
              <a:spcBef>
                <a:spcPts val="300"/>
              </a:spcBef>
              <a:spcAft>
                <a:spcPts val="0"/>
              </a:spcAft>
              <a:buSzPts val="1200"/>
              <a:buNone/>
              <a:defRPr b="1" sz="1200"/>
            </a:lvl4pPr>
            <a:lvl5pPr indent="-228600" lvl="4" marL="2286000" algn="l">
              <a:lnSpc>
                <a:spcPct val="90000"/>
              </a:lnSpc>
              <a:spcBef>
                <a:spcPts val="300"/>
              </a:spcBef>
              <a:spcAft>
                <a:spcPts val="0"/>
              </a:spcAft>
              <a:buSzPts val="1200"/>
              <a:buNone/>
              <a:defRPr b="1" sz="1200"/>
            </a:lvl5pPr>
            <a:lvl6pPr indent="-228600" lvl="5" marL="2743200" algn="l">
              <a:lnSpc>
                <a:spcPct val="90000"/>
              </a:lnSpc>
              <a:spcBef>
                <a:spcPts val="300"/>
              </a:spcBef>
              <a:spcAft>
                <a:spcPts val="0"/>
              </a:spcAft>
              <a:buSzPts val="1200"/>
              <a:buNone/>
              <a:defRPr b="1" sz="1200"/>
            </a:lvl6pPr>
            <a:lvl7pPr indent="-228600" lvl="6" marL="3200400" algn="l">
              <a:lnSpc>
                <a:spcPct val="90000"/>
              </a:lnSpc>
              <a:spcBef>
                <a:spcPts val="300"/>
              </a:spcBef>
              <a:spcAft>
                <a:spcPts val="0"/>
              </a:spcAft>
              <a:buSzPts val="1200"/>
              <a:buNone/>
              <a:defRPr b="1" sz="1200"/>
            </a:lvl7pPr>
            <a:lvl8pPr indent="-228600" lvl="7" marL="3657600" algn="l">
              <a:lnSpc>
                <a:spcPct val="90000"/>
              </a:lnSpc>
              <a:spcBef>
                <a:spcPts val="300"/>
              </a:spcBef>
              <a:spcAft>
                <a:spcPts val="0"/>
              </a:spcAft>
              <a:buSzPts val="1200"/>
              <a:buNone/>
              <a:defRPr b="1" sz="1200"/>
            </a:lvl8pPr>
            <a:lvl9pPr indent="-228600" lvl="8" marL="4114800" algn="l">
              <a:lnSpc>
                <a:spcPct val="90000"/>
              </a:lnSpc>
              <a:spcBef>
                <a:spcPts val="300"/>
              </a:spcBef>
              <a:spcAft>
                <a:spcPts val="300"/>
              </a:spcAft>
              <a:buSzPts val="1200"/>
              <a:buNone/>
              <a:defRPr b="1" sz="1200"/>
            </a:lvl9pPr>
          </a:lstStyle>
          <a:p/>
        </p:txBody>
      </p:sp>
      <p:sp>
        <p:nvSpPr>
          <p:cNvPr id="48" name="Google Shape;48;p87"/>
          <p:cNvSpPr txBox="1"/>
          <p:nvPr>
            <p:ph idx="2" type="body"/>
          </p:nvPr>
        </p:nvSpPr>
        <p:spPr>
          <a:xfrm>
            <a:off x="822960" y="1936751"/>
            <a:ext cx="3703320" cy="246507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49" name="Google Shape;49;p87"/>
          <p:cNvSpPr txBox="1"/>
          <p:nvPr>
            <p:ph idx="3" type="body"/>
          </p:nvPr>
        </p:nvSpPr>
        <p:spPr>
          <a:xfrm>
            <a:off x="4663440" y="1384540"/>
            <a:ext cx="3703320" cy="55221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900"/>
              </a:spcBef>
              <a:spcAft>
                <a:spcPts val="0"/>
              </a:spcAft>
              <a:buSzPts val="1500"/>
              <a:buNone/>
              <a:defRPr b="0" sz="1500" cap="none">
                <a:solidFill>
                  <a:schemeClr val="dk2"/>
                </a:solidFill>
              </a:defRPr>
            </a:lvl1pPr>
            <a:lvl2pPr indent="-228600" lvl="1" marL="914400" algn="l">
              <a:lnSpc>
                <a:spcPct val="90000"/>
              </a:lnSpc>
              <a:spcBef>
                <a:spcPts val="150"/>
              </a:spcBef>
              <a:spcAft>
                <a:spcPts val="0"/>
              </a:spcAft>
              <a:buSzPts val="1500"/>
              <a:buNone/>
              <a:defRPr b="1" sz="1500"/>
            </a:lvl2pPr>
            <a:lvl3pPr indent="-228600" lvl="2" marL="1371600" algn="l">
              <a:lnSpc>
                <a:spcPct val="90000"/>
              </a:lnSpc>
              <a:spcBef>
                <a:spcPts val="300"/>
              </a:spcBef>
              <a:spcAft>
                <a:spcPts val="0"/>
              </a:spcAft>
              <a:buSzPts val="1350"/>
              <a:buNone/>
              <a:defRPr b="1" sz="1350"/>
            </a:lvl3pPr>
            <a:lvl4pPr indent="-228600" lvl="3" marL="1828800" algn="l">
              <a:lnSpc>
                <a:spcPct val="90000"/>
              </a:lnSpc>
              <a:spcBef>
                <a:spcPts val="300"/>
              </a:spcBef>
              <a:spcAft>
                <a:spcPts val="0"/>
              </a:spcAft>
              <a:buSzPts val="1200"/>
              <a:buNone/>
              <a:defRPr b="1" sz="1200"/>
            </a:lvl4pPr>
            <a:lvl5pPr indent="-228600" lvl="4" marL="2286000" algn="l">
              <a:lnSpc>
                <a:spcPct val="90000"/>
              </a:lnSpc>
              <a:spcBef>
                <a:spcPts val="300"/>
              </a:spcBef>
              <a:spcAft>
                <a:spcPts val="0"/>
              </a:spcAft>
              <a:buSzPts val="1200"/>
              <a:buNone/>
              <a:defRPr b="1" sz="1200"/>
            </a:lvl5pPr>
            <a:lvl6pPr indent="-228600" lvl="5" marL="2743200" algn="l">
              <a:lnSpc>
                <a:spcPct val="90000"/>
              </a:lnSpc>
              <a:spcBef>
                <a:spcPts val="300"/>
              </a:spcBef>
              <a:spcAft>
                <a:spcPts val="0"/>
              </a:spcAft>
              <a:buSzPts val="1200"/>
              <a:buNone/>
              <a:defRPr b="1" sz="1200"/>
            </a:lvl6pPr>
            <a:lvl7pPr indent="-228600" lvl="6" marL="3200400" algn="l">
              <a:lnSpc>
                <a:spcPct val="90000"/>
              </a:lnSpc>
              <a:spcBef>
                <a:spcPts val="300"/>
              </a:spcBef>
              <a:spcAft>
                <a:spcPts val="0"/>
              </a:spcAft>
              <a:buSzPts val="1200"/>
              <a:buNone/>
              <a:defRPr b="1" sz="1200"/>
            </a:lvl7pPr>
            <a:lvl8pPr indent="-228600" lvl="7" marL="3657600" algn="l">
              <a:lnSpc>
                <a:spcPct val="90000"/>
              </a:lnSpc>
              <a:spcBef>
                <a:spcPts val="300"/>
              </a:spcBef>
              <a:spcAft>
                <a:spcPts val="0"/>
              </a:spcAft>
              <a:buSzPts val="1200"/>
              <a:buNone/>
              <a:defRPr b="1" sz="1200"/>
            </a:lvl8pPr>
            <a:lvl9pPr indent="-228600" lvl="8" marL="4114800" algn="l">
              <a:lnSpc>
                <a:spcPct val="90000"/>
              </a:lnSpc>
              <a:spcBef>
                <a:spcPts val="300"/>
              </a:spcBef>
              <a:spcAft>
                <a:spcPts val="300"/>
              </a:spcAft>
              <a:buSzPts val="1200"/>
              <a:buNone/>
              <a:defRPr b="1" sz="1200"/>
            </a:lvl9pPr>
          </a:lstStyle>
          <a:p/>
        </p:txBody>
      </p:sp>
      <p:sp>
        <p:nvSpPr>
          <p:cNvPr id="50" name="Google Shape;50;p87"/>
          <p:cNvSpPr txBox="1"/>
          <p:nvPr>
            <p:ph idx="4" type="body"/>
          </p:nvPr>
        </p:nvSpPr>
        <p:spPr>
          <a:xfrm>
            <a:off x="4663440" y="1936751"/>
            <a:ext cx="3703320" cy="246507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51" name="Google Shape;51;p87"/>
          <p:cNvSpPr txBox="1"/>
          <p:nvPr>
            <p:ph idx="10" type="dt"/>
          </p:nvPr>
        </p:nvSpPr>
        <p:spPr>
          <a:xfrm>
            <a:off x="822964" y="4844841"/>
            <a:ext cx="1854203"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7"/>
          <p:cNvSpPr txBox="1"/>
          <p:nvPr>
            <p:ph idx="11" type="ftr"/>
          </p:nvPr>
        </p:nvSpPr>
        <p:spPr>
          <a:xfrm>
            <a:off x="2764640" y="4844841"/>
            <a:ext cx="3617103"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7"/>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54" name="Shape 54"/>
        <p:cNvGrpSpPr/>
        <p:nvPr/>
      </p:nvGrpSpPr>
      <p:grpSpPr>
        <a:xfrm>
          <a:off x="0" y="0"/>
          <a:ext cx="0" cy="0"/>
          <a:chOff x="0" y="0"/>
          <a:chExt cx="0" cy="0"/>
        </a:xfrm>
      </p:grpSpPr>
      <p:sp>
        <p:nvSpPr>
          <p:cNvPr id="55" name="Google Shape;55;p88"/>
          <p:cNvSpPr txBox="1"/>
          <p:nvPr>
            <p:ph idx="1" type="body"/>
          </p:nvPr>
        </p:nvSpPr>
        <p:spPr>
          <a:xfrm>
            <a:off x="304800" y="1253728"/>
            <a:ext cx="4040188" cy="479822"/>
          </a:xfrm>
          <a:prstGeom prst="rect">
            <a:avLst/>
          </a:prstGeom>
          <a:noFill/>
          <a:ln>
            <a:noFill/>
          </a:ln>
        </p:spPr>
        <p:txBody>
          <a:bodyPr anchorCtr="0" anchor="b" bIns="45700" lIns="0" spcFirstLastPara="1" rIns="0" wrap="square" tIns="45700">
            <a:normAutofit/>
          </a:bodyPr>
          <a:lstStyle>
            <a:lvl1pPr indent="-228600" lvl="0" marL="457200" algn="l">
              <a:lnSpc>
                <a:spcPct val="90000"/>
              </a:lnSpc>
              <a:spcBef>
                <a:spcPts val="900"/>
              </a:spcBef>
              <a:spcAft>
                <a:spcPts val="0"/>
              </a:spcAft>
              <a:buSzPts val="2400"/>
              <a:buNone/>
              <a:defRPr b="1" sz="2400"/>
            </a:lvl1pPr>
            <a:lvl2pPr indent="-228600" lvl="1" marL="914400" algn="l">
              <a:lnSpc>
                <a:spcPct val="90000"/>
              </a:lnSpc>
              <a:spcBef>
                <a:spcPts val="150"/>
              </a:spcBef>
              <a:spcAft>
                <a:spcPts val="0"/>
              </a:spcAft>
              <a:buSzPts val="2000"/>
              <a:buNone/>
              <a:defRPr b="1" sz="2000"/>
            </a:lvl2pPr>
            <a:lvl3pPr indent="-228600" lvl="2" marL="1371600" algn="l">
              <a:lnSpc>
                <a:spcPct val="90000"/>
              </a:lnSpc>
              <a:spcBef>
                <a:spcPts val="300"/>
              </a:spcBef>
              <a:spcAft>
                <a:spcPts val="0"/>
              </a:spcAft>
              <a:buSzPts val="1800"/>
              <a:buNone/>
              <a:defRPr b="1" sz="1800"/>
            </a:lvl3pPr>
            <a:lvl4pPr indent="-228600" lvl="3" marL="1828800" algn="l">
              <a:lnSpc>
                <a:spcPct val="90000"/>
              </a:lnSpc>
              <a:spcBef>
                <a:spcPts val="300"/>
              </a:spcBef>
              <a:spcAft>
                <a:spcPts val="0"/>
              </a:spcAft>
              <a:buSzPts val="1600"/>
              <a:buNone/>
              <a:defRPr b="1" sz="1600"/>
            </a:lvl4pPr>
            <a:lvl5pPr indent="-228600" lvl="4" marL="2286000" algn="l">
              <a:lnSpc>
                <a:spcPct val="90000"/>
              </a:lnSpc>
              <a:spcBef>
                <a:spcPts val="300"/>
              </a:spcBef>
              <a:spcAft>
                <a:spcPts val="0"/>
              </a:spcAft>
              <a:buSzPts val="1600"/>
              <a:buNone/>
              <a:defRPr b="1" sz="1600"/>
            </a:lvl5pPr>
            <a:lvl6pPr indent="-228600" lvl="5" marL="2743200" algn="l">
              <a:lnSpc>
                <a:spcPct val="90000"/>
              </a:lnSpc>
              <a:spcBef>
                <a:spcPts val="300"/>
              </a:spcBef>
              <a:spcAft>
                <a:spcPts val="0"/>
              </a:spcAft>
              <a:buSzPts val="1600"/>
              <a:buNone/>
              <a:defRPr b="1" sz="1600"/>
            </a:lvl6pPr>
            <a:lvl7pPr indent="-228600" lvl="6" marL="3200400" algn="l">
              <a:lnSpc>
                <a:spcPct val="90000"/>
              </a:lnSpc>
              <a:spcBef>
                <a:spcPts val="300"/>
              </a:spcBef>
              <a:spcAft>
                <a:spcPts val="0"/>
              </a:spcAft>
              <a:buSzPts val="1600"/>
              <a:buNone/>
              <a:defRPr b="1" sz="1600"/>
            </a:lvl7pPr>
            <a:lvl8pPr indent="-228600" lvl="7" marL="3657600" algn="l">
              <a:lnSpc>
                <a:spcPct val="90000"/>
              </a:lnSpc>
              <a:spcBef>
                <a:spcPts val="300"/>
              </a:spcBef>
              <a:spcAft>
                <a:spcPts val="0"/>
              </a:spcAft>
              <a:buSzPts val="1600"/>
              <a:buNone/>
              <a:defRPr b="1" sz="1600"/>
            </a:lvl8pPr>
            <a:lvl9pPr indent="-228600" lvl="8" marL="4114800" algn="l">
              <a:lnSpc>
                <a:spcPct val="90000"/>
              </a:lnSpc>
              <a:spcBef>
                <a:spcPts val="300"/>
              </a:spcBef>
              <a:spcAft>
                <a:spcPts val="300"/>
              </a:spcAft>
              <a:buSzPts val="1600"/>
              <a:buNone/>
              <a:defRPr b="1" sz="1600"/>
            </a:lvl9pPr>
          </a:lstStyle>
          <a:p/>
        </p:txBody>
      </p:sp>
      <p:sp>
        <p:nvSpPr>
          <p:cNvPr id="56" name="Google Shape;56;p88"/>
          <p:cNvSpPr txBox="1"/>
          <p:nvPr>
            <p:ph idx="2" type="body"/>
          </p:nvPr>
        </p:nvSpPr>
        <p:spPr>
          <a:xfrm>
            <a:off x="304800" y="1733550"/>
            <a:ext cx="4040188" cy="2971800"/>
          </a:xfrm>
          <a:prstGeom prst="rect">
            <a:avLst/>
          </a:prstGeom>
          <a:noFill/>
          <a:ln>
            <a:noFill/>
          </a:ln>
        </p:spPr>
        <p:txBody>
          <a:bodyPr anchorCtr="0" anchor="t" bIns="45700" lIns="0" spcFirstLastPara="1" rIns="0" wrap="square" tIns="45700">
            <a:normAutofit/>
          </a:bodyPr>
          <a:lstStyle>
            <a:lvl1pPr indent="-381000" lvl="0" marL="457200" algn="l">
              <a:lnSpc>
                <a:spcPct val="90000"/>
              </a:lnSpc>
              <a:spcBef>
                <a:spcPts val="900"/>
              </a:spcBef>
              <a:spcAft>
                <a:spcPts val="0"/>
              </a:spcAft>
              <a:buSzPts val="2400"/>
              <a:buChar char=" "/>
              <a:defRPr sz="2400"/>
            </a:lvl1pPr>
            <a:lvl2pPr indent="-355600" lvl="1" marL="914400" algn="l">
              <a:lnSpc>
                <a:spcPct val="90000"/>
              </a:lnSpc>
              <a:spcBef>
                <a:spcPts val="150"/>
              </a:spcBef>
              <a:spcAft>
                <a:spcPts val="0"/>
              </a:spcAft>
              <a:buSzPts val="2000"/>
              <a:buChar char="◦"/>
              <a:defRPr sz="2000"/>
            </a:lvl2pPr>
            <a:lvl3pPr indent="-355600" lvl="2" marL="1371600" algn="l">
              <a:lnSpc>
                <a:spcPct val="90000"/>
              </a:lnSpc>
              <a:spcBef>
                <a:spcPts val="300"/>
              </a:spcBef>
              <a:spcAft>
                <a:spcPts val="0"/>
              </a:spcAft>
              <a:buSzPts val="2000"/>
              <a:buChar char="◦"/>
              <a:defRPr sz="2000"/>
            </a:lvl3pPr>
            <a:lvl4pPr indent="-342900" lvl="3" marL="1828800" algn="l">
              <a:lnSpc>
                <a:spcPct val="90000"/>
              </a:lnSpc>
              <a:spcBef>
                <a:spcPts val="300"/>
              </a:spcBef>
              <a:spcAft>
                <a:spcPts val="0"/>
              </a:spcAft>
              <a:buSzPts val="1800"/>
              <a:buChar char="◦"/>
              <a:defRPr sz="1800"/>
            </a:lvl4pPr>
            <a:lvl5pPr indent="-342900" lvl="4" marL="2286000" algn="l">
              <a:lnSpc>
                <a:spcPct val="90000"/>
              </a:lnSpc>
              <a:spcBef>
                <a:spcPts val="300"/>
              </a:spcBef>
              <a:spcAft>
                <a:spcPts val="0"/>
              </a:spcAft>
              <a:buSzPts val="1800"/>
              <a:buChar char="◦"/>
              <a:defRPr sz="1800"/>
            </a:lvl5pPr>
            <a:lvl6pPr indent="-330200" lvl="5" marL="2743200" algn="l">
              <a:lnSpc>
                <a:spcPct val="90000"/>
              </a:lnSpc>
              <a:spcBef>
                <a:spcPts val="300"/>
              </a:spcBef>
              <a:spcAft>
                <a:spcPts val="0"/>
              </a:spcAft>
              <a:buSzPts val="1600"/>
              <a:buChar char="◦"/>
              <a:defRPr sz="1600"/>
            </a:lvl6pPr>
            <a:lvl7pPr indent="-330200" lvl="6" marL="3200400" algn="l">
              <a:lnSpc>
                <a:spcPct val="90000"/>
              </a:lnSpc>
              <a:spcBef>
                <a:spcPts val="300"/>
              </a:spcBef>
              <a:spcAft>
                <a:spcPts val="0"/>
              </a:spcAft>
              <a:buSzPts val="1600"/>
              <a:buChar char="◦"/>
              <a:defRPr sz="1600"/>
            </a:lvl7pPr>
            <a:lvl8pPr indent="-330200" lvl="7" marL="3657600" algn="l">
              <a:lnSpc>
                <a:spcPct val="90000"/>
              </a:lnSpc>
              <a:spcBef>
                <a:spcPts val="300"/>
              </a:spcBef>
              <a:spcAft>
                <a:spcPts val="0"/>
              </a:spcAft>
              <a:buSzPts val="1600"/>
              <a:buChar char="◦"/>
              <a:defRPr sz="1600"/>
            </a:lvl8pPr>
            <a:lvl9pPr indent="-330200" lvl="8" marL="4114800" algn="l">
              <a:lnSpc>
                <a:spcPct val="90000"/>
              </a:lnSpc>
              <a:spcBef>
                <a:spcPts val="300"/>
              </a:spcBef>
              <a:spcAft>
                <a:spcPts val="300"/>
              </a:spcAft>
              <a:buSzPts val="1600"/>
              <a:buChar char="◦"/>
              <a:defRPr sz="1600"/>
            </a:lvl9pPr>
          </a:lstStyle>
          <a:p/>
        </p:txBody>
      </p:sp>
      <p:sp>
        <p:nvSpPr>
          <p:cNvPr id="57" name="Google Shape;57;p88"/>
          <p:cNvSpPr txBox="1"/>
          <p:nvPr>
            <p:ph idx="3" type="body"/>
          </p:nvPr>
        </p:nvSpPr>
        <p:spPr>
          <a:xfrm>
            <a:off x="4492628" y="1253728"/>
            <a:ext cx="4041775" cy="479822"/>
          </a:xfrm>
          <a:prstGeom prst="rect">
            <a:avLst/>
          </a:prstGeom>
          <a:noFill/>
          <a:ln>
            <a:noFill/>
          </a:ln>
        </p:spPr>
        <p:txBody>
          <a:bodyPr anchorCtr="0" anchor="b" bIns="45700" lIns="0" spcFirstLastPara="1" rIns="0" wrap="square" tIns="45700">
            <a:normAutofit/>
          </a:bodyPr>
          <a:lstStyle>
            <a:lvl1pPr indent="-228600" lvl="0" marL="457200" algn="l">
              <a:lnSpc>
                <a:spcPct val="90000"/>
              </a:lnSpc>
              <a:spcBef>
                <a:spcPts val="900"/>
              </a:spcBef>
              <a:spcAft>
                <a:spcPts val="0"/>
              </a:spcAft>
              <a:buSzPts val="2400"/>
              <a:buNone/>
              <a:defRPr b="1" sz="2400"/>
            </a:lvl1pPr>
            <a:lvl2pPr indent="-228600" lvl="1" marL="914400" algn="l">
              <a:lnSpc>
                <a:spcPct val="90000"/>
              </a:lnSpc>
              <a:spcBef>
                <a:spcPts val="150"/>
              </a:spcBef>
              <a:spcAft>
                <a:spcPts val="0"/>
              </a:spcAft>
              <a:buSzPts val="2000"/>
              <a:buNone/>
              <a:defRPr b="1" sz="2000"/>
            </a:lvl2pPr>
            <a:lvl3pPr indent="-228600" lvl="2" marL="1371600" algn="l">
              <a:lnSpc>
                <a:spcPct val="90000"/>
              </a:lnSpc>
              <a:spcBef>
                <a:spcPts val="300"/>
              </a:spcBef>
              <a:spcAft>
                <a:spcPts val="0"/>
              </a:spcAft>
              <a:buSzPts val="1800"/>
              <a:buNone/>
              <a:defRPr b="1" sz="1800"/>
            </a:lvl3pPr>
            <a:lvl4pPr indent="-228600" lvl="3" marL="1828800" algn="l">
              <a:lnSpc>
                <a:spcPct val="90000"/>
              </a:lnSpc>
              <a:spcBef>
                <a:spcPts val="300"/>
              </a:spcBef>
              <a:spcAft>
                <a:spcPts val="0"/>
              </a:spcAft>
              <a:buSzPts val="1600"/>
              <a:buNone/>
              <a:defRPr b="1" sz="1600"/>
            </a:lvl4pPr>
            <a:lvl5pPr indent="-228600" lvl="4" marL="2286000" algn="l">
              <a:lnSpc>
                <a:spcPct val="90000"/>
              </a:lnSpc>
              <a:spcBef>
                <a:spcPts val="300"/>
              </a:spcBef>
              <a:spcAft>
                <a:spcPts val="0"/>
              </a:spcAft>
              <a:buSzPts val="1600"/>
              <a:buNone/>
              <a:defRPr b="1" sz="1600"/>
            </a:lvl5pPr>
            <a:lvl6pPr indent="-228600" lvl="5" marL="2743200" algn="l">
              <a:lnSpc>
                <a:spcPct val="90000"/>
              </a:lnSpc>
              <a:spcBef>
                <a:spcPts val="300"/>
              </a:spcBef>
              <a:spcAft>
                <a:spcPts val="0"/>
              </a:spcAft>
              <a:buSzPts val="1600"/>
              <a:buNone/>
              <a:defRPr b="1" sz="1600"/>
            </a:lvl6pPr>
            <a:lvl7pPr indent="-228600" lvl="6" marL="3200400" algn="l">
              <a:lnSpc>
                <a:spcPct val="90000"/>
              </a:lnSpc>
              <a:spcBef>
                <a:spcPts val="300"/>
              </a:spcBef>
              <a:spcAft>
                <a:spcPts val="0"/>
              </a:spcAft>
              <a:buSzPts val="1600"/>
              <a:buNone/>
              <a:defRPr b="1" sz="1600"/>
            </a:lvl7pPr>
            <a:lvl8pPr indent="-228600" lvl="7" marL="3657600" algn="l">
              <a:lnSpc>
                <a:spcPct val="90000"/>
              </a:lnSpc>
              <a:spcBef>
                <a:spcPts val="300"/>
              </a:spcBef>
              <a:spcAft>
                <a:spcPts val="0"/>
              </a:spcAft>
              <a:buSzPts val="1600"/>
              <a:buNone/>
              <a:defRPr b="1" sz="1600"/>
            </a:lvl8pPr>
            <a:lvl9pPr indent="-228600" lvl="8" marL="4114800" algn="l">
              <a:lnSpc>
                <a:spcPct val="90000"/>
              </a:lnSpc>
              <a:spcBef>
                <a:spcPts val="300"/>
              </a:spcBef>
              <a:spcAft>
                <a:spcPts val="300"/>
              </a:spcAft>
              <a:buSzPts val="1600"/>
              <a:buNone/>
              <a:defRPr b="1" sz="1600"/>
            </a:lvl9pPr>
          </a:lstStyle>
          <a:p/>
        </p:txBody>
      </p:sp>
      <p:sp>
        <p:nvSpPr>
          <p:cNvPr id="58" name="Google Shape;58;p88"/>
          <p:cNvSpPr txBox="1"/>
          <p:nvPr>
            <p:ph idx="4" type="body"/>
          </p:nvPr>
        </p:nvSpPr>
        <p:spPr>
          <a:xfrm>
            <a:off x="4492628" y="1733550"/>
            <a:ext cx="4041775" cy="2971800"/>
          </a:xfrm>
          <a:prstGeom prst="rect">
            <a:avLst/>
          </a:prstGeom>
          <a:noFill/>
          <a:ln>
            <a:noFill/>
          </a:ln>
        </p:spPr>
        <p:txBody>
          <a:bodyPr anchorCtr="0" anchor="t" bIns="45700" lIns="0" spcFirstLastPara="1" rIns="0" wrap="square" tIns="45700">
            <a:normAutofit/>
          </a:bodyPr>
          <a:lstStyle>
            <a:lvl1pPr indent="-381000" lvl="0" marL="457200" algn="l">
              <a:lnSpc>
                <a:spcPct val="90000"/>
              </a:lnSpc>
              <a:spcBef>
                <a:spcPts val="900"/>
              </a:spcBef>
              <a:spcAft>
                <a:spcPts val="0"/>
              </a:spcAft>
              <a:buSzPts val="2400"/>
              <a:buChar char=" "/>
              <a:defRPr sz="2400"/>
            </a:lvl1pPr>
            <a:lvl2pPr indent="-355600" lvl="1" marL="914400" algn="l">
              <a:lnSpc>
                <a:spcPct val="90000"/>
              </a:lnSpc>
              <a:spcBef>
                <a:spcPts val="150"/>
              </a:spcBef>
              <a:spcAft>
                <a:spcPts val="0"/>
              </a:spcAft>
              <a:buSzPts val="2000"/>
              <a:buChar char="◦"/>
              <a:defRPr sz="2000"/>
            </a:lvl2pPr>
            <a:lvl3pPr indent="-355600" lvl="2" marL="1371600" algn="l">
              <a:lnSpc>
                <a:spcPct val="90000"/>
              </a:lnSpc>
              <a:spcBef>
                <a:spcPts val="300"/>
              </a:spcBef>
              <a:spcAft>
                <a:spcPts val="0"/>
              </a:spcAft>
              <a:buSzPts val="2000"/>
              <a:buChar char="◦"/>
              <a:defRPr sz="2000"/>
            </a:lvl3pPr>
            <a:lvl4pPr indent="-342900" lvl="3" marL="1828800" algn="l">
              <a:lnSpc>
                <a:spcPct val="90000"/>
              </a:lnSpc>
              <a:spcBef>
                <a:spcPts val="300"/>
              </a:spcBef>
              <a:spcAft>
                <a:spcPts val="0"/>
              </a:spcAft>
              <a:buSzPts val="1800"/>
              <a:buChar char="◦"/>
              <a:defRPr sz="1800"/>
            </a:lvl4pPr>
            <a:lvl5pPr indent="-342900" lvl="4" marL="2286000" algn="l">
              <a:lnSpc>
                <a:spcPct val="90000"/>
              </a:lnSpc>
              <a:spcBef>
                <a:spcPts val="300"/>
              </a:spcBef>
              <a:spcAft>
                <a:spcPts val="0"/>
              </a:spcAft>
              <a:buSzPts val="1800"/>
              <a:buChar char="◦"/>
              <a:defRPr sz="1800"/>
            </a:lvl5pPr>
            <a:lvl6pPr indent="-330200" lvl="5" marL="2743200" algn="l">
              <a:lnSpc>
                <a:spcPct val="90000"/>
              </a:lnSpc>
              <a:spcBef>
                <a:spcPts val="300"/>
              </a:spcBef>
              <a:spcAft>
                <a:spcPts val="0"/>
              </a:spcAft>
              <a:buSzPts val="1600"/>
              <a:buChar char="◦"/>
              <a:defRPr sz="1600"/>
            </a:lvl6pPr>
            <a:lvl7pPr indent="-330200" lvl="6" marL="3200400" algn="l">
              <a:lnSpc>
                <a:spcPct val="90000"/>
              </a:lnSpc>
              <a:spcBef>
                <a:spcPts val="300"/>
              </a:spcBef>
              <a:spcAft>
                <a:spcPts val="0"/>
              </a:spcAft>
              <a:buSzPts val="1600"/>
              <a:buChar char="◦"/>
              <a:defRPr sz="1600"/>
            </a:lvl7pPr>
            <a:lvl8pPr indent="-330200" lvl="7" marL="3657600" algn="l">
              <a:lnSpc>
                <a:spcPct val="90000"/>
              </a:lnSpc>
              <a:spcBef>
                <a:spcPts val="300"/>
              </a:spcBef>
              <a:spcAft>
                <a:spcPts val="0"/>
              </a:spcAft>
              <a:buSzPts val="1600"/>
              <a:buChar char="◦"/>
              <a:defRPr sz="1600"/>
            </a:lvl8pPr>
            <a:lvl9pPr indent="-330200" lvl="8" marL="4114800" algn="l">
              <a:lnSpc>
                <a:spcPct val="90000"/>
              </a:lnSpc>
              <a:spcBef>
                <a:spcPts val="300"/>
              </a:spcBef>
              <a:spcAft>
                <a:spcPts val="300"/>
              </a:spcAft>
              <a:buSzPts val="1600"/>
              <a:buChar char="◦"/>
              <a:defRPr sz="1600"/>
            </a:lvl9pPr>
          </a:lstStyle>
          <a:p/>
        </p:txBody>
      </p:sp>
      <p:sp>
        <p:nvSpPr>
          <p:cNvPr id="59" name="Google Shape;59;p88"/>
          <p:cNvSpPr txBox="1"/>
          <p:nvPr>
            <p:ph idx="10" type="dt"/>
          </p:nvPr>
        </p:nvSpPr>
        <p:spPr>
          <a:xfrm>
            <a:off x="6248400" y="4705350"/>
            <a:ext cx="1981200" cy="342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88"/>
          <p:cNvSpPr txBox="1"/>
          <p:nvPr>
            <p:ph idx="11" type="ftr"/>
          </p:nvPr>
        </p:nvSpPr>
        <p:spPr>
          <a:xfrm>
            <a:off x="2819400" y="4705350"/>
            <a:ext cx="2895600" cy="342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88"/>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788">
                <a:solidFill>
                  <a:srgbClr val="FFFFFF"/>
                </a:solidFill>
                <a:latin typeface="Calibri"/>
                <a:ea typeface="Calibri"/>
                <a:cs typeface="Calibri"/>
                <a:sym typeface="Calibri"/>
              </a:defRPr>
            </a:lvl1pPr>
            <a:lvl2pPr indent="0" lvl="1" marL="0" algn="r">
              <a:spcBef>
                <a:spcPts val="0"/>
              </a:spcBef>
              <a:buNone/>
              <a:defRPr sz="788">
                <a:solidFill>
                  <a:srgbClr val="FFFFFF"/>
                </a:solidFill>
                <a:latin typeface="Calibri"/>
                <a:ea typeface="Calibri"/>
                <a:cs typeface="Calibri"/>
                <a:sym typeface="Calibri"/>
              </a:defRPr>
            </a:lvl2pPr>
            <a:lvl3pPr indent="0" lvl="2" marL="0" algn="r">
              <a:spcBef>
                <a:spcPts val="0"/>
              </a:spcBef>
              <a:buNone/>
              <a:defRPr sz="788">
                <a:solidFill>
                  <a:srgbClr val="FFFFFF"/>
                </a:solidFill>
                <a:latin typeface="Calibri"/>
                <a:ea typeface="Calibri"/>
                <a:cs typeface="Calibri"/>
                <a:sym typeface="Calibri"/>
              </a:defRPr>
            </a:lvl3pPr>
            <a:lvl4pPr indent="0" lvl="3" marL="0" algn="r">
              <a:spcBef>
                <a:spcPts val="0"/>
              </a:spcBef>
              <a:buNone/>
              <a:defRPr sz="788">
                <a:solidFill>
                  <a:srgbClr val="FFFFFF"/>
                </a:solidFill>
                <a:latin typeface="Calibri"/>
                <a:ea typeface="Calibri"/>
                <a:cs typeface="Calibri"/>
                <a:sym typeface="Calibri"/>
              </a:defRPr>
            </a:lvl4pPr>
            <a:lvl5pPr indent="0" lvl="4" marL="0" algn="r">
              <a:spcBef>
                <a:spcPts val="0"/>
              </a:spcBef>
              <a:buNone/>
              <a:defRPr sz="788">
                <a:solidFill>
                  <a:srgbClr val="FFFFFF"/>
                </a:solidFill>
                <a:latin typeface="Calibri"/>
                <a:ea typeface="Calibri"/>
                <a:cs typeface="Calibri"/>
                <a:sym typeface="Calibri"/>
              </a:defRPr>
            </a:lvl5pPr>
            <a:lvl6pPr indent="0" lvl="5" marL="0" algn="r">
              <a:spcBef>
                <a:spcPts val="0"/>
              </a:spcBef>
              <a:buNone/>
              <a:defRPr sz="788">
                <a:solidFill>
                  <a:srgbClr val="FFFFFF"/>
                </a:solidFill>
                <a:latin typeface="Calibri"/>
                <a:ea typeface="Calibri"/>
                <a:cs typeface="Calibri"/>
                <a:sym typeface="Calibri"/>
              </a:defRPr>
            </a:lvl6pPr>
            <a:lvl7pPr indent="0" lvl="6" marL="0" algn="r">
              <a:spcBef>
                <a:spcPts val="0"/>
              </a:spcBef>
              <a:buNone/>
              <a:defRPr sz="788">
                <a:solidFill>
                  <a:srgbClr val="FFFFFF"/>
                </a:solidFill>
                <a:latin typeface="Calibri"/>
                <a:ea typeface="Calibri"/>
                <a:cs typeface="Calibri"/>
                <a:sym typeface="Calibri"/>
              </a:defRPr>
            </a:lvl7pPr>
            <a:lvl8pPr indent="0" lvl="7" marL="0" algn="r">
              <a:spcBef>
                <a:spcPts val="0"/>
              </a:spcBef>
              <a:buNone/>
              <a:defRPr sz="788">
                <a:solidFill>
                  <a:srgbClr val="FFFFFF"/>
                </a:solidFill>
                <a:latin typeface="Calibri"/>
                <a:ea typeface="Calibri"/>
                <a:cs typeface="Calibri"/>
                <a:sym typeface="Calibri"/>
              </a:defRPr>
            </a:lvl8pPr>
            <a:lvl9pPr indent="0" lvl="8" marL="0" algn="r">
              <a:spcBef>
                <a:spcPts val="0"/>
              </a:spcBef>
              <a:buNone/>
              <a:defRPr sz="788">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62" name="Google Shape;62;p88"/>
          <p:cNvSpPr/>
          <p:nvPr/>
        </p:nvSpPr>
        <p:spPr>
          <a:xfrm rot="5400000">
            <a:off x="-2548891" y="2548893"/>
            <a:ext cx="5143501" cy="45719"/>
          </a:xfrm>
          <a:prstGeom prst="rect">
            <a:avLst/>
          </a:prstGeom>
          <a:solidFill>
            <a:srgbClr val="A40508"/>
          </a:solidFill>
          <a:ln cap="flat" cmpd="sng" w="9525">
            <a:solidFill>
              <a:srgbClr val="A4001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A50021"/>
              </a:solidFill>
              <a:latin typeface="Calibri"/>
              <a:ea typeface="Calibri"/>
              <a:cs typeface="Calibri"/>
              <a:sym typeface="Calibri"/>
            </a:endParaRPr>
          </a:p>
        </p:txBody>
      </p:sp>
      <p:sp>
        <p:nvSpPr>
          <p:cNvPr id="63" name="Google Shape;63;p88"/>
          <p:cNvSpPr txBox="1"/>
          <p:nvPr>
            <p:ph type="title"/>
          </p:nvPr>
        </p:nvSpPr>
        <p:spPr>
          <a:xfrm>
            <a:off x="1371600" y="381000"/>
            <a:ext cx="7467600" cy="74295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2"/>
          <p:cNvSpPr/>
          <p:nvPr/>
        </p:nvSpPr>
        <p:spPr>
          <a:xfrm rot="-5400000">
            <a:off x="-2518606" y="2473636"/>
            <a:ext cx="5143502" cy="196226"/>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82"/>
          <p:cNvSpPr/>
          <p:nvPr/>
        </p:nvSpPr>
        <p:spPr>
          <a:xfrm flipH="1" rot="5400000">
            <a:off x="-2442604" y="2560134"/>
            <a:ext cx="5143502" cy="4571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82"/>
          <p:cNvSpPr txBox="1"/>
          <p:nvPr>
            <p:ph type="title"/>
          </p:nvPr>
        </p:nvSpPr>
        <p:spPr>
          <a:xfrm>
            <a:off x="822960" y="214953"/>
            <a:ext cx="7543800" cy="1088068"/>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3600"/>
              <a:buFont typeface="Calibri"/>
              <a:buNone/>
              <a:defRPr b="0" i="0" sz="36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82"/>
          <p:cNvSpPr txBox="1"/>
          <p:nvPr>
            <p:ph idx="1" type="body"/>
          </p:nvPr>
        </p:nvSpPr>
        <p:spPr>
          <a:xfrm>
            <a:off x="822959" y="1384301"/>
            <a:ext cx="7543801" cy="3017520"/>
          </a:xfrm>
          <a:prstGeom prst="rect">
            <a:avLst/>
          </a:prstGeom>
          <a:noFill/>
          <a:ln>
            <a:noFill/>
          </a:ln>
        </p:spPr>
        <p:txBody>
          <a:bodyPr anchorCtr="0" anchor="t" bIns="45700" lIns="0" spcFirstLastPara="1" rIns="0" wrap="square" tIns="45700">
            <a:normAutofit/>
          </a:bodyPr>
          <a:lstStyle>
            <a:lvl1pPr indent="-323850" lvl="0" marL="457200" marR="0" rtl="0" algn="l">
              <a:lnSpc>
                <a:spcPct val="90000"/>
              </a:lnSpc>
              <a:spcBef>
                <a:spcPts val="900"/>
              </a:spcBef>
              <a:spcAft>
                <a:spcPts val="0"/>
              </a:spcAft>
              <a:buClr>
                <a:schemeClr val="accent1"/>
              </a:buClr>
              <a:buSzPts val="1500"/>
              <a:buFont typeface="Calibri"/>
              <a:buChar char=" "/>
              <a:defRPr b="0" i="0" sz="1500" u="none" cap="none" strike="noStrike">
                <a:solidFill>
                  <a:srgbClr val="3F3F3F"/>
                </a:solidFill>
                <a:latin typeface="Calibri"/>
                <a:ea typeface="Calibri"/>
                <a:cs typeface="Calibri"/>
                <a:sym typeface="Calibri"/>
              </a:defRPr>
            </a:lvl1pPr>
            <a:lvl2pPr indent="-314325" lvl="1" marL="914400" marR="0" rtl="0" algn="l">
              <a:lnSpc>
                <a:spcPct val="90000"/>
              </a:lnSpc>
              <a:spcBef>
                <a:spcPts val="150"/>
              </a:spcBef>
              <a:spcAft>
                <a:spcPts val="0"/>
              </a:spcAft>
              <a:buClr>
                <a:schemeClr val="accent1"/>
              </a:buClr>
              <a:buSzPts val="1350"/>
              <a:buFont typeface="Calibri"/>
              <a:buChar char="◦"/>
              <a:defRPr b="0" i="0" sz="1350" u="none" cap="none" strike="noStrike">
                <a:solidFill>
                  <a:srgbClr val="3F3F3F"/>
                </a:solidFill>
                <a:latin typeface="Calibri"/>
                <a:ea typeface="Calibri"/>
                <a:cs typeface="Calibri"/>
                <a:sym typeface="Calibri"/>
              </a:defRPr>
            </a:lvl2pPr>
            <a:lvl3pPr indent="-295275" lvl="2" marL="13716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3pPr>
            <a:lvl4pPr indent="-295275" lvl="3" marL="18288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4pPr>
            <a:lvl5pPr indent="-295275" lvl="4" marL="22860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5pPr>
            <a:lvl6pPr indent="-295275" lvl="5" marL="27432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6pPr>
            <a:lvl7pPr indent="-295275" lvl="6" marL="32004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7pPr>
            <a:lvl8pPr indent="-295275" lvl="7" marL="36576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8pPr>
            <a:lvl9pPr indent="-295275" lvl="8" marL="4114800" marR="0" rtl="0" algn="l">
              <a:lnSpc>
                <a:spcPct val="90000"/>
              </a:lnSpc>
              <a:spcBef>
                <a:spcPts val="300"/>
              </a:spcBef>
              <a:spcAft>
                <a:spcPts val="30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9pPr>
          </a:lstStyle>
          <a:p/>
        </p:txBody>
      </p:sp>
      <p:sp>
        <p:nvSpPr>
          <p:cNvPr id="14" name="Google Shape;14;p82"/>
          <p:cNvSpPr txBox="1"/>
          <p:nvPr>
            <p:ph idx="10" type="dt"/>
          </p:nvPr>
        </p:nvSpPr>
        <p:spPr>
          <a:xfrm>
            <a:off x="822964" y="4844841"/>
            <a:ext cx="1854203"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675"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5" name="Google Shape;15;p82"/>
          <p:cNvSpPr txBox="1"/>
          <p:nvPr>
            <p:ph idx="11" type="ftr"/>
          </p:nvPr>
        </p:nvSpPr>
        <p:spPr>
          <a:xfrm>
            <a:off x="2764640" y="4844841"/>
            <a:ext cx="3617103"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675"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6" name="Google Shape;16;p82"/>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788" u="none" cap="none" strike="noStrike">
                <a:solidFill>
                  <a:srgbClr val="FFFFFF"/>
                </a:solidFill>
                <a:latin typeface="Calibri"/>
                <a:ea typeface="Calibri"/>
                <a:cs typeface="Calibri"/>
                <a:sym typeface="Calibri"/>
              </a:defRPr>
            </a:lvl1pPr>
            <a:lvl2pPr indent="0" lvl="1" marL="0" marR="0" rtl="0" algn="r">
              <a:spcBef>
                <a:spcPts val="0"/>
              </a:spcBef>
              <a:buNone/>
              <a:defRPr b="0" i="0" sz="788" u="none" cap="none" strike="noStrike">
                <a:solidFill>
                  <a:srgbClr val="FFFFFF"/>
                </a:solidFill>
                <a:latin typeface="Calibri"/>
                <a:ea typeface="Calibri"/>
                <a:cs typeface="Calibri"/>
                <a:sym typeface="Calibri"/>
              </a:defRPr>
            </a:lvl2pPr>
            <a:lvl3pPr indent="0" lvl="2" marL="0" marR="0" rtl="0" algn="r">
              <a:spcBef>
                <a:spcPts val="0"/>
              </a:spcBef>
              <a:buNone/>
              <a:defRPr b="0" i="0" sz="788" u="none" cap="none" strike="noStrike">
                <a:solidFill>
                  <a:srgbClr val="FFFFFF"/>
                </a:solidFill>
                <a:latin typeface="Calibri"/>
                <a:ea typeface="Calibri"/>
                <a:cs typeface="Calibri"/>
                <a:sym typeface="Calibri"/>
              </a:defRPr>
            </a:lvl3pPr>
            <a:lvl4pPr indent="0" lvl="3" marL="0" marR="0" rtl="0" algn="r">
              <a:spcBef>
                <a:spcPts val="0"/>
              </a:spcBef>
              <a:buNone/>
              <a:defRPr b="0" i="0" sz="788" u="none" cap="none" strike="noStrike">
                <a:solidFill>
                  <a:srgbClr val="FFFFFF"/>
                </a:solidFill>
                <a:latin typeface="Calibri"/>
                <a:ea typeface="Calibri"/>
                <a:cs typeface="Calibri"/>
                <a:sym typeface="Calibri"/>
              </a:defRPr>
            </a:lvl4pPr>
            <a:lvl5pPr indent="0" lvl="4" marL="0" marR="0" rtl="0" algn="r">
              <a:spcBef>
                <a:spcPts val="0"/>
              </a:spcBef>
              <a:buNone/>
              <a:defRPr b="0" i="0" sz="788" u="none" cap="none" strike="noStrike">
                <a:solidFill>
                  <a:srgbClr val="FFFFFF"/>
                </a:solidFill>
                <a:latin typeface="Calibri"/>
                <a:ea typeface="Calibri"/>
                <a:cs typeface="Calibri"/>
                <a:sym typeface="Calibri"/>
              </a:defRPr>
            </a:lvl5pPr>
            <a:lvl6pPr indent="0" lvl="5" marL="0" marR="0" rtl="0" algn="r">
              <a:spcBef>
                <a:spcPts val="0"/>
              </a:spcBef>
              <a:buNone/>
              <a:defRPr b="0" i="0" sz="788" u="none" cap="none" strike="noStrike">
                <a:solidFill>
                  <a:srgbClr val="FFFFFF"/>
                </a:solidFill>
                <a:latin typeface="Calibri"/>
                <a:ea typeface="Calibri"/>
                <a:cs typeface="Calibri"/>
                <a:sym typeface="Calibri"/>
              </a:defRPr>
            </a:lvl6pPr>
            <a:lvl7pPr indent="0" lvl="6" marL="0" marR="0" rtl="0" algn="r">
              <a:spcBef>
                <a:spcPts val="0"/>
              </a:spcBef>
              <a:buNone/>
              <a:defRPr b="0" i="0" sz="788" u="none" cap="none" strike="noStrike">
                <a:solidFill>
                  <a:srgbClr val="FFFFFF"/>
                </a:solidFill>
                <a:latin typeface="Calibri"/>
                <a:ea typeface="Calibri"/>
                <a:cs typeface="Calibri"/>
                <a:sym typeface="Calibri"/>
              </a:defRPr>
            </a:lvl7pPr>
            <a:lvl8pPr indent="0" lvl="7" marL="0" marR="0" rtl="0" algn="r">
              <a:spcBef>
                <a:spcPts val="0"/>
              </a:spcBef>
              <a:buNone/>
              <a:defRPr b="0" i="0" sz="788" u="none" cap="none" strike="noStrike">
                <a:solidFill>
                  <a:srgbClr val="FFFFFF"/>
                </a:solidFill>
                <a:latin typeface="Calibri"/>
                <a:ea typeface="Calibri"/>
                <a:cs typeface="Calibri"/>
                <a:sym typeface="Calibri"/>
              </a:defRPr>
            </a:lvl8pPr>
            <a:lvl9pPr indent="0" lvl="8" marL="0" marR="0" rtl="0" algn="r">
              <a:spcBef>
                <a:spcPts val="0"/>
              </a:spcBef>
              <a:buNone/>
              <a:defRPr b="0" i="0" sz="78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13.png"/><Relationship Id="rId6" Type="http://schemas.openxmlformats.org/officeDocument/2006/relationships/image" Target="../media/image11.png"/><Relationship Id="rId7"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17.png"/><Relationship Id="rId5" Type="http://schemas.openxmlformats.org/officeDocument/2006/relationships/image" Target="../media/image25.png"/><Relationship Id="rId6"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1.png"/><Relationship Id="rId6" Type="http://schemas.openxmlformats.org/officeDocument/2006/relationships/image" Target="../media/image26.png"/><Relationship Id="rId7"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1.png"/><Relationship Id="rId6" Type="http://schemas.openxmlformats.org/officeDocument/2006/relationships/image" Target="../media/image26.png"/><Relationship Id="rId7"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1.png"/><Relationship Id="rId6" Type="http://schemas.openxmlformats.org/officeDocument/2006/relationships/image" Target="../media/image26.png"/><Relationship Id="rId7"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0.pn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0.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4.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1.png"/><Relationship Id="rId4" Type="http://schemas.openxmlformats.org/officeDocument/2006/relationships/image" Target="../media/image113.png"/><Relationship Id="rId5" Type="http://schemas.openxmlformats.org/officeDocument/2006/relationships/image" Target="../media/image110.png"/><Relationship Id="rId6" Type="http://schemas.openxmlformats.org/officeDocument/2006/relationships/image" Target="../media/image106.png"/><Relationship Id="rId7"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43.png"/><Relationship Id="rId5" Type="http://schemas.openxmlformats.org/officeDocument/2006/relationships/image" Target="../media/image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3.png"/><Relationship Id="rId4" Type="http://schemas.openxmlformats.org/officeDocument/2006/relationships/image" Target="../media/image43.png"/><Relationship Id="rId5"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3.png"/><Relationship Id="rId4" Type="http://schemas.openxmlformats.org/officeDocument/2006/relationships/image" Target="../media/image43.png"/><Relationship Id="rId5"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3.png"/><Relationship Id="rId4" Type="http://schemas.openxmlformats.org/officeDocument/2006/relationships/image" Target="../media/image43.png"/><Relationship Id="rId5"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4.png"/><Relationship Id="rId4" Type="http://schemas.openxmlformats.org/officeDocument/2006/relationships/image" Target="../media/image47.png"/><Relationship Id="rId5" Type="http://schemas.openxmlformats.org/officeDocument/2006/relationships/image" Target="../media/image65.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71.png"/><Relationship Id="rId4" Type="http://schemas.openxmlformats.org/officeDocument/2006/relationships/image" Target="../media/image67.png"/><Relationship Id="rId5"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51.png"/><Relationship Id="rId4" Type="http://schemas.openxmlformats.org/officeDocument/2006/relationships/image" Target="../media/image53.png"/><Relationship Id="rId5" Type="http://schemas.openxmlformats.org/officeDocument/2006/relationships/image" Target="../media/image55.png"/><Relationship Id="rId6" Type="http://schemas.openxmlformats.org/officeDocument/2006/relationships/image" Target="../media/image5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59.png"/><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6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6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8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7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64.png"/><Relationship Id="rId4" Type="http://schemas.openxmlformats.org/officeDocument/2006/relationships/image" Target="../media/image62.png"/><Relationship Id="rId5" Type="http://schemas.openxmlformats.org/officeDocument/2006/relationships/image" Target="../media/image6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7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112.png"/><Relationship Id="rId4" Type="http://schemas.openxmlformats.org/officeDocument/2006/relationships/image" Target="../media/image11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8.png"/><Relationship Id="rId4" Type="http://schemas.openxmlformats.org/officeDocument/2006/relationships/image" Target="../media/image74.png"/><Relationship Id="rId5" Type="http://schemas.openxmlformats.org/officeDocument/2006/relationships/image" Target="../media/image7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3.png"/><Relationship Id="rId4" Type="http://schemas.openxmlformats.org/officeDocument/2006/relationships/image" Target="../media/image72.png"/><Relationship Id="rId5" Type="http://schemas.openxmlformats.org/officeDocument/2006/relationships/image" Target="../media/image7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78.png"/><Relationship Id="rId4" Type="http://schemas.openxmlformats.org/officeDocument/2006/relationships/image" Target="../media/image73.png"/><Relationship Id="rId5" Type="http://schemas.openxmlformats.org/officeDocument/2006/relationships/image" Target="../media/image8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8.png"/><Relationship Id="rId4" Type="http://schemas.openxmlformats.org/officeDocument/2006/relationships/image" Target="../media/image73.png"/><Relationship Id="rId5" Type="http://schemas.openxmlformats.org/officeDocument/2006/relationships/image" Target="../media/image8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78.png"/><Relationship Id="rId4" Type="http://schemas.openxmlformats.org/officeDocument/2006/relationships/image" Target="../media/image73.png"/><Relationship Id="rId5" Type="http://schemas.openxmlformats.org/officeDocument/2006/relationships/image" Target="../media/image87.png"/><Relationship Id="rId6" Type="http://schemas.openxmlformats.org/officeDocument/2006/relationships/image" Target="../media/image8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76.png"/><Relationship Id="rId4" Type="http://schemas.openxmlformats.org/officeDocument/2006/relationships/image" Target="../media/image8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84.png"/><Relationship Id="rId4" Type="http://schemas.openxmlformats.org/officeDocument/2006/relationships/image" Target="../media/image78.png"/><Relationship Id="rId5" Type="http://schemas.openxmlformats.org/officeDocument/2006/relationships/image" Target="../media/image73.png"/><Relationship Id="rId6" Type="http://schemas.openxmlformats.org/officeDocument/2006/relationships/image" Target="../media/image89.png"/><Relationship Id="rId7" Type="http://schemas.openxmlformats.org/officeDocument/2006/relationships/image" Target="../media/image108.png"/><Relationship Id="rId8" Type="http://schemas.openxmlformats.org/officeDocument/2006/relationships/image" Target="../media/image8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78.png"/><Relationship Id="rId4" Type="http://schemas.openxmlformats.org/officeDocument/2006/relationships/image" Target="../media/image73.png"/><Relationship Id="rId5" Type="http://schemas.openxmlformats.org/officeDocument/2006/relationships/image" Target="../media/image101.png"/><Relationship Id="rId6" Type="http://schemas.openxmlformats.org/officeDocument/2006/relationships/image" Target="../media/image9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91.png"/><Relationship Id="rId4" Type="http://schemas.openxmlformats.org/officeDocument/2006/relationships/image" Target="../media/image90.png"/><Relationship Id="rId5" Type="http://schemas.openxmlformats.org/officeDocument/2006/relationships/image" Target="../media/image9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9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9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93.png"/><Relationship Id="rId4" Type="http://schemas.openxmlformats.org/officeDocument/2006/relationships/image" Target="../media/image92.png"/><Relationship Id="rId5" Type="http://schemas.openxmlformats.org/officeDocument/2006/relationships/image" Target="../media/image9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96.png"/><Relationship Id="rId4" Type="http://schemas.openxmlformats.org/officeDocument/2006/relationships/image" Target="../media/image92.png"/><Relationship Id="rId5" Type="http://schemas.openxmlformats.org/officeDocument/2006/relationships/image" Target="../media/image9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104.png"/><Relationship Id="rId4" Type="http://schemas.openxmlformats.org/officeDocument/2006/relationships/image" Target="../media/image99.png"/><Relationship Id="rId11" Type="http://schemas.openxmlformats.org/officeDocument/2006/relationships/image" Target="../media/image93.png"/><Relationship Id="rId10" Type="http://schemas.openxmlformats.org/officeDocument/2006/relationships/image" Target="../media/image105.png"/><Relationship Id="rId9" Type="http://schemas.openxmlformats.org/officeDocument/2006/relationships/image" Target="../media/image100.png"/><Relationship Id="rId5" Type="http://schemas.openxmlformats.org/officeDocument/2006/relationships/image" Target="../media/image107.png"/><Relationship Id="rId6" Type="http://schemas.openxmlformats.org/officeDocument/2006/relationships/image" Target="../media/image103.png"/><Relationship Id="rId7" Type="http://schemas.openxmlformats.org/officeDocument/2006/relationships/image" Target="../media/image109.png"/><Relationship Id="rId8" Type="http://schemas.openxmlformats.org/officeDocument/2006/relationships/image" Target="../media/image10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
          <p:cNvSpPr txBox="1"/>
          <p:nvPr>
            <p:ph type="title"/>
          </p:nvPr>
        </p:nvSpPr>
        <p:spPr>
          <a:xfrm>
            <a:off x="342900" y="445769"/>
            <a:ext cx="2400300" cy="1714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chemeClr val="lt1"/>
              </a:buClr>
              <a:buSzPct val="100000"/>
              <a:buFont typeface="Calibri"/>
              <a:buNone/>
            </a:pPr>
            <a:r>
              <a:rPr lang="en-US" sz="3000">
                <a:solidFill>
                  <a:schemeClr val="lt1"/>
                </a:solidFill>
              </a:rPr>
              <a:t>Simple Neural Networks and Neural Language Models</a:t>
            </a:r>
            <a:endParaRPr sz="3000">
              <a:solidFill>
                <a:schemeClr val="lt1"/>
              </a:solidFill>
            </a:endParaRPr>
          </a:p>
        </p:txBody>
      </p:sp>
      <p:sp>
        <p:nvSpPr>
          <p:cNvPr id="70" name="Google Shape;70;p1"/>
          <p:cNvSpPr txBox="1"/>
          <p:nvPr>
            <p:ph idx="1" type="body"/>
          </p:nvPr>
        </p:nvSpPr>
        <p:spPr>
          <a:xfrm>
            <a:off x="3460240" y="548640"/>
            <a:ext cx="5009393" cy="3943350"/>
          </a:xfrm>
          <a:prstGeom prst="rect">
            <a:avLst/>
          </a:prstGeom>
          <a:noFill/>
          <a:ln>
            <a:noFill/>
          </a:ln>
        </p:spPr>
        <p:txBody>
          <a:bodyPr anchorCtr="0" anchor="t" bIns="45700" lIns="0" spcFirstLastPara="1" rIns="0" wrap="square" tIns="45700">
            <a:normAutofit/>
          </a:bodyPr>
          <a:lstStyle/>
          <a:p>
            <a:pPr indent="-190500" lvl="0" marL="68577" rtl="0" algn="l">
              <a:lnSpc>
                <a:spcPct val="90000"/>
              </a:lnSpc>
              <a:spcBef>
                <a:spcPts val="0"/>
              </a:spcBef>
              <a:spcAft>
                <a:spcPts val="0"/>
              </a:spcAft>
              <a:buSzPts val="3000"/>
              <a:buChar char=" "/>
            </a:pPr>
            <a:r>
              <a:rPr lang="en-US" sz="3000">
                <a:solidFill>
                  <a:schemeClr val="dk2"/>
                </a:solidFill>
              </a:rPr>
              <a:t>Units in Neural Networks</a:t>
            </a:r>
            <a:endParaRPr/>
          </a:p>
        </p:txBody>
      </p:sp>
      <p:sp>
        <p:nvSpPr>
          <p:cNvPr id="71" name="Google Shape;71;p1"/>
          <p:cNvSpPr txBox="1"/>
          <p:nvPr>
            <p:ph idx="2" type="body"/>
          </p:nvPr>
        </p:nvSpPr>
        <p:spPr>
          <a:xfrm>
            <a:off x="342900" y="2194562"/>
            <a:ext cx="2400300" cy="25343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125"/>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2"/>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This is in your brain</a:t>
            </a:r>
            <a:endParaRPr/>
          </a:p>
        </p:txBody>
      </p:sp>
      <p:sp>
        <p:nvSpPr>
          <p:cNvPr id="78" name="Google Shape;78;p2"/>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79" name="Google Shape;79;p2"/>
          <p:cNvPicPr preferRelativeResize="0"/>
          <p:nvPr/>
        </p:nvPicPr>
        <p:blipFill rotWithShape="1">
          <a:blip r:embed="rId3">
            <a:alphaModFix/>
          </a:blip>
          <a:srcRect b="0" l="0" r="0" t="0"/>
          <a:stretch/>
        </p:blipFill>
        <p:spPr>
          <a:xfrm>
            <a:off x="1891196" y="1123952"/>
            <a:ext cx="5285411" cy="3408033"/>
          </a:xfrm>
          <a:prstGeom prst="rect">
            <a:avLst/>
          </a:prstGeom>
          <a:noFill/>
          <a:ln>
            <a:noFill/>
          </a:ln>
        </p:spPr>
      </p:pic>
      <p:sp>
        <p:nvSpPr>
          <p:cNvPr id="80" name="Google Shape;80;p2"/>
          <p:cNvSpPr/>
          <p:nvPr/>
        </p:nvSpPr>
        <p:spPr>
          <a:xfrm>
            <a:off x="4558748" y="4637184"/>
            <a:ext cx="4572000" cy="4040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13" u="none" cap="none" strike="noStrike">
                <a:solidFill>
                  <a:schemeClr val="dk1"/>
                </a:solidFill>
                <a:latin typeface="Calibri"/>
                <a:ea typeface="Calibri"/>
                <a:cs typeface="Calibri"/>
                <a:sym typeface="Calibri"/>
              </a:rPr>
              <a:t>By BruceBlaus - Own work, CC BY 3.0, https://commons.wikimedia.org/w/index.php?curid=28761830</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3"/>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50000"/>
              <a:buFont typeface="Calibri"/>
              <a:buNone/>
            </a:pPr>
            <a:r>
              <a:rPr b="0" lang="en-US"/>
              <a:t>Neural Network Unit</a:t>
            </a:r>
            <a:br>
              <a:rPr b="0" lang="en-US"/>
            </a:br>
            <a:r>
              <a:rPr lang="en-US" sz="2000"/>
              <a:t>This is not in your brain</a:t>
            </a:r>
            <a:endParaRPr sz="2400"/>
          </a:p>
        </p:txBody>
      </p:sp>
      <p:sp>
        <p:nvSpPr>
          <p:cNvPr id="87" name="Google Shape;87;p3"/>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88" name="Google Shape;88;p3"/>
          <p:cNvPicPr preferRelativeResize="0"/>
          <p:nvPr/>
        </p:nvPicPr>
        <p:blipFill rotWithShape="1">
          <a:blip r:embed="rId3">
            <a:alphaModFix/>
          </a:blip>
          <a:srcRect b="0" l="0" r="0" t="0"/>
          <a:stretch/>
        </p:blipFill>
        <p:spPr>
          <a:xfrm>
            <a:off x="4607284" y="1008612"/>
            <a:ext cx="3592724" cy="3674377"/>
          </a:xfrm>
          <a:prstGeom prst="rect">
            <a:avLst/>
          </a:prstGeom>
          <a:noFill/>
          <a:ln>
            <a:noFill/>
          </a:ln>
        </p:spPr>
      </p:pic>
      <p:cxnSp>
        <p:nvCxnSpPr>
          <p:cNvPr id="89" name="Google Shape;89;p3"/>
          <p:cNvCxnSpPr/>
          <p:nvPr/>
        </p:nvCxnSpPr>
        <p:spPr>
          <a:xfrm>
            <a:off x="1427397" y="2592154"/>
            <a:ext cx="249000" cy="2113200"/>
          </a:xfrm>
          <a:prstGeom prst="straightConnector1">
            <a:avLst/>
          </a:prstGeom>
          <a:noFill/>
          <a:ln>
            <a:noFill/>
          </a:ln>
        </p:spPr>
      </p:cxnSp>
      <p:sp>
        <p:nvSpPr>
          <p:cNvPr id="90" name="Google Shape;90;p3"/>
          <p:cNvSpPr txBox="1"/>
          <p:nvPr/>
        </p:nvSpPr>
        <p:spPr>
          <a:xfrm>
            <a:off x="2819401" y="3671861"/>
            <a:ext cx="136563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981535"/>
                </a:solidFill>
                <a:latin typeface="Calibri"/>
                <a:ea typeface="Calibri"/>
                <a:cs typeface="Calibri"/>
                <a:sym typeface="Calibri"/>
              </a:rPr>
              <a:t>Weights</a:t>
            </a:r>
            <a:endParaRPr/>
          </a:p>
        </p:txBody>
      </p:sp>
      <p:sp>
        <p:nvSpPr>
          <p:cNvPr id="91" name="Google Shape;91;p3"/>
          <p:cNvSpPr txBox="1"/>
          <p:nvPr/>
        </p:nvSpPr>
        <p:spPr>
          <a:xfrm>
            <a:off x="2438400" y="4171950"/>
            <a:ext cx="175099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981535"/>
                </a:solidFill>
                <a:latin typeface="Calibri"/>
                <a:ea typeface="Calibri"/>
                <a:cs typeface="Calibri"/>
                <a:sym typeface="Calibri"/>
              </a:rPr>
              <a:t>Input layer</a:t>
            </a:r>
            <a:endParaRPr/>
          </a:p>
        </p:txBody>
      </p:sp>
      <p:sp>
        <p:nvSpPr>
          <p:cNvPr id="92" name="Google Shape;92;p3"/>
          <p:cNvSpPr txBox="1"/>
          <p:nvPr/>
        </p:nvSpPr>
        <p:spPr>
          <a:xfrm>
            <a:off x="2514600" y="2928911"/>
            <a:ext cx="228671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981535"/>
                </a:solidFill>
                <a:latin typeface="Calibri"/>
                <a:ea typeface="Calibri"/>
                <a:cs typeface="Calibri"/>
                <a:sym typeface="Calibri"/>
              </a:rPr>
              <a:t>Weighted sum</a:t>
            </a:r>
            <a:endParaRPr/>
          </a:p>
        </p:txBody>
      </p:sp>
      <p:sp>
        <p:nvSpPr>
          <p:cNvPr id="93" name="Google Shape;93;p3"/>
          <p:cNvSpPr txBox="1"/>
          <p:nvPr/>
        </p:nvSpPr>
        <p:spPr>
          <a:xfrm>
            <a:off x="1676402" y="1962150"/>
            <a:ext cx="325377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981535"/>
                </a:solidFill>
                <a:latin typeface="Calibri"/>
                <a:ea typeface="Calibri"/>
                <a:cs typeface="Calibri"/>
                <a:sym typeface="Calibri"/>
              </a:rPr>
              <a:t>Non-linear transform</a:t>
            </a:r>
            <a:endParaRPr/>
          </a:p>
        </p:txBody>
      </p:sp>
      <p:sp>
        <p:nvSpPr>
          <p:cNvPr id="94" name="Google Shape;94;p3"/>
          <p:cNvSpPr txBox="1"/>
          <p:nvPr/>
        </p:nvSpPr>
        <p:spPr>
          <a:xfrm>
            <a:off x="1828800" y="971550"/>
            <a:ext cx="208858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981535"/>
                </a:solidFill>
                <a:latin typeface="Calibri"/>
                <a:ea typeface="Calibri"/>
                <a:cs typeface="Calibri"/>
                <a:sym typeface="Calibri"/>
              </a:rPr>
              <a:t>Output value</a:t>
            </a:r>
            <a:endParaRPr/>
          </a:p>
        </p:txBody>
      </p:sp>
      <p:sp>
        <p:nvSpPr>
          <p:cNvPr id="95" name="Google Shape;95;p3"/>
          <p:cNvSpPr txBox="1"/>
          <p:nvPr/>
        </p:nvSpPr>
        <p:spPr>
          <a:xfrm>
            <a:off x="7258052" y="3543300"/>
            <a:ext cx="76815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981535"/>
                </a:solidFill>
                <a:latin typeface="Calibri"/>
                <a:ea typeface="Calibri"/>
                <a:cs typeface="Calibri"/>
                <a:sym typeface="Calibri"/>
              </a:rPr>
              <a:t>bias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Neural unit</a:t>
            </a:r>
            <a:endParaRPr/>
          </a:p>
        </p:txBody>
      </p:sp>
      <p:sp>
        <p:nvSpPr>
          <p:cNvPr id="102" name="Google Shape;102;p4"/>
          <p:cNvSpPr txBox="1"/>
          <p:nvPr>
            <p:ph idx="1" type="body"/>
          </p:nvPr>
        </p:nvSpPr>
        <p:spPr>
          <a:xfrm>
            <a:off x="822962" y="1200150"/>
            <a:ext cx="8206739" cy="34290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Take weighted sum of inputs, plus a bias</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rPr lang="en-US"/>
              <a:t>Instead of just using z, we'll apply a nonlinear activation function f:</a:t>
            </a:r>
            <a:endParaRPr/>
          </a:p>
        </p:txBody>
      </p:sp>
      <p:pic>
        <p:nvPicPr>
          <p:cNvPr id="103" name="Google Shape;103;p4"/>
          <p:cNvPicPr preferRelativeResize="0"/>
          <p:nvPr/>
        </p:nvPicPr>
        <p:blipFill rotWithShape="1">
          <a:blip r:embed="rId3">
            <a:alphaModFix/>
          </a:blip>
          <a:srcRect b="0" l="0" r="0" t="0"/>
          <a:stretch/>
        </p:blipFill>
        <p:spPr>
          <a:xfrm>
            <a:off x="3109913" y="1600200"/>
            <a:ext cx="2428876" cy="857250"/>
          </a:xfrm>
          <a:prstGeom prst="rect">
            <a:avLst/>
          </a:prstGeom>
          <a:noFill/>
          <a:ln>
            <a:noFill/>
          </a:ln>
        </p:spPr>
      </p:pic>
      <p:pic>
        <p:nvPicPr>
          <p:cNvPr id="104" name="Google Shape;104;p4"/>
          <p:cNvPicPr preferRelativeResize="0"/>
          <p:nvPr/>
        </p:nvPicPr>
        <p:blipFill rotWithShape="1">
          <a:blip r:embed="rId4">
            <a:alphaModFix/>
          </a:blip>
          <a:srcRect b="0" l="0" r="0" t="0"/>
          <a:stretch/>
        </p:blipFill>
        <p:spPr>
          <a:xfrm>
            <a:off x="3143250" y="2628900"/>
            <a:ext cx="2019300" cy="457200"/>
          </a:xfrm>
          <a:prstGeom prst="rect">
            <a:avLst/>
          </a:prstGeom>
          <a:noFill/>
          <a:ln>
            <a:noFill/>
          </a:ln>
        </p:spPr>
      </p:pic>
      <p:pic>
        <p:nvPicPr>
          <p:cNvPr id="105" name="Google Shape;105;p4"/>
          <p:cNvPicPr preferRelativeResize="0"/>
          <p:nvPr/>
        </p:nvPicPr>
        <p:blipFill rotWithShape="1">
          <a:blip r:embed="rId5">
            <a:alphaModFix/>
          </a:blip>
          <a:srcRect b="0" l="0" r="0" t="0"/>
          <a:stretch/>
        </p:blipFill>
        <p:spPr>
          <a:xfrm>
            <a:off x="3156046" y="4057650"/>
            <a:ext cx="2161309" cy="457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Non-Linear Activation Functions</a:t>
            </a:r>
            <a:endParaRPr/>
          </a:p>
        </p:txBody>
      </p:sp>
      <p:sp>
        <p:nvSpPr>
          <p:cNvPr id="112" name="Google Shape;112;p5"/>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3" name="Google Shape;113;p5"/>
          <p:cNvPicPr preferRelativeResize="0"/>
          <p:nvPr/>
        </p:nvPicPr>
        <p:blipFill rotWithShape="1">
          <a:blip r:embed="rId3">
            <a:alphaModFix/>
          </a:blip>
          <a:srcRect b="0" l="0" r="0" t="0"/>
          <a:stretch/>
        </p:blipFill>
        <p:spPr>
          <a:xfrm>
            <a:off x="2691304" y="1600201"/>
            <a:ext cx="6052646" cy="2724929"/>
          </a:xfrm>
          <a:prstGeom prst="rect">
            <a:avLst/>
          </a:prstGeom>
          <a:noFill/>
          <a:ln>
            <a:noFill/>
          </a:ln>
        </p:spPr>
      </p:pic>
      <p:sp>
        <p:nvSpPr>
          <p:cNvPr id="114" name="Google Shape;114;p5"/>
          <p:cNvSpPr txBox="1"/>
          <p:nvPr/>
        </p:nvSpPr>
        <p:spPr>
          <a:xfrm>
            <a:off x="610619" y="2283811"/>
            <a:ext cx="151836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981535"/>
                </a:solidFill>
                <a:latin typeface="Calibri"/>
                <a:ea typeface="Calibri"/>
                <a:cs typeface="Calibri"/>
                <a:sym typeface="Calibri"/>
              </a:rPr>
              <a:t>Sigmoid</a:t>
            </a:r>
            <a:endParaRPr/>
          </a:p>
        </p:txBody>
      </p:sp>
      <p:sp>
        <p:nvSpPr>
          <p:cNvPr id="115" name="Google Shape;115;p5"/>
          <p:cNvSpPr txBox="1"/>
          <p:nvPr/>
        </p:nvSpPr>
        <p:spPr>
          <a:xfrm>
            <a:off x="840355" y="1020951"/>
            <a:ext cx="691516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We're already seen the sigmoid for logistic regression:</a:t>
            </a:r>
            <a:endParaRPr/>
          </a:p>
        </p:txBody>
      </p:sp>
      <p:pic>
        <p:nvPicPr>
          <p:cNvPr id="116" name="Google Shape;116;p5"/>
          <p:cNvPicPr preferRelativeResize="0"/>
          <p:nvPr/>
        </p:nvPicPr>
        <p:blipFill rotWithShape="1">
          <a:blip r:embed="rId4">
            <a:alphaModFix/>
          </a:blip>
          <a:srcRect b="0" l="0" r="0" t="0"/>
          <a:stretch/>
        </p:blipFill>
        <p:spPr>
          <a:xfrm>
            <a:off x="400051" y="2845553"/>
            <a:ext cx="2221130" cy="70426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6"/>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Final function the unit is computing</a:t>
            </a:r>
            <a:endParaRPr/>
          </a:p>
        </p:txBody>
      </p:sp>
      <p:pic>
        <p:nvPicPr>
          <p:cNvPr id="123" name="Google Shape;123;p6"/>
          <p:cNvPicPr preferRelativeResize="0"/>
          <p:nvPr>
            <p:ph idx="1" type="body"/>
          </p:nvPr>
        </p:nvPicPr>
        <p:blipFill rotWithShape="1">
          <a:blip r:embed="rId3">
            <a:alphaModFix/>
          </a:blip>
          <a:srcRect b="0" l="0" r="0" t="0"/>
          <a:stretch/>
        </p:blipFill>
        <p:spPr>
          <a:xfrm>
            <a:off x="1611579" y="2286000"/>
            <a:ext cx="5655733" cy="914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Final unit again</a:t>
            </a:r>
            <a:endParaRPr sz="2400"/>
          </a:p>
        </p:txBody>
      </p:sp>
      <p:sp>
        <p:nvSpPr>
          <p:cNvPr id="130" name="Google Shape;130;p7"/>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1" name="Google Shape;131;p7"/>
          <p:cNvPicPr preferRelativeResize="0"/>
          <p:nvPr/>
        </p:nvPicPr>
        <p:blipFill rotWithShape="1">
          <a:blip r:embed="rId3">
            <a:alphaModFix/>
          </a:blip>
          <a:srcRect b="0" l="0" r="0" t="0"/>
          <a:stretch/>
        </p:blipFill>
        <p:spPr>
          <a:xfrm>
            <a:off x="4607284" y="1008612"/>
            <a:ext cx="3592724" cy="3674377"/>
          </a:xfrm>
          <a:prstGeom prst="rect">
            <a:avLst/>
          </a:prstGeom>
          <a:noFill/>
          <a:ln>
            <a:noFill/>
          </a:ln>
        </p:spPr>
      </p:pic>
      <p:cxnSp>
        <p:nvCxnSpPr>
          <p:cNvPr id="132" name="Google Shape;132;p7"/>
          <p:cNvCxnSpPr/>
          <p:nvPr/>
        </p:nvCxnSpPr>
        <p:spPr>
          <a:xfrm>
            <a:off x="1427397" y="2592154"/>
            <a:ext cx="249000" cy="2113200"/>
          </a:xfrm>
          <a:prstGeom prst="straightConnector1">
            <a:avLst/>
          </a:prstGeom>
          <a:noFill/>
          <a:ln>
            <a:noFill/>
          </a:ln>
        </p:spPr>
      </p:cxnSp>
      <p:sp>
        <p:nvSpPr>
          <p:cNvPr id="133" name="Google Shape;133;p7"/>
          <p:cNvSpPr txBox="1"/>
          <p:nvPr/>
        </p:nvSpPr>
        <p:spPr>
          <a:xfrm>
            <a:off x="2819401" y="3671861"/>
            <a:ext cx="136563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981535"/>
                </a:solidFill>
                <a:latin typeface="Calibri"/>
                <a:ea typeface="Calibri"/>
                <a:cs typeface="Calibri"/>
                <a:sym typeface="Calibri"/>
              </a:rPr>
              <a:t>Weights</a:t>
            </a:r>
            <a:endParaRPr/>
          </a:p>
        </p:txBody>
      </p:sp>
      <p:sp>
        <p:nvSpPr>
          <p:cNvPr id="134" name="Google Shape;134;p7"/>
          <p:cNvSpPr txBox="1"/>
          <p:nvPr/>
        </p:nvSpPr>
        <p:spPr>
          <a:xfrm>
            <a:off x="2438400" y="4171950"/>
            <a:ext cx="175099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981535"/>
                </a:solidFill>
                <a:latin typeface="Calibri"/>
                <a:ea typeface="Calibri"/>
                <a:cs typeface="Calibri"/>
                <a:sym typeface="Calibri"/>
              </a:rPr>
              <a:t>Input layer</a:t>
            </a:r>
            <a:endParaRPr/>
          </a:p>
        </p:txBody>
      </p:sp>
      <p:sp>
        <p:nvSpPr>
          <p:cNvPr id="135" name="Google Shape;135;p7"/>
          <p:cNvSpPr txBox="1"/>
          <p:nvPr/>
        </p:nvSpPr>
        <p:spPr>
          <a:xfrm>
            <a:off x="2514600" y="2928911"/>
            <a:ext cx="228671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981535"/>
                </a:solidFill>
                <a:latin typeface="Calibri"/>
                <a:ea typeface="Calibri"/>
                <a:cs typeface="Calibri"/>
                <a:sym typeface="Calibri"/>
              </a:rPr>
              <a:t>Weighted sum</a:t>
            </a:r>
            <a:endParaRPr/>
          </a:p>
        </p:txBody>
      </p:sp>
      <p:sp>
        <p:nvSpPr>
          <p:cNvPr id="136" name="Google Shape;136;p7"/>
          <p:cNvSpPr txBox="1"/>
          <p:nvPr/>
        </p:nvSpPr>
        <p:spPr>
          <a:xfrm>
            <a:off x="567536" y="2007326"/>
            <a:ext cx="454746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981535"/>
                </a:solidFill>
                <a:latin typeface="Calibri"/>
                <a:ea typeface="Calibri"/>
                <a:cs typeface="Calibri"/>
                <a:sym typeface="Calibri"/>
              </a:rPr>
              <a:t>Non-linear activation function</a:t>
            </a:r>
            <a:endParaRPr/>
          </a:p>
        </p:txBody>
      </p:sp>
      <p:sp>
        <p:nvSpPr>
          <p:cNvPr id="137" name="Google Shape;137;p7"/>
          <p:cNvSpPr txBox="1"/>
          <p:nvPr/>
        </p:nvSpPr>
        <p:spPr>
          <a:xfrm>
            <a:off x="1828800" y="971550"/>
            <a:ext cx="208858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981535"/>
                </a:solidFill>
                <a:latin typeface="Calibri"/>
                <a:ea typeface="Calibri"/>
                <a:cs typeface="Calibri"/>
                <a:sym typeface="Calibri"/>
              </a:rPr>
              <a:t>Output value</a:t>
            </a:r>
            <a:endParaRPr/>
          </a:p>
        </p:txBody>
      </p:sp>
      <p:sp>
        <p:nvSpPr>
          <p:cNvPr id="138" name="Google Shape;138;p7"/>
          <p:cNvSpPr txBox="1"/>
          <p:nvPr/>
        </p:nvSpPr>
        <p:spPr>
          <a:xfrm>
            <a:off x="7258052" y="3543300"/>
            <a:ext cx="76815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981535"/>
                </a:solidFill>
                <a:latin typeface="Calibri"/>
                <a:ea typeface="Calibri"/>
                <a:cs typeface="Calibri"/>
                <a:sym typeface="Calibri"/>
              </a:rPr>
              <a:t>bias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8"/>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An example</a:t>
            </a:r>
            <a:endParaRPr/>
          </a:p>
        </p:txBody>
      </p:sp>
      <p:sp>
        <p:nvSpPr>
          <p:cNvPr id="145" name="Google Shape;145;p8"/>
          <p:cNvSpPr txBox="1"/>
          <p:nvPr>
            <p:ph idx="1" type="body"/>
          </p:nvPr>
        </p:nvSpPr>
        <p:spPr>
          <a:xfrm>
            <a:off x="914401" y="1004255"/>
            <a:ext cx="7543801" cy="36576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i="1" lang="en-US"/>
              <a:t>Suppose a unit has:</a:t>
            </a:r>
            <a:endParaRPr/>
          </a:p>
          <a:p>
            <a:pPr indent="-7938" lvl="0" marL="7938" rtl="0" algn="l">
              <a:lnSpc>
                <a:spcPct val="90000"/>
              </a:lnSpc>
              <a:spcBef>
                <a:spcPts val="1050"/>
              </a:spcBef>
              <a:spcAft>
                <a:spcPts val="0"/>
              </a:spcAft>
              <a:buSzPts val="2800"/>
              <a:buNone/>
            </a:pPr>
            <a:r>
              <a:rPr i="1" lang="en-US">
                <a:latin typeface="Courier"/>
                <a:ea typeface="Courier"/>
                <a:cs typeface="Courier"/>
                <a:sym typeface="Courier"/>
              </a:rPr>
              <a:t>w </a:t>
            </a:r>
            <a:r>
              <a:rPr lang="en-US">
                <a:latin typeface="Courier"/>
                <a:ea typeface="Courier"/>
                <a:cs typeface="Courier"/>
                <a:sym typeface="Courier"/>
              </a:rPr>
              <a:t>= [0.2,0.3,0.9] </a:t>
            </a:r>
            <a:endParaRPr/>
          </a:p>
          <a:p>
            <a:pPr indent="-7938" lvl="0" marL="7938" rtl="0" algn="l">
              <a:lnSpc>
                <a:spcPct val="90000"/>
              </a:lnSpc>
              <a:spcBef>
                <a:spcPts val="1050"/>
              </a:spcBef>
              <a:spcAft>
                <a:spcPts val="0"/>
              </a:spcAft>
              <a:buSzPts val="2800"/>
              <a:buNone/>
            </a:pPr>
            <a:r>
              <a:rPr i="1" lang="en-US">
                <a:latin typeface="Courier"/>
                <a:ea typeface="Courier"/>
                <a:cs typeface="Courier"/>
                <a:sym typeface="Courier"/>
              </a:rPr>
              <a:t>b </a:t>
            </a:r>
            <a:r>
              <a:rPr lang="en-US">
                <a:latin typeface="Courier"/>
                <a:ea typeface="Courier"/>
                <a:cs typeface="Courier"/>
                <a:sym typeface="Courier"/>
              </a:rPr>
              <a:t>= 0.5 </a:t>
            </a:r>
            <a:endParaRPr/>
          </a:p>
          <a:p>
            <a:pPr indent="-7938" lvl="0" marL="7938" rtl="0" algn="l">
              <a:lnSpc>
                <a:spcPct val="90000"/>
              </a:lnSpc>
              <a:spcBef>
                <a:spcPts val="1050"/>
              </a:spcBef>
              <a:spcAft>
                <a:spcPts val="0"/>
              </a:spcAft>
              <a:buSzPts val="2800"/>
              <a:buNone/>
            </a:pPr>
            <a:r>
              <a:rPr lang="en-US"/>
              <a:t>What happens with input x:</a:t>
            </a:r>
            <a:endParaRPr/>
          </a:p>
          <a:p>
            <a:pPr indent="-7938" lvl="0" marL="7938" rtl="0" algn="l">
              <a:lnSpc>
                <a:spcPct val="90000"/>
              </a:lnSpc>
              <a:spcBef>
                <a:spcPts val="1050"/>
              </a:spcBef>
              <a:spcAft>
                <a:spcPts val="0"/>
              </a:spcAft>
              <a:buSzPts val="2800"/>
              <a:buNone/>
            </a:pPr>
            <a:r>
              <a:rPr i="1" lang="en-US">
                <a:latin typeface="Courier"/>
                <a:ea typeface="Courier"/>
                <a:cs typeface="Courier"/>
                <a:sym typeface="Courier"/>
              </a:rPr>
              <a:t>x </a:t>
            </a:r>
            <a:r>
              <a:rPr lang="en-US">
                <a:latin typeface="Courier"/>
                <a:ea typeface="Courier"/>
                <a:cs typeface="Courier"/>
                <a:sym typeface="Courier"/>
              </a:rPr>
              <a:t>= [0.5,0.6,0.1]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p:txBody>
      </p:sp>
      <p:pic>
        <p:nvPicPr>
          <p:cNvPr id="146" name="Google Shape;146;p8"/>
          <p:cNvPicPr preferRelativeResize="0"/>
          <p:nvPr/>
        </p:nvPicPr>
        <p:blipFill rotWithShape="1">
          <a:blip r:embed="rId3">
            <a:alphaModFix/>
          </a:blip>
          <a:srcRect b="0" l="0" r="0" t="0"/>
          <a:stretch/>
        </p:blipFill>
        <p:spPr>
          <a:xfrm>
            <a:off x="389498" y="3444468"/>
            <a:ext cx="2667496" cy="9007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9"/>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An example</a:t>
            </a:r>
            <a:endParaRPr/>
          </a:p>
        </p:txBody>
      </p:sp>
      <p:sp>
        <p:nvSpPr>
          <p:cNvPr id="152" name="Google Shape;152;p9"/>
          <p:cNvSpPr txBox="1"/>
          <p:nvPr>
            <p:ph idx="1" type="body"/>
          </p:nvPr>
        </p:nvSpPr>
        <p:spPr>
          <a:xfrm>
            <a:off x="914401" y="798320"/>
            <a:ext cx="7543801" cy="3863535"/>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i="1" lang="en-US"/>
              <a:t>Suppose a unit has:</a:t>
            </a:r>
            <a:endParaRPr/>
          </a:p>
          <a:p>
            <a:pPr indent="0" lvl="0" marL="728645" rtl="0" algn="l">
              <a:lnSpc>
                <a:spcPct val="90000"/>
              </a:lnSpc>
              <a:spcBef>
                <a:spcPts val="1050"/>
              </a:spcBef>
              <a:spcAft>
                <a:spcPts val="0"/>
              </a:spcAft>
              <a:buSzPts val="2800"/>
              <a:buNone/>
            </a:pPr>
            <a:r>
              <a:rPr i="1" lang="en-US">
                <a:latin typeface="Courier"/>
                <a:ea typeface="Courier"/>
                <a:cs typeface="Courier"/>
                <a:sym typeface="Courier"/>
              </a:rPr>
              <a:t>w </a:t>
            </a:r>
            <a:r>
              <a:rPr lang="en-US">
                <a:latin typeface="Courier"/>
                <a:ea typeface="Courier"/>
                <a:cs typeface="Courier"/>
                <a:sym typeface="Courier"/>
              </a:rPr>
              <a:t>= [0.2,0.3,0.9] </a:t>
            </a:r>
            <a:endParaRPr/>
          </a:p>
          <a:p>
            <a:pPr indent="0" lvl="0" marL="728645" rtl="0" algn="l">
              <a:lnSpc>
                <a:spcPct val="90000"/>
              </a:lnSpc>
              <a:spcBef>
                <a:spcPts val="1050"/>
              </a:spcBef>
              <a:spcAft>
                <a:spcPts val="0"/>
              </a:spcAft>
              <a:buSzPts val="2800"/>
              <a:buNone/>
            </a:pPr>
            <a:r>
              <a:rPr i="1" lang="en-US">
                <a:latin typeface="Courier"/>
                <a:ea typeface="Courier"/>
                <a:cs typeface="Courier"/>
                <a:sym typeface="Courier"/>
              </a:rPr>
              <a:t>b </a:t>
            </a:r>
            <a:r>
              <a:rPr lang="en-US">
                <a:latin typeface="Courier"/>
                <a:ea typeface="Courier"/>
                <a:cs typeface="Courier"/>
                <a:sym typeface="Courier"/>
              </a:rPr>
              <a:t>= 0.5 </a:t>
            </a:r>
            <a:endParaRPr/>
          </a:p>
          <a:p>
            <a:pPr indent="-7938" lvl="0" marL="7938" rtl="0" algn="l">
              <a:lnSpc>
                <a:spcPct val="90000"/>
              </a:lnSpc>
              <a:spcBef>
                <a:spcPts val="1050"/>
              </a:spcBef>
              <a:spcAft>
                <a:spcPts val="0"/>
              </a:spcAft>
              <a:buSzPts val="2800"/>
              <a:buNone/>
            </a:pPr>
            <a:r>
              <a:rPr lang="en-US"/>
              <a:t>What happens with the following input x?</a:t>
            </a:r>
            <a:endParaRPr/>
          </a:p>
          <a:p>
            <a:pPr indent="-7938" lvl="0" marL="7938" rtl="0" algn="l">
              <a:lnSpc>
                <a:spcPct val="90000"/>
              </a:lnSpc>
              <a:spcBef>
                <a:spcPts val="1050"/>
              </a:spcBef>
              <a:spcAft>
                <a:spcPts val="0"/>
              </a:spcAft>
              <a:buSzPts val="2800"/>
              <a:buNone/>
            </a:pPr>
            <a:r>
              <a:rPr i="1" lang="en-US">
                <a:latin typeface="Courier"/>
                <a:ea typeface="Courier"/>
                <a:cs typeface="Courier"/>
                <a:sym typeface="Courier"/>
              </a:rPr>
              <a:t>		x </a:t>
            </a:r>
            <a:r>
              <a:rPr lang="en-US">
                <a:latin typeface="Courier"/>
                <a:ea typeface="Courier"/>
                <a:cs typeface="Courier"/>
                <a:sym typeface="Courier"/>
              </a:rPr>
              <a:t>= [0.5,0.6,0.1]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p:txBody>
      </p:sp>
      <p:pic>
        <p:nvPicPr>
          <p:cNvPr id="153" name="Google Shape;153;p9"/>
          <p:cNvPicPr preferRelativeResize="0"/>
          <p:nvPr/>
        </p:nvPicPr>
        <p:blipFill rotWithShape="1">
          <a:blip r:embed="rId3">
            <a:alphaModFix/>
          </a:blip>
          <a:srcRect b="0" l="0" r="0" t="0"/>
          <a:stretch/>
        </p:blipFill>
        <p:spPr>
          <a:xfrm>
            <a:off x="389498" y="3444468"/>
            <a:ext cx="2667496" cy="900713"/>
          </a:xfrm>
          <a:prstGeom prst="rect">
            <a:avLst/>
          </a:prstGeom>
          <a:noFill/>
          <a:ln>
            <a:noFill/>
          </a:ln>
        </p:spPr>
      </p:pic>
      <p:pic>
        <p:nvPicPr>
          <p:cNvPr id="154" name="Google Shape;154;p9"/>
          <p:cNvPicPr preferRelativeResize="0"/>
          <p:nvPr/>
        </p:nvPicPr>
        <p:blipFill rotWithShape="1">
          <a:blip r:embed="rId4">
            <a:alphaModFix/>
          </a:blip>
          <a:srcRect b="0" l="0" r="0" t="0"/>
          <a:stretch/>
        </p:blipFill>
        <p:spPr>
          <a:xfrm>
            <a:off x="3204637" y="3479110"/>
            <a:ext cx="2182496" cy="83142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0"/>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An example</a:t>
            </a:r>
            <a:endParaRPr/>
          </a:p>
        </p:txBody>
      </p:sp>
      <p:sp>
        <p:nvSpPr>
          <p:cNvPr id="160" name="Google Shape;160;p10"/>
          <p:cNvSpPr txBox="1"/>
          <p:nvPr>
            <p:ph idx="1" type="body"/>
          </p:nvPr>
        </p:nvSpPr>
        <p:spPr>
          <a:xfrm>
            <a:off x="914401" y="971552"/>
            <a:ext cx="7543801" cy="3690305"/>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i="1" lang="en-US"/>
              <a:t>Suppose a unit has:</a:t>
            </a:r>
            <a:endParaRPr/>
          </a:p>
          <a:p>
            <a:pPr indent="681021" lvl="0" marL="7144" rtl="0" algn="l">
              <a:lnSpc>
                <a:spcPct val="90000"/>
              </a:lnSpc>
              <a:spcBef>
                <a:spcPts val="1050"/>
              </a:spcBef>
              <a:spcAft>
                <a:spcPts val="0"/>
              </a:spcAft>
              <a:buSzPts val="2800"/>
              <a:buNone/>
            </a:pPr>
            <a:r>
              <a:rPr i="1" lang="en-US">
                <a:latin typeface="Courier"/>
                <a:ea typeface="Courier"/>
                <a:cs typeface="Courier"/>
                <a:sym typeface="Courier"/>
              </a:rPr>
              <a:t>w </a:t>
            </a:r>
            <a:r>
              <a:rPr lang="en-US">
                <a:latin typeface="Courier"/>
                <a:ea typeface="Courier"/>
                <a:cs typeface="Courier"/>
                <a:sym typeface="Courier"/>
              </a:rPr>
              <a:t>= [0.2,0.3,0.9] </a:t>
            </a:r>
            <a:endParaRPr/>
          </a:p>
          <a:p>
            <a:pPr indent="681021" lvl="0" marL="7144" rtl="0" algn="l">
              <a:lnSpc>
                <a:spcPct val="90000"/>
              </a:lnSpc>
              <a:spcBef>
                <a:spcPts val="1050"/>
              </a:spcBef>
              <a:spcAft>
                <a:spcPts val="0"/>
              </a:spcAft>
              <a:buSzPts val="2800"/>
              <a:buNone/>
            </a:pPr>
            <a:r>
              <a:rPr i="1" lang="en-US">
                <a:latin typeface="Courier"/>
                <a:ea typeface="Courier"/>
                <a:cs typeface="Courier"/>
                <a:sym typeface="Courier"/>
              </a:rPr>
              <a:t>b </a:t>
            </a:r>
            <a:r>
              <a:rPr lang="en-US">
                <a:latin typeface="Courier"/>
                <a:ea typeface="Courier"/>
                <a:cs typeface="Courier"/>
                <a:sym typeface="Courier"/>
              </a:rPr>
              <a:t>= 0.5 </a:t>
            </a:r>
            <a:endParaRPr/>
          </a:p>
          <a:p>
            <a:pPr indent="-7938" lvl="0" marL="7938" rtl="0" algn="l">
              <a:lnSpc>
                <a:spcPct val="90000"/>
              </a:lnSpc>
              <a:spcBef>
                <a:spcPts val="1050"/>
              </a:spcBef>
              <a:spcAft>
                <a:spcPts val="0"/>
              </a:spcAft>
              <a:buSzPts val="2800"/>
              <a:buNone/>
            </a:pPr>
            <a:r>
              <a:rPr lang="en-US"/>
              <a:t>What happens with input x:</a:t>
            </a:r>
            <a:endParaRPr/>
          </a:p>
          <a:p>
            <a:pPr indent="681021" lvl="0" marL="7144" rtl="0" algn="l">
              <a:lnSpc>
                <a:spcPct val="90000"/>
              </a:lnSpc>
              <a:spcBef>
                <a:spcPts val="1050"/>
              </a:spcBef>
              <a:spcAft>
                <a:spcPts val="0"/>
              </a:spcAft>
              <a:buSzPts val="2800"/>
              <a:buNone/>
            </a:pPr>
            <a:r>
              <a:rPr i="1" lang="en-US">
                <a:latin typeface="Courier"/>
                <a:ea typeface="Courier"/>
                <a:cs typeface="Courier"/>
                <a:sym typeface="Courier"/>
              </a:rPr>
              <a:t>x </a:t>
            </a:r>
            <a:r>
              <a:rPr lang="en-US">
                <a:latin typeface="Courier"/>
                <a:ea typeface="Courier"/>
                <a:cs typeface="Courier"/>
                <a:sym typeface="Courier"/>
              </a:rPr>
              <a:t>= [0.5,0.6,0.1]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p:txBody>
      </p:sp>
      <p:pic>
        <p:nvPicPr>
          <p:cNvPr id="161" name="Google Shape;161;p10"/>
          <p:cNvPicPr preferRelativeResize="0"/>
          <p:nvPr/>
        </p:nvPicPr>
        <p:blipFill rotWithShape="1">
          <a:blip r:embed="rId3">
            <a:alphaModFix/>
          </a:blip>
          <a:srcRect b="0" l="0" r="0" t="0"/>
          <a:stretch/>
        </p:blipFill>
        <p:spPr>
          <a:xfrm>
            <a:off x="389498" y="3444468"/>
            <a:ext cx="2667496" cy="900713"/>
          </a:xfrm>
          <a:prstGeom prst="rect">
            <a:avLst/>
          </a:prstGeom>
          <a:noFill/>
          <a:ln>
            <a:noFill/>
          </a:ln>
        </p:spPr>
      </p:pic>
      <p:pic>
        <p:nvPicPr>
          <p:cNvPr id="162" name="Google Shape;162;p10"/>
          <p:cNvPicPr preferRelativeResize="0"/>
          <p:nvPr/>
        </p:nvPicPr>
        <p:blipFill rotWithShape="1">
          <a:blip r:embed="rId4">
            <a:alphaModFix/>
          </a:blip>
          <a:srcRect b="0" l="0" r="0" t="0"/>
          <a:stretch/>
        </p:blipFill>
        <p:spPr>
          <a:xfrm>
            <a:off x="3204637" y="3479110"/>
            <a:ext cx="2182496" cy="831428"/>
          </a:xfrm>
          <a:prstGeom prst="rect">
            <a:avLst/>
          </a:prstGeom>
          <a:noFill/>
          <a:ln>
            <a:noFill/>
          </a:ln>
        </p:spPr>
      </p:pic>
      <p:pic>
        <p:nvPicPr>
          <p:cNvPr id="163" name="Google Shape;163;p10"/>
          <p:cNvPicPr preferRelativeResize="0"/>
          <p:nvPr/>
        </p:nvPicPr>
        <p:blipFill rotWithShape="1">
          <a:blip r:embed="rId5">
            <a:alphaModFix/>
          </a:blip>
          <a:srcRect b="0" l="0" r="0" t="0"/>
          <a:stretch/>
        </p:blipFill>
        <p:spPr>
          <a:xfrm>
            <a:off x="1177897" y="4225769"/>
            <a:ext cx="3464280" cy="8277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1"/>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An example</a:t>
            </a:r>
            <a:endParaRPr/>
          </a:p>
        </p:txBody>
      </p:sp>
      <p:sp>
        <p:nvSpPr>
          <p:cNvPr id="169" name="Google Shape;169;p11"/>
          <p:cNvSpPr txBox="1"/>
          <p:nvPr>
            <p:ph idx="1" type="body"/>
          </p:nvPr>
        </p:nvSpPr>
        <p:spPr>
          <a:xfrm>
            <a:off x="914401" y="832964"/>
            <a:ext cx="7543801" cy="3828893"/>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i="1" lang="en-US"/>
              <a:t>Suppose a unit has:</a:t>
            </a:r>
            <a:endParaRPr/>
          </a:p>
          <a:p>
            <a:pPr indent="681021" lvl="0" marL="7144" rtl="0" algn="l">
              <a:lnSpc>
                <a:spcPct val="90000"/>
              </a:lnSpc>
              <a:spcBef>
                <a:spcPts val="1050"/>
              </a:spcBef>
              <a:spcAft>
                <a:spcPts val="0"/>
              </a:spcAft>
              <a:buSzPts val="2800"/>
              <a:buNone/>
            </a:pPr>
            <a:r>
              <a:rPr i="1" lang="en-US">
                <a:latin typeface="Courier"/>
                <a:ea typeface="Courier"/>
                <a:cs typeface="Courier"/>
                <a:sym typeface="Courier"/>
              </a:rPr>
              <a:t>w </a:t>
            </a:r>
            <a:r>
              <a:rPr lang="en-US">
                <a:latin typeface="Courier"/>
                <a:ea typeface="Courier"/>
                <a:cs typeface="Courier"/>
                <a:sym typeface="Courier"/>
              </a:rPr>
              <a:t>= [0.2,0.3,0.9] </a:t>
            </a:r>
            <a:endParaRPr/>
          </a:p>
          <a:p>
            <a:pPr indent="681021" lvl="0" marL="7144" rtl="0" algn="l">
              <a:lnSpc>
                <a:spcPct val="90000"/>
              </a:lnSpc>
              <a:spcBef>
                <a:spcPts val="1050"/>
              </a:spcBef>
              <a:spcAft>
                <a:spcPts val="0"/>
              </a:spcAft>
              <a:buSzPts val="2800"/>
              <a:buNone/>
            </a:pPr>
            <a:r>
              <a:rPr i="1" lang="en-US">
                <a:latin typeface="Courier"/>
                <a:ea typeface="Courier"/>
                <a:cs typeface="Courier"/>
                <a:sym typeface="Courier"/>
              </a:rPr>
              <a:t>b </a:t>
            </a:r>
            <a:r>
              <a:rPr lang="en-US">
                <a:latin typeface="Courier"/>
                <a:ea typeface="Courier"/>
                <a:cs typeface="Courier"/>
                <a:sym typeface="Courier"/>
              </a:rPr>
              <a:t>= 0.5 </a:t>
            </a:r>
            <a:endParaRPr/>
          </a:p>
          <a:p>
            <a:pPr indent="-7938" lvl="0" marL="7938" rtl="0" algn="l">
              <a:lnSpc>
                <a:spcPct val="90000"/>
              </a:lnSpc>
              <a:spcBef>
                <a:spcPts val="1050"/>
              </a:spcBef>
              <a:spcAft>
                <a:spcPts val="0"/>
              </a:spcAft>
              <a:buSzPts val="2800"/>
              <a:buNone/>
            </a:pPr>
            <a:r>
              <a:rPr lang="en-US"/>
              <a:t>What happens with input x:</a:t>
            </a:r>
            <a:endParaRPr/>
          </a:p>
          <a:p>
            <a:pPr indent="681021" lvl="0" marL="7144" rtl="0" algn="l">
              <a:lnSpc>
                <a:spcPct val="90000"/>
              </a:lnSpc>
              <a:spcBef>
                <a:spcPts val="1050"/>
              </a:spcBef>
              <a:spcAft>
                <a:spcPts val="0"/>
              </a:spcAft>
              <a:buSzPts val="2800"/>
              <a:buNone/>
            </a:pPr>
            <a:r>
              <a:rPr i="1" lang="en-US">
                <a:latin typeface="Courier"/>
                <a:ea typeface="Courier"/>
                <a:cs typeface="Courier"/>
                <a:sym typeface="Courier"/>
              </a:rPr>
              <a:t>x </a:t>
            </a:r>
            <a:r>
              <a:rPr lang="en-US">
                <a:latin typeface="Courier"/>
                <a:ea typeface="Courier"/>
                <a:cs typeface="Courier"/>
                <a:sym typeface="Courier"/>
              </a:rPr>
              <a:t>= [0.5,0.6,0.1]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p:txBody>
      </p:sp>
      <p:pic>
        <p:nvPicPr>
          <p:cNvPr id="170" name="Google Shape;170;p11"/>
          <p:cNvPicPr preferRelativeResize="0"/>
          <p:nvPr/>
        </p:nvPicPr>
        <p:blipFill rotWithShape="1">
          <a:blip r:embed="rId3">
            <a:alphaModFix/>
          </a:blip>
          <a:srcRect b="0" l="0" r="0" t="0"/>
          <a:stretch/>
        </p:blipFill>
        <p:spPr>
          <a:xfrm>
            <a:off x="389498" y="3444468"/>
            <a:ext cx="2667496" cy="900713"/>
          </a:xfrm>
          <a:prstGeom prst="rect">
            <a:avLst/>
          </a:prstGeom>
          <a:noFill/>
          <a:ln>
            <a:noFill/>
          </a:ln>
        </p:spPr>
      </p:pic>
      <p:pic>
        <p:nvPicPr>
          <p:cNvPr id="171" name="Google Shape;171;p11"/>
          <p:cNvPicPr preferRelativeResize="0"/>
          <p:nvPr/>
        </p:nvPicPr>
        <p:blipFill rotWithShape="1">
          <a:blip r:embed="rId4">
            <a:alphaModFix/>
          </a:blip>
          <a:srcRect b="0" l="0" r="0" t="0"/>
          <a:stretch/>
        </p:blipFill>
        <p:spPr>
          <a:xfrm>
            <a:off x="3204637" y="3479110"/>
            <a:ext cx="2182496" cy="831428"/>
          </a:xfrm>
          <a:prstGeom prst="rect">
            <a:avLst/>
          </a:prstGeom>
          <a:noFill/>
          <a:ln>
            <a:noFill/>
          </a:ln>
        </p:spPr>
      </p:pic>
      <p:pic>
        <p:nvPicPr>
          <p:cNvPr id="172" name="Google Shape;172;p11"/>
          <p:cNvPicPr preferRelativeResize="0"/>
          <p:nvPr/>
        </p:nvPicPr>
        <p:blipFill rotWithShape="1">
          <a:blip r:embed="rId5">
            <a:alphaModFix/>
          </a:blip>
          <a:srcRect b="0" l="0" r="0" t="0"/>
          <a:stretch/>
        </p:blipFill>
        <p:spPr>
          <a:xfrm>
            <a:off x="1164870" y="4244627"/>
            <a:ext cx="3464280" cy="827748"/>
          </a:xfrm>
          <a:prstGeom prst="rect">
            <a:avLst/>
          </a:prstGeom>
          <a:noFill/>
          <a:ln>
            <a:noFill/>
          </a:ln>
        </p:spPr>
      </p:pic>
      <p:pic>
        <p:nvPicPr>
          <p:cNvPr id="173" name="Google Shape;173;p11"/>
          <p:cNvPicPr preferRelativeResize="0"/>
          <p:nvPr/>
        </p:nvPicPr>
        <p:blipFill rotWithShape="1">
          <a:blip r:embed="rId6">
            <a:alphaModFix/>
          </a:blip>
          <a:srcRect b="0" l="0" r="0" t="0"/>
          <a:stretch/>
        </p:blipFill>
        <p:spPr>
          <a:xfrm>
            <a:off x="5201860" y="4138861"/>
            <a:ext cx="1420355" cy="1004641"/>
          </a:xfrm>
          <a:prstGeom prst="rect">
            <a:avLst/>
          </a:prstGeom>
          <a:noFill/>
          <a:ln>
            <a:noFill/>
          </a:ln>
        </p:spPr>
      </p:pic>
      <p:pic>
        <p:nvPicPr>
          <p:cNvPr id="174" name="Google Shape;174;p11"/>
          <p:cNvPicPr preferRelativeResize="0"/>
          <p:nvPr/>
        </p:nvPicPr>
        <p:blipFill rotWithShape="1">
          <a:blip r:embed="rId7">
            <a:alphaModFix/>
          </a:blip>
          <a:srcRect b="0" l="0" r="0" t="0"/>
          <a:stretch/>
        </p:blipFill>
        <p:spPr>
          <a:xfrm>
            <a:off x="6972300" y="4356072"/>
            <a:ext cx="866070" cy="58892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2"/>
          <p:cNvSpPr txBox="1"/>
          <p:nvPr>
            <p:ph type="title"/>
          </p:nvPr>
        </p:nvSpPr>
        <p:spPr>
          <a:xfrm>
            <a:off x="822960" y="119702"/>
            <a:ext cx="7978140" cy="68039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b="0" lang="en-US"/>
              <a:t>Non-Linear </a:t>
            </a:r>
            <a:r>
              <a:rPr lang="en-US"/>
              <a:t>Activation </a:t>
            </a:r>
            <a:r>
              <a:rPr b="0" lang="en-US"/>
              <a:t>Functions besides sigmoid</a:t>
            </a:r>
            <a:endParaRPr/>
          </a:p>
        </p:txBody>
      </p:sp>
      <p:sp>
        <p:nvSpPr>
          <p:cNvPr id="181" name="Google Shape;181;p12"/>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2" name="Google Shape;182;p12"/>
          <p:cNvPicPr preferRelativeResize="0"/>
          <p:nvPr/>
        </p:nvPicPr>
        <p:blipFill rotWithShape="1">
          <a:blip r:embed="rId3">
            <a:alphaModFix/>
          </a:blip>
          <a:srcRect b="0" l="0" r="0" t="0"/>
          <a:stretch/>
        </p:blipFill>
        <p:spPr>
          <a:xfrm>
            <a:off x="333965" y="1200151"/>
            <a:ext cx="4355128" cy="2903419"/>
          </a:xfrm>
          <a:prstGeom prst="rect">
            <a:avLst/>
          </a:prstGeom>
          <a:noFill/>
          <a:ln>
            <a:noFill/>
          </a:ln>
        </p:spPr>
      </p:pic>
      <p:sp>
        <p:nvSpPr>
          <p:cNvPr id="183" name="Google Shape;183;p12"/>
          <p:cNvSpPr txBox="1"/>
          <p:nvPr/>
        </p:nvSpPr>
        <p:spPr>
          <a:xfrm>
            <a:off x="1905001" y="4248150"/>
            <a:ext cx="931537" cy="5770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150">
                <a:solidFill>
                  <a:srgbClr val="981535"/>
                </a:solidFill>
                <a:latin typeface="Calibri"/>
                <a:ea typeface="Calibri"/>
                <a:cs typeface="Calibri"/>
                <a:sym typeface="Calibri"/>
              </a:rPr>
              <a:t>tanh</a:t>
            </a:r>
            <a:endParaRPr/>
          </a:p>
        </p:txBody>
      </p:sp>
      <p:sp>
        <p:nvSpPr>
          <p:cNvPr id="184" name="Google Shape;184;p12"/>
          <p:cNvSpPr txBox="1"/>
          <p:nvPr/>
        </p:nvSpPr>
        <p:spPr>
          <a:xfrm>
            <a:off x="5245762" y="4114801"/>
            <a:ext cx="3516605" cy="10618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150">
                <a:solidFill>
                  <a:srgbClr val="981535"/>
                </a:solidFill>
                <a:latin typeface="Calibri"/>
                <a:ea typeface="Calibri"/>
                <a:cs typeface="Calibri"/>
                <a:sym typeface="Calibri"/>
              </a:rPr>
              <a:t>ReLU</a:t>
            </a:r>
            <a:endParaRPr sz="3150">
              <a:solidFill>
                <a:srgbClr val="981535"/>
              </a:solidFill>
              <a:latin typeface="Calibri"/>
              <a:ea typeface="Calibri"/>
              <a:cs typeface="Calibri"/>
              <a:sym typeface="Calibri"/>
            </a:endParaRPr>
          </a:p>
          <a:p>
            <a:pPr indent="0" lvl="0" marL="0" marR="0" rtl="0" algn="ctr">
              <a:spcBef>
                <a:spcPts val="0"/>
              </a:spcBef>
              <a:spcAft>
                <a:spcPts val="0"/>
              </a:spcAft>
              <a:buNone/>
            </a:pPr>
            <a:r>
              <a:rPr lang="en-US" sz="3150">
                <a:solidFill>
                  <a:srgbClr val="981535"/>
                </a:solidFill>
                <a:latin typeface="Calibri"/>
                <a:ea typeface="Calibri"/>
                <a:cs typeface="Calibri"/>
                <a:sym typeface="Calibri"/>
              </a:rPr>
              <a:t>Rectified Linear Unit</a:t>
            </a:r>
            <a:endParaRPr/>
          </a:p>
        </p:txBody>
      </p:sp>
      <p:pic>
        <p:nvPicPr>
          <p:cNvPr id="185" name="Google Shape;185;p12"/>
          <p:cNvPicPr preferRelativeResize="0"/>
          <p:nvPr/>
        </p:nvPicPr>
        <p:blipFill rotWithShape="1">
          <a:blip r:embed="rId4">
            <a:alphaModFix/>
          </a:blip>
          <a:srcRect b="0" l="0" r="0" t="0"/>
          <a:stretch/>
        </p:blipFill>
        <p:spPr>
          <a:xfrm>
            <a:off x="914400" y="1543050"/>
            <a:ext cx="1629834" cy="800100"/>
          </a:xfrm>
          <a:prstGeom prst="rect">
            <a:avLst/>
          </a:prstGeom>
          <a:noFill/>
          <a:ln>
            <a:noFill/>
          </a:ln>
        </p:spPr>
      </p:pic>
      <p:pic>
        <p:nvPicPr>
          <p:cNvPr id="186" name="Google Shape;186;p12"/>
          <p:cNvPicPr preferRelativeResize="0"/>
          <p:nvPr/>
        </p:nvPicPr>
        <p:blipFill rotWithShape="1">
          <a:blip r:embed="rId5">
            <a:alphaModFix/>
          </a:blip>
          <a:srcRect b="0" l="0" r="0" t="0"/>
          <a:stretch/>
        </p:blipFill>
        <p:spPr>
          <a:xfrm>
            <a:off x="4743450" y="1173626"/>
            <a:ext cx="4457700" cy="2971800"/>
          </a:xfrm>
          <a:prstGeom prst="rect">
            <a:avLst/>
          </a:prstGeom>
          <a:noFill/>
          <a:ln>
            <a:noFill/>
          </a:ln>
        </p:spPr>
      </p:pic>
      <p:pic>
        <p:nvPicPr>
          <p:cNvPr id="187" name="Google Shape;187;p12"/>
          <p:cNvPicPr preferRelativeResize="0"/>
          <p:nvPr/>
        </p:nvPicPr>
        <p:blipFill rotWithShape="1">
          <a:blip r:embed="rId6">
            <a:alphaModFix/>
          </a:blip>
          <a:srcRect b="0" l="0" r="0" t="0"/>
          <a:stretch/>
        </p:blipFill>
        <p:spPr>
          <a:xfrm>
            <a:off x="5397314" y="1637449"/>
            <a:ext cx="1975037" cy="485096"/>
          </a:xfrm>
          <a:prstGeom prst="rect">
            <a:avLst/>
          </a:prstGeom>
          <a:noFill/>
          <a:ln>
            <a:noFill/>
          </a:ln>
        </p:spPr>
      </p:pic>
      <p:sp>
        <p:nvSpPr>
          <p:cNvPr id="188" name="Google Shape;188;p12"/>
          <p:cNvSpPr txBox="1"/>
          <p:nvPr/>
        </p:nvSpPr>
        <p:spPr>
          <a:xfrm>
            <a:off x="6053971" y="977419"/>
            <a:ext cx="21192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Most Common: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3"/>
          <p:cNvSpPr txBox="1"/>
          <p:nvPr>
            <p:ph type="title"/>
          </p:nvPr>
        </p:nvSpPr>
        <p:spPr>
          <a:xfrm>
            <a:off x="342900" y="445769"/>
            <a:ext cx="2400300" cy="1714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chemeClr val="lt1"/>
              </a:buClr>
              <a:buSzPct val="100000"/>
              <a:buFont typeface="Calibri"/>
              <a:buNone/>
            </a:pPr>
            <a:r>
              <a:rPr lang="en-US" sz="3000">
                <a:solidFill>
                  <a:schemeClr val="lt1"/>
                </a:solidFill>
              </a:rPr>
              <a:t>Simple Neural Networks and Neural Language Models</a:t>
            </a:r>
            <a:endParaRPr sz="3000">
              <a:solidFill>
                <a:schemeClr val="lt1"/>
              </a:solidFill>
            </a:endParaRPr>
          </a:p>
        </p:txBody>
      </p:sp>
      <p:sp>
        <p:nvSpPr>
          <p:cNvPr id="195" name="Google Shape;195;p13"/>
          <p:cNvSpPr txBox="1"/>
          <p:nvPr>
            <p:ph idx="1" type="body"/>
          </p:nvPr>
        </p:nvSpPr>
        <p:spPr>
          <a:xfrm>
            <a:off x="3460240" y="548640"/>
            <a:ext cx="5009393" cy="3943350"/>
          </a:xfrm>
          <a:prstGeom prst="rect">
            <a:avLst/>
          </a:prstGeom>
          <a:noFill/>
          <a:ln>
            <a:noFill/>
          </a:ln>
        </p:spPr>
        <p:txBody>
          <a:bodyPr anchorCtr="0" anchor="t" bIns="45700" lIns="0" spcFirstLastPara="1" rIns="0" wrap="square" tIns="45700">
            <a:normAutofit/>
          </a:bodyPr>
          <a:lstStyle/>
          <a:p>
            <a:pPr indent="-190500" lvl="0" marL="68577" rtl="0" algn="l">
              <a:lnSpc>
                <a:spcPct val="90000"/>
              </a:lnSpc>
              <a:spcBef>
                <a:spcPts val="0"/>
              </a:spcBef>
              <a:spcAft>
                <a:spcPts val="0"/>
              </a:spcAft>
              <a:buSzPts val="3000"/>
              <a:buChar char=" "/>
            </a:pPr>
            <a:r>
              <a:rPr lang="en-US" sz="3000">
                <a:solidFill>
                  <a:schemeClr val="dk2"/>
                </a:solidFill>
              </a:rPr>
              <a:t>Units in Neural Networks</a:t>
            </a:r>
            <a:endParaRPr/>
          </a:p>
        </p:txBody>
      </p:sp>
      <p:sp>
        <p:nvSpPr>
          <p:cNvPr id="196" name="Google Shape;196;p13"/>
          <p:cNvSpPr txBox="1"/>
          <p:nvPr>
            <p:ph idx="2" type="body"/>
          </p:nvPr>
        </p:nvSpPr>
        <p:spPr>
          <a:xfrm>
            <a:off x="342900" y="2194562"/>
            <a:ext cx="2400300" cy="25343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125"/>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4"/>
          <p:cNvSpPr txBox="1"/>
          <p:nvPr>
            <p:ph type="title"/>
          </p:nvPr>
        </p:nvSpPr>
        <p:spPr>
          <a:xfrm>
            <a:off x="342900" y="445769"/>
            <a:ext cx="2400300" cy="1714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chemeClr val="lt1"/>
              </a:buClr>
              <a:buSzPct val="100000"/>
              <a:buFont typeface="Calibri"/>
              <a:buNone/>
            </a:pPr>
            <a:r>
              <a:rPr lang="en-US" sz="3000">
                <a:solidFill>
                  <a:schemeClr val="lt1"/>
                </a:solidFill>
              </a:rPr>
              <a:t>Simple Neural Networks and Neural Language Models</a:t>
            </a:r>
            <a:endParaRPr sz="3000">
              <a:solidFill>
                <a:schemeClr val="lt1"/>
              </a:solidFill>
            </a:endParaRPr>
          </a:p>
        </p:txBody>
      </p:sp>
      <p:sp>
        <p:nvSpPr>
          <p:cNvPr id="203" name="Google Shape;203;p14"/>
          <p:cNvSpPr txBox="1"/>
          <p:nvPr>
            <p:ph idx="1" type="body"/>
          </p:nvPr>
        </p:nvSpPr>
        <p:spPr>
          <a:xfrm>
            <a:off x="3460240" y="548640"/>
            <a:ext cx="5009393" cy="3943350"/>
          </a:xfrm>
          <a:prstGeom prst="rect">
            <a:avLst/>
          </a:prstGeom>
          <a:noFill/>
          <a:ln>
            <a:noFill/>
          </a:ln>
        </p:spPr>
        <p:txBody>
          <a:bodyPr anchorCtr="0" anchor="t" bIns="45700" lIns="0" spcFirstLastPara="1" rIns="0" wrap="square" tIns="45700">
            <a:normAutofit/>
          </a:bodyPr>
          <a:lstStyle/>
          <a:p>
            <a:pPr indent="-190500" lvl="0" marL="68577" rtl="0" algn="l">
              <a:lnSpc>
                <a:spcPct val="90000"/>
              </a:lnSpc>
              <a:spcBef>
                <a:spcPts val="0"/>
              </a:spcBef>
              <a:spcAft>
                <a:spcPts val="0"/>
              </a:spcAft>
              <a:buSzPts val="3000"/>
              <a:buChar char=" "/>
            </a:pPr>
            <a:r>
              <a:rPr lang="en-US" sz="3000">
                <a:solidFill>
                  <a:schemeClr val="dk2"/>
                </a:solidFill>
              </a:rPr>
              <a:t>The XOR problem</a:t>
            </a:r>
            <a:endParaRPr/>
          </a:p>
        </p:txBody>
      </p:sp>
      <p:sp>
        <p:nvSpPr>
          <p:cNvPr id="204" name="Google Shape;204;p14"/>
          <p:cNvSpPr txBox="1"/>
          <p:nvPr>
            <p:ph idx="2" type="body"/>
          </p:nvPr>
        </p:nvSpPr>
        <p:spPr>
          <a:xfrm>
            <a:off x="342900" y="2194562"/>
            <a:ext cx="2400300" cy="25343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125"/>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5"/>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The XOR problem</a:t>
            </a:r>
            <a:endParaRPr/>
          </a:p>
        </p:txBody>
      </p:sp>
      <p:sp>
        <p:nvSpPr>
          <p:cNvPr id="211" name="Google Shape;211;p15"/>
          <p:cNvSpPr txBox="1"/>
          <p:nvPr>
            <p:ph idx="1" type="body"/>
          </p:nvPr>
        </p:nvSpPr>
        <p:spPr>
          <a:xfrm>
            <a:off x="822962" y="1200150"/>
            <a:ext cx="7920989" cy="34290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Can neural units compute simple functions of input?</a:t>
            </a:r>
            <a:endParaRPr/>
          </a:p>
        </p:txBody>
      </p:sp>
      <p:sp>
        <p:nvSpPr>
          <p:cNvPr id="212" name="Google Shape;212;p15"/>
          <p:cNvSpPr txBox="1"/>
          <p:nvPr/>
        </p:nvSpPr>
        <p:spPr>
          <a:xfrm>
            <a:off x="4857750" y="723126"/>
            <a:ext cx="1545616" cy="2482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13">
                <a:solidFill>
                  <a:schemeClr val="dk1"/>
                </a:solidFill>
                <a:latin typeface="Calibri"/>
                <a:ea typeface="Calibri"/>
                <a:cs typeface="Calibri"/>
                <a:sym typeface="Calibri"/>
              </a:rPr>
              <a:t>Minsky and Papert (1969)</a:t>
            </a:r>
            <a:endParaRPr/>
          </a:p>
        </p:txBody>
      </p:sp>
      <p:pic>
        <p:nvPicPr>
          <p:cNvPr id="213" name="Google Shape;213;p15"/>
          <p:cNvPicPr preferRelativeResize="0"/>
          <p:nvPr/>
        </p:nvPicPr>
        <p:blipFill rotWithShape="1">
          <a:blip r:embed="rId3">
            <a:alphaModFix/>
          </a:blip>
          <a:srcRect b="0" l="0" r="0" t="0"/>
          <a:stretch/>
        </p:blipFill>
        <p:spPr>
          <a:xfrm>
            <a:off x="1796627" y="2114551"/>
            <a:ext cx="5000038" cy="2062163"/>
          </a:xfrm>
          <a:prstGeom prst="rect">
            <a:avLst/>
          </a:prstGeom>
          <a:noFill/>
          <a:ln>
            <a:noFill/>
          </a:ln>
        </p:spPr>
      </p:pic>
      <p:graphicFrame>
        <p:nvGraphicFramePr>
          <p:cNvPr id="214" name="Google Shape;214;p15"/>
          <p:cNvGraphicFramePr/>
          <p:nvPr/>
        </p:nvGraphicFramePr>
        <p:xfrm>
          <a:off x="251000" y="2401650"/>
          <a:ext cx="3000000" cy="3000000"/>
        </p:xfrm>
        <a:graphic>
          <a:graphicData uri="http://schemas.openxmlformats.org/drawingml/2006/table">
            <a:tbl>
              <a:tblPr>
                <a:noFill/>
                <a:tableStyleId>{7AF1D0D0-C102-47CD-AD03-D1244FFE746E}</a:tableStyleId>
              </a:tblPr>
              <a:tblGrid>
                <a:gridCol w="522950"/>
                <a:gridCol w="522950"/>
                <a:gridCol w="499725"/>
              </a:tblGrid>
              <a:tr h="355025">
                <a:tc>
                  <a:txBody>
                    <a:bodyPr/>
                    <a:lstStyle/>
                    <a:p>
                      <a:pPr indent="0" lvl="0" marL="0" rtl="0" algn="l">
                        <a:lnSpc>
                          <a:spcPct val="115000"/>
                        </a:lnSpc>
                        <a:spcBef>
                          <a:spcPts val="0"/>
                        </a:spcBef>
                        <a:spcAft>
                          <a:spcPts val="0"/>
                        </a:spcAft>
                        <a:buNone/>
                      </a:pPr>
                      <a:r>
                        <a:rPr b="1" lang="en-US" sz="1800">
                          <a:solidFill>
                            <a:srgbClr val="FFFFFF"/>
                          </a:solidFill>
                        </a:rPr>
                        <a:t>X1</a:t>
                      </a:r>
                      <a:endParaRPr b="1" sz="1800">
                        <a:solidFill>
                          <a:srgbClr val="FFFFFF"/>
                        </a:solidFill>
                      </a:endParaRPr>
                    </a:p>
                  </a:txBody>
                  <a:tcPr marT="45725" marB="45725" marR="91450" marL="91450">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FFFFF"/>
                      </a:solidFill>
                      <a:prstDash val="solid"/>
                      <a:round/>
                      <a:headEnd len="sm" w="sm" type="none"/>
                      <a:tailEnd len="sm" w="sm" type="none"/>
                    </a:lnT>
                    <a:lnB cap="flat" cmpd="sng" w="34625">
                      <a:solidFill>
                        <a:srgbClr val="FFFFFF"/>
                      </a:solidFill>
                      <a:prstDash val="solid"/>
                      <a:round/>
                      <a:headEnd len="sm" w="sm" type="none"/>
                      <a:tailEnd len="sm" w="sm" type="none"/>
                    </a:lnB>
                    <a:solidFill>
                      <a:srgbClr val="156082"/>
                    </a:solidFill>
                  </a:tcPr>
                </a:tc>
                <a:tc>
                  <a:txBody>
                    <a:bodyPr/>
                    <a:lstStyle/>
                    <a:p>
                      <a:pPr indent="0" lvl="0" marL="0" rtl="0" algn="l">
                        <a:lnSpc>
                          <a:spcPct val="115000"/>
                        </a:lnSpc>
                        <a:spcBef>
                          <a:spcPts val="0"/>
                        </a:spcBef>
                        <a:spcAft>
                          <a:spcPts val="0"/>
                        </a:spcAft>
                        <a:buNone/>
                      </a:pPr>
                      <a:r>
                        <a:rPr b="1" lang="en-US" sz="1800">
                          <a:solidFill>
                            <a:srgbClr val="FFFFFF"/>
                          </a:solidFill>
                        </a:rPr>
                        <a:t>X2</a:t>
                      </a:r>
                      <a:endParaRPr b="1" sz="1800">
                        <a:solidFill>
                          <a:srgbClr val="FFFFFF"/>
                        </a:solidFill>
                      </a:endParaRPr>
                    </a:p>
                  </a:txBody>
                  <a:tcPr marT="45725" marB="45725" marR="91450" marL="91450">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FFFFF"/>
                      </a:solidFill>
                      <a:prstDash val="solid"/>
                      <a:round/>
                      <a:headEnd len="sm" w="sm" type="none"/>
                      <a:tailEnd len="sm" w="sm" type="none"/>
                    </a:lnT>
                    <a:lnB cap="flat" cmpd="sng" w="34625">
                      <a:solidFill>
                        <a:srgbClr val="FFFFFF"/>
                      </a:solidFill>
                      <a:prstDash val="solid"/>
                      <a:round/>
                      <a:headEnd len="sm" w="sm" type="none"/>
                      <a:tailEnd len="sm" w="sm" type="none"/>
                    </a:lnB>
                    <a:solidFill>
                      <a:srgbClr val="156082"/>
                    </a:solidFill>
                  </a:tcPr>
                </a:tc>
                <a:tc>
                  <a:txBody>
                    <a:bodyPr/>
                    <a:lstStyle/>
                    <a:p>
                      <a:pPr indent="0" lvl="0" marL="0" rtl="0" algn="l">
                        <a:lnSpc>
                          <a:spcPct val="115000"/>
                        </a:lnSpc>
                        <a:spcBef>
                          <a:spcPts val="0"/>
                        </a:spcBef>
                        <a:spcAft>
                          <a:spcPts val="0"/>
                        </a:spcAft>
                        <a:buNone/>
                      </a:pPr>
                      <a:r>
                        <a:rPr b="1" lang="en-US" sz="1800">
                          <a:solidFill>
                            <a:srgbClr val="FFFFFF"/>
                          </a:solidFill>
                        </a:rPr>
                        <a:t>Y</a:t>
                      </a:r>
                      <a:endParaRPr b="1" sz="1800">
                        <a:solidFill>
                          <a:srgbClr val="FFFFFF"/>
                        </a:solidFill>
                      </a:endParaRPr>
                    </a:p>
                  </a:txBody>
                  <a:tcPr marT="45725" marB="45725" marR="91450" marL="91450">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FFFFF"/>
                      </a:solidFill>
                      <a:prstDash val="solid"/>
                      <a:round/>
                      <a:headEnd len="sm" w="sm" type="none"/>
                      <a:tailEnd len="sm" w="sm" type="none"/>
                    </a:lnT>
                    <a:lnB cap="flat" cmpd="sng" w="34625">
                      <a:solidFill>
                        <a:srgbClr val="FFFFFF"/>
                      </a:solidFill>
                      <a:prstDash val="solid"/>
                      <a:round/>
                      <a:headEnd len="sm" w="sm" type="none"/>
                      <a:tailEnd len="sm" w="sm" type="none"/>
                    </a:lnB>
                    <a:solidFill>
                      <a:srgbClr val="156082"/>
                    </a:solidFill>
                  </a:tcPr>
                </a:tc>
              </a:tr>
              <a:tr h="355025">
                <a:tc>
                  <a:txBody>
                    <a:bodyPr/>
                    <a:lstStyle/>
                    <a:p>
                      <a:pPr indent="0" lvl="0" marL="0" rtl="0" algn="l">
                        <a:lnSpc>
                          <a:spcPct val="115000"/>
                        </a:lnSpc>
                        <a:spcBef>
                          <a:spcPts val="0"/>
                        </a:spcBef>
                        <a:spcAft>
                          <a:spcPts val="0"/>
                        </a:spcAft>
                        <a:buNone/>
                      </a:pPr>
                      <a:r>
                        <a:rPr lang="en-US" sz="1800"/>
                        <a:t>0</a:t>
                      </a:r>
                      <a:endParaRPr sz="1800"/>
                    </a:p>
                  </a:txBody>
                  <a:tcPr marT="45725" marB="45725" marR="91450" marL="91450">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34625">
                      <a:solidFill>
                        <a:srgbClr val="FFFFFF"/>
                      </a:solidFill>
                      <a:prstDash val="solid"/>
                      <a:round/>
                      <a:headEnd len="sm" w="sm" type="none"/>
                      <a:tailEnd len="sm" w="sm" type="none"/>
                    </a:lnT>
                    <a:lnB cap="flat" cmpd="sng" w="8650">
                      <a:solidFill>
                        <a:srgbClr val="FFFFFF"/>
                      </a:solidFill>
                      <a:prstDash val="solid"/>
                      <a:round/>
                      <a:headEnd len="sm" w="sm" type="none"/>
                      <a:tailEnd len="sm" w="sm" type="none"/>
                    </a:lnB>
                    <a:solidFill>
                      <a:srgbClr val="CCD2D8"/>
                    </a:solidFill>
                  </a:tcPr>
                </a:tc>
                <a:tc>
                  <a:txBody>
                    <a:bodyPr/>
                    <a:lstStyle/>
                    <a:p>
                      <a:pPr indent="0" lvl="0" marL="0" rtl="0" algn="l">
                        <a:lnSpc>
                          <a:spcPct val="115000"/>
                        </a:lnSpc>
                        <a:spcBef>
                          <a:spcPts val="0"/>
                        </a:spcBef>
                        <a:spcAft>
                          <a:spcPts val="0"/>
                        </a:spcAft>
                        <a:buNone/>
                      </a:pPr>
                      <a:r>
                        <a:rPr lang="en-US" sz="1800"/>
                        <a:t>0</a:t>
                      </a:r>
                      <a:endParaRPr sz="1800"/>
                    </a:p>
                  </a:txBody>
                  <a:tcPr marT="45725" marB="45725" marR="91450" marL="91450">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34625">
                      <a:solidFill>
                        <a:srgbClr val="FFFFFF"/>
                      </a:solidFill>
                      <a:prstDash val="solid"/>
                      <a:round/>
                      <a:headEnd len="sm" w="sm" type="none"/>
                      <a:tailEnd len="sm" w="sm" type="none"/>
                    </a:lnT>
                    <a:lnB cap="flat" cmpd="sng" w="8650">
                      <a:solidFill>
                        <a:srgbClr val="FFFFFF"/>
                      </a:solidFill>
                      <a:prstDash val="solid"/>
                      <a:round/>
                      <a:headEnd len="sm" w="sm" type="none"/>
                      <a:tailEnd len="sm" w="sm" type="none"/>
                    </a:lnB>
                    <a:solidFill>
                      <a:srgbClr val="CCD2D8"/>
                    </a:solidFill>
                  </a:tcPr>
                </a:tc>
                <a:tc>
                  <a:txBody>
                    <a:bodyPr/>
                    <a:lstStyle/>
                    <a:p>
                      <a:pPr indent="0" lvl="0" marL="0" rtl="0" algn="l">
                        <a:lnSpc>
                          <a:spcPct val="115000"/>
                        </a:lnSpc>
                        <a:spcBef>
                          <a:spcPts val="0"/>
                        </a:spcBef>
                        <a:spcAft>
                          <a:spcPts val="0"/>
                        </a:spcAft>
                        <a:buNone/>
                      </a:pPr>
                      <a:r>
                        <a:rPr lang="en-US" sz="1800"/>
                        <a:t>1</a:t>
                      </a:r>
                      <a:endParaRPr sz="1800"/>
                    </a:p>
                  </a:txBody>
                  <a:tcPr marT="45725" marB="45725" marR="91450" marL="91450">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34625">
                      <a:solidFill>
                        <a:srgbClr val="FFFFFF"/>
                      </a:solidFill>
                      <a:prstDash val="solid"/>
                      <a:round/>
                      <a:headEnd len="sm" w="sm" type="none"/>
                      <a:tailEnd len="sm" w="sm" type="none"/>
                    </a:lnT>
                    <a:lnB cap="flat" cmpd="sng" w="8650">
                      <a:solidFill>
                        <a:srgbClr val="FFFFFF"/>
                      </a:solidFill>
                      <a:prstDash val="solid"/>
                      <a:round/>
                      <a:headEnd len="sm" w="sm" type="none"/>
                      <a:tailEnd len="sm" w="sm" type="none"/>
                    </a:lnB>
                    <a:solidFill>
                      <a:srgbClr val="CCD2D8"/>
                    </a:solidFill>
                  </a:tcPr>
                </a:tc>
              </a:tr>
              <a:tr h="355025">
                <a:tc>
                  <a:txBody>
                    <a:bodyPr/>
                    <a:lstStyle/>
                    <a:p>
                      <a:pPr indent="0" lvl="0" marL="0" rtl="0" algn="l">
                        <a:lnSpc>
                          <a:spcPct val="115000"/>
                        </a:lnSpc>
                        <a:spcBef>
                          <a:spcPts val="0"/>
                        </a:spcBef>
                        <a:spcAft>
                          <a:spcPts val="0"/>
                        </a:spcAft>
                        <a:buNone/>
                      </a:pPr>
                      <a:r>
                        <a:rPr lang="en-US" sz="1800"/>
                        <a:t>0</a:t>
                      </a:r>
                      <a:endParaRPr sz="1800"/>
                    </a:p>
                  </a:txBody>
                  <a:tcPr marT="45725" marB="45725" marR="91450" marL="91450">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FFFFF"/>
                      </a:solidFill>
                      <a:prstDash val="solid"/>
                      <a:round/>
                      <a:headEnd len="sm" w="sm" type="none"/>
                      <a:tailEnd len="sm" w="sm" type="none"/>
                    </a:lnT>
                    <a:lnB cap="flat" cmpd="sng" w="8650">
                      <a:solidFill>
                        <a:srgbClr val="FFFFFF"/>
                      </a:solidFill>
                      <a:prstDash val="solid"/>
                      <a:round/>
                      <a:headEnd len="sm" w="sm" type="none"/>
                      <a:tailEnd len="sm" w="sm" type="none"/>
                    </a:lnB>
                    <a:solidFill>
                      <a:srgbClr val="E7EAED"/>
                    </a:solidFill>
                  </a:tcPr>
                </a:tc>
                <a:tc>
                  <a:txBody>
                    <a:bodyPr/>
                    <a:lstStyle/>
                    <a:p>
                      <a:pPr indent="0" lvl="0" marL="0" rtl="0" algn="l">
                        <a:lnSpc>
                          <a:spcPct val="115000"/>
                        </a:lnSpc>
                        <a:spcBef>
                          <a:spcPts val="0"/>
                        </a:spcBef>
                        <a:spcAft>
                          <a:spcPts val="0"/>
                        </a:spcAft>
                        <a:buNone/>
                      </a:pPr>
                      <a:r>
                        <a:rPr lang="en-US" sz="1800"/>
                        <a:t>1</a:t>
                      </a:r>
                      <a:endParaRPr sz="1800"/>
                    </a:p>
                  </a:txBody>
                  <a:tcPr marT="45725" marB="45725" marR="91450" marL="91450">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FFFFF"/>
                      </a:solidFill>
                      <a:prstDash val="solid"/>
                      <a:round/>
                      <a:headEnd len="sm" w="sm" type="none"/>
                      <a:tailEnd len="sm" w="sm" type="none"/>
                    </a:lnT>
                    <a:lnB cap="flat" cmpd="sng" w="8650">
                      <a:solidFill>
                        <a:srgbClr val="FFFFFF"/>
                      </a:solidFill>
                      <a:prstDash val="solid"/>
                      <a:round/>
                      <a:headEnd len="sm" w="sm" type="none"/>
                      <a:tailEnd len="sm" w="sm" type="none"/>
                    </a:lnB>
                    <a:solidFill>
                      <a:srgbClr val="E7EAED"/>
                    </a:solidFill>
                  </a:tcPr>
                </a:tc>
                <a:tc>
                  <a:txBody>
                    <a:bodyPr/>
                    <a:lstStyle/>
                    <a:p>
                      <a:pPr indent="0" lvl="0" marL="0" rtl="0" algn="l">
                        <a:lnSpc>
                          <a:spcPct val="115000"/>
                        </a:lnSpc>
                        <a:spcBef>
                          <a:spcPts val="0"/>
                        </a:spcBef>
                        <a:spcAft>
                          <a:spcPts val="0"/>
                        </a:spcAft>
                        <a:buNone/>
                      </a:pPr>
                      <a:r>
                        <a:rPr lang="en-US" sz="1800"/>
                        <a:t>1</a:t>
                      </a:r>
                      <a:endParaRPr sz="1800"/>
                    </a:p>
                  </a:txBody>
                  <a:tcPr marT="45725" marB="45725" marR="91450" marL="91450">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FFFFF"/>
                      </a:solidFill>
                      <a:prstDash val="solid"/>
                      <a:round/>
                      <a:headEnd len="sm" w="sm" type="none"/>
                      <a:tailEnd len="sm" w="sm" type="none"/>
                    </a:lnT>
                    <a:lnB cap="flat" cmpd="sng" w="8650">
                      <a:solidFill>
                        <a:srgbClr val="FFFFFF"/>
                      </a:solidFill>
                      <a:prstDash val="solid"/>
                      <a:round/>
                      <a:headEnd len="sm" w="sm" type="none"/>
                      <a:tailEnd len="sm" w="sm" type="none"/>
                    </a:lnB>
                    <a:solidFill>
                      <a:srgbClr val="E7EAED"/>
                    </a:solidFill>
                  </a:tcPr>
                </a:tc>
              </a:tr>
              <a:tr h="355025">
                <a:tc>
                  <a:txBody>
                    <a:bodyPr/>
                    <a:lstStyle/>
                    <a:p>
                      <a:pPr indent="0" lvl="0" marL="0" rtl="0" algn="l">
                        <a:lnSpc>
                          <a:spcPct val="115000"/>
                        </a:lnSpc>
                        <a:spcBef>
                          <a:spcPts val="0"/>
                        </a:spcBef>
                        <a:spcAft>
                          <a:spcPts val="0"/>
                        </a:spcAft>
                        <a:buNone/>
                      </a:pPr>
                      <a:r>
                        <a:rPr lang="en-US" sz="1800"/>
                        <a:t>1</a:t>
                      </a:r>
                      <a:endParaRPr sz="1800"/>
                    </a:p>
                  </a:txBody>
                  <a:tcPr marT="45725" marB="45725" marR="91450" marL="91450">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FFFFF"/>
                      </a:solidFill>
                      <a:prstDash val="solid"/>
                      <a:round/>
                      <a:headEnd len="sm" w="sm" type="none"/>
                      <a:tailEnd len="sm" w="sm" type="none"/>
                    </a:lnT>
                    <a:lnB cap="flat" cmpd="sng" w="8650">
                      <a:solidFill>
                        <a:srgbClr val="FFFFFF"/>
                      </a:solidFill>
                      <a:prstDash val="solid"/>
                      <a:round/>
                      <a:headEnd len="sm" w="sm" type="none"/>
                      <a:tailEnd len="sm" w="sm" type="none"/>
                    </a:lnB>
                    <a:solidFill>
                      <a:srgbClr val="CCD2D8"/>
                    </a:solidFill>
                  </a:tcPr>
                </a:tc>
                <a:tc>
                  <a:txBody>
                    <a:bodyPr/>
                    <a:lstStyle/>
                    <a:p>
                      <a:pPr indent="0" lvl="0" marL="0" rtl="0" algn="l">
                        <a:lnSpc>
                          <a:spcPct val="115000"/>
                        </a:lnSpc>
                        <a:spcBef>
                          <a:spcPts val="0"/>
                        </a:spcBef>
                        <a:spcAft>
                          <a:spcPts val="0"/>
                        </a:spcAft>
                        <a:buNone/>
                      </a:pPr>
                      <a:r>
                        <a:rPr lang="en-US" sz="1800"/>
                        <a:t>0</a:t>
                      </a:r>
                      <a:endParaRPr sz="1800"/>
                    </a:p>
                  </a:txBody>
                  <a:tcPr marT="45725" marB="45725" marR="91450" marL="91450">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FFFFF"/>
                      </a:solidFill>
                      <a:prstDash val="solid"/>
                      <a:round/>
                      <a:headEnd len="sm" w="sm" type="none"/>
                      <a:tailEnd len="sm" w="sm" type="none"/>
                    </a:lnT>
                    <a:lnB cap="flat" cmpd="sng" w="8650">
                      <a:solidFill>
                        <a:srgbClr val="FFFFFF"/>
                      </a:solidFill>
                      <a:prstDash val="solid"/>
                      <a:round/>
                      <a:headEnd len="sm" w="sm" type="none"/>
                      <a:tailEnd len="sm" w="sm" type="none"/>
                    </a:lnB>
                    <a:solidFill>
                      <a:srgbClr val="CCD2D8"/>
                    </a:solidFill>
                  </a:tcPr>
                </a:tc>
                <a:tc>
                  <a:txBody>
                    <a:bodyPr/>
                    <a:lstStyle/>
                    <a:p>
                      <a:pPr indent="0" lvl="0" marL="0" rtl="0" algn="l">
                        <a:lnSpc>
                          <a:spcPct val="115000"/>
                        </a:lnSpc>
                        <a:spcBef>
                          <a:spcPts val="0"/>
                        </a:spcBef>
                        <a:spcAft>
                          <a:spcPts val="0"/>
                        </a:spcAft>
                        <a:buNone/>
                      </a:pPr>
                      <a:r>
                        <a:rPr lang="en-US" sz="1800"/>
                        <a:t>1</a:t>
                      </a:r>
                      <a:endParaRPr sz="1800"/>
                    </a:p>
                  </a:txBody>
                  <a:tcPr marT="45725" marB="45725" marR="91450" marL="91450">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FFFFF"/>
                      </a:solidFill>
                      <a:prstDash val="solid"/>
                      <a:round/>
                      <a:headEnd len="sm" w="sm" type="none"/>
                      <a:tailEnd len="sm" w="sm" type="none"/>
                    </a:lnT>
                    <a:lnB cap="flat" cmpd="sng" w="8650">
                      <a:solidFill>
                        <a:srgbClr val="FFFFFF"/>
                      </a:solidFill>
                      <a:prstDash val="solid"/>
                      <a:round/>
                      <a:headEnd len="sm" w="sm" type="none"/>
                      <a:tailEnd len="sm" w="sm" type="none"/>
                    </a:lnB>
                    <a:solidFill>
                      <a:srgbClr val="CCD2D8"/>
                    </a:solidFill>
                  </a:tcPr>
                </a:tc>
              </a:tr>
              <a:tr h="355025">
                <a:tc>
                  <a:txBody>
                    <a:bodyPr/>
                    <a:lstStyle/>
                    <a:p>
                      <a:pPr indent="0" lvl="0" marL="0" rtl="0" algn="l">
                        <a:lnSpc>
                          <a:spcPct val="115000"/>
                        </a:lnSpc>
                        <a:spcBef>
                          <a:spcPts val="0"/>
                        </a:spcBef>
                        <a:spcAft>
                          <a:spcPts val="0"/>
                        </a:spcAft>
                        <a:buNone/>
                      </a:pPr>
                      <a:r>
                        <a:rPr lang="en-US" sz="1800"/>
                        <a:t>1</a:t>
                      </a:r>
                      <a:endParaRPr sz="1800"/>
                    </a:p>
                  </a:txBody>
                  <a:tcPr marT="45725" marB="45725" marR="91450" marL="91450">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FFFFF"/>
                      </a:solidFill>
                      <a:prstDash val="solid"/>
                      <a:round/>
                      <a:headEnd len="sm" w="sm" type="none"/>
                      <a:tailEnd len="sm" w="sm" type="none"/>
                    </a:lnT>
                    <a:lnB cap="flat" cmpd="sng" w="8650">
                      <a:solidFill>
                        <a:srgbClr val="FFFFFF"/>
                      </a:solidFill>
                      <a:prstDash val="solid"/>
                      <a:round/>
                      <a:headEnd len="sm" w="sm" type="none"/>
                      <a:tailEnd len="sm" w="sm" type="none"/>
                    </a:lnB>
                    <a:solidFill>
                      <a:srgbClr val="E7EAED"/>
                    </a:solidFill>
                  </a:tcPr>
                </a:tc>
                <a:tc>
                  <a:txBody>
                    <a:bodyPr/>
                    <a:lstStyle/>
                    <a:p>
                      <a:pPr indent="0" lvl="0" marL="0" rtl="0" algn="l">
                        <a:lnSpc>
                          <a:spcPct val="115000"/>
                        </a:lnSpc>
                        <a:spcBef>
                          <a:spcPts val="0"/>
                        </a:spcBef>
                        <a:spcAft>
                          <a:spcPts val="0"/>
                        </a:spcAft>
                        <a:buNone/>
                      </a:pPr>
                      <a:r>
                        <a:rPr lang="en-US" sz="1800"/>
                        <a:t>1</a:t>
                      </a:r>
                      <a:endParaRPr sz="1800"/>
                    </a:p>
                  </a:txBody>
                  <a:tcPr marT="45725" marB="45725" marR="91450" marL="91450">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FFFFF"/>
                      </a:solidFill>
                      <a:prstDash val="solid"/>
                      <a:round/>
                      <a:headEnd len="sm" w="sm" type="none"/>
                      <a:tailEnd len="sm" w="sm" type="none"/>
                    </a:lnT>
                    <a:lnB cap="flat" cmpd="sng" w="8650">
                      <a:solidFill>
                        <a:srgbClr val="FFFFFF"/>
                      </a:solidFill>
                      <a:prstDash val="solid"/>
                      <a:round/>
                      <a:headEnd len="sm" w="sm" type="none"/>
                      <a:tailEnd len="sm" w="sm" type="none"/>
                    </a:lnB>
                    <a:solidFill>
                      <a:srgbClr val="E7EAED"/>
                    </a:solidFill>
                  </a:tcPr>
                </a:tc>
                <a:tc>
                  <a:txBody>
                    <a:bodyPr/>
                    <a:lstStyle/>
                    <a:p>
                      <a:pPr indent="0" lvl="0" marL="0" rtl="0" algn="l">
                        <a:lnSpc>
                          <a:spcPct val="115000"/>
                        </a:lnSpc>
                        <a:spcBef>
                          <a:spcPts val="0"/>
                        </a:spcBef>
                        <a:spcAft>
                          <a:spcPts val="0"/>
                        </a:spcAft>
                        <a:buNone/>
                      </a:pPr>
                      <a:r>
                        <a:rPr lang="en-US" sz="1800"/>
                        <a:t>0</a:t>
                      </a:r>
                      <a:endParaRPr sz="1800"/>
                    </a:p>
                  </a:txBody>
                  <a:tcPr marT="45725" marB="45725" marR="91450" marL="91450">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FFFFF"/>
                      </a:solidFill>
                      <a:prstDash val="solid"/>
                      <a:round/>
                      <a:headEnd len="sm" w="sm" type="none"/>
                      <a:tailEnd len="sm" w="sm" type="none"/>
                    </a:lnT>
                    <a:lnB cap="flat" cmpd="sng" w="8650">
                      <a:solidFill>
                        <a:srgbClr val="FFFFFF"/>
                      </a:solidFill>
                      <a:prstDash val="solid"/>
                      <a:round/>
                      <a:headEnd len="sm" w="sm" type="none"/>
                      <a:tailEnd len="sm" w="sm" type="none"/>
                    </a:lnB>
                    <a:solidFill>
                      <a:srgbClr val="E7EAED"/>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6"/>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Perceptrons</a:t>
            </a:r>
            <a:endParaRPr/>
          </a:p>
        </p:txBody>
      </p:sp>
      <p:sp>
        <p:nvSpPr>
          <p:cNvPr id="221" name="Google Shape;221;p16"/>
          <p:cNvSpPr txBox="1"/>
          <p:nvPr>
            <p:ph idx="1" type="body"/>
          </p:nvPr>
        </p:nvSpPr>
        <p:spPr>
          <a:xfrm>
            <a:off x="822962" y="1200150"/>
            <a:ext cx="7543801" cy="34290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A very simple neural unit </a:t>
            </a:r>
            <a:endParaRPr/>
          </a:p>
          <a:p>
            <a:pPr indent="-428615" lvl="0" marL="428615" rtl="0" algn="l">
              <a:lnSpc>
                <a:spcPct val="90000"/>
              </a:lnSpc>
              <a:spcBef>
                <a:spcPts val="1050"/>
              </a:spcBef>
              <a:spcAft>
                <a:spcPts val="0"/>
              </a:spcAft>
              <a:buSzPts val="2800"/>
              <a:buFont typeface="Arial"/>
              <a:buChar char="•"/>
            </a:pPr>
            <a:r>
              <a:rPr lang="en-US"/>
              <a:t>Binary output  (0 or 1)</a:t>
            </a:r>
            <a:endParaRPr/>
          </a:p>
          <a:p>
            <a:pPr indent="-428614" lvl="0" marL="428614" rtl="0" algn="l">
              <a:lnSpc>
                <a:spcPct val="90000"/>
              </a:lnSpc>
              <a:spcBef>
                <a:spcPts val="1050"/>
              </a:spcBef>
              <a:spcAft>
                <a:spcPts val="0"/>
              </a:spcAft>
              <a:buSzPts val="2800"/>
              <a:buFont typeface="Arial"/>
              <a:buChar char="•"/>
            </a:pPr>
            <a:r>
              <a:rPr lang="en-US"/>
              <a:t>Non-linear activation function: step function</a:t>
            </a:r>
            <a:endParaRPr/>
          </a:p>
          <a:p>
            <a:pPr indent="-7938" lvl="0" marL="7938" rtl="0" algn="l">
              <a:lnSpc>
                <a:spcPct val="90000"/>
              </a:lnSpc>
              <a:spcBef>
                <a:spcPts val="1050"/>
              </a:spcBef>
              <a:spcAft>
                <a:spcPts val="0"/>
              </a:spcAft>
              <a:buSzPts val="2800"/>
              <a:buNone/>
            </a:pPr>
            <a:r>
              <a:t/>
            </a:r>
            <a:endParaRPr/>
          </a:p>
        </p:txBody>
      </p:sp>
      <p:pic>
        <p:nvPicPr>
          <p:cNvPr id="222" name="Google Shape;222;p16"/>
          <p:cNvPicPr preferRelativeResize="0"/>
          <p:nvPr/>
        </p:nvPicPr>
        <p:blipFill rotWithShape="1">
          <a:blip r:embed="rId3">
            <a:alphaModFix/>
          </a:blip>
          <a:srcRect b="0" l="0" r="0" t="0"/>
          <a:stretch/>
        </p:blipFill>
        <p:spPr>
          <a:xfrm>
            <a:off x="1485901" y="3028951"/>
            <a:ext cx="5199698" cy="15144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txBox="1"/>
          <p:nvPr>
            <p:ph type="title"/>
          </p:nvPr>
        </p:nvSpPr>
        <p:spPr>
          <a:xfrm>
            <a:off x="822960" y="119702"/>
            <a:ext cx="786384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Easy to build AND or OR with perceptrons</a:t>
            </a:r>
            <a:endParaRPr/>
          </a:p>
        </p:txBody>
      </p:sp>
      <p:pic>
        <p:nvPicPr>
          <p:cNvPr id="229" name="Google Shape;229;p17"/>
          <p:cNvPicPr preferRelativeResize="0"/>
          <p:nvPr>
            <p:ph idx="1" type="body"/>
          </p:nvPr>
        </p:nvPicPr>
        <p:blipFill rotWithShape="1">
          <a:blip r:embed="rId3">
            <a:alphaModFix/>
          </a:blip>
          <a:srcRect b="0" l="0" r="0" t="0"/>
          <a:stretch/>
        </p:blipFill>
        <p:spPr>
          <a:xfrm>
            <a:off x="571502" y="1556358"/>
            <a:ext cx="2451497" cy="2265778"/>
          </a:xfrm>
          <a:prstGeom prst="rect">
            <a:avLst/>
          </a:prstGeom>
          <a:noFill/>
          <a:ln>
            <a:noFill/>
          </a:ln>
        </p:spPr>
      </p:pic>
      <p:pic>
        <p:nvPicPr>
          <p:cNvPr id="230" name="Google Shape;230;p17"/>
          <p:cNvPicPr preferRelativeResize="0"/>
          <p:nvPr/>
        </p:nvPicPr>
        <p:blipFill rotWithShape="1">
          <a:blip r:embed="rId4">
            <a:alphaModFix/>
          </a:blip>
          <a:srcRect b="0" l="0" r="0" t="0"/>
          <a:stretch/>
        </p:blipFill>
        <p:spPr>
          <a:xfrm>
            <a:off x="5143502" y="1588168"/>
            <a:ext cx="2451497" cy="2191490"/>
          </a:xfrm>
          <a:prstGeom prst="rect">
            <a:avLst/>
          </a:prstGeom>
          <a:noFill/>
          <a:ln>
            <a:noFill/>
          </a:ln>
        </p:spPr>
      </p:pic>
      <p:sp>
        <p:nvSpPr>
          <p:cNvPr id="231" name="Google Shape;231;p17"/>
          <p:cNvSpPr txBox="1"/>
          <p:nvPr/>
        </p:nvSpPr>
        <p:spPr>
          <a:xfrm>
            <a:off x="1267898" y="4259807"/>
            <a:ext cx="998991" cy="6232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450">
                <a:solidFill>
                  <a:srgbClr val="FF0000"/>
                </a:solidFill>
                <a:latin typeface="Calibri"/>
                <a:ea typeface="Calibri"/>
                <a:cs typeface="Calibri"/>
                <a:sym typeface="Calibri"/>
              </a:rPr>
              <a:t>AND</a:t>
            </a:r>
            <a:endParaRPr/>
          </a:p>
        </p:txBody>
      </p:sp>
      <p:sp>
        <p:nvSpPr>
          <p:cNvPr id="232" name="Google Shape;232;p17"/>
          <p:cNvSpPr txBox="1"/>
          <p:nvPr/>
        </p:nvSpPr>
        <p:spPr>
          <a:xfrm>
            <a:off x="6033100" y="4259807"/>
            <a:ext cx="718466" cy="6232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450">
                <a:solidFill>
                  <a:srgbClr val="FF0000"/>
                </a:solidFill>
                <a:latin typeface="Calibri"/>
                <a:ea typeface="Calibri"/>
                <a:cs typeface="Calibri"/>
                <a:sym typeface="Calibri"/>
              </a:rPr>
              <a:t>OR</a:t>
            </a:r>
            <a:endParaRPr/>
          </a:p>
        </p:txBody>
      </p:sp>
      <p:pic>
        <p:nvPicPr>
          <p:cNvPr id="233" name="Google Shape;233;p17"/>
          <p:cNvPicPr preferRelativeResize="0"/>
          <p:nvPr/>
        </p:nvPicPr>
        <p:blipFill rotWithShape="1">
          <a:blip r:embed="rId5">
            <a:alphaModFix/>
          </a:blip>
          <a:srcRect b="0" l="0" r="72485" t="0"/>
          <a:stretch/>
        </p:blipFill>
        <p:spPr>
          <a:xfrm>
            <a:off x="3196232" y="2999096"/>
            <a:ext cx="1375769" cy="2062163"/>
          </a:xfrm>
          <a:prstGeom prst="rect">
            <a:avLst/>
          </a:prstGeom>
          <a:noFill/>
          <a:ln>
            <a:noFill/>
          </a:ln>
        </p:spPr>
      </p:pic>
      <p:pic>
        <p:nvPicPr>
          <p:cNvPr id="234" name="Google Shape;234;p17"/>
          <p:cNvPicPr preferRelativeResize="0"/>
          <p:nvPr/>
        </p:nvPicPr>
        <p:blipFill rotWithShape="1">
          <a:blip r:embed="rId6">
            <a:alphaModFix/>
          </a:blip>
          <a:srcRect b="0" l="37718" r="37135" t="0"/>
          <a:stretch/>
        </p:blipFill>
        <p:spPr>
          <a:xfrm>
            <a:off x="7596704" y="3109487"/>
            <a:ext cx="1257300" cy="2062163"/>
          </a:xfrm>
          <a:prstGeom prst="rect">
            <a:avLst/>
          </a:prstGeom>
          <a:noFill/>
          <a:ln>
            <a:noFill/>
          </a:ln>
        </p:spPr>
      </p:pic>
      <p:pic>
        <p:nvPicPr>
          <p:cNvPr id="235" name="Google Shape;235;p17"/>
          <p:cNvPicPr preferRelativeResize="0"/>
          <p:nvPr/>
        </p:nvPicPr>
        <p:blipFill rotWithShape="1">
          <a:blip r:embed="rId7">
            <a:alphaModFix/>
          </a:blip>
          <a:srcRect b="0" l="0" r="0" t="0"/>
          <a:stretch/>
        </p:blipFill>
        <p:spPr>
          <a:xfrm>
            <a:off x="285750" y="684098"/>
            <a:ext cx="2451498" cy="71402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8"/>
          <p:cNvSpPr txBox="1"/>
          <p:nvPr>
            <p:ph type="title"/>
          </p:nvPr>
        </p:nvSpPr>
        <p:spPr>
          <a:xfrm>
            <a:off x="822960" y="119702"/>
            <a:ext cx="786384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Easy to build AND or OR with perceptrons</a:t>
            </a:r>
            <a:endParaRPr/>
          </a:p>
        </p:txBody>
      </p:sp>
      <p:pic>
        <p:nvPicPr>
          <p:cNvPr id="242" name="Google Shape;242;p18"/>
          <p:cNvPicPr preferRelativeResize="0"/>
          <p:nvPr>
            <p:ph idx="1" type="body"/>
          </p:nvPr>
        </p:nvPicPr>
        <p:blipFill rotWithShape="1">
          <a:blip r:embed="rId3">
            <a:alphaModFix/>
          </a:blip>
          <a:srcRect b="0" l="0" r="0" t="0"/>
          <a:stretch/>
        </p:blipFill>
        <p:spPr>
          <a:xfrm>
            <a:off x="571502" y="1556358"/>
            <a:ext cx="2451497" cy="2265778"/>
          </a:xfrm>
          <a:prstGeom prst="rect">
            <a:avLst/>
          </a:prstGeom>
          <a:noFill/>
          <a:ln>
            <a:noFill/>
          </a:ln>
        </p:spPr>
      </p:pic>
      <p:pic>
        <p:nvPicPr>
          <p:cNvPr id="243" name="Google Shape;243;p18"/>
          <p:cNvPicPr preferRelativeResize="0"/>
          <p:nvPr/>
        </p:nvPicPr>
        <p:blipFill rotWithShape="1">
          <a:blip r:embed="rId4">
            <a:alphaModFix/>
          </a:blip>
          <a:srcRect b="0" l="0" r="0" t="0"/>
          <a:stretch/>
        </p:blipFill>
        <p:spPr>
          <a:xfrm>
            <a:off x="5143502" y="1588168"/>
            <a:ext cx="2451497" cy="2191490"/>
          </a:xfrm>
          <a:prstGeom prst="rect">
            <a:avLst/>
          </a:prstGeom>
          <a:noFill/>
          <a:ln>
            <a:noFill/>
          </a:ln>
        </p:spPr>
      </p:pic>
      <p:sp>
        <p:nvSpPr>
          <p:cNvPr id="244" name="Google Shape;244;p18"/>
          <p:cNvSpPr txBox="1"/>
          <p:nvPr/>
        </p:nvSpPr>
        <p:spPr>
          <a:xfrm>
            <a:off x="1267898" y="4259807"/>
            <a:ext cx="998991" cy="6232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450">
                <a:solidFill>
                  <a:srgbClr val="FF0000"/>
                </a:solidFill>
                <a:latin typeface="Calibri"/>
                <a:ea typeface="Calibri"/>
                <a:cs typeface="Calibri"/>
                <a:sym typeface="Calibri"/>
              </a:rPr>
              <a:t>AND</a:t>
            </a:r>
            <a:endParaRPr/>
          </a:p>
        </p:txBody>
      </p:sp>
      <p:sp>
        <p:nvSpPr>
          <p:cNvPr id="245" name="Google Shape;245;p18"/>
          <p:cNvSpPr txBox="1"/>
          <p:nvPr/>
        </p:nvSpPr>
        <p:spPr>
          <a:xfrm>
            <a:off x="6033100" y="4259807"/>
            <a:ext cx="718466" cy="6232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450">
                <a:solidFill>
                  <a:srgbClr val="FF0000"/>
                </a:solidFill>
                <a:latin typeface="Calibri"/>
                <a:ea typeface="Calibri"/>
                <a:cs typeface="Calibri"/>
                <a:sym typeface="Calibri"/>
              </a:rPr>
              <a:t>OR</a:t>
            </a:r>
            <a:endParaRPr/>
          </a:p>
        </p:txBody>
      </p:sp>
      <p:pic>
        <p:nvPicPr>
          <p:cNvPr id="246" name="Google Shape;246;p18"/>
          <p:cNvPicPr preferRelativeResize="0"/>
          <p:nvPr/>
        </p:nvPicPr>
        <p:blipFill rotWithShape="1">
          <a:blip r:embed="rId5">
            <a:alphaModFix/>
          </a:blip>
          <a:srcRect b="0" l="0" r="72485" t="0"/>
          <a:stretch/>
        </p:blipFill>
        <p:spPr>
          <a:xfrm>
            <a:off x="3196232" y="2999096"/>
            <a:ext cx="1375769" cy="2062163"/>
          </a:xfrm>
          <a:prstGeom prst="rect">
            <a:avLst/>
          </a:prstGeom>
          <a:noFill/>
          <a:ln>
            <a:noFill/>
          </a:ln>
        </p:spPr>
      </p:pic>
      <p:pic>
        <p:nvPicPr>
          <p:cNvPr id="247" name="Google Shape;247;p18"/>
          <p:cNvPicPr preferRelativeResize="0"/>
          <p:nvPr/>
        </p:nvPicPr>
        <p:blipFill rotWithShape="1">
          <a:blip r:embed="rId6">
            <a:alphaModFix/>
          </a:blip>
          <a:srcRect b="0" l="37718" r="37135" t="0"/>
          <a:stretch/>
        </p:blipFill>
        <p:spPr>
          <a:xfrm>
            <a:off x="7596704" y="3109487"/>
            <a:ext cx="1257300" cy="2062163"/>
          </a:xfrm>
          <a:prstGeom prst="rect">
            <a:avLst/>
          </a:prstGeom>
          <a:noFill/>
          <a:ln>
            <a:noFill/>
          </a:ln>
        </p:spPr>
      </p:pic>
      <p:pic>
        <p:nvPicPr>
          <p:cNvPr id="248" name="Google Shape;248;p18"/>
          <p:cNvPicPr preferRelativeResize="0"/>
          <p:nvPr/>
        </p:nvPicPr>
        <p:blipFill rotWithShape="1">
          <a:blip r:embed="rId7">
            <a:alphaModFix/>
          </a:blip>
          <a:srcRect b="0" l="0" r="0" t="0"/>
          <a:stretch/>
        </p:blipFill>
        <p:spPr>
          <a:xfrm>
            <a:off x="285750" y="684098"/>
            <a:ext cx="2451498" cy="71402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9"/>
          <p:cNvSpPr txBox="1"/>
          <p:nvPr>
            <p:ph type="title"/>
          </p:nvPr>
        </p:nvSpPr>
        <p:spPr>
          <a:xfrm>
            <a:off x="822960" y="119702"/>
            <a:ext cx="786384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Easy to build AND or OR with perceptrons</a:t>
            </a:r>
            <a:endParaRPr/>
          </a:p>
        </p:txBody>
      </p:sp>
      <p:pic>
        <p:nvPicPr>
          <p:cNvPr id="255" name="Google Shape;255;p19"/>
          <p:cNvPicPr preferRelativeResize="0"/>
          <p:nvPr>
            <p:ph idx="1" type="body"/>
          </p:nvPr>
        </p:nvPicPr>
        <p:blipFill rotWithShape="1">
          <a:blip r:embed="rId3">
            <a:alphaModFix/>
          </a:blip>
          <a:srcRect b="0" l="0" r="0" t="0"/>
          <a:stretch/>
        </p:blipFill>
        <p:spPr>
          <a:xfrm>
            <a:off x="571502" y="1556358"/>
            <a:ext cx="2451497" cy="2265778"/>
          </a:xfrm>
          <a:prstGeom prst="rect">
            <a:avLst/>
          </a:prstGeom>
          <a:noFill/>
          <a:ln>
            <a:noFill/>
          </a:ln>
        </p:spPr>
      </p:pic>
      <p:pic>
        <p:nvPicPr>
          <p:cNvPr id="256" name="Google Shape;256;p19"/>
          <p:cNvPicPr preferRelativeResize="0"/>
          <p:nvPr/>
        </p:nvPicPr>
        <p:blipFill rotWithShape="1">
          <a:blip r:embed="rId4">
            <a:alphaModFix/>
          </a:blip>
          <a:srcRect b="0" l="0" r="0" t="0"/>
          <a:stretch/>
        </p:blipFill>
        <p:spPr>
          <a:xfrm>
            <a:off x="5143502" y="1588168"/>
            <a:ext cx="2451497" cy="2191490"/>
          </a:xfrm>
          <a:prstGeom prst="rect">
            <a:avLst/>
          </a:prstGeom>
          <a:noFill/>
          <a:ln>
            <a:noFill/>
          </a:ln>
        </p:spPr>
      </p:pic>
      <p:sp>
        <p:nvSpPr>
          <p:cNvPr id="257" name="Google Shape;257;p19"/>
          <p:cNvSpPr txBox="1"/>
          <p:nvPr/>
        </p:nvSpPr>
        <p:spPr>
          <a:xfrm>
            <a:off x="1267898" y="4259807"/>
            <a:ext cx="998991" cy="6232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450">
                <a:solidFill>
                  <a:srgbClr val="FF0000"/>
                </a:solidFill>
                <a:latin typeface="Calibri"/>
                <a:ea typeface="Calibri"/>
                <a:cs typeface="Calibri"/>
                <a:sym typeface="Calibri"/>
              </a:rPr>
              <a:t>AND</a:t>
            </a:r>
            <a:endParaRPr/>
          </a:p>
        </p:txBody>
      </p:sp>
      <p:sp>
        <p:nvSpPr>
          <p:cNvPr id="258" name="Google Shape;258;p19"/>
          <p:cNvSpPr txBox="1"/>
          <p:nvPr/>
        </p:nvSpPr>
        <p:spPr>
          <a:xfrm>
            <a:off x="6033100" y="4259807"/>
            <a:ext cx="718466" cy="6232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450">
                <a:solidFill>
                  <a:srgbClr val="FF0000"/>
                </a:solidFill>
                <a:latin typeface="Calibri"/>
                <a:ea typeface="Calibri"/>
                <a:cs typeface="Calibri"/>
                <a:sym typeface="Calibri"/>
              </a:rPr>
              <a:t>OR</a:t>
            </a:r>
            <a:endParaRPr/>
          </a:p>
        </p:txBody>
      </p:sp>
      <p:pic>
        <p:nvPicPr>
          <p:cNvPr id="259" name="Google Shape;259;p19"/>
          <p:cNvPicPr preferRelativeResize="0"/>
          <p:nvPr/>
        </p:nvPicPr>
        <p:blipFill rotWithShape="1">
          <a:blip r:embed="rId5">
            <a:alphaModFix/>
          </a:blip>
          <a:srcRect b="0" l="0" r="72485" t="0"/>
          <a:stretch/>
        </p:blipFill>
        <p:spPr>
          <a:xfrm>
            <a:off x="3196232" y="2999096"/>
            <a:ext cx="1375769" cy="2062163"/>
          </a:xfrm>
          <a:prstGeom prst="rect">
            <a:avLst/>
          </a:prstGeom>
          <a:noFill/>
          <a:ln>
            <a:noFill/>
          </a:ln>
        </p:spPr>
      </p:pic>
      <p:pic>
        <p:nvPicPr>
          <p:cNvPr id="260" name="Google Shape;260;p19"/>
          <p:cNvPicPr preferRelativeResize="0"/>
          <p:nvPr/>
        </p:nvPicPr>
        <p:blipFill rotWithShape="1">
          <a:blip r:embed="rId6">
            <a:alphaModFix/>
          </a:blip>
          <a:srcRect b="0" l="37718" r="37135" t="0"/>
          <a:stretch/>
        </p:blipFill>
        <p:spPr>
          <a:xfrm>
            <a:off x="7596704" y="3109487"/>
            <a:ext cx="1257300" cy="2062163"/>
          </a:xfrm>
          <a:prstGeom prst="rect">
            <a:avLst/>
          </a:prstGeom>
          <a:noFill/>
          <a:ln>
            <a:noFill/>
          </a:ln>
        </p:spPr>
      </p:pic>
      <p:pic>
        <p:nvPicPr>
          <p:cNvPr id="261" name="Google Shape;261;p19"/>
          <p:cNvPicPr preferRelativeResize="0"/>
          <p:nvPr/>
        </p:nvPicPr>
        <p:blipFill rotWithShape="1">
          <a:blip r:embed="rId7">
            <a:alphaModFix/>
          </a:blip>
          <a:srcRect b="0" l="0" r="0" t="0"/>
          <a:stretch/>
        </p:blipFill>
        <p:spPr>
          <a:xfrm>
            <a:off x="285750" y="684098"/>
            <a:ext cx="2451498" cy="71402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2f96dad6641_0_2"/>
          <p:cNvSpPr txBox="1"/>
          <p:nvPr>
            <p:ph type="title"/>
          </p:nvPr>
        </p:nvSpPr>
        <p:spPr>
          <a:xfrm>
            <a:off x="822960" y="119702"/>
            <a:ext cx="7543800" cy="6804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268" name="Google Shape;268;g2f96dad6641_0_2"/>
          <p:cNvSpPr txBox="1"/>
          <p:nvPr>
            <p:ph idx="1" type="body"/>
          </p:nvPr>
        </p:nvSpPr>
        <p:spPr>
          <a:xfrm>
            <a:off x="822962" y="1200150"/>
            <a:ext cx="7543800" cy="3429000"/>
          </a:xfrm>
          <a:prstGeom prst="rect">
            <a:avLst/>
          </a:prstGeom>
        </p:spPr>
        <p:txBody>
          <a:bodyPr anchorCtr="0" anchor="t" bIns="45700" lIns="0" spcFirstLastPara="1" rIns="0" wrap="square" tIns="45700">
            <a:normAutofit/>
          </a:bodyPr>
          <a:lstStyle/>
          <a:p>
            <a:pPr indent="0" lvl="0" marL="0" rtl="0" algn="l">
              <a:spcBef>
                <a:spcPts val="900"/>
              </a:spcBef>
              <a:spcAft>
                <a:spcPts val="150"/>
              </a:spcAft>
              <a:buNone/>
            </a:pPr>
            <a:r>
              <a:t/>
            </a:r>
            <a:endParaRPr/>
          </a:p>
        </p:txBody>
      </p:sp>
      <p:pic>
        <p:nvPicPr>
          <p:cNvPr id="269" name="Google Shape;269;g2f96dad6641_0_2"/>
          <p:cNvPicPr preferRelativeResize="0"/>
          <p:nvPr>
            <p:ph idx="1" type="body"/>
          </p:nvPr>
        </p:nvPicPr>
        <p:blipFill rotWithShape="1">
          <a:blip r:embed="rId3">
            <a:alphaModFix/>
          </a:blip>
          <a:srcRect b="0" l="0" r="0" t="0"/>
          <a:stretch/>
        </p:blipFill>
        <p:spPr>
          <a:xfrm>
            <a:off x="4629250" y="1476051"/>
            <a:ext cx="2198700" cy="2032200"/>
          </a:xfrm>
          <a:prstGeom prst="rect">
            <a:avLst/>
          </a:prstGeom>
          <a:noFill/>
          <a:ln>
            <a:noFill/>
          </a:ln>
        </p:spPr>
      </p:pic>
      <p:pic>
        <p:nvPicPr>
          <p:cNvPr id="270" name="Google Shape;270;g2f96dad6641_0_2"/>
          <p:cNvPicPr preferRelativeResize="0"/>
          <p:nvPr/>
        </p:nvPicPr>
        <p:blipFill rotWithShape="1">
          <a:blip r:embed="rId4">
            <a:alphaModFix/>
          </a:blip>
          <a:srcRect b="0" l="0" r="0" t="0"/>
          <a:stretch/>
        </p:blipFill>
        <p:spPr>
          <a:xfrm>
            <a:off x="1023625" y="2437674"/>
            <a:ext cx="2198700" cy="1965490"/>
          </a:xfrm>
          <a:prstGeom prst="rect">
            <a:avLst/>
          </a:prstGeom>
          <a:noFill/>
          <a:ln>
            <a:noFill/>
          </a:ln>
        </p:spPr>
      </p:pic>
      <p:pic>
        <p:nvPicPr>
          <p:cNvPr id="271" name="Google Shape;271;g2f96dad6641_0_2"/>
          <p:cNvPicPr preferRelativeResize="0"/>
          <p:nvPr>
            <p:ph idx="1" type="body"/>
          </p:nvPr>
        </p:nvPicPr>
        <p:blipFill rotWithShape="1">
          <a:blip r:embed="rId3">
            <a:alphaModFix/>
          </a:blip>
          <a:srcRect b="0" l="0" r="0" t="0"/>
          <a:stretch/>
        </p:blipFill>
        <p:spPr>
          <a:xfrm>
            <a:off x="1153450" y="204301"/>
            <a:ext cx="2198700" cy="2032200"/>
          </a:xfrm>
          <a:prstGeom prst="rect">
            <a:avLst/>
          </a:prstGeom>
          <a:noFill/>
          <a:ln>
            <a:noFill/>
          </a:ln>
        </p:spPr>
      </p:pic>
      <p:sp>
        <p:nvSpPr>
          <p:cNvPr id="272" name="Google Shape;272;g2f96dad6641_0_2"/>
          <p:cNvSpPr txBox="1"/>
          <p:nvPr/>
        </p:nvSpPr>
        <p:spPr>
          <a:xfrm>
            <a:off x="1998550" y="384600"/>
            <a:ext cx="508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3F3F3F"/>
                </a:solidFill>
                <a:latin typeface="Calibri"/>
                <a:ea typeface="Calibri"/>
                <a:cs typeface="Calibri"/>
                <a:sym typeface="Calibri"/>
              </a:rPr>
              <a:t>_</a:t>
            </a:r>
            <a:endParaRPr sz="1500">
              <a:solidFill>
                <a:srgbClr val="3F3F3F"/>
              </a:solidFill>
              <a:latin typeface="Calibri"/>
              <a:ea typeface="Calibri"/>
              <a:cs typeface="Calibri"/>
              <a:sym typeface="Calibri"/>
            </a:endParaRPr>
          </a:p>
        </p:txBody>
      </p:sp>
      <p:sp>
        <p:nvSpPr>
          <p:cNvPr id="273" name="Google Shape;273;g2f96dad6641_0_2"/>
          <p:cNvSpPr txBox="1"/>
          <p:nvPr/>
        </p:nvSpPr>
        <p:spPr>
          <a:xfrm>
            <a:off x="1998550" y="800100"/>
            <a:ext cx="508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3F3F3F"/>
                </a:solidFill>
                <a:latin typeface="Calibri"/>
                <a:ea typeface="Calibri"/>
                <a:cs typeface="Calibri"/>
                <a:sym typeface="Calibri"/>
              </a:rPr>
              <a:t>_</a:t>
            </a:r>
            <a:endParaRPr sz="1500">
              <a:solidFill>
                <a:srgbClr val="3F3F3F"/>
              </a:solidFill>
              <a:latin typeface="Calibri"/>
              <a:ea typeface="Calibri"/>
              <a:cs typeface="Calibri"/>
              <a:sym typeface="Calibri"/>
            </a:endParaRPr>
          </a:p>
        </p:txBody>
      </p:sp>
      <p:sp>
        <p:nvSpPr>
          <p:cNvPr id="274" name="Google Shape;274;g2f96dad6641_0_2"/>
          <p:cNvSpPr txBox="1"/>
          <p:nvPr/>
        </p:nvSpPr>
        <p:spPr>
          <a:xfrm>
            <a:off x="1930350" y="1476038"/>
            <a:ext cx="508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3F3F3F"/>
                </a:solidFill>
                <a:latin typeface="Calibri"/>
                <a:ea typeface="Calibri"/>
                <a:cs typeface="Calibri"/>
                <a:sym typeface="Calibri"/>
              </a:rPr>
              <a:t>  |</a:t>
            </a:r>
            <a:endParaRPr sz="1500">
              <a:solidFill>
                <a:srgbClr val="3F3F3F"/>
              </a:solidFill>
              <a:latin typeface="Calibri"/>
              <a:ea typeface="Calibri"/>
              <a:cs typeface="Calibri"/>
              <a:sym typeface="Calibri"/>
            </a:endParaRPr>
          </a:p>
        </p:txBody>
      </p:sp>
      <p:cxnSp>
        <p:nvCxnSpPr>
          <p:cNvPr id="275" name="Google Shape;275;g2f96dad6641_0_2"/>
          <p:cNvCxnSpPr/>
          <p:nvPr/>
        </p:nvCxnSpPr>
        <p:spPr>
          <a:xfrm>
            <a:off x="3352150" y="1220401"/>
            <a:ext cx="1870800" cy="545100"/>
          </a:xfrm>
          <a:prstGeom prst="straightConnector1">
            <a:avLst/>
          </a:prstGeom>
          <a:noFill/>
          <a:ln cap="flat" cmpd="sng" w="9525">
            <a:solidFill>
              <a:schemeClr val="dk2"/>
            </a:solidFill>
            <a:prstDash val="solid"/>
            <a:round/>
            <a:headEnd len="med" w="med" type="none"/>
            <a:tailEnd len="med" w="med" type="none"/>
          </a:ln>
        </p:spPr>
      </p:cxnSp>
      <p:cxnSp>
        <p:nvCxnSpPr>
          <p:cNvPr id="276" name="Google Shape;276;g2f96dad6641_0_2"/>
          <p:cNvCxnSpPr>
            <a:stCxn id="270" idx="3"/>
          </p:cNvCxnSpPr>
          <p:nvPr/>
        </p:nvCxnSpPr>
        <p:spPr>
          <a:xfrm flipH="1" rot="10800000">
            <a:off x="3222325" y="2455019"/>
            <a:ext cx="1944300" cy="965400"/>
          </a:xfrm>
          <a:prstGeom prst="straightConnector1">
            <a:avLst/>
          </a:prstGeom>
          <a:noFill/>
          <a:ln cap="flat" cmpd="sng" w="9525">
            <a:solidFill>
              <a:schemeClr val="dk2"/>
            </a:solidFill>
            <a:prstDash val="solid"/>
            <a:round/>
            <a:headEnd len="med" w="med" type="none"/>
            <a:tailEnd len="med" w="med" type="none"/>
          </a:ln>
        </p:spPr>
      </p:cxnSp>
      <p:cxnSp>
        <p:nvCxnSpPr>
          <p:cNvPr id="277" name="Google Shape;277;g2f96dad6641_0_2"/>
          <p:cNvCxnSpPr>
            <a:stCxn id="269" idx="3"/>
          </p:cNvCxnSpPr>
          <p:nvPr/>
        </p:nvCxnSpPr>
        <p:spPr>
          <a:xfrm flipH="1" rot="10800000">
            <a:off x="6827950" y="2421051"/>
            <a:ext cx="1446900" cy="71100"/>
          </a:xfrm>
          <a:prstGeom prst="straightConnector1">
            <a:avLst/>
          </a:prstGeom>
          <a:noFill/>
          <a:ln cap="flat" cmpd="sng" w="9525">
            <a:solidFill>
              <a:schemeClr val="dk2"/>
            </a:solidFill>
            <a:prstDash val="solid"/>
            <a:round/>
            <a:headEnd len="med" w="med" type="none"/>
            <a:tailEnd len="med" w="med" type="none"/>
          </a:ln>
        </p:spPr>
      </p:cxnSp>
      <p:sp>
        <p:nvSpPr>
          <p:cNvPr id="278" name="Google Shape;278;g2f96dad6641_0_2"/>
          <p:cNvSpPr txBox="1"/>
          <p:nvPr/>
        </p:nvSpPr>
        <p:spPr>
          <a:xfrm>
            <a:off x="7404450" y="2005550"/>
            <a:ext cx="1875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3F3F3F"/>
                </a:solidFill>
                <a:latin typeface="Calibri"/>
                <a:ea typeface="Calibri"/>
                <a:cs typeface="Calibri"/>
                <a:sym typeface="Calibri"/>
              </a:rPr>
              <a:t>XOR</a:t>
            </a:r>
            <a:endParaRPr sz="1500">
              <a:solidFill>
                <a:srgbClr val="3F3F3F"/>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0"/>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US"/>
              <a:t>Not possible to capture XOR with perceptrons</a:t>
            </a:r>
            <a:endParaRPr/>
          </a:p>
        </p:txBody>
      </p:sp>
      <p:sp>
        <p:nvSpPr>
          <p:cNvPr id="284" name="Google Shape;284;p20"/>
          <p:cNvSpPr txBox="1"/>
          <p:nvPr>
            <p:ph idx="1" type="body"/>
          </p:nvPr>
        </p:nvSpPr>
        <p:spPr>
          <a:xfrm>
            <a:off x="822962" y="1200150"/>
            <a:ext cx="7543801" cy="34290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Pause the lecture and try for yourself!</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1"/>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Why? Perceptrons are linear classifiers</a:t>
            </a:r>
            <a:endParaRPr/>
          </a:p>
        </p:txBody>
      </p:sp>
      <p:sp>
        <p:nvSpPr>
          <p:cNvPr id="291" name="Google Shape;291;p21"/>
          <p:cNvSpPr txBox="1"/>
          <p:nvPr>
            <p:ph idx="1" type="body"/>
          </p:nvPr>
        </p:nvSpPr>
        <p:spPr>
          <a:xfrm>
            <a:off x="571500" y="1200150"/>
            <a:ext cx="8401050" cy="3429000"/>
          </a:xfrm>
          <a:prstGeom prst="rect">
            <a:avLst/>
          </a:prstGeom>
          <a:noFill/>
          <a:ln>
            <a:noFill/>
          </a:ln>
        </p:spPr>
        <p:txBody>
          <a:bodyPr anchorCtr="0" anchor="t" bIns="45700" lIns="0" spcFirstLastPara="1" rIns="0" wrap="square" tIns="45700">
            <a:normAutofit fontScale="85000" lnSpcReduction="20000"/>
          </a:bodyPr>
          <a:lstStyle/>
          <a:p>
            <a:pPr indent="-7938" lvl="0" marL="7938" rtl="0" algn="l">
              <a:lnSpc>
                <a:spcPct val="90000"/>
              </a:lnSpc>
              <a:spcBef>
                <a:spcPts val="0"/>
              </a:spcBef>
              <a:spcAft>
                <a:spcPts val="0"/>
              </a:spcAft>
              <a:buSzPct val="100000"/>
              <a:buNone/>
            </a:pPr>
            <a:r>
              <a:rPr lang="en-US" sz="3150"/>
              <a:t>Perceptron equation given</a:t>
            </a:r>
            <a:r>
              <a:rPr i="1" lang="en-US" sz="3150"/>
              <a:t> x</a:t>
            </a:r>
            <a:r>
              <a:rPr baseline="-25000" lang="en-US" sz="3150"/>
              <a:t>1</a:t>
            </a:r>
            <a:r>
              <a:rPr lang="en-US" sz="3150"/>
              <a:t> and </a:t>
            </a:r>
            <a:r>
              <a:rPr i="1" lang="en-US" sz="3150"/>
              <a:t>x</a:t>
            </a:r>
            <a:r>
              <a:rPr baseline="-25000" lang="en-US" sz="3150"/>
              <a:t>2</a:t>
            </a:r>
            <a:r>
              <a:rPr lang="en-US" sz="3150"/>
              <a:t>, is the equation of a line</a:t>
            </a:r>
            <a:endParaRPr/>
          </a:p>
          <a:p>
            <a:pPr indent="-7938" lvl="0" marL="7938" rtl="0" algn="l">
              <a:lnSpc>
                <a:spcPct val="90000"/>
              </a:lnSpc>
              <a:spcBef>
                <a:spcPts val="1050"/>
              </a:spcBef>
              <a:spcAft>
                <a:spcPts val="0"/>
              </a:spcAft>
              <a:buSzPct val="100000"/>
              <a:buNone/>
            </a:pPr>
            <a:r>
              <a:t/>
            </a:r>
            <a:endParaRPr i="1" sz="100">
              <a:latin typeface="Times New Roman"/>
              <a:ea typeface="Times New Roman"/>
              <a:cs typeface="Times New Roman"/>
              <a:sym typeface="Times New Roman"/>
            </a:endParaRPr>
          </a:p>
          <a:p>
            <a:pPr indent="-7938" lvl="0" marL="7938" rtl="0" algn="l">
              <a:lnSpc>
                <a:spcPct val="90000"/>
              </a:lnSpc>
              <a:spcBef>
                <a:spcPts val="1050"/>
              </a:spcBef>
              <a:spcAft>
                <a:spcPts val="0"/>
              </a:spcAft>
              <a:buSzPct val="100000"/>
              <a:buNone/>
            </a:pPr>
            <a:r>
              <a:rPr i="1" lang="en-US">
                <a:latin typeface="Times New Roman"/>
                <a:ea typeface="Times New Roman"/>
                <a:cs typeface="Times New Roman"/>
                <a:sym typeface="Times New Roman"/>
              </a:rPr>
              <a:t>w</a:t>
            </a:r>
            <a:r>
              <a:rPr baseline="-25000" lang="en-US">
                <a:latin typeface="Times New Roman"/>
                <a:ea typeface="Times New Roman"/>
                <a:cs typeface="Times New Roman"/>
                <a:sym typeface="Times New Roman"/>
              </a:rPr>
              <a:t>1</a:t>
            </a:r>
            <a:r>
              <a:rPr i="1" lang="en-US">
                <a:latin typeface="Times New Roman"/>
                <a:ea typeface="Times New Roman"/>
                <a:cs typeface="Times New Roman"/>
                <a:sym typeface="Times New Roman"/>
              </a:rPr>
              <a:t>x</a:t>
            </a:r>
            <a:r>
              <a:rPr baseline="-25000" lang="en-US">
                <a:latin typeface="Times New Roman"/>
                <a:ea typeface="Times New Roman"/>
                <a:cs typeface="Times New Roman"/>
                <a:sym typeface="Times New Roman"/>
              </a:rPr>
              <a:t>1</a:t>
            </a:r>
            <a:r>
              <a:rPr lang="en-US">
                <a:latin typeface="Times New Roman"/>
                <a:ea typeface="Times New Roman"/>
                <a:cs typeface="Times New Roman"/>
                <a:sym typeface="Times New Roman"/>
              </a:rPr>
              <a:t> + </a:t>
            </a:r>
            <a:r>
              <a:rPr i="1" lang="en-US">
                <a:latin typeface="Times New Roman"/>
                <a:ea typeface="Times New Roman"/>
                <a:cs typeface="Times New Roman"/>
                <a:sym typeface="Times New Roman"/>
              </a:rPr>
              <a:t>w</a:t>
            </a:r>
            <a:r>
              <a:rPr baseline="-25000" lang="en-US">
                <a:latin typeface="Times New Roman"/>
                <a:ea typeface="Times New Roman"/>
                <a:cs typeface="Times New Roman"/>
                <a:sym typeface="Times New Roman"/>
              </a:rPr>
              <a:t>2</a:t>
            </a:r>
            <a:r>
              <a:rPr i="1" lang="en-US">
                <a:latin typeface="Times New Roman"/>
                <a:ea typeface="Times New Roman"/>
                <a:cs typeface="Times New Roman"/>
                <a:sym typeface="Times New Roman"/>
              </a:rPr>
              <a:t>x</a:t>
            </a:r>
            <a:r>
              <a:rPr baseline="-25000" lang="en-US">
                <a:latin typeface="Times New Roman"/>
                <a:ea typeface="Times New Roman"/>
                <a:cs typeface="Times New Roman"/>
                <a:sym typeface="Times New Roman"/>
              </a:rPr>
              <a:t>2</a:t>
            </a:r>
            <a:r>
              <a:rPr lang="en-US">
                <a:latin typeface="Times New Roman"/>
                <a:ea typeface="Times New Roman"/>
                <a:cs typeface="Times New Roman"/>
                <a:sym typeface="Times New Roman"/>
              </a:rPr>
              <a:t> + </a:t>
            </a:r>
            <a:r>
              <a:rPr i="1" lang="en-US">
                <a:latin typeface="Times New Roman"/>
                <a:ea typeface="Times New Roman"/>
                <a:cs typeface="Times New Roman"/>
                <a:sym typeface="Times New Roman"/>
              </a:rPr>
              <a:t>b </a:t>
            </a:r>
            <a:r>
              <a:rPr lang="en-US">
                <a:latin typeface="Times New Roman"/>
                <a:ea typeface="Times New Roman"/>
                <a:cs typeface="Times New Roman"/>
                <a:sym typeface="Times New Roman"/>
              </a:rPr>
              <a:t>= 0</a:t>
            </a:r>
            <a:endParaRPr/>
          </a:p>
          <a:p>
            <a:pPr indent="-7938" lvl="0" marL="7938" rtl="0" algn="l">
              <a:lnSpc>
                <a:spcPct val="90000"/>
              </a:lnSpc>
              <a:spcBef>
                <a:spcPts val="1050"/>
              </a:spcBef>
              <a:spcAft>
                <a:spcPts val="0"/>
              </a:spcAft>
              <a:buSzPct val="100000"/>
              <a:buNone/>
            </a:pPr>
            <a:r>
              <a:t/>
            </a:r>
            <a:endParaRPr sz="1425">
              <a:latin typeface="Times New Roman"/>
              <a:ea typeface="Times New Roman"/>
              <a:cs typeface="Times New Roman"/>
              <a:sym typeface="Times New Roman"/>
            </a:endParaRPr>
          </a:p>
          <a:p>
            <a:pPr indent="-7938" lvl="0" marL="7938" rtl="0" algn="l">
              <a:lnSpc>
                <a:spcPct val="90000"/>
              </a:lnSpc>
              <a:spcBef>
                <a:spcPts val="1050"/>
              </a:spcBef>
              <a:spcAft>
                <a:spcPts val="0"/>
              </a:spcAft>
              <a:buSzPct val="100000"/>
              <a:buNone/>
            </a:pPr>
            <a:r>
              <a:rPr lang="en-US"/>
              <a:t>(in standard linear format:     </a:t>
            </a:r>
            <a:r>
              <a:rPr i="1" lang="en-US">
                <a:latin typeface="Times New Roman"/>
                <a:ea typeface="Times New Roman"/>
                <a:cs typeface="Times New Roman"/>
                <a:sym typeface="Times New Roman"/>
              </a:rPr>
              <a:t>x</a:t>
            </a:r>
            <a:r>
              <a:rPr baseline="-25000" lang="en-US">
                <a:latin typeface="Times New Roman"/>
                <a:ea typeface="Times New Roman"/>
                <a:cs typeface="Times New Roman"/>
                <a:sym typeface="Times New Roman"/>
              </a:rPr>
              <a:t>2</a:t>
            </a:r>
            <a:r>
              <a:rPr lang="en-US">
                <a:latin typeface="Times New Roman"/>
                <a:ea typeface="Times New Roman"/>
                <a:cs typeface="Times New Roman"/>
                <a:sym typeface="Times New Roman"/>
              </a:rPr>
              <a:t> = (−</a:t>
            </a:r>
            <a:r>
              <a:rPr i="1" lang="en-US">
                <a:latin typeface="Times New Roman"/>
                <a:ea typeface="Times New Roman"/>
                <a:cs typeface="Times New Roman"/>
                <a:sym typeface="Times New Roman"/>
              </a:rPr>
              <a:t>w</a:t>
            </a:r>
            <a:r>
              <a:rPr baseline="-25000" lang="en-US">
                <a:latin typeface="Times New Roman"/>
                <a:ea typeface="Times New Roman"/>
                <a:cs typeface="Times New Roman"/>
                <a:sym typeface="Times New Roman"/>
              </a:rPr>
              <a:t>1</a:t>
            </a:r>
            <a:r>
              <a:rPr lang="en-US">
                <a:latin typeface="Times New Roman"/>
                <a:ea typeface="Times New Roman"/>
                <a:cs typeface="Times New Roman"/>
                <a:sym typeface="Times New Roman"/>
              </a:rPr>
              <a:t>/</a:t>
            </a:r>
            <a:r>
              <a:rPr i="1" lang="en-US">
                <a:latin typeface="Times New Roman"/>
                <a:ea typeface="Times New Roman"/>
                <a:cs typeface="Times New Roman"/>
                <a:sym typeface="Times New Roman"/>
              </a:rPr>
              <a:t>w</a:t>
            </a:r>
            <a:r>
              <a:rPr baseline="-25000" lang="en-US">
                <a:latin typeface="Times New Roman"/>
                <a:ea typeface="Times New Roman"/>
                <a:cs typeface="Times New Roman"/>
                <a:sym typeface="Times New Roman"/>
              </a:rPr>
              <a:t>2</a:t>
            </a:r>
            <a:r>
              <a:rPr lang="en-US">
                <a:latin typeface="Times New Roman"/>
                <a:ea typeface="Times New Roman"/>
                <a:cs typeface="Times New Roman"/>
                <a:sym typeface="Times New Roman"/>
              </a:rPr>
              <a:t>)</a:t>
            </a:r>
            <a:r>
              <a:rPr i="1" lang="en-US">
                <a:latin typeface="Times New Roman"/>
                <a:ea typeface="Times New Roman"/>
                <a:cs typeface="Times New Roman"/>
                <a:sym typeface="Times New Roman"/>
              </a:rPr>
              <a:t>x</a:t>
            </a:r>
            <a:r>
              <a:rPr baseline="-25000" lang="en-US">
                <a:latin typeface="Times New Roman"/>
                <a:ea typeface="Times New Roman"/>
                <a:cs typeface="Times New Roman"/>
                <a:sym typeface="Times New Roman"/>
              </a:rPr>
              <a:t>1</a:t>
            </a:r>
            <a:r>
              <a:rPr lang="en-US">
                <a:latin typeface="Times New Roman"/>
                <a:ea typeface="Times New Roman"/>
                <a:cs typeface="Times New Roman"/>
                <a:sym typeface="Times New Roman"/>
              </a:rPr>
              <a:t> + (−</a:t>
            </a:r>
            <a:r>
              <a:rPr i="1" lang="en-US">
                <a:latin typeface="Times New Roman"/>
                <a:ea typeface="Times New Roman"/>
                <a:cs typeface="Times New Roman"/>
                <a:sym typeface="Times New Roman"/>
              </a:rPr>
              <a:t>b</a:t>
            </a:r>
            <a:r>
              <a:rPr lang="en-US">
                <a:latin typeface="Times New Roman"/>
                <a:ea typeface="Times New Roman"/>
                <a:cs typeface="Times New Roman"/>
                <a:sym typeface="Times New Roman"/>
              </a:rPr>
              <a:t>/</a:t>
            </a:r>
            <a:r>
              <a:rPr i="1" lang="en-US">
                <a:latin typeface="Times New Roman"/>
                <a:ea typeface="Times New Roman"/>
                <a:cs typeface="Times New Roman"/>
                <a:sym typeface="Times New Roman"/>
              </a:rPr>
              <a:t>w</a:t>
            </a:r>
            <a:r>
              <a:rPr baseline="-25000" lang="en-US">
                <a:latin typeface="Times New Roman"/>
                <a:ea typeface="Times New Roman"/>
                <a:cs typeface="Times New Roman"/>
                <a:sym typeface="Times New Roman"/>
              </a:rPr>
              <a:t>2</a:t>
            </a:r>
            <a:r>
              <a:rPr lang="en-US">
                <a:latin typeface="Times New Roman"/>
                <a:ea typeface="Times New Roman"/>
                <a:cs typeface="Times New Roman"/>
                <a:sym typeface="Times New Roman"/>
              </a:rPr>
              <a:t>)    )</a:t>
            </a:r>
            <a:endParaRPr/>
          </a:p>
          <a:p>
            <a:pPr indent="-7938" lvl="0" marL="7938" rtl="0" algn="l">
              <a:lnSpc>
                <a:spcPct val="90000"/>
              </a:lnSpc>
              <a:spcBef>
                <a:spcPts val="1050"/>
              </a:spcBef>
              <a:spcAft>
                <a:spcPts val="0"/>
              </a:spcAft>
              <a:buSzPct val="100000"/>
              <a:buNone/>
            </a:pPr>
            <a:r>
              <a:t/>
            </a:r>
            <a:endParaRPr>
              <a:latin typeface="Times New Roman"/>
              <a:ea typeface="Times New Roman"/>
              <a:cs typeface="Times New Roman"/>
              <a:sym typeface="Times New Roman"/>
            </a:endParaRPr>
          </a:p>
          <a:p>
            <a:pPr indent="-7938" lvl="0" marL="7938" rtl="0" algn="l">
              <a:lnSpc>
                <a:spcPct val="90000"/>
              </a:lnSpc>
              <a:spcBef>
                <a:spcPts val="1050"/>
              </a:spcBef>
              <a:spcAft>
                <a:spcPts val="0"/>
              </a:spcAft>
              <a:buSzPct val="100000"/>
              <a:buNone/>
            </a:pPr>
            <a:r>
              <a:rPr lang="en-US" sz="3450"/>
              <a:t>This line acts as a </a:t>
            </a:r>
            <a:r>
              <a:rPr b="1" lang="en-US" sz="3450"/>
              <a:t>decision boundary </a:t>
            </a:r>
            <a:endParaRPr/>
          </a:p>
          <a:p>
            <a:pPr indent="-428615" lvl="0" marL="428615" rtl="0" algn="l">
              <a:lnSpc>
                <a:spcPct val="90000"/>
              </a:lnSpc>
              <a:spcBef>
                <a:spcPts val="1050"/>
              </a:spcBef>
              <a:spcAft>
                <a:spcPts val="0"/>
              </a:spcAft>
              <a:buSzPct val="100000"/>
              <a:buFont typeface="Arial"/>
              <a:buChar char="•"/>
            </a:pPr>
            <a:r>
              <a:rPr lang="en-US"/>
              <a:t>0 if input is on one side of the line</a:t>
            </a:r>
            <a:endParaRPr/>
          </a:p>
          <a:p>
            <a:pPr indent="-428615" lvl="0" marL="428615" rtl="0" algn="l">
              <a:lnSpc>
                <a:spcPct val="90000"/>
              </a:lnSpc>
              <a:spcBef>
                <a:spcPts val="1050"/>
              </a:spcBef>
              <a:spcAft>
                <a:spcPts val="0"/>
              </a:spcAft>
              <a:buSzPct val="100000"/>
              <a:buFont typeface="Arial"/>
              <a:buChar char="•"/>
            </a:pPr>
            <a:r>
              <a:rPr lang="en-US"/>
              <a:t>1 if on the other side of the line </a:t>
            </a:r>
            <a:endParaRPr/>
          </a:p>
          <a:p>
            <a:pPr indent="-7938" lvl="0" marL="7938" rtl="0" algn="l">
              <a:lnSpc>
                <a:spcPct val="90000"/>
              </a:lnSpc>
              <a:spcBef>
                <a:spcPts val="1050"/>
              </a:spcBef>
              <a:spcAft>
                <a:spcPts val="0"/>
              </a:spcAft>
              <a:buSzPct val="100000"/>
              <a:buNone/>
            </a:pPr>
            <a:r>
              <a:t/>
            </a:r>
            <a:endParaRPr/>
          </a:p>
          <a:p>
            <a:pPr indent="-7938" lvl="0" marL="7938" rtl="0" algn="l">
              <a:lnSpc>
                <a:spcPct val="90000"/>
              </a:lnSpc>
              <a:spcBef>
                <a:spcPts val="1050"/>
              </a:spcBef>
              <a:spcAft>
                <a:spcPts val="0"/>
              </a:spcAft>
              <a:buSzPct val="1000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2"/>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Decision boundaries</a:t>
            </a:r>
            <a:endParaRPr/>
          </a:p>
        </p:txBody>
      </p:sp>
      <p:pic>
        <p:nvPicPr>
          <p:cNvPr id="298" name="Google Shape;298;p22"/>
          <p:cNvPicPr preferRelativeResize="0"/>
          <p:nvPr>
            <p:ph idx="1" type="body"/>
          </p:nvPr>
        </p:nvPicPr>
        <p:blipFill rotWithShape="1">
          <a:blip r:embed="rId3">
            <a:alphaModFix/>
          </a:blip>
          <a:srcRect b="0" l="0" r="0" t="0"/>
          <a:stretch/>
        </p:blipFill>
        <p:spPr>
          <a:xfrm>
            <a:off x="822722" y="1505111"/>
            <a:ext cx="7543800" cy="2819081"/>
          </a:xfrm>
          <a:prstGeom prst="rect">
            <a:avLst/>
          </a:prstGeom>
          <a:noFill/>
          <a:ln>
            <a:noFill/>
          </a:ln>
        </p:spPr>
      </p:pic>
      <p:sp>
        <p:nvSpPr>
          <p:cNvPr id="299" name="Google Shape;299;p22"/>
          <p:cNvSpPr txBox="1"/>
          <p:nvPr/>
        </p:nvSpPr>
        <p:spPr>
          <a:xfrm>
            <a:off x="1143002" y="4569190"/>
            <a:ext cx="5864491" cy="5078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700">
                <a:solidFill>
                  <a:schemeClr val="dk1"/>
                </a:solidFill>
                <a:latin typeface="Calibri"/>
                <a:ea typeface="Calibri"/>
                <a:cs typeface="Calibri"/>
                <a:sym typeface="Calibri"/>
              </a:rPr>
              <a:t>XOR is not a </a:t>
            </a:r>
            <a:r>
              <a:rPr b="1" lang="en-US" sz="2700">
                <a:solidFill>
                  <a:schemeClr val="dk1"/>
                </a:solidFill>
                <a:latin typeface="Calibri"/>
                <a:ea typeface="Calibri"/>
                <a:cs typeface="Calibri"/>
                <a:sym typeface="Calibri"/>
              </a:rPr>
              <a:t>linearly separable </a:t>
            </a:r>
            <a:r>
              <a:rPr lang="en-US" sz="2700">
                <a:solidFill>
                  <a:schemeClr val="dk1"/>
                </a:solidFill>
                <a:latin typeface="Calibri"/>
                <a:ea typeface="Calibri"/>
                <a:cs typeface="Calibri"/>
                <a:sym typeface="Calibri"/>
              </a:rPr>
              <a:t>function!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3"/>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Solution to the XOR problem</a:t>
            </a:r>
            <a:endParaRPr/>
          </a:p>
        </p:txBody>
      </p:sp>
      <p:sp>
        <p:nvSpPr>
          <p:cNvPr id="306" name="Google Shape;306;p23"/>
          <p:cNvSpPr txBox="1"/>
          <p:nvPr>
            <p:ph idx="1" type="body"/>
          </p:nvPr>
        </p:nvSpPr>
        <p:spPr>
          <a:xfrm>
            <a:off x="822962" y="1200150"/>
            <a:ext cx="8035289" cy="34290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XOR </a:t>
            </a:r>
            <a:r>
              <a:rPr b="1" lang="en-US"/>
              <a:t>can't</a:t>
            </a:r>
            <a:r>
              <a:rPr lang="en-US"/>
              <a:t> be calculated by a single perceptron</a:t>
            </a:r>
            <a:endParaRPr/>
          </a:p>
          <a:p>
            <a:pPr indent="-7938" lvl="0" marL="7938" rtl="0" algn="l">
              <a:lnSpc>
                <a:spcPct val="90000"/>
              </a:lnSpc>
              <a:spcBef>
                <a:spcPts val="1050"/>
              </a:spcBef>
              <a:spcAft>
                <a:spcPts val="0"/>
              </a:spcAft>
              <a:buSzPts val="2800"/>
              <a:buNone/>
            </a:pPr>
            <a:r>
              <a:rPr lang="en-US"/>
              <a:t>XOR </a:t>
            </a:r>
            <a:r>
              <a:rPr b="1" lang="en-US"/>
              <a:t>can</a:t>
            </a:r>
            <a:r>
              <a:rPr lang="en-US"/>
              <a:t> be calculated by a layered network of units. </a:t>
            </a:r>
            <a:endParaRPr/>
          </a:p>
          <a:p>
            <a:pPr indent="-7938" lvl="0" marL="7938" rtl="0" algn="l">
              <a:lnSpc>
                <a:spcPct val="90000"/>
              </a:lnSpc>
              <a:spcBef>
                <a:spcPts val="1050"/>
              </a:spcBef>
              <a:spcAft>
                <a:spcPts val="0"/>
              </a:spcAft>
              <a:buSzPts val="2800"/>
              <a:buNone/>
            </a:pPr>
            <a:r>
              <a:t/>
            </a:r>
            <a:endParaRPr/>
          </a:p>
        </p:txBody>
      </p:sp>
      <p:pic>
        <p:nvPicPr>
          <p:cNvPr id="307" name="Google Shape;307;p23"/>
          <p:cNvPicPr preferRelativeResize="0"/>
          <p:nvPr/>
        </p:nvPicPr>
        <p:blipFill rotWithShape="1">
          <a:blip r:embed="rId3">
            <a:alphaModFix/>
          </a:blip>
          <a:srcRect b="0" l="0" r="0" t="0"/>
          <a:stretch/>
        </p:blipFill>
        <p:spPr>
          <a:xfrm>
            <a:off x="2686050" y="2207420"/>
            <a:ext cx="3371850" cy="2447925"/>
          </a:xfrm>
          <a:prstGeom prst="rect">
            <a:avLst/>
          </a:prstGeom>
          <a:noFill/>
          <a:ln>
            <a:noFill/>
          </a:ln>
        </p:spPr>
      </p:pic>
      <p:pic>
        <p:nvPicPr>
          <p:cNvPr id="308" name="Google Shape;308;p23"/>
          <p:cNvPicPr preferRelativeResize="0"/>
          <p:nvPr/>
        </p:nvPicPr>
        <p:blipFill rotWithShape="1">
          <a:blip r:embed="rId4">
            <a:alphaModFix/>
          </a:blip>
          <a:srcRect b="0" l="74938" r="0" t="0"/>
          <a:stretch/>
        </p:blipFill>
        <p:spPr>
          <a:xfrm>
            <a:off x="529968" y="2400301"/>
            <a:ext cx="1253114" cy="2062163"/>
          </a:xfrm>
          <a:prstGeom prst="rect">
            <a:avLst/>
          </a:prstGeom>
          <a:noFill/>
          <a:ln>
            <a:noFill/>
          </a:ln>
        </p:spPr>
      </p:pic>
      <p:sp>
        <p:nvSpPr>
          <p:cNvPr id="309" name="Google Shape;309;p23"/>
          <p:cNvSpPr txBox="1"/>
          <p:nvPr/>
        </p:nvSpPr>
        <p:spPr>
          <a:xfrm>
            <a:off x="2286410" y="3154383"/>
            <a:ext cx="661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ReLU</a:t>
            </a:r>
            <a:endParaRPr sz="1800">
              <a:solidFill>
                <a:schemeClr val="dk1"/>
              </a:solidFill>
              <a:latin typeface="Calibri"/>
              <a:ea typeface="Calibri"/>
              <a:cs typeface="Calibri"/>
              <a:sym typeface="Calibri"/>
            </a:endParaRPr>
          </a:p>
        </p:txBody>
      </p:sp>
      <p:sp>
        <p:nvSpPr>
          <p:cNvPr id="310" name="Google Shape;310;p23"/>
          <p:cNvSpPr txBox="1"/>
          <p:nvPr/>
        </p:nvSpPr>
        <p:spPr>
          <a:xfrm>
            <a:off x="2731349" y="2227176"/>
            <a:ext cx="661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ReLU</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4"/>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Solution to the XOR problem</a:t>
            </a:r>
            <a:endParaRPr/>
          </a:p>
        </p:txBody>
      </p:sp>
      <p:sp>
        <p:nvSpPr>
          <p:cNvPr id="317" name="Google Shape;317;p24"/>
          <p:cNvSpPr txBox="1"/>
          <p:nvPr>
            <p:ph idx="1" type="body"/>
          </p:nvPr>
        </p:nvSpPr>
        <p:spPr>
          <a:xfrm>
            <a:off x="822962" y="1200150"/>
            <a:ext cx="8035289" cy="34290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XOR </a:t>
            </a:r>
            <a:r>
              <a:rPr b="1" lang="en-US"/>
              <a:t>can't</a:t>
            </a:r>
            <a:r>
              <a:rPr lang="en-US"/>
              <a:t> be calculated by a single perceptron</a:t>
            </a:r>
            <a:endParaRPr/>
          </a:p>
          <a:p>
            <a:pPr indent="-7938" lvl="0" marL="7938" rtl="0" algn="l">
              <a:lnSpc>
                <a:spcPct val="90000"/>
              </a:lnSpc>
              <a:spcBef>
                <a:spcPts val="1050"/>
              </a:spcBef>
              <a:spcAft>
                <a:spcPts val="0"/>
              </a:spcAft>
              <a:buSzPts val="2800"/>
              <a:buNone/>
            </a:pPr>
            <a:r>
              <a:rPr lang="en-US"/>
              <a:t>XOR </a:t>
            </a:r>
            <a:r>
              <a:rPr b="1" lang="en-US"/>
              <a:t>can</a:t>
            </a:r>
            <a:r>
              <a:rPr lang="en-US"/>
              <a:t> be calculated by a layered network of units. </a:t>
            </a:r>
            <a:endParaRPr/>
          </a:p>
          <a:p>
            <a:pPr indent="-7938" lvl="0" marL="7938" rtl="0" algn="l">
              <a:lnSpc>
                <a:spcPct val="90000"/>
              </a:lnSpc>
              <a:spcBef>
                <a:spcPts val="1050"/>
              </a:spcBef>
              <a:spcAft>
                <a:spcPts val="0"/>
              </a:spcAft>
              <a:buSzPts val="2800"/>
              <a:buNone/>
            </a:pPr>
            <a:r>
              <a:t/>
            </a:r>
            <a:endParaRPr/>
          </a:p>
        </p:txBody>
      </p:sp>
      <p:pic>
        <p:nvPicPr>
          <p:cNvPr id="318" name="Google Shape;318;p24"/>
          <p:cNvPicPr preferRelativeResize="0"/>
          <p:nvPr/>
        </p:nvPicPr>
        <p:blipFill rotWithShape="1">
          <a:blip r:embed="rId3">
            <a:alphaModFix/>
          </a:blip>
          <a:srcRect b="0" l="0" r="0" t="0"/>
          <a:stretch/>
        </p:blipFill>
        <p:spPr>
          <a:xfrm>
            <a:off x="2686050" y="2207420"/>
            <a:ext cx="3371850" cy="2447925"/>
          </a:xfrm>
          <a:prstGeom prst="rect">
            <a:avLst/>
          </a:prstGeom>
          <a:noFill/>
          <a:ln>
            <a:noFill/>
          </a:ln>
        </p:spPr>
      </p:pic>
      <p:pic>
        <p:nvPicPr>
          <p:cNvPr id="319" name="Google Shape;319;p24"/>
          <p:cNvPicPr preferRelativeResize="0"/>
          <p:nvPr/>
        </p:nvPicPr>
        <p:blipFill rotWithShape="1">
          <a:blip r:embed="rId4">
            <a:alphaModFix/>
          </a:blip>
          <a:srcRect b="0" l="74938" r="0" t="0"/>
          <a:stretch/>
        </p:blipFill>
        <p:spPr>
          <a:xfrm>
            <a:off x="529968" y="2400301"/>
            <a:ext cx="1253114" cy="206216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5"/>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The hidden representation h</a:t>
            </a:r>
            <a:endParaRPr/>
          </a:p>
        </p:txBody>
      </p:sp>
      <p:pic>
        <p:nvPicPr>
          <p:cNvPr id="326" name="Google Shape;326;p25"/>
          <p:cNvPicPr preferRelativeResize="0"/>
          <p:nvPr>
            <p:ph idx="1" type="body"/>
          </p:nvPr>
        </p:nvPicPr>
        <p:blipFill rotWithShape="1">
          <a:blip r:embed="rId3">
            <a:alphaModFix/>
          </a:blip>
          <a:srcRect b="0" l="0" r="0" t="0"/>
          <a:stretch/>
        </p:blipFill>
        <p:spPr>
          <a:xfrm>
            <a:off x="1314451" y="1200150"/>
            <a:ext cx="7013660" cy="3220828"/>
          </a:xfrm>
          <a:prstGeom prst="rect">
            <a:avLst/>
          </a:prstGeom>
          <a:noFill/>
          <a:ln>
            <a:noFill/>
          </a:ln>
        </p:spPr>
      </p:pic>
      <p:pic>
        <p:nvPicPr>
          <p:cNvPr id="327" name="Google Shape;327;p25"/>
          <p:cNvPicPr preferRelativeResize="0"/>
          <p:nvPr/>
        </p:nvPicPr>
        <p:blipFill rotWithShape="1">
          <a:blip r:embed="rId4">
            <a:alphaModFix/>
          </a:blip>
          <a:srcRect b="0" l="0" r="0" t="0"/>
          <a:stretch/>
        </p:blipFill>
        <p:spPr>
          <a:xfrm>
            <a:off x="7200900" y="177745"/>
            <a:ext cx="1714500" cy="1244708"/>
          </a:xfrm>
          <a:prstGeom prst="rect">
            <a:avLst/>
          </a:prstGeom>
          <a:noFill/>
          <a:ln>
            <a:noFill/>
          </a:ln>
        </p:spPr>
      </p:pic>
      <p:sp>
        <p:nvSpPr>
          <p:cNvPr id="328" name="Google Shape;328;p25"/>
          <p:cNvSpPr txBox="1"/>
          <p:nvPr/>
        </p:nvSpPr>
        <p:spPr>
          <a:xfrm>
            <a:off x="1028702" y="4635648"/>
            <a:ext cx="7938007" cy="4154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100">
                <a:solidFill>
                  <a:schemeClr val="dk1"/>
                </a:solidFill>
                <a:latin typeface="Calibri"/>
                <a:ea typeface="Calibri"/>
                <a:cs typeface="Calibri"/>
                <a:sym typeface="Calibri"/>
              </a:rPr>
              <a:t>(With learning:  hidden layers will learn to form useful representations)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6"/>
          <p:cNvSpPr txBox="1"/>
          <p:nvPr>
            <p:ph type="title"/>
          </p:nvPr>
        </p:nvSpPr>
        <p:spPr>
          <a:xfrm>
            <a:off x="342900" y="445769"/>
            <a:ext cx="2400300" cy="1714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chemeClr val="lt1"/>
              </a:buClr>
              <a:buSzPct val="100000"/>
              <a:buFont typeface="Calibri"/>
              <a:buNone/>
            </a:pPr>
            <a:r>
              <a:rPr lang="en-US" sz="3000">
                <a:solidFill>
                  <a:schemeClr val="lt1"/>
                </a:solidFill>
              </a:rPr>
              <a:t>Simple Neural Networks and Neural Language Models</a:t>
            </a:r>
            <a:endParaRPr sz="3000">
              <a:solidFill>
                <a:schemeClr val="lt1"/>
              </a:solidFill>
            </a:endParaRPr>
          </a:p>
        </p:txBody>
      </p:sp>
      <p:sp>
        <p:nvSpPr>
          <p:cNvPr id="335" name="Google Shape;335;p26"/>
          <p:cNvSpPr txBox="1"/>
          <p:nvPr>
            <p:ph idx="1" type="body"/>
          </p:nvPr>
        </p:nvSpPr>
        <p:spPr>
          <a:xfrm>
            <a:off x="3460240" y="548640"/>
            <a:ext cx="5009393" cy="3943350"/>
          </a:xfrm>
          <a:prstGeom prst="rect">
            <a:avLst/>
          </a:prstGeom>
          <a:noFill/>
          <a:ln>
            <a:noFill/>
          </a:ln>
        </p:spPr>
        <p:txBody>
          <a:bodyPr anchorCtr="0" anchor="t" bIns="45700" lIns="0" spcFirstLastPara="1" rIns="0" wrap="square" tIns="45700">
            <a:normAutofit/>
          </a:bodyPr>
          <a:lstStyle/>
          <a:p>
            <a:pPr indent="-190500" lvl="0" marL="68577" rtl="0" algn="l">
              <a:lnSpc>
                <a:spcPct val="90000"/>
              </a:lnSpc>
              <a:spcBef>
                <a:spcPts val="0"/>
              </a:spcBef>
              <a:spcAft>
                <a:spcPts val="0"/>
              </a:spcAft>
              <a:buSzPts val="3000"/>
              <a:buChar char=" "/>
            </a:pPr>
            <a:r>
              <a:rPr lang="en-US" sz="3000">
                <a:solidFill>
                  <a:schemeClr val="dk2"/>
                </a:solidFill>
              </a:rPr>
              <a:t>The XOR problem</a:t>
            </a:r>
            <a:endParaRPr sz="3000">
              <a:solidFill>
                <a:schemeClr val="dk2"/>
              </a:solidFill>
            </a:endParaRPr>
          </a:p>
        </p:txBody>
      </p:sp>
      <p:sp>
        <p:nvSpPr>
          <p:cNvPr id="336" name="Google Shape;336;p26"/>
          <p:cNvSpPr txBox="1"/>
          <p:nvPr>
            <p:ph idx="2" type="body"/>
          </p:nvPr>
        </p:nvSpPr>
        <p:spPr>
          <a:xfrm>
            <a:off x="342900" y="2194562"/>
            <a:ext cx="2400300" cy="25343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125"/>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7"/>
          <p:cNvSpPr txBox="1"/>
          <p:nvPr>
            <p:ph type="title"/>
          </p:nvPr>
        </p:nvSpPr>
        <p:spPr>
          <a:xfrm>
            <a:off x="342900" y="445769"/>
            <a:ext cx="2400300" cy="1714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chemeClr val="lt1"/>
              </a:buClr>
              <a:buSzPct val="100000"/>
              <a:buFont typeface="Calibri"/>
              <a:buNone/>
            </a:pPr>
            <a:r>
              <a:rPr lang="en-US" sz="3000">
                <a:solidFill>
                  <a:schemeClr val="lt1"/>
                </a:solidFill>
              </a:rPr>
              <a:t>Simple Neural Networks and Neural Language Models</a:t>
            </a:r>
            <a:endParaRPr sz="3000">
              <a:solidFill>
                <a:schemeClr val="lt1"/>
              </a:solidFill>
            </a:endParaRPr>
          </a:p>
        </p:txBody>
      </p:sp>
      <p:sp>
        <p:nvSpPr>
          <p:cNvPr id="343" name="Google Shape;343;p27"/>
          <p:cNvSpPr txBox="1"/>
          <p:nvPr>
            <p:ph idx="1" type="body"/>
          </p:nvPr>
        </p:nvSpPr>
        <p:spPr>
          <a:xfrm>
            <a:off x="3460240" y="548640"/>
            <a:ext cx="5009393" cy="3943350"/>
          </a:xfrm>
          <a:prstGeom prst="rect">
            <a:avLst/>
          </a:prstGeom>
          <a:noFill/>
          <a:ln>
            <a:noFill/>
          </a:ln>
        </p:spPr>
        <p:txBody>
          <a:bodyPr anchorCtr="0" anchor="t" bIns="45700" lIns="0" spcFirstLastPara="1" rIns="0" wrap="square" tIns="45700">
            <a:normAutofit/>
          </a:bodyPr>
          <a:lstStyle/>
          <a:p>
            <a:pPr indent="-190500" lvl="0" marL="68577" rtl="0" algn="l">
              <a:lnSpc>
                <a:spcPct val="90000"/>
              </a:lnSpc>
              <a:spcBef>
                <a:spcPts val="0"/>
              </a:spcBef>
              <a:spcAft>
                <a:spcPts val="0"/>
              </a:spcAft>
              <a:buSzPts val="3000"/>
              <a:buChar char=" "/>
            </a:pPr>
            <a:r>
              <a:rPr lang="en-US" sz="3000">
                <a:solidFill>
                  <a:schemeClr val="dk2"/>
                </a:solidFill>
              </a:rPr>
              <a:t>Feedforward Neural Networks</a:t>
            </a:r>
            <a:endParaRPr/>
          </a:p>
        </p:txBody>
      </p:sp>
      <p:sp>
        <p:nvSpPr>
          <p:cNvPr id="344" name="Google Shape;344;p27"/>
          <p:cNvSpPr txBox="1"/>
          <p:nvPr>
            <p:ph idx="2" type="body"/>
          </p:nvPr>
        </p:nvSpPr>
        <p:spPr>
          <a:xfrm>
            <a:off x="342900" y="2194562"/>
            <a:ext cx="2400300" cy="25343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125"/>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8"/>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Feedforward Neural Networks</a:t>
            </a:r>
            <a:endParaRPr/>
          </a:p>
        </p:txBody>
      </p:sp>
      <p:sp>
        <p:nvSpPr>
          <p:cNvPr id="351" name="Google Shape;351;p28"/>
          <p:cNvSpPr txBox="1"/>
          <p:nvPr>
            <p:ph idx="1" type="body"/>
          </p:nvPr>
        </p:nvSpPr>
        <p:spPr>
          <a:xfrm>
            <a:off x="822962" y="1200150"/>
            <a:ext cx="7543801" cy="34290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Can also be called </a:t>
            </a:r>
            <a:r>
              <a:rPr b="1" lang="en-US"/>
              <a:t>multi-layer perceptrons </a:t>
            </a:r>
            <a:r>
              <a:rPr lang="en-US"/>
              <a:t>(or </a:t>
            </a:r>
            <a:r>
              <a:rPr b="1" lang="en-US"/>
              <a:t>MLPs</a:t>
            </a:r>
            <a:r>
              <a:rPr lang="en-US"/>
              <a:t>)  for historical reasons</a:t>
            </a:r>
            <a:endParaRPr/>
          </a:p>
          <a:p>
            <a:pPr indent="-7938" lvl="0" marL="7938" rtl="0" algn="l">
              <a:lnSpc>
                <a:spcPct val="90000"/>
              </a:lnSpc>
              <a:spcBef>
                <a:spcPts val="1050"/>
              </a:spcBef>
              <a:spcAft>
                <a:spcPts val="0"/>
              </a:spcAft>
              <a:buSzPts val="2800"/>
              <a:buNone/>
            </a:pPr>
            <a:r>
              <a:t/>
            </a:r>
            <a:endParaRPr/>
          </a:p>
        </p:txBody>
      </p:sp>
      <p:pic>
        <p:nvPicPr>
          <p:cNvPr id="352" name="Google Shape;352;p28"/>
          <p:cNvPicPr preferRelativeResize="0"/>
          <p:nvPr/>
        </p:nvPicPr>
        <p:blipFill rotWithShape="1">
          <a:blip r:embed="rId3">
            <a:alphaModFix/>
          </a:blip>
          <a:srcRect b="0" l="0" r="0" t="0"/>
          <a:stretch/>
        </p:blipFill>
        <p:spPr>
          <a:xfrm>
            <a:off x="2345272" y="2286001"/>
            <a:ext cx="4453459" cy="265271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9"/>
          <p:cNvSpPr txBox="1"/>
          <p:nvPr>
            <p:ph type="title"/>
          </p:nvPr>
        </p:nvSpPr>
        <p:spPr>
          <a:xfrm>
            <a:off x="742950" y="0"/>
            <a:ext cx="8172450" cy="8001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b="0" lang="en-US"/>
              <a:t>Binary Logistic Regression as a 1-layer Network</a:t>
            </a:r>
            <a:endParaRPr/>
          </a:p>
        </p:txBody>
      </p:sp>
      <p:sp>
        <p:nvSpPr>
          <p:cNvPr id="359" name="Google Shape;359;p29"/>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0" name="Google Shape;360;p29"/>
          <p:cNvSpPr/>
          <p:nvPr/>
        </p:nvSpPr>
        <p:spPr>
          <a:xfrm>
            <a:off x="3581400" y="2724152"/>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361" name="Google Shape;361;p29"/>
          <p:cNvSpPr/>
          <p:nvPr/>
        </p:nvSpPr>
        <p:spPr>
          <a:xfrm>
            <a:off x="4399197" y="1657352"/>
            <a:ext cx="458554" cy="454432"/>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p:txBody>
      </p:sp>
      <p:cxnSp>
        <p:nvCxnSpPr>
          <p:cNvPr id="362" name="Google Shape;362;p29"/>
          <p:cNvCxnSpPr/>
          <p:nvPr/>
        </p:nvCxnSpPr>
        <p:spPr>
          <a:xfrm flipH="1" rot="10800000">
            <a:off x="3695701" y="534754"/>
            <a:ext cx="703496" cy="1122596"/>
          </a:xfrm>
          <a:prstGeom prst="straightConnector1">
            <a:avLst/>
          </a:prstGeom>
          <a:noFill/>
          <a:ln>
            <a:noFill/>
          </a:ln>
        </p:spPr>
      </p:cxnSp>
      <p:sp>
        <p:nvSpPr>
          <p:cNvPr id="363" name="Google Shape;363;p29"/>
          <p:cNvSpPr/>
          <p:nvPr/>
        </p:nvSpPr>
        <p:spPr>
          <a:xfrm>
            <a:off x="3962400" y="4552952"/>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364" name="Google Shape;364;p29"/>
          <p:cNvSpPr/>
          <p:nvPr/>
        </p:nvSpPr>
        <p:spPr>
          <a:xfrm>
            <a:off x="205740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365" name="Google Shape;365;p29"/>
          <p:cNvSpPr/>
          <p:nvPr/>
        </p:nvSpPr>
        <p:spPr>
          <a:xfrm>
            <a:off x="5867401" y="4171952"/>
            <a:ext cx="457196"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366" name="Google Shape;366;p29"/>
          <p:cNvSpPr/>
          <p:nvPr/>
        </p:nvSpPr>
        <p:spPr>
          <a:xfrm>
            <a:off x="4343400" y="4180273"/>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367" name="Google Shape;367;p29"/>
          <p:cNvSpPr/>
          <p:nvPr/>
        </p:nvSpPr>
        <p:spPr>
          <a:xfrm>
            <a:off x="320040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368" name="Google Shape;368;p29"/>
          <p:cNvCxnSpPr>
            <a:stCxn id="364" idx="0"/>
          </p:cNvCxnSpPr>
          <p:nvPr/>
        </p:nvCxnSpPr>
        <p:spPr>
          <a:xfrm flipH="1" rot="10800000">
            <a:off x="2286000" y="3049352"/>
            <a:ext cx="2418000" cy="1122600"/>
          </a:xfrm>
          <a:prstGeom prst="straightConnector1">
            <a:avLst/>
          </a:prstGeom>
          <a:noFill/>
          <a:ln>
            <a:noFill/>
          </a:ln>
        </p:spPr>
      </p:cxnSp>
      <p:sp>
        <p:nvSpPr>
          <p:cNvPr id="369" name="Google Shape;369;p29"/>
          <p:cNvSpPr/>
          <p:nvPr/>
        </p:nvSpPr>
        <p:spPr>
          <a:xfrm>
            <a:off x="7334251" y="4171952"/>
            <a:ext cx="457196"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370" name="Google Shape;370;p29"/>
          <p:cNvCxnSpPr>
            <a:stCxn id="369" idx="1"/>
            <a:endCxn id="361" idx="4"/>
          </p:cNvCxnSpPr>
          <p:nvPr/>
        </p:nvCxnSpPr>
        <p:spPr>
          <a:xfrm rot="10800000">
            <a:off x="4628606" y="2111671"/>
            <a:ext cx="2772600" cy="2130000"/>
          </a:xfrm>
          <a:prstGeom prst="straightConnector1">
            <a:avLst/>
          </a:prstGeom>
          <a:noFill/>
          <a:ln cap="flat" cmpd="sng" w="15875">
            <a:solidFill>
              <a:schemeClr val="accent4"/>
            </a:solidFill>
            <a:prstDash val="solid"/>
            <a:round/>
            <a:headEnd len="sm" w="sm" type="none"/>
            <a:tailEnd len="med" w="med" type="stealth"/>
          </a:ln>
        </p:spPr>
      </p:cxnSp>
      <p:cxnSp>
        <p:nvCxnSpPr>
          <p:cNvPr id="371" name="Google Shape;371;p29"/>
          <p:cNvCxnSpPr>
            <a:stCxn id="366" idx="0"/>
            <a:endCxn id="361" idx="4"/>
          </p:cNvCxnSpPr>
          <p:nvPr/>
        </p:nvCxnSpPr>
        <p:spPr>
          <a:xfrm flipH="1" rot="10800000">
            <a:off x="4572000" y="2111773"/>
            <a:ext cx="56400" cy="2068500"/>
          </a:xfrm>
          <a:prstGeom prst="straightConnector1">
            <a:avLst/>
          </a:prstGeom>
          <a:noFill/>
          <a:ln cap="flat" cmpd="sng" w="15875">
            <a:solidFill>
              <a:schemeClr val="accent4"/>
            </a:solidFill>
            <a:prstDash val="solid"/>
            <a:round/>
            <a:headEnd len="sm" w="sm" type="none"/>
            <a:tailEnd len="med" w="med" type="stealth"/>
          </a:ln>
        </p:spPr>
      </p:cxnSp>
      <p:sp>
        <p:nvSpPr>
          <p:cNvPr id="372" name="Google Shape;372;p29"/>
          <p:cNvSpPr txBox="1"/>
          <p:nvPr/>
        </p:nvSpPr>
        <p:spPr>
          <a:xfrm>
            <a:off x="1416102" y="2661864"/>
            <a:ext cx="966502"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rgbClr val="590A0E"/>
                </a:solidFill>
                <a:latin typeface="Times New Roman"/>
                <a:ea typeface="Times New Roman"/>
                <a:cs typeface="Times New Roman"/>
                <a:sym typeface="Times New Roman"/>
              </a:rPr>
              <a:t>w</a:t>
            </a:r>
            <a:endParaRPr/>
          </a:p>
        </p:txBody>
      </p:sp>
      <p:sp>
        <p:nvSpPr>
          <p:cNvPr id="373" name="Google Shape;373;p29"/>
          <p:cNvSpPr txBox="1"/>
          <p:nvPr/>
        </p:nvSpPr>
        <p:spPr>
          <a:xfrm>
            <a:off x="5886451" y="4171952"/>
            <a:ext cx="492251" cy="5078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700">
                <a:solidFill>
                  <a:schemeClr val="dk1"/>
                </a:solidFill>
                <a:latin typeface="Calibri"/>
                <a:ea typeface="Calibri"/>
                <a:cs typeface="Calibri"/>
                <a:sym typeface="Calibri"/>
              </a:rPr>
              <a:t>x</a:t>
            </a:r>
            <a:r>
              <a:rPr baseline="-25000" lang="en-US" sz="2700">
                <a:solidFill>
                  <a:schemeClr val="dk1"/>
                </a:solidFill>
                <a:latin typeface="Calibri"/>
                <a:ea typeface="Calibri"/>
                <a:cs typeface="Calibri"/>
                <a:sym typeface="Calibri"/>
              </a:rPr>
              <a:t>n</a:t>
            </a:r>
            <a:endParaRPr baseline="-25000" sz="2700">
              <a:solidFill>
                <a:schemeClr val="dk1"/>
              </a:solidFill>
              <a:latin typeface="Calibri"/>
              <a:ea typeface="Calibri"/>
              <a:cs typeface="Calibri"/>
              <a:sym typeface="Calibri"/>
            </a:endParaRPr>
          </a:p>
        </p:txBody>
      </p:sp>
      <p:sp>
        <p:nvSpPr>
          <p:cNvPr id="374" name="Google Shape;374;p29"/>
          <p:cNvSpPr txBox="1"/>
          <p:nvPr/>
        </p:nvSpPr>
        <p:spPr>
          <a:xfrm>
            <a:off x="2057400" y="4114802"/>
            <a:ext cx="457200" cy="5078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700">
                <a:solidFill>
                  <a:schemeClr val="dk1"/>
                </a:solidFill>
                <a:latin typeface="Calibri"/>
                <a:ea typeface="Calibri"/>
                <a:cs typeface="Calibri"/>
                <a:sym typeface="Calibri"/>
              </a:rPr>
              <a:t>x</a:t>
            </a:r>
            <a:r>
              <a:rPr baseline="-25000" lang="en-US" sz="2700">
                <a:solidFill>
                  <a:schemeClr val="dk1"/>
                </a:solidFill>
                <a:latin typeface="Calibri"/>
                <a:ea typeface="Calibri"/>
                <a:cs typeface="Calibri"/>
                <a:sym typeface="Calibri"/>
              </a:rPr>
              <a:t>1</a:t>
            </a:r>
            <a:endParaRPr/>
          </a:p>
        </p:txBody>
      </p:sp>
      <p:cxnSp>
        <p:nvCxnSpPr>
          <p:cNvPr id="375" name="Google Shape;375;p29"/>
          <p:cNvCxnSpPr>
            <a:stCxn id="365" idx="1"/>
            <a:endCxn id="361" idx="4"/>
          </p:cNvCxnSpPr>
          <p:nvPr/>
        </p:nvCxnSpPr>
        <p:spPr>
          <a:xfrm rot="10800000">
            <a:off x="4628456" y="2111671"/>
            <a:ext cx="1305900" cy="2130000"/>
          </a:xfrm>
          <a:prstGeom prst="straightConnector1">
            <a:avLst/>
          </a:prstGeom>
          <a:noFill/>
          <a:ln cap="flat" cmpd="sng" w="15875">
            <a:solidFill>
              <a:schemeClr val="accent4"/>
            </a:solidFill>
            <a:prstDash val="solid"/>
            <a:round/>
            <a:headEnd len="sm" w="sm" type="none"/>
            <a:tailEnd len="med" w="med" type="stealth"/>
          </a:ln>
        </p:spPr>
      </p:cxnSp>
      <p:cxnSp>
        <p:nvCxnSpPr>
          <p:cNvPr id="376" name="Google Shape;376;p29"/>
          <p:cNvCxnSpPr>
            <a:stCxn id="364" idx="7"/>
            <a:endCxn id="361" idx="4"/>
          </p:cNvCxnSpPr>
          <p:nvPr/>
        </p:nvCxnSpPr>
        <p:spPr>
          <a:xfrm flipH="1" rot="10800000">
            <a:off x="2447645" y="2111671"/>
            <a:ext cx="2180700" cy="2130000"/>
          </a:xfrm>
          <a:prstGeom prst="straightConnector1">
            <a:avLst/>
          </a:prstGeom>
          <a:noFill/>
          <a:ln cap="flat" cmpd="sng" w="15875">
            <a:solidFill>
              <a:schemeClr val="accent4"/>
            </a:solidFill>
            <a:prstDash val="solid"/>
            <a:round/>
            <a:headEnd len="sm" w="sm" type="none"/>
            <a:tailEnd len="med" w="med" type="stealth"/>
          </a:ln>
        </p:spPr>
      </p:cxnSp>
      <p:cxnSp>
        <p:nvCxnSpPr>
          <p:cNvPr id="377" name="Google Shape;377;p29"/>
          <p:cNvCxnSpPr>
            <a:stCxn id="367" idx="0"/>
            <a:endCxn id="361" idx="4"/>
          </p:cNvCxnSpPr>
          <p:nvPr/>
        </p:nvCxnSpPr>
        <p:spPr>
          <a:xfrm flipH="1" rot="10800000">
            <a:off x="3429000" y="2111852"/>
            <a:ext cx="1199400" cy="2060100"/>
          </a:xfrm>
          <a:prstGeom prst="straightConnector1">
            <a:avLst/>
          </a:prstGeom>
          <a:noFill/>
          <a:ln cap="flat" cmpd="sng" w="15875">
            <a:solidFill>
              <a:schemeClr val="accent4"/>
            </a:solidFill>
            <a:prstDash val="solid"/>
            <a:round/>
            <a:headEnd len="sm" w="sm" type="none"/>
            <a:tailEnd len="med" w="med" type="stealth"/>
          </a:ln>
        </p:spPr>
      </p:cxnSp>
      <p:sp>
        <p:nvSpPr>
          <p:cNvPr id="378" name="Google Shape;378;p29"/>
          <p:cNvSpPr txBox="1"/>
          <p:nvPr/>
        </p:nvSpPr>
        <p:spPr>
          <a:xfrm>
            <a:off x="5410200" y="1637285"/>
            <a:ext cx="2698698" cy="507831"/>
          </a:xfrm>
          <a:prstGeom prst="rect">
            <a:avLst/>
          </a:prstGeom>
          <a:blipFill rotWithShape="1">
            <a:blip r:embed="rId3">
              <a:alphaModFix/>
            </a:blip>
            <a:stretch>
              <a:fillRect b="-19999" l="0" r="-140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379" name="Google Shape;379;p29"/>
          <p:cNvSpPr txBox="1"/>
          <p:nvPr/>
        </p:nvSpPr>
        <p:spPr>
          <a:xfrm>
            <a:off x="7286450" y="4171952"/>
            <a:ext cx="583141" cy="5078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700">
                <a:solidFill>
                  <a:schemeClr val="dk1"/>
                </a:solidFill>
                <a:latin typeface="Calibri"/>
                <a:ea typeface="Calibri"/>
                <a:cs typeface="Calibri"/>
                <a:sym typeface="Calibri"/>
              </a:rPr>
              <a:t>+1</a:t>
            </a:r>
            <a:endParaRPr/>
          </a:p>
        </p:txBody>
      </p:sp>
      <p:sp>
        <p:nvSpPr>
          <p:cNvPr id="380" name="Google Shape;380;p29"/>
          <p:cNvSpPr txBox="1"/>
          <p:nvPr/>
        </p:nvSpPr>
        <p:spPr>
          <a:xfrm>
            <a:off x="3032164" y="2671735"/>
            <a:ext cx="633884"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rgbClr val="590A0E"/>
                </a:solidFill>
                <a:latin typeface="Times New Roman"/>
                <a:ea typeface="Times New Roman"/>
                <a:cs typeface="Times New Roman"/>
                <a:sym typeface="Times New Roman"/>
              </a:rPr>
              <a:t>w</a:t>
            </a:r>
            <a:r>
              <a:rPr baseline="-25000" lang="en-US" sz="3000">
                <a:solidFill>
                  <a:srgbClr val="590A0E"/>
                </a:solidFill>
                <a:latin typeface="Times New Roman"/>
                <a:ea typeface="Times New Roman"/>
                <a:cs typeface="Times New Roman"/>
                <a:sym typeface="Times New Roman"/>
              </a:rPr>
              <a:t>1</a:t>
            </a:r>
            <a:endParaRPr/>
          </a:p>
        </p:txBody>
      </p:sp>
      <p:sp>
        <p:nvSpPr>
          <p:cNvPr id="381" name="Google Shape;381;p29"/>
          <p:cNvSpPr txBox="1"/>
          <p:nvPr/>
        </p:nvSpPr>
        <p:spPr>
          <a:xfrm>
            <a:off x="4681066" y="2686051"/>
            <a:ext cx="633884"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rgbClr val="590A0E"/>
                </a:solidFill>
                <a:latin typeface="Times New Roman"/>
                <a:ea typeface="Times New Roman"/>
                <a:cs typeface="Times New Roman"/>
                <a:sym typeface="Times New Roman"/>
              </a:rPr>
              <a:t>w</a:t>
            </a:r>
            <a:r>
              <a:rPr baseline="-25000" lang="en-US" sz="3000">
                <a:solidFill>
                  <a:srgbClr val="590A0E"/>
                </a:solidFill>
                <a:latin typeface="Times New Roman"/>
                <a:ea typeface="Times New Roman"/>
                <a:cs typeface="Times New Roman"/>
                <a:sym typeface="Times New Roman"/>
              </a:rPr>
              <a:t>n</a:t>
            </a:r>
            <a:endParaRPr baseline="-25000" sz="3000">
              <a:solidFill>
                <a:srgbClr val="590A0E"/>
              </a:solidFill>
              <a:latin typeface="Times New Roman"/>
              <a:ea typeface="Times New Roman"/>
              <a:cs typeface="Times New Roman"/>
              <a:sym typeface="Times New Roman"/>
            </a:endParaRPr>
          </a:p>
        </p:txBody>
      </p:sp>
      <p:sp>
        <p:nvSpPr>
          <p:cNvPr id="382" name="Google Shape;382;p29"/>
          <p:cNvSpPr txBox="1"/>
          <p:nvPr/>
        </p:nvSpPr>
        <p:spPr>
          <a:xfrm>
            <a:off x="5995516" y="2700310"/>
            <a:ext cx="633884"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rgbClr val="590A0E"/>
                </a:solidFill>
                <a:latin typeface="Times New Roman"/>
                <a:ea typeface="Times New Roman"/>
                <a:cs typeface="Times New Roman"/>
                <a:sym typeface="Times New Roman"/>
              </a:rPr>
              <a:t>b</a:t>
            </a:r>
            <a:endParaRPr/>
          </a:p>
        </p:txBody>
      </p:sp>
      <p:sp>
        <p:nvSpPr>
          <p:cNvPr id="383" name="Google Shape;383;p29"/>
          <p:cNvSpPr txBox="1"/>
          <p:nvPr/>
        </p:nvSpPr>
        <p:spPr>
          <a:xfrm>
            <a:off x="7102471" y="2035945"/>
            <a:ext cx="177548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(y is a scalar)</a:t>
            </a:r>
            <a:endParaRPr/>
          </a:p>
        </p:txBody>
      </p:sp>
      <p:sp>
        <p:nvSpPr>
          <p:cNvPr id="384" name="Google Shape;384;p29"/>
          <p:cNvSpPr txBox="1"/>
          <p:nvPr/>
        </p:nvSpPr>
        <p:spPr>
          <a:xfrm>
            <a:off x="4457701" y="1548454"/>
            <a:ext cx="42992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σ</a:t>
            </a:r>
            <a:endParaRPr sz="1013">
              <a:solidFill>
                <a:schemeClr val="dk1"/>
              </a:solidFill>
              <a:latin typeface="Calibri"/>
              <a:ea typeface="Calibri"/>
              <a:cs typeface="Calibri"/>
              <a:sym typeface="Calibri"/>
            </a:endParaRPr>
          </a:p>
        </p:txBody>
      </p:sp>
      <p:sp>
        <p:nvSpPr>
          <p:cNvPr id="385" name="Google Shape;385;p29"/>
          <p:cNvSpPr txBox="1"/>
          <p:nvPr/>
        </p:nvSpPr>
        <p:spPr>
          <a:xfrm>
            <a:off x="375063" y="1690560"/>
            <a:ext cx="201998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Output layer</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a:t>
            </a:r>
            <a:r>
              <a:rPr lang="en-US" sz="2400">
                <a:solidFill>
                  <a:schemeClr val="dk1"/>
                </a:solidFill>
                <a:latin typeface="Calibri"/>
                <a:ea typeface="Calibri"/>
                <a:cs typeface="Calibri"/>
                <a:sym typeface="Calibri"/>
              </a:rPr>
              <a:t>σ node)</a:t>
            </a:r>
            <a:endParaRPr sz="2400">
              <a:solidFill>
                <a:schemeClr val="dk2"/>
              </a:solidFill>
              <a:latin typeface="Calibri"/>
              <a:ea typeface="Calibri"/>
              <a:cs typeface="Calibri"/>
              <a:sym typeface="Calibri"/>
            </a:endParaRPr>
          </a:p>
        </p:txBody>
      </p:sp>
      <p:sp>
        <p:nvSpPr>
          <p:cNvPr id="386" name="Google Shape;386;p29"/>
          <p:cNvSpPr txBox="1"/>
          <p:nvPr/>
        </p:nvSpPr>
        <p:spPr>
          <a:xfrm>
            <a:off x="228304" y="4134030"/>
            <a:ext cx="1528111"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Input layer</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vector x</a:t>
            </a:r>
            <a:endParaRPr/>
          </a:p>
        </p:txBody>
      </p:sp>
      <p:sp>
        <p:nvSpPr>
          <p:cNvPr id="387" name="Google Shape;387;p29"/>
          <p:cNvSpPr txBox="1"/>
          <p:nvPr/>
        </p:nvSpPr>
        <p:spPr>
          <a:xfrm>
            <a:off x="1912045" y="859851"/>
            <a:ext cx="5712461" cy="4154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100">
                <a:solidFill>
                  <a:schemeClr val="dk1"/>
                </a:solidFill>
                <a:latin typeface="Calibri"/>
                <a:ea typeface="Calibri"/>
                <a:cs typeface="Calibri"/>
                <a:sym typeface="Calibri"/>
              </a:rPr>
              <a:t>(we don't count the input layer in counting layers!)</a:t>
            </a:r>
            <a:endParaRPr/>
          </a:p>
        </p:txBody>
      </p:sp>
      <p:sp>
        <p:nvSpPr>
          <p:cNvPr id="388" name="Google Shape;388;p29"/>
          <p:cNvSpPr txBox="1"/>
          <p:nvPr/>
        </p:nvSpPr>
        <p:spPr>
          <a:xfrm>
            <a:off x="1270330" y="3203170"/>
            <a:ext cx="91755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627152"/>
                </a:solidFill>
                <a:latin typeface="Calibri"/>
                <a:ea typeface="Calibri"/>
                <a:cs typeface="Calibri"/>
                <a:sym typeface="Calibri"/>
              </a:rPr>
              <a:t>(vector)</a:t>
            </a:r>
            <a:endParaRPr/>
          </a:p>
        </p:txBody>
      </p:sp>
      <p:sp>
        <p:nvSpPr>
          <p:cNvPr id="389" name="Google Shape;389;p29"/>
          <p:cNvSpPr txBox="1"/>
          <p:nvPr/>
        </p:nvSpPr>
        <p:spPr>
          <a:xfrm>
            <a:off x="6378700" y="2937194"/>
            <a:ext cx="8656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627152"/>
                </a:solidFill>
                <a:latin typeface="Calibri"/>
                <a:ea typeface="Calibri"/>
                <a:cs typeface="Calibri"/>
                <a:sym typeface="Calibri"/>
              </a:rPr>
              <a:t>(scalar)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0"/>
          <p:cNvSpPr txBox="1"/>
          <p:nvPr>
            <p:ph type="title"/>
          </p:nvPr>
        </p:nvSpPr>
        <p:spPr>
          <a:xfrm>
            <a:off x="457200" y="-114300"/>
            <a:ext cx="8539968" cy="8001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000"/>
              <a:buFont typeface="Calibri"/>
              <a:buNone/>
            </a:pPr>
            <a:r>
              <a:rPr lang="en-US" sz="3000"/>
              <a:t>Multinomial Logistic Regression as a 1-layer Network</a:t>
            </a:r>
            <a:endParaRPr/>
          </a:p>
        </p:txBody>
      </p:sp>
      <p:sp>
        <p:nvSpPr>
          <p:cNvPr id="396" name="Google Shape;396;p30"/>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7" name="Google Shape;397;p30"/>
          <p:cNvSpPr/>
          <p:nvPr/>
        </p:nvSpPr>
        <p:spPr>
          <a:xfrm>
            <a:off x="3581400" y="2724152"/>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398" name="Google Shape;398;p30"/>
          <p:cNvSpPr/>
          <p:nvPr/>
        </p:nvSpPr>
        <p:spPr>
          <a:xfrm>
            <a:off x="3505201" y="1657352"/>
            <a:ext cx="457199"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399" name="Google Shape;399;p30"/>
          <p:cNvSpPr/>
          <p:nvPr/>
        </p:nvSpPr>
        <p:spPr>
          <a:xfrm>
            <a:off x="5029201" y="1657352"/>
            <a:ext cx="457199"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400" name="Google Shape;400;p30"/>
          <p:cNvSpPr/>
          <p:nvPr/>
        </p:nvSpPr>
        <p:spPr>
          <a:xfrm>
            <a:off x="4343401" y="1657352"/>
            <a:ext cx="457199"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401" name="Google Shape;401;p30"/>
          <p:cNvCxnSpPr>
            <a:stCxn id="398" idx="0"/>
          </p:cNvCxnSpPr>
          <p:nvPr/>
        </p:nvCxnSpPr>
        <p:spPr>
          <a:xfrm flipH="1" rot="10800000">
            <a:off x="3733800" y="534752"/>
            <a:ext cx="665400" cy="1122600"/>
          </a:xfrm>
          <a:prstGeom prst="straightConnector1">
            <a:avLst/>
          </a:prstGeom>
          <a:noFill/>
          <a:ln>
            <a:noFill/>
          </a:ln>
        </p:spPr>
      </p:cxnSp>
      <p:sp>
        <p:nvSpPr>
          <p:cNvPr id="402" name="Google Shape;402;p30"/>
          <p:cNvSpPr/>
          <p:nvPr/>
        </p:nvSpPr>
        <p:spPr>
          <a:xfrm>
            <a:off x="3962400" y="4552952"/>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403" name="Google Shape;403;p30"/>
          <p:cNvSpPr/>
          <p:nvPr/>
        </p:nvSpPr>
        <p:spPr>
          <a:xfrm>
            <a:off x="2057400" y="4171952"/>
            <a:ext cx="3810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404" name="Google Shape;404;p30"/>
          <p:cNvSpPr/>
          <p:nvPr/>
        </p:nvSpPr>
        <p:spPr>
          <a:xfrm>
            <a:off x="5867400" y="4171952"/>
            <a:ext cx="3810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405" name="Google Shape;405;p30"/>
          <p:cNvSpPr/>
          <p:nvPr/>
        </p:nvSpPr>
        <p:spPr>
          <a:xfrm>
            <a:off x="4572000" y="4171952"/>
            <a:ext cx="3810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406" name="Google Shape;406;p30"/>
          <p:cNvSpPr/>
          <p:nvPr/>
        </p:nvSpPr>
        <p:spPr>
          <a:xfrm>
            <a:off x="3200400" y="4171952"/>
            <a:ext cx="3810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407" name="Google Shape;407;p30"/>
          <p:cNvCxnSpPr>
            <a:stCxn id="403" idx="0"/>
          </p:cNvCxnSpPr>
          <p:nvPr/>
        </p:nvCxnSpPr>
        <p:spPr>
          <a:xfrm flipH="1" rot="10800000">
            <a:off x="2247900" y="3049352"/>
            <a:ext cx="2456100" cy="1122600"/>
          </a:xfrm>
          <a:prstGeom prst="straightConnector1">
            <a:avLst/>
          </a:prstGeom>
          <a:noFill/>
          <a:ln>
            <a:noFill/>
          </a:ln>
        </p:spPr>
      </p:cxnSp>
      <p:cxnSp>
        <p:nvCxnSpPr>
          <p:cNvPr id="408" name="Google Shape;408;p30"/>
          <p:cNvCxnSpPr>
            <a:stCxn id="406" idx="0"/>
            <a:endCxn id="398" idx="4"/>
          </p:cNvCxnSpPr>
          <p:nvPr/>
        </p:nvCxnSpPr>
        <p:spPr>
          <a:xfrm flipH="1" rot="10800000">
            <a:off x="3390900" y="2133452"/>
            <a:ext cx="342900" cy="2038500"/>
          </a:xfrm>
          <a:prstGeom prst="straightConnector1">
            <a:avLst/>
          </a:prstGeom>
          <a:noFill/>
          <a:ln cap="flat" cmpd="sng" w="15875">
            <a:solidFill>
              <a:schemeClr val="accent4"/>
            </a:solidFill>
            <a:prstDash val="solid"/>
            <a:round/>
            <a:headEnd len="sm" w="sm" type="none"/>
            <a:tailEnd len="med" w="med" type="stealth"/>
          </a:ln>
        </p:spPr>
      </p:cxnSp>
      <p:cxnSp>
        <p:nvCxnSpPr>
          <p:cNvPr id="409" name="Google Shape;409;p30"/>
          <p:cNvCxnSpPr>
            <a:stCxn id="405" idx="0"/>
            <a:endCxn id="398" idx="4"/>
          </p:cNvCxnSpPr>
          <p:nvPr/>
        </p:nvCxnSpPr>
        <p:spPr>
          <a:xfrm rot="10800000">
            <a:off x="3733800" y="2133452"/>
            <a:ext cx="1028700" cy="2038500"/>
          </a:xfrm>
          <a:prstGeom prst="straightConnector1">
            <a:avLst/>
          </a:prstGeom>
          <a:noFill/>
          <a:ln cap="flat" cmpd="sng" w="15875">
            <a:solidFill>
              <a:schemeClr val="accent4"/>
            </a:solidFill>
            <a:prstDash val="solid"/>
            <a:round/>
            <a:headEnd len="sm" w="sm" type="none"/>
            <a:tailEnd len="med" w="med" type="stealth"/>
          </a:ln>
        </p:spPr>
      </p:cxnSp>
      <p:cxnSp>
        <p:nvCxnSpPr>
          <p:cNvPr id="410" name="Google Shape;410;p30"/>
          <p:cNvCxnSpPr>
            <a:stCxn id="404" idx="0"/>
            <a:endCxn id="398" idx="4"/>
          </p:cNvCxnSpPr>
          <p:nvPr/>
        </p:nvCxnSpPr>
        <p:spPr>
          <a:xfrm rot="10800000">
            <a:off x="3733800" y="2133452"/>
            <a:ext cx="2324100" cy="2038500"/>
          </a:xfrm>
          <a:prstGeom prst="straightConnector1">
            <a:avLst/>
          </a:prstGeom>
          <a:noFill/>
          <a:ln cap="flat" cmpd="sng" w="9525">
            <a:solidFill>
              <a:schemeClr val="dk1"/>
            </a:solidFill>
            <a:prstDash val="solid"/>
            <a:round/>
            <a:headEnd len="sm" w="sm" type="none"/>
            <a:tailEnd len="med" w="med" type="stealth"/>
          </a:ln>
        </p:spPr>
      </p:cxnSp>
      <p:cxnSp>
        <p:nvCxnSpPr>
          <p:cNvPr id="411" name="Google Shape;411;p30"/>
          <p:cNvCxnSpPr>
            <a:stCxn id="403" idx="7"/>
            <a:endCxn id="398" idx="4"/>
          </p:cNvCxnSpPr>
          <p:nvPr/>
        </p:nvCxnSpPr>
        <p:spPr>
          <a:xfrm flipH="1" rot="10800000">
            <a:off x="2382604" y="2133571"/>
            <a:ext cx="1351200" cy="2108100"/>
          </a:xfrm>
          <a:prstGeom prst="straightConnector1">
            <a:avLst/>
          </a:prstGeom>
          <a:noFill/>
          <a:ln cap="flat" cmpd="sng" w="15875">
            <a:solidFill>
              <a:schemeClr val="accent4"/>
            </a:solidFill>
            <a:prstDash val="solid"/>
            <a:round/>
            <a:headEnd len="sm" w="sm" type="none"/>
            <a:tailEnd len="med" w="med" type="stealth"/>
          </a:ln>
        </p:spPr>
      </p:cxnSp>
      <p:sp>
        <p:nvSpPr>
          <p:cNvPr id="412" name="Google Shape;412;p30"/>
          <p:cNvSpPr/>
          <p:nvPr/>
        </p:nvSpPr>
        <p:spPr>
          <a:xfrm>
            <a:off x="6813143" y="4171952"/>
            <a:ext cx="3810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413" name="Google Shape;413;p30"/>
          <p:cNvCxnSpPr>
            <a:stCxn id="412" idx="0"/>
            <a:endCxn id="398" idx="4"/>
          </p:cNvCxnSpPr>
          <p:nvPr/>
        </p:nvCxnSpPr>
        <p:spPr>
          <a:xfrm rot="10800000">
            <a:off x="3733943" y="2133452"/>
            <a:ext cx="3269700" cy="2038500"/>
          </a:xfrm>
          <a:prstGeom prst="straightConnector1">
            <a:avLst/>
          </a:prstGeom>
          <a:noFill/>
          <a:ln cap="flat" cmpd="sng" w="15875">
            <a:solidFill>
              <a:schemeClr val="accent4"/>
            </a:solidFill>
            <a:prstDash val="solid"/>
            <a:round/>
            <a:headEnd len="sm" w="sm" type="none"/>
            <a:tailEnd len="med" w="med" type="stealth"/>
          </a:ln>
        </p:spPr>
      </p:cxnSp>
      <p:cxnSp>
        <p:nvCxnSpPr>
          <p:cNvPr id="414" name="Google Shape;414;p30"/>
          <p:cNvCxnSpPr>
            <a:stCxn id="403" idx="7"/>
            <a:endCxn id="400" idx="4"/>
          </p:cNvCxnSpPr>
          <p:nvPr/>
        </p:nvCxnSpPr>
        <p:spPr>
          <a:xfrm flipH="1" rot="10800000">
            <a:off x="2382604" y="2133571"/>
            <a:ext cx="2189400" cy="2108100"/>
          </a:xfrm>
          <a:prstGeom prst="straightConnector1">
            <a:avLst/>
          </a:prstGeom>
          <a:noFill/>
          <a:ln cap="flat" cmpd="sng" w="15875">
            <a:solidFill>
              <a:schemeClr val="accent4"/>
            </a:solidFill>
            <a:prstDash val="solid"/>
            <a:round/>
            <a:headEnd len="sm" w="sm" type="none"/>
            <a:tailEnd len="med" w="med" type="stealth"/>
          </a:ln>
        </p:spPr>
      </p:cxnSp>
      <p:cxnSp>
        <p:nvCxnSpPr>
          <p:cNvPr id="415" name="Google Shape;415;p30"/>
          <p:cNvCxnSpPr>
            <a:stCxn id="403" idx="7"/>
            <a:endCxn id="399" idx="4"/>
          </p:cNvCxnSpPr>
          <p:nvPr/>
        </p:nvCxnSpPr>
        <p:spPr>
          <a:xfrm flipH="1" rot="10800000">
            <a:off x="2382604" y="2133571"/>
            <a:ext cx="2875200" cy="2108100"/>
          </a:xfrm>
          <a:prstGeom prst="straightConnector1">
            <a:avLst/>
          </a:prstGeom>
          <a:noFill/>
          <a:ln cap="flat" cmpd="sng" w="15875">
            <a:solidFill>
              <a:schemeClr val="accent4"/>
            </a:solidFill>
            <a:prstDash val="solid"/>
            <a:round/>
            <a:headEnd len="sm" w="sm" type="none"/>
            <a:tailEnd len="med" w="med" type="stealth"/>
          </a:ln>
        </p:spPr>
      </p:cxnSp>
      <p:cxnSp>
        <p:nvCxnSpPr>
          <p:cNvPr id="416" name="Google Shape;416;p30"/>
          <p:cNvCxnSpPr>
            <a:stCxn id="412" idx="0"/>
            <a:endCxn id="399" idx="4"/>
          </p:cNvCxnSpPr>
          <p:nvPr/>
        </p:nvCxnSpPr>
        <p:spPr>
          <a:xfrm rot="10800000">
            <a:off x="5257943" y="2133452"/>
            <a:ext cx="1745700" cy="2038500"/>
          </a:xfrm>
          <a:prstGeom prst="straightConnector1">
            <a:avLst/>
          </a:prstGeom>
          <a:noFill/>
          <a:ln cap="flat" cmpd="sng" w="15875">
            <a:solidFill>
              <a:schemeClr val="accent4"/>
            </a:solidFill>
            <a:prstDash val="solid"/>
            <a:round/>
            <a:headEnd len="sm" w="sm" type="none"/>
            <a:tailEnd len="med" w="med" type="stealth"/>
          </a:ln>
        </p:spPr>
      </p:cxnSp>
      <p:cxnSp>
        <p:nvCxnSpPr>
          <p:cNvPr id="417" name="Google Shape;417;p30"/>
          <p:cNvCxnSpPr>
            <a:stCxn id="412" idx="0"/>
            <a:endCxn id="400" idx="4"/>
          </p:cNvCxnSpPr>
          <p:nvPr/>
        </p:nvCxnSpPr>
        <p:spPr>
          <a:xfrm rot="10800000">
            <a:off x="4572143" y="2133452"/>
            <a:ext cx="2431500" cy="2038500"/>
          </a:xfrm>
          <a:prstGeom prst="straightConnector1">
            <a:avLst/>
          </a:prstGeom>
          <a:noFill/>
          <a:ln cap="flat" cmpd="sng" w="15875">
            <a:solidFill>
              <a:schemeClr val="accent4"/>
            </a:solidFill>
            <a:prstDash val="solid"/>
            <a:round/>
            <a:headEnd len="sm" w="sm" type="none"/>
            <a:tailEnd len="med" w="med" type="stealth"/>
          </a:ln>
        </p:spPr>
      </p:cxnSp>
      <p:cxnSp>
        <p:nvCxnSpPr>
          <p:cNvPr id="418" name="Google Shape;418;p30"/>
          <p:cNvCxnSpPr>
            <a:stCxn id="404" idx="0"/>
            <a:endCxn id="398" idx="4"/>
          </p:cNvCxnSpPr>
          <p:nvPr/>
        </p:nvCxnSpPr>
        <p:spPr>
          <a:xfrm rot="10800000">
            <a:off x="3733800" y="2133452"/>
            <a:ext cx="2324100" cy="2038500"/>
          </a:xfrm>
          <a:prstGeom prst="straightConnector1">
            <a:avLst/>
          </a:prstGeom>
          <a:noFill/>
          <a:ln cap="flat" cmpd="sng" w="15875">
            <a:solidFill>
              <a:schemeClr val="accent4"/>
            </a:solidFill>
            <a:prstDash val="solid"/>
            <a:round/>
            <a:headEnd len="sm" w="sm" type="none"/>
            <a:tailEnd len="med" w="med" type="stealth"/>
          </a:ln>
        </p:spPr>
      </p:cxnSp>
      <p:cxnSp>
        <p:nvCxnSpPr>
          <p:cNvPr id="419" name="Google Shape;419;p30"/>
          <p:cNvCxnSpPr>
            <a:stCxn id="404" idx="0"/>
            <a:endCxn id="399" idx="4"/>
          </p:cNvCxnSpPr>
          <p:nvPr/>
        </p:nvCxnSpPr>
        <p:spPr>
          <a:xfrm rot="10800000">
            <a:off x="5257800" y="2133452"/>
            <a:ext cx="800100" cy="2038500"/>
          </a:xfrm>
          <a:prstGeom prst="straightConnector1">
            <a:avLst/>
          </a:prstGeom>
          <a:noFill/>
          <a:ln cap="flat" cmpd="sng" w="15875">
            <a:solidFill>
              <a:schemeClr val="accent4"/>
            </a:solidFill>
            <a:prstDash val="solid"/>
            <a:round/>
            <a:headEnd len="sm" w="sm" type="none"/>
            <a:tailEnd len="med" w="med" type="stealth"/>
          </a:ln>
        </p:spPr>
      </p:cxnSp>
      <p:cxnSp>
        <p:nvCxnSpPr>
          <p:cNvPr id="420" name="Google Shape;420;p30"/>
          <p:cNvCxnSpPr>
            <a:stCxn id="405" idx="0"/>
            <a:endCxn id="400" idx="4"/>
          </p:cNvCxnSpPr>
          <p:nvPr/>
        </p:nvCxnSpPr>
        <p:spPr>
          <a:xfrm rot="10800000">
            <a:off x="4572000" y="2133452"/>
            <a:ext cx="190500" cy="2038500"/>
          </a:xfrm>
          <a:prstGeom prst="straightConnector1">
            <a:avLst/>
          </a:prstGeom>
          <a:noFill/>
          <a:ln cap="flat" cmpd="sng" w="15875">
            <a:solidFill>
              <a:schemeClr val="accent4"/>
            </a:solidFill>
            <a:prstDash val="solid"/>
            <a:round/>
            <a:headEnd len="sm" w="sm" type="none"/>
            <a:tailEnd len="med" w="med" type="stealth"/>
          </a:ln>
        </p:spPr>
      </p:cxnSp>
      <p:cxnSp>
        <p:nvCxnSpPr>
          <p:cNvPr id="421" name="Google Shape;421;p30"/>
          <p:cNvCxnSpPr>
            <a:stCxn id="405" idx="0"/>
            <a:endCxn id="399" idx="4"/>
          </p:cNvCxnSpPr>
          <p:nvPr/>
        </p:nvCxnSpPr>
        <p:spPr>
          <a:xfrm flipH="1" rot="10800000">
            <a:off x="4762500" y="2133452"/>
            <a:ext cx="495300" cy="2038500"/>
          </a:xfrm>
          <a:prstGeom prst="straightConnector1">
            <a:avLst/>
          </a:prstGeom>
          <a:noFill/>
          <a:ln cap="flat" cmpd="sng" w="15875">
            <a:solidFill>
              <a:schemeClr val="accent4"/>
            </a:solidFill>
            <a:prstDash val="solid"/>
            <a:round/>
            <a:headEnd len="sm" w="sm" type="none"/>
            <a:tailEnd len="med" w="med" type="stealth"/>
          </a:ln>
        </p:spPr>
      </p:cxnSp>
      <p:cxnSp>
        <p:nvCxnSpPr>
          <p:cNvPr id="422" name="Google Shape;422;p30"/>
          <p:cNvCxnSpPr>
            <a:stCxn id="406" idx="0"/>
            <a:endCxn id="400" idx="4"/>
          </p:cNvCxnSpPr>
          <p:nvPr/>
        </p:nvCxnSpPr>
        <p:spPr>
          <a:xfrm flipH="1" rot="10800000">
            <a:off x="3390900" y="2133452"/>
            <a:ext cx="1181100" cy="2038500"/>
          </a:xfrm>
          <a:prstGeom prst="straightConnector1">
            <a:avLst/>
          </a:prstGeom>
          <a:noFill/>
          <a:ln cap="flat" cmpd="sng" w="15875">
            <a:solidFill>
              <a:schemeClr val="accent4"/>
            </a:solidFill>
            <a:prstDash val="solid"/>
            <a:round/>
            <a:headEnd len="sm" w="sm" type="none"/>
            <a:tailEnd len="med" w="med" type="stealth"/>
          </a:ln>
        </p:spPr>
      </p:cxnSp>
      <p:cxnSp>
        <p:nvCxnSpPr>
          <p:cNvPr id="423" name="Google Shape;423;p30"/>
          <p:cNvCxnSpPr>
            <a:stCxn id="406" idx="0"/>
            <a:endCxn id="399" idx="4"/>
          </p:cNvCxnSpPr>
          <p:nvPr/>
        </p:nvCxnSpPr>
        <p:spPr>
          <a:xfrm flipH="1" rot="10800000">
            <a:off x="3390900" y="2133452"/>
            <a:ext cx="1866900" cy="2038500"/>
          </a:xfrm>
          <a:prstGeom prst="straightConnector1">
            <a:avLst/>
          </a:prstGeom>
          <a:noFill/>
          <a:ln cap="flat" cmpd="sng" w="15875">
            <a:solidFill>
              <a:schemeClr val="accent4"/>
            </a:solidFill>
            <a:prstDash val="solid"/>
            <a:round/>
            <a:headEnd len="sm" w="sm" type="none"/>
            <a:tailEnd len="med" w="med" type="stealth"/>
          </a:ln>
        </p:spPr>
      </p:cxnSp>
      <p:sp>
        <p:nvSpPr>
          <p:cNvPr id="424" name="Google Shape;424;p30"/>
          <p:cNvSpPr txBox="1"/>
          <p:nvPr/>
        </p:nvSpPr>
        <p:spPr>
          <a:xfrm>
            <a:off x="2400300" y="2628900"/>
            <a:ext cx="45720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rgbClr val="590A0E"/>
                </a:solidFill>
                <a:latin typeface="Times New Roman"/>
                <a:ea typeface="Times New Roman"/>
                <a:cs typeface="Times New Roman"/>
                <a:sym typeface="Times New Roman"/>
              </a:rPr>
              <a:t>W</a:t>
            </a:r>
            <a:endParaRPr/>
          </a:p>
        </p:txBody>
      </p:sp>
      <p:sp>
        <p:nvSpPr>
          <p:cNvPr id="425" name="Google Shape;425;p30"/>
          <p:cNvSpPr txBox="1"/>
          <p:nvPr/>
        </p:nvSpPr>
        <p:spPr>
          <a:xfrm>
            <a:off x="5906347" y="4133420"/>
            <a:ext cx="4411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x</a:t>
            </a:r>
            <a:r>
              <a:rPr baseline="-25000" lang="en-US" sz="2400">
                <a:solidFill>
                  <a:schemeClr val="dk1"/>
                </a:solidFill>
                <a:latin typeface="Times New Roman"/>
                <a:ea typeface="Times New Roman"/>
                <a:cs typeface="Times New Roman"/>
                <a:sym typeface="Times New Roman"/>
              </a:rPr>
              <a:t>n</a:t>
            </a:r>
            <a:endParaRPr baseline="-25000" sz="2400">
              <a:solidFill>
                <a:schemeClr val="dk1"/>
              </a:solidFill>
              <a:latin typeface="Times New Roman"/>
              <a:ea typeface="Times New Roman"/>
              <a:cs typeface="Times New Roman"/>
              <a:sym typeface="Times New Roman"/>
            </a:endParaRPr>
          </a:p>
        </p:txBody>
      </p:sp>
      <p:sp>
        <p:nvSpPr>
          <p:cNvPr id="426" name="Google Shape;426;p30"/>
          <p:cNvSpPr txBox="1"/>
          <p:nvPr/>
        </p:nvSpPr>
        <p:spPr>
          <a:xfrm>
            <a:off x="2057400" y="4171950"/>
            <a:ext cx="4572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x</a:t>
            </a:r>
            <a:r>
              <a:rPr baseline="-25000" lang="en-US" sz="2400">
                <a:solidFill>
                  <a:schemeClr val="dk1"/>
                </a:solidFill>
                <a:latin typeface="Times New Roman"/>
                <a:ea typeface="Times New Roman"/>
                <a:cs typeface="Times New Roman"/>
                <a:sym typeface="Times New Roman"/>
              </a:rPr>
              <a:t>1</a:t>
            </a:r>
            <a:endParaRPr/>
          </a:p>
        </p:txBody>
      </p:sp>
      <p:cxnSp>
        <p:nvCxnSpPr>
          <p:cNvPr id="427" name="Google Shape;427;p30"/>
          <p:cNvCxnSpPr>
            <a:stCxn id="404" idx="0"/>
            <a:endCxn id="400" idx="4"/>
          </p:cNvCxnSpPr>
          <p:nvPr/>
        </p:nvCxnSpPr>
        <p:spPr>
          <a:xfrm rot="10800000">
            <a:off x="4572000" y="2133452"/>
            <a:ext cx="1485900" cy="2038500"/>
          </a:xfrm>
          <a:prstGeom prst="straightConnector1">
            <a:avLst/>
          </a:prstGeom>
          <a:noFill/>
          <a:ln cap="flat" cmpd="sng" w="15875">
            <a:solidFill>
              <a:schemeClr val="accent4"/>
            </a:solidFill>
            <a:prstDash val="solid"/>
            <a:round/>
            <a:headEnd len="sm" w="sm" type="none"/>
            <a:tailEnd len="med" w="med" type="stealth"/>
          </a:ln>
        </p:spPr>
      </p:cxnSp>
      <p:sp>
        <p:nvSpPr>
          <p:cNvPr id="428" name="Google Shape;428;p30"/>
          <p:cNvSpPr txBox="1"/>
          <p:nvPr/>
        </p:nvSpPr>
        <p:spPr>
          <a:xfrm>
            <a:off x="1457819" y="810047"/>
            <a:ext cx="76581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981535"/>
                </a:solidFill>
                <a:latin typeface="Calibri"/>
                <a:ea typeface="Calibri"/>
                <a:cs typeface="Calibri"/>
                <a:sym typeface="Calibri"/>
              </a:rPr>
              <a:t>Fully connected single layer network</a:t>
            </a:r>
            <a:endParaRPr/>
          </a:p>
        </p:txBody>
      </p:sp>
      <p:sp>
        <p:nvSpPr>
          <p:cNvPr id="429" name="Google Shape;429;p30"/>
          <p:cNvSpPr/>
          <p:nvPr/>
        </p:nvSpPr>
        <p:spPr>
          <a:xfrm>
            <a:off x="1454558" y="3085033"/>
            <a:ext cx="1162215"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W is a matrix</a:t>
            </a:r>
            <a:endParaRPr/>
          </a:p>
        </p:txBody>
      </p:sp>
      <p:sp>
        <p:nvSpPr>
          <p:cNvPr id="430" name="Google Shape;430;p30"/>
          <p:cNvSpPr txBox="1"/>
          <p:nvPr/>
        </p:nvSpPr>
        <p:spPr>
          <a:xfrm>
            <a:off x="5613211" y="1638661"/>
            <a:ext cx="3831644" cy="507831"/>
          </a:xfrm>
          <a:prstGeom prst="rect">
            <a:avLst/>
          </a:prstGeom>
          <a:blipFill rotWithShape="1">
            <a:blip r:embed="rId3">
              <a:alphaModFix/>
            </a:blip>
            <a:stretch>
              <a:fillRect b="-19999"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431" name="Google Shape;431;p30"/>
          <p:cNvSpPr txBox="1"/>
          <p:nvPr/>
        </p:nvSpPr>
        <p:spPr>
          <a:xfrm>
            <a:off x="6791326" y="4236735"/>
            <a:ext cx="471604" cy="4154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100">
                <a:solidFill>
                  <a:schemeClr val="dk1"/>
                </a:solidFill>
                <a:latin typeface="Times New Roman"/>
                <a:ea typeface="Times New Roman"/>
                <a:cs typeface="Times New Roman"/>
                <a:sym typeface="Times New Roman"/>
              </a:rPr>
              <a:t>+1</a:t>
            </a:r>
            <a:endParaRPr/>
          </a:p>
        </p:txBody>
      </p:sp>
      <p:sp>
        <p:nvSpPr>
          <p:cNvPr id="432" name="Google Shape;432;p30"/>
          <p:cNvSpPr/>
          <p:nvPr/>
        </p:nvSpPr>
        <p:spPr>
          <a:xfrm>
            <a:off x="6686517" y="2022047"/>
            <a:ext cx="231065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y is a vector</a:t>
            </a:r>
            <a:endParaRPr/>
          </a:p>
        </p:txBody>
      </p:sp>
      <p:sp>
        <p:nvSpPr>
          <p:cNvPr id="433" name="Google Shape;433;p30"/>
          <p:cNvSpPr txBox="1"/>
          <p:nvPr/>
        </p:nvSpPr>
        <p:spPr>
          <a:xfrm>
            <a:off x="3494713" y="1172235"/>
            <a:ext cx="4572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a:t>
            </a:r>
            <a:r>
              <a:rPr baseline="-25000" lang="en-US" sz="2400">
                <a:solidFill>
                  <a:schemeClr val="dk1"/>
                </a:solidFill>
                <a:latin typeface="Times New Roman"/>
                <a:ea typeface="Times New Roman"/>
                <a:cs typeface="Times New Roman"/>
                <a:sym typeface="Times New Roman"/>
              </a:rPr>
              <a:t>1</a:t>
            </a:r>
            <a:endParaRPr/>
          </a:p>
        </p:txBody>
      </p:sp>
      <p:sp>
        <p:nvSpPr>
          <p:cNvPr id="434" name="Google Shape;434;p30"/>
          <p:cNvSpPr txBox="1"/>
          <p:nvPr/>
        </p:nvSpPr>
        <p:spPr>
          <a:xfrm>
            <a:off x="4987437" y="1167771"/>
            <a:ext cx="4572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a:t>
            </a:r>
            <a:r>
              <a:rPr baseline="-25000" lang="en-US" sz="2400">
                <a:solidFill>
                  <a:schemeClr val="dk1"/>
                </a:solidFill>
                <a:latin typeface="Times New Roman"/>
                <a:ea typeface="Times New Roman"/>
                <a:cs typeface="Times New Roman"/>
                <a:sym typeface="Times New Roman"/>
              </a:rPr>
              <a:t>n</a:t>
            </a:r>
            <a:endParaRPr baseline="-25000" sz="2400">
              <a:solidFill>
                <a:schemeClr val="dk1"/>
              </a:solidFill>
              <a:latin typeface="Times New Roman"/>
              <a:ea typeface="Times New Roman"/>
              <a:cs typeface="Times New Roman"/>
              <a:sym typeface="Times New Roman"/>
            </a:endParaRPr>
          </a:p>
        </p:txBody>
      </p:sp>
      <p:sp>
        <p:nvSpPr>
          <p:cNvPr id="435" name="Google Shape;435;p30"/>
          <p:cNvSpPr/>
          <p:nvPr/>
        </p:nvSpPr>
        <p:spPr>
          <a:xfrm>
            <a:off x="6805269" y="3110564"/>
            <a:ext cx="231065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b is a vector</a:t>
            </a:r>
            <a:endParaRPr/>
          </a:p>
        </p:txBody>
      </p:sp>
      <p:sp>
        <p:nvSpPr>
          <p:cNvPr id="436" name="Google Shape;436;p30"/>
          <p:cNvSpPr txBox="1"/>
          <p:nvPr/>
        </p:nvSpPr>
        <p:spPr>
          <a:xfrm>
            <a:off x="6214718" y="2602472"/>
            <a:ext cx="45720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rgbClr val="590A0E"/>
                </a:solidFill>
                <a:latin typeface="Times New Roman"/>
                <a:ea typeface="Times New Roman"/>
                <a:cs typeface="Times New Roman"/>
                <a:sym typeface="Times New Roman"/>
              </a:rPr>
              <a:t>b</a:t>
            </a:r>
            <a:endParaRPr/>
          </a:p>
        </p:txBody>
      </p:sp>
      <p:sp>
        <p:nvSpPr>
          <p:cNvPr id="437" name="Google Shape;437;p30"/>
          <p:cNvSpPr txBox="1"/>
          <p:nvPr/>
        </p:nvSpPr>
        <p:spPr>
          <a:xfrm>
            <a:off x="3570952" y="1607718"/>
            <a:ext cx="333746"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Times New Roman"/>
                <a:ea typeface="Times New Roman"/>
                <a:cs typeface="Times New Roman"/>
                <a:sym typeface="Times New Roman"/>
              </a:rPr>
              <a:t>s</a:t>
            </a:r>
            <a:endParaRPr/>
          </a:p>
        </p:txBody>
      </p:sp>
      <p:sp>
        <p:nvSpPr>
          <p:cNvPr id="438" name="Google Shape;438;p30"/>
          <p:cNvSpPr txBox="1"/>
          <p:nvPr/>
        </p:nvSpPr>
        <p:spPr>
          <a:xfrm>
            <a:off x="4423224" y="1567219"/>
            <a:ext cx="333746"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Times New Roman"/>
                <a:ea typeface="Times New Roman"/>
                <a:cs typeface="Times New Roman"/>
                <a:sym typeface="Times New Roman"/>
              </a:rPr>
              <a:t>s</a:t>
            </a:r>
            <a:endParaRPr/>
          </a:p>
        </p:txBody>
      </p:sp>
      <p:sp>
        <p:nvSpPr>
          <p:cNvPr id="439" name="Google Shape;439;p30"/>
          <p:cNvSpPr txBox="1"/>
          <p:nvPr/>
        </p:nvSpPr>
        <p:spPr>
          <a:xfrm>
            <a:off x="5113408" y="1578897"/>
            <a:ext cx="333746"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Times New Roman"/>
                <a:ea typeface="Times New Roman"/>
                <a:cs typeface="Times New Roman"/>
                <a:sym typeface="Times New Roman"/>
              </a:rPr>
              <a:t>s</a:t>
            </a:r>
            <a:endParaRPr/>
          </a:p>
        </p:txBody>
      </p:sp>
      <p:sp>
        <p:nvSpPr>
          <p:cNvPr id="440" name="Google Shape;440;p30"/>
          <p:cNvSpPr txBox="1"/>
          <p:nvPr/>
        </p:nvSpPr>
        <p:spPr>
          <a:xfrm>
            <a:off x="375062" y="1690560"/>
            <a:ext cx="233003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Output layer</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a:t>
            </a:r>
            <a:r>
              <a:rPr lang="en-US" sz="2400">
                <a:solidFill>
                  <a:schemeClr val="dk1"/>
                </a:solidFill>
                <a:latin typeface="Calibri"/>
                <a:ea typeface="Calibri"/>
                <a:cs typeface="Calibri"/>
                <a:sym typeface="Calibri"/>
              </a:rPr>
              <a:t>softmax nodes)</a:t>
            </a:r>
            <a:endParaRPr sz="2400">
              <a:solidFill>
                <a:schemeClr val="dk2"/>
              </a:solidFill>
              <a:latin typeface="Calibri"/>
              <a:ea typeface="Calibri"/>
              <a:cs typeface="Calibri"/>
              <a:sym typeface="Calibri"/>
            </a:endParaRPr>
          </a:p>
        </p:txBody>
      </p:sp>
      <p:sp>
        <p:nvSpPr>
          <p:cNvPr id="441" name="Google Shape;441;p30"/>
          <p:cNvSpPr txBox="1"/>
          <p:nvPr/>
        </p:nvSpPr>
        <p:spPr>
          <a:xfrm>
            <a:off x="228304" y="4134030"/>
            <a:ext cx="1528111"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Input layer</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scalars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1"/>
          <p:cNvSpPr txBox="1"/>
          <p:nvPr>
            <p:ph type="title"/>
          </p:nvPr>
        </p:nvSpPr>
        <p:spPr>
          <a:xfrm>
            <a:off x="822960" y="119702"/>
            <a:ext cx="8321040" cy="68039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US"/>
              <a:t>Reminder: softmax: a generalization of sigmoid</a:t>
            </a:r>
            <a:endParaRPr/>
          </a:p>
        </p:txBody>
      </p:sp>
      <p:sp>
        <p:nvSpPr>
          <p:cNvPr id="447" name="Google Shape;447;p31"/>
          <p:cNvSpPr txBox="1"/>
          <p:nvPr>
            <p:ph idx="1" type="body"/>
          </p:nvPr>
        </p:nvSpPr>
        <p:spPr>
          <a:xfrm>
            <a:off x="447634" y="702612"/>
            <a:ext cx="8524917" cy="4321186"/>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t/>
            </a:r>
            <a:endParaRPr/>
          </a:p>
          <a:p>
            <a:pPr indent="-7938" lvl="0" marL="7938" rtl="0" algn="l">
              <a:lnSpc>
                <a:spcPct val="90000"/>
              </a:lnSpc>
              <a:spcBef>
                <a:spcPts val="1050"/>
              </a:spcBef>
              <a:spcAft>
                <a:spcPts val="0"/>
              </a:spcAft>
              <a:buSzPts val="2800"/>
              <a:buNone/>
            </a:pPr>
            <a:r>
              <a:rPr lang="en-US"/>
              <a:t>For a vector </a:t>
            </a:r>
            <a:r>
              <a:rPr i="1" lang="en-US"/>
              <a:t>z </a:t>
            </a:r>
            <a:r>
              <a:rPr lang="en-US"/>
              <a:t>of dimensionality </a:t>
            </a:r>
            <a:r>
              <a:rPr i="1" lang="en-US"/>
              <a:t>k</a:t>
            </a:r>
            <a:r>
              <a:rPr lang="en-US"/>
              <a:t>, the softmax is:</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rPr lang="en-US"/>
              <a:t>Example:</a:t>
            </a:r>
            <a:endParaRPr/>
          </a:p>
        </p:txBody>
      </p:sp>
      <p:pic>
        <p:nvPicPr>
          <p:cNvPr id="448" name="Google Shape;448;p31"/>
          <p:cNvPicPr preferRelativeResize="0"/>
          <p:nvPr/>
        </p:nvPicPr>
        <p:blipFill rotWithShape="1">
          <a:blip r:embed="rId3">
            <a:alphaModFix/>
          </a:blip>
          <a:srcRect b="0" l="0" r="0" t="0"/>
          <a:stretch/>
        </p:blipFill>
        <p:spPr>
          <a:xfrm>
            <a:off x="707481" y="2995662"/>
            <a:ext cx="4871538" cy="893596"/>
          </a:xfrm>
          <a:prstGeom prst="rect">
            <a:avLst/>
          </a:prstGeom>
          <a:noFill/>
          <a:ln>
            <a:noFill/>
          </a:ln>
        </p:spPr>
      </p:pic>
      <p:pic>
        <p:nvPicPr>
          <p:cNvPr id="449" name="Google Shape;449;p31"/>
          <p:cNvPicPr preferRelativeResize="0"/>
          <p:nvPr/>
        </p:nvPicPr>
        <p:blipFill rotWithShape="1">
          <a:blip r:embed="rId4">
            <a:alphaModFix/>
          </a:blip>
          <a:srcRect b="0" l="0" r="0" t="0"/>
          <a:stretch/>
        </p:blipFill>
        <p:spPr>
          <a:xfrm>
            <a:off x="777084" y="1867379"/>
            <a:ext cx="7581148" cy="1095375"/>
          </a:xfrm>
          <a:prstGeom prst="rect">
            <a:avLst/>
          </a:prstGeom>
          <a:noFill/>
          <a:ln>
            <a:noFill/>
          </a:ln>
        </p:spPr>
      </p:pic>
      <p:pic>
        <p:nvPicPr>
          <p:cNvPr id="450" name="Google Shape;450;p31"/>
          <p:cNvPicPr preferRelativeResize="0"/>
          <p:nvPr/>
        </p:nvPicPr>
        <p:blipFill rotWithShape="1">
          <a:blip r:embed="rId5">
            <a:alphaModFix/>
          </a:blip>
          <a:srcRect b="0" l="0" r="0" t="0"/>
          <a:stretch/>
        </p:blipFill>
        <p:spPr>
          <a:xfrm>
            <a:off x="2583853" y="4190206"/>
            <a:ext cx="3920288" cy="461210"/>
          </a:xfrm>
          <a:prstGeom prst="rect">
            <a:avLst/>
          </a:prstGeom>
          <a:noFill/>
          <a:ln>
            <a:noFill/>
          </a:ln>
        </p:spPr>
      </p:pic>
      <p:pic>
        <p:nvPicPr>
          <p:cNvPr id="451" name="Google Shape;451;p31"/>
          <p:cNvPicPr preferRelativeResize="0"/>
          <p:nvPr/>
        </p:nvPicPr>
        <p:blipFill rotWithShape="1">
          <a:blip r:embed="rId6">
            <a:alphaModFix/>
          </a:blip>
          <a:srcRect b="0" l="0" r="0" t="0"/>
          <a:stretch/>
        </p:blipFill>
        <p:spPr>
          <a:xfrm>
            <a:off x="3086100" y="4700846"/>
            <a:ext cx="4640932" cy="403559"/>
          </a:xfrm>
          <a:prstGeom prst="rect">
            <a:avLst/>
          </a:prstGeom>
          <a:noFill/>
          <a:ln>
            <a:noFill/>
          </a:ln>
        </p:spPr>
      </p:pic>
      <p:pic>
        <p:nvPicPr>
          <p:cNvPr id="452" name="Google Shape;452;p31"/>
          <p:cNvPicPr preferRelativeResize="0"/>
          <p:nvPr/>
        </p:nvPicPr>
        <p:blipFill rotWithShape="1">
          <a:blip r:embed="rId7">
            <a:alphaModFix/>
          </a:blip>
          <a:srcRect b="0" l="0" r="76021" t="0"/>
          <a:stretch/>
        </p:blipFill>
        <p:spPr>
          <a:xfrm>
            <a:off x="1325356" y="4333876"/>
            <a:ext cx="1817895" cy="1095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2"/>
          <p:cNvSpPr txBox="1"/>
          <p:nvPr>
            <p:ph type="title"/>
          </p:nvPr>
        </p:nvSpPr>
        <p:spPr>
          <a:xfrm>
            <a:off x="628650" y="10135"/>
            <a:ext cx="7886700" cy="8001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Two-Layer Network with scalar output</a:t>
            </a:r>
            <a:endParaRPr/>
          </a:p>
        </p:txBody>
      </p:sp>
      <p:sp>
        <p:nvSpPr>
          <p:cNvPr id="459" name="Google Shape;459;p32"/>
          <p:cNvSpPr/>
          <p:nvPr/>
        </p:nvSpPr>
        <p:spPr>
          <a:xfrm>
            <a:off x="4184450" y="2724152"/>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460" name="Google Shape;460;p32"/>
          <p:cNvSpPr/>
          <p:nvPr/>
        </p:nvSpPr>
        <p:spPr>
          <a:xfrm>
            <a:off x="3955850" y="23431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461" name="Google Shape;461;p32"/>
          <p:cNvSpPr/>
          <p:nvPr/>
        </p:nvSpPr>
        <p:spPr>
          <a:xfrm>
            <a:off x="4794050" y="8953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462" name="Google Shape;462;p32"/>
          <p:cNvSpPr/>
          <p:nvPr/>
        </p:nvSpPr>
        <p:spPr>
          <a:xfrm>
            <a:off x="5632250" y="23431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463" name="Google Shape;463;p32"/>
          <p:cNvSpPr/>
          <p:nvPr/>
        </p:nvSpPr>
        <p:spPr>
          <a:xfrm>
            <a:off x="4794050" y="23431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464" name="Google Shape;464;p32"/>
          <p:cNvCxnSpPr>
            <a:stCxn id="460" idx="0"/>
            <a:endCxn id="461" idx="3"/>
          </p:cNvCxnSpPr>
          <p:nvPr/>
        </p:nvCxnSpPr>
        <p:spPr>
          <a:xfrm flipH="1" rot="10800000">
            <a:off x="4184450" y="1301852"/>
            <a:ext cx="676500" cy="1041300"/>
          </a:xfrm>
          <a:prstGeom prst="straightConnector1">
            <a:avLst/>
          </a:prstGeom>
          <a:noFill/>
          <a:ln>
            <a:noFill/>
          </a:ln>
        </p:spPr>
      </p:cxnSp>
      <p:cxnSp>
        <p:nvCxnSpPr>
          <p:cNvPr id="465" name="Google Shape;465;p32"/>
          <p:cNvCxnSpPr>
            <a:stCxn id="463" idx="0"/>
            <a:endCxn id="461" idx="4"/>
          </p:cNvCxnSpPr>
          <p:nvPr/>
        </p:nvCxnSpPr>
        <p:spPr>
          <a:xfrm rot="10800000">
            <a:off x="5022650" y="1371452"/>
            <a:ext cx="0" cy="971700"/>
          </a:xfrm>
          <a:prstGeom prst="straightConnector1">
            <a:avLst/>
          </a:prstGeom>
          <a:noFill/>
          <a:ln cap="flat" cmpd="sng" w="15875">
            <a:solidFill>
              <a:schemeClr val="accent4"/>
            </a:solidFill>
            <a:prstDash val="solid"/>
            <a:round/>
            <a:headEnd len="sm" w="sm" type="none"/>
            <a:tailEnd len="med" w="med" type="stealth"/>
          </a:ln>
        </p:spPr>
      </p:cxnSp>
      <p:cxnSp>
        <p:nvCxnSpPr>
          <p:cNvPr id="466" name="Google Shape;466;p32"/>
          <p:cNvCxnSpPr>
            <a:stCxn id="462" idx="0"/>
            <a:endCxn id="461" idx="4"/>
          </p:cNvCxnSpPr>
          <p:nvPr/>
        </p:nvCxnSpPr>
        <p:spPr>
          <a:xfrm rot="10800000">
            <a:off x="5022650" y="1371452"/>
            <a:ext cx="838200" cy="971700"/>
          </a:xfrm>
          <a:prstGeom prst="straightConnector1">
            <a:avLst/>
          </a:prstGeom>
          <a:noFill/>
          <a:ln cap="flat" cmpd="sng" w="15875">
            <a:solidFill>
              <a:schemeClr val="accent4"/>
            </a:solidFill>
            <a:prstDash val="solid"/>
            <a:round/>
            <a:headEnd len="sm" w="sm" type="none"/>
            <a:tailEnd len="med" w="med" type="stealth"/>
          </a:ln>
        </p:spPr>
      </p:cxnSp>
      <p:cxnSp>
        <p:nvCxnSpPr>
          <p:cNvPr id="467" name="Google Shape;467;p32"/>
          <p:cNvCxnSpPr>
            <a:stCxn id="460" idx="7"/>
            <a:endCxn id="461" idx="4"/>
          </p:cNvCxnSpPr>
          <p:nvPr/>
        </p:nvCxnSpPr>
        <p:spPr>
          <a:xfrm flipH="1" rot="10800000">
            <a:off x="4346095" y="1371571"/>
            <a:ext cx="676500" cy="1041300"/>
          </a:xfrm>
          <a:prstGeom prst="straightConnector1">
            <a:avLst/>
          </a:prstGeom>
          <a:noFill/>
          <a:ln cap="flat" cmpd="sng" w="15875">
            <a:solidFill>
              <a:schemeClr val="accent4"/>
            </a:solidFill>
            <a:prstDash val="solid"/>
            <a:round/>
            <a:headEnd len="sm" w="sm" type="none"/>
            <a:tailEnd len="med" w="med" type="stealth"/>
          </a:ln>
        </p:spPr>
      </p:cxnSp>
      <p:sp>
        <p:nvSpPr>
          <p:cNvPr id="468" name="Google Shape;468;p32"/>
          <p:cNvSpPr/>
          <p:nvPr/>
        </p:nvSpPr>
        <p:spPr>
          <a:xfrm>
            <a:off x="4565450" y="4552952"/>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469" name="Google Shape;469;p32"/>
          <p:cNvSpPr/>
          <p:nvPr/>
        </p:nvSpPr>
        <p:spPr>
          <a:xfrm>
            <a:off x="25842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470" name="Google Shape;470;p32"/>
          <p:cNvSpPr/>
          <p:nvPr/>
        </p:nvSpPr>
        <p:spPr>
          <a:xfrm>
            <a:off x="63942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471" name="Google Shape;471;p32"/>
          <p:cNvSpPr/>
          <p:nvPr/>
        </p:nvSpPr>
        <p:spPr>
          <a:xfrm>
            <a:off x="50988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472" name="Google Shape;472;p32"/>
          <p:cNvSpPr/>
          <p:nvPr/>
        </p:nvSpPr>
        <p:spPr>
          <a:xfrm>
            <a:off x="37272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473" name="Google Shape;473;p32"/>
          <p:cNvCxnSpPr>
            <a:stCxn id="469" idx="0"/>
          </p:cNvCxnSpPr>
          <p:nvPr/>
        </p:nvCxnSpPr>
        <p:spPr>
          <a:xfrm flipH="1" rot="10800000">
            <a:off x="2812850" y="3049352"/>
            <a:ext cx="2494200" cy="1122600"/>
          </a:xfrm>
          <a:prstGeom prst="straightConnector1">
            <a:avLst/>
          </a:prstGeom>
          <a:noFill/>
          <a:ln>
            <a:noFill/>
          </a:ln>
        </p:spPr>
      </p:cxnSp>
      <p:cxnSp>
        <p:nvCxnSpPr>
          <p:cNvPr id="474" name="Google Shape;474;p32"/>
          <p:cNvCxnSpPr>
            <a:stCxn id="472" idx="0"/>
            <a:endCxn id="460" idx="4"/>
          </p:cNvCxnSpPr>
          <p:nvPr/>
        </p:nvCxnSpPr>
        <p:spPr>
          <a:xfrm flipH="1" rot="10800000">
            <a:off x="3955850" y="2819252"/>
            <a:ext cx="228600" cy="1352700"/>
          </a:xfrm>
          <a:prstGeom prst="straightConnector1">
            <a:avLst/>
          </a:prstGeom>
          <a:noFill/>
          <a:ln cap="flat" cmpd="sng" w="15875">
            <a:solidFill>
              <a:schemeClr val="accent4"/>
            </a:solidFill>
            <a:prstDash val="solid"/>
            <a:round/>
            <a:headEnd len="sm" w="sm" type="none"/>
            <a:tailEnd len="med" w="med" type="stealth"/>
          </a:ln>
        </p:spPr>
      </p:cxnSp>
      <p:cxnSp>
        <p:nvCxnSpPr>
          <p:cNvPr id="475" name="Google Shape;475;p32"/>
          <p:cNvCxnSpPr>
            <a:stCxn id="471" idx="0"/>
            <a:endCxn id="459" idx="1"/>
          </p:cNvCxnSpPr>
          <p:nvPr/>
        </p:nvCxnSpPr>
        <p:spPr>
          <a:xfrm rot="10800000">
            <a:off x="4240250" y="2793752"/>
            <a:ext cx="1087200" cy="1378200"/>
          </a:xfrm>
          <a:prstGeom prst="straightConnector1">
            <a:avLst/>
          </a:prstGeom>
          <a:noFill/>
          <a:ln cap="flat" cmpd="sng" w="15875">
            <a:solidFill>
              <a:schemeClr val="accent4"/>
            </a:solidFill>
            <a:prstDash val="solid"/>
            <a:round/>
            <a:headEnd len="sm" w="sm" type="none"/>
            <a:tailEnd len="med" w="med" type="stealth"/>
          </a:ln>
        </p:spPr>
      </p:cxnSp>
      <p:cxnSp>
        <p:nvCxnSpPr>
          <p:cNvPr id="476" name="Google Shape;476;p32"/>
          <p:cNvCxnSpPr>
            <a:stCxn id="470" idx="0"/>
            <a:endCxn id="460" idx="4"/>
          </p:cNvCxnSpPr>
          <p:nvPr/>
        </p:nvCxnSpPr>
        <p:spPr>
          <a:xfrm rot="10800000">
            <a:off x="4184450" y="2819252"/>
            <a:ext cx="2438400" cy="1352700"/>
          </a:xfrm>
          <a:prstGeom prst="straightConnector1">
            <a:avLst/>
          </a:prstGeom>
          <a:noFill/>
          <a:ln cap="flat" cmpd="sng" w="15875">
            <a:solidFill>
              <a:schemeClr val="accent4"/>
            </a:solidFill>
            <a:prstDash val="solid"/>
            <a:round/>
            <a:headEnd len="sm" w="sm" type="none"/>
            <a:tailEnd len="med" w="med" type="stealth"/>
          </a:ln>
        </p:spPr>
      </p:cxnSp>
      <p:cxnSp>
        <p:nvCxnSpPr>
          <p:cNvPr id="477" name="Google Shape;477;p32"/>
          <p:cNvCxnSpPr>
            <a:stCxn id="469" idx="7"/>
            <a:endCxn id="460" idx="4"/>
          </p:cNvCxnSpPr>
          <p:nvPr/>
        </p:nvCxnSpPr>
        <p:spPr>
          <a:xfrm flipH="1" rot="10800000">
            <a:off x="2974495" y="2819371"/>
            <a:ext cx="1209900" cy="1422300"/>
          </a:xfrm>
          <a:prstGeom prst="straightConnector1">
            <a:avLst/>
          </a:prstGeom>
          <a:noFill/>
          <a:ln cap="flat" cmpd="sng" w="15875">
            <a:solidFill>
              <a:schemeClr val="accent4"/>
            </a:solidFill>
            <a:prstDash val="solid"/>
            <a:round/>
            <a:headEnd len="sm" w="sm" type="none"/>
            <a:tailEnd len="med" w="med" type="stealth"/>
          </a:ln>
        </p:spPr>
      </p:cxnSp>
      <p:sp>
        <p:nvSpPr>
          <p:cNvPr id="478" name="Google Shape;478;p32"/>
          <p:cNvSpPr/>
          <p:nvPr/>
        </p:nvSpPr>
        <p:spPr>
          <a:xfrm>
            <a:off x="73086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479" name="Google Shape;479;p32"/>
          <p:cNvCxnSpPr>
            <a:stCxn id="478" idx="0"/>
            <a:endCxn id="460" idx="4"/>
          </p:cNvCxnSpPr>
          <p:nvPr/>
        </p:nvCxnSpPr>
        <p:spPr>
          <a:xfrm rot="10800000">
            <a:off x="4184450" y="2819252"/>
            <a:ext cx="3352800" cy="1352700"/>
          </a:xfrm>
          <a:prstGeom prst="straightConnector1">
            <a:avLst/>
          </a:prstGeom>
          <a:noFill/>
          <a:ln cap="flat" cmpd="sng" w="15875">
            <a:solidFill>
              <a:schemeClr val="accent4"/>
            </a:solidFill>
            <a:prstDash val="solid"/>
            <a:round/>
            <a:headEnd len="sm" w="sm" type="none"/>
            <a:tailEnd len="med" w="med" type="stealth"/>
          </a:ln>
        </p:spPr>
      </p:cxnSp>
      <p:cxnSp>
        <p:nvCxnSpPr>
          <p:cNvPr id="480" name="Google Shape;480;p32"/>
          <p:cNvCxnSpPr>
            <a:stCxn id="469" idx="7"/>
            <a:endCxn id="463" idx="4"/>
          </p:cNvCxnSpPr>
          <p:nvPr/>
        </p:nvCxnSpPr>
        <p:spPr>
          <a:xfrm flipH="1" rot="10800000">
            <a:off x="2974495" y="2819371"/>
            <a:ext cx="2048100" cy="1422300"/>
          </a:xfrm>
          <a:prstGeom prst="straightConnector1">
            <a:avLst/>
          </a:prstGeom>
          <a:noFill/>
          <a:ln cap="flat" cmpd="sng" w="15875">
            <a:solidFill>
              <a:schemeClr val="accent4"/>
            </a:solidFill>
            <a:prstDash val="solid"/>
            <a:round/>
            <a:headEnd len="sm" w="sm" type="none"/>
            <a:tailEnd len="med" w="med" type="stealth"/>
          </a:ln>
        </p:spPr>
      </p:cxnSp>
      <p:cxnSp>
        <p:nvCxnSpPr>
          <p:cNvPr id="481" name="Google Shape;481;p32"/>
          <p:cNvCxnSpPr>
            <a:endCxn id="462" idx="4"/>
          </p:cNvCxnSpPr>
          <p:nvPr/>
        </p:nvCxnSpPr>
        <p:spPr>
          <a:xfrm flipH="1" rot="10800000">
            <a:off x="2985650" y="2819223"/>
            <a:ext cx="2875200" cy="1408500"/>
          </a:xfrm>
          <a:prstGeom prst="straightConnector1">
            <a:avLst/>
          </a:prstGeom>
          <a:noFill/>
          <a:ln cap="flat" cmpd="sng" w="15875">
            <a:solidFill>
              <a:schemeClr val="accent4"/>
            </a:solidFill>
            <a:prstDash val="solid"/>
            <a:round/>
            <a:headEnd len="sm" w="sm" type="none"/>
            <a:tailEnd len="med" w="med" type="stealth"/>
          </a:ln>
        </p:spPr>
      </p:cxnSp>
      <p:cxnSp>
        <p:nvCxnSpPr>
          <p:cNvPr id="482" name="Google Shape;482;p32"/>
          <p:cNvCxnSpPr>
            <a:stCxn id="478" idx="0"/>
            <a:endCxn id="462" idx="4"/>
          </p:cNvCxnSpPr>
          <p:nvPr/>
        </p:nvCxnSpPr>
        <p:spPr>
          <a:xfrm rot="10800000">
            <a:off x="5860850" y="2819252"/>
            <a:ext cx="1676400" cy="1352700"/>
          </a:xfrm>
          <a:prstGeom prst="straightConnector1">
            <a:avLst/>
          </a:prstGeom>
          <a:noFill/>
          <a:ln cap="flat" cmpd="sng" w="15875">
            <a:solidFill>
              <a:schemeClr val="accent4"/>
            </a:solidFill>
            <a:prstDash val="solid"/>
            <a:round/>
            <a:headEnd len="sm" w="sm" type="none"/>
            <a:tailEnd len="med" w="med" type="stealth"/>
          </a:ln>
        </p:spPr>
      </p:cxnSp>
      <p:cxnSp>
        <p:nvCxnSpPr>
          <p:cNvPr id="483" name="Google Shape;483;p32"/>
          <p:cNvCxnSpPr>
            <a:stCxn id="478" idx="0"/>
            <a:endCxn id="463" idx="4"/>
          </p:cNvCxnSpPr>
          <p:nvPr/>
        </p:nvCxnSpPr>
        <p:spPr>
          <a:xfrm rot="10800000">
            <a:off x="5022650" y="2819252"/>
            <a:ext cx="2514600" cy="1352700"/>
          </a:xfrm>
          <a:prstGeom prst="straightConnector1">
            <a:avLst/>
          </a:prstGeom>
          <a:noFill/>
          <a:ln cap="flat" cmpd="sng" w="15875">
            <a:solidFill>
              <a:schemeClr val="accent4"/>
            </a:solidFill>
            <a:prstDash val="solid"/>
            <a:round/>
            <a:headEnd len="sm" w="sm" type="none"/>
            <a:tailEnd len="med" w="med" type="stealth"/>
          </a:ln>
        </p:spPr>
      </p:cxnSp>
      <p:cxnSp>
        <p:nvCxnSpPr>
          <p:cNvPr id="484" name="Google Shape;484;p32"/>
          <p:cNvCxnSpPr>
            <a:stCxn id="470" idx="0"/>
          </p:cNvCxnSpPr>
          <p:nvPr/>
        </p:nvCxnSpPr>
        <p:spPr>
          <a:xfrm rot="10800000">
            <a:off x="5098850" y="2800352"/>
            <a:ext cx="1524000" cy="1371600"/>
          </a:xfrm>
          <a:prstGeom prst="straightConnector1">
            <a:avLst/>
          </a:prstGeom>
          <a:noFill/>
          <a:ln cap="flat" cmpd="sng" w="15875">
            <a:solidFill>
              <a:schemeClr val="accent4"/>
            </a:solidFill>
            <a:prstDash val="solid"/>
            <a:round/>
            <a:headEnd len="sm" w="sm" type="none"/>
            <a:tailEnd len="med" w="med" type="stealth"/>
          </a:ln>
        </p:spPr>
      </p:cxnSp>
      <p:cxnSp>
        <p:nvCxnSpPr>
          <p:cNvPr id="485" name="Google Shape;485;p32"/>
          <p:cNvCxnSpPr>
            <a:stCxn id="470" idx="0"/>
            <a:endCxn id="462" idx="4"/>
          </p:cNvCxnSpPr>
          <p:nvPr/>
        </p:nvCxnSpPr>
        <p:spPr>
          <a:xfrm rot="10800000">
            <a:off x="5860850" y="2819252"/>
            <a:ext cx="762000" cy="1352700"/>
          </a:xfrm>
          <a:prstGeom prst="straightConnector1">
            <a:avLst/>
          </a:prstGeom>
          <a:noFill/>
          <a:ln cap="flat" cmpd="sng" w="15875">
            <a:solidFill>
              <a:schemeClr val="accent4"/>
            </a:solidFill>
            <a:prstDash val="solid"/>
            <a:round/>
            <a:headEnd len="sm" w="sm" type="none"/>
            <a:tailEnd len="med" w="med" type="stealth"/>
          </a:ln>
        </p:spPr>
      </p:cxnSp>
      <p:cxnSp>
        <p:nvCxnSpPr>
          <p:cNvPr id="486" name="Google Shape;486;p32"/>
          <p:cNvCxnSpPr>
            <a:stCxn id="471" idx="0"/>
          </p:cNvCxnSpPr>
          <p:nvPr/>
        </p:nvCxnSpPr>
        <p:spPr>
          <a:xfrm rot="10800000">
            <a:off x="5022650" y="2800352"/>
            <a:ext cx="304800" cy="1371600"/>
          </a:xfrm>
          <a:prstGeom prst="straightConnector1">
            <a:avLst/>
          </a:prstGeom>
          <a:noFill/>
          <a:ln cap="flat" cmpd="sng" w="15875">
            <a:solidFill>
              <a:schemeClr val="accent4"/>
            </a:solidFill>
            <a:prstDash val="solid"/>
            <a:round/>
            <a:headEnd len="sm" w="sm" type="none"/>
            <a:tailEnd len="med" w="med" type="stealth"/>
          </a:ln>
        </p:spPr>
      </p:cxnSp>
      <p:cxnSp>
        <p:nvCxnSpPr>
          <p:cNvPr id="487" name="Google Shape;487;p32"/>
          <p:cNvCxnSpPr>
            <a:stCxn id="471" idx="0"/>
          </p:cNvCxnSpPr>
          <p:nvPr/>
        </p:nvCxnSpPr>
        <p:spPr>
          <a:xfrm flipH="1" rot="10800000">
            <a:off x="5327450" y="2820752"/>
            <a:ext cx="553800" cy="1351200"/>
          </a:xfrm>
          <a:prstGeom prst="straightConnector1">
            <a:avLst/>
          </a:prstGeom>
          <a:noFill/>
          <a:ln cap="flat" cmpd="sng" w="15875">
            <a:solidFill>
              <a:schemeClr val="accent4"/>
            </a:solidFill>
            <a:prstDash val="solid"/>
            <a:round/>
            <a:headEnd len="sm" w="sm" type="none"/>
            <a:tailEnd len="med" w="med" type="stealth"/>
          </a:ln>
        </p:spPr>
      </p:cxnSp>
      <p:cxnSp>
        <p:nvCxnSpPr>
          <p:cNvPr id="488" name="Google Shape;488;p32"/>
          <p:cNvCxnSpPr>
            <a:stCxn id="472" idx="0"/>
            <a:endCxn id="463" idx="4"/>
          </p:cNvCxnSpPr>
          <p:nvPr/>
        </p:nvCxnSpPr>
        <p:spPr>
          <a:xfrm flipH="1" rot="10800000">
            <a:off x="3955850" y="2819252"/>
            <a:ext cx="1066800" cy="1352700"/>
          </a:xfrm>
          <a:prstGeom prst="straightConnector1">
            <a:avLst/>
          </a:prstGeom>
          <a:noFill/>
          <a:ln cap="flat" cmpd="sng" w="15875">
            <a:solidFill>
              <a:schemeClr val="accent4"/>
            </a:solidFill>
            <a:prstDash val="solid"/>
            <a:round/>
            <a:headEnd len="sm" w="sm" type="none"/>
            <a:tailEnd len="med" w="med" type="stealth"/>
          </a:ln>
        </p:spPr>
      </p:cxnSp>
      <p:cxnSp>
        <p:nvCxnSpPr>
          <p:cNvPr id="489" name="Google Shape;489;p32"/>
          <p:cNvCxnSpPr>
            <a:endCxn id="462" idx="4"/>
          </p:cNvCxnSpPr>
          <p:nvPr/>
        </p:nvCxnSpPr>
        <p:spPr>
          <a:xfrm flipH="1" rot="10800000">
            <a:off x="3993950" y="2819223"/>
            <a:ext cx="1866900" cy="1352700"/>
          </a:xfrm>
          <a:prstGeom prst="straightConnector1">
            <a:avLst/>
          </a:prstGeom>
          <a:noFill/>
          <a:ln cap="flat" cmpd="sng" w="15875">
            <a:solidFill>
              <a:schemeClr val="accent4"/>
            </a:solidFill>
            <a:prstDash val="solid"/>
            <a:round/>
            <a:headEnd len="sm" w="sm" type="none"/>
            <a:tailEnd len="med" w="med" type="stealth"/>
          </a:ln>
        </p:spPr>
      </p:cxnSp>
      <p:sp>
        <p:nvSpPr>
          <p:cNvPr id="490" name="Google Shape;490;p32"/>
          <p:cNvSpPr txBox="1"/>
          <p:nvPr/>
        </p:nvSpPr>
        <p:spPr>
          <a:xfrm>
            <a:off x="3651050" y="1428751"/>
            <a:ext cx="45720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U</a:t>
            </a:r>
            <a:endParaRPr/>
          </a:p>
        </p:txBody>
      </p:sp>
      <p:sp>
        <p:nvSpPr>
          <p:cNvPr id="491" name="Google Shape;491;p32"/>
          <p:cNvSpPr txBox="1"/>
          <p:nvPr/>
        </p:nvSpPr>
        <p:spPr>
          <a:xfrm>
            <a:off x="2660450" y="3105151"/>
            <a:ext cx="45720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W</a:t>
            </a:r>
            <a:endParaRPr/>
          </a:p>
        </p:txBody>
      </p:sp>
      <p:sp>
        <p:nvSpPr>
          <p:cNvPr id="492" name="Google Shape;492;p32"/>
          <p:cNvSpPr txBox="1"/>
          <p:nvPr/>
        </p:nvSpPr>
        <p:spPr>
          <a:xfrm>
            <a:off x="6469028" y="4185405"/>
            <a:ext cx="42511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x</a:t>
            </a:r>
            <a:r>
              <a:rPr baseline="-25000" lang="en-US" sz="2400">
                <a:solidFill>
                  <a:schemeClr val="dk1"/>
                </a:solidFill>
                <a:latin typeface="Calibri"/>
                <a:ea typeface="Calibri"/>
                <a:cs typeface="Calibri"/>
                <a:sym typeface="Calibri"/>
              </a:rPr>
              <a:t>n</a:t>
            </a:r>
            <a:endParaRPr baseline="-25000" sz="2400">
              <a:solidFill>
                <a:schemeClr val="dk1"/>
              </a:solidFill>
              <a:latin typeface="Calibri"/>
              <a:ea typeface="Calibri"/>
              <a:cs typeface="Calibri"/>
              <a:sym typeface="Calibri"/>
            </a:endParaRPr>
          </a:p>
        </p:txBody>
      </p:sp>
      <p:sp>
        <p:nvSpPr>
          <p:cNvPr id="493" name="Google Shape;493;p32"/>
          <p:cNvSpPr txBox="1"/>
          <p:nvPr/>
        </p:nvSpPr>
        <p:spPr>
          <a:xfrm>
            <a:off x="2654480" y="4185405"/>
            <a:ext cx="4572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x</a:t>
            </a:r>
            <a:r>
              <a:rPr baseline="-25000" lang="en-US" sz="2400">
                <a:solidFill>
                  <a:schemeClr val="dk1"/>
                </a:solidFill>
                <a:latin typeface="Calibri"/>
                <a:ea typeface="Calibri"/>
                <a:cs typeface="Calibri"/>
                <a:sym typeface="Calibri"/>
              </a:rPr>
              <a:t>1</a:t>
            </a:r>
            <a:endParaRPr/>
          </a:p>
        </p:txBody>
      </p:sp>
      <p:pic>
        <p:nvPicPr>
          <p:cNvPr descr="hidden.png" id="494" name="Google Shape;494;p32"/>
          <p:cNvPicPr preferRelativeResize="0"/>
          <p:nvPr/>
        </p:nvPicPr>
        <p:blipFill rotWithShape="1">
          <a:blip r:embed="rId3">
            <a:alphaModFix/>
          </a:blip>
          <a:srcRect b="0" l="0" r="0" t="0"/>
          <a:stretch/>
        </p:blipFill>
        <p:spPr>
          <a:xfrm>
            <a:off x="6415506" y="2240699"/>
            <a:ext cx="2899944" cy="706204"/>
          </a:xfrm>
          <a:prstGeom prst="rect">
            <a:avLst/>
          </a:prstGeom>
          <a:noFill/>
          <a:ln>
            <a:noFill/>
          </a:ln>
        </p:spPr>
      </p:pic>
      <p:sp>
        <p:nvSpPr>
          <p:cNvPr id="495" name="Google Shape;495;p32"/>
          <p:cNvSpPr txBox="1"/>
          <p:nvPr/>
        </p:nvSpPr>
        <p:spPr>
          <a:xfrm>
            <a:off x="7346749" y="4171951"/>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496" name="Google Shape;496;p32"/>
          <p:cNvSpPr/>
          <p:nvPr/>
        </p:nvSpPr>
        <p:spPr>
          <a:xfrm>
            <a:off x="7470192" y="854432"/>
            <a:ext cx="231065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y is a scalar</a:t>
            </a:r>
            <a:endParaRPr/>
          </a:p>
        </p:txBody>
      </p:sp>
      <p:sp>
        <p:nvSpPr>
          <p:cNvPr id="497" name="Google Shape;497;p32"/>
          <p:cNvSpPr txBox="1"/>
          <p:nvPr/>
        </p:nvSpPr>
        <p:spPr>
          <a:xfrm>
            <a:off x="6885569" y="3074649"/>
            <a:ext cx="45720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b</a:t>
            </a:r>
            <a:endParaRPr/>
          </a:p>
        </p:txBody>
      </p:sp>
      <p:sp>
        <p:nvSpPr>
          <p:cNvPr id="498" name="Google Shape;498;p32"/>
          <p:cNvSpPr/>
          <p:nvPr/>
        </p:nvSpPr>
        <p:spPr>
          <a:xfrm>
            <a:off x="228600" y="2313739"/>
            <a:ext cx="2310652" cy="14157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hidden units</a:t>
            </a:r>
            <a:endParaRPr/>
          </a:p>
          <a:p>
            <a:pPr indent="0" lvl="0" marL="0" marR="0" rtl="0" algn="l">
              <a:spcBef>
                <a:spcPts val="0"/>
              </a:spcBef>
              <a:spcAft>
                <a:spcPts val="0"/>
              </a:spcAft>
              <a:buNone/>
            </a:pPr>
            <a:r>
              <a:rPr lang="en-US" sz="3000">
                <a:solidFill>
                  <a:schemeClr val="dk2"/>
                </a:solidFill>
                <a:latin typeface="Calibri"/>
                <a:ea typeface="Calibri"/>
                <a:cs typeface="Calibri"/>
                <a:sym typeface="Calibri"/>
              </a:rPr>
              <a:t>(</a:t>
            </a:r>
            <a:r>
              <a:rPr lang="en-US" sz="3000">
                <a:solidFill>
                  <a:schemeClr val="dk1"/>
                </a:solidFill>
                <a:latin typeface="Calibri"/>
                <a:ea typeface="Calibri"/>
                <a:cs typeface="Calibri"/>
                <a:sym typeface="Calibri"/>
              </a:rPr>
              <a:t>σ node)</a:t>
            </a:r>
            <a:endParaRPr sz="30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800">
              <a:solidFill>
                <a:schemeClr val="dk2"/>
              </a:solidFill>
              <a:latin typeface="Calibri"/>
              <a:ea typeface="Calibri"/>
              <a:cs typeface="Calibri"/>
              <a:sym typeface="Calibri"/>
            </a:endParaRPr>
          </a:p>
        </p:txBody>
      </p:sp>
      <p:sp>
        <p:nvSpPr>
          <p:cNvPr id="499" name="Google Shape;499;p32"/>
          <p:cNvSpPr/>
          <p:nvPr/>
        </p:nvSpPr>
        <p:spPr>
          <a:xfrm>
            <a:off x="229559" y="3871202"/>
            <a:ext cx="2310652"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Input layer</a:t>
            </a:r>
            <a:endParaRPr/>
          </a:p>
          <a:p>
            <a:pPr indent="0" lvl="0" marL="0" marR="0" rtl="0" algn="l">
              <a:spcBef>
                <a:spcPts val="0"/>
              </a:spcBef>
              <a:spcAft>
                <a:spcPts val="0"/>
              </a:spcAft>
              <a:buNone/>
            </a:pPr>
            <a:r>
              <a:rPr lang="en-US" sz="2800">
                <a:solidFill>
                  <a:schemeClr val="dk2"/>
                </a:solidFill>
                <a:latin typeface="Calibri"/>
                <a:ea typeface="Calibri"/>
                <a:cs typeface="Calibri"/>
                <a:sym typeface="Calibri"/>
              </a:rPr>
              <a:t>(vector)</a:t>
            </a:r>
            <a:endParaRPr/>
          </a:p>
        </p:txBody>
      </p:sp>
      <p:sp>
        <p:nvSpPr>
          <p:cNvPr id="500" name="Google Shape;500;p32"/>
          <p:cNvSpPr txBox="1"/>
          <p:nvPr/>
        </p:nvSpPr>
        <p:spPr>
          <a:xfrm>
            <a:off x="359163" y="977138"/>
            <a:ext cx="2071739" cy="9534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798">
                <a:solidFill>
                  <a:schemeClr val="dk2"/>
                </a:solidFill>
                <a:latin typeface="Calibri"/>
                <a:ea typeface="Calibri"/>
                <a:cs typeface="Calibri"/>
                <a:sym typeface="Calibri"/>
              </a:rPr>
              <a:t>Output layer</a:t>
            </a:r>
            <a:endParaRPr/>
          </a:p>
          <a:p>
            <a:pPr indent="0" lvl="0" marL="0" marR="0" rtl="0" algn="l">
              <a:spcBef>
                <a:spcPts val="0"/>
              </a:spcBef>
              <a:spcAft>
                <a:spcPts val="0"/>
              </a:spcAft>
              <a:buNone/>
            </a:pPr>
            <a:r>
              <a:rPr lang="en-US" sz="2798">
                <a:solidFill>
                  <a:schemeClr val="dk2"/>
                </a:solidFill>
                <a:latin typeface="Calibri"/>
                <a:ea typeface="Calibri"/>
                <a:cs typeface="Calibri"/>
                <a:sym typeface="Calibri"/>
              </a:rPr>
              <a:t>(</a:t>
            </a:r>
            <a:r>
              <a:rPr lang="en-US" sz="2798">
                <a:solidFill>
                  <a:schemeClr val="dk1"/>
                </a:solidFill>
                <a:latin typeface="Calibri"/>
                <a:ea typeface="Calibri"/>
                <a:cs typeface="Calibri"/>
                <a:sym typeface="Calibri"/>
              </a:rPr>
              <a:t>σ node)</a:t>
            </a:r>
            <a:endParaRPr sz="2798">
              <a:solidFill>
                <a:schemeClr val="dk2"/>
              </a:solidFill>
              <a:latin typeface="Calibri"/>
              <a:ea typeface="Calibri"/>
              <a:cs typeface="Calibri"/>
              <a:sym typeface="Calibri"/>
            </a:endParaRPr>
          </a:p>
        </p:txBody>
      </p:sp>
      <p:sp>
        <p:nvSpPr>
          <p:cNvPr id="501" name="Google Shape;501;p32"/>
          <p:cNvSpPr txBox="1"/>
          <p:nvPr/>
        </p:nvSpPr>
        <p:spPr>
          <a:xfrm>
            <a:off x="7842051" y="2946903"/>
            <a:ext cx="954107" cy="4040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13">
                <a:solidFill>
                  <a:schemeClr val="dk1"/>
                </a:solidFill>
                <a:latin typeface="Calibri"/>
                <a:ea typeface="Calibri"/>
                <a:cs typeface="Calibri"/>
                <a:sym typeface="Calibri"/>
              </a:rPr>
              <a:t>Could be ReLU</a:t>
            </a:r>
            <a:endParaRPr sz="1013">
              <a:solidFill>
                <a:schemeClr val="dk1"/>
              </a:solidFill>
              <a:latin typeface="Calibri"/>
              <a:ea typeface="Calibri"/>
              <a:cs typeface="Calibri"/>
              <a:sym typeface="Calibri"/>
            </a:endParaRPr>
          </a:p>
          <a:p>
            <a:pPr indent="0" lvl="0" marL="0" marR="0" rtl="0" algn="l">
              <a:spcBef>
                <a:spcPts val="0"/>
              </a:spcBef>
              <a:spcAft>
                <a:spcPts val="0"/>
              </a:spcAft>
              <a:buNone/>
            </a:pPr>
            <a:r>
              <a:rPr lang="en-US" sz="1013">
                <a:solidFill>
                  <a:schemeClr val="dk1"/>
                </a:solidFill>
                <a:latin typeface="Calibri"/>
                <a:ea typeface="Calibri"/>
                <a:cs typeface="Calibri"/>
                <a:sym typeface="Calibri"/>
              </a:rPr>
              <a:t>Or tanh</a:t>
            </a:r>
            <a:endParaRPr/>
          </a:p>
        </p:txBody>
      </p:sp>
      <p:sp>
        <p:nvSpPr>
          <p:cNvPr id="502" name="Google Shape;502;p32"/>
          <p:cNvSpPr txBox="1"/>
          <p:nvPr/>
        </p:nvSpPr>
        <p:spPr>
          <a:xfrm>
            <a:off x="5913850" y="1313851"/>
            <a:ext cx="1246303" cy="461665"/>
          </a:xfrm>
          <a:prstGeom prst="rect">
            <a:avLst/>
          </a:prstGeom>
          <a:blipFill rotWithShape="1">
            <a:blip r:embed="rId4">
              <a:alphaModFix/>
            </a:blip>
            <a:stretch>
              <a:fillRect b="-8106" l="-3028" r="-707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503" name="Google Shape;503;p32"/>
          <p:cNvSpPr txBox="1"/>
          <p:nvPr/>
        </p:nvSpPr>
        <p:spPr>
          <a:xfrm>
            <a:off x="5906755" y="885680"/>
            <a:ext cx="1555619" cy="461665"/>
          </a:xfrm>
          <a:prstGeom prst="rect">
            <a:avLst/>
          </a:prstGeom>
          <a:blipFill rotWithShape="1">
            <a:blip r:embed="rId5">
              <a:alphaModFix/>
            </a:blip>
            <a:stretch>
              <a:fillRect b="-34208" l="-5689" r="-812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3"/>
          <p:cNvSpPr txBox="1"/>
          <p:nvPr>
            <p:ph type="title"/>
          </p:nvPr>
        </p:nvSpPr>
        <p:spPr>
          <a:xfrm>
            <a:off x="628650" y="10135"/>
            <a:ext cx="7886700" cy="8001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Two-Layer Network with scalar output</a:t>
            </a:r>
            <a:endParaRPr/>
          </a:p>
        </p:txBody>
      </p:sp>
      <p:sp>
        <p:nvSpPr>
          <p:cNvPr id="510" name="Google Shape;510;p33"/>
          <p:cNvSpPr/>
          <p:nvPr/>
        </p:nvSpPr>
        <p:spPr>
          <a:xfrm>
            <a:off x="4184450" y="2724152"/>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11" name="Google Shape;511;p33"/>
          <p:cNvSpPr/>
          <p:nvPr/>
        </p:nvSpPr>
        <p:spPr>
          <a:xfrm>
            <a:off x="3955850" y="23431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12" name="Google Shape;512;p33"/>
          <p:cNvSpPr/>
          <p:nvPr/>
        </p:nvSpPr>
        <p:spPr>
          <a:xfrm>
            <a:off x="4794050" y="8953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13" name="Google Shape;513;p33"/>
          <p:cNvSpPr/>
          <p:nvPr/>
        </p:nvSpPr>
        <p:spPr>
          <a:xfrm>
            <a:off x="5632250" y="23431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14" name="Google Shape;514;p33"/>
          <p:cNvSpPr/>
          <p:nvPr/>
        </p:nvSpPr>
        <p:spPr>
          <a:xfrm>
            <a:off x="4794050" y="23431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515" name="Google Shape;515;p33"/>
          <p:cNvCxnSpPr>
            <a:stCxn id="511" idx="0"/>
            <a:endCxn id="512" idx="3"/>
          </p:cNvCxnSpPr>
          <p:nvPr/>
        </p:nvCxnSpPr>
        <p:spPr>
          <a:xfrm flipH="1" rot="10800000">
            <a:off x="4184450" y="1301852"/>
            <a:ext cx="676500" cy="1041300"/>
          </a:xfrm>
          <a:prstGeom prst="straightConnector1">
            <a:avLst/>
          </a:prstGeom>
          <a:noFill/>
          <a:ln>
            <a:noFill/>
          </a:ln>
        </p:spPr>
      </p:cxnSp>
      <p:cxnSp>
        <p:nvCxnSpPr>
          <p:cNvPr id="516" name="Google Shape;516;p33"/>
          <p:cNvCxnSpPr>
            <a:stCxn id="514" idx="0"/>
            <a:endCxn id="512" idx="4"/>
          </p:cNvCxnSpPr>
          <p:nvPr/>
        </p:nvCxnSpPr>
        <p:spPr>
          <a:xfrm rot="10800000">
            <a:off x="5022650" y="1371452"/>
            <a:ext cx="0" cy="971700"/>
          </a:xfrm>
          <a:prstGeom prst="straightConnector1">
            <a:avLst/>
          </a:prstGeom>
          <a:noFill/>
          <a:ln cap="flat" cmpd="sng" w="15875">
            <a:solidFill>
              <a:schemeClr val="accent4"/>
            </a:solidFill>
            <a:prstDash val="solid"/>
            <a:round/>
            <a:headEnd len="sm" w="sm" type="none"/>
            <a:tailEnd len="med" w="med" type="stealth"/>
          </a:ln>
        </p:spPr>
      </p:cxnSp>
      <p:cxnSp>
        <p:nvCxnSpPr>
          <p:cNvPr id="517" name="Google Shape;517;p33"/>
          <p:cNvCxnSpPr>
            <a:stCxn id="513" idx="0"/>
            <a:endCxn id="512" idx="4"/>
          </p:cNvCxnSpPr>
          <p:nvPr/>
        </p:nvCxnSpPr>
        <p:spPr>
          <a:xfrm rot="10800000">
            <a:off x="5022650" y="1371452"/>
            <a:ext cx="838200" cy="971700"/>
          </a:xfrm>
          <a:prstGeom prst="straightConnector1">
            <a:avLst/>
          </a:prstGeom>
          <a:noFill/>
          <a:ln cap="flat" cmpd="sng" w="15875">
            <a:solidFill>
              <a:schemeClr val="accent4"/>
            </a:solidFill>
            <a:prstDash val="solid"/>
            <a:round/>
            <a:headEnd len="sm" w="sm" type="none"/>
            <a:tailEnd len="med" w="med" type="stealth"/>
          </a:ln>
        </p:spPr>
      </p:cxnSp>
      <p:cxnSp>
        <p:nvCxnSpPr>
          <p:cNvPr id="518" name="Google Shape;518;p33"/>
          <p:cNvCxnSpPr>
            <a:stCxn id="511" idx="7"/>
            <a:endCxn id="512" idx="4"/>
          </p:cNvCxnSpPr>
          <p:nvPr/>
        </p:nvCxnSpPr>
        <p:spPr>
          <a:xfrm flipH="1" rot="10800000">
            <a:off x="4346095" y="1371571"/>
            <a:ext cx="676500" cy="1041300"/>
          </a:xfrm>
          <a:prstGeom prst="straightConnector1">
            <a:avLst/>
          </a:prstGeom>
          <a:noFill/>
          <a:ln cap="flat" cmpd="sng" w="15875">
            <a:solidFill>
              <a:schemeClr val="accent4"/>
            </a:solidFill>
            <a:prstDash val="solid"/>
            <a:round/>
            <a:headEnd len="sm" w="sm" type="none"/>
            <a:tailEnd len="med" w="med" type="stealth"/>
          </a:ln>
        </p:spPr>
      </p:cxnSp>
      <p:sp>
        <p:nvSpPr>
          <p:cNvPr id="519" name="Google Shape;519;p33"/>
          <p:cNvSpPr/>
          <p:nvPr/>
        </p:nvSpPr>
        <p:spPr>
          <a:xfrm>
            <a:off x="4565450" y="4552952"/>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20" name="Google Shape;520;p33"/>
          <p:cNvSpPr/>
          <p:nvPr/>
        </p:nvSpPr>
        <p:spPr>
          <a:xfrm>
            <a:off x="25842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21" name="Google Shape;521;p33"/>
          <p:cNvSpPr/>
          <p:nvPr/>
        </p:nvSpPr>
        <p:spPr>
          <a:xfrm>
            <a:off x="63942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22" name="Google Shape;522;p33"/>
          <p:cNvSpPr/>
          <p:nvPr/>
        </p:nvSpPr>
        <p:spPr>
          <a:xfrm>
            <a:off x="50988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23" name="Google Shape;523;p33"/>
          <p:cNvSpPr/>
          <p:nvPr/>
        </p:nvSpPr>
        <p:spPr>
          <a:xfrm>
            <a:off x="37272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524" name="Google Shape;524;p33"/>
          <p:cNvCxnSpPr>
            <a:stCxn id="520" idx="0"/>
          </p:cNvCxnSpPr>
          <p:nvPr/>
        </p:nvCxnSpPr>
        <p:spPr>
          <a:xfrm flipH="1" rot="10800000">
            <a:off x="2812850" y="3049352"/>
            <a:ext cx="2494200" cy="1122600"/>
          </a:xfrm>
          <a:prstGeom prst="straightConnector1">
            <a:avLst/>
          </a:prstGeom>
          <a:noFill/>
          <a:ln>
            <a:noFill/>
          </a:ln>
        </p:spPr>
      </p:cxnSp>
      <p:cxnSp>
        <p:nvCxnSpPr>
          <p:cNvPr id="525" name="Google Shape;525;p33"/>
          <p:cNvCxnSpPr>
            <a:stCxn id="523" idx="0"/>
            <a:endCxn id="511" idx="4"/>
          </p:cNvCxnSpPr>
          <p:nvPr/>
        </p:nvCxnSpPr>
        <p:spPr>
          <a:xfrm flipH="1" rot="10800000">
            <a:off x="3955850" y="2819252"/>
            <a:ext cx="228600" cy="1352700"/>
          </a:xfrm>
          <a:prstGeom prst="straightConnector1">
            <a:avLst/>
          </a:prstGeom>
          <a:noFill/>
          <a:ln cap="flat" cmpd="sng" w="15875">
            <a:solidFill>
              <a:schemeClr val="accent4"/>
            </a:solidFill>
            <a:prstDash val="solid"/>
            <a:round/>
            <a:headEnd len="sm" w="sm" type="none"/>
            <a:tailEnd len="med" w="med" type="stealth"/>
          </a:ln>
        </p:spPr>
      </p:cxnSp>
      <p:cxnSp>
        <p:nvCxnSpPr>
          <p:cNvPr id="526" name="Google Shape;526;p33"/>
          <p:cNvCxnSpPr>
            <a:stCxn id="522" idx="0"/>
            <a:endCxn id="510" idx="1"/>
          </p:cNvCxnSpPr>
          <p:nvPr/>
        </p:nvCxnSpPr>
        <p:spPr>
          <a:xfrm rot="10800000">
            <a:off x="4240250" y="2793752"/>
            <a:ext cx="1087200" cy="1378200"/>
          </a:xfrm>
          <a:prstGeom prst="straightConnector1">
            <a:avLst/>
          </a:prstGeom>
          <a:noFill/>
          <a:ln cap="flat" cmpd="sng" w="15875">
            <a:solidFill>
              <a:schemeClr val="accent4"/>
            </a:solidFill>
            <a:prstDash val="solid"/>
            <a:round/>
            <a:headEnd len="sm" w="sm" type="none"/>
            <a:tailEnd len="med" w="med" type="stealth"/>
          </a:ln>
        </p:spPr>
      </p:cxnSp>
      <p:cxnSp>
        <p:nvCxnSpPr>
          <p:cNvPr id="527" name="Google Shape;527;p33"/>
          <p:cNvCxnSpPr>
            <a:stCxn id="521" idx="0"/>
            <a:endCxn id="511" idx="4"/>
          </p:cNvCxnSpPr>
          <p:nvPr/>
        </p:nvCxnSpPr>
        <p:spPr>
          <a:xfrm rot="10800000">
            <a:off x="4184450" y="2819252"/>
            <a:ext cx="2438400" cy="1352700"/>
          </a:xfrm>
          <a:prstGeom prst="straightConnector1">
            <a:avLst/>
          </a:prstGeom>
          <a:noFill/>
          <a:ln cap="flat" cmpd="sng" w="15875">
            <a:solidFill>
              <a:schemeClr val="accent4"/>
            </a:solidFill>
            <a:prstDash val="solid"/>
            <a:round/>
            <a:headEnd len="sm" w="sm" type="none"/>
            <a:tailEnd len="med" w="med" type="stealth"/>
          </a:ln>
        </p:spPr>
      </p:cxnSp>
      <p:cxnSp>
        <p:nvCxnSpPr>
          <p:cNvPr id="528" name="Google Shape;528;p33"/>
          <p:cNvCxnSpPr>
            <a:stCxn id="520" idx="7"/>
            <a:endCxn id="511" idx="4"/>
          </p:cNvCxnSpPr>
          <p:nvPr/>
        </p:nvCxnSpPr>
        <p:spPr>
          <a:xfrm flipH="1" rot="10800000">
            <a:off x="2974495" y="2819371"/>
            <a:ext cx="1209900" cy="1422300"/>
          </a:xfrm>
          <a:prstGeom prst="straightConnector1">
            <a:avLst/>
          </a:prstGeom>
          <a:noFill/>
          <a:ln cap="flat" cmpd="sng" w="15875">
            <a:solidFill>
              <a:schemeClr val="accent4"/>
            </a:solidFill>
            <a:prstDash val="solid"/>
            <a:round/>
            <a:headEnd len="sm" w="sm" type="none"/>
            <a:tailEnd len="med" w="med" type="stealth"/>
          </a:ln>
        </p:spPr>
      </p:cxnSp>
      <p:sp>
        <p:nvSpPr>
          <p:cNvPr id="529" name="Google Shape;529;p33"/>
          <p:cNvSpPr/>
          <p:nvPr/>
        </p:nvSpPr>
        <p:spPr>
          <a:xfrm>
            <a:off x="73086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530" name="Google Shape;530;p33"/>
          <p:cNvCxnSpPr>
            <a:stCxn id="529" idx="0"/>
            <a:endCxn id="511" idx="4"/>
          </p:cNvCxnSpPr>
          <p:nvPr/>
        </p:nvCxnSpPr>
        <p:spPr>
          <a:xfrm rot="10800000">
            <a:off x="4184450" y="2819252"/>
            <a:ext cx="3352800" cy="1352700"/>
          </a:xfrm>
          <a:prstGeom prst="straightConnector1">
            <a:avLst/>
          </a:prstGeom>
          <a:noFill/>
          <a:ln cap="flat" cmpd="sng" w="15875">
            <a:solidFill>
              <a:schemeClr val="accent4"/>
            </a:solidFill>
            <a:prstDash val="solid"/>
            <a:round/>
            <a:headEnd len="sm" w="sm" type="none"/>
            <a:tailEnd len="med" w="med" type="stealth"/>
          </a:ln>
        </p:spPr>
      </p:cxnSp>
      <p:cxnSp>
        <p:nvCxnSpPr>
          <p:cNvPr id="531" name="Google Shape;531;p33"/>
          <p:cNvCxnSpPr>
            <a:stCxn id="520" idx="7"/>
            <a:endCxn id="514" idx="4"/>
          </p:cNvCxnSpPr>
          <p:nvPr/>
        </p:nvCxnSpPr>
        <p:spPr>
          <a:xfrm flipH="1" rot="10800000">
            <a:off x="2974495" y="2819371"/>
            <a:ext cx="2048100" cy="1422300"/>
          </a:xfrm>
          <a:prstGeom prst="straightConnector1">
            <a:avLst/>
          </a:prstGeom>
          <a:noFill/>
          <a:ln cap="flat" cmpd="sng" w="15875">
            <a:solidFill>
              <a:schemeClr val="accent4"/>
            </a:solidFill>
            <a:prstDash val="solid"/>
            <a:round/>
            <a:headEnd len="sm" w="sm" type="none"/>
            <a:tailEnd len="med" w="med" type="stealth"/>
          </a:ln>
        </p:spPr>
      </p:cxnSp>
      <p:cxnSp>
        <p:nvCxnSpPr>
          <p:cNvPr id="532" name="Google Shape;532;p33"/>
          <p:cNvCxnSpPr>
            <a:endCxn id="513" idx="4"/>
          </p:cNvCxnSpPr>
          <p:nvPr/>
        </p:nvCxnSpPr>
        <p:spPr>
          <a:xfrm flipH="1" rot="10800000">
            <a:off x="2985650" y="2819223"/>
            <a:ext cx="2875200" cy="1408500"/>
          </a:xfrm>
          <a:prstGeom prst="straightConnector1">
            <a:avLst/>
          </a:prstGeom>
          <a:noFill/>
          <a:ln cap="flat" cmpd="sng" w="15875">
            <a:solidFill>
              <a:schemeClr val="accent4"/>
            </a:solidFill>
            <a:prstDash val="solid"/>
            <a:round/>
            <a:headEnd len="sm" w="sm" type="none"/>
            <a:tailEnd len="med" w="med" type="stealth"/>
          </a:ln>
        </p:spPr>
      </p:cxnSp>
      <p:cxnSp>
        <p:nvCxnSpPr>
          <p:cNvPr id="533" name="Google Shape;533;p33"/>
          <p:cNvCxnSpPr>
            <a:stCxn id="529" idx="0"/>
            <a:endCxn id="513" idx="4"/>
          </p:cNvCxnSpPr>
          <p:nvPr/>
        </p:nvCxnSpPr>
        <p:spPr>
          <a:xfrm rot="10800000">
            <a:off x="5860850" y="2819252"/>
            <a:ext cx="1676400" cy="1352700"/>
          </a:xfrm>
          <a:prstGeom prst="straightConnector1">
            <a:avLst/>
          </a:prstGeom>
          <a:noFill/>
          <a:ln cap="flat" cmpd="sng" w="15875">
            <a:solidFill>
              <a:schemeClr val="accent4"/>
            </a:solidFill>
            <a:prstDash val="solid"/>
            <a:round/>
            <a:headEnd len="sm" w="sm" type="none"/>
            <a:tailEnd len="med" w="med" type="stealth"/>
          </a:ln>
        </p:spPr>
      </p:cxnSp>
      <p:cxnSp>
        <p:nvCxnSpPr>
          <p:cNvPr id="534" name="Google Shape;534;p33"/>
          <p:cNvCxnSpPr>
            <a:stCxn id="529" idx="0"/>
            <a:endCxn id="514" idx="4"/>
          </p:cNvCxnSpPr>
          <p:nvPr/>
        </p:nvCxnSpPr>
        <p:spPr>
          <a:xfrm rot="10800000">
            <a:off x="5022650" y="2819252"/>
            <a:ext cx="2514600" cy="1352700"/>
          </a:xfrm>
          <a:prstGeom prst="straightConnector1">
            <a:avLst/>
          </a:prstGeom>
          <a:noFill/>
          <a:ln cap="flat" cmpd="sng" w="15875">
            <a:solidFill>
              <a:schemeClr val="accent4"/>
            </a:solidFill>
            <a:prstDash val="solid"/>
            <a:round/>
            <a:headEnd len="sm" w="sm" type="none"/>
            <a:tailEnd len="med" w="med" type="stealth"/>
          </a:ln>
        </p:spPr>
      </p:cxnSp>
      <p:cxnSp>
        <p:nvCxnSpPr>
          <p:cNvPr id="535" name="Google Shape;535;p33"/>
          <p:cNvCxnSpPr>
            <a:stCxn id="521" idx="0"/>
          </p:cNvCxnSpPr>
          <p:nvPr/>
        </p:nvCxnSpPr>
        <p:spPr>
          <a:xfrm rot="10800000">
            <a:off x="5098850" y="2800352"/>
            <a:ext cx="1524000" cy="1371600"/>
          </a:xfrm>
          <a:prstGeom prst="straightConnector1">
            <a:avLst/>
          </a:prstGeom>
          <a:noFill/>
          <a:ln cap="flat" cmpd="sng" w="15875">
            <a:solidFill>
              <a:schemeClr val="accent4"/>
            </a:solidFill>
            <a:prstDash val="solid"/>
            <a:round/>
            <a:headEnd len="sm" w="sm" type="none"/>
            <a:tailEnd len="med" w="med" type="stealth"/>
          </a:ln>
        </p:spPr>
      </p:cxnSp>
      <p:cxnSp>
        <p:nvCxnSpPr>
          <p:cNvPr id="536" name="Google Shape;536;p33"/>
          <p:cNvCxnSpPr>
            <a:stCxn id="521" idx="0"/>
            <a:endCxn id="513" idx="4"/>
          </p:cNvCxnSpPr>
          <p:nvPr/>
        </p:nvCxnSpPr>
        <p:spPr>
          <a:xfrm rot="10800000">
            <a:off x="5860850" y="2819252"/>
            <a:ext cx="762000" cy="1352700"/>
          </a:xfrm>
          <a:prstGeom prst="straightConnector1">
            <a:avLst/>
          </a:prstGeom>
          <a:noFill/>
          <a:ln cap="flat" cmpd="sng" w="15875">
            <a:solidFill>
              <a:schemeClr val="accent4"/>
            </a:solidFill>
            <a:prstDash val="solid"/>
            <a:round/>
            <a:headEnd len="sm" w="sm" type="none"/>
            <a:tailEnd len="med" w="med" type="stealth"/>
          </a:ln>
        </p:spPr>
      </p:cxnSp>
      <p:cxnSp>
        <p:nvCxnSpPr>
          <p:cNvPr id="537" name="Google Shape;537;p33"/>
          <p:cNvCxnSpPr>
            <a:stCxn id="522" idx="0"/>
          </p:cNvCxnSpPr>
          <p:nvPr/>
        </p:nvCxnSpPr>
        <p:spPr>
          <a:xfrm rot="10800000">
            <a:off x="5022650" y="2800352"/>
            <a:ext cx="304800" cy="1371600"/>
          </a:xfrm>
          <a:prstGeom prst="straightConnector1">
            <a:avLst/>
          </a:prstGeom>
          <a:noFill/>
          <a:ln cap="flat" cmpd="sng" w="15875">
            <a:solidFill>
              <a:schemeClr val="accent4"/>
            </a:solidFill>
            <a:prstDash val="solid"/>
            <a:round/>
            <a:headEnd len="sm" w="sm" type="none"/>
            <a:tailEnd len="med" w="med" type="stealth"/>
          </a:ln>
        </p:spPr>
      </p:cxnSp>
      <p:cxnSp>
        <p:nvCxnSpPr>
          <p:cNvPr id="538" name="Google Shape;538;p33"/>
          <p:cNvCxnSpPr>
            <a:stCxn id="522" idx="0"/>
          </p:cNvCxnSpPr>
          <p:nvPr/>
        </p:nvCxnSpPr>
        <p:spPr>
          <a:xfrm flipH="1" rot="10800000">
            <a:off x="5327450" y="2820752"/>
            <a:ext cx="553800" cy="1351200"/>
          </a:xfrm>
          <a:prstGeom prst="straightConnector1">
            <a:avLst/>
          </a:prstGeom>
          <a:noFill/>
          <a:ln cap="flat" cmpd="sng" w="15875">
            <a:solidFill>
              <a:schemeClr val="accent4"/>
            </a:solidFill>
            <a:prstDash val="solid"/>
            <a:round/>
            <a:headEnd len="sm" w="sm" type="none"/>
            <a:tailEnd len="med" w="med" type="stealth"/>
          </a:ln>
        </p:spPr>
      </p:cxnSp>
      <p:cxnSp>
        <p:nvCxnSpPr>
          <p:cNvPr id="539" name="Google Shape;539;p33"/>
          <p:cNvCxnSpPr>
            <a:stCxn id="523" idx="0"/>
            <a:endCxn id="514" idx="4"/>
          </p:cNvCxnSpPr>
          <p:nvPr/>
        </p:nvCxnSpPr>
        <p:spPr>
          <a:xfrm flipH="1" rot="10800000">
            <a:off x="3955850" y="2819252"/>
            <a:ext cx="1066800" cy="1352700"/>
          </a:xfrm>
          <a:prstGeom prst="straightConnector1">
            <a:avLst/>
          </a:prstGeom>
          <a:noFill/>
          <a:ln cap="flat" cmpd="sng" w="79375">
            <a:solidFill>
              <a:srgbClr val="0000FF"/>
            </a:solidFill>
            <a:prstDash val="solid"/>
            <a:round/>
            <a:headEnd len="sm" w="sm" type="none"/>
            <a:tailEnd len="med" w="med" type="stealth"/>
          </a:ln>
        </p:spPr>
      </p:cxnSp>
      <p:cxnSp>
        <p:nvCxnSpPr>
          <p:cNvPr id="540" name="Google Shape;540;p33"/>
          <p:cNvCxnSpPr>
            <a:endCxn id="513" idx="4"/>
          </p:cNvCxnSpPr>
          <p:nvPr/>
        </p:nvCxnSpPr>
        <p:spPr>
          <a:xfrm flipH="1" rot="10800000">
            <a:off x="3993950" y="2819223"/>
            <a:ext cx="1866900" cy="1352700"/>
          </a:xfrm>
          <a:prstGeom prst="straightConnector1">
            <a:avLst/>
          </a:prstGeom>
          <a:noFill/>
          <a:ln cap="flat" cmpd="sng" w="15875">
            <a:solidFill>
              <a:schemeClr val="accent4"/>
            </a:solidFill>
            <a:prstDash val="solid"/>
            <a:round/>
            <a:headEnd len="sm" w="sm" type="none"/>
            <a:tailEnd len="med" w="med" type="stealth"/>
          </a:ln>
        </p:spPr>
      </p:cxnSp>
      <p:sp>
        <p:nvSpPr>
          <p:cNvPr id="541" name="Google Shape;541;p33"/>
          <p:cNvSpPr txBox="1"/>
          <p:nvPr/>
        </p:nvSpPr>
        <p:spPr>
          <a:xfrm>
            <a:off x="3651050" y="1428751"/>
            <a:ext cx="45720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U</a:t>
            </a:r>
            <a:endParaRPr/>
          </a:p>
        </p:txBody>
      </p:sp>
      <p:sp>
        <p:nvSpPr>
          <p:cNvPr id="542" name="Google Shape;542;p33"/>
          <p:cNvSpPr txBox="1"/>
          <p:nvPr/>
        </p:nvSpPr>
        <p:spPr>
          <a:xfrm>
            <a:off x="2341605" y="3074649"/>
            <a:ext cx="45720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W</a:t>
            </a:r>
            <a:endParaRPr/>
          </a:p>
        </p:txBody>
      </p:sp>
      <p:sp>
        <p:nvSpPr>
          <p:cNvPr id="543" name="Google Shape;543;p33"/>
          <p:cNvSpPr txBox="1"/>
          <p:nvPr/>
        </p:nvSpPr>
        <p:spPr>
          <a:xfrm>
            <a:off x="6469028" y="4185405"/>
            <a:ext cx="42511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x</a:t>
            </a:r>
            <a:r>
              <a:rPr baseline="-25000" lang="en-US" sz="2400">
                <a:solidFill>
                  <a:schemeClr val="dk1"/>
                </a:solidFill>
                <a:latin typeface="Calibri"/>
                <a:ea typeface="Calibri"/>
                <a:cs typeface="Calibri"/>
                <a:sym typeface="Calibri"/>
              </a:rPr>
              <a:t>n</a:t>
            </a:r>
            <a:endParaRPr baseline="-25000" sz="2400">
              <a:solidFill>
                <a:schemeClr val="dk1"/>
              </a:solidFill>
              <a:latin typeface="Calibri"/>
              <a:ea typeface="Calibri"/>
              <a:cs typeface="Calibri"/>
              <a:sym typeface="Calibri"/>
            </a:endParaRPr>
          </a:p>
        </p:txBody>
      </p:sp>
      <p:sp>
        <p:nvSpPr>
          <p:cNvPr id="544" name="Google Shape;544;p33"/>
          <p:cNvSpPr txBox="1"/>
          <p:nvPr/>
        </p:nvSpPr>
        <p:spPr>
          <a:xfrm>
            <a:off x="2654480" y="4185405"/>
            <a:ext cx="4572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x</a:t>
            </a:r>
            <a:r>
              <a:rPr baseline="-25000" lang="en-US" sz="2400">
                <a:solidFill>
                  <a:schemeClr val="dk1"/>
                </a:solidFill>
                <a:latin typeface="Calibri"/>
                <a:ea typeface="Calibri"/>
                <a:cs typeface="Calibri"/>
                <a:sym typeface="Calibri"/>
              </a:rPr>
              <a:t>1</a:t>
            </a:r>
            <a:endParaRPr/>
          </a:p>
        </p:txBody>
      </p:sp>
      <p:pic>
        <p:nvPicPr>
          <p:cNvPr descr="hidden.png" id="545" name="Google Shape;545;p33"/>
          <p:cNvPicPr preferRelativeResize="0"/>
          <p:nvPr/>
        </p:nvPicPr>
        <p:blipFill rotWithShape="1">
          <a:blip r:embed="rId3">
            <a:alphaModFix/>
          </a:blip>
          <a:srcRect b="0" l="0" r="0" t="0"/>
          <a:stretch/>
        </p:blipFill>
        <p:spPr>
          <a:xfrm>
            <a:off x="6415506" y="2240699"/>
            <a:ext cx="2899944" cy="706204"/>
          </a:xfrm>
          <a:prstGeom prst="rect">
            <a:avLst/>
          </a:prstGeom>
          <a:noFill/>
          <a:ln>
            <a:noFill/>
          </a:ln>
        </p:spPr>
      </p:pic>
      <p:sp>
        <p:nvSpPr>
          <p:cNvPr id="546" name="Google Shape;546;p33"/>
          <p:cNvSpPr txBox="1"/>
          <p:nvPr/>
        </p:nvSpPr>
        <p:spPr>
          <a:xfrm>
            <a:off x="7346749" y="4171951"/>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547" name="Google Shape;547;p33"/>
          <p:cNvSpPr txBox="1"/>
          <p:nvPr/>
        </p:nvSpPr>
        <p:spPr>
          <a:xfrm>
            <a:off x="6885569" y="3074649"/>
            <a:ext cx="45720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b</a:t>
            </a:r>
            <a:endParaRPr/>
          </a:p>
        </p:txBody>
      </p:sp>
      <p:sp>
        <p:nvSpPr>
          <p:cNvPr id="548" name="Google Shape;548;p33"/>
          <p:cNvSpPr/>
          <p:nvPr/>
        </p:nvSpPr>
        <p:spPr>
          <a:xfrm>
            <a:off x="228600" y="2313739"/>
            <a:ext cx="2310652" cy="14157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hidden units</a:t>
            </a:r>
            <a:endParaRPr/>
          </a:p>
          <a:p>
            <a:pPr indent="0" lvl="0" marL="0" marR="0" rtl="0" algn="l">
              <a:spcBef>
                <a:spcPts val="0"/>
              </a:spcBef>
              <a:spcAft>
                <a:spcPts val="0"/>
              </a:spcAft>
              <a:buNone/>
            </a:pPr>
            <a:r>
              <a:rPr lang="en-US" sz="3000">
                <a:solidFill>
                  <a:schemeClr val="dk2"/>
                </a:solidFill>
                <a:latin typeface="Calibri"/>
                <a:ea typeface="Calibri"/>
                <a:cs typeface="Calibri"/>
                <a:sym typeface="Calibri"/>
              </a:rPr>
              <a:t>(</a:t>
            </a:r>
            <a:r>
              <a:rPr lang="en-US" sz="3000">
                <a:solidFill>
                  <a:schemeClr val="dk1"/>
                </a:solidFill>
                <a:latin typeface="Calibri"/>
                <a:ea typeface="Calibri"/>
                <a:cs typeface="Calibri"/>
                <a:sym typeface="Calibri"/>
              </a:rPr>
              <a:t>σ node)</a:t>
            </a:r>
            <a:endParaRPr sz="30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800">
              <a:solidFill>
                <a:schemeClr val="dk2"/>
              </a:solidFill>
              <a:latin typeface="Calibri"/>
              <a:ea typeface="Calibri"/>
              <a:cs typeface="Calibri"/>
              <a:sym typeface="Calibri"/>
            </a:endParaRPr>
          </a:p>
        </p:txBody>
      </p:sp>
      <p:sp>
        <p:nvSpPr>
          <p:cNvPr id="549" name="Google Shape;549;p33"/>
          <p:cNvSpPr/>
          <p:nvPr/>
        </p:nvSpPr>
        <p:spPr>
          <a:xfrm>
            <a:off x="229559" y="3871202"/>
            <a:ext cx="2310652"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Input layer</a:t>
            </a:r>
            <a:endParaRPr/>
          </a:p>
          <a:p>
            <a:pPr indent="0" lvl="0" marL="0" marR="0" rtl="0" algn="l">
              <a:spcBef>
                <a:spcPts val="0"/>
              </a:spcBef>
              <a:spcAft>
                <a:spcPts val="0"/>
              </a:spcAft>
              <a:buNone/>
            </a:pPr>
            <a:r>
              <a:rPr lang="en-US" sz="2800">
                <a:solidFill>
                  <a:schemeClr val="dk2"/>
                </a:solidFill>
                <a:latin typeface="Calibri"/>
                <a:ea typeface="Calibri"/>
                <a:cs typeface="Calibri"/>
                <a:sym typeface="Calibri"/>
              </a:rPr>
              <a:t>(vector)</a:t>
            </a:r>
            <a:endParaRPr/>
          </a:p>
        </p:txBody>
      </p:sp>
      <p:sp>
        <p:nvSpPr>
          <p:cNvPr id="550" name="Google Shape;550;p33"/>
          <p:cNvSpPr txBox="1"/>
          <p:nvPr/>
        </p:nvSpPr>
        <p:spPr>
          <a:xfrm>
            <a:off x="359163" y="977138"/>
            <a:ext cx="2071739" cy="9534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798">
                <a:solidFill>
                  <a:schemeClr val="dk2"/>
                </a:solidFill>
                <a:latin typeface="Calibri"/>
                <a:ea typeface="Calibri"/>
                <a:cs typeface="Calibri"/>
                <a:sym typeface="Calibri"/>
              </a:rPr>
              <a:t>Output layer</a:t>
            </a:r>
            <a:endParaRPr/>
          </a:p>
          <a:p>
            <a:pPr indent="0" lvl="0" marL="0" marR="0" rtl="0" algn="l">
              <a:spcBef>
                <a:spcPts val="0"/>
              </a:spcBef>
              <a:spcAft>
                <a:spcPts val="0"/>
              </a:spcAft>
              <a:buNone/>
            </a:pPr>
            <a:r>
              <a:rPr lang="en-US" sz="2798">
                <a:solidFill>
                  <a:schemeClr val="dk2"/>
                </a:solidFill>
                <a:latin typeface="Calibri"/>
                <a:ea typeface="Calibri"/>
                <a:cs typeface="Calibri"/>
                <a:sym typeface="Calibri"/>
              </a:rPr>
              <a:t>(</a:t>
            </a:r>
            <a:r>
              <a:rPr lang="en-US" sz="2798">
                <a:solidFill>
                  <a:schemeClr val="dk1"/>
                </a:solidFill>
                <a:latin typeface="Calibri"/>
                <a:ea typeface="Calibri"/>
                <a:cs typeface="Calibri"/>
                <a:sym typeface="Calibri"/>
              </a:rPr>
              <a:t>σ node)</a:t>
            </a:r>
            <a:endParaRPr sz="2798">
              <a:solidFill>
                <a:schemeClr val="dk2"/>
              </a:solidFill>
              <a:latin typeface="Calibri"/>
              <a:ea typeface="Calibri"/>
              <a:cs typeface="Calibri"/>
              <a:sym typeface="Calibri"/>
            </a:endParaRPr>
          </a:p>
        </p:txBody>
      </p:sp>
      <p:sp>
        <p:nvSpPr>
          <p:cNvPr id="551" name="Google Shape;551;p33"/>
          <p:cNvSpPr txBox="1"/>
          <p:nvPr/>
        </p:nvSpPr>
        <p:spPr>
          <a:xfrm>
            <a:off x="3846289" y="4194801"/>
            <a:ext cx="26962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i</a:t>
            </a:r>
            <a:endParaRPr sz="2400">
              <a:solidFill>
                <a:schemeClr val="dk1"/>
              </a:solidFill>
              <a:latin typeface="Times New Roman"/>
              <a:ea typeface="Times New Roman"/>
              <a:cs typeface="Times New Roman"/>
              <a:sym typeface="Times New Roman"/>
            </a:endParaRPr>
          </a:p>
        </p:txBody>
      </p:sp>
      <p:sp>
        <p:nvSpPr>
          <p:cNvPr id="552" name="Google Shape;552;p33"/>
          <p:cNvSpPr txBox="1"/>
          <p:nvPr/>
        </p:nvSpPr>
        <p:spPr>
          <a:xfrm>
            <a:off x="4905649" y="2283970"/>
            <a:ext cx="26962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j</a:t>
            </a:r>
            <a:endParaRPr/>
          </a:p>
        </p:txBody>
      </p:sp>
      <p:sp>
        <p:nvSpPr>
          <p:cNvPr id="553" name="Google Shape;553;p33"/>
          <p:cNvSpPr txBox="1"/>
          <p:nvPr/>
        </p:nvSpPr>
        <p:spPr>
          <a:xfrm>
            <a:off x="2898295" y="2442584"/>
            <a:ext cx="1001759"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0000FF"/>
                </a:solidFill>
                <a:latin typeface="Times New Roman"/>
                <a:ea typeface="Times New Roman"/>
                <a:cs typeface="Times New Roman"/>
                <a:sym typeface="Times New Roman"/>
              </a:rPr>
              <a:t>W</a:t>
            </a:r>
            <a:r>
              <a:rPr baseline="-25000" lang="en-US" sz="4500">
                <a:solidFill>
                  <a:srgbClr val="0000FF"/>
                </a:solidFill>
                <a:latin typeface="Times New Roman"/>
                <a:ea typeface="Times New Roman"/>
                <a:cs typeface="Times New Roman"/>
                <a:sym typeface="Times New Roman"/>
              </a:rPr>
              <a:t>ji</a:t>
            </a:r>
            <a:endParaRPr baseline="-25000" sz="3300">
              <a:solidFill>
                <a:srgbClr val="0000FF"/>
              </a:solidFill>
              <a:latin typeface="Times New Roman"/>
              <a:ea typeface="Times New Roman"/>
              <a:cs typeface="Times New Roman"/>
              <a:sym typeface="Times New Roman"/>
            </a:endParaRPr>
          </a:p>
        </p:txBody>
      </p:sp>
      <p:cxnSp>
        <p:nvCxnSpPr>
          <p:cNvPr id="554" name="Google Shape;554;p33"/>
          <p:cNvCxnSpPr/>
          <p:nvPr/>
        </p:nvCxnSpPr>
        <p:spPr>
          <a:xfrm>
            <a:off x="3600451" y="2946902"/>
            <a:ext cx="812600" cy="596399"/>
          </a:xfrm>
          <a:prstGeom prst="straightConnector1">
            <a:avLst/>
          </a:prstGeom>
          <a:noFill/>
          <a:ln cap="flat" cmpd="sng" w="38100">
            <a:solidFill>
              <a:srgbClr val="0000FF"/>
            </a:solidFill>
            <a:prstDash val="dot"/>
            <a:round/>
            <a:headEnd len="sm" w="sm" type="none"/>
            <a:tailEnd len="sm" w="sm" type="none"/>
          </a:ln>
        </p:spPr>
      </p:cxnSp>
      <p:sp>
        <p:nvSpPr>
          <p:cNvPr id="555" name="Google Shape;555;p33"/>
          <p:cNvSpPr/>
          <p:nvPr/>
        </p:nvSpPr>
        <p:spPr>
          <a:xfrm>
            <a:off x="7342475" y="3132587"/>
            <a:ext cx="231065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vector</a:t>
            </a:r>
            <a:endParaRPr/>
          </a:p>
        </p:txBody>
      </p:sp>
      <p:sp>
        <p:nvSpPr>
          <p:cNvPr id="556" name="Google Shape;556;p33"/>
          <p:cNvSpPr/>
          <p:nvPr/>
        </p:nvSpPr>
        <p:spPr>
          <a:xfrm>
            <a:off x="7470192" y="854432"/>
            <a:ext cx="231065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y is a scalar</a:t>
            </a:r>
            <a:endParaRPr/>
          </a:p>
        </p:txBody>
      </p:sp>
      <p:sp>
        <p:nvSpPr>
          <p:cNvPr id="557" name="Google Shape;557;p33"/>
          <p:cNvSpPr txBox="1"/>
          <p:nvPr/>
        </p:nvSpPr>
        <p:spPr>
          <a:xfrm>
            <a:off x="5913850" y="1313851"/>
            <a:ext cx="1246303" cy="461665"/>
          </a:xfrm>
          <a:prstGeom prst="rect">
            <a:avLst/>
          </a:prstGeom>
          <a:blipFill rotWithShape="1">
            <a:blip r:embed="rId4">
              <a:alphaModFix/>
            </a:blip>
            <a:stretch>
              <a:fillRect b="-8106" l="-3028" r="-707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558" name="Google Shape;558;p33"/>
          <p:cNvSpPr txBox="1"/>
          <p:nvPr/>
        </p:nvSpPr>
        <p:spPr>
          <a:xfrm>
            <a:off x="5906755" y="885680"/>
            <a:ext cx="1555619" cy="461665"/>
          </a:xfrm>
          <a:prstGeom prst="rect">
            <a:avLst/>
          </a:prstGeom>
          <a:blipFill rotWithShape="1">
            <a:blip r:embed="rId5">
              <a:alphaModFix/>
            </a:blip>
            <a:stretch>
              <a:fillRect b="-34208" l="-5689" r="-812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34"/>
          <p:cNvSpPr txBox="1"/>
          <p:nvPr>
            <p:ph type="title"/>
          </p:nvPr>
        </p:nvSpPr>
        <p:spPr>
          <a:xfrm>
            <a:off x="628650" y="10135"/>
            <a:ext cx="7886700" cy="8001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Two-Layer Network with scalar output</a:t>
            </a:r>
            <a:endParaRPr/>
          </a:p>
        </p:txBody>
      </p:sp>
      <p:sp>
        <p:nvSpPr>
          <p:cNvPr id="565" name="Google Shape;565;p34"/>
          <p:cNvSpPr/>
          <p:nvPr/>
        </p:nvSpPr>
        <p:spPr>
          <a:xfrm>
            <a:off x="4184450" y="2724152"/>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66" name="Google Shape;566;p34"/>
          <p:cNvSpPr/>
          <p:nvPr/>
        </p:nvSpPr>
        <p:spPr>
          <a:xfrm>
            <a:off x="3955850" y="23431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67" name="Google Shape;567;p34"/>
          <p:cNvSpPr/>
          <p:nvPr/>
        </p:nvSpPr>
        <p:spPr>
          <a:xfrm>
            <a:off x="4794050" y="8953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68" name="Google Shape;568;p34"/>
          <p:cNvSpPr/>
          <p:nvPr/>
        </p:nvSpPr>
        <p:spPr>
          <a:xfrm>
            <a:off x="5632250" y="23431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69" name="Google Shape;569;p34"/>
          <p:cNvSpPr/>
          <p:nvPr/>
        </p:nvSpPr>
        <p:spPr>
          <a:xfrm>
            <a:off x="4794050" y="23431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570" name="Google Shape;570;p34"/>
          <p:cNvCxnSpPr>
            <a:stCxn id="566" idx="0"/>
            <a:endCxn id="567" idx="3"/>
          </p:cNvCxnSpPr>
          <p:nvPr/>
        </p:nvCxnSpPr>
        <p:spPr>
          <a:xfrm flipH="1" rot="10800000">
            <a:off x="4184450" y="1301852"/>
            <a:ext cx="676500" cy="1041300"/>
          </a:xfrm>
          <a:prstGeom prst="straightConnector1">
            <a:avLst/>
          </a:prstGeom>
          <a:noFill/>
          <a:ln>
            <a:noFill/>
          </a:ln>
        </p:spPr>
      </p:cxnSp>
      <p:cxnSp>
        <p:nvCxnSpPr>
          <p:cNvPr id="571" name="Google Shape;571;p34"/>
          <p:cNvCxnSpPr>
            <a:stCxn id="569" idx="0"/>
            <a:endCxn id="567" idx="4"/>
          </p:cNvCxnSpPr>
          <p:nvPr/>
        </p:nvCxnSpPr>
        <p:spPr>
          <a:xfrm rot="10800000">
            <a:off x="5022650" y="1371452"/>
            <a:ext cx="0" cy="971700"/>
          </a:xfrm>
          <a:prstGeom prst="straightConnector1">
            <a:avLst/>
          </a:prstGeom>
          <a:noFill/>
          <a:ln cap="flat" cmpd="sng" w="15875">
            <a:solidFill>
              <a:schemeClr val="accent4"/>
            </a:solidFill>
            <a:prstDash val="solid"/>
            <a:round/>
            <a:headEnd len="sm" w="sm" type="none"/>
            <a:tailEnd len="med" w="med" type="stealth"/>
          </a:ln>
        </p:spPr>
      </p:cxnSp>
      <p:cxnSp>
        <p:nvCxnSpPr>
          <p:cNvPr id="572" name="Google Shape;572;p34"/>
          <p:cNvCxnSpPr>
            <a:stCxn id="568" idx="0"/>
            <a:endCxn id="567" idx="4"/>
          </p:cNvCxnSpPr>
          <p:nvPr/>
        </p:nvCxnSpPr>
        <p:spPr>
          <a:xfrm rot="10800000">
            <a:off x="5022650" y="1371452"/>
            <a:ext cx="838200" cy="971700"/>
          </a:xfrm>
          <a:prstGeom prst="straightConnector1">
            <a:avLst/>
          </a:prstGeom>
          <a:noFill/>
          <a:ln cap="flat" cmpd="sng" w="15875">
            <a:solidFill>
              <a:schemeClr val="accent4"/>
            </a:solidFill>
            <a:prstDash val="solid"/>
            <a:round/>
            <a:headEnd len="sm" w="sm" type="none"/>
            <a:tailEnd len="med" w="med" type="stealth"/>
          </a:ln>
        </p:spPr>
      </p:cxnSp>
      <p:cxnSp>
        <p:nvCxnSpPr>
          <p:cNvPr id="573" name="Google Shape;573;p34"/>
          <p:cNvCxnSpPr>
            <a:stCxn id="566" idx="7"/>
            <a:endCxn id="567" idx="4"/>
          </p:cNvCxnSpPr>
          <p:nvPr/>
        </p:nvCxnSpPr>
        <p:spPr>
          <a:xfrm flipH="1" rot="10800000">
            <a:off x="4346095" y="1371571"/>
            <a:ext cx="676500" cy="1041300"/>
          </a:xfrm>
          <a:prstGeom prst="straightConnector1">
            <a:avLst/>
          </a:prstGeom>
          <a:noFill/>
          <a:ln cap="flat" cmpd="sng" w="15875">
            <a:solidFill>
              <a:schemeClr val="accent4"/>
            </a:solidFill>
            <a:prstDash val="solid"/>
            <a:round/>
            <a:headEnd len="sm" w="sm" type="none"/>
            <a:tailEnd len="med" w="med" type="stealth"/>
          </a:ln>
        </p:spPr>
      </p:cxnSp>
      <p:sp>
        <p:nvSpPr>
          <p:cNvPr id="574" name="Google Shape;574;p34"/>
          <p:cNvSpPr/>
          <p:nvPr/>
        </p:nvSpPr>
        <p:spPr>
          <a:xfrm>
            <a:off x="4565450" y="4552952"/>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75" name="Google Shape;575;p34"/>
          <p:cNvSpPr/>
          <p:nvPr/>
        </p:nvSpPr>
        <p:spPr>
          <a:xfrm>
            <a:off x="25842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76" name="Google Shape;576;p34"/>
          <p:cNvSpPr/>
          <p:nvPr/>
        </p:nvSpPr>
        <p:spPr>
          <a:xfrm>
            <a:off x="63942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77" name="Google Shape;577;p34"/>
          <p:cNvSpPr/>
          <p:nvPr/>
        </p:nvSpPr>
        <p:spPr>
          <a:xfrm>
            <a:off x="50988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578" name="Google Shape;578;p34"/>
          <p:cNvSpPr/>
          <p:nvPr/>
        </p:nvSpPr>
        <p:spPr>
          <a:xfrm>
            <a:off x="37272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579" name="Google Shape;579;p34"/>
          <p:cNvCxnSpPr>
            <a:stCxn id="575" idx="0"/>
          </p:cNvCxnSpPr>
          <p:nvPr/>
        </p:nvCxnSpPr>
        <p:spPr>
          <a:xfrm flipH="1" rot="10800000">
            <a:off x="2812850" y="3049352"/>
            <a:ext cx="2494200" cy="1122600"/>
          </a:xfrm>
          <a:prstGeom prst="straightConnector1">
            <a:avLst/>
          </a:prstGeom>
          <a:noFill/>
          <a:ln>
            <a:noFill/>
          </a:ln>
        </p:spPr>
      </p:cxnSp>
      <p:cxnSp>
        <p:nvCxnSpPr>
          <p:cNvPr id="580" name="Google Shape;580;p34"/>
          <p:cNvCxnSpPr>
            <a:stCxn id="578" idx="0"/>
            <a:endCxn id="566" idx="4"/>
          </p:cNvCxnSpPr>
          <p:nvPr/>
        </p:nvCxnSpPr>
        <p:spPr>
          <a:xfrm flipH="1" rot="10800000">
            <a:off x="3955850" y="2819252"/>
            <a:ext cx="228600" cy="1352700"/>
          </a:xfrm>
          <a:prstGeom prst="straightConnector1">
            <a:avLst/>
          </a:prstGeom>
          <a:noFill/>
          <a:ln cap="flat" cmpd="sng" w="15875">
            <a:solidFill>
              <a:schemeClr val="accent4"/>
            </a:solidFill>
            <a:prstDash val="solid"/>
            <a:round/>
            <a:headEnd len="sm" w="sm" type="none"/>
            <a:tailEnd len="med" w="med" type="stealth"/>
          </a:ln>
        </p:spPr>
      </p:cxnSp>
      <p:cxnSp>
        <p:nvCxnSpPr>
          <p:cNvPr id="581" name="Google Shape;581;p34"/>
          <p:cNvCxnSpPr>
            <a:stCxn id="577" idx="0"/>
            <a:endCxn id="565" idx="1"/>
          </p:cNvCxnSpPr>
          <p:nvPr/>
        </p:nvCxnSpPr>
        <p:spPr>
          <a:xfrm rot="10800000">
            <a:off x="4240250" y="2793752"/>
            <a:ext cx="1087200" cy="1378200"/>
          </a:xfrm>
          <a:prstGeom prst="straightConnector1">
            <a:avLst/>
          </a:prstGeom>
          <a:noFill/>
          <a:ln cap="flat" cmpd="sng" w="15875">
            <a:solidFill>
              <a:schemeClr val="accent4"/>
            </a:solidFill>
            <a:prstDash val="solid"/>
            <a:round/>
            <a:headEnd len="sm" w="sm" type="none"/>
            <a:tailEnd len="med" w="med" type="stealth"/>
          </a:ln>
        </p:spPr>
      </p:cxnSp>
      <p:cxnSp>
        <p:nvCxnSpPr>
          <p:cNvPr id="582" name="Google Shape;582;p34"/>
          <p:cNvCxnSpPr>
            <a:stCxn id="576" idx="0"/>
            <a:endCxn id="566" idx="4"/>
          </p:cNvCxnSpPr>
          <p:nvPr/>
        </p:nvCxnSpPr>
        <p:spPr>
          <a:xfrm rot="10800000">
            <a:off x="4184450" y="2819252"/>
            <a:ext cx="2438400" cy="1352700"/>
          </a:xfrm>
          <a:prstGeom prst="straightConnector1">
            <a:avLst/>
          </a:prstGeom>
          <a:noFill/>
          <a:ln cap="flat" cmpd="sng" w="15875">
            <a:solidFill>
              <a:schemeClr val="accent4"/>
            </a:solidFill>
            <a:prstDash val="solid"/>
            <a:round/>
            <a:headEnd len="sm" w="sm" type="none"/>
            <a:tailEnd len="med" w="med" type="stealth"/>
          </a:ln>
        </p:spPr>
      </p:cxnSp>
      <p:cxnSp>
        <p:nvCxnSpPr>
          <p:cNvPr id="583" name="Google Shape;583;p34"/>
          <p:cNvCxnSpPr>
            <a:stCxn id="575" idx="7"/>
            <a:endCxn id="566" idx="4"/>
          </p:cNvCxnSpPr>
          <p:nvPr/>
        </p:nvCxnSpPr>
        <p:spPr>
          <a:xfrm flipH="1" rot="10800000">
            <a:off x="2974495" y="2819371"/>
            <a:ext cx="1209900" cy="1422300"/>
          </a:xfrm>
          <a:prstGeom prst="straightConnector1">
            <a:avLst/>
          </a:prstGeom>
          <a:noFill/>
          <a:ln cap="flat" cmpd="sng" w="15875">
            <a:solidFill>
              <a:schemeClr val="accent4"/>
            </a:solidFill>
            <a:prstDash val="solid"/>
            <a:round/>
            <a:headEnd len="sm" w="sm" type="none"/>
            <a:tailEnd len="med" w="med" type="stealth"/>
          </a:ln>
        </p:spPr>
      </p:cxnSp>
      <p:sp>
        <p:nvSpPr>
          <p:cNvPr id="584" name="Google Shape;584;p34"/>
          <p:cNvSpPr/>
          <p:nvPr/>
        </p:nvSpPr>
        <p:spPr>
          <a:xfrm>
            <a:off x="73086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585" name="Google Shape;585;p34"/>
          <p:cNvCxnSpPr>
            <a:stCxn id="584" idx="0"/>
            <a:endCxn id="566" idx="4"/>
          </p:cNvCxnSpPr>
          <p:nvPr/>
        </p:nvCxnSpPr>
        <p:spPr>
          <a:xfrm rot="10800000">
            <a:off x="4184450" y="2819252"/>
            <a:ext cx="3352800" cy="1352700"/>
          </a:xfrm>
          <a:prstGeom prst="straightConnector1">
            <a:avLst/>
          </a:prstGeom>
          <a:noFill/>
          <a:ln cap="flat" cmpd="sng" w="15875">
            <a:solidFill>
              <a:schemeClr val="accent4"/>
            </a:solidFill>
            <a:prstDash val="solid"/>
            <a:round/>
            <a:headEnd len="sm" w="sm" type="none"/>
            <a:tailEnd len="med" w="med" type="stealth"/>
          </a:ln>
        </p:spPr>
      </p:cxnSp>
      <p:cxnSp>
        <p:nvCxnSpPr>
          <p:cNvPr id="586" name="Google Shape;586;p34"/>
          <p:cNvCxnSpPr>
            <a:stCxn id="575" idx="7"/>
            <a:endCxn id="569" idx="4"/>
          </p:cNvCxnSpPr>
          <p:nvPr/>
        </p:nvCxnSpPr>
        <p:spPr>
          <a:xfrm flipH="1" rot="10800000">
            <a:off x="2974495" y="2819371"/>
            <a:ext cx="2048100" cy="1422300"/>
          </a:xfrm>
          <a:prstGeom prst="straightConnector1">
            <a:avLst/>
          </a:prstGeom>
          <a:noFill/>
          <a:ln cap="flat" cmpd="sng" w="15875">
            <a:solidFill>
              <a:schemeClr val="accent4"/>
            </a:solidFill>
            <a:prstDash val="solid"/>
            <a:round/>
            <a:headEnd len="sm" w="sm" type="none"/>
            <a:tailEnd len="med" w="med" type="stealth"/>
          </a:ln>
        </p:spPr>
      </p:cxnSp>
      <p:cxnSp>
        <p:nvCxnSpPr>
          <p:cNvPr id="587" name="Google Shape;587;p34"/>
          <p:cNvCxnSpPr>
            <a:endCxn id="568" idx="4"/>
          </p:cNvCxnSpPr>
          <p:nvPr/>
        </p:nvCxnSpPr>
        <p:spPr>
          <a:xfrm flipH="1" rot="10800000">
            <a:off x="2985650" y="2819223"/>
            <a:ext cx="2875200" cy="1408500"/>
          </a:xfrm>
          <a:prstGeom prst="straightConnector1">
            <a:avLst/>
          </a:prstGeom>
          <a:noFill/>
          <a:ln cap="flat" cmpd="sng" w="15875">
            <a:solidFill>
              <a:schemeClr val="accent4"/>
            </a:solidFill>
            <a:prstDash val="solid"/>
            <a:round/>
            <a:headEnd len="sm" w="sm" type="none"/>
            <a:tailEnd len="med" w="med" type="stealth"/>
          </a:ln>
        </p:spPr>
      </p:cxnSp>
      <p:cxnSp>
        <p:nvCxnSpPr>
          <p:cNvPr id="588" name="Google Shape;588;p34"/>
          <p:cNvCxnSpPr>
            <a:stCxn id="584" idx="0"/>
            <a:endCxn id="568" idx="4"/>
          </p:cNvCxnSpPr>
          <p:nvPr/>
        </p:nvCxnSpPr>
        <p:spPr>
          <a:xfrm rot="10800000">
            <a:off x="5860850" y="2819252"/>
            <a:ext cx="1676400" cy="1352700"/>
          </a:xfrm>
          <a:prstGeom prst="straightConnector1">
            <a:avLst/>
          </a:prstGeom>
          <a:noFill/>
          <a:ln cap="flat" cmpd="sng" w="15875">
            <a:solidFill>
              <a:schemeClr val="accent4"/>
            </a:solidFill>
            <a:prstDash val="solid"/>
            <a:round/>
            <a:headEnd len="sm" w="sm" type="none"/>
            <a:tailEnd len="med" w="med" type="stealth"/>
          </a:ln>
        </p:spPr>
      </p:cxnSp>
      <p:cxnSp>
        <p:nvCxnSpPr>
          <p:cNvPr id="589" name="Google Shape;589;p34"/>
          <p:cNvCxnSpPr>
            <a:stCxn id="584" idx="0"/>
            <a:endCxn id="569" idx="4"/>
          </p:cNvCxnSpPr>
          <p:nvPr/>
        </p:nvCxnSpPr>
        <p:spPr>
          <a:xfrm rot="10800000">
            <a:off x="5022650" y="2819252"/>
            <a:ext cx="2514600" cy="1352700"/>
          </a:xfrm>
          <a:prstGeom prst="straightConnector1">
            <a:avLst/>
          </a:prstGeom>
          <a:noFill/>
          <a:ln cap="flat" cmpd="sng" w="15875">
            <a:solidFill>
              <a:schemeClr val="accent4"/>
            </a:solidFill>
            <a:prstDash val="solid"/>
            <a:round/>
            <a:headEnd len="sm" w="sm" type="none"/>
            <a:tailEnd len="med" w="med" type="stealth"/>
          </a:ln>
        </p:spPr>
      </p:cxnSp>
      <p:cxnSp>
        <p:nvCxnSpPr>
          <p:cNvPr id="590" name="Google Shape;590;p34"/>
          <p:cNvCxnSpPr>
            <a:stCxn id="576" idx="0"/>
          </p:cNvCxnSpPr>
          <p:nvPr/>
        </p:nvCxnSpPr>
        <p:spPr>
          <a:xfrm rot="10800000">
            <a:off x="5098850" y="2800352"/>
            <a:ext cx="1524000" cy="1371600"/>
          </a:xfrm>
          <a:prstGeom prst="straightConnector1">
            <a:avLst/>
          </a:prstGeom>
          <a:noFill/>
          <a:ln cap="flat" cmpd="sng" w="15875">
            <a:solidFill>
              <a:schemeClr val="accent4"/>
            </a:solidFill>
            <a:prstDash val="solid"/>
            <a:round/>
            <a:headEnd len="sm" w="sm" type="none"/>
            <a:tailEnd len="med" w="med" type="stealth"/>
          </a:ln>
        </p:spPr>
      </p:cxnSp>
      <p:cxnSp>
        <p:nvCxnSpPr>
          <p:cNvPr id="591" name="Google Shape;591;p34"/>
          <p:cNvCxnSpPr>
            <a:stCxn id="576" idx="0"/>
            <a:endCxn id="568" idx="4"/>
          </p:cNvCxnSpPr>
          <p:nvPr/>
        </p:nvCxnSpPr>
        <p:spPr>
          <a:xfrm rot="10800000">
            <a:off x="5860850" y="2819252"/>
            <a:ext cx="762000" cy="1352700"/>
          </a:xfrm>
          <a:prstGeom prst="straightConnector1">
            <a:avLst/>
          </a:prstGeom>
          <a:noFill/>
          <a:ln cap="flat" cmpd="sng" w="15875">
            <a:solidFill>
              <a:schemeClr val="accent4"/>
            </a:solidFill>
            <a:prstDash val="solid"/>
            <a:round/>
            <a:headEnd len="sm" w="sm" type="none"/>
            <a:tailEnd len="med" w="med" type="stealth"/>
          </a:ln>
        </p:spPr>
      </p:cxnSp>
      <p:cxnSp>
        <p:nvCxnSpPr>
          <p:cNvPr id="592" name="Google Shape;592;p34"/>
          <p:cNvCxnSpPr>
            <a:stCxn id="577" idx="0"/>
          </p:cNvCxnSpPr>
          <p:nvPr/>
        </p:nvCxnSpPr>
        <p:spPr>
          <a:xfrm rot="10800000">
            <a:off x="5022650" y="2800352"/>
            <a:ext cx="304800" cy="1371600"/>
          </a:xfrm>
          <a:prstGeom prst="straightConnector1">
            <a:avLst/>
          </a:prstGeom>
          <a:noFill/>
          <a:ln cap="flat" cmpd="sng" w="15875">
            <a:solidFill>
              <a:schemeClr val="accent4"/>
            </a:solidFill>
            <a:prstDash val="solid"/>
            <a:round/>
            <a:headEnd len="sm" w="sm" type="none"/>
            <a:tailEnd len="med" w="med" type="stealth"/>
          </a:ln>
        </p:spPr>
      </p:cxnSp>
      <p:cxnSp>
        <p:nvCxnSpPr>
          <p:cNvPr id="593" name="Google Shape;593;p34"/>
          <p:cNvCxnSpPr>
            <a:stCxn id="577" idx="0"/>
          </p:cNvCxnSpPr>
          <p:nvPr/>
        </p:nvCxnSpPr>
        <p:spPr>
          <a:xfrm flipH="1" rot="10800000">
            <a:off x="5327450" y="2820752"/>
            <a:ext cx="553800" cy="1351200"/>
          </a:xfrm>
          <a:prstGeom prst="straightConnector1">
            <a:avLst/>
          </a:prstGeom>
          <a:noFill/>
          <a:ln cap="flat" cmpd="sng" w="15875">
            <a:solidFill>
              <a:schemeClr val="accent4"/>
            </a:solidFill>
            <a:prstDash val="solid"/>
            <a:round/>
            <a:headEnd len="sm" w="sm" type="none"/>
            <a:tailEnd len="med" w="med" type="stealth"/>
          </a:ln>
        </p:spPr>
      </p:cxnSp>
      <p:cxnSp>
        <p:nvCxnSpPr>
          <p:cNvPr id="594" name="Google Shape;594;p34"/>
          <p:cNvCxnSpPr>
            <a:stCxn id="578" idx="0"/>
            <a:endCxn id="569" idx="4"/>
          </p:cNvCxnSpPr>
          <p:nvPr/>
        </p:nvCxnSpPr>
        <p:spPr>
          <a:xfrm flipH="1" rot="10800000">
            <a:off x="3955850" y="2819252"/>
            <a:ext cx="1066800" cy="1352700"/>
          </a:xfrm>
          <a:prstGeom prst="straightConnector1">
            <a:avLst/>
          </a:prstGeom>
          <a:noFill/>
          <a:ln cap="flat" cmpd="sng" w="15875">
            <a:solidFill>
              <a:schemeClr val="accent4"/>
            </a:solidFill>
            <a:prstDash val="solid"/>
            <a:round/>
            <a:headEnd len="sm" w="sm" type="none"/>
            <a:tailEnd len="med" w="med" type="stealth"/>
          </a:ln>
        </p:spPr>
      </p:cxnSp>
      <p:cxnSp>
        <p:nvCxnSpPr>
          <p:cNvPr id="595" name="Google Shape;595;p34"/>
          <p:cNvCxnSpPr>
            <a:endCxn id="568" idx="4"/>
          </p:cNvCxnSpPr>
          <p:nvPr/>
        </p:nvCxnSpPr>
        <p:spPr>
          <a:xfrm flipH="1" rot="10800000">
            <a:off x="3993950" y="2819223"/>
            <a:ext cx="1866900" cy="1352700"/>
          </a:xfrm>
          <a:prstGeom prst="straightConnector1">
            <a:avLst/>
          </a:prstGeom>
          <a:noFill/>
          <a:ln cap="flat" cmpd="sng" w="15875">
            <a:solidFill>
              <a:schemeClr val="accent4"/>
            </a:solidFill>
            <a:prstDash val="solid"/>
            <a:round/>
            <a:headEnd len="sm" w="sm" type="none"/>
            <a:tailEnd len="med" w="med" type="stealth"/>
          </a:ln>
        </p:spPr>
      </p:cxnSp>
      <p:sp>
        <p:nvSpPr>
          <p:cNvPr id="596" name="Google Shape;596;p34"/>
          <p:cNvSpPr txBox="1"/>
          <p:nvPr/>
        </p:nvSpPr>
        <p:spPr>
          <a:xfrm>
            <a:off x="3651050" y="1428751"/>
            <a:ext cx="45720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U</a:t>
            </a:r>
            <a:endParaRPr/>
          </a:p>
        </p:txBody>
      </p:sp>
      <p:sp>
        <p:nvSpPr>
          <p:cNvPr id="597" name="Google Shape;597;p34"/>
          <p:cNvSpPr txBox="1"/>
          <p:nvPr/>
        </p:nvSpPr>
        <p:spPr>
          <a:xfrm>
            <a:off x="2660450" y="3105151"/>
            <a:ext cx="45720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W</a:t>
            </a:r>
            <a:endParaRPr/>
          </a:p>
        </p:txBody>
      </p:sp>
      <p:sp>
        <p:nvSpPr>
          <p:cNvPr id="598" name="Google Shape;598;p34"/>
          <p:cNvSpPr txBox="1"/>
          <p:nvPr/>
        </p:nvSpPr>
        <p:spPr>
          <a:xfrm>
            <a:off x="6469028" y="4185405"/>
            <a:ext cx="42511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x</a:t>
            </a:r>
            <a:r>
              <a:rPr baseline="-25000" lang="en-US" sz="2400">
                <a:solidFill>
                  <a:schemeClr val="dk1"/>
                </a:solidFill>
                <a:latin typeface="Calibri"/>
                <a:ea typeface="Calibri"/>
                <a:cs typeface="Calibri"/>
                <a:sym typeface="Calibri"/>
              </a:rPr>
              <a:t>n</a:t>
            </a:r>
            <a:endParaRPr baseline="-25000" sz="2400">
              <a:solidFill>
                <a:schemeClr val="dk1"/>
              </a:solidFill>
              <a:latin typeface="Calibri"/>
              <a:ea typeface="Calibri"/>
              <a:cs typeface="Calibri"/>
              <a:sym typeface="Calibri"/>
            </a:endParaRPr>
          </a:p>
        </p:txBody>
      </p:sp>
      <p:sp>
        <p:nvSpPr>
          <p:cNvPr id="599" name="Google Shape;599;p34"/>
          <p:cNvSpPr txBox="1"/>
          <p:nvPr/>
        </p:nvSpPr>
        <p:spPr>
          <a:xfrm>
            <a:off x="2654480" y="4185405"/>
            <a:ext cx="4572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x</a:t>
            </a:r>
            <a:r>
              <a:rPr baseline="-25000" lang="en-US" sz="2400">
                <a:solidFill>
                  <a:schemeClr val="dk1"/>
                </a:solidFill>
                <a:latin typeface="Calibri"/>
                <a:ea typeface="Calibri"/>
                <a:cs typeface="Calibri"/>
                <a:sym typeface="Calibri"/>
              </a:rPr>
              <a:t>1</a:t>
            </a:r>
            <a:endParaRPr/>
          </a:p>
        </p:txBody>
      </p:sp>
      <p:pic>
        <p:nvPicPr>
          <p:cNvPr descr="hidden.png" id="600" name="Google Shape;600;p34"/>
          <p:cNvPicPr preferRelativeResize="0"/>
          <p:nvPr/>
        </p:nvPicPr>
        <p:blipFill rotWithShape="1">
          <a:blip r:embed="rId3">
            <a:alphaModFix/>
          </a:blip>
          <a:srcRect b="0" l="0" r="0" t="0"/>
          <a:stretch/>
        </p:blipFill>
        <p:spPr>
          <a:xfrm>
            <a:off x="6415506" y="2240699"/>
            <a:ext cx="2899944" cy="706204"/>
          </a:xfrm>
          <a:prstGeom prst="rect">
            <a:avLst/>
          </a:prstGeom>
          <a:noFill/>
          <a:ln>
            <a:noFill/>
          </a:ln>
        </p:spPr>
      </p:pic>
      <p:sp>
        <p:nvSpPr>
          <p:cNvPr id="601" name="Google Shape;601;p34"/>
          <p:cNvSpPr txBox="1"/>
          <p:nvPr/>
        </p:nvSpPr>
        <p:spPr>
          <a:xfrm>
            <a:off x="7346749" y="4171951"/>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602" name="Google Shape;602;p34"/>
          <p:cNvSpPr txBox="1"/>
          <p:nvPr/>
        </p:nvSpPr>
        <p:spPr>
          <a:xfrm>
            <a:off x="6885569" y="3074649"/>
            <a:ext cx="45720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b</a:t>
            </a:r>
            <a:endParaRPr/>
          </a:p>
        </p:txBody>
      </p:sp>
      <p:sp>
        <p:nvSpPr>
          <p:cNvPr id="603" name="Google Shape;603;p34"/>
          <p:cNvSpPr/>
          <p:nvPr/>
        </p:nvSpPr>
        <p:spPr>
          <a:xfrm>
            <a:off x="228600" y="2313739"/>
            <a:ext cx="2310652" cy="14157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hidden units</a:t>
            </a:r>
            <a:endParaRPr/>
          </a:p>
          <a:p>
            <a:pPr indent="0" lvl="0" marL="0" marR="0" rtl="0" algn="l">
              <a:spcBef>
                <a:spcPts val="0"/>
              </a:spcBef>
              <a:spcAft>
                <a:spcPts val="0"/>
              </a:spcAft>
              <a:buNone/>
            </a:pPr>
            <a:r>
              <a:rPr lang="en-US" sz="3000">
                <a:solidFill>
                  <a:schemeClr val="dk2"/>
                </a:solidFill>
                <a:latin typeface="Calibri"/>
                <a:ea typeface="Calibri"/>
                <a:cs typeface="Calibri"/>
                <a:sym typeface="Calibri"/>
              </a:rPr>
              <a:t>(</a:t>
            </a:r>
            <a:r>
              <a:rPr lang="en-US" sz="3000">
                <a:solidFill>
                  <a:schemeClr val="dk1"/>
                </a:solidFill>
                <a:latin typeface="Calibri"/>
                <a:ea typeface="Calibri"/>
                <a:cs typeface="Calibri"/>
                <a:sym typeface="Calibri"/>
              </a:rPr>
              <a:t>σ node)</a:t>
            </a:r>
            <a:endParaRPr sz="30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800">
              <a:solidFill>
                <a:schemeClr val="dk2"/>
              </a:solidFill>
              <a:latin typeface="Calibri"/>
              <a:ea typeface="Calibri"/>
              <a:cs typeface="Calibri"/>
              <a:sym typeface="Calibri"/>
            </a:endParaRPr>
          </a:p>
        </p:txBody>
      </p:sp>
      <p:sp>
        <p:nvSpPr>
          <p:cNvPr id="604" name="Google Shape;604;p34"/>
          <p:cNvSpPr/>
          <p:nvPr/>
        </p:nvSpPr>
        <p:spPr>
          <a:xfrm>
            <a:off x="229559" y="3871202"/>
            <a:ext cx="2310652"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Input layer</a:t>
            </a:r>
            <a:endParaRPr/>
          </a:p>
          <a:p>
            <a:pPr indent="0" lvl="0" marL="0" marR="0" rtl="0" algn="l">
              <a:spcBef>
                <a:spcPts val="0"/>
              </a:spcBef>
              <a:spcAft>
                <a:spcPts val="0"/>
              </a:spcAft>
              <a:buNone/>
            </a:pPr>
            <a:r>
              <a:rPr lang="en-US" sz="2800">
                <a:solidFill>
                  <a:schemeClr val="dk2"/>
                </a:solidFill>
                <a:latin typeface="Calibri"/>
                <a:ea typeface="Calibri"/>
                <a:cs typeface="Calibri"/>
                <a:sym typeface="Calibri"/>
              </a:rPr>
              <a:t>(vector)</a:t>
            </a:r>
            <a:endParaRPr/>
          </a:p>
        </p:txBody>
      </p:sp>
      <p:sp>
        <p:nvSpPr>
          <p:cNvPr id="605" name="Google Shape;605;p34"/>
          <p:cNvSpPr txBox="1"/>
          <p:nvPr/>
        </p:nvSpPr>
        <p:spPr>
          <a:xfrm>
            <a:off x="359163" y="977138"/>
            <a:ext cx="2071739" cy="9534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798">
                <a:solidFill>
                  <a:schemeClr val="dk2"/>
                </a:solidFill>
                <a:latin typeface="Calibri"/>
                <a:ea typeface="Calibri"/>
                <a:cs typeface="Calibri"/>
                <a:sym typeface="Calibri"/>
              </a:rPr>
              <a:t>Output layer</a:t>
            </a:r>
            <a:endParaRPr/>
          </a:p>
          <a:p>
            <a:pPr indent="0" lvl="0" marL="0" marR="0" rtl="0" algn="l">
              <a:spcBef>
                <a:spcPts val="0"/>
              </a:spcBef>
              <a:spcAft>
                <a:spcPts val="0"/>
              </a:spcAft>
              <a:buNone/>
            </a:pPr>
            <a:r>
              <a:rPr lang="en-US" sz="2798">
                <a:solidFill>
                  <a:schemeClr val="dk2"/>
                </a:solidFill>
                <a:latin typeface="Calibri"/>
                <a:ea typeface="Calibri"/>
                <a:cs typeface="Calibri"/>
                <a:sym typeface="Calibri"/>
              </a:rPr>
              <a:t>(</a:t>
            </a:r>
            <a:r>
              <a:rPr lang="en-US" sz="2798">
                <a:solidFill>
                  <a:schemeClr val="dk1"/>
                </a:solidFill>
                <a:latin typeface="Calibri"/>
                <a:ea typeface="Calibri"/>
                <a:cs typeface="Calibri"/>
                <a:sym typeface="Calibri"/>
              </a:rPr>
              <a:t>σ node)</a:t>
            </a:r>
            <a:endParaRPr sz="2798">
              <a:solidFill>
                <a:schemeClr val="dk2"/>
              </a:solidFill>
              <a:latin typeface="Calibri"/>
              <a:ea typeface="Calibri"/>
              <a:cs typeface="Calibri"/>
              <a:sym typeface="Calibri"/>
            </a:endParaRPr>
          </a:p>
        </p:txBody>
      </p:sp>
      <p:sp>
        <p:nvSpPr>
          <p:cNvPr id="606" name="Google Shape;606;p34"/>
          <p:cNvSpPr txBox="1"/>
          <p:nvPr/>
        </p:nvSpPr>
        <p:spPr>
          <a:xfrm>
            <a:off x="7842051" y="2946903"/>
            <a:ext cx="954107" cy="4040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13">
                <a:solidFill>
                  <a:schemeClr val="dk1"/>
                </a:solidFill>
                <a:latin typeface="Calibri"/>
                <a:ea typeface="Calibri"/>
                <a:cs typeface="Calibri"/>
                <a:sym typeface="Calibri"/>
              </a:rPr>
              <a:t>Could be ReLU</a:t>
            </a:r>
            <a:endParaRPr sz="1013">
              <a:solidFill>
                <a:schemeClr val="dk1"/>
              </a:solidFill>
              <a:latin typeface="Calibri"/>
              <a:ea typeface="Calibri"/>
              <a:cs typeface="Calibri"/>
              <a:sym typeface="Calibri"/>
            </a:endParaRPr>
          </a:p>
          <a:p>
            <a:pPr indent="0" lvl="0" marL="0" marR="0" rtl="0" algn="l">
              <a:spcBef>
                <a:spcPts val="0"/>
              </a:spcBef>
              <a:spcAft>
                <a:spcPts val="0"/>
              </a:spcAft>
              <a:buNone/>
            </a:pPr>
            <a:r>
              <a:rPr lang="en-US" sz="1013">
                <a:solidFill>
                  <a:schemeClr val="dk1"/>
                </a:solidFill>
                <a:latin typeface="Calibri"/>
                <a:ea typeface="Calibri"/>
                <a:cs typeface="Calibri"/>
                <a:sym typeface="Calibri"/>
              </a:rPr>
              <a:t>Or tanh</a:t>
            </a:r>
            <a:endParaRPr/>
          </a:p>
        </p:txBody>
      </p:sp>
      <p:sp>
        <p:nvSpPr>
          <p:cNvPr id="607" name="Google Shape;607;p34"/>
          <p:cNvSpPr/>
          <p:nvPr/>
        </p:nvSpPr>
        <p:spPr>
          <a:xfrm>
            <a:off x="7470192" y="854432"/>
            <a:ext cx="231065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y is a scalar</a:t>
            </a:r>
            <a:endParaRPr/>
          </a:p>
        </p:txBody>
      </p:sp>
      <p:sp>
        <p:nvSpPr>
          <p:cNvPr id="608" name="Google Shape;608;p34"/>
          <p:cNvSpPr txBox="1"/>
          <p:nvPr/>
        </p:nvSpPr>
        <p:spPr>
          <a:xfrm>
            <a:off x="5913850" y="1313851"/>
            <a:ext cx="1246303" cy="461665"/>
          </a:xfrm>
          <a:prstGeom prst="rect">
            <a:avLst/>
          </a:prstGeom>
          <a:blipFill rotWithShape="1">
            <a:blip r:embed="rId4">
              <a:alphaModFix/>
            </a:blip>
            <a:stretch>
              <a:fillRect b="-8106" l="-3028" r="-707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609" name="Google Shape;609;p34"/>
          <p:cNvSpPr txBox="1"/>
          <p:nvPr/>
        </p:nvSpPr>
        <p:spPr>
          <a:xfrm>
            <a:off x="5906755" y="885680"/>
            <a:ext cx="1555619" cy="461665"/>
          </a:xfrm>
          <a:prstGeom prst="rect">
            <a:avLst/>
          </a:prstGeom>
          <a:blipFill rotWithShape="1">
            <a:blip r:embed="rId5">
              <a:alphaModFix/>
            </a:blip>
            <a:stretch>
              <a:fillRect b="-34208" l="-5689" r="-812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35"/>
          <p:cNvSpPr txBox="1"/>
          <p:nvPr>
            <p:ph type="title"/>
          </p:nvPr>
        </p:nvSpPr>
        <p:spPr>
          <a:xfrm>
            <a:off x="628650" y="10135"/>
            <a:ext cx="7886700" cy="8001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Two-Layer Network with softmax output</a:t>
            </a:r>
            <a:endParaRPr/>
          </a:p>
        </p:txBody>
      </p:sp>
      <p:sp>
        <p:nvSpPr>
          <p:cNvPr id="616" name="Google Shape;616;p35"/>
          <p:cNvSpPr/>
          <p:nvPr/>
        </p:nvSpPr>
        <p:spPr>
          <a:xfrm>
            <a:off x="4184450" y="2724152"/>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17" name="Google Shape;617;p35"/>
          <p:cNvSpPr/>
          <p:nvPr/>
        </p:nvSpPr>
        <p:spPr>
          <a:xfrm>
            <a:off x="3955850" y="23431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18" name="Google Shape;618;p35"/>
          <p:cNvSpPr/>
          <p:nvPr/>
        </p:nvSpPr>
        <p:spPr>
          <a:xfrm>
            <a:off x="4305574" y="906304"/>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19" name="Google Shape;619;p35"/>
          <p:cNvSpPr/>
          <p:nvPr/>
        </p:nvSpPr>
        <p:spPr>
          <a:xfrm>
            <a:off x="5632250" y="23431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20" name="Google Shape;620;p35"/>
          <p:cNvSpPr/>
          <p:nvPr/>
        </p:nvSpPr>
        <p:spPr>
          <a:xfrm>
            <a:off x="4794050" y="23431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621" name="Google Shape;621;p35"/>
          <p:cNvCxnSpPr>
            <a:stCxn id="617" idx="0"/>
            <a:endCxn id="618" idx="3"/>
          </p:cNvCxnSpPr>
          <p:nvPr/>
        </p:nvCxnSpPr>
        <p:spPr>
          <a:xfrm flipH="1" rot="10800000">
            <a:off x="4184450" y="1312652"/>
            <a:ext cx="188100" cy="1030500"/>
          </a:xfrm>
          <a:prstGeom prst="straightConnector1">
            <a:avLst/>
          </a:prstGeom>
          <a:noFill/>
          <a:ln>
            <a:noFill/>
          </a:ln>
        </p:spPr>
      </p:cxnSp>
      <p:cxnSp>
        <p:nvCxnSpPr>
          <p:cNvPr id="622" name="Google Shape;622;p35"/>
          <p:cNvCxnSpPr>
            <a:stCxn id="620" idx="0"/>
            <a:endCxn id="618" idx="4"/>
          </p:cNvCxnSpPr>
          <p:nvPr/>
        </p:nvCxnSpPr>
        <p:spPr>
          <a:xfrm rot="10800000">
            <a:off x="4534250" y="1382252"/>
            <a:ext cx="488400" cy="960900"/>
          </a:xfrm>
          <a:prstGeom prst="straightConnector1">
            <a:avLst/>
          </a:prstGeom>
          <a:noFill/>
          <a:ln cap="flat" cmpd="sng" w="15875">
            <a:solidFill>
              <a:schemeClr val="accent4"/>
            </a:solidFill>
            <a:prstDash val="solid"/>
            <a:round/>
            <a:headEnd len="sm" w="sm" type="none"/>
            <a:tailEnd len="med" w="med" type="stealth"/>
          </a:ln>
        </p:spPr>
      </p:cxnSp>
      <p:cxnSp>
        <p:nvCxnSpPr>
          <p:cNvPr id="623" name="Google Shape;623;p35"/>
          <p:cNvCxnSpPr>
            <a:stCxn id="619" idx="0"/>
            <a:endCxn id="618" idx="4"/>
          </p:cNvCxnSpPr>
          <p:nvPr/>
        </p:nvCxnSpPr>
        <p:spPr>
          <a:xfrm rot="10800000">
            <a:off x="4534250" y="1382252"/>
            <a:ext cx="1326600" cy="960900"/>
          </a:xfrm>
          <a:prstGeom prst="straightConnector1">
            <a:avLst/>
          </a:prstGeom>
          <a:noFill/>
          <a:ln cap="flat" cmpd="sng" w="15875">
            <a:solidFill>
              <a:schemeClr val="accent4"/>
            </a:solidFill>
            <a:prstDash val="solid"/>
            <a:round/>
            <a:headEnd len="sm" w="sm" type="none"/>
            <a:tailEnd len="med" w="med" type="stealth"/>
          </a:ln>
        </p:spPr>
      </p:cxnSp>
      <p:cxnSp>
        <p:nvCxnSpPr>
          <p:cNvPr id="624" name="Google Shape;624;p35"/>
          <p:cNvCxnSpPr>
            <a:stCxn id="617" idx="7"/>
            <a:endCxn id="618" idx="4"/>
          </p:cNvCxnSpPr>
          <p:nvPr/>
        </p:nvCxnSpPr>
        <p:spPr>
          <a:xfrm flipH="1" rot="10800000">
            <a:off x="4346095" y="1382371"/>
            <a:ext cx="188100" cy="1030500"/>
          </a:xfrm>
          <a:prstGeom prst="straightConnector1">
            <a:avLst/>
          </a:prstGeom>
          <a:noFill/>
          <a:ln cap="flat" cmpd="sng" w="15875">
            <a:solidFill>
              <a:schemeClr val="accent4"/>
            </a:solidFill>
            <a:prstDash val="solid"/>
            <a:round/>
            <a:headEnd len="sm" w="sm" type="none"/>
            <a:tailEnd len="med" w="med" type="stealth"/>
          </a:ln>
        </p:spPr>
      </p:cxnSp>
      <p:sp>
        <p:nvSpPr>
          <p:cNvPr id="625" name="Google Shape;625;p35"/>
          <p:cNvSpPr/>
          <p:nvPr/>
        </p:nvSpPr>
        <p:spPr>
          <a:xfrm>
            <a:off x="4565450" y="4552952"/>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26" name="Google Shape;626;p35"/>
          <p:cNvSpPr/>
          <p:nvPr/>
        </p:nvSpPr>
        <p:spPr>
          <a:xfrm>
            <a:off x="25842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27" name="Google Shape;627;p35"/>
          <p:cNvSpPr/>
          <p:nvPr/>
        </p:nvSpPr>
        <p:spPr>
          <a:xfrm>
            <a:off x="63942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28" name="Google Shape;628;p35"/>
          <p:cNvSpPr/>
          <p:nvPr/>
        </p:nvSpPr>
        <p:spPr>
          <a:xfrm>
            <a:off x="50988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29" name="Google Shape;629;p35"/>
          <p:cNvSpPr/>
          <p:nvPr/>
        </p:nvSpPr>
        <p:spPr>
          <a:xfrm>
            <a:off x="37272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630" name="Google Shape;630;p35"/>
          <p:cNvCxnSpPr>
            <a:stCxn id="626" idx="0"/>
          </p:cNvCxnSpPr>
          <p:nvPr/>
        </p:nvCxnSpPr>
        <p:spPr>
          <a:xfrm flipH="1" rot="10800000">
            <a:off x="2812850" y="3049352"/>
            <a:ext cx="2494200" cy="1122600"/>
          </a:xfrm>
          <a:prstGeom prst="straightConnector1">
            <a:avLst/>
          </a:prstGeom>
          <a:noFill/>
          <a:ln>
            <a:noFill/>
          </a:ln>
        </p:spPr>
      </p:cxnSp>
      <p:cxnSp>
        <p:nvCxnSpPr>
          <p:cNvPr id="631" name="Google Shape;631;p35"/>
          <p:cNvCxnSpPr>
            <a:stCxn id="629" idx="0"/>
            <a:endCxn id="617" idx="4"/>
          </p:cNvCxnSpPr>
          <p:nvPr/>
        </p:nvCxnSpPr>
        <p:spPr>
          <a:xfrm flipH="1" rot="10800000">
            <a:off x="3955850" y="2819252"/>
            <a:ext cx="228600" cy="1352700"/>
          </a:xfrm>
          <a:prstGeom prst="straightConnector1">
            <a:avLst/>
          </a:prstGeom>
          <a:noFill/>
          <a:ln cap="flat" cmpd="sng" w="15875">
            <a:solidFill>
              <a:schemeClr val="accent4"/>
            </a:solidFill>
            <a:prstDash val="solid"/>
            <a:round/>
            <a:headEnd len="sm" w="sm" type="none"/>
            <a:tailEnd len="med" w="med" type="stealth"/>
          </a:ln>
        </p:spPr>
      </p:cxnSp>
      <p:cxnSp>
        <p:nvCxnSpPr>
          <p:cNvPr id="632" name="Google Shape;632;p35"/>
          <p:cNvCxnSpPr>
            <a:stCxn id="628" idx="0"/>
            <a:endCxn id="616" idx="1"/>
          </p:cNvCxnSpPr>
          <p:nvPr/>
        </p:nvCxnSpPr>
        <p:spPr>
          <a:xfrm rot="10800000">
            <a:off x="4240250" y="2793752"/>
            <a:ext cx="1087200" cy="1378200"/>
          </a:xfrm>
          <a:prstGeom prst="straightConnector1">
            <a:avLst/>
          </a:prstGeom>
          <a:noFill/>
          <a:ln cap="flat" cmpd="sng" w="15875">
            <a:solidFill>
              <a:schemeClr val="accent4"/>
            </a:solidFill>
            <a:prstDash val="solid"/>
            <a:round/>
            <a:headEnd len="sm" w="sm" type="none"/>
            <a:tailEnd len="med" w="med" type="stealth"/>
          </a:ln>
        </p:spPr>
      </p:cxnSp>
      <p:cxnSp>
        <p:nvCxnSpPr>
          <p:cNvPr id="633" name="Google Shape;633;p35"/>
          <p:cNvCxnSpPr>
            <a:stCxn id="627" idx="0"/>
            <a:endCxn id="617" idx="4"/>
          </p:cNvCxnSpPr>
          <p:nvPr/>
        </p:nvCxnSpPr>
        <p:spPr>
          <a:xfrm rot="10800000">
            <a:off x="4184450" y="2819252"/>
            <a:ext cx="2438400" cy="1352700"/>
          </a:xfrm>
          <a:prstGeom prst="straightConnector1">
            <a:avLst/>
          </a:prstGeom>
          <a:noFill/>
          <a:ln cap="flat" cmpd="sng" w="15875">
            <a:solidFill>
              <a:schemeClr val="accent4"/>
            </a:solidFill>
            <a:prstDash val="solid"/>
            <a:round/>
            <a:headEnd len="sm" w="sm" type="none"/>
            <a:tailEnd len="med" w="med" type="stealth"/>
          </a:ln>
        </p:spPr>
      </p:cxnSp>
      <p:cxnSp>
        <p:nvCxnSpPr>
          <p:cNvPr id="634" name="Google Shape;634;p35"/>
          <p:cNvCxnSpPr>
            <a:stCxn id="626" idx="7"/>
            <a:endCxn id="617" idx="4"/>
          </p:cNvCxnSpPr>
          <p:nvPr/>
        </p:nvCxnSpPr>
        <p:spPr>
          <a:xfrm flipH="1" rot="10800000">
            <a:off x="2974495" y="2819371"/>
            <a:ext cx="1209900" cy="1422300"/>
          </a:xfrm>
          <a:prstGeom prst="straightConnector1">
            <a:avLst/>
          </a:prstGeom>
          <a:noFill/>
          <a:ln cap="flat" cmpd="sng" w="15875">
            <a:solidFill>
              <a:schemeClr val="accent4"/>
            </a:solidFill>
            <a:prstDash val="solid"/>
            <a:round/>
            <a:headEnd len="sm" w="sm" type="none"/>
            <a:tailEnd len="med" w="med" type="stealth"/>
          </a:ln>
        </p:spPr>
      </p:cxnSp>
      <p:sp>
        <p:nvSpPr>
          <p:cNvPr id="635" name="Google Shape;635;p35"/>
          <p:cNvSpPr/>
          <p:nvPr/>
        </p:nvSpPr>
        <p:spPr>
          <a:xfrm>
            <a:off x="7308650"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636" name="Google Shape;636;p35"/>
          <p:cNvCxnSpPr>
            <a:stCxn id="635" idx="0"/>
            <a:endCxn id="617" idx="4"/>
          </p:cNvCxnSpPr>
          <p:nvPr/>
        </p:nvCxnSpPr>
        <p:spPr>
          <a:xfrm rot="10800000">
            <a:off x="4184450" y="2819252"/>
            <a:ext cx="3352800" cy="1352700"/>
          </a:xfrm>
          <a:prstGeom prst="straightConnector1">
            <a:avLst/>
          </a:prstGeom>
          <a:noFill/>
          <a:ln cap="flat" cmpd="sng" w="15875">
            <a:solidFill>
              <a:schemeClr val="accent4"/>
            </a:solidFill>
            <a:prstDash val="solid"/>
            <a:round/>
            <a:headEnd len="sm" w="sm" type="none"/>
            <a:tailEnd len="med" w="med" type="stealth"/>
          </a:ln>
        </p:spPr>
      </p:cxnSp>
      <p:cxnSp>
        <p:nvCxnSpPr>
          <p:cNvPr id="637" name="Google Shape;637;p35"/>
          <p:cNvCxnSpPr>
            <a:stCxn id="626" idx="7"/>
            <a:endCxn id="620" idx="4"/>
          </p:cNvCxnSpPr>
          <p:nvPr/>
        </p:nvCxnSpPr>
        <p:spPr>
          <a:xfrm flipH="1" rot="10800000">
            <a:off x="2974495" y="2819371"/>
            <a:ext cx="2048100" cy="1422300"/>
          </a:xfrm>
          <a:prstGeom prst="straightConnector1">
            <a:avLst/>
          </a:prstGeom>
          <a:noFill/>
          <a:ln cap="flat" cmpd="sng" w="15875">
            <a:solidFill>
              <a:schemeClr val="accent4"/>
            </a:solidFill>
            <a:prstDash val="solid"/>
            <a:round/>
            <a:headEnd len="sm" w="sm" type="none"/>
            <a:tailEnd len="med" w="med" type="stealth"/>
          </a:ln>
        </p:spPr>
      </p:cxnSp>
      <p:cxnSp>
        <p:nvCxnSpPr>
          <p:cNvPr id="638" name="Google Shape;638;p35"/>
          <p:cNvCxnSpPr>
            <a:endCxn id="619" idx="4"/>
          </p:cNvCxnSpPr>
          <p:nvPr/>
        </p:nvCxnSpPr>
        <p:spPr>
          <a:xfrm flipH="1" rot="10800000">
            <a:off x="2985650" y="2819223"/>
            <a:ext cx="2875200" cy="1408500"/>
          </a:xfrm>
          <a:prstGeom prst="straightConnector1">
            <a:avLst/>
          </a:prstGeom>
          <a:noFill/>
          <a:ln cap="flat" cmpd="sng" w="15875">
            <a:solidFill>
              <a:schemeClr val="accent4"/>
            </a:solidFill>
            <a:prstDash val="solid"/>
            <a:round/>
            <a:headEnd len="sm" w="sm" type="none"/>
            <a:tailEnd len="med" w="med" type="stealth"/>
          </a:ln>
        </p:spPr>
      </p:cxnSp>
      <p:cxnSp>
        <p:nvCxnSpPr>
          <p:cNvPr id="639" name="Google Shape;639;p35"/>
          <p:cNvCxnSpPr>
            <a:stCxn id="635" idx="0"/>
            <a:endCxn id="619" idx="4"/>
          </p:cNvCxnSpPr>
          <p:nvPr/>
        </p:nvCxnSpPr>
        <p:spPr>
          <a:xfrm rot="10800000">
            <a:off x="5860850" y="2819252"/>
            <a:ext cx="1676400" cy="1352700"/>
          </a:xfrm>
          <a:prstGeom prst="straightConnector1">
            <a:avLst/>
          </a:prstGeom>
          <a:noFill/>
          <a:ln cap="flat" cmpd="sng" w="15875">
            <a:solidFill>
              <a:schemeClr val="accent4"/>
            </a:solidFill>
            <a:prstDash val="solid"/>
            <a:round/>
            <a:headEnd len="sm" w="sm" type="none"/>
            <a:tailEnd len="med" w="med" type="stealth"/>
          </a:ln>
        </p:spPr>
      </p:cxnSp>
      <p:cxnSp>
        <p:nvCxnSpPr>
          <p:cNvPr id="640" name="Google Shape;640;p35"/>
          <p:cNvCxnSpPr>
            <a:stCxn id="635" idx="0"/>
            <a:endCxn id="620" idx="4"/>
          </p:cNvCxnSpPr>
          <p:nvPr/>
        </p:nvCxnSpPr>
        <p:spPr>
          <a:xfrm rot="10800000">
            <a:off x="5022650" y="2819252"/>
            <a:ext cx="2514600" cy="1352700"/>
          </a:xfrm>
          <a:prstGeom prst="straightConnector1">
            <a:avLst/>
          </a:prstGeom>
          <a:noFill/>
          <a:ln cap="flat" cmpd="sng" w="15875">
            <a:solidFill>
              <a:schemeClr val="accent4"/>
            </a:solidFill>
            <a:prstDash val="solid"/>
            <a:round/>
            <a:headEnd len="sm" w="sm" type="none"/>
            <a:tailEnd len="med" w="med" type="stealth"/>
          </a:ln>
        </p:spPr>
      </p:cxnSp>
      <p:cxnSp>
        <p:nvCxnSpPr>
          <p:cNvPr id="641" name="Google Shape;641;p35"/>
          <p:cNvCxnSpPr>
            <a:stCxn id="627" idx="0"/>
          </p:cNvCxnSpPr>
          <p:nvPr/>
        </p:nvCxnSpPr>
        <p:spPr>
          <a:xfrm rot="10800000">
            <a:off x="5098850" y="2800352"/>
            <a:ext cx="1524000" cy="1371600"/>
          </a:xfrm>
          <a:prstGeom prst="straightConnector1">
            <a:avLst/>
          </a:prstGeom>
          <a:noFill/>
          <a:ln cap="flat" cmpd="sng" w="15875">
            <a:solidFill>
              <a:schemeClr val="accent4"/>
            </a:solidFill>
            <a:prstDash val="solid"/>
            <a:round/>
            <a:headEnd len="sm" w="sm" type="none"/>
            <a:tailEnd len="med" w="med" type="stealth"/>
          </a:ln>
        </p:spPr>
      </p:cxnSp>
      <p:cxnSp>
        <p:nvCxnSpPr>
          <p:cNvPr id="642" name="Google Shape;642;p35"/>
          <p:cNvCxnSpPr>
            <a:stCxn id="627" idx="0"/>
            <a:endCxn id="619" idx="4"/>
          </p:cNvCxnSpPr>
          <p:nvPr/>
        </p:nvCxnSpPr>
        <p:spPr>
          <a:xfrm rot="10800000">
            <a:off x="5860850" y="2819252"/>
            <a:ext cx="762000" cy="1352700"/>
          </a:xfrm>
          <a:prstGeom prst="straightConnector1">
            <a:avLst/>
          </a:prstGeom>
          <a:noFill/>
          <a:ln cap="flat" cmpd="sng" w="15875">
            <a:solidFill>
              <a:schemeClr val="accent4"/>
            </a:solidFill>
            <a:prstDash val="solid"/>
            <a:round/>
            <a:headEnd len="sm" w="sm" type="none"/>
            <a:tailEnd len="med" w="med" type="stealth"/>
          </a:ln>
        </p:spPr>
      </p:cxnSp>
      <p:cxnSp>
        <p:nvCxnSpPr>
          <p:cNvPr id="643" name="Google Shape;643;p35"/>
          <p:cNvCxnSpPr>
            <a:stCxn id="628" idx="0"/>
          </p:cNvCxnSpPr>
          <p:nvPr/>
        </p:nvCxnSpPr>
        <p:spPr>
          <a:xfrm rot="10800000">
            <a:off x="5022650" y="2800352"/>
            <a:ext cx="304800" cy="1371600"/>
          </a:xfrm>
          <a:prstGeom prst="straightConnector1">
            <a:avLst/>
          </a:prstGeom>
          <a:noFill/>
          <a:ln cap="flat" cmpd="sng" w="15875">
            <a:solidFill>
              <a:schemeClr val="accent4"/>
            </a:solidFill>
            <a:prstDash val="solid"/>
            <a:round/>
            <a:headEnd len="sm" w="sm" type="none"/>
            <a:tailEnd len="med" w="med" type="stealth"/>
          </a:ln>
        </p:spPr>
      </p:cxnSp>
      <p:cxnSp>
        <p:nvCxnSpPr>
          <p:cNvPr id="644" name="Google Shape;644;p35"/>
          <p:cNvCxnSpPr>
            <a:stCxn id="628" idx="0"/>
          </p:cNvCxnSpPr>
          <p:nvPr/>
        </p:nvCxnSpPr>
        <p:spPr>
          <a:xfrm flipH="1" rot="10800000">
            <a:off x="5327450" y="2820752"/>
            <a:ext cx="553800" cy="1351200"/>
          </a:xfrm>
          <a:prstGeom prst="straightConnector1">
            <a:avLst/>
          </a:prstGeom>
          <a:noFill/>
          <a:ln cap="flat" cmpd="sng" w="15875">
            <a:solidFill>
              <a:schemeClr val="accent4"/>
            </a:solidFill>
            <a:prstDash val="solid"/>
            <a:round/>
            <a:headEnd len="sm" w="sm" type="none"/>
            <a:tailEnd len="med" w="med" type="stealth"/>
          </a:ln>
        </p:spPr>
      </p:cxnSp>
      <p:cxnSp>
        <p:nvCxnSpPr>
          <p:cNvPr id="645" name="Google Shape;645;p35"/>
          <p:cNvCxnSpPr>
            <a:stCxn id="629" idx="0"/>
            <a:endCxn id="620" idx="4"/>
          </p:cNvCxnSpPr>
          <p:nvPr/>
        </p:nvCxnSpPr>
        <p:spPr>
          <a:xfrm flipH="1" rot="10800000">
            <a:off x="3955850" y="2819252"/>
            <a:ext cx="1066800" cy="1352700"/>
          </a:xfrm>
          <a:prstGeom prst="straightConnector1">
            <a:avLst/>
          </a:prstGeom>
          <a:noFill/>
          <a:ln cap="flat" cmpd="sng" w="15875">
            <a:solidFill>
              <a:schemeClr val="accent4"/>
            </a:solidFill>
            <a:prstDash val="solid"/>
            <a:round/>
            <a:headEnd len="sm" w="sm" type="none"/>
            <a:tailEnd len="med" w="med" type="stealth"/>
          </a:ln>
        </p:spPr>
      </p:cxnSp>
      <p:cxnSp>
        <p:nvCxnSpPr>
          <p:cNvPr id="646" name="Google Shape;646;p35"/>
          <p:cNvCxnSpPr>
            <a:endCxn id="619" idx="4"/>
          </p:cNvCxnSpPr>
          <p:nvPr/>
        </p:nvCxnSpPr>
        <p:spPr>
          <a:xfrm flipH="1" rot="10800000">
            <a:off x="3993950" y="2819223"/>
            <a:ext cx="1866900" cy="1352700"/>
          </a:xfrm>
          <a:prstGeom prst="straightConnector1">
            <a:avLst/>
          </a:prstGeom>
          <a:noFill/>
          <a:ln cap="flat" cmpd="sng" w="15875">
            <a:solidFill>
              <a:schemeClr val="accent4"/>
            </a:solidFill>
            <a:prstDash val="solid"/>
            <a:round/>
            <a:headEnd len="sm" w="sm" type="none"/>
            <a:tailEnd len="med" w="med" type="stealth"/>
          </a:ln>
        </p:spPr>
      </p:cxnSp>
      <p:sp>
        <p:nvSpPr>
          <p:cNvPr id="647" name="Google Shape;647;p35"/>
          <p:cNvSpPr txBox="1"/>
          <p:nvPr/>
        </p:nvSpPr>
        <p:spPr>
          <a:xfrm>
            <a:off x="3651050" y="1428751"/>
            <a:ext cx="45720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U</a:t>
            </a:r>
            <a:endParaRPr/>
          </a:p>
        </p:txBody>
      </p:sp>
      <p:sp>
        <p:nvSpPr>
          <p:cNvPr id="648" name="Google Shape;648;p35"/>
          <p:cNvSpPr txBox="1"/>
          <p:nvPr/>
        </p:nvSpPr>
        <p:spPr>
          <a:xfrm>
            <a:off x="2660450" y="3105151"/>
            <a:ext cx="45720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W</a:t>
            </a:r>
            <a:endParaRPr/>
          </a:p>
        </p:txBody>
      </p:sp>
      <p:sp>
        <p:nvSpPr>
          <p:cNvPr id="649" name="Google Shape;649;p35"/>
          <p:cNvSpPr txBox="1"/>
          <p:nvPr/>
        </p:nvSpPr>
        <p:spPr>
          <a:xfrm>
            <a:off x="6469028" y="4185405"/>
            <a:ext cx="42511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x</a:t>
            </a:r>
            <a:r>
              <a:rPr baseline="-25000" lang="en-US" sz="2400">
                <a:solidFill>
                  <a:schemeClr val="dk1"/>
                </a:solidFill>
                <a:latin typeface="Calibri"/>
                <a:ea typeface="Calibri"/>
                <a:cs typeface="Calibri"/>
                <a:sym typeface="Calibri"/>
              </a:rPr>
              <a:t>n</a:t>
            </a:r>
            <a:endParaRPr baseline="-25000" sz="2400">
              <a:solidFill>
                <a:schemeClr val="dk1"/>
              </a:solidFill>
              <a:latin typeface="Calibri"/>
              <a:ea typeface="Calibri"/>
              <a:cs typeface="Calibri"/>
              <a:sym typeface="Calibri"/>
            </a:endParaRPr>
          </a:p>
        </p:txBody>
      </p:sp>
      <p:sp>
        <p:nvSpPr>
          <p:cNvPr id="650" name="Google Shape;650;p35"/>
          <p:cNvSpPr txBox="1"/>
          <p:nvPr/>
        </p:nvSpPr>
        <p:spPr>
          <a:xfrm>
            <a:off x="2654480" y="4185405"/>
            <a:ext cx="4572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x</a:t>
            </a:r>
            <a:r>
              <a:rPr baseline="-25000" lang="en-US" sz="2400">
                <a:solidFill>
                  <a:schemeClr val="dk1"/>
                </a:solidFill>
                <a:latin typeface="Calibri"/>
                <a:ea typeface="Calibri"/>
                <a:cs typeface="Calibri"/>
                <a:sym typeface="Calibri"/>
              </a:rPr>
              <a:t>1</a:t>
            </a:r>
            <a:endParaRPr/>
          </a:p>
        </p:txBody>
      </p:sp>
      <p:pic>
        <p:nvPicPr>
          <p:cNvPr descr="hidden.png" id="651" name="Google Shape;651;p35"/>
          <p:cNvPicPr preferRelativeResize="0"/>
          <p:nvPr/>
        </p:nvPicPr>
        <p:blipFill rotWithShape="1">
          <a:blip r:embed="rId3">
            <a:alphaModFix/>
          </a:blip>
          <a:srcRect b="0" l="0" r="0" t="0"/>
          <a:stretch/>
        </p:blipFill>
        <p:spPr>
          <a:xfrm>
            <a:off x="6415506" y="2240699"/>
            <a:ext cx="2899944" cy="706204"/>
          </a:xfrm>
          <a:prstGeom prst="rect">
            <a:avLst/>
          </a:prstGeom>
          <a:noFill/>
          <a:ln>
            <a:noFill/>
          </a:ln>
        </p:spPr>
      </p:pic>
      <p:sp>
        <p:nvSpPr>
          <p:cNvPr id="652" name="Google Shape;652;p35"/>
          <p:cNvSpPr txBox="1"/>
          <p:nvPr/>
        </p:nvSpPr>
        <p:spPr>
          <a:xfrm>
            <a:off x="7346749" y="4171951"/>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653" name="Google Shape;653;p35"/>
          <p:cNvSpPr txBox="1"/>
          <p:nvPr/>
        </p:nvSpPr>
        <p:spPr>
          <a:xfrm>
            <a:off x="6885569" y="3074649"/>
            <a:ext cx="45720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b</a:t>
            </a:r>
            <a:endParaRPr/>
          </a:p>
        </p:txBody>
      </p:sp>
      <p:sp>
        <p:nvSpPr>
          <p:cNvPr id="654" name="Google Shape;654;p35"/>
          <p:cNvSpPr/>
          <p:nvPr/>
        </p:nvSpPr>
        <p:spPr>
          <a:xfrm>
            <a:off x="228600" y="2313739"/>
            <a:ext cx="2310652" cy="14157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hidden units</a:t>
            </a:r>
            <a:endParaRPr/>
          </a:p>
          <a:p>
            <a:pPr indent="0" lvl="0" marL="0" marR="0" rtl="0" algn="l">
              <a:spcBef>
                <a:spcPts val="0"/>
              </a:spcBef>
              <a:spcAft>
                <a:spcPts val="0"/>
              </a:spcAft>
              <a:buNone/>
            </a:pPr>
            <a:r>
              <a:rPr lang="en-US" sz="3000">
                <a:solidFill>
                  <a:schemeClr val="dk2"/>
                </a:solidFill>
                <a:latin typeface="Calibri"/>
                <a:ea typeface="Calibri"/>
                <a:cs typeface="Calibri"/>
                <a:sym typeface="Calibri"/>
              </a:rPr>
              <a:t>(</a:t>
            </a:r>
            <a:r>
              <a:rPr lang="en-US" sz="3000">
                <a:solidFill>
                  <a:schemeClr val="dk1"/>
                </a:solidFill>
                <a:latin typeface="Calibri"/>
                <a:ea typeface="Calibri"/>
                <a:cs typeface="Calibri"/>
                <a:sym typeface="Calibri"/>
              </a:rPr>
              <a:t>σ node)</a:t>
            </a:r>
            <a:endParaRPr sz="30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800">
              <a:solidFill>
                <a:schemeClr val="dk2"/>
              </a:solidFill>
              <a:latin typeface="Calibri"/>
              <a:ea typeface="Calibri"/>
              <a:cs typeface="Calibri"/>
              <a:sym typeface="Calibri"/>
            </a:endParaRPr>
          </a:p>
        </p:txBody>
      </p:sp>
      <p:sp>
        <p:nvSpPr>
          <p:cNvPr id="655" name="Google Shape;655;p35"/>
          <p:cNvSpPr/>
          <p:nvPr/>
        </p:nvSpPr>
        <p:spPr>
          <a:xfrm>
            <a:off x="229559" y="3871202"/>
            <a:ext cx="2310652"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Input layer</a:t>
            </a:r>
            <a:endParaRPr/>
          </a:p>
          <a:p>
            <a:pPr indent="0" lvl="0" marL="0" marR="0" rtl="0" algn="l">
              <a:spcBef>
                <a:spcPts val="0"/>
              </a:spcBef>
              <a:spcAft>
                <a:spcPts val="0"/>
              </a:spcAft>
              <a:buNone/>
            </a:pPr>
            <a:r>
              <a:rPr lang="en-US" sz="2800">
                <a:solidFill>
                  <a:schemeClr val="dk2"/>
                </a:solidFill>
                <a:latin typeface="Calibri"/>
                <a:ea typeface="Calibri"/>
                <a:cs typeface="Calibri"/>
                <a:sym typeface="Calibri"/>
              </a:rPr>
              <a:t>(vector)</a:t>
            </a:r>
            <a:endParaRPr/>
          </a:p>
        </p:txBody>
      </p:sp>
      <p:sp>
        <p:nvSpPr>
          <p:cNvPr id="656" name="Google Shape;656;p35"/>
          <p:cNvSpPr txBox="1"/>
          <p:nvPr/>
        </p:nvSpPr>
        <p:spPr>
          <a:xfrm>
            <a:off x="359163" y="977138"/>
            <a:ext cx="2071739" cy="9534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798">
                <a:solidFill>
                  <a:schemeClr val="dk2"/>
                </a:solidFill>
                <a:latin typeface="Calibri"/>
                <a:ea typeface="Calibri"/>
                <a:cs typeface="Calibri"/>
                <a:sym typeface="Calibri"/>
              </a:rPr>
              <a:t>Output layer</a:t>
            </a:r>
            <a:endParaRPr/>
          </a:p>
          <a:p>
            <a:pPr indent="0" lvl="0" marL="0" marR="0" rtl="0" algn="l">
              <a:spcBef>
                <a:spcPts val="0"/>
              </a:spcBef>
              <a:spcAft>
                <a:spcPts val="0"/>
              </a:spcAft>
              <a:buNone/>
            </a:pPr>
            <a:r>
              <a:rPr lang="en-US" sz="2798">
                <a:solidFill>
                  <a:schemeClr val="dk2"/>
                </a:solidFill>
                <a:latin typeface="Calibri"/>
                <a:ea typeface="Calibri"/>
                <a:cs typeface="Calibri"/>
                <a:sym typeface="Calibri"/>
              </a:rPr>
              <a:t>(</a:t>
            </a:r>
            <a:r>
              <a:rPr lang="en-US" sz="2798">
                <a:solidFill>
                  <a:schemeClr val="dk1"/>
                </a:solidFill>
                <a:latin typeface="Calibri"/>
                <a:ea typeface="Calibri"/>
                <a:cs typeface="Calibri"/>
                <a:sym typeface="Calibri"/>
              </a:rPr>
              <a:t>σ node)</a:t>
            </a:r>
            <a:endParaRPr sz="2798">
              <a:solidFill>
                <a:schemeClr val="dk2"/>
              </a:solidFill>
              <a:latin typeface="Calibri"/>
              <a:ea typeface="Calibri"/>
              <a:cs typeface="Calibri"/>
              <a:sym typeface="Calibri"/>
            </a:endParaRPr>
          </a:p>
        </p:txBody>
      </p:sp>
      <p:sp>
        <p:nvSpPr>
          <p:cNvPr id="657" name="Google Shape;657;p35"/>
          <p:cNvSpPr txBox="1"/>
          <p:nvPr/>
        </p:nvSpPr>
        <p:spPr>
          <a:xfrm>
            <a:off x="7842051" y="2946903"/>
            <a:ext cx="954107" cy="4040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13">
                <a:solidFill>
                  <a:schemeClr val="dk1"/>
                </a:solidFill>
                <a:latin typeface="Calibri"/>
                <a:ea typeface="Calibri"/>
                <a:cs typeface="Calibri"/>
                <a:sym typeface="Calibri"/>
              </a:rPr>
              <a:t>Could be ReLU</a:t>
            </a:r>
            <a:endParaRPr sz="1013">
              <a:solidFill>
                <a:schemeClr val="dk1"/>
              </a:solidFill>
              <a:latin typeface="Calibri"/>
              <a:ea typeface="Calibri"/>
              <a:cs typeface="Calibri"/>
              <a:sym typeface="Calibri"/>
            </a:endParaRPr>
          </a:p>
          <a:p>
            <a:pPr indent="0" lvl="0" marL="0" marR="0" rtl="0" algn="l">
              <a:spcBef>
                <a:spcPts val="0"/>
              </a:spcBef>
              <a:spcAft>
                <a:spcPts val="0"/>
              </a:spcAft>
              <a:buNone/>
            </a:pPr>
            <a:r>
              <a:rPr lang="en-US" sz="1013">
                <a:solidFill>
                  <a:schemeClr val="dk1"/>
                </a:solidFill>
                <a:latin typeface="Calibri"/>
                <a:ea typeface="Calibri"/>
                <a:cs typeface="Calibri"/>
                <a:sym typeface="Calibri"/>
              </a:rPr>
              <a:t>Or tanh</a:t>
            </a:r>
            <a:endParaRPr/>
          </a:p>
        </p:txBody>
      </p:sp>
      <p:sp>
        <p:nvSpPr>
          <p:cNvPr id="658" name="Google Shape;658;p35"/>
          <p:cNvSpPr/>
          <p:nvPr/>
        </p:nvSpPr>
        <p:spPr>
          <a:xfrm>
            <a:off x="7384023" y="1487908"/>
            <a:ext cx="231065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2"/>
                </a:solidFill>
                <a:latin typeface="Calibri"/>
                <a:ea typeface="Calibri"/>
                <a:cs typeface="Calibri"/>
                <a:sym typeface="Calibri"/>
              </a:rPr>
              <a:t>y is a vector</a:t>
            </a:r>
            <a:endParaRPr/>
          </a:p>
        </p:txBody>
      </p:sp>
      <p:sp>
        <p:nvSpPr>
          <p:cNvPr id="659" name="Google Shape;659;p35"/>
          <p:cNvSpPr txBox="1"/>
          <p:nvPr/>
        </p:nvSpPr>
        <p:spPr>
          <a:xfrm>
            <a:off x="5913850" y="1313851"/>
            <a:ext cx="1246303" cy="461665"/>
          </a:xfrm>
          <a:prstGeom prst="rect">
            <a:avLst/>
          </a:prstGeom>
          <a:blipFill rotWithShape="1">
            <a:blip r:embed="rId4">
              <a:alphaModFix/>
            </a:blip>
            <a:stretch>
              <a:fillRect b="-8106" l="-3028" r="-707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660" name="Google Shape;660;p35"/>
          <p:cNvSpPr txBox="1"/>
          <p:nvPr/>
        </p:nvSpPr>
        <p:spPr>
          <a:xfrm>
            <a:off x="5906753" y="885680"/>
            <a:ext cx="2631490" cy="461665"/>
          </a:xfrm>
          <a:prstGeom prst="rect">
            <a:avLst/>
          </a:prstGeom>
          <a:blipFill rotWithShape="1">
            <a:blip r:embed="rId5">
              <a:alphaModFix/>
            </a:blip>
            <a:stretch>
              <a:fillRect b="-34208" l="-2883" r="-480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661" name="Google Shape;661;p35"/>
          <p:cNvSpPr/>
          <p:nvPr/>
        </p:nvSpPr>
        <p:spPr>
          <a:xfrm>
            <a:off x="5184294" y="931598"/>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662" name="Google Shape;662;p35"/>
          <p:cNvCxnSpPr>
            <a:stCxn id="620" idx="0"/>
            <a:endCxn id="661" idx="4"/>
          </p:cNvCxnSpPr>
          <p:nvPr/>
        </p:nvCxnSpPr>
        <p:spPr>
          <a:xfrm flipH="1" rot="10800000">
            <a:off x="5022650" y="1407752"/>
            <a:ext cx="390300" cy="935400"/>
          </a:xfrm>
          <a:prstGeom prst="straightConnector1">
            <a:avLst/>
          </a:prstGeom>
          <a:noFill/>
          <a:ln cap="flat" cmpd="sng" w="15875">
            <a:solidFill>
              <a:schemeClr val="accent4"/>
            </a:solidFill>
            <a:prstDash val="solid"/>
            <a:round/>
            <a:headEnd len="sm" w="sm" type="none"/>
            <a:tailEnd len="med" w="med" type="stealth"/>
          </a:ln>
        </p:spPr>
      </p:cxnSp>
      <p:cxnSp>
        <p:nvCxnSpPr>
          <p:cNvPr id="663" name="Google Shape;663;p35"/>
          <p:cNvCxnSpPr>
            <a:stCxn id="619" idx="0"/>
            <a:endCxn id="661" idx="4"/>
          </p:cNvCxnSpPr>
          <p:nvPr/>
        </p:nvCxnSpPr>
        <p:spPr>
          <a:xfrm rot="10800000">
            <a:off x="5412950" y="1407752"/>
            <a:ext cx="447900" cy="935400"/>
          </a:xfrm>
          <a:prstGeom prst="straightConnector1">
            <a:avLst/>
          </a:prstGeom>
          <a:noFill/>
          <a:ln cap="flat" cmpd="sng" w="15875">
            <a:solidFill>
              <a:schemeClr val="accent4"/>
            </a:solidFill>
            <a:prstDash val="solid"/>
            <a:round/>
            <a:headEnd len="sm" w="sm" type="none"/>
            <a:tailEnd len="med" w="med" type="stealth"/>
          </a:ln>
        </p:spPr>
      </p:cxnSp>
      <p:cxnSp>
        <p:nvCxnSpPr>
          <p:cNvPr id="664" name="Google Shape;664;p35"/>
          <p:cNvCxnSpPr>
            <a:stCxn id="617" idx="7"/>
            <a:endCxn id="661" idx="4"/>
          </p:cNvCxnSpPr>
          <p:nvPr/>
        </p:nvCxnSpPr>
        <p:spPr>
          <a:xfrm flipH="1" rot="10800000">
            <a:off x="4346095" y="1407571"/>
            <a:ext cx="1066800" cy="1005300"/>
          </a:xfrm>
          <a:prstGeom prst="straightConnector1">
            <a:avLst/>
          </a:prstGeom>
          <a:noFill/>
          <a:ln cap="flat" cmpd="sng" w="15875">
            <a:solidFill>
              <a:schemeClr val="accent4"/>
            </a:solidFill>
            <a:prstDash val="solid"/>
            <a:round/>
            <a:headEnd len="sm" w="sm" type="none"/>
            <a:tailEnd len="med" w="med" type="stealth"/>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36"/>
          <p:cNvSpPr txBox="1"/>
          <p:nvPr>
            <p:ph type="title"/>
          </p:nvPr>
        </p:nvSpPr>
        <p:spPr>
          <a:xfrm>
            <a:off x="628650" y="10135"/>
            <a:ext cx="7886700" cy="8001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Multi-layer Notation</a:t>
            </a:r>
            <a:endParaRPr/>
          </a:p>
        </p:txBody>
      </p:sp>
      <p:sp>
        <p:nvSpPr>
          <p:cNvPr id="671" name="Google Shape;671;p36"/>
          <p:cNvSpPr/>
          <p:nvPr/>
        </p:nvSpPr>
        <p:spPr>
          <a:xfrm>
            <a:off x="2230378" y="2952491"/>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72" name="Google Shape;672;p36"/>
          <p:cNvSpPr/>
          <p:nvPr/>
        </p:nvSpPr>
        <p:spPr>
          <a:xfrm>
            <a:off x="2001778" y="2571491"/>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73" name="Google Shape;673;p36"/>
          <p:cNvSpPr/>
          <p:nvPr/>
        </p:nvSpPr>
        <p:spPr>
          <a:xfrm>
            <a:off x="2839978" y="1123691"/>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74" name="Google Shape;674;p36"/>
          <p:cNvSpPr/>
          <p:nvPr/>
        </p:nvSpPr>
        <p:spPr>
          <a:xfrm>
            <a:off x="3678178" y="2571491"/>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75" name="Google Shape;675;p36"/>
          <p:cNvSpPr/>
          <p:nvPr/>
        </p:nvSpPr>
        <p:spPr>
          <a:xfrm>
            <a:off x="2839978" y="2571491"/>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676" name="Google Shape;676;p36"/>
          <p:cNvCxnSpPr>
            <a:stCxn id="672" idx="0"/>
            <a:endCxn id="673" idx="3"/>
          </p:cNvCxnSpPr>
          <p:nvPr/>
        </p:nvCxnSpPr>
        <p:spPr>
          <a:xfrm flipH="1" rot="10800000">
            <a:off x="2230378" y="1530191"/>
            <a:ext cx="676500" cy="1041300"/>
          </a:xfrm>
          <a:prstGeom prst="straightConnector1">
            <a:avLst/>
          </a:prstGeom>
          <a:noFill/>
          <a:ln>
            <a:noFill/>
          </a:ln>
        </p:spPr>
      </p:cxnSp>
      <p:cxnSp>
        <p:nvCxnSpPr>
          <p:cNvPr id="677" name="Google Shape;677;p36"/>
          <p:cNvCxnSpPr>
            <a:stCxn id="675" idx="0"/>
            <a:endCxn id="673" idx="4"/>
          </p:cNvCxnSpPr>
          <p:nvPr/>
        </p:nvCxnSpPr>
        <p:spPr>
          <a:xfrm rot="10800000">
            <a:off x="3068578" y="1599791"/>
            <a:ext cx="0" cy="971700"/>
          </a:xfrm>
          <a:prstGeom prst="straightConnector1">
            <a:avLst/>
          </a:prstGeom>
          <a:noFill/>
          <a:ln cap="flat" cmpd="sng" w="15875">
            <a:solidFill>
              <a:schemeClr val="accent4"/>
            </a:solidFill>
            <a:prstDash val="solid"/>
            <a:round/>
            <a:headEnd len="sm" w="sm" type="none"/>
            <a:tailEnd len="med" w="med" type="stealth"/>
          </a:ln>
        </p:spPr>
      </p:cxnSp>
      <p:cxnSp>
        <p:nvCxnSpPr>
          <p:cNvPr id="678" name="Google Shape;678;p36"/>
          <p:cNvCxnSpPr>
            <a:stCxn id="674" idx="0"/>
            <a:endCxn id="673" idx="4"/>
          </p:cNvCxnSpPr>
          <p:nvPr/>
        </p:nvCxnSpPr>
        <p:spPr>
          <a:xfrm rot="10800000">
            <a:off x="3068578" y="1599791"/>
            <a:ext cx="838200" cy="971700"/>
          </a:xfrm>
          <a:prstGeom prst="straightConnector1">
            <a:avLst/>
          </a:prstGeom>
          <a:noFill/>
          <a:ln cap="flat" cmpd="sng" w="15875">
            <a:solidFill>
              <a:schemeClr val="accent4"/>
            </a:solidFill>
            <a:prstDash val="solid"/>
            <a:round/>
            <a:headEnd len="sm" w="sm" type="none"/>
            <a:tailEnd len="med" w="med" type="stealth"/>
          </a:ln>
        </p:spPr>
      </p:cxnSp>
      <p:cxnSp>
        <p:nvCxnSpPr>
          <p:cNvPr id="679" name="Google Shape;679;p36"/>
          <p:cNvCxnSpPr>
            <a:stCxn id="672" idx="7"/>
            <a:endCxn id="673" idx="4"/>
          </p:cNvCxnSpPr>
          <p:nvPr/>
        </p:nvCxnSpPr>
        <p:spPr>
          <a:xfrm flipH="1" rot="10800000">
            <a:off x="2392023" y="1599910"/>
            <a:ext cx="676500" cy="1041300"/>
          </a:xfrm>
          <a:prstGeom prst="straightConnector1">
            <a:avLst/>
          </a:prstGeom>
          <a:noFill/>
          <a:ln cap="flat" cmpd="sng" w="15875">
            <a:solidFill>
              <a:schemeClr val="accent4"/>
            </a:solidFill>
            <a:prstDash val="solid"/>
            <a:round/>
            <a:headEnd len="sm" w="sm" type="none"/>
            <a:tailEnd len="med" w="med" type="stealth"/>
          </a:ln>
        </p:spPr>
      </p:cxnSp>
      <p:sp>
        <p:nvSpPr>
          <p:cNvPr id="680" name="Google Shape;680;p36"/>
          <p:cNvSpPr/>
          <p:nvPr/>
        </p:nvSpPr>
        <p:spPr>
          <a:xfrm>
            <a:off x="2611378" y="4781291"/>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81" name="Google Shape;681;p36"/>
          <p:cNvSpPr/>
          <p:nvPr/>
        </p:nvSpPr>
        <p:spPr>
          <a:xfrm>
            <a:off x="630178" y="4400291"/>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82" name="Google Shape;682;p36"/>
          <p:cNvSpPr/>
          <p:nvPr/>
        </p:nvSpPr>
        <p:spPr>
          <a:xfrm>
            <a:off x="4440178" y="4400291"/>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83" name="Google Shape;683;p36"/>
          <p:cNvSpPr/>
          <p:nvPr/>
        </p:nvSpPr>
        <p:spPr>
          <a:xfrm>
            <a:off x="3144778" y="4400291"/>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684" name="Google Shape;684;p36"/>
          <p:cNvSpPr/>
          <p:nvPr/>
        </p:nvSpPr>
        <p:spPr>
          <a:xfrm>
            <a:off x="1773178" y="4400291"/>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685" name="Google Shape;685;p36"/>
          <p:cNvCxnSpPr>
            <a:stCxn id="681" idx="0"/>
          </p:cNvCxnSpPr>
          <p:nvPr/>
        </p:nvCxnSpPr>
        <p:spPr>
          <a:xfrm flipH="1" rot="10800000">
            <a:off x="858778" y="3277691"/>
            <a:ext cx="2494200" cy="1122600"/>
          </a:xfrm>
          <a:prstGeom prst="straightConnector1">
            <a:avLst/>
          </a:prstGeom>
          <a:noFill/>
          <a:ln>
            <a:noFill/>
          </a:ln>
        </p:spPr>
      </p:cxnSp>
      <p:cxnSp>
        <p:nvCxnSpPr>
          <p:cNvPr id="686" name="Google Shape;686;p36"/>
          <p:cNvCxnSpPr>
            <a:stCxn id="684" idx="0"/>
            <a:endCxn id="672" idx="4"/>
          </p:cNvCxnSpPr>
          <p:nvPr/>
        </p:nvCxnSpPr>
        <p:spPr>
          <a:xfrm flipH="1" rot="10800000">
            <a:off x="2001778" y="3047591"/>
            <a:ext cx="228600" cy="1352700"/>
          </a:xfrm>
          <a:prstGeom prst="straightConnector1">
            <a:avLst/>
          </a:prstGeom>
          <a:noFill/>
          <a:ln cap="flat" cmpd="sng" w="15875">
            <a:solidFill>
              <a:schemeClr val="accent4"/>
            </a:solidFill>
            <a:prstDash val="solid"/>
            <a:round/>
            <a:headEnd len="sm" w="sm" type="none"/>
            <a:tailEnd len="med" w="med" type="stealth"/>
          </a:ln>
        </p:spPr>
      </p:cxnSp>
      <p:cxnSp>
        <p:nvCxnSpPr>
          <p:cNvPr id="687" name="Google Shape;687;p36"/>
          <p:cNvCxnSpPr>
            <a:stCxn id="683" idx="0"/>
            <a:endCxn id="671" idx="1"/>
          </p:cNvCxnSpPr>
          <p:nvPr/>
        </p:nvCxnSpPr>
        <p:spPr>
          <a:xfrm rot="10800000">
            <a:off x="2286178" y="3022091"/>
            <a:ext cx="1087200" cy="1378200"/>
          </a:xfrm>
          <a:prstGeom prst="straightConnector1">
            <a:avLst/>
          </a:prstGeom>
          <a:noFill/>
          <a:ln cap="flat" cmpd="sng" w="15875">
            <a:solidFill>
              <a:schemeClr val="accent4"/>
            </a:solidFill>
            <a:prstDash val="solid"/>
            <a:round/>
            <a:headEnd len="sm" w="sm" type="none"/>
            <a:tailEnd len="med" w="med" type="stealth"/>
          </a:ln>
        </p:spPr>
      </p:cxnSp>
      <p:cxnSp>
        <p:nvCxnSpPr>
          <p:cNvPr id="688" name="Google Shape;688;p36"/>
          <p:cNvCxnSpPr>
            <a:stCxn id="682" idx="0"/>
            <a:endCxn id="672" idx="4"/>
          </p:cNvCxnSpPr>
          <p:nvPr/>
        </p:nvCxnSpPr>
        <p:spPr>
          <a:xfrm rot="10800000">
            <a:off x="2230378" y="3047591"/>
            <a:ext cx="2438400" cy="1352700"/>
          </a:xfrm>
          <a:prstGeom prst="straightConnector1">
            <a:avLst/>
          </a:prstGeom>
          <a:noFill/>
          <a:ln cap="flat" cmpd="sng" w="15875">
            <a:solidFill>
              <a:schemeClr val="accent4"/>
            </a:solidFill>
            <a:prstDash val="solid"/>
            <a:round/>
            <a:headEnd len="sm" w="sm" type="none"/>
            <a:tailEnd len="med" w="med" type="stealth"/>
          </a:ln>
        </p:spPr>
      </p:cxnSp>
      <p:cxnSp>
        <p:nvCxnSpPr>
          <p:cNvPr id="689" name="Google Shape;689;p36"/>
          <p:cNvCxnSpPr>
            <a:stCxn id="681" idx="7"/>
            <a:endCxn id="672" idx="4"/>
          </p:cNvCxnSpPr>
          <p:nvPr/>
        </p:nvCxnSpPr>
        <p:spPr>
          <a:xfrm flipH="1" rot="10800000">
            <a:off x="1020423" y="3047710"/>
            <a:ext cx="1209900" cy="1422300"/>
          </a:xfrm>
          <a:prstGeom prst="straightConnector1">
            <a:avLst/>
          </a:prstGeom>
          <a:noFill/>
          <a:ln cap="flat" cmpd="sng" w="15875">
            <a:solidFill>
              <a:schemeClr val="accent4"/>
            </a:solidFill>
            <a:prstDash val="solid"/>
            <a:round/>
            <a:headEnd len="sm" w="sm" type="none"/>
            <a:tailEnd len="med" w="med" type="stealth"/>
          </a:ln>
        </p:spPr>
      </p:cxnSp>
      <p:sp>
        <p:nvSpPr>
          <p:cNvPr id="690" name="Google Shape;690;p36"/>
          <p:cNvSpPr/>
          <p:nvPr/>
        </p:nvSpPr>
        <p:spPr>
          <a:xfrm>
            <a:off x="5354578" y="4400291"/>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691" name="Google Shape;691;p36"/>
          <p:cNvCxnSpPr>
            <a:stCxn id="690" idx="0"/>
            <a:endCxn id="672" idx="4"/>
          </p:cNvCxnSpPr>
          <p:nvPr/>
        </p:nvCxnSpPr>
        <p:spPr>
          <a:xfrm rot="10800000">
            <a:off x="2230378" y="3047591"/>
            <a:ext cx="3352800" cy="1352700"/>
          </a:xfrm>
          <a:prstGeom prst="straightConnector1">
            <a:avLst/>
          </a:prstGeom>
          <a:noFill/>
          <a:ln cap="flat" cmpd="sng" w="15875">
            <a:solidFill>
              <a:schemeClr val="accent4"/>
            </a:solidFill>
            <a:prstDash val="solid"/>
            <a:round/>
            <a:headEnd len="sm" w="sm" type="none"/>
            <a:tailEnd len="med" w="med" type="stealth"/>
          </a:ln>
        </p:spPr>
      </p:cxnSp>
      <p:cxnSp>
        <p:nvCxnSpPr>
          <p:cNvPr id="692" name="Google Shape;692;p36"/>
          <p:cNvCxnSpPr>
            <a:stCxn id="681" idx="7"/>
            <a:endCxn id="675" idx="4"/>
          </p:cNvCxnSpPr>
          <p:nvPr/>
        </p:nvCxnSpPr>
        <p:spPr>
          <a:xfrm flipH="1" rot="10800000">
            <a:off x="1020423" y="3047710"/>
            <a:ext cx="2048100" cy="1422300"/>
          </a:xfrm>
          <a:prstGeom prst="straightConnector1">
            <a:avLst/>
          </a:prstGeom>
          <a:noFill/>
          <a:ln cap="flat" cmpd="sng" w="15875">
            <a:solidFill>
              <a:schemeClr val="accent4"/>
            </a:solidFill>
            <a:prstDash val="solid"/>
            <a:round/>
            <a:headEnd len="sm" w="sm" type="none"/>
            <a:tailEnd len="med" w="med" type="stealth"/>
          </a:ln>
        </p:spPr>
      </p:cxnSp>
      <p:cxnSp>
        <p:nvCxnSpPr>
          <p:cNvPr id="693" name="Google Shape;693;p36"/>
          <p:cNvCxnSpPr>
            <a:endCxn id="674" idx="4"/>
          </p:cNvCxnSpPr>
          <p:nvPr/>
        </p:nvCxnSpPr>
        <p:spPr>
          <a:xfrm flipH="1" rot="10800000">
            <a:off x="1031578" y="3047562"/>
            <a:ext cx="2875200" cy="1408500"/>
          </a:xfrm>
          <a:prstGeom prst="straightConnector1">
            <a:avLst/>
          </a:prstGeom>
          <a:noFill/>
          <a:ln cap="flat" cmpd="sng" w="15875">
            <a:solidFill>
              <a:schemeClr val="accent4"/>
            </a:solidFill>
            <a:prstDash val="solid"/>
            <a:round/>
            <a:headEnd len="sm" w="sm" type="none"/>
            <a:tailEnd len="med" w="med" type="stealth"/>
          </a:ln>
        </p:spPr>
      </p:cxnSp>
      <p:cxnSp>
        <p:nvCxnSpPr>
          <p:cNvPr id="694" name="Google Shape;694;p36"/>
          <p:cNvCxnSpPr>
            <a:stCxn id="690" idx="0"/>
            <a:endCxn id="674" idx="4"/>
          </p:cNvCxnSpPr>
          <p:nvPr/>
        </p:nvCxnSpPr>
        <p:spPr>
          <a:xfrm rot="10800000">
            <a:off x="3906778" y="3047591"/>
            <a:ext cx="1676400" cy="1352700"/>
          </a:xfrm>
          <a:prstGeom prst="straightConnector1">
            <a:avLst/>
          </a:prstGeom>
          <a:noFill/>
          <a:ln cap="flat" cmpd="sng" w="15875">
            <a:solidFill>
              <a:schemeClr val="accent4"/>
            </a:solidFill>
            <a:prstDash val="solid"/>
            <a:round/>
            <a:headEnd len="sm" w="sm" type="none"/>
            <a:tailEnd len="med" w="med" type="stealth"/>
          </a:ln>
        </p:spPr>
      </p:cxnSp>
      <p:cxnSp>
        <p:nvCxnSpPr>
          <p:cNvPr id="695" name="Google Shape;695;p36"/>
          <p:cNvCxnSpPr>
            <a:stCxn id="690" idx="0"/>
            <a:endCxn id="675" idx="4"/>
          </p:cNvCxnSpPr>
          <p:nvPr/>
        </p:nvCxnSpPr>
        <p:spPr>
          <a:xfrm rot="10800000">
            <a:off x="3068578" y="3047591"/>
            <a:ext cx="2514600" cy="1352700"/>
          </a:xfrm>
          <a:prstGeom prst="straightConnector1">
            <a:avLst/>
          </a:prstGeom>
          <a:noFill/>
          <a:ln cap="flat" cmpd="sng" w="15875">
            <a:solidFill>
              <a:schemeClr val="accent4"/>
            </a:solidFill>
            <a:prstDash val="solid"/>
            <a:round/>
            <a:headEnd len="sm" w="sm" type="none"/>
            <a:tailEnd len="med" w="med" type="stealth"/>
          </a:ln>
        </p:spPr>
      </p:cxnSp>
      <p:cxnSp>
        <p:nvCxnSpPr>
          <p:cNvPr id="696" name="Google Shape;696;p36"/>
          <p:cNvCxnSpPr>
            <a:stCxn id="682" idx="0"/>
          </p:cNvCxnSpPr>
          <p:nvPr/>
        </p:nvCxnSpPr>
        <p:spPr>
          <a:xfrm rot="10800000">
            <a:off x="3144778" y="3028691"/>
            <a:ext cx="1524000" cy="1371600"/>
          </a:xfrm>
          <a:prstGeom prst="straightConnector1">
            <a:avLst/>
          </a:prstGeom>
          <a:noFill/>
          <a:ln cap="flat" cmpd="sng" w="15875">
            <a:solidFill>
              <a:schemeClr val="accent4"/>
            </a:solidFill>
            <a:prstDash val="solid"/>
            <a:round/>
            <a:headEnd len="sm" w="sm" type="none"/>
            <a:tailEnd len="med" w="med" type="stealth"/>
          </a:ln>
        </p:spPr>
      </p:cxnSp>
      <p:cxnSp>
        <p:nvCxnSpPr>
          <p:cNvPr id="697" name="Google Shape;697;p36"/>
          <p:cNvCxnSpPr>
            <a:stCxn id="682" idx="0"/>
            <a:endCxn id="674" idx="4"/>
          </p:cNvCxnSpPr>
          <p:nvPr/>
        </p:nvCxnSpPr>
        <p:spPr>
          <a:xfrm rot="10800000">
            <a:off x="3906778" y="3047591"/>
            <a:ext cx="762000" cy="1352700"/>
          </a:xfrm>
          <a:prstGeom prst="straightConnector1">
            <a:avLst/>
          </a:prstGeom>
          <a:noFill/>
          <a:ln cap="flat" cmpd="sng" w="15875">
            <a:solidFill>
              <a:schemeClr val="accent4"/>
            </a:solidFill>
            <a:prstDash val="solid"/>
            <a:round/>
            <a:headEnd len="sm" w="sm" type="none"/>
            <a:tailEnd len="med" w="med" type="stealth"/>
          </a:ln>
        </p:spPr>
      </p:cxnSp>
      <p:cxnSp>
        <p:nvCxnSpPr>
          <p:cNvPr id="698" name="Google Shape;698;p36"/>
          <p:cNvCxnSpPr>
            <a:stCxn id="683" idx="0"/>
          </p:cNvCxnSpPr>
          <p:nvPr/>
        </p:nvCxnSpPr>
        <p:spPr>
          <a:xfrm rot="10800000">
            <a:off x="3068578" y="3028691"/>
            <a:ext cx="304800" cy="1371600"/>
          </a:xfrm>
          <a:prstGeom prst="straightConnector1">
            <a:avLst/>
          </a:prstGeom>
          <a:noFill/>
          <a:ln cap="flat" cmpd="sng" w="15875">
            <a:solidFill>
              <a:schemeClr val="accent4"/>
            </a:solidFill>
            <a:prstDash val="solid"/>
            <a:round/>
            <a:headEnd len="sm" w="sm" type="none"/>
            <a:tailEnd len="med" w="med" type="stealth"/>
          </a:ln>
        </p:spPr>
      </p:cxnSp>
      <p:cxnSp>
        <p:nvCxnSpPr>
          <p:cNvPr id="699" name="Google Shape;699;p36"/>
          <p:cNvCxnSpPr>
            <a:stCxn id="683" idx="0"/>
          </p:cNvCxnSpPr>
          <p:nvPr/>
        </p:nvCxnSpPr>
        <p:spPr>
          <a:xfrm flipH="1" rot="10800000">
            <a:off x="3373378" y="3049091"/>
            <a:ext cx="553800" cy="1351200"/>
          </a:xfrm>
          <a:prstGeom prst="straightConnector1">
            <a:avLst/>
          </a:prstGeom>
          <a:noFill/>
          <a:ln cap="flat" cmpd="sng" w="15875">
            <a:solidFill>
              <a:schemeClr val="accent4"/>
            </a:solidFill>
            <a:prstDash val="solid"/>
            <a:round/>
            <a:headEnd len="sm" w="sm" type="none"/>
            <a:tailEnd len="med" w="med" type="stealth"/>
          </a:ln>
        </p:spPr>
      </p:cxnSp>
      <p:cxnSp>
        <p:nvCxnSpPr>
          <p:cNvPr id="700" name="Google Shape;700;p36"/>
          <p:cNvCxnSpPr>
            <a:endCxn id="674" idx="4"/>
          </p:cNvCxnSpPr>
          <p:nvPr/>
        </p:nvCxnSpPr>
        <p:spPr>
          <a:xfrm flipH="1" rot="10800000">
            <a:off x="2039878" y="3047562"/>
            <a:ext cx="1866900" cy="1352700"/>
          </a:xfrm>
          <a:prstGeom prst="straightConnector1">
            <a:avLst/>
          </a:prstGeom>
          <a:noFill/>
          <a:ln cap="flat" cmpd="sng" w="15875">
            <a:solidFill>
              <a:schemeClr val="accent4"/>
            </a:solidFill>
            <a:prstDash val="solid"/>
            <a:round/>
            <a:headEnd len="sm" w="sm" type="none"/>
            <a:tailEnd len="med" w="med" type="stealth"/>
          </a:ln>
        </p:spPr>
      </p:cxnSp>
      <p:sp>
        <p:nvSpPr>
          <p:cNvPr id="701" name="Google Shape;701;p36"/>
          <p:cNvSpPr txBox="1"/>
          <p:nvPr/>
        </p:nvSpPr>
        <p:spPr>
          <a:xfrm>
            <a:off x="705200" y="3174710"/>
            <a:ext cx="904817"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W</a:t>
            </a:r>
            <a:r>
              <a:rPr baseline="30000" lang="en-US" sz="3300">
                <a:solidFill>
                  <a:srgbClr val="590A0E"/>
                </a:solidFill>
                <a:latin typeface="Times New Roman"/>
                <a:ea typeface="Times New Roman"/>
                <a:cs typeface="Times New Roman"/>
                <a:sym typeface="Times New Roman"/>
              </a:rPr>
              <a:t>[1]</a:t>
            </a:r>
            <a:endParaRPr/>
          </a:p>
        </p:txBody>
      </p:sp>
      <p:sp>
        <p:nvSpPr>
          <p:cNvPr id="702" name="Google Shape;702;p36"/>
          <p:cNvSpPr txBox="1"/>
          <p:nvPr/>
        </p:nvSpPr>
        <p:spPr>
          <a:xfrm>
            <a:off x="4514956" y="4413744"/>
            <a:ext cx="42511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x</a:t>
            </a:r>
            <a:r>
              <a:rPr baseline="-25000" lang="en-US" sz="2400">
                <a:solidFill>
                  <a:schemeClr val="dk1"/>
                </a:solidFill>
                <a:latin typeface="Calibri"/>
                <a:ea typeface="Calibri"/>
                <a:cs typeface="Calibri"/>
                <a:sym typeface="Calibri"/>
              </a:rPr>
              <a:t>n</a:t>
            </a:r>
            <a:endParaRPr baseline="-25000" sz="2400">
              <a:solidFill>
                <a:schemeClr val="dk1"/>
              </a:solidFill>
              <a:latin typeface="Calibri"/>
              <a:ea typeface="Calibri"/>
              <a:cs typeface="Calibri"/>
              <a:sym typeface="Calibri"/>
            </a:endParaRPr>
          </a:p>
        </p:txBody>
      </p:sp>
      <p:sp>
        <p:nvSpPr>
          <p:cNvPr id="703" name="Google Shape;703;p36"/>
          <p:cNvSpPr txBox="1"/>
          <p:nvPr/>
        </p:nvSpPr>
        <p:spPr>
          <a:xfrm>
            <a:off x="700408" y="4413744"/>
            <a:ext cx="4572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x</a:t>
            </a:r>
            <a:r>
              <a:rPr baseline="-25000" lang="en-US" sz="2400">
                <a:solidFill>
                  <a:schemeClr val="dk1"/>
                </a:solidFill>
                <a:latin typeface="Calibri"/>
                <a:ea typeface="Calibri"/>
                <a:cs typeface="Calibri"/>
                <a:sym typeface="Calibri"/>
              </a:rPr>
              <a:t>1</a:t>
            </a:r>
            <a:endParaRPr/>
          </a:p>
        </p:txBody>
      </p:sp>
      <p:sp>
        <p:nvSpPr>
          <p:cNvPr id="704" name="Google Shape;704;p36"/>
          <p:cNvSpPr txBox="1"/>
          <p:nvPr/>
        </p:nvSpPr>
        <p:spPr>
          <a:xfrm>
            <a:off x="5392678" y="4400290"/>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705" name="Google Shape;705;p36"/>
          <p:cNvSpPr txBox="1"/>
          <p:nvPr/>
        </p:nvSpPr>
        <p:spPr>
          <a:xfrm>
            <a:off x="4686301" y="3200401"/>
            <a:ext cx="1220126"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b</a:t>
            </a:r>
            <a:r>
              <a:rPr baseline="30000" lang="en-US" sz="3300">
                <a:solidFill>
                  <a:srgbClr val="590A0E"/>
                </a:solidFill>
                <a:latin typeface="Times New Roman"/>
                <a:ea typeface="Times New Roman"/>
                <a:cs typeface="Times New Roman"/>
                <a:sym typeface="Times New Roman"/>
              </a:rPr>
              <a:t>[1]</a:t>
            </a:r>
            <a:endParaRPr/>
          </a:p>
        </p:txBody>
      </p:sp>
      <p:sp>
        <p:nvSpPr>
          <p:cNvPr id="706" name="Google Shape;706;p36"/>
          <p:cNvSpPr txBox="1"/>
          <p:nvPr/>
        </p:nvSpPr>
        <p:spPr>
          <a:xfrm>
            <a:off x="1892218" y="4423140"/>
            <a:ext cx="26962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i</a:t>
            </a:r>
            <a:endParaRPr sz="2400">
              <a:solidFill>
                <a:schemeClr val="dk1"/>
              </a:solidFill>
              <a:latin typeface="Times New Roman"/>
              <a:ea typeface="Times New Roman"/>
              <a:cs typeface="Times New Roman"/>
              <a:sym typeface="Times New Roman"/>
            </a:endParaRPr>
          </a:p>
        </p:txBody>
      </p:sp>
      <p:sp>
        <p:nvSpPr>
          <p:cNvPr id="707" name="Google Shape;707;p36"/>
          <p:cNvSpPr txBox="1"/>
          <p:nvPr/>
        </p:nvSpPr>
        <p:spPr>
          <a:xfrm>
            <a:off x="2951578" y="2512309"/>
            <a:ext cx="26962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j</a:t>
            </a:r>
            <a:endParaRPr/>
          </a:p>
        </p:txBody>
      </p:sp>
      <p:sp>
        <p:nvSpPr>
          <p:cNvPr id="708" name="Google Shape;708;p36"/>
          <p:cNvSpPr txBox="1"/>
          <p:nvPr/>
        </p:nvSpPr>
        <p:spPr>
          <a:xfrm>
            <a:off x="1487206" y="1569638"/>
            <a:ext cx="904817"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W</a:t>
            </a:r>
            <a:r>
              <a:rPr baseline="30000" lang="en-US" sz="3300">
                <a:solidFill>
                  <a:srgbClr val="590A0E"/>
                </a:solidFill>
                <a:latin typeface="Times New Roman"/>
                <a:ea typeface="Times New Roman"/>
                <a:cs typeface="Times New Roman"/>
                <a:sym typeface="Times New Roman"/>
              </a:rPr>
              <a:t>[2]</a:t>
            </a:r>
            <a:endParaRPr/>
          </a:p>
        </p:txBody>
      </p:sp>
      <p:sp>
        <p:nvSpPr>
          <p:cNvPr id="709" name="Google Shape;709;p36"/>
          <p:cNvSpPr txBox="1"/>
          <p:nvPr/>
        </p:nvSpPr>
        <p:spPr>
          <a:xfrm>
            <a:off x="3830116" y="1706513"/>
            <a:ext cx="1220126"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300">
                <a:solidFill>
                  <a:srgbClr val="590A0E"/>
                </a:solidFill>
                <a:latin typeface="Times New Roman"/>
                <a:ea typeface="Times New Roman"/>
                <a:cs typeface="Times New Roman"/>
                <a:sym typeface="Times New Roman"/>
              </a:rPr>
              <a:t>b</a:t>
            </a:r>
            <a:r>
              <a:rPr baseline="30000" lang="en-US" sz="3300">
                <a:solidFill>
                  <a:srgbClr val="590A0E"/>
                </a:solidFill>
                <a:latin typeface="Times New Roman"/>
                <a:ea typeface="Times New Roman"/>
                <a:cs typeface="Times New Roman"/>
                <a:sym typeface="Times New Roman"/>
              </a:rPr>
              <a:t>[2]</a:t>
            </a:r>
            <a:endParaRPr/>
          </a:p>
        </p:txBody>
      </p:sp>
      <p:sp>
        <p:nvSpPr>
          <p:cNvPr id="710" name="Google Shape;710;p36"/>
          <p:cNvSpPr txBox="1"/>
          <p:nvPr/>
        </p:nvSpPr>
        <p:spPr>
          <a:xfrm>
            <a:off x="5762590" y="3092418"/>
            <a:ext cx="2698111" cy="429285"/>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711" name="Google Shape;711;p36"/>
          <p:cNvSpPr txBox="1"/>
          <p:nvPr/>
        </p:nvSpPr>
        <p:spPr>
          <a:xfrm>
            <a:off x="5997523" y="4375074"/>
            <a:ext cx="665695" cy="429285"/>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712" name="Google Shape;712;p36"/>
          <p:cNvSpPr txBox="1"/>
          <p:nvPr/>
        </p:nvSpPr>
        <p:spPr>
          <a:xfrm>
            <a:off x="5811778" y="2614009"/>
            <a:ext cx="2079608" cy="437749"/>
          </a:xfrm>
          <a:prstGeom prst="rect">
            <a:avLst/>
          </a:prstGeom>
          <a:blipFill rotWithShape="1">
            <a:blip r:embed="rId5">
              <a:alphaModFix/>
            </a:blip>
            <a:stretch>
              <a:fillRect b="-16665"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713" name="Google Shape;713;p36"/>
          <p:cNvSpPr txBox="1"/>
          <p:nvPr/>
        </p:nvSpPr>
        <p:spPr>
          <a:xfrm>
            <a:off x="4686301" y="1536884"/>
            <a:ext cx="2698111" cy="429285"/>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714" name="Google Shape;714;p36"/>
          <p:cNvSpPr txBox="1"/>
          <p:nvPr/>
        </p:nvSpPr>
        <p:spPr>
          <a:xfrm>
            <a:off x="4662523" y="1152358"/>
            <a:ext cx="2079608" cy="437749"/>
          </a:xfrm>
          <a:prstGeom prst="rect">
            <a:avLst/>
          </a:prstGeom>
          <a:blipFill rotWithShape="1">
            <a:blip r:embed="rId7">
              <a:alphaModFix/>
            </a:blip>
            <a:stretch>
              <a:fillRect b="-16665"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715" name="Google Shape;715;p36"/>
          <p:cNvSpPr txBox="1"/>
          <p:nvPr/>
        </p:nvSpPr>
        <p:spPr>
          <a:xfrm>
            <a:off x="4668779" y="715237"/>
            <a:ext cx="1172629" cy="429285"/>
          </a:xfrm>
          <a:prstGeom prst="rect">
            <a:avLst/>
          </a:prstGeom>
          <a:blipFill rotWithShape="1">
            <a:blip r:embed="rId8">
              <a:alphaModFix/>
            </a:blip>
            <a:stretch>
              <a:fillRect b="-5712"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716" name="Google Shape;716;p36"/>
          <p:cNvSpPr txBox="1"/>
          <p:nvPr/>
        </p:nvSpPr>
        <p:spPr>
          <a:xfrm>
            <a:off x="6786866" y="1084812"/>
            <a:ext cx="167866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Times New Roman"/>
                <a:ea typeface="Times New Roman"/>
                <a:cs typeface="Times New Roman"/>
                <a:sym typeface="Times New Roman"/>
              </a:rPr>
              <a:t>sigmoid or softmax</a:t>
            </a:r>
            <a:endParaRPr sz="1500">
              <a:solidFill>
                <a:schemeClr val="dk1"/>
              </a:solidFill>
              <a:latin typeface="Times New Roman"/>
              <a:ea typeface="Times New Roman"/>
              <a:cs typeface="Times New Roman"/>
              <a:sym typeface="Times New Roman"/>
            </a:endParaRPr>
          </a:p>
        </p:txBody>
      </p:sp>
      <p:sp>
        <p:nvSpPr>
          <p:cNvPr id="717" name="Google Shape;717;p36"/>
          <p:cNvSpPr txBox="1"/>
          <p:nvPr/>
        </p:nvSpPr>
        <p:spPr>
          <a:xfrm>
            <a:off x="7905568" y="2571490"/>
            <a:ext cx="654346"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Times New Roman"/>
                <a:ea typeface="Times New Roman"/>
                <a:cs typeface="Times New Roman"/>
                <a:sym typeface="Times New Roman"/>
              </a:rPr>
              <a:t>ReLU</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37"/>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Multi Layer Notation</a:t>
            </a:r>
            <a:endParaRPr/>
          </a:p>
        </p:txBody>
      </p:sp>
      <p:sp>
        <p:nvSpPr>
          <p:cNvPr id="724" name="Google Shape;724;p37"/>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725" name="Google Shape;725;p37"/>
          <p:cNvPicPr preferRelativeResize="0"/>
          <p:nvPr/>
        </p:nvPicPr>
        <p:blipFill rotWithShape="1">
          <a:blip r:embed="rId3">
            <a:alphaModFix/>
          </a:blip>
          <a:srcRect b="0" l="0" r="0" t="0"/>
          <a:stretch/>
        </p:blipFill>
        <p:spPr>
          <a:xfrm>
            <a:off x="523643" y="1171785"/>
            <a:ext cx="3311123" cy="2717800"/>
          </a:xfrm>
          <a:prstGeom prst="rect">
            <a:avLst/>
          </a:prstGeom>
          <a:noFill/>
          <a:ln>
            <a:noFill/>
          </a:ln>
        </p:spPr>
      </p:pic>
      <p:pic>
        <p:nvPicPr>
          <p:cNvPr id="726" name="Google Shape;726;p37"/>
          <p:cNvPicPr preferRelativeResize="0"/>
          <p:nvPr/>
        </p:nvPicPr>
        <p:blipFill rotWithShape="1">
          <a:blip r:embed="rId4">
            <a:alphaModFix/>
          </a:blip>
          <a:srcRect b="0" l="0" r="0" t="0"/>
          <a:stretch/>
        </p:blipFill>
        <p:spPr>
          <a:xfrm>
            <a:off x="4682722" y="2157477"/>
            <a:ext cx="4461278" cy="1915085"/>
          </a:xfrm>
          <a:prstGeom prst="rect">
            <a:avLst/>
          </a:prstGeom>
          <a:noFill/>
          <a:ln>
            <a:noFill/>
          </a:ln>
        </p:spPr>
      </p:pic>
      <p:pic>
        <p:nvPicPr>
          <p:cNvPr id="727" name="Google Shape;727;p37"/>
          <p:cNvPicPr preferRelativeResize="0"/>
          <p:nvPr/>
        </p:nvPicPr>
        <p:blipFill rotWithShape="1">
          <a:blip r:embed="rId5">
            <a:alphaModFix/>
          </a:blip>
          <a:srcRect b="0" l="0" r="0" t="0"/>
          <a:stretch/>
        </p:blipFill>
        <p:spPr>
          <a:xfrm>
            <a:off x="6444400" y="51152"/>
            <a:ext cx="1964966" cy="2009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38"/>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Replacing the bias unit</a:t>
            </a:r>
            <a:endParaRPr/>
          </a:p>
        </p:txBody>
      </p:sp>
      <p:sp>
        <p:nvSpPr>
          <p:cNvPr id="734" name="Google Shape;734;p38"/>
          <p:cNvSpPr txBox="1"/>
          <p:nvPr>
            <p:ph idx="1" type="body"/>
          </p:nvPr>
        </p:nvSpPr>
        <p:spPr>
          <a:xfrm>
            <a:off x="822962" y="1200150"/>
            <a:ext cx="7543801" cy="34290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Let's switch to a notation without the bias unit</a:t>
            </a:r>
            <a:endParaRPr/>
          </a:p>
          <a:p>
            <a:pPr indent="-7938" lvl="0" marL="7938" rtl="0" algn="l">
              <a:lnSpc>
                <a:spcPct val="90000"/>
              </a:lnSpc>
              <a:spcBef>
                <a:spcPts val="1050"/>
              </a:spcBef>
              <a:spcAft>
                <a:spcPts val="0"/>
              </a:spcAft>
              <a:buSzPts val="2800"/>
              <a:buNone/>
            </a:pPr>
            <a:r>
              <a:rPr lang="en-US"/>
              <a:t>Just a notational change</a:t>
            </a:r>
            <a:endParaRPr/>
          </a:p>
          <a:p>
            <a:pPr indent="-557199" lvl="0" marL="557199" rtl="0" algn="l">
              <a:lnSpc>
                <a:spcPct val="90000"/>
              </a:lnSpc>
              <a:spcBef>
                <a:spcPts val="1050"/>
              </a:spcBef>
              <a:spcAft>
                <a:spcPts val="0"/>
              </a:spcAft>
              <a:buSzPts val="2800"/>
              <a:buFont typeface="Calibri"/>
              <a:buAutoNum type="arabicPeriod"/>
            </a:pPr>
            <a:r>
              <a:rPr lang="en-US"/>
              <a:t>Add a dummy node a</a:t>
            </a:r>
            <a:r>
              <a:rPr baseline="-25000" lang="en-US"/>
              <a:t>0</a:t>
            </a:r>
            <a:r>
              <a:rPr lang="en-US"/>
              <a:t>=1 to each layer</a:t>
            </a:r>
            <a:endParaRPr/>
          </a:p>
          <a:p>
            <a:pPr indent="-557199" lvl="0" marL="557199" rtl="0" algn="l">
              <a:lnSpc>
                <a:spcPct val="90000"/>
              </a:lnSpc>
              <a:spcBef>
                <a:spcPts val="1050"/>
              </a:spcBef>
              <a:spcAft>
                <a:spcPts val="0"/>
              </a:spcAft>
              <a:buSzPts val="2800"/>
              <a:buFont typeface="Calibri"/>
              <a:buAutoNum type="arabicPeriod"/>
            </a:pPr>
            <a:r>
              <a:rPr lang="en-US"/>
              <a:t>Its weight w</a:t>
            </a:r>
            <a:r>
              <a:rPr baseline="-25000" lang="en-US"/>
              <a:t>0</a:t>
            </a:r>
            <a:r>
              <a:rPr lang="en-US"/>
              <a:t> will be the bias</a:t>
            </a:r>
            <a:endParaRPr/>
          </a:p>
          <a:p>
            <a:pPr indent="-557199" lvl="0" marL="557199" rtl="0" algn="l">
              <a:lnSpc>
                <a:spcPct val="90000"/>
              </a:lnSpc>
              <a:spcBef>
                <a:spcPts val="1050"/>
              </a:spcBef>
              <a:spcAft>
                <a:spcPts val="0"/>
              </a:spcAft>
              <a:buSzPts val="2800"/>
              <a:buFont typeface="Calibri"/>
              <a:buAutoNum type="arabicPeriod"/>
            </a:pPr>
            <a:r>
              <a:rPr lang="en-US"/>
              <a:t>So input layer a</a:t>
            </a:r>
            <a:r>
              <a:rPr baseline="30000" lang="en-US"/>
              <a:t>[0]</a:t>
            </a:r>
            <a:r>
              <a:rPr baseline="-25000" lang="en-US"/>
              <a:t>0</a:t>
            </a:r>
            <a:r>
              <a:rPr lang="en-US"/>
              <a:t>=1, </a:t>
            </a:r>
            <a:endParaRPr/>
          </a:p>
          <a:p>
            <a:pPr indent="-557199" lvl="1" marL="954053" rtl="0" algn="l">
              <a:lnSpc>
                <a:spcPct val="90000"/>
              </a:lnSpc>
              <a:spcBef>
                <a:spcPts val="300"/>
              </a:spcBef>
              <a:spcAft>
                <a:spcPts val="0"/>
              </a:spcAft>
              <a:buSzPts val="2400"/>
              <a:buChar char="◦"/>
            </a:pPr>
            <a:r>
              <a:rPr lang="en-US"/>
              <a:t>And a</a:t>
            </a:r>
            <a:r>
              <a:rPr baseline="30000" lang="en-US"/>
              <a:t>[1]</a:t>
            </a:r>
            <a:r>
              <a:rPr baseline="-25000" lang="en-US"/>
              <a:t>0</a:t>
            </a:r>
            <a:r>
              <a:rPr lang="en-US"/>
              <a:t>=1 , a</a:t>
            </a:r>
            <a:r>
              <a:rPr baseline="30000" lang="en-US"/>
              <a:t>[2]</a:t>
            </a:r>
            <a:r>
              <a:rPr baseline="-25000" lang="en-US"/>
              <a:t>0</a:t>
            </a:r>
            <a:r>
              <a:rPr lang="en-US"/>
              <a:t>=1,…</a:t>
            </a:r>
            <a:endParaRPr baseline="-25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39"/>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Replacing the bias unit</a:t>
            </a:r>
            <a:endParaRPr/>
          </a:p>
        </p:txBody>
      </p:sp>
      <p:sp>
        <p:nvSpPr>
          <p:cNvPr id="741" name="Google Shape;741;p39"/>
          <p:cNvSpPr txBox="1"/>
          <p:nvPr>
            <p:ph idx="1" type="body"/>
          </p:nvPr>
        </p:nvSpPr>
        <p:spPr>
          <a:xfrm>
            <a:off x="822962" y="1200150"/>
            <a:ext cx="7543801" cy="34290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Instead of:					We'll do this:</a:t>
            </a:r>
            <a:endParaRPr/>
          </a:p>
        </p:txBody>
      </p:sp>
      <p:pic>
        <p:nvPicPr>
          <p:cNvPr id="742" name="Google Shape;742;p39"/>
          <p:cNvPicPr preferRelativeResize="0"/>
          <p:nvPr/>
        </p:nvPicPr>
        <p:blipFill rotWithShape="1">
          <a:blip r:embed="rId3">
            <a:alphaModFix/>
          </a:blip>
          <a:srcRect b="0" l="0" r="0" t="0"/>
          <a:stretch/>
        </p:blipFill>
        <p:spPr>
          <a:xfrm>
            <a:off x="971550" y="2641410"/>
            <a:ext cx="2371680" cy="444690"/>
          </a:xfrm>
          <a:prstGeom prst="rect">
            <a:avLst/>
          </a:prstGeom>
          <a:noFill/>
          <a:ln>
            <a:noFill/>
          </a:ln>
        </p:spPr>
      </p:pic>
      <p:pic>
        <p:nvPicPr>
          <p:cNvPr id="743" name="Google Shape;743;p39"/>
          <p:cNvPicPr preferRelativeResize="0"/>
          <p:nvPr/>
        </p:nvPicPr>
        <p:blipFill rotWithShape="1">
          <a:blip r:embed="rId4">
            <a:alphaModFix/>
          </a:blip>
          <a:srcRect b="0" l="0" r="0" t="0"/>
          <a:stretch/>
        </p:blipFill>
        <p:spPr>
          <a:xfrm>
            <a:off x="5700863" y="2571751"/>
            <a:ext cx="1852875" cy="481748"/>
          </a:xfrm>
          <a:prstGeom prst="rect">
            <a:avLst/>
          </a:prstGeom>
          <a:noFill/>
          <a:ln>
            <a:noFill/>
          </a:ln>
        </p:spPr>
      </p:pic>
      <p:pic>
        <p:nvPicPr>
          <p:cNvPr id="744" name="Google Shape;744;p39"/>
          <p:cNvPicPr preferRelativeResize="0"/>
          <p:nvPr/>
        </p:nvPicPr>
        <p:blipFill rotWithShape="1">
          <a:blip r:embed="rId5">
            <a:alphaModFix/>
          </a:blip>
          <a:srcRect b="0" l="0" r="0" t="0"/>
          <a:stretch/>
        </p:blipFill>
        <p:spPr>
          <a:xfrm>
            <a:off x="767300" y="3244936"/>
            <a:ext cx="3965153" cy="1259955"/>
          </a:xfrm>
          <a:prstGeom prst="rect">
            <a:avLst/>
          </a:prstGeom>
          <a:noFill/>
          <a:ln>
            <a:noFill/>
          </a:ln>
        </p:spPr>
      </p:pic>
      <p:pic>
        <p:nvPicPr>
          <p:cNvPr id="745" name="Google Shape;745;p39"/>
          <p:cNvPicPr preferRelativeResize="0"/>
          <p:nvPr/>
        </p:nvPicPr>
        <p:blipFill rotWithShape="1">
          <a:blip r:embed="rId6">
            <a:alphaModFix/>
          </a:blip>
          <a:srcRect b="0" l="0" r="0" t="0"/>
          <a:stretch/>
        </p:blipFill>
        <p:spPr>
          <a:xfrm>
            <a:off x="5515575" y="3022590"/>
            <a:ext cx="2223450" cy="1482300"/>
          </a:xfrm>
          <a:prstGeom prst="rect">
            <a:avLst/>
          </a:prstGeom>
          <a:noFill/>
          <a:ln>
            <a:noFill/>
          </a:ln>
        </p:spPr>
      </p:pic>
      <p:sp>
        <p:nvSpPr>
          <p:cNvPr id="746" name="Google Shape;746;p39"/>
          <p:cNvSpPr txBox="1"/>
          <p:nvPr/>
        </p:nvSpPr>
        <p:spPr>
          <a:xfrm>
            <a:off x="1053547" y="1828802"/>
            <a:ext cx="2409634" cy="5078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700">
                <a:solidFill>
                  <a:schemeClr val="dk1"/>
                </a:solidFill>
                <a:latin typeface="Times New Roman"/>
                <a:ea typeface="Times New Roman"/>
                <a:cs typeface="Times New Roman"/>
                <a:sym typeface="Times New Roman"/>
              </a:rPr>
              <a:t>x= x</a:t>
            </a:r>
            <a:r>
              <a:rPr baseline="-25000" i="1" lang="en-US" sz="2700">
                <a:solidFill>
                  <a:schemeClr val="dk1"/>
                </a:solidFill>
                <a:latin typeface="Times New Roman"/>
                <a:ea typeface="Times New Roman"/>
                <a:cs typeface="Times New Roman"/>
                <a:sym typeface="Times New Roman"/>
              </a:rPr>
              <a:t>1</a:t>
            </a:r>
            <a:r>
              <a:rPr i="1" lang="en-US" sz="2700">
                <a:solidFill>
                  <a:schemeClr val="dk1"/>
                </a:solidFill>
                <a:latin typeface="Times New Roman"/>
                <a:ea typeface="Times New Roman"/>
                <a:cs typeface="Times New Roman"/>
                <a:sym typeface="Times New Roman"/>
              </a:rPr>
              <a:t>, x</a:t>
            </a:r>
            <a:r>
              <a:rPr baseline="-25000" i="1" lang="en-US" sz="2700">
                <a:solidFill>
                  <a:schemeClr val="dk1"/>
                </a:solidFill>
                <a:latin typeface="Times New Roman"/>
                <a:ea typeface="Times New Roman"/>
                <a:cs typeface="Times New Roman"/>
                <a:sym typeface="Times New Roman"/>
              </a:rPr>
              <a:t>2</a:t>
            </a:r>
            <a:r>
              <a:rPr i="1" lang="en-US" sz="2700">
                <a:solidFill>
                  <a:schemeClr val="dk1"/>
                </a:solidFill>
                <a:latin typeface="Times New Roman"/>
                <a:ea typeface="Times New Roman"/>
                <a:cs typeface="Times New Roman"/>
                <a:sym typeface="Times New Roman"/>
              </a:rPr>
              <a:t>, …, x</a:t>
            </a:r>
            <a:r>
              <a:rPr baseline="-25000" i="1" lang="en-US" sz="2700">
                <a:solidFill>
                  <a:schemeClr val="dk1"/>
                </a:solidFill>
                <a:latin typeface="Times New Roman"/>
                <a:ea typeface="Times New Roman"/>
                <a:cs typeface="Times New Roman"/>
                <a:sym typeface="Times New Roman"/>
              </a:rPr>
              <a:t>n0</a:t>
            </a:r>
            <a:endParaRPr/>
          </a:p>
        </p:txBody>
      </p:sp>
      <p:sp>
        <p:nvSpPr>
          <p:cNvPr id="747" name="Google Shape;747;p39"/>
          <p:cNvSpPr txBox="1"/>
          <p:nvPr/>
        </p:nvSpPr>
        <p:spPr>
          <a:xfrm>
            <a:off x="5743899" y="1861583"/>
            <a:ext cx="2852063" cy="5078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700">
                <a:solidFill>
                  <a:schemeClr val="dk1"/>
                </a:solidFill>
                <a:latin typeface="Times New Roman"/>
                <a:ea typeface="Times New Roman"/>
                <a:cs typeface="Times New Roman"/>
                <a:sym typeface="Times New Roman"/>
              </a:rPr>
              <a:t>x= x</a:t>
            </a:r>
            <a:r>
              <a:rPr baseline="-25000" i="1" lang="en-US" sz="2700">
                <a:solidFill>
                  <a:schemeClr val="dk1"/>
                </a:solidFill>
                <a:latin typeface="Times New Roman"/>
                <a:ea typeface="Times New Roman"/>
                <a:cs typeface="Times New Roman"/>
                <a:sym typeface="Times New Roman"/>
              </a:rPr>
              <a:t>0</a:t>
            </a:r>
            <a:r>
              <a:rPr i="1" lang="en-US" sz="2700">
                <a:solidFill>
                  <a:schemeClr val="dk1"/>
                </a:solidFill>
                <a:latin typeface="Times New Roman"/>
                <a:ea typeface="Times New Roman"/>
                <a:cs typeface="Times New Roman"/>
                <a:sym typeface="Times New Roman"/>
              </a:rPr>
              <a:t>, x</a:t>
            </a:r>
            <a:r>
              <a:rPr baseline="-25000" i="1" lang="en-US" sz="2700">
                <a:solidFill>
                  <a:schemeClr val="dk1"/>
                </a:solidFill>
                <a:latin typeface="Times New Roman"/>
                <a:ea typeface="Times New Roman"/>
                <a:cs typeface="Times New Roman"/>
                <a:sym typeface="Times New Roman"/>
              </a:rPr>
              <a:t>1</a:t>
            </a:r>
            <a:r>
              <a:rPr i="1" lang="en-US" sz="2700">
                <a:solidFill>
                  <a:schemeClr val="dk1"/>
                </a:solidFill>
                <a:latin typeface="Times New Roman"/>
                <a:ea typeface="Times New Roman"/>
                <a:cs typeface="Times New Roman"/>
                <a:sym typeface="Times New Roman"/>
              </a:rPr>
              <a:t>, x</a:t>
            </a:r>
            <a:r>
              <a:rPr baseline="-25000" i="1" lang="en-US" sz="2700">
                <a:solidFill>
                  <a:schemeClr val="dk1"/>
                </a:solidFill>
                <a:latin typeface="Times New Roman"/>
                <a:ea typeface="Times New Roman"/>
                <a:cs typeface="Times New Roman"/>
                <a:sym typeface="Times New Roman"/>
              </a:rPr>
              <a:t>2</a:t>
            </a:r>
            <a:r>
              <a:rPr i="1" lang="en-US" sz="2700">
                <a:solidFill>
                  <a:schemeClr val="dk1"/>
                </a:solidFill>
                <a:latin typeface="Times New Roman"/>
                <a:ea typeface="Times New Roman"/>
                <a:cs typeface="Times New Roman"/>
                <a:sym typeface="Times New Roman"/>
              </a:rPr>
              <a:t>, …, x</a:t>
            </a:r>
            <a:r>
              <a:rPr baseline="-25000" i="1" lang="en-US" sz="2700">
                <a:solidFill>
                  <a:schemeClr val="dk1"/>
                </a:solidFill>
                <a:latin typeface="Times New Roman"/>
                <a:ea typeface="Times New Roman"/>
                <a:cs typeface="Times New Roman"/>
                <a:sym typeface="Times New Roman"/>
              </a:rPr>
              <a:t>n0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40"/>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Replacing the bias unit</a:t>
            </a:r>
            <a:endParaRPr/>
          </a:p>
        </p:txBody>
      </p:sp>
      <p:pic>
        <p:nvPicPr>
          <p:cNvPr id="754" name="Google Shape;754;p40"/>
          <p:cNvPicPr preferRelativeResize="0"/>
          <p:nvPr>
            <p:ph idx="1" type="body"/>
          </p:nvPr>
        </p:nvPicPr>
        <p:blipFill rotWithShape="1">
          <a:blip r:embed="rId3">
            <a:alphaModFix/>
          </a:blip>
          <a:srcRect b="0" l="0" r="0" t="0"/>
          <a:stretch/>
        </p:blipFill>
        <p:spPr>
          <a:xfrm>
            <a:off x="822961" y="2057401"/>
            <a:ext cx="3585278" cy="2185988"/>
          </a:xfrm>
          <a:prstGeom prst="rect">
            <a:avLst/>
          </a:prstGeom>
          <a:noFill/>
          <a:ln>
            <a:noFill/>
          </a:ln>
        </p:spPr>
      </p:pic>
      <p:pic>
        <p:nvPicPr>
          <p:cNvPr id="755" name="Google Shape;755;p40"/>
          <p:cNvPicPr preferRelativeResize="0"/>
          <p:nvPr/>
        </p:nvPicPr>
        <p:blipFill rotWithShape="1">
          <a:blip r:embed="rId4">
            <a:alphaModFix/>
          </a:blip>
          <a:srcRect b="0" l="0" r="0" t="0"/>
          <a:stretch/>
        </p:blipFill>
        <p:spPr>
          <a:xfrm>
            <a:off x="5330122" y="2045477"/>
            <a:ext cx="3585278" cy="2209835"/>
          </a:xfrm>
          <a:prstGeom prst="rect">
            <a:avLst/>
          </a:prstGeom>
          <a:noFill/>
          <a:ln>
            <a:noFill/>
          </a:ln>
        </p:spPr>
      </p:pic>
      <p:sp>
        <p:nvSpPr>
          <p:cNvPr id="756" name="Google Shape;756;p40"/>
          <p:cNvSpPr txBox="1"/>
          <p:nvPr/>
        </p:nvSpPr>
        <p:spPr>
          <a:xfrm>
            <a:off x="822962" y="1200150"/>
            <a:ext cx="7543801" cy="3429000"/>
          </a:xfrm>
          <a:prstGeom prst="rect">
            <a:avLst/>
          </a:prstGeom>
          <a:noFill/>
          <a:ln>
            <a:noFill/>
          </a:ln>
        </p:spPr>
        <p:txBody>
          <a:bodyPr anchorCtr="0" anchor="t" bIns="34275" lIns="0" spcFirstLastPara="1" rIns="0" wrap="square" tIns="34275">
            <a:normAutofit/>
          </a:bodyPr>
          <a:lstStyle/>
          <a:p>
            <a:pPr indent="-10584" lvl="0" marL="10584" marR="0" rtl="0" algn="l">
              <a:lnSpc>
                <a:spcPct val="90000"/>
              </a:lnSpc>
              <a:spcBef>
                <a:spcPts val="0"/>
              </a:spcBef>
              <a:spcAft>
                <a:spcPts val="0"/>
              </a:spcAft>
              <a:buClr>
                <a:schemeClr val="accent1"/>
              </a:buClr>
              <a:buSzPts val="2800"/>
              <a:buFont typeface="Calibri"/>
              <a:buNone/>
            </a:pPr>
            <a:r>
              <a:rPr lang="en-US" sz="2800">
                <a:solidFill>
                  <a:srgbClr val="3F3F3F"/>
                </a:solidFill>
                <a:latin typeface="Calibri"/>
                <a:ea typeface="Calibri"/>
                <a:cs typeface="Calibri"/>
                <a:sym typeface="Calibri"/>
              </a:rPr>
              <a:t>Instead of:					We'll do this:</a:t>
            </a:r>
            <a:endParaRPr sz="2800">
              <a:solidFill>
                <a:srgbClr val="3F3F3F"/>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41"/>
          <p:cNvSpPr txBox="1"/>
          <p:nvPr>
            <p:ph type="title"/>
          </p:nvPr>
        </p:nvSpPr>
        <p:spPr>
          <a:xfrm>
            <a:off x="342900" y="445769"/>
            <a:ext cx="2400300" cy="1714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chemeClr val="lt1"/>
              </a:buClr>
              <a:buSzPct val="100000"/>
              <a:buFont typeface="Calibri"/>
              <a:buNone/>
            </a:pPr>
            <a:r>
              <a:rPr lang="en-US" sz="3000">
                <a:solidFill>
                  <a:schemeClr val="lt1"/>
                </a:solidFill>
              </a:rPr>
              <a:t>Simple Neural Networks and Neural Language Models</a:t>
            </a:r>
            <a:endParaRPr sz="3000">
              <a:solidFill>
                <a:schemeClr val="lt1"/>
              </a:solidFill>
            </a:endParaRPr>
          </a:p>
        </p:txBody>
      </p:sp>
      <p:sp>
        <p:nvSpPr>
          <p:cNvPr id="763" name="Google Shape;763;p41"/>
          <p:cNvSpPr txBox="1"/>
          <p:nvPr>
            <p:ph idx="1" type="body"/>
          </p:nvPr>
        </p:nvSpPr>
        <p:spPr>
          <a:xfrm>
            <a:off x="3460240" y="548640"/>
            <a:ext cx="5009393" cy="3943350"/>
          </a:xfrm>
          <a:prstGeom prst="rect">
            <a:avLst/>
          </a:prstGeom>
          <a:noFill/>
          <a:ln>
            <a:noFill/>
          </a:ln>
        </p:spPr>
        <p:txBody>
          <a:bodyPr anchorCtr="0" anchor="t" bIns="45700" lIns="0" spcFirstLastPara="1" rIns="0" wrap="square" tIns="45700">
            <a:normAutofit/>
          </a:bodyPr>
          <a:lstStyle/>
          <a:p>
            <a:pPr indent="-190500" lvl="0" marL="68577" rtl="0" algn="l">
              <a:lnSpc>
                <a:spcPct val="90000"/>
              </a:lnSpc>
              <a:spcBef>
                <a:spcPts val="0"/>
              </a:spcBef>
              <a:spcAft>
                <a:spcPts val="0"/>
              </a:spcAft>
              <a:buSzPts val="3000"/>
              <a:buChar char=" "/>
            </a:pPr>
            <a:r>
              <a:rPr lang="en-US" sz="3000">
                <a:solidFill>
                  <a:schemeClr val="dk2"/>
                </a:solidFill>
              </a:rPr>
              <a:t>Feedforward Neural Networks</a:t>
            </a:r>
            <a:endParaRPr/>
          </a:p>
        </p:txBody>
      </p:sp>
      <p:sp>
        <p:nvSpPr>
          <p:cNvPr id="764" name="Google Shape;764;p41"/>
          <p:cNvSpPr txBox="1"/>
          <p:nvPr>
            <p:ph idx="2" type="body"/>
          </p:nvPr>
        </p:nvSpPr>
        <p:spPr>
          <a:xfrm>
            <a:off x="342900" y="2194562"/>
            <a:ext cx="2400300" cy="25343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125"/>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42"/>
          <p:cNvSpPr txBox="1"/>
          <p:nvPr>
            <p:ph type="title"/>
          </p:nvPr>
        </p:nvSpPr>
        <p:spPr>
          <a:xfrm>
            <a:off x="342900" y="445769"/>
            <a:ext cx="2400300" cy="1714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chemeClr val="lt1"/>
              </a:buClr>
              <a:buSzPct val="100000"/>
              <a:buFont typeface="Calibri"/>
              <a:buNone/>
            </a:pPr>
            <a:r>
              <a:rPr lang="en-US" sz="3000">
                <a:solidFill>
                  <a:schemeClr val="lt1"/>
                </a:solidFill>
              </a:rPr>
              <a:t>Simple Neural Networks and Neural Language Models</a:t>
            </a:r>
            <a:endParaRPr sz="3000">
              <a:solidFill>
                <a:schemeClr val="lt1"/>
              </a:solidFill>
            </a:endParaRPr>
          </a:p>
        </p:txBody>
      </p:sp>
      <p:sp>
        <p:nvSpPr>
          <p:cNvPr id="771" name="Google Shape;771;p42"/>
          <p:cNvSpPr txBox="1"/>
          <p:nvPr>
            <p:ph idx="1" type="body"/>
          </p:nvPr>
        </p:nvSpPr>
        <p:spPr>
          <a:xfrm>
            <a:off x="3460240" y="445769"/>
            <a:ext cx="5009393" cy="4046221"/>
          </a:xfrm>
          <a:prstGeom prst="rect">
            <a:avLst/>
          </a:prstGeom>
          <a:noFill/>
          <a:ln>
            <a:noFill/>
          </a:ln>
        </p:spPr>
        <p:txBody>
          <a:bodyPr anchorCtr="0" anchor="t" bIns="45700" lIns="0" spcFirstLastPara="1" rIns="0" wrap="square" tIns="45700">
            <a:normAutofit/>
          </a:bodyPr>
          <a:lstStyle/>
          <a:p>
            <a:pPr indent="-190500" lvl="0" marL="68577" rtl="0" algn="l">
              <a:lnSpc>
                <a:spcPct val="90000"/>
              </a:lnSpc>
              <a:spcBef>
                <a:spcPts val="0"/>
              </a:spcBef>
              <a:spcAft>
                <a:spcPts val="0"/>
              </a:spcAft>
              <a:buSzPts val="3000"/>
              <a:buChar char=" "/>
            </a:pPr>
            <a:r>
              <a:rPr lang="en-US" sz="3000">
                <a:solidFill>
                  <a:schemeClr val="dk2"/>
                </a:solidFill>
              </a:rPr>
              <a:t>Applying feedforward networks to NLP tasks</a:t>
            </a:r>
            <a:endParaRPr/>
          </a:p>
        </p:txBody>
      </p:sp>
      <p:sp>
        <p:nvSpPr>
          <p:cNvPr id="772" name="Google Shape;772;p42"/>
          <p:cNvSpPr txBox="1"/>
          <p:nvPr>
            <p:ph idx="2" type="body"/>
          </p:nvPr>
        </p:nvSpPr>
        <p:spPr>
          <a:xfrm>
            <a:off x="342900" y="2194562"/>
            <a:ext cx="2400300" cy="25343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125"/>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43"/>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Use cases for feedforward networks</a:t>
            </a:r>
            <a:endParaRPr b="0"/>
          </a:p>
        </p:txBody>
      </p:sp>
      <p:sp>
        <p:nvSpPr>
          <p:cNvPr id="778" name="Google Shape;778;p43"/>
          <p:cNvSpPr txBox="1"/>
          <p:nvPr>
            <p:ph idx="1" type="body"/>
          </p:nvPr>
        </p:nvSpPr>
        <p:spPr>
          <a:xfrm>
            <a:off x="822960" y="1123950"/>
            <a:ext cx="8016238" cy="401955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Let's consider 2 (simplified) sample tasks:</a:t>
            </a:r>
            <a:endParaRPr/>
          </a:p>
          <a:p>
            <a:pPr indent="-457200" lvl="1" marL="608005" rtl="0" algn="l">
              <a:lnSpc>
                <a:spcPct val="100000"/>
              </a:lnSpc>
              <a:spcBef>
                <a:spcPts val="300"/>
              </a:spcBef>
              <a:spcAft>
                <a:spcPts val="0"/>
              </a:spcAft>
              <a:buSzPts val="2800"/>
              <a:buFont typeface="Calibri"/>
              <a:buAutoNum type="arabicPeriod"/>
            </a:pPr>
            <a:r>
              <a:rPr lang="en-US" sz="2800"/>
              <a:t>Text classification</a:t>
            </a:r>
            <a:endParaRPr/>
          </a:p>
          <a:p>
            <a:pPr indent="-457200" lvl="1" marL="608005" rtl="0" algn="l">
              <a:lnSpc>
                <a:spcPct val="100000"/>
              </a:lnSpc>
              <a:spcBef>
                <a:spcPts val="1050"/>
              </a:spcBef>
              <a:spcAft>
                <a:spcPts val="0"/>
              </a:spcAft>
              <a:buSzPts val="2800"/>
              <a:buFont typeface="Calibri"/>
              <a:buAutoNum type="arabicPeriod"/>
            </a:pPr>
            <a:r>
              <a:rPr lang="en-US" sz="2800"/>
              <a:t>Language modeling</a:t>
            </a:r>
            <a:endParaRPr/>
          </a:p>
          <a:p>
            <a:pPr indent="0" lvl="0" marL="0" rtl="0" algn="l">
              <a:lnSpc>
                <a:spcPct val="90000"/>
              </a:lnSpc>
              <a:spcBef>
                <a:spcPts val="1800"/>
              </a:spcBef>
              <a:spcAft>
                <a:spcPts val="0"/>
              </a:spcAft>
              <a:buSzPts val="900"/>
              <a:buNone/>
            </a:pPr>
            <a:r>
              <a:t/>
            </a:r>
            <a:endParaRPr sz="900"/>
          </a:p>
          <a:p>
            <a:pPr indent="0" lvl="0" marL="0" rtl="0" algn="l">
              <a:lnSpc>
                <a:spcPct val="90000"/>
              </a:lnSpc>
              <a:spcBef>
                <a:spcPts val="1050"/>
              </a:spcBef>
              <a:spcAft>
                <a:spcPts val="0"/>
              </a:spcAft>
              <a:buSzPts val="2800"/>
              <a:buNone/>
            </a:pPr>
            <a:r>
              <a:rPr lang="en-US"/>
              <a:t>State of the art systems use more powerful neural architectures, but simple models are useful to consider!</a:t>
            </a:r>
            <a:endParaRPr/>
          </a:p>
        </p:txBody>
      </p:sp>
      <p:sp>
        <p:nvSpPr>
          <p:cNvPr id="779" name="Google Shape;779;p43"/>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44"/>
          <p:cNvSpPr txBox="1"/>
          <p:nvPr>
            <p:ph type="title"/>
          </p:nvPr>
        </p:nvSpPr>
        <p:spPr>
          <a:xfrm>
            <a:off x="800100" y="133350"/>
            <a:ext cx="8191500" cy="8001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Classification: Sentiment Analysis</a:t>
            </a:r>
            <a:endParaRPr/>
          </a:p>
        </p:txBody>
      </p:sp>
      <p:sp>
        <p:nvSpPr>
          <p:cNvPr id="785" name="Google Shape;785;p44"/>
          <p:cNvSpPr txBox="1"/>
          <p:nvPr>
            <p:ph idx="1" type="body"/>
          </p:nvPr>
        </p:nvSpPr>
        <p:spPr>
          <a:xfrm>
            <a:off x="857251" y="1352550"/>
            <a:ext cx="7283918" cy="35052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We could do exactly what we did with logistic regression</a:t>
            </a:r>
            <a:endParaRPr/>
          </a:p>
          <a:p>
            <a:pPr indent="-7938" lvl="0" marL="7938" rtl="0" algn="l">
              <a:lnSpc>
                <a:spcPct val="90000"/>
              </a:lnSpc>
              <a:spcBef>
                <a:spcPts val="1050"/>
              </a:spcBef>
              <a:spcAft>
                <a:spcPts val="0"/>
              </a:spcAft>
              <a:buSzPts val="2800"/>
              <a:buNone/>
            </a:pPr>
            <a:r>
              <a:rPr lang="en-US"/>
              <a:t>Input layer are binary features as before</a:t>
            </a:r>
            <a:endParaRPr/>
          </a:p>
          <a:p>
            <a:pPr indent="-7938" lvl="0" marL="7938" rtl="0" algn="l">
              <a:lnSpc>
                <a:spcPct val="90000"/>
              </a:lnSpc>
              <a:spcBef>
                <a:spcPts val="1050"/>
              </a:spcBef>
              <a:spcAft>
                <a:spcPts val="0"/>
              </a:spcAft>
              <a:buSzPts val="2800"/>
              <a:buNone/>
            </a:pPr>
            <a:r>
              <a:rPr lang="en-US"/>
              <a:t>Output layer is 0 or 1</a:t>
            </a:r>
            <a:endParaRPr/>
          </a:p>
        </p:txBody>
      </p:sp>
      <p:grpSp>
        <p:nvGrpSpPr>
          <p:cNvPr id="786" name="Google Shape;786;p44"/>
          <p:cNvGrpSpPr/>
          <p:nvPr/>
        </p:nvGrpSpPr>
        <p:grpSpPr>
          <a:xfrm>
            <a:off x="6553200" y="2698135"/>
            <a:ext cx="2667000" cy="2468463"/>
            <a:chOff x="1997416" y="1094195"/>
            <a:chExt cx="5712473" cy="4285206"/>
          </a:xfrm>
        </p:grpSpPr>
        <p:sp>
          <p:nvSpPr>
            <p:cNvPr id="787" name="Google Shape;787;p44"/>
            <p:cNvSpPr/>
            <p:nvPr/>
          </p:nvSpPr>
          <p:spPr>
            <a:xfrm>
              <a:off x="3581401" y="2724150"/>
              <a:ext cx="381001" cy="826450"/>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788" name="Google Shape;788;p44"/>
            <p:cNvSpPr/>
            <p:nvPr/>
          </p:nvSpPr>
          <p:spPr>
            <a:xfrm>
              <a:off x="3429000" y="2541993"/>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789" name="Google Shape;789;p44"/>
            <p:cNvSpPr/>
            <p:nvPr/>
          </p:nvSpPr>
          <p:spPr>
            <a:xfrm>
              <a:off x="4267202" y="1094195"/>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790" name="Google Shape;790;p44"/>
            <p:cNvSpPr/>
            <p:nvPr/>
          </p:nvSpPr>
          <p:spPr>
            <a:xfrm>
              <a:off x="5105397" y="2541993"/>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791" name="Google Shape;791;p44"/>
            <p:cNvSpPr/>
            <p:nvPr/>
          </p:nvSpPr>
          <p:spPr>
            <a:xfrm>
              <a:off x="4267202" y="2541993"/>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792" name="Google Shape;792;p44"/>
            <p:cNvCxnSpPr>
              <a:stCxn id="788" idx="0"/>
              <a:endCxn id="789" idx="3"/>
            </p:cNvCxnSpPr>
            <p:nvPr/>
          </p:nvCxnSpPr>
          <p:spPr>
            <a:xfrm flipH="1" rot="10800000">
              <a:off x="3803833" y="1799493"/>
              <a:ext cx="573300" cy="742500"/>
            </a:xfrm>
            <a:prstGeom prst="straightConnector1">
              <a:avLst/>
            </a:prstGeom>
            <a:noFill/>
            <a:ln>
              <a:noFill/>
            </a:ln>
          </p:spPr>
        </p:cxnSp>
        <p:cxnSp>
          <p:nvCxnSpPr>
            <p:cNvPr id="793" name="Google Shape;793;p44"/>
            <p:cNvCxnSpPr>
              <a:stCxn id="791" idx="0"/>
              <a:endCxn id="789" idx="4"/>
            </p:cNvCxnSpPr>
            <p:nvPr/>
          </p:nvCxnSpPr>
          <p:spPr>
            <a:xfrm rot="10800000">
              <a:off x="4642035" y="1920693"/>
              <a:ext cx="0" cy="621300"/>
            </a:xfrm>
            <a:prstGeom prst="straightConnector1">
              <a:avLst/>
            </a:prstGeom>
            <a:noFill/>
            <a:ln cap="flat" cmpd="sng" w="9525">
              <a:solidFill>
                <a:schemeClr val="dk1"/>
              </a:solidFill>
              <a:prstDash val="solid"/>
              <a:round/>
              <a:headEnd len="sm" w="sm" type="none"/>
              <a:tailEnd len="med" w="med" type="stealth"/>
            </a:ln>
          </p:spPr>
        </p:cxnSp>
        <p:cxnSp>
          <p:nvCxnSpPr>
            <p:cNvPr id="794" name="Google Shape;794;p44"/>
            <p:cNvCxnSpPr>
              <a:stCxn id="790" idx="0"/>
              <a:endCxn id="789" idx="4"/>
            </p:cNvCxnSpPr>
            <p:nvPr/>
          </p:nvCxnSpPr>
          <p:spPr>
            <a:xfrm rot="10800000">
              <a:off x="4642030" y="1920693"/>
              <a:ext cx="838200" cy="621300"/>
            </a:xfrm>
            <a:prstGeom prst="straightConnector1">
              <a:avLst/>
            </a:prstGeom>
            <a:noFill/>
            <a:ln cap="flat" cmpd="sng" w="9525">
              <a:solidFill>
                <a:schemeClr val="dk1"/>
              </a:solidFill>
              <a:prstDash val="solid"/>
              <a:round/>
              <a:headEnd len="sm" w="sm" type="none"/>
              <a:tailEnd len="med" w="med" type="stealth"/>
            </a:ln>
          </p:spPr>
        </p:cxnSp>
        <p:cxnSp>
          <p:nvCxnSpPr>
            <p:cNvPr id="795" name="Google Shape;795;p44"/>
            <p:cNvCxnSpPr>
              <a:stCxn id="788" idx="7"/>
              <a:endCxn id="789" idx="4"/>
            </p:cNvCxnSpPr>
            <p:nvPr/>
          </p:nvCxnSpPr>
          <p:spPr>
            <a:xfrm flipH="1" rot="10800000">
              <a:off x="4068880" y="1920524"/>
              <a:ext cx="573300" cy="742500"/>
            </a:xfrm>
            <a:prstGeom prst="straightConnector1">
              <a:avLst/>
            </a:prstGeom>
            <a:noFill/>
            <a:ln cap="flat" cmpd="sng" w="9525">
              <a:solidFill>
                <a:schemeClr val="dk1"/>
              </a:solidFill>
              <a:prstDash val="solid"/>
              <a:round/>
              <a:headEnd len="sm" w="sm" type="none"/>
              <a:tailEnd len="med" w="med" type="stealth"/>
            </a:ln>
          </p:spPr>
        </p:cxnSp>
        <p:sp>
          <p:nvSpPr>
            <p:cNvPr id="796" name="Google Shape;796;p44"/>
            <p:cNvSpPr/>
            <p:nvPr/>
          </p:nvSpPr>
          <p:spPr>
            <a:xfrm>
              <a:off x="3962399" y="4552951"/>
              <a:ext cx="381001" cy="826450"/>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797" name="Google Shape;797;p44"/>
            <p:cNvSpPr/>
            <p:nvPr/>
          </p:nvSpPr>
          <p:spPr>
            <a:xfrm>
              <a:off x="2057400"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798" name="Google Shape;798;p44"/>
            <p:cNvSpPr/>
            <p:nvPr/>
          </p:nvSpPr>
          <p:spPr>
            <a:xfrm>
              <a:off x="5867398"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799" name="Google Shape;799;p44"/>
            <p:cNvSpPr/>
            <p:nvPr/>
          </p:nvSpPr>
          <p:spPr>
            <a:xfrm>
              <a:off x="4571999"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800" name="Google Shape;800;p44"/>
            <p:cNvSpPr/>
            <p:nvPr/>
          </p:nvSpPr>
          <p:spPr>
            <a:xfrm>
              <a:off x="3200400"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801" name="Google Shape;801;p44"/>
            <p:cNvCxnSpPr>
              <a:stCxn id="797" idx="0"/>
            </p:cNvCxnSpPr>
            <p:nvPr/>
          </p:nvCxnSpPr>
          <p:spPr>
            <a:xfrm flipH="1" rot="10800000">
              <a:off x="2432233" y="3049296"/>
              <a:ext cx="2271900" cy="1321500"/>
            </a:xfrm>
            <a:prstGeom prst="straightConnector1">
              <a:avLst/>
            </a:prstGeom>
            <a:noFill/>
            <a:ln>
              <a:noFill/>
            </a:ln>
          </p:spPr>
        </p:cxnSp>
        <p:cxnSp>
          <p:nvCxnSpPr>
            <p:cNvPr id="802" name="Google Shape;802;p44"/>
            <p:cNvCxnSpPr>
              <a:stCxn id="800" idx="0"/>
              <a:endCxn id="788" idx="4"/>
            </p:cNvCxnSpPr>
            <p:nvPr/>
          </p:nvCxnSpPr>
          <p:spPr>
            <a:xfrm flipH="1" rot="10800000">
              <a:off x="3575233" y="3368496"/>
              <a:ext cx="228600" cy="1002300"/>
            </a:xfrm>
            <a:prstGeom prst="straightConnector1">
              <a:avLst/>
            </a:prstGeom>
            <a:noFill/>
            <a:ln cap="flat" cmpd="sng" w="9525">
              <a:solidFill>
                <a:schemeClr val="dk1"/>
              </a:solidFill>
              <a:prstDash val="solid"/>
              <a:round/>
              <a:headEnd len="sm" w="sm" type="none"/>
              <a:tailEnd len="med" w="med" type="stealth"/>
            </a:ln>
          </p:spPr>
        </p:cxnSp>
        <p:cxnSp>
          <p:nvCxnSpPr>
            <p:cNvPr id="803" name="Google Shape;803;p44"/>
            <p:cNvCxnSpPr>
              <a:stCxn id="799" idx="0"/>
              <a:endCxn id="788" idx="4"/>
            </p:cNvCxnSpPr>
            <p:nvPr/>
          </p:nvCxnSpPr>
          <p:spPr>
            <a:xfrm rot="10800000">
              <a:off x="3803832" y="3368496"/>
              <a:ext cx="1143000" cy="1002300"/>
            </a:xfrm>
            <a:prstGeom prst="straightConnector1">
              <a:avLst/>
            </a:prstGeom>
            <a:noFill/>
            <a:ln cap="flat" cmpd="sng" w="9525">
              <a:solidFill>
                <a:schemeClr val="dk1"/>
              </a:solidFill>
              <a:prstDash val="solid"/>
              <a:round/>
              <a:headEnd len="sm" w="sm" type="none"/>
              <a:tailEnd len="med" w="med" type="stealth"/>
            </a:ln>
          </p:spPr>
        </p:cxnSp>
        <p:cxnSp>
          <p:nvCxnSpPr>
            <p:cNvPr id="804" name="Google Shape;804;p44"/>
            <p:cNvCxnSpPr>
              <a:stCxn id="798" idx="0"/>
              <a:endCxn id="788" idx="4"/>
            </p:cNvCxnSpPr>
            <p:nvPr/>
          </p:nvCxnSpPr>
          <p:spPr>
            <a:xfrm rot="10800000">
              <a:off x="3803831" y="3368496"/>
              <a:ext cx="2438400" cy="1002300"/>
            </a:xfrm>
            <a:prstGeom prst="straightConnector1">
              <a:avLst/>
            </a:prstGeom>
            <a:noFill/>
            <a:ln cap="flat" cmpd="sng" w="9525">
              <a:solidFill>
                <a:schemeClr val="dk1"/>
              </a:solidFill>
              <a:prstDash val="solid"/>
              <a:round/>
              <a:headEnd len="sm" w="sm" type="none"/>
              <a:tailEnd len="med" w="med" type="stealth"/>
            </a:ln>
          </p:spPr>
        </p:cxnSp>
        <p:cxnSp>
          <p:nvCxnSpPr>
            <p:cNvPr id="805" name="Google Shape;805;p44"/>
            <p:cNvCxnSpPr>
              <a:stCxn id="797" idx="7"/>
              <a:endCxn id="788" idx="4"/>
            </p:cNvCxnSpPr>
            <p:nvPr/>
          </p:nvCxnSpPr>
          <p:spPr>
            <a:xfrm flipH="1" rot="10800000">
              <a:off x="2697280" y="3368327"/>
              <a:ext cx="1106700" cy="1123500"/>
            </a:xfrm>
            <a:prstGeom prst="straightConnector1">
              <a:avLst/>
            </a:prstGeom>
            <a:noFill/>
            <a:ln cap="flat" cmpd="sng" w="9525">
              <a:solidFill>
                <a:schemeClr val="dk1"/>
              </a:solidFill>
              <a:prstDash val="solid"/>
              <a:round/>
              <a:headEnd len="sm" w="sm" type="none"/>
              <a:tailEnd len="med" w="med" type="stealth"/>
            </a:ln>
          </p:spPr>
        </p:cxnSp>
        <p:sp>
          <p:nvSpPr>
            <p:cNvPr id="806" name="Google Shape;806;p44"/>
            <p:cNvSpPr/>
            <p:nvPr/>
          </p:nvSpPr>
          <p:spPr>
            <a:xfrm>
              <a:off x="6781800" y="4413642"/>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807" name="Google Shape;807;p44"/>
            <p:cNvCxnSpPr>
              <a:stCxn id="806" idx="0"/>
              <a:endCxn id="788" idx="4"/>
            </p:cNvCxnSpPr>
            <p:nvPr/>
          </p:nvCxnSpPr>
          <p:spPr>
            <a:xfrm rot="10800000">
              <a:off x="3803833" y="3368442"/>
              <a:ext cx="3352800" cy="1045200"/>
            </a:xfrm>
            <a:prstGeom prst="straightConnector1">
              <a:avLst/>
            </a:prstGeom>
            <a:noFill/>
            <a:ln cap="flat" cmpd="sng" w="9525">
              <a:solidFill>
                <a:schemeClr val="dk1"/>
              </a:solidFill>
              <a:prstDash val="solid"/>
              <a:round/>
              <a:headEnd len="sm" w="sm" type="none"/>
              <a:tailEnd len="med" w="med" type="stealth"/>
            </a:ln>
          </p:spPr>
        </p:cxnSp>
        <p:cxnSp>
          <p:nvCxnSpPr>
            <p:cNvPr id="808" name="Google Shape;808;p44"/>
            <p:cNvCxnSpPr>
              <a:stCxn id="797" idx="7"/>
              <a:endCxn id="791" idx="4"/>
            </p:cNvCxnSpPr>
            <p:nvPr/>
          </p:nvCxnSpPr>
          <p:spPr>
            <a:xfrm flipH="1" rot="10800000">
              <a:off x="2697280" y="3368327"/>
              <a:ext cx="1944900" cy="1123500"/>
            </a:xfrm>
            <a:prstGeom prst="straightConnector1">
              <a:avLst/>
            </a:prstGeom>
            <a:noFill/>
            <a:ln cap="flat" cmpd="sng" w="9525">
              <a:solidFill>
                <a:schemeClr val="dk1"/>
              </a:solidFill>
              <a:prstDash val="solid"/>
              <a:round/>
              <a:headEnd len="sm" w="sm" type="none"/>
              <a:tailEnd len="med" w="med" type="stealth"/>
            </a:ln>
          </p:spPr>
        </p:cxnSp>
        <p:cxnSp>
          <p:nvCxnSpPr>
            <p:cNvPr id="809" name="Google Shape;809;p44"/>
            <p:cNvCxnSpPr>
              <a:stCxn id="797" idx="7"/>
              <a:endCxn id="790" idx="4"/>
            </p:cNvCxnSpPr>
            <p:nvPr/>
          </p:nvCxnSpPr>
          <p:spPr>
            <a:xfrm flipH="1" rot="10800000">
              <a:off x="2697280" y="3368327"/>
              <a:ext cx="2783100" cy="1123500"/>
            </a:xfrm>
            <a:prstGeom prst="straightConnector1">
              <a:avLst/>
            </a:prstGeom>
            <a:noFill/>
            <a:ln cap="flat" cmpd="sng" w="9525">
              <a:solidFill>
                <a:schemeClr val="dk1"/>
              </a:solidFill>
              <a:prstDash val="solid"/>
              <a:round/>
              <a:headEnd len="sm" w="sm" type="none"/>
              <a:tailEnd len="med" w="med" type="stealth"/>
            </a:ln>
          </p:spPr>
        </p:cxnSp>
        <p:cxnSp>
          <p:nvCxnSpPr>
            <p:cNvPr id="810" name="Google Shape;810;p44"/>
            <p:cNvCxnSpPr>
              <a:stCxn id="806" idx="0"/>
              <a:endCxn id="790" idx="4"/>
            </p:cNvCxnSpPr>
            <p:nvPr/>
          </p:nvCxnSpPr>
          <p:spPr>
            <a:xfrm rot="10800000">
              <a:off x="5480233" y="3368442"/>
              <a:ext cx="1676400" cy="1045200"/>
            </a:xfrm>
            <a:prstGeom prst="straightConnector1">
              <a:avLst/>
            </a:prstGeom>
            <a:noFill/>
            <a:ln cap="flat" cmpd="sng" w="9525">
              <a:solidFill>
                <a:schemeClr val="dk1"/>
              </a:solidFill>
              <a:prstDash val="solid"/>
              <a:round/>
              <a:headEnd len="sm" w="sm" type="none"/>
              <a:tailEnd len="med" w="med" type="stealth"/>
            </a:ln>
          </p:spPr>
        </p:cxnSp>
        <p:cxnSp>
          <p:nvCxnSpPr>
            <p:cNvPr id="811" name="Google Shape;811;p44"/>
            <p:cNvCxnSpPr>
              <a:stCxn id="806" idx="0"/>
              <a:endCxn id="791" idx="4"/>
            </p:cNvCxnSpPr>
            <p:nvPr/>
          </p:nvCxnSpPr>
          <p:spPr>
            <a:xfrm rot="10800000">
              <a:off x="4642033" y="3368442"/>
              <a:ext cx="2514600" cy="1045200"/>
            </a:xfrm>
            <a:prstGeom prst="straightConnector1">
              <a:avLst/>
            </a:prstGeom>
            <a:noFill/>
            <a:ln cap="flat" cmpd="sng" w="9525">
              <a:solidFill>
                <a:schemeClr val="dk1"/>
              </a:solidFill>
              <a:prstDash val="solid"/>
              <a:round/>
              <a:headEnd len="sm" w="sm" type="none"/>
              <a:tailEnd len="med" w="med" type="stealth"/>
            </a:ln>
          </p:spPr>
        </p:cxnSp>
        <p:cxnSp>
          <p:nvCxnSpPr>
            <p:cNvPr id="812" name="Google Shape;812;p44"/>
            <p:cNvCxnSpPr>
              <a:stCxn id="798" idx="0"/>
              <a:endCxn id="791" idx="4"/>
            </p:cNvCxnSpPr>
            <p:nvPr/>
          </p:nvCxnSpPr>
          <p:spPr>
            <a:xfrm rot="10800000">
              <a:off x="4642031" y="3368496"/>
              <a:ext cx="1600200" cy="1002300"/>
            </a:xfrm>
            <a:prstGeom prst="straightConnector1">
              <a:avLst/>
            </a:prstGeom>
            <a:noFill/>
            <a:ln cap="flat" cmpd="sng" w="9525">
              <a:solidFill>
                <a:schemeClr val="dk1"/>
              </a:solidFill>
              <a:prstDash val="solid"/>
              <a:round/>
              <a:headEnd len="sm" w="sm" type="none"/>
              <a:tailEnd len="med" w="med" type="stealth"/>
            </a:ln>
          </p:spPr>
        </p:cxnSp>
        <p:cxnSp>
          <p:nvCxnSpPr>
            <p:cNvPr id="813" name="Google Shape;813;p44"/>
            <p:cNvCxnSpPr>
              <a:stCxn id="798" idx="0"/>
              <a:endCxn id="790" idx="4"/>
            </p:cNvCxnSpPr>
            <p:nvPr/>
          </p:nvCxnSpPr>
          <p:spPr>
            <a:xfrm rot="10800000">
              <a:off x="5480231" y="3368496"/>
              <a:ext cx="762000" cy="1002300"/>
            </a:xfrm>
            <a:prstGeom prst="straightConnector1">
              <a:avLst/>
            </a:prstGeom>
            <a:noFill/>
            <a:ln cap="flat" cmpd="sng" w="9525">
              <a:solidFill>
                <a:schemeClr val="dk1"/>
              </a:solidFill>
              <a:prstDash val="solid"/>
              <a:round/>
              <a:headEnd len="sm" w="sm" type="none"/>
              <a:tailEnd len="med" w="med" type="stealth"/>
            </a:ln>
          </p:spPr>
        </p:cxnSp>
        <p:cxnSp>
          <p:nvCxnSpPr>
            <p:cNvPr id="814" name="Google Shape;814;p44"/>
            <p:cNvCxnSpPr>
              <a:stCxn id="799" idx="0"/>
              <a:endCxn id="791" idx="4"/>
            </p:cNvCxnSpPr>
            <p:nvPr/>
          </p:nvCxnSpPr>
          <p:spPr>
            <a:xfrm rot="10800000">
              <a:off x="4642032" y="3368496"/>
              <a:ext cx="304800" cy="1002300"/>
            </a:xfrm>
            <a:prstGeom prst="straightConnector1">
              <a:avLst/>
            </a:prstGeom>
            <a:noFill/>
            <a:ln cap="flat" cmpd="sng" w="9525">
              <a:solidFill>
                <a:schemeClr val="dk1"/>
              </a:solidFill>
              <a:prstDash val="solid"/>
              <a:round/>
              <a:headEnd len="sm" w="sm" type="none"/>
              <a:tailEnd len="med" w="med" type="stealth"/>
            </a:ln>
          </p:spPr>
        </p:cxnSp>
        <p:cxnSp>
          <p:nvCxnSpPr>
            <p:cNvPr id="815" name="Google Shape;815;p44"/>
            <p:cNvCxnSpPr>
              <a:stCxn id="799" idx="0"/>
              <a:endCxn id="790" idx="4"/>
            </p:cNvCxnSpPr>
            <p:nvPr/>
          </p:nvCxnSpPr>
          <p:spPr>
            <a:xfrm flipH="1" rot="10800000">
              <a:off x="4946832" y="3368496"/>
              <a:ext cx="533400" cy="1002300"/>
            </a:xfrm>
            <a:prstGeom prst="straightConnector1">
              <a:avLst/>
            </a:prstGeom>
            <a:noFill/>
            <a:ln cap="flat" cmpd="sng" w="9525">
              <a:solidFill>
                <a:schemeClr val="dk1"/>
              </a:solidFill>
              <a:prstDash val="solid"/>
              <a:round/>
              <a:headEnd len="sm" w="sm" type="none"/>
              <a:tailEnd len="med" w="med" type="stealth"/>
            </a:ln>
          </p:spPr>
        </p:cxnSp>
        <p:cxnSp>
          <p:nvCxnSpPr>
            <p:cNvPr id="816" name="Google Shape;816;p44"/>
            <p:cNvCxnSpPr>
              <a:stCxn id="800" idx="0"/>
              <a:endCxn id="791" idx="4"/>
            </p:cNvCxnSpPr>
            <p:nvPr/>
          </p:nvCxnSpPr>
          <p:spPr>
            <a:xfrm flipH="1" rot="10800000">
              <a:off x="3575233" y="3368496"/>
              <a:ext cx="1066800" cy="1002300"/>
            </a:xfrm>
            <a:prstGeom prst="straightConnector1">
              <a:avLst/>
            </a:prstGeom>
            <a:noFill/>
            <a:ln cap="flat" cmpd="sng" w="9525">
              <a:solidFill>
                <a:schemeClr val="dk1"/>
              </a:solidFill>
              <a:prstDash val="solid"/>
              <a:round/>
              <a:headEnd len="sm" w="sm" type="none"/>
              <a:tailEnd len="med" w="med" type="stealth"/>
            </a:ln>
          </p:spPr>
        </p:cxnSp>
        <p:cxnSp>
          <p:nvCxnSpPr>
            <p:cNvPr id="817" name="Google Shape;817;p44"/>
            <p:cNvCxnSpPr>
              <a:stCxn id="800" idx="0"/>
              <a:endCxn id="790" idx="4"/>
            </p:cNvCxnSpPr>
            <p:nvPr/>
          </p:nvCxnSpPr>
          <p:spPr>
            <a:xfrm flipH="1" rot="10800000">
              <a:off x="3575233" y="3368496"/>
              <a:ext cx="1905000" cy="1002300"/>
            </a:xfrm>
            <a:prstGeom prst="straightConnector1">
              <a:avLst/>
            </a:prstGeom>
            <a:noFill/>
            <a:ln cap="flat" cmpd="sng" w="9525">
              <a:solidFill>
                <a:schemeClr val="dk1"/>
              </a:solidFill>
              <a:prstDash val="solid"/>
              <a:round/>
              <a:headEnd len="sm" w="sm" type="none"/>
              <a:tailEnd len="med" w="med" type="stealth"/>
            </a:ln>
          </p:spPr>
        </p:cxnSp>
        <p:sp>
          <p:nvSpPr>
            <p:cNvPr id="818" name="Google Shape;818;p44"/>
            <p:cNvSpPr txBox="1"/>
            <p:nvPr/>
          </p:nvSpPr>
          <p:spPr>
            <a:xfrm>
              <a:off x="3047999" y="1428748"/>
              <a:ext cx="457199" cy="90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590A0E"/>
                  </a:solidFill>
                  <a:latin typeface="Calibri"/>
                  <a:ea typeface="Calibri"/>
                  <a:cs typeface="Calibri"/>
                  <a:sym typeface="Calibri"/>
                </a:rPr>
                <a:t>U</a:t>
              </a:r>
              <a:endParaRPr/>
            </a:p>
          </p:txBody>
        </p:sp>
        <p:sp>
          <p:nvSpPr>
            <p:cNvPr id="819" name="Google Shape;819;p44"/>
            <p:cNvSpPr txBox="1"/>
            <p:nvPr/>
          </p:nvSpPr>
          <p:spPr>
            <a:xfrm>
              <a:off x="2057400" y="3105151"/>
              <a:ext cx="457199" cy="90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590A0E"/>
                  </a:solidFill>
                  <a:latin typeface="Calibri"/>
                  <a:ea typeface="Calibri"/>
                  <a:cs typeface="Calibri"/>
                  <a:sym typeface="Calibri"/>
                </a:rPr>
                <a:t>W</a:t>
              </a:r>
              <a:endParaRPr/>
            </a:p>
          </p:txBody>
        </p:sp>
        <p:sp>
          <p:nvSpPr>
            <p:cNvPr id="820" name="Google Shape;820;p44"/>
            <p:cNvSpPr txBox="1"/>
            <p:nvPr/>
          </p:nvSpPr>
          <p:spPr>
            <a:xfrm>
              <a:off x="6887912" y="4446401"/>
              <a:ext cx="821977" cy="6945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x</a:t>
              </a:r>
              <a:r>
                <a:rPr baseline="-25000" lang="en-US" sz="2000">
                  <a:solidFill>
                    <a:schemeClr val="dk1"/>
                  </a:solidFill>
                  <a:latin typeface="Calibri"/>
                  <a:ea typeface="Calibri"/>
                  <a:cs typeface="Calibri"/>
                  <a:sym typeface="Calibri"/>
                </a:rPr>
                <a:t>n</a:t>
              </a:r>
              <a:endParaRPr baseline="-25000" sz="1800">
                <a:solidFill>
                  <a:schemeClr val="dk1"/>
                </a:solidFill>
                <a:latin typeface="Calibri"/>
                <a:ea typeface="Calibri"/>
                <a:cs typeface="Calibri"/>
                <a:sym typeface="Calibri"/>
              </a:endParaRPr>
            </a:p>
          </p:txBody>
        </p:sp>
        <p:sp>
          <p:nvSpPr>
            <p:cNvPr id="821" name="Google Shape;821;p44"/>
            <p:cNvSpPr txBox="1"/>
            <p:nvPr/>
          </p:nvSpPr>
          <p:spPr>
            <a:xfrm>
              <a:off x="1997416" y="4446401"/>
              <a:ext cx="1273267" cy="6945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x</a:t>
              </a:r>
              <a:r>
                <a:rPr baseline="-25000" lang="en-US" sz="2000">
                  <a:solidFill>
                    <a:schemeClr val="dk1"/>
                  </a:solidFill>
                  <a:latin typeface="Calibri"/>
                  <a:ea typeface="Calibri"/>
                  <a:cs typeface="Calibri"/>
                  <a:sym typeface="Calibri"/>
                </a:rPr>
                <a:t>1</a:t>
              </a:r>
              <a:endParaRPr baseline="-25000" sz="1800">
                <a:solidFill>
                  <a:schemeClr val="dk1"/>
                </a:solidFill>
                <a:latin typeface="Calibri"/>
                <a:ea typeface="Calibri"/>
                <a:cs typeface="Calibri"/>
                <a:sym typeface="Calibri"/>
              </a:endParaRPr>
            </a:p>
          </p:txBody>
        </p:sp>
      </p:grpSp>
      <p:sp>
        <p:nvSpPr>
          <p:cNvPr id="822" name="Google Shape;822;p44"/>
          <p:cNvSpPr txBox="1"/>
          <p:nvPr/>
        </p:nvSpPr>
        <p:spPr>
          <a:xfrm>
            <a:off x="7618215" y="2633327"/>
            <a:ext cx="37542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σ</a:t>
            </a:r>
            <a:endParaRPr sz="135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45"/>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Sentiment Features</a:t>
            </a:r>
            <a:endParaRPr/>
          </a:p>
        </p:txBody>
      </p:sp>
      <p:sp>
        <p:nvSpPr>
          <p:cNvPr id="828" name="Google Shape;828;p45"/>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829" name="Google Shape;829;p45"/>
          <p:cNvPicPr preferRelativeResize="0"/>
          <p:nvPr/>
        </p:nvPicPr>
        <p:blipFill rotWithShape="1">
          <a:blip r:embed="rId3">
            <a:alphaModFix/>
          </a:blip>
          <a:srcRect b="0" l="0" r="36702" t="0"/>
          <a:stretch/>
        </p:blipFill>
        <p:spPr>
          <a:xfrm>
            <a:off x="1923044" y="1200150"/>
            <a:ext cx="5445916" cy="35052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46"/>
          <p:cNvSpPr txBox="1"/>
          <p:nvPr>
            <p:ph type="title"/>
          </p:nvPr>
        </p:nvSpPr>
        <p:spPr>
          <a:xfrm>
            <a:off x="800100" y="-72097"/>
            <a:ext cx="7543800" cy="68039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US"/>
              <a:t>Feedforward nets for simple classification</a:t>
            </a:r>
            <a:endParaRPr b="0"/>
          </a:p>
        </p:txBody>
      </p:sp>
      <p:sp>
        <p:nvSpPr>
          <p:cNvPr id="835" name="Google Shape;835;p46"/>
          <p:cNvSpPr txBox="1"/>
          <p:nvPr>
            <p:ph idx="1" type="body"/>
          </p:nvPr>
        </p:nvSpPr>
        <p:spPr>
          <a:xfrm>
            <a:off x="360998" y="3550342"/>
            <a:ext cx="8747442" cy="34290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Just adding a hidden layer to logistic regression</a:t>
            </a:r>
            <a:endParaRPr/>
          </a:p>
          <a:p>
            <a:pPr indent="-428615" lvl="0" marL="428615" rtl="0" algn="l">
              <a:lnSpc>
                <a:spcPct val="90000"/>
              </a:lnSpc>
              <a:spcBef>
                <a:spcPts val="1050"/>
              </a:spcBef>
              <a:spcAft>
                <a:spcPts val="0"/>
              </a:spcAft>
              <a:buSzPts val="2400"/>
              <a:buFont typeface="Arial"/>
              <a:buChar char="•"/>
            </a:pPr>
            <a:r>
              <a:rPr lang="en-US" sz="2400"/>
              <a:t>allows the network to use non-linear interactions between features </a:t>
            </a:r>
            <a:endParaRPr/>
          </a:p>
          <a:p>
            <a:pPr indent="-428615" lvl="0" marL="428615" rtl="0" algn="l">
              <a:lnSpc>
                <a:spcPct val="90000"/>
              </a:lnSpc>
              <a:spcBef>
                <a:spcPts val="1050"/>
              </a:spcBef>
              <a:spcAft>
                <a:spcPts val="0"/>
              </a:spcAft>
              <a:buSzPts val="2400"/>
              <a:buFont typeface="Arial"/>
              <a:buChar char="•"/>
            </a:pPr>
            <a:r>
              <a:rPr lang="en-US" sz="2400"/>
              <a:t>which may (or may not) improve performance.</a:t>
            </a:r>
            <a:endParaRPr/>
          </a:p>
        </p:txBody>
      </p:sp>
      <p:sp>
        <p:nvSpPr>
          <p:cNvPr id="836" name="Google Shape;836;p46"/>
          <p:cNvSpPr txBox="1"/>
          <p:nvPr>
            <p:ph idx="12" type="sldNum"/>
          </p:nvPr>
        </p:nvSpPr>
        <p:spPr>
          <a:xfrm>
            <a:off x="7162800" y="3486150"/>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837" name="Google Shape;837;p46"/>
          <p:cNvGrpSpPr/>
          <p:nvPr/>
        </p:nvGrpSpPr>
        <p:grpSpPr>
          <a:xfrm>
            <a:off x="5962438" y="685035"/>
            <a:ext cx="2682455" cy="2878483"/>
            <a:chOff x="6290653" y="1339444"/>
            <a:chExt cx="2682455" cy="2878483"/>
          </a:xfrm>
        </p:grpSpPr>
        <p:grpSp>
          <p:nvGrpSpPr>
            <p:cNvPr id="838" name="Google Shape;838;p46"/>
            <p:cNvGrpSpPr/>
            <p:nvPr/>
          </p:nvGrpSpPr>
          <p:grpSpPr>
            <a:xfrm>
              <a:off x="6290653" y="1339444"/>
              <a:ext cx="2667000" cy="2468463"/>
              <a:chOff x="1997416" y="1094195"/>
              <a:chExt cx="5712473" cy="4285206"/>
            </a:xfrm>
          </p:grpSpPr>
          <p:sp>
            <p:nvSpPr>
              <p:cNvPr id="839" name="Google Shape;839;p46"/>
              <p:cNvSpPr/>
              <p:nvPr/>
            </p:nvSpPr>
            <p:spPr>
              <a:xfrm>
                <a:off x="3581401" y="2724150"/>
                <a:ext cx="381001" cy="826450"/>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840" name="Google Shape;840;p46"/>
              <p:cNvSpPr/>
              <p:nvPr/>
            </p:nvSpPr>
            <p:spPr>
              <a:xfrm>
                <a:off x="3429000" y="2541993"/>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841" name="Google Shape;841;p46"/>
              <p:cNvSpPr/>
              <p:nvPr/>
            </p:nvSpPr>
            <p:spPr>
              <a:xfrm>
                <a:off x="4267202" y="1094195"/>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842" name="Google Shape;842;p46"/>
              <p:cNvSpPr/>
              <p:nvPr/>
            </p:nvSpPr>
            <p:spPr>
              <a:xfrm>
                <a:off x="5105397" y="2541993"/>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843" name="Google Shape;843;p46"/>
              <p:cNvSpPr/>
              <p:nvPr/>
            </p:nvSpPr>
            <p:spPr>
              <a:xfrm>
                <a:off x="4267202" y="2541993"/>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844" name="Google Shape;844;p46"/>
              <p:cNvCxnSpPr>
                <a:stCxn id="840" idx="0"/>
                <a:endCxn id="841" idx="3"/>
              </p:cNvCxnSpPr>
              <p:nvPr/>
            </p:nvCxnSpPr>
            <p:spPr>
              <a:xfrm flipH="1" rot="10800000">
                <a:off x="3803833" y="1799493"/>
                <a:ext cx="573300" cy="742500"/>
              </a:xfrm>
              <a:prstGeom prst="straightConnector1">
                <a:avLst/>
              </a:prstGeom>
              <a:noFill/>
              <a:ln>
                <a:noFill/>
              </a:ln>
            </p:spPr>
          </p:cxnSp>
          <p:cxnSp>
            <p:nvCxnSpPr>
              <p:cNvPr id="845" name="Google Shape;845;p46"/>
              <p:cNvCxnSpPr>
                <a:stCxn id="843" idx="0"/>
                <a:endCxn id="841" idx="4"/>
              </p:cNvCxnSpPr>
              <p:nvPr/>
            </p:nvCxnSpPr>
            <p:spPr>
              <a:xfrm rot="10800000">
                <a:off x="4642035" y="1920693"/>
                <a:ext cx="0" cy="621300"/>
              </a:xfrm>
              <a:prstGeom prst="straightConnector1">
                <a:avLst/>
              </a:prstGeom>
              <a:noFill/>
              <a:ln cap="flat" cmpd="sng" w="9525">
                <a:solidFill>
                  <a:schemeClr val="dk1"/>
                </a:solidFill>
                <a:prstDash val="solid"/>
                <a:round/>
                <a:headEnd len="sm" w="sm" type="none"/>
                <a:tailEnd len="med" w="med" type="stealth"/>
              </a:ln>
            </p:spPr>
          </p:cxnSp>
          <p:cxnSp>
            <p:nvCxnSpPr>
              <p:cNvPr id="846" name="Google Shape;846;p46"/>
              <p:cNvCxnSpPr>
                <a:stCxn id="842" idx="0"/>
                <a:endCxn id="841" idx="4"/>
              </p:cNvCxnSpPr>
              <p:nvPr/>
            </p:nvCxnSpPr>
            <p:spPr>
              <a:xfrm rot="10800000">
                <a:off x="4642030" y="1920693"/>
                <a:ext cx="838200" cy="621300"/>
              </a:xfrm>
              <a:prstGeom prst="straightConnector1">
                <a:avLst/>
              </a:prstGeom>
              <a:noFill/>
              <a:ln cap="flat" cmpd="sng" w="9525">
                <a:solidFill>
                  <a:schemeClr val="dk1"/>
                </a:solidFill>
                <a:prstDash val="solid"/>
                <a:round/>
                <a:headEnd len="sm" w="sm" type="none"/>
                <a:tailEnd len="med" w="med" type="stealth"/>
              </a:ln>
            </p:spPr>
          </p:cxnSp>
          <p:cxnSp>
            <p:nvCxnSpPr>
              <p:cNvPr id="847" name="Google Shape;847;p46"/>
              <p:cNvCxnSpPr>
                <a:stCxn id="840" idx="7"/>
                <a:endCxn id="841" idx="4"/>
              </p:cNvCxnSpPr>
              <p:nvPr/>
            </p:nvCxnSpPr>
            <p:spPr>
              <a:xfrm flipH="1" rot="10800000">
                <a:off x="4068880" y="1920524"/>
                <a:ext cx="573300" cy="742500"/>
              </a:xfrm>
              <a:prstGeom prst="straightConnector1">
                <a:avLst/>
              </a:prstGeom>
              <a:noFill/>
              <a:ln cap="flat" cmpd="sng" w="9525">
                <a:solidFill>
                  <a:schemeClr val="dk1"/>
                </a:solidFill>
                <a:prstDash val="solid"/>
                <a:round/>
                <a:headEnd len="sm" w="sm" type="none"/>
                <a:tailEnd len="med" w="med" type="stealth"/>
              </a:ln>
            </p:spPr>
          </p:cxnSp>
          <p:sp>
            <p:nvSpPr>
              <p:cNvPr id="848" name="Google Shape;848;p46"/>
              <p:cNvSpPr/>
              <p:nvPr/>
            </p:nvSpPr>
            <p:spPr>
              <a:xfrm>
                <a:off x="3962399" y="4552951"/>
                <a:ext cx="381001" cy="826450"/>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849" name="Google Shape;849;p46"/>
              <p:cNvSpPr/>
              <p:nvPr/>
            </p:nvSpPr>
            <p:spPr>
              <a:xfrm>
                <a:off x="2057400"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850" name="Google Shape;850;p46"/>
              <p:cNvSpPr/>
              <p:nvPr/>
            </p:nvSpPr>
            <p:spPr>
              <a:xfrm>
                <a:off x="5867398"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851" name="Google Shape;851;p46"/>
              <p:cNvSpPr/>
              <p:nvPr/>
            </p:nvSpPr>
            <p:spPr>
              <a:xfrm>
                <a:off x="4571999"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852" name="Google Shape;852;p46"/>
              <p:cNvSpPr/>
              <p:nvPr/>
            </p:nvSpPr>
            <p:spPr>
              <a:xfrm>
                <a:off x="3200400"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853" name="Google Shape;853;p46"/>
              <p:cNvCxnSpPr>
                <a:stCxn id="849" idx="0"/>
              </p:cNvCxnSpPr>
              <p:nvPr/>
            </p:nvCxnSpPr>
            <p:spPr>
              <a:xfrm flipH="1" rot="10800000">
                <a:off x="2432233" y="3049296"/>
                <a:ext cx="2271900" cy="1321500"/>
              </a:xfrm>
              <a:prstGeom prst="straightConnector1">
                <a:avLst/>
              </a:prstGeom>
              <a:noFill/>
              <a:ln>
                <a:noFill/>
              </a:ln>
            </p:spPr>
          </p:cxnSp>
          <p:cxnSp>
            <p:nvCxnSpPr>
              <p:cNvPr id="854" name="Google Shape;854;p46"/>
              <p:cNvCxnSpPr>
                <a:stCxn id="852" idx="0"/>
                <a:endCxn id="840" idx="4"/>
              </p:cNvCxnSpPr>
              <p:nvPr/>
            </p:nvCxnSpPr>
            <p:spPr>
              <a:xfrm flipH="1" rot="10800000">
                <a:off x="3575233" y="3368496"/>
                <a:ext cx="228600" cy="1002300"/>
              </a:xfrm>
              <a:prstGeom prst="straightConnector1">
                <a:avLst/>
              </a:prstGeom>
              <a:noFill/>
              <a:ln cap="flat" cmpd="sng" w="9525">
                <a:solidFill>
                  <a:schemeClr val="dk1"/>
                </a:solidFill>
                <a:prstDash val="solid"/>
                <a:round/>
                <a:headEnd len="sm" w="sm" type="none"/>
                <a:tailEnd len="med" w="med" type="stealth"/>
              </a:ln>
            </p:spPr>
          </p:cxnSp>
          <p:cxnSp>
            <p:nvCxnSpPr>
              <p:cNvPr id="855" name="Google Shape;855;p46"/>
              <p:cNvCxnSpPr>
                <a:stCxn id="851" idx="0"/>
                <a:endCxn id="840" idx="4"/>
              </p:cNvCxnSpPr>
              <p:nvPr/>
            </p:nvCxnSpPr>
            <p:spPr>
              <a:xfrm rot="10800000">
                <a:off x="3803832" y="3368496"/>
                <a:ext cx="1143000" cy="1002300"/>
              </a:xfrm>
              <a:prstGeom prst="straightConnector1">
                <a:avLst/>
              </a:prstGeom>
              <a:noFill/>
              <a:ln cap="flat" cmpd="sng" w="9525">
                <a:solidFill>
                  <a:schemeClr val="dk1"/>
                </a:solidFill>
                <a:prstDash val="solid"/>
                <a:round/>
                <a:headEnd len="sm" w="sm" type="none"/>
                <a:tailEnd len="med" w="med" type="stealth"/>
              </a:ln>
            </p:spPr>
          </p:cxnSp>
          <p:cxnSp>
            <p:nvCxnSpPr>
              <p:cNvPr id="856" name="Google Shape;856;p46"/>
              <p:cNvCxnSpPr>
                <a:stCxn id="850" idx="0"/>
                <a:endCxn id="840" idx="4"/>
              </p:cNvCxnSpPr>
              <p:nvPr/>
            </p:nvCxnSpPr>
            <p:spPr>
              <a:xfrm rot="10800000">
                <a:off x="3803831" y="3368496"/>
                <a:ext cx="2438400" cy="1002300"/>
              </a:xfrm>
              <a:prstGeom prst="straightConnector1">
                <a:avLst/>
              </a:prstGeom>
              <a:noFill/>
              <a:ln cap="flat" cmpd="sng" w="9525">
                <a:solidFill>
                  <a:schemeClr val="dk1"/>
                </a:solidFill>
                <a:prstDash val="solid"/>
                <a:round/>
                <a:headEnd len="sm" w="sm" type="none"/>
                <a:tailEnd len="med" w="med" type="stealth"/>
              </a:ln>
            </p:spPr>
          </p:cxnSp>
          <p:cxnSp>
            <p:nvCxnSpPr>
              <p:cNvPr id="857" name="Google Shape;857;p46"/>
              <p:cNvCxnSpPr>
                <a:stCxn id="849" idx="7"/>
                <a:endCxn id="840" idx="4"/>
              </p:cNvCxnSpPr>
              <p:nvPr/>
            </p:nvCxnSpPr>
            <p:spPr>
              <a:xfrm flipH="1" rot="10800000">
                <a:off x="2697280" y="3368327"/>
                <a:ext cx="1106700" cy="1123500"/>
              </a:xfrm>
              <a:prstGeom prst="straightConnector1">
                <a:avLst/>
              </a:prstGeom>
              <a:noFill/>
              <a:ln cap="flat" cmpd="sng" w="9525">
                <a:solidFill>
                  <a:schemeClr val="dk1"/>
                </a:solidFill>
                <a:prstDash val="solid"/>
                <a:round/>
                <a:headEnd len="sm" w="sm" type="none"/>
                <a:tailEnd len="med" w="med" type="stealth"/>
              </a:ln>
            </p:spPr>
          </p:cxnSp>
          <p:sp>
            <p:nvSpPr>
              <p:cNvPr id="858" name="Google Shape;858;p46"/>
              <p:cNvSpPr/>
              <p:nvPr/>
            </p:nvSpPr>
            <p:spPr>
              <a:xfrm>
                <a:off x="6781800" y="4413642"/>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859" name="Google Shape;859;p46"/>
              <p:cNvCxnSpPr>
                <a:stCxn id="858" idx="0"/>
                <a:endCxn id="840" idx="4"/>
              </p:cNvCxnSpPr>
              <p:nvPr/>
            </p:nvCxnSpPr>
            <p:spPr>
              <a:xfrm rot="10800000">
                <a:off x="3803833" y="3368442"/>
                <a:ext cx="3352800" cy="1045200"/>
              </a:xfrm>
              <a:prstGeom prst="straightConnector1">
                <a:avLst/>
              </a:prstGeom>
              <a:noFill/>
              <a:ln cap="flat" cmpd="sng" w="9525">
                <a:solidFill>
                  <a:schemeClr val="dk1"/>
                </a:solidFill>
                <a:prstDash val="solid"/>
                <a:round/>
                <a:headEnd len="sm" w="sm" type="none"/>
                <a:tailEnd len="med" w="med" type="stealth"/>
              </a:ln>
            </p:spPr>
          </p:cxnSp>
          <p:cxnSp>
            <p:nvCxnSpPr>
              <p:cNvPr id="860" name="Google Shape;860;p46"/>
              <p:cNvCxnSpPr>
                <a:stCxn id="849" idx="7"/>
                <a:endCxn id="843" idx="4"/>
              </p:cNvCxnSpPr>
              <p:nvPr/>
            </p:nvCxnSpPr>
            <p:spPr>
              <a:xfrm flipH="1" rot="10800000">
                <a:off x="2697280" y="3368327"/>
                <a:ext cx="1944900" cy="1123500"/>
              </a:xfrm>
              <a:prstGeom prst="straightConnector1">
                <a:avLst/>
              </a:prstGeom>
              <a:noFill/>
              <a:ln cap="flat" cmpd="sng" w="9525">
                <a:solidFill>
                  <a:schemeClr val="dk1"/>
                </a:solidFill>
                <a:prstDash val="solid"/>
                <a:round/>
                <a:headEnd len="sm" w="sm" type="none"/>
                <a:tailEnd len="med" w="med" type="stealth"/>
              </a:ln>
            </p:spPr>
          </p:cxnSp>
          <p:cxnSp>
            <p:nvCxnSpPr>
              <p:cNvPr id="861" name="Google Shape;861;p46"/>
              <p:cNvCxnSpPr>
                <a:stCxn id="849" idx="7"/>
                <a:endCxn id="842" idx="4"/>
              </p:cNvCxnSpPr>
              <p:nvPr/>
            </p:nvCxnSpPr>
            <p:spPr>
              <a:xfrm flipH="1" rot="10800000">
                <a:off x="2697280" y="3368327"/>
                <a:ext cx="2783100" cy="1123500"/>
              </a:xfrm>
              <a:prstGeom prst="straightConnector1">
                <a:avLst/>
              </a:prstGeom>
              <a:noFill/>
              <a:ln cap="flat" cmpd="sng" w="9525">
                <a:solidFill>
                  <a:schemeClr val="dk1"/>
                </a:solidFill>
                <a:prstDash val="solid"/>
                <a:round/>
                <a:headEnd len="sm" w="sm" type="none"/>
                <a:tailEnd len="med" w="med" type="stealth"/>
              </a:ln>
            </p:spPr>
          </p:cxnSp>
          <p:cxnSp>
            <p:nvCxnSpPr>
              <p:cNvPr id="862" name="Google Shape;862;p46"/>
              <p:cNvCxnSpPr>
                <a:stCxn id="858" idx="0"/>
                <a:endCxn id="842" idx="4"/>
              </p:cNvCxnSpPr>
              <p:nvPr/>
            </p:nvCxnSpPr>
            <p:spPr>
              <a:xfrm rot="10800000">
                <a:off x="5480233" y="3368442"/>
                <a:ext cx="1676400" cy="1045200"/>
              </a:xfrm>
              <a:prstGeom prst="straightConnector1">
                <a:avLst/>
              </a:prstGeom>
              <a:noFill/>
              <a:ln cap="flat" cmpd="sng" w="9525">
                <a:solidFill>
                  <a:schemeClr val="dk1"/>
                </a:solidFill>
                <a:prstDash val="solid"/>
                <a:round/>
                <a:headEnd len="sm" w="sm" type="none"/>
                <a:tailEnd len="med" w="med" type="stealth"/>
              </a:ln>
            </p:spPr>
          </p:cxnSp>
          <p:cxnSp>
            <p:nvCxnSpPr>
              <p:cNvPr id="863" name="Google Shape;863;p46"/>
              <p:cNvCxnSpPr>
                <a:stCxn id="858" idx="0"/>
                <a:endCxn id="843" idx="4"/>
              </p:cNvCxnSpPr>
              <p:nvPr/>
            </p:nvCxnSpPr>
            <p:spPr>
              <a:xfrm rot="10800000">
                <a:off x="4642033" y="3368442"/>
                <a:ext cx="2514600" cy="1045200"/>
              </a:xfrm>
              <a:prstGeom prst="straightConnector1">
                <a:avLst/>
              </a:prstGeom>
              <a:noFill/>
              <a:ln cap="flat" cmpd="sng" w="9525">
                <a:solidFill>
                  <a:schemeClr val="dk1"/>
                </a:solidFill>
                <a:prstDash val="solid"/>
                <a:round/>
                <a:headEnd len="sm" w="sm" type="none"/>
                <a:tailEnd len="med" w="med" type="stealth"/>
              </a:ln>
            </p:spPr>
          </p:cxnSp>
          <p:cxnSp>
            <p:nvCxnSpPr>
              <p:cNvPr id="864" name="Google Shape;864;p46"/>
              <p:cNvCxnSpPr>
                <a:stCxn id="850" idx="0"/>
                <a:endCxn id="843" idx="4"/>
              </p:cNvCxnSpPr>
              <p:nvPr/>
            </p:nvCxnSpPr>
            <p:spPr>
              <a:xfrm rot="10800000">
                <a:off x="4642031" y="3368496"/>
                <a:ext cx="1600200" cy="1002300"/>
              </a:xfrm>
              <a:prstGeom prst="straightConnector1">
                <a:avLst/>
              </a:prstGeom>
              <a:noFill/>
              <a:ln cap="flat" cmpd="sng" w="9525">
                <a:solidFill>
                  <a:schemeClr val="dk1"/>
                </a:solidFill>
                <a:prstDash val="solid"/>
                <a:round/>
                <a:headEnd len="sm" w="sm" type="none"/>
                <a:tailEnd len="med" w="med" type="stealth"/>
              </a:ln>
            </p:spPr>
          </p:cxnSp>
          <p:cxnSp>
            <p:nvCxnSpPr>
              <p:cNvPr id="865" name="Google Shape;865;p46"/>
              <p:cNvCxnSpPr>
                <a:stCxn id="850" idx="0"/>
                <a:endCxn id="842" idx="4"/>
              </p:cNvCxnSpPr>
              <p:nvPr/>
            </p:nvCxnSpPr>
            <p:spPr>
              <a:xfrm rot="10800000">
                <a:off x="5480231" y="3368496"/>
                <a:ext cx="762000" cy="1002300"/>
              </a:xfrm>
              <a:prstGeom prst="straightConnector1">
                <a:avLst/>
              </a:prstGeom>
              <a:noFill/>
              <a:ln cap="flat" cmpd="sng" w="9525">
                <a:solidFill>
                  <a:schemeClr val="dk1"/>
                </a:solidFill>
                <a:prstDash val="solid"/>
                <a:round/>
                <a:headEnd len="sm" w="sm" type="none"/>
                <a:tailEnd len="med" w="med" type="stealth"/>
              </a:ln>
            </p:spPr>
          </p:cxnSp>
          <p:cxnSp>
            <p:nvCxnSpPr>
              <p:cNvPr id="866" name="Google Shape;866;p46"/>
              <p:cNvCxnSpPr>
                <a:stCxn id="851" idx="0"/>
                <a:endCxn id="843" idx="4"/>
              </p:cNvCxnSpPr>
              <p:nvPr/>
            </p:nvCxnSpPr>
            <p:spPr>
              <a:xfrm rot="10800000">
                <a:off x="4642032" y="3368496"/>
                <a:ext cx="304800" cy="1002300"/>
              </a:xfrm>
              <a:prstGeom prst="straightConnector1">
                <a:avLst/>
              </a:prstGeom>
              <a:noFill/>
              <a:ln cap="flat" cmpd="sng" w="9525">
                <a:solidFill>
                  <a:schemeClr val="dk1"/>
                </a:solidFill>
                <a:prstDash val="solid"/>
                <a:round/>
                <a:headEnd len="sm" w="sm" type="none"/>
                <a:tailEnd len="med" w="med" type="stealth"/>
              </a:ln>
            </p:spPr>
          </p:cxnSp>
          <p:cxnSp>
            <p:nvCxnSpPr>
              <p:cNvPr id="867" name="Google Shape;867;p46"/>
              <p:cNvCxnSpPr>
                <a:stCxn id="851" idx="0"/>
                <a:endCxn id="842" idx="4"/>
              </p:cNvCxnSpPr>
              <p:nvPr/>
            </p:nvCxnSpPr>
            <p:spPr>
              <a:xfrm flipH="1" rot="10800000">
                <a:off x="4946832" y="3368496"/>
                <a:ext cx="533400" cy="1002300"/>
              </a:xfrm>
              <a:prstGeom prst="straightConnector1">
                <a:avLst/>
              </a:prstGeom>
              <a:noFill/>
              <a:ln cap="flat" cmpd="sng" w="9525">
                <a:solidFill>
                  <a:schemeClr val="dk1"/>
                </a:solidFill>
                <a:prstDash val="solid"/>
                <a:round/>
                <a:headEnd len="sm" w="sm" type="none"/>
                <a:tailEnd len="med" w="med" type="stealth"/>
              </a:ln>
            </p:spPr>
          </p:cxnSp>
          <p:cxnSp>
            <p:nvCxnSpPr>
              <p:cNvPr id="868" name="Google Shape;868;p46"/>
              <p:cNvCxnSpPr>
                <a:stCxn id="852" idx="0"/>
                <a:endCxn id="843" idx="4"/>
              </p:cNvCxnSpPr>
              <p:nvPr/>
            </p:nvCxnSpPr>
            <p:spPr>
              <a:xfrm flipH="1" rot="10800000">
                <a:off x="3575233" y="3368496"/>
                <a:ext cx="1066800" cy="1002300"/>
              </a:xfrm>
              <a:prstGeom prst="straightConnector1">
                <a:avLst/>
              </a:prstGeom>
              <a:noFill/>
              <a:ln cap="flat" cmpd="sng" w="9525">
                <a:solidFill>
                  <a:schemeClr val="dk1"/>
                </a:solidFill>
                <a:prstDash val="solid"/>
                <a:round/>
                <a:headEnd len="sm" w="sm" type="none"/>
                <a:tailEnd len="med" w="med" type="stealth"/>
              </a:ln>
            </p:spPr>
          </p:cxnSp>
          <p:cxnSp>
            <p:nvCxnSpPr>
              <p:cNvPr id="869" name="Google Shape;869;p46"/>
              <p:cNvCxnSpPr>
                <a:stCxn id="852" idx="0"/>
                <a:endCxn id="842" idx="4"/>
              </p:cNvCxnSpPr>
              <p:nvPr/>
            </p:nvCxnSpPr>
            <p:spPr>
              <a:xfrm flipH="1" rot="10800000">
                <a:off x="3575233" y="3368496"/>
                <a:ext cx="1905000" cy="1002300"/>
              </a:xfrm>
              <a:prstGeom prst="straightConnector1">
                <a:avLst/>
              </a:prstGeom>
              <a:noFill/>
              <a:ln cap="flat" cmpd="sng" w="9525">
                <a:solidFill>
                  <a:schemeClr val="dk1"/>
                </a:solidFill>
                <a:prstDash val="solid"/>
                <a:round/>
                <a:headEnd len="sm" w="sm" type="none"/>
                <a:tailEnd len="med" w="med" type="stealth"/>
              </a:ln>
            </p:spPr>
          </p:cxnSp>
          <p:sp>
            <p:nvSpPr>
              <p:cNvPr id="870" name="Google Shape;870;p46"/>
              <p:cNvSpPr txBox="1"/>
              <p:nvPr/>
            </p:nvSpPr>
            <p:spPr>
              <a:xfrm>
                <a:off x="3047999" y="1428748"/>
                <a:ext cx="457199" cy="90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590A0E"/>
                    </a:solidFill>
                    <a:latin typeface="Calibri"/>
                    <a:ea typeface="Calibri"/>
                    <a:cs typeface="Calibri"/>
                    <a:sym typeface="Calibri"/>
                  </a:rPr>
                  <a:t>U</a:t>
                </a:r>
                <a:endParaRPr/>
              </a:p>
            </p:txBody>
          </p:sp>
          <p:sp>
            <p:nvSpPr>
              <p:cNvPr id="871" name="Google Shape;871;p46"/>
              <p:cNvSpPr txBox="1"/>
              <p:nvPr/>
            </p:nvSpPr>
            <p:spPr>
              <a:xfrm>
                <a:off x="2057400" y="3105151"/>
                <a:ext cx="457199" cy="90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590A0E"/>
                    </a:solidFill>
                    <a:latin typeface="Calibri"/>
                    <a:ea typeface="Calibri"/>
                    <a:cs typeface="Calibri"/>
                    <a:sym typeface="Calibri"/>
                  </a:rPr>
                  <a:t>W</a:t>
                </a:r>
                <a:endParaRPr/>
              </a:p>
            </p:txBody>
          </p:sp>
          <p:sp>
            <p:nvSpPr>
              <p:cNvPr id="872" name="Google Shape;872;p46"/>
              <p:cNvSpPr txBox="1"/>
              <p:nvPr/>
            </p:nvSpPr>
            <p:spPr>
              <a:xfrm>
                <a:off x="6887912" y="4446401"/>
                <a:ext cx="821977" cy="6945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x</a:t>
                </a:r>
                <a:r>
                  <a:rPr baseline="-25000" lang="en-US" sz="2000">
                    <a:solidFill>
                      <a:schemeClr val="dk1"/>
                    </a:solidFill>
                    <a:latin typeface="Calibri"/>
                    <a:ea typeface="Calibri"/>
                    <a:cs typeface="Calibri"/>
                    <a:sym typeface="Calibri"/>
                  </a:rPr>
                  <a:t>n</a:t>
                </a:r>
                <a:endParaRPr baseline="-25000" sz="1800">
                  <a:solidFill>
                    <a:schemeClr val="dk1"/>
                  </a:solidFill>
                  <a:latin typeface="Calibri"/>
                  <a:ea typeface="Calibri"/>
                  <a:cs typeface="Calibri"/>
                  <a:sym typeface="Calibri"/>
                </a:endParaRPr>
              </a:p>
            </p:txBody>
          </p:sp>
          <p:sp>
            <p:nvSpPr>
              <p:cNvPr id="873" name="Google Shape;873;p46"/>
              <p:cNvSpPr txBox="1"/>
              <p:nvPr/>
            </p:nvSpPr>
            <p:spPr>
              <a:xfrm>
                <a:off x="1997416" y="4446401"/>
                <a:ext cx="1273267" cy="6945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x</a:t>
                </a:r>
                <a:r>
                  <a:rPr baseline="-25000" lang="en-US" sz="2000">
                    <a:solidFill>
                      <a:schemeClr val="dk1"/>
                    </a:solidFill>
                    <a:latin typeface="Calibri"/>
                    <a:ea typeface="Calibri"/>
                    <a:cs typeface="Calibri"/>
                    <a:sym typeface="Calibri"/>
                  </a:rPr>
                  <a:t>1</a:t>
                </a:r>
                <a:endParaRPr baseline="-25000" sz="1800">
                  <a:solidFill>
                    <a:schemeClr val="dk1"/>
                  </a:solidFill>
                  <a:latin typeface="Calibri"/>
                  <a:ea typeface="Calibri"/>
                  <a:cs typeface="Calibri"/>
                  <a:sym typeface="Calibri"/>
                </a:endParaRPr>
              </a:p>
            </p:txBody>
          </p:sp>
        </p:grpSp>
        <p:sp>
          <p:nvSpPr>
            <p:cNvPr id="874" name="Google Shape;874;p46"/>
            <p:cNvSpPr txBox="1"/>
            <p:nvPr/>
          </p:nvSpPr>
          <p:spPr>
            <a:xfrm>
              <a:off x="6346020" y="3804641"/>
              <a:ext cx="34977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f</a:t>
              </a:r>
              <a:r>
                <a:rPr baseline="-25000" lang="en-US" sz="2000">
                  <a:solidFill>
                    <a:schemeClr val="dk1"/>
                  </a:solidFill>
                  <a:latin typeface="Calibri"/>
                  <a:ea typeface="Calibri"/>
                  <a:cs typeface="Calibri"/>
                  <a:sym typeface="Calibri"/>
                </a:rPr>
                <a:t>1</a:t>
              </a:r>
              <a:endParaRPr/>
            </a:p>
          </p:txBody>
        </p:sp>
        <p:sp>
          <p:nvSpPr>
            <p:cNvPr id="875" name="Google Shape;875;p46"/>
            <p:cNvSpPr txBox="1"/>
            <p:nvPr/>
          </p:nvSpPr>
          <p:spPr>
            <a:xfrm>
              <a:off x="6858459" y="3817817"/>
              <a:ext cx="34977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f</a:t>
              </a:r>
              <a:r>
                <a:rPr baseline="-25000" lang="en-US" sz="2000">
                  <a:solidFill>
                    <a:schemeClr val="dk1"/>
                  </a:solidFill>
                  <a:latin typeface="Calibri"/>
                  <a:ea typeface="Calibri"/>
                  <a:cs typeface="Calibri"/>
                  <a:sym typeface="Calibri"/>
                </a:rPr>
                <a:t>2</a:t>
              </a:r>
              <a:endParaRPr/>
            </a:p>
          </p:txBody>
        </p:sp>
        <p:sp>
          <p:nvSpPr>
            <p:cNvPr id="876" name="Google Shape;876;p46"/>
            <p:cNvSpPr txBox="1"/>
            <p:nvPr/>
          </p:nvSpPr>
          <p:spPr>
            <a:xfrm>
              <a:off x="8620126" y="3790950"/>
              <a:ext cx="35298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f</a:t>
              </a:r>
              <a:r>
                <a:rPr baseline="-25000" lang="en-US" sz="2000">
                  <a:solidFill>
                    <a:schemeClr val="dk1"/>
                  </a:solidFill>
                  <a:latin typeface="Calibri"/>
                  <a:ea typeface="Calibri"/>
                  <a:cs typeface="Calibri"/>
                  <a:sym typeface="Calibri"/>
                </a:rPr>
                <a:t>n</a:t>
              </a:r>
              <a:endParaRPr baseline="-25000" sz="2000">
                <a:solidFill>
                  <a:schemeClr val="dk1"/>
                </a:solidFill>
                <a:latin typeface="Calibri"/>
                <a:ea typeface="Calibri"/>
                <a:cs typeface="Calibri"/>
                <a:sym typeface="Calibri"/>
              </a:endParaRPr>
            </a:p>
          </p:txBody>
        </p:sp>
      </p:grpSp>
      <p:sp>
        <p:nvSpPr>
          <p:cNvPr id="877" name="Google Shape;877;p46"/>
          <p:cNvSpPr txBox="1"/>
          <p:nvPr/>
        </p:nvSpPr>
        <p:spPr>
          <a:xfrm>
            <a:off x="1187568" y="3590737"/>
            <a:ext cx="984019" cy="27384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788">
                <a:solidFill>
                  <a:srgbClr val="FFFFFF"/>
                </a:solidFill>
                <a:latin typeface="Calibri"/>
                <a:ea typeface="Calibri"/>
                <a:cs typeface="Calibri"/>
                <a:sym typeface="Calibri"/>
              </a:rPr>
              <a:t>‹#›</a:t>
            </a:fld>
            <a:endParaRPr sz="788">
              <a:solidFill>
                <a:srgbClr val="FFFFFF"/>
              </a:solidFill>
              <a:latin typeface="Calibri"/>
              <a:ea typeface="Calibri"/>
              <a:cs typeface="Calibri"/>
              <a:sym typeface="Calibri"/>
            </a:endParaRPr>
          </a:p>
        </p:txBody>
      </p:sp>
      <p:grpSp>
        <p:nvGrpSpPr>
          <p:cNvPr id="878" name="Google Shape;878;p46"/>
          <p:cNvGrpSpPr/>
          <p:nvPr/>
        </p:nvGrpSpPr>
        <p:grpSpPr>
          <a:xfrm>
            <a:off x="1362543" y="666750"/>
            <a:ext cx="2710350" cy="2456685"/>
            <a:chOff x="287526" y="1865829"/>
            <a:chExt cx="2710350" cy="2456685"/>
          </a:xfrm>
        </p:grpSpPr>
        <p:grpSp>
          <p:nvGrpSpPr>
            <p:cNvPr id="879" name="Google Shape;879;p46"/>
            <p:cNvGrpSpPr/>
            <p:nvPr/>
          </p:nvGrpSpPr>
          <p:grpSpPr>
            <a:xfrm>
              <a:off x="287526" y="1865829"/>
              <a:ext cx="2667000" cy="2062111"/>
              <a:chOff x="1997416" y="1799615"/>
              <a:chExt cx="5712473" cy="3579786"/>
            </a:xfrm>
          </p:grpSpPr>
          <p:sp>
            <p:nvSpPr>
              <p:cNvPr id="880" name="Google Shape;880;p46"/>
              <p:cNvSpPr/>
              <p:nvPr/>
            </p:nvSpPr>
            <p:spPr>
              <a:xfrm>
                <a:off x="3581401" y="2724150"/>
                <a:ext cx="381001" cy="826450"/>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881" name="Google Shape;881;p46"/>
              <p:cNvSpPr/>
              <p:nvPr/>
            </p:nvSpPr>
            <p:spPr>
              <a:xfrm>
                <a:off x="4267202" y="2541993"/>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882" name="Google Shape;882;p46"/>
              <p:cNvCxnSpPr/>
              <p:nvPr/>
            </p:nvCxnSpPr>
            <p:spPr>
              <a:xfrm flipH="1" rot="10800000">
                <a:off x="3803834" y="1799615"/>
                <a:ext cx="573153" cy="742379"/>
              </a:xfrm>
              <a:prstGeom prst="straightConnector1">
                <a:avLst/>
              </a:prstGeom>
              <a:noFill/>
              <a:ln>
                <a:noFill/>
              </a:ln>
            </p:spPr>
          </p:cxnSp>
          <p:sp>
            <p:nvSpPr>
              <p:cNvPr id="883" name="Google Shape;883;p46"/>
              <p:cNvSpPr/>
              <p:nvPr/>
            </p:nvSpPr>
            <p:spPr>
              <a:xfrm>
                <a:off x="3962399" y="4552951"/>
                <a:ext cx="381001" cy="826450"/>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884" name="Google Shape;884;p46"/>
              <p:cNvSpPr/>
              <p:nvPr/>
            </p:nvSpPr>
            <p:spPr>
              <a:xfrm>
                <a:off x="2057400"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885" name="Google Shape;885;p46"/>
              <p:cNvSpPr/>
              <p:nvPr/>
            </p:nvSpPr>
            <p:spPr>
              <a:xfrm>
                <a:off x="5867398"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886" name="Google Shape;886;p46"/>
              <p:cNvSpPr/>
              <p:nvPr/>
            </p:nvSpPr>
            <p:spPr>
              <a:xfrm>
                <a:off x="4571999"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887" name="Google Shape;887;p46"/>
              <p:cNvSpPr/>
              <p:nvPr/>
            </p:nvSpPr>
            <p:spPr>
              <a:xfrm>
                <a:off x="3200400"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888" name="Google Shape;888;p46"/>
              <p:cNvCxnSpPr>
                <a:stCxn id="884" idx="0"/>
              </p:cNvCxnSpPr>
              <p:nvPr/>
            </p:nvCxnSpPr>
            <p:spPr>
              <a:xfrm flipH="1" rot="10800000">
                <a:off x="2432233" y="3049296"/>
                <a:ext cx="2271900" cy="1321500"/>
              </a:xfrm>
              <a:prstGeom prst="straightConnector1">
                <a:avLst/>
              </a:prstGeom>
              <a:noFill/>
              <a:ln>
                <a:noFill/>
              </a:ln>
            </p:spPr>
          </p:cxnSp>
          <p:sp>
            <p:nvSpPr>
              <p:cNvPr id="889" name="Google Shape;889;p46"/>
              <p:cNvSpPr/>
              <p:nvPr/>
            </p:nvSpPr>
            <p:spPr>
              <a:xfrm>
                <a:off x="6781800" y="4413642"/>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890" name="Google Shape;890;p46"/>
              <p:cNvCxnSpPr>
                <a:stCxn id="884" idx="7"/>
                <a:endCxn id="881" idx="4"/>
              </p:cNvCxnSpPr>
              <p:nvPr/>
            </p:nvCxnSpPr>
            <p:spPr>
              <a:xfrm flipH="1" rot="10800000">
                <a:off x="2697280" y="3368327"/>
                <a:ext cx="1944900" cy="1123500"/>
              </a:xfrm>
              <a:prstGeom prst="straightConnector1">
                <a:avLst/>
              </a:prstGeom>
              <a:noFill/>
              <a:ln cap="flat" cmpd="sng" w="9525">
                <a:solidFill>
                  <a:schemeClr val="dk1"/>
                </a:solidFill>
                <a:prstDash val="solid"/>
                <a:round/>
                <a:headEnd len="sm" w="sm" type="none"/>
                <a:tailEnd len="med" w="med" type="stealth"/>
              </a:ln>
            </p:spPr>
          </p:cxnSp>
          <p:cxnSp>
            <p:nvCxnSpPr>
              <p:cNvPr id="891" name="Google Shape;891;p46"/>
              <p:cNvCxnSpPr>
                <a:stCxn id="889" idx="0"/>
                <a:endCxn id="881" idx="4"/>
              </p:cNvCxnSpPr>
              <p:nvPr/>
            </p:nvCxnSpPr>
            <p:spPr>
              <a:xfrm rot="10800000">
                <a:off x="4642033" y="3368442"/>
                <a:ext cx="2514600" cy="1045200"/>
              </a:xfrm>
              <a:prstGeom prst="straightConnector1">
                <a:avLst/>
              </a:prstGeom>
              <a:noFill/>
              <a:ln cap="flat" cmpd="sng" w="9525">
                <a:solidFill>
                  <a:schemeClr val="dk1"/>
                </a:solidFill>
                <a:prstDash val="solid"/>
                <a:round/>
                <a:headEnd len="sm" w="sm" type="none"/>
                <a:tailEnd len="med" w="med" type="stealth"/>
              </a:ln>
            </p:spPr>
          </p:cxnSp>
          <p:cxnSp>
            <p:nvCxnSpPr>
              <p:cNvPr id="892" name="Google Shape;892;p46"/>
              <p:cNvCxnSpPr>
                <a:stCxn id="885" idx="0"/>
                <a:endCxn id="881" idx="4"/>
              </p:cNvCxnSpPr>
              <p:nvPr/>
            </p:nvCxnSpPr>
            <p:spPr>
              <a:xfrm rot="10800000">
                <a:off x="4642031" y="3368496"/>
                <a:ext cx="1600200" cy="1002300"/>
              </a:xfrm>
              <a:prstGeom prst="straightConnector1">
                <a:avLst/>
              </a:prstGeom>
              <a:noFill/>
              <a:ln cap="flat" cmpd="sng" w="9525">
                <a:solidFill>
                  <a:schemeClr val="dk1"/>
                </a:solidFill>
                <a:prstDash val="solid"/>
                <a:round/>
                <a:headEnd len="sm" w="sm" type="none"/>
                <a:tailEnd len="med" w="med" type="stealth"/>
              </a:ln>
            </p:spPr>
          </p:cxnSp>
          <p:cxnSp>
            <p:nvCxnSpPr>
              <p:cNvPr id="893" name="Google Shape;893;p46"/>
              <p:cNvCxnSpPr>
                <a:stCxn id="886" idx="0"/>
                <a:endCxn id="881" idx="4"/>
              </p:cNvCxnSpPr>
              <p:nvPr/>
            </p:nvCxnSpPr>
            <p:spPr>
              <a:xfrm rot="10800000">
                <a:off x="4642032" y="3368496"/>
                <a:ext cx="304800" cy="1002300"/>
              </a:xfrm>
              <a:prstGeom prst="straightConnector1">
                <a:avLst/>
              </a:prstGeom>
              <a:noFill/>
              <a:ln cap="flat" cmpd="sng" w="9525">
                <a:solidFill>
                  <a:schemeClr val="dk1"/>
                </a:solidFill>
                <a:prstDash val="solid"/>
                <a:round/>
                <a:headEnd len="sm" w="sm" type="none"/>
                <a:tailEnd len="med" w="med" type="stealth"/>
              </a:ln>
            </p:spPr>
          </p:cxnSp>
          <p:cxnSp>
            <p:nvCxnSpPr>
              <p:cNvPr id="894" name="Google Shape;894;p46"/>
              <p:cNvCxnSpPr>
                <a:stCxn id="887" idx="0"/>
                <a:endCxn id="881" idx="4"/>
              </p:cNvCxnSpPr>
              <p:nvPr/>
            </p:nvCxnSpPr>
            <p:spPr>
              <a:xfrm flipH="1" rot="10800000">
                <a:off x="3575233" y="3368496"/>
                <a:ext cx="1066800" cy="1002300"/>
              </a:xfrm>
              <a:prstGeom prst="straightConnector1">
                <a:avLst/>
              </a:prstGeom>
              <a:noFill/>
              <a:ln cap="flat" cmpd="sng" w="9525">
                <a:solidFill>
                  <a:schemeClr val="dk1"/>
                </a:solidFill>
                <a:prstDash val="solid"/>
                <a:round/>
                <a:headEnd len="sm" w="sm" type="none"/>
                <a:tailEnd len="med" w="med" type="stealth"/>
              </a:ln>
            </p:spPr>
          </p:cxnSp>
          <p:sp>
            <p:nvSpPr>
              <p:cNvPr id="895" name="Google Shape;895;p46"/>
              <p:cNvSpPr txBox="1"/>
              <p:nvPr/>
            </p:nvSpPr>
            <p:spPr>
              <a:xfrm>
                <a:off x="2534975" y="3124719"/>
                <a:ext cx="457199" cy="90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590A0E"/>
                    </a:solidFill>
                    <a:latin typeface="Calibri"/>
                    <a:ea typeface="Calibri"/>
                    <a:cs typeface="Calibri"/>
                    <a:sym typeface="Calibri"/>
                  </a:rPr>
                  <a:t>W</a:t>
                </a:r>
                <a:endParaRPr/>
              </a:p>
            </p:txBody>
          </p:sp>
          <p:sp>
            <p:nvSpPr>
              <p:cNvPr id="896" name="Google Shape;896;p46"/>
              <p:cNvSpPr txBox="1"/>
              <p:nvPr/>
            </p:nvSpPr>
            <p:spPr>
              <a:xfrm>
                <a:off x="6887912" y="4446401"/>
                <a:ext cx="821977" cy="6945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x</a:t>
                </a:r>
                <a:r>
                  <a:rPr baseline="-25000" lang="en-US" sz="2000">
                    <a:solidFill>
                      <a:schemeClr val="dk1"/>
                    </a:solidFill>
                    <a:latin typeface="Calibri"/>
                    <a:ea typeface="Calibri"/>
                    <a:cs typeface="Calibri"/>
                    <a:sym typeface="Calibri"/>
                  </a:rPr>
                  <a:t>n</a:t>
                </a:r>
                <a:endParaRPr baseline="-25000" sz="1800">
                  <a:solidFill>
                    <a:schemeClr val="dk1"/>
                  </a:solidFill>
                  <a:latin typeface="Calibri"/>
                  <a:ea typeface="Calibri"/>
                  <a:cs typeface="Calibri"/>
                  <a:sym typeface="Calibri"/>
                </a:endParaRPr>
              </a:p>
            </p:txBody>
          </p:sp>
          <p:sp>
            <p:nvSpPr>
              <p:cNvPr id="897" name="Google Shape;897;p46"/>
              <p:cNvSpPr txBox="1"/>
              <p:nvPr/>
            </p:nvSpPr>
            <p:spPr>
              <a:xfrm>
                <a:off x="1997416" y="4446401"/>
                <a:ext cx="1273267" cy="6945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x</a:t>
                </a:r>
                <a:r>
                  <a:rPr baseline="-25000" lang="en-US" sz="2000">
                    <a:solidFill>
                      <a:schemeClr val="dk1"/>
                    </a:solidFill>
                    <a:latin typeface="Calibri"/>
                    <a:ea typeface="Calibri"/>
                    <a:cs typeface="Calibri"/>
                    <a:sym typeface="Calibri"/>
                  </a:rPr>
                  <a:t>1</a:t>
                </a:r>
                <a:endParaRPr baseline="-25000" sz="1800">
                  <a:solidFill>
                    <a:schemeClr val="dk1"/>
                  </a:solidFill>
                  <a:latin typeface="Calibri"/>
                  <a:ea typeface="Calibri"/>
                  <a:cs typeface="Calibri"/>
                  <a:sym typeface="Calibri"/>
                </a:endParaRPr>
              </a:p>
            </p:txBody>
          </p:sp>
        </p:grpSp>
        <p:sp>
          <p:nvSpPr>
            <p:cNvPr id="898" name="Google Shape;898;p46"/>
            <p:cNvSpPr txBox="1"/>
            <p:nvPr/>
          </p:nvSpPr>
          <p:spPr>
            <a:xfrm>
              <a:off x="370788" y="3909228"/>
              <a:ext cx="34977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f</a:t>
              </a:r>
              <a:r>
                <a:rPr baseline="-25000" lang="en-US" sz="2000">
                  <a:solidFill>
                    <a:schemeClr val="dk1"/>
                  </a:solidFill>
                  <a:latin typeface="Calibri"/>
                  <a:ea typeface="Calibri"/>
                  <a:cs typeface="Calibri"/>
                  <a:sym typeface="Calibri"/>
                </a:rPr>
                <a:t>1</a:t>
              </a:r>
              <a:endParaRPr/>
            </a:p>
          </p:txBody>
        </p:sp>
        <p:sp>
          <p:nvSpPr>
            <p:cNvPr id="899" name="Google Shape;899;p46"/>
            <p:cNvSpPr txBox="1"/>
            <p:nvPr/>
          </p:nvSpPr>
          <p:spPr>
            <a:xfrm>
              <a:off x="883227" y="3922404"/>
              <a:ext cx="34977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f</a:t>
              </a:r>
              <a:r>
                <a:rPr baseline="-25000" lang="en-US" sz="2000">
                  <a:solidFill>
                    <a:schemeClr val="dk1"/>
                  </a:solidFill>
                  <a:latin typeface="Calibri"/>
                  <a:ea typeface="Calibri"/>
                  <a:cs typeface="Calibri"/>
                  <a:sym typeface="Calibri"/>
                </a:rPr>
                <a:t>2</a:t>
              </a:r>
              <a:endParaRPr/>
            </a:p>
          </p:txBody>
        </p:sp>
        <p:sp>
          <p:nvSpPr>
            <p:cNvPr id="900" name="Google Shape;900;p46"/>
            <p:cNvSpPr txBox="1"/>
            <p:nvPr/>
          </p:nvSpPr>
          <p:spPr>
            <a:xfrm>
              <a:off x="2644894" y="3895537"/>
              <a:ext cx="35298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f</a:t>
              </a:r>
              <a:r>
                <a:rPr baseline="-25000" lang="en-US" sz="2000">
                  <a:solidFill>
                    <a:schemeClr val="dk1"/>
                  </a:solidFill>
                  <a:latin typeface="Calibri"/>
                  <a:ea typeface="Calibri"/>
                  <a:cs typeface="Calibri"/>
                  <a:sym typeface="Calibri"/>
                </a:rPr>
                <a:t>n</a:t>
              </a:r>
              <a:endParaRPr baseline="-25000" sz="2000">
                <a:solidFill>
                  <a:schemeClr val="dk1"/>
                </a:solidFill>
                <a:latin typeface="Calibri"/>
                <a:ea typeface="Calibri"/>
                <a:cs typeface="Calibri"/>
                <a:sym typeface="Calibri"/>
              </a:endParaRPr>
            </a:p>
          </p:txBody>
        </p:sp>
      </p:grpSp>
      <p:sp>
        <p:nvSpPr>
          <p:cNvPr id="901" name="Google Shape;901;p46"/>
          <p:cNvSpPr txBox="1"/>
          <p:nvPr/>
        </p:nvSpPr>
        <p:spPr>
          <a:xfrm>
            <a:off x="3070445" y="4676587"/>
            <a:ext cx="184731" cy="3000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902" name="Google Shape;902;p46"/>
          <p:cNvSpPr txBox="1"/>
          <p:nvPr/>
        </p:nvSpPr>
        <p:spPr>
          <a:xfrm>
            <a:off x="304800" y="1386658"/>
            <a:ext cx="119872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Logistic</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Regression</a:t>
            </a:r>
            <a:endParaRPr/>
          </a:p>
        </p:txBody>
      </p:sp>
      <p:sp>
        <p:nvSpPr>
          <p:cNvPr id="903" name="Google Shape;903;p46"/>
          <p:cNvSpPr txBox="1"/>
          <p:nvPr/>
        </p:nvSpPr>
        <p:spPr>
          <a:xfrm>
            <a:off x="4286867" y="1238437"/>
            <a:ext cx="139583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2-layer</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feedforward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network</a:t>
            </a:r>
            <a:endParaRPr/>
          </a:p>
        </p:txBody>
      </p:sp>
      <p:sp>
        <p:nvSpPr>
          <p:cNvPr id="904" name="Google Shape;904;p46"/>
          <p:cNvSpPr txBox="1"/>
          <p:nvPr/>
        </p:nvSpPr>
        <p:spPr>
          <a:xfrm>
            <a:off x="7010400" y="666750"/>
            <a:ext cx="37542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σ</a:t>
            </a:r>
            <a:endParaRPr sz="1350">
              <a:solidFill>
                <a:schemeClr val="dk1"/>
              </a:solidFill>
              <a:latin typeface="Calibri"/>
              <a:ea typeface="Calibri"/>
              <a:cs typeface="Calibri"/>
              <a:sym typeface="Calibri"/>
            </a:endParaRPr>
          </a:p>
        </p:txBody>
      </p:sp>
      <p:sp>
        <p:nvSpPr>
          <p:cNvPr id="905" name="Google Shape;905;p46"/>
          <p:cNvSpPr txBox="1"/>
          <p:nvPr/>
        </p:nvSpPr>
        <p:spPr>
          <a:xfrm>
            <a:off x="2443976" y="1047750"/>
            <a:ext cx="37542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σ</a:t>
            </a:r>
            <a:endParaRPr sz="135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47"/>
          <p:cNvSpPr txBox="1"/>
          <p:nvPr>
            <p:ph type="title"/>
          </p:nvPr>
        </p:nvSpPr>
        <p:spPr>
          <a:xfrm>
            <a:off x="822960" y="119702"/>
            <a:ext cx="8321040" cy="68039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000"/>
              <a:buFont typeface="Calibri"/>
              <a:buNone/>
            </a:pPr>
            <a:r>
              <a:rPr b="0" lang="en-US" sz="3000"/>
              <a:t>Even better: representation learning</a:t>
            </a:r>
            <a:endParaRPr/>
          </a:p>
        </p:txBody>
      </p:sp>
      <p:sp>
        <p:nvSpPr>
          <p:cNvPr id="911" name="Google Shape;911;p47"/>
          <p:cNvSpPr txBox="1"/>
          <p:nvPr>
            <p:ph idx="1" type="body"/>
          </p:nvPr>
        </p:nvSpPr>
        <p:spPr>
          <a:xfrm>
            <a:off x="381000" y="1200150"/>
            <a:ext cx="6114917" cy="34290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The real power of deep learning</a:t>
            </a:r>
            <a:r>
              <a:rPr i="1" lang="en-US"/>
              <a:t> </a:t>
            </a:r>
            <a:r>
              <a:rPr lang="en-US"/>
              <a:t>comes from the  ability to </a:t>
            </a:r>
            <a:r>
              <a:rPr b="1" lang="en-US"/>
              <a:t>learn</a:t>
            </a:r>
            <a:r>
              <a:rPr lang="en-US"/>
              <a:t> features from the data</a:t>
            </a:r>
            <a:endParaRPr/>
          </a:p>
          <a:p>
            <a:pPr indent="-7938" lvl="0" marL="7938" rtl="0" algn="l">
              <a:lnSpc>
                <a:spcPct val="90000"/>
              </a:lnSpc>
              <a:spcBef>
                <a:spcPts val="1050"/>
              </a:spcBef>
              <a:spcAft>
                <a:spcPts val="0"/>
              </a:spcAft>
              <a:buSzPts val="2800"/>
              <a:buNone/>
            </a:pPr>
            <a:r>
              <a:rPr lang="en-US"/>
              <a:t>Instead of using hand-built human-engineered features for classification</a:t>
            </a:r>
            <a:endParaRPr/>
          </a:p>
          <a:p>
            <a:pPr indent="-7938" lvl="0" marL="7938" rtl="0" algn="l">
              <a:lnSpc>
                <a:spcPct val="90000"/>
              </a:lnSpc>
              <a:spcBef>
                <a:spcPts val="1050"/>
              </a:spcBef>
              <a:spcAft>
                <a:spcPts val="0"/>
              </a:spcAft>
              <a:buSzPts val="2800"/>
              <a:buNone/>
            </a:pPr>
            <a:r>
              <a:rPr lang="en-US"/>
              <a:t>Use learned representations like embeddings!</a:t>
            </a:r>
            <a:endParaRPr/>
          </a:p>
        </p:txBody>
      </p:sp>
      <p:sp>
        <p:nvSpPr>
          <p:cNvPr id="912" name="Google Shape;912;p47"/>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913" name="Google Shape;913;p47"/>
          <p:cNvGrpSpPr/>
          <p:nvPr/>
        </p:nvGrpSpPr>
        <p:grpSpPr>
          <a:xfrm>
            <a:off x="6553200" y="895350"/>
            <a:ext cx="2667000" cy="2468463"/>
            <a:chOff x="1997416" y="1094195"/>
            <a:chExt cx="5712473" cy="4285206"/>
          </a:xfrm>
        </p:grpSpPr>
        <p:sp>
          <p:nvSpPr>
            <p:cNvPr id="914" name="Google Shape;914;p47"/>
            <p:cNvSpPr/>
            <p:nvPr/>
          </p:nvSpPr>
          <p:spPr>
            <a:xfrm>
              <a:off x="3581401" y="2724150"/>
              <a:ext cx="381001" cy="826450"/>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15" name="Google Shape;915;p47"/>
            <p:cNvSpPr/>
            <p:nvPr/>
          </p:nvSpPr>
          <p:spPr>
            <a:xfrm>
              <a:off x="3429000" y="2541993"/>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16" name="Google Shape;916;p47"/>
            <p:cNvSpPr/>
            <p:nvPr/>
          </p:nvSpPr>
          <p:spPr>
            <a:xfrm>
              <a:off x="4267202" y="1094195"/>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17" name="Google Shape;917;p47"/>
            <p:cNvSpPr/>
            <p:nvPr/>
          </p:nvSpPr>
          <p:spPr>
            <a:xfrm>
              <a:off x="5105397" y="2541993"/>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18" name="Google Shape;918;p47"/>
            <p:cNvSpPr/>
            <p:nvPr/>
          </p:nvSpPr>
          <p:spPr>
            <a:xfrm>
              <a:off x="4267202" y="2541993"/>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919" name="Google Shape;919;p47"/>
            <p:cNvCxnSpPr>
              <a:stCxn id="915" idx="0"/>
              <a:endCxn id="916" idx="3"/>
            </p:cNvCxnSpPr>
            <p:nvPr/>
          </p:nvCxnSpPr>
          <p:spPr>
            <a:xfrm flipH="1" rot="10800000">
              <a:off x="3803833" y="1799493"/>
              <a:ext cx="573300" cy="742500"/>
            </a:xfrm>
            <a:prstGeom prst="straightConnector1">
              <a:avLst/>
            </a:prstGeom>
            <a:noFill/>
            <a:ln>
              <a:noFill/>
            </a:ln>
          </p:spPr>
        </p:cxnSp>
        <p:cxnSp>
          <p:nvCxnSpPr>
            <p:cNvPr id="920" name="Google Shape;920;p47"/>
            <p:cNvCxnSpPr>
              <a:stCxn id="918" idx="0"/>
              <a:endCxn id="916" idx="4"/>
            </p:cNvCxnSpPr>
            <p:nvPr/>
          </p:nvCxnSpPr>
          <p:spPr>
            <a:xfrm rot="10800000">
              <a:off x="4642035" y="1920693"/>
              <a:ext cx="0" cy="621300"/>
            </a:xfrm>
            <a:prstGeom prst="straightConnector1">
              <a:avLst/>
            </a:prstGeom>
            <a:noFill/>
            <a:ln cap="flat" cmpd="sng" w="9525">
              <a:solidFill>
                <a:schemeClr val="dk1"/>
              </a:solidFill>
              <a:prstDash val="solid"/>
              <a:round/>
              <a:headEnd len="sm" w="sm" type="none"/>
              <a:tailEnd len="med" w="med" type="stealth"/>
            </a:ln>
          </p:spPr>
        </p:cxnSp>
        <p:cxnSp>
          <p:nvCxnSpPr>
            <p:cNvPr id="921" name="Google Shape;921;p47"/>
            <p:cNvCxnSpPr>
              <a:stCxn id="917" idx="0"/>
              <a:endCxn id="916" idx="4"/>
            </p:cNvCxnSpPr>
            <p:nvPr/>
          </p:nvCxnSpPr>
          <p:spPr>
            <a:xfrm rot="10800000">
              <a:off x="4642030" y="1920693"/>
              <a:ext cx="838200" cy="621300"/>
            </a:xfrm>
            <a:prstGeom prst="straightConnector1">
              <a:avLst/>
            </a:prstGeom>
            <a:noFill/>
            <a:ln cap="flat" cmpd="sng" w="9525">
              <a:solidFill>
                <a:schemeClr val="dk1"/>
              </a:solidFill>
              <a:prstDash val="solid"/>
              <a:round/>
              <a:headEnd len="sm" w="sm" type="none"/>
              <a:tailEnd len="med" w="med" type="stealth"/>
            </a:ln>
          </p:spPr>
        </p:cxnSp>
        <p:cxnSp>
          <p:nvCxnSpPr>
            <p:cNvPr id="922" name="Google Shape;922;p47"/>
            <p:cNvCxnSpPr>
              <a:stCxn id="915" idx="7"/>
              <a:endCxn id="916" idx="4"/>
            </p:cNvCxnSpPr>
            <p:nvPr/>
          </p:nvCxnSpPr>
          <p:spPr>
            <a:xfrm flipH="1" rot="10800000">
              <a:off x="4068880" y="1920524"/>
              <a:ext cx="573300" cy="742500"/>
            </a:xfrm>
            <a:prstGeom prst="straightConnector1">
              <a:avLst/>
            </a:prstGeom>
            <a:noFill/>
            <a:ln cap="flat" cmpd="sng" w="9525">
              <a:solidFill>
                <a:schemeClr val="dk1"/>
              </a:solidFill>
              <a:prstDash val="solid"/>
              <a:round/>
              <a:headEnd len="sm" w="sm" type="none"/>
              <a:tailEnd len="med" w="med" type="stealth"/>
            </a:ln>
          </p:spPr>
        </p:cxnSp>
        <p:sp>
          <p:nvSpPr>
            <p:cNvPr id="923" name="Google Shape;923;p47"/>
            <p:cNvSpPr/>
            <p:nvPr/>
          </p:nvSpPr>
          <p:spPr>
            <a:xfrm>
              <a:off x="3962399" y="4552951"/>
              <a:ext cx="381001" cy="826450"/>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24" name="Google Shape;924;p47"/>
            <p:cNvSpPr/>
            <p:nvPr/>
          </p:nvSpPr>
          <p:spPr>
            <a:xfrm>
              <a:off x="2057400"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25" name="Google Shape;925;p47"/>
            <p:cNvSpPr/>
            <p:nvPr/>
          </p:nvSpPr>
          <p:spPr>
            <a:xfrm>
              <a:off x="5867398"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26" name="Google Shape;926;p47"/>
            <p:cNvSpPr/>
            <p:nvPr/>
          </p:nvSpPr>
          <p:spPr>
            <a:xfrm>
              <a:off x="4571999"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27" name="Google Shape;927;p47"/>
            <p:cNvSpPr/>
            <p:nvPr/>
          </p:nvSpPr>
          <p:spPr>
            <a:xfrm>
              <a:off x="3200400" y="4370796"/>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928" name="Google Shape;928;p47"/>
            <p:cNvCxnSpPr>
              <a:stCxn id="924" idx="0"/>
            </p:cNvCxnSpPr>
            <p:nvPr/>
          </p:nvCxnSpPr>
          <p:spPr>
            <a:xfrm flipH="1" rot="10800000">
              <a:off x="2432233" y="3049296"/>
              <a:ext cx="2271900" cy="1321500"/>
            </a:xfrm>
            <a:prstGeom prst="straightConnector1">
              <a:avLst/>
            </a:prstGeom>
            <a:noFill/>
            <a:ln>
              <a:noFill/>
            </a:ln>
          </p:spPr>
        </p:cxnSp>
        <p:cxnSp>
          <p:nvCxnSpPr>
            <p:cNvPr id="929" name="Google Shape;929;p47"/>
            <p:cNvCxnSpPr>
              <a:stCxn id="927" idx="0"/>
              <a:endCxn id="915" idx="4"/>
            </p:cNvCxnSpPr>
            <p:nvPr/>
          </p:nvCxnSpPr>
          <p:spPr>
            <a:xfrm flipH="1" rot="10800000">
              <a:off x="3575233" y="3368496"/>
              <a:ext cx="228600" cy="1002300"/>
            </a:xfrm>
            <a:prstGeom prst="straightConnector1">
              <a:avLst/>
            </a:prstGeom>
            <a:noFill/>
            <a:ln cap="flat" cmpd="sng" w="9525">
              <a:solidFill>
                <a:schemeClr val="dk1"/>
              </a:solidFill>
              <a:prstDash val="solid"/>
              <a:round/>
              <a:headEnd len="sm" w="sm" type="none"/>
              <a:tailEnd len="med" w="med" type="stealth"/>
            </a:ln>
          </p:spPr>
        </p:cxnSp>
        <p:cxnSp>
          <p:nvCxnSpPr>
            <p:cNvPr id="930" name="Google Shape;930;p47"/>
            <p:cNvCxnSpPr>
              <a:stCxn id="926" idx="0"/>
              <a:endCxn id="915" idx="4"/>
            </p:cNvCxnSpPr>
            <p:nvPr/>
          </p:nvCxnSpPr>
          <p:spPr>
            <a:xfrm rot="10800000">
              <a:off x="3803832" y="3368496"/>
              <a:ext cx="1143000" cy="1002300"/>
            </a:xfrm>
            <a:prstGeom prst="straightConnector1">
              <a:avLst/>
            </a:prstGeom>
            <a:noFill/>
            <a:ln cap="flat" cmpd="sng" w="9525">
              <a:solidFill>
                <a:schemeClr val="dk1"/>
              </a:solidFill>
              <a:prstDash val="solid"/>
              <a:round/>
              <a:headEnd len="sm" w="sm" type="none"/>
              <a:tailEnd len="med" w="med" type="stealth"/>
            </a:ln>
          </p:spPr>
        </p:cxnSp>
        <p:cxnSp>
          <p:nvCxnSpPr>
            <p:cNvPr id="931" name="Google Shape;931;p47"/>
            <p:cNvCxnSpPr>
              <a:stCxn id="925" idx="0"/>
              <a:endCxn id="915" idx="4"/>
            </p:cNvCxnSpPr>
            <p:nvPr/>
          </p:nvCxnSpPr>
          <p:spPr>
            <a:xfrm rot="10800000">
              <a:off x="3803831" y="3368496"/>
              <a:ext cx="2438400" cy="1002300"/>
            </a:xfrm>
            <a:prstGeom prst="straightConnector1">
              <a:avLst/>
            </a:prstGeom>
            <a:noFill/>
            <a:ln cap="flat" cmpd="sng" w="9525">
              <a:solidFill>
                <a:schemeClr val="dk1"/>
              </a:solidFill>
              <a:prstDash val="solid"/>
              <a:round/>
              <a:headEnd len="sm" w="sm" type="none"/>
              <a:tailEnd len="med" w="med" type="stealth"/>
            </a:ln>
          </p:spPr>
        </p:cxnSp>
        <p:cxnSp>
          <p:nvCxnSpPr>
            <p:cNvPr id="932" name="Google Shape;932;p47"/>
            <p:cNvCxnSpPr>
              <a:stCxn id="924" idx="7"/>
              <a:endCxn id="915" idx="4"/>
            </p:cNvCxnSpPr>
            <p:nvPr/>
          </p:nvCxnSpPr>
          <p:spPr>
            <a:xfrm flipH="1" rot="10800000">
              <a:off x="2697280" y="3368327"/>
              <a:ext cx="1106700" cy="1123500"/>
            </a:xfrm>
            <a:prstGeom prst="straightConnector1">
              <a:avLst/>
            </a:prstGeom>
            <a:noFill/>
            <a:ln cap="flat" cmpd="sng" w="9525">
              <a:solidFill>
                <a:schemeClr val="dk1"/>
              </a:solidFill>
              <a:prstDash val="solid"/>
              <a:round/>
              <a:headEnd len="sm" w="sm" type="none"/>
              <a:tailEnd len="med" w="med" type="stealth"/>
            </a:ln>
          </p:spPr>
        </p:cxnSp>
        <p:sp>
          <p:nvSpPr>
            <p:cNvPr id="933" name="Google Shape;933;p47"/>
            <p:cNvSpPr/>
            <p:nvPr/>
          </p:nvSpPr>
          <p:spPr>
            <a:xfrm>
              <a:off x="6781800" y="4413642"/>
              <a:ext cx="749666" cy="826450"/>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934" name="Google Shape;934;p47"/>
            <p:cNvCxnSpPr>
              <a:stCxn id="933" idx="0"/>
              <a:endCxn id="915" idx="4"/>
            </p:cNvCxnSpPr>
            <p:nvPr/>
          </p:nvCxnSpPr>
          <p:spPr>
            <a:xfrm rot="10800000">
              <a:off x="3803833" y="3368442"/>
              <a:ext cx="3352800" cy="1045200"/>
            </a:xfrm>
            <a:prstGeom prst="straightConnector1">
              <a:avLst/>
            </a:prstGeom>
            <a:noFill/>
            <a:ln cap="flat" cmpd="sng" w="9525">
              <a:solidFill>
                <a:schemeClr val="dk1"/>
              </a:solidFill>
              <a:prstDash val="solid"/>
              <a:round/>
              <a:headEnd len="sm" w="sm" type="none"/>
              <a:tailEnd len="med" w="med" type="stealth"/>
            </a:ln>
          </p:spPr>
        </p:cxnSp>
        <p:cxnSp>
          <p:nvCxnSpPr>
            <p:cNvPr id="935" name="Google Shape;935;p47"/>
            <p:cNvCxnSpPr>
              <a:stCxn id="924" idx="7"/>
              <a:endCxn id="918" idx="4"/>
            </p:cNvCxnSpPr>
            <p:nvPr/>
          </p:nvCxnSpPr>
          <p:spPr>
            <a:xfrm flipH="1" rot="10800000">
              <a:off x="2697280" y="3368327"/>
              <a:ext cx="1944900" cy="1123500"/>
            </a:xfrm>
            <a:prstGeom prst="straightConnector1">
              <a:avLst/>
            </a:prstGeom>
            <a:noFill/>
            <a:ln cap="flat" cmpd="sng" w="9525">
              <a:solidFill>
                <a:schemeClr val="dk1"/>
              </a:solidFill>
              <a:prstDash val="solid"/>
              <a:round/>
              <a:headEnd len="sm" w="sm" type="none"/>
              <a:tailEnd len="med" w="med" type="stealth"/>
            </a:ln>
          </p:spPr>
        </p:cxnSp>
        <p:cxnSp>
          <p:nvCxnSpPr>
            <p:cNvPr id="936" name="Google Shape;936;p47"/>
            <p:cNvCxnSpPr>
              <a:stCxn id="924" idx="7"/>
              <a:endCxn id="917" idx="4"/>
            </p:cNvCxnSpPr>
            <p:nvPr/>
          </p:nvCxnSpPr>
          <p:spPr>
            <a:xfrm flipH="1" rot="10800000">
              <a:off x="2697280" y="3368327"/>
              <a:ext cx="2783100" cy="1123500"/>
            </a:xfrm>
            <a:prstGeom prst="straightConnector1">
              <a:avLst/>
            </a:prstGeom>
            <a:noFill/>
            <a:ln cap="flat" cmpd="sng" w="9525">
              <a:solidFill>
                <a:schemeClr val="dk1"/>
              </a:solidFill>
              <a:prstDash val="solid"/>
              <a:round/>
              <a:headEnd len="sm" w="sm" type="none"/>
              <a:tailEnd len="med" w="med" type="stealth"/>
            </a:ln>
          </p:spPr>
        </p:cxnSp>
        <p:cxnSp>
          <p:nvCxnSpPr>
            <p:cNvPr id="937" name="Google Shape;937;p47"/>
            <p:cNvCxnSpPr>
              <a:stCxn id="933" idx="0"/>
              <a:endCxn id="917" idx="4"/>
            </p:cNvCxnSpPr>
            <p:nvPr/>
          </p:nvCxnSpPr>
          <p:spPr>
            <a:xfrm rot="10800000">
              <a:off x="5480233" y="3368442"/>
              <a:ext cx="1676400" cy="1045200"/>
            </a:xfrm>
            <a:prstGeom prst="straightConnector1">
              <a:avLst/>
            </a:prstGeom>
            <a:noFill/>
            <a:ln cap="flat" cmpd="sng" w="9525">
              <a:solidFill>
                <a:schemeClr val="dk1"/>
              </a:solidFill>
              <a:prstDash val="solid"/>
              <a:round/>
              <a:headEnd len="sm" w="sm" type="none"/>
              <a:tailEnd len="med" w="med" type="stealth"/>
            </a:ln>
          </p:spPr>
        </p:cxnSp>
        <p:cxnSp>
          <p:nvCxnSpPr>
            <p:cNvPr id="938" name="Google Shape;938;p47"/>
            <p:cNvCxnSpPr>
              <a:stCxn id="933" idx="0"/>
              <a:endCxn id="918" idx="4"/>
            </p:cNvCxnSpPr>
            <p:nvPr/>
          </p:nvCxnSpPr>
          <p:spPr>
            <a:xfrm rot="10800000">
              <a:off x="4642033" y="3368442"/>
              <a:ext cx="2514600" cy="1045200"/>
            </a:xfrm>
            <a:prstGeom prst="straightConnector1">
              <a:avLst/>
            </a:prstGeom>
            <a:noFill/>
            <a:ln cap="flat" cmpd="sng" w="9525">
              <a:solidFill>
                <a:schemeClr val="dk1"/>
              </a:solidFill>
              <a:prstDash val="solid"/>
              <a:round/>
              <a:headEnd len="sm" w="sm" type="none"/>
              <a:tailEnd len="med" w="med" type="stealth"/>
            </a:ln>
          </p:spPr>
        </p:cxnSp>
        <p:cxnSp>
          <p:nvCxnSpPr>
            <p:cNvPr id="939" name="Google Shape;939;p47"/>
            <p:cNvCxnSpPr>
              <a:stCxn id="925" idx="0"/>
              <a:endCxn id="918" idx="4"/>
            </p:cNvCxnSpPr>
            <p:nvPr/>
          </p:nvCxnSpPr>
          <p:spPr>
            <a:xfrm rot="10800000">
              <a:off x="4642031" y="3368496"/>
              <a:ext cx="1600200" cy="1002300"/>
            </a:xfrm>
            <a:prstGeom prst="straightConnector1">
              <a:avLst/>
            </a:prstGeom>
            <a:noFill/>
            <a:ln cap="flat" cmpd="sng" w="9525">
              <a:solidFill>
                <a:schemeClr val="dk1"/>
              </a:solidFill>
              <a:prstDash val="solid"/>
              <a:round/>
              <a:headEnd len="sm" w="sm" type="none"/>
              <a:tailEnd len="med" w="med" type="stealth"/>
            </a:ln>
          </p:spPr>
        </p:cxnSp>
        <p:cxnSp>
          <p:nvCxnSpPr>
            <p:cNvPr id="940" name="Google Shape;940;p47"/>
            <p:cNvCxnSpPr>
              <a:stCxn id="925" idx="0"/>
              <a:endCxn id="917" idx="4"/>
            </p:cNvCxnSpPr>
            <p:nvPr/>
          </p:nvCxnSpPr>
          <p:spPr>
            <a:xfrm rot="10800000">
              <a:off x="5480231" y="3368496"/>
              <a:ext cx="762000" cy="1002300"/>
            </a:xfrm>
            <a:prstGeom prst="straightConnector1">
              <a:avLst/>
            </a:prstGeom>
            <a:noFill/>
            <a:ln cap="flat" cmpd="sng" w="9525">
              <a:solidFill>
                <a:schemeClr val="dk1"/>
              </a:solidFill>
              <a:prstDash val="solid"/>
              <a:round/>
              <a:headEnd len="sm" w="sm" type="none"/>
              <a:tailEnd len="med" w="med" type="stealth"/>
            </a:ln>
          </p:spPr>
        </p:cxnSp>
        <p:cxnSp>
          <p:nvCxnSpPr>
            <p:cNvPr id="941" name="Google Shape;941;p47"/>
            <p:cNvCxnSpPr>
              <a:stCxn id="926" idx="0"/>
              <a:endCxn id="918" idx="4"/>
            </p:cNvCxnSpPr>
            <p:nvPr/>
          </p:nvCxnSpPr>
          <p:spPr>
            <a:xfrm rot="10800000">
              <a:off x="4642032" y="3368496"/>
              <a:ext cx="304800" cy="1002300"/>
            </a:xfrm>
            <a:prstGeom prst="straightConnector1">
              <a:avLst/>
            </a:prstGeom>
            <a:noFill/>
            <a:ln cap="flat" cmpd="sng" w="9525">
              <a:solidFill>
                <a:schemeClr val="dk1"/>
              </a:solidFill>
              <a:prstDash val="solid"/>
              <a:round/>
              <a:headEnd len="sm" w="sm" type="none"/>
              <a:tailEnd len="med" w="med" type="stealth"/>
            </a:ln>
          </p:spPr>
        </p:cxnSp>
        <p:cxnSp>
          <p:nvCxnSpPr>
            <p:cNvPr id="942" name="Google Shape;942;p47"/>
            <p:cNvCxnSpPr>
              <a:stCxn id="926" idx="0"/>
              <a:endCxn id="917" idx="4"/>
            </p:cNvCxnSpPr>
            <p:nvPr/>
          </p:nvCxnSpPr>
          <p:spPr>
            <a:xfrm flipH="1" rot="10800000">
              <a:off x="4946832" y="3368496"/>
              <a:ext cx="533400" cy="1002300"/>
            </a:xfrm>
            <a:prstGeom prst="straightConnector1">
              <a:avLst/>
            </a:prstGeom>
            <a:noFill/>
            <a:ln cap="flat" cmpd="sng" w="9525">
              <a:solidFill>
                <a:schemeClr val="dk1"/>
              </a:solidFill>
              <a:prstDash val="solid"/>
              <a:round/>
              <a:headEnd len="sm" w="sm" type="none"/>
              <a:tailEnd len="med" w="med" type="stealth"/>
            </a:ln>
          </p:spPr>
        </p:cxnSp>
        <p:cxnSp>
          <p:nvCxnSpPr>
            <p:cNvPr id="943" name="Google Shape;943;p47"/>
            <p:cNvCxnSpPr>
              <a:stCxn id="927" idx="0"/>
              <a:endCxn id="918" idx="4"/>
            </p:cNvCxnSpPr>
            <p:nvPr/>
          </p:nvCxnSpPr>
          <p:spPr>
            <a:xfrm flipH="1" rot="10800000">
              <a:off x="3575233" y="3368496"/>
              <a:ext cx="1066800" cy="1002300"/>
            </a:xfrm>
            <a:prstGeom prst="straightConnector1">
              <a:avLst/>
            </a:prstGeom>
            <a:noFill/>
            <a:ln cap="flat" cmpd="sng" w="9525">
              <a:solidFill>
                <a:schemeClr val="dk1"/>
              </a:solidFill>
              <a:prstDash val="solid"/>
              <a:round/>
              <a:headEnd len="sm" w="sm" type="none"/>
              <a:tailEnd len="med" w="med" type="stealth"/>
            </a:ln>
          </p:spPr>
        </p:cxnSp>
        <p:cxnSp>
          <p:nvCxnSpPr>
            <p:cNvPr id="944" name="Google Shape;944;p47"/>
            <p:cNvCxnSpPr>
              <a:stCxn id="927" idx="0"/>
              <a:endCxn id="917" idx="4"/>
            </p:cNvCxnSpPr>
            <p:nvPr/>
          </p:nvCxnSpPr>
          <p:spPr>
            <a:xfrm flipH="1" rot="10800000">
              <a:off x="3575233" y="3368496"/>
              <a:ext cx="1905000" cy="1002300"/>
            </a:xfrm>
            <a:prstGeom prst="straightConnector1">
              <a:avLst/>
            </a:prstGeom>
            <a:noFill/>
            <a:ln cap="flat" cmpd="sng" w="9525">
              <a:solidFill>
                <a:schemeClr val="dk1"/>
              </a:solidFill>
              <a:prstDash val="solid"/>
              <a:round/>
              <a:headEnd len="sm" w="sm" type="none"/>
              <a:tailEnd len="med" w="med" type="stealth"/>
            </a:ln>
          </p:spPr>
        </p:cxnSp>
        <p:sp>
          <p:nvSpPr>
            <p:cNvPr id="945" name="Google Shape;945;p47"/>
            <p:cNvSpPr txBox="1"/>
            <p:nvPr/>
          </p:nvSpPr>
          <p:spPr>
            <a:xfrm>
              <a:off x="3047999" y="1428748"/>
              <a:ext cx="457199" cy="90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590A0E"/>
                  </a:solidFill>
                  <a:latin typeface="Calibri"/>
                  <a:ea typeface="Calibri"/>
                  <a:cs typeface="Calibri"/>
                  <a:sym typeface="Calibri"/>
                </a:rPr>
                <a:t>U</a:t>
              </a:r>
              <a:endParaRPr/>
            </a:p>
          </p:txBody>
        </p:sp>
        <p:sp>
          <p:nvSpPr>
            <p:cNvPr id="946" name="Google Shape;946;p47"/>
            <p:cNvSpPr txBox="1"/>
            <p:nvPr/>
          </p:nvSpPr>
          <p:spPr>
            <a:xfrm>
              <a:off x="2057400" y="3105151"/>
              <a:ext cx="457199" cy="90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590A0E"/>
                  </a:solidFill>
                  <a:latin typeface="Calibri"/>
                  <a:ea typeface="Calibri"/>
                  <a:cs typeface="Calibri"/>
                  <a:sym typeface="Calibri"/>
                </a:rPr>
                <a:t>W</a:t>
              </a:r>
              <a:endParaRPr/>
            </a:p>
          </p:txBody>
        </p:sp>
        <p:sp>
          <p:nvSpPr>
            <p:cNvPr id="947" name="Google Shape;947;p47"/>
            <p:cNvSpPr txBox="1"/>
            <p:nvPr/>
          </p:nvSpPr>
          <p:spPr>
            <a:xfrm>
              <a:off x="6887912" y="4446401"/>
              <a:ext cx="821977" cy="6945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x</a:t>
              </a:r>
              <a:r>
                <a:rPr baseline="-25000" lang="en-US" sz="2000">
                  <a:solidFill>
                    <a:schemeClr val="dk1"/>
                  </a:solidFill>
                  <a:latin typeface="Calibri"/>
                  <a:ea typeface="Calibri"/>
                  <a:cs typeface="Calibri"/>
                  <a:sym typeface="Calibri"/>
                </a:rPr>
                <a:t>n</a:t>
              </a:r>
              <a:endParaRPr baseline="-25000" sz="1800">
                <a:solidFill>
                  <a:schemeClr val="dk1"/>
                </a:solidFill>
                <a:latin typeface="Calibri"/>
                <a:ea typeface="Calibri"/>
                <a:cs typeface="Calibri"/>
                <a:sym typeface="Calibri"/>
              </a:endParaRPr>
            </a:p>
          </p:txBody>
        </p:sp>
        <p:sp>
          <p:nvSpPr>
            <p:cNvPr id="948" name="Google Shape;948;p47"/>
            <p:cNvSpPr txBox="1"/>
            <p:nvPr/>
          </p:nvSpPr>
          <p:spPr>
            <a:xfrm>
              <a:off x="1997416" y="4446401"/>
              <a:ext cx="1273267" cy="6945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x</a:t>
              </a:r>
              <a:r>
                <a:rPr baseline="-25000" lang="en-US" sz="2000">
                  <a:solidFill>
                    <a:schemeClr val="dk1"/>
                  </a:solidFill>
                  <a:latin typeface="Calibri"/>
                  <a:ea typeface="Calibri"/>
                  <a:cs typeface="Calibri"/>
                  <a:sym typeface="Calibri"/>
                </a:rPr>
                <a:t>1</a:t>
              </a:r>
              <a:endParaRPr baseline="-25000" sz="1800">
                <a:solidFill>
                  <a:schemeClr val="dk1"/>
                </a:solidFill>
                <a:latin typeface="Calibri"/>
                <a:ea typeface="Calibri"/>
                <a:cs typeface="Calibri"/>
                <a:sym typeface="Calibri"/>
              </a:endParaRPr>
            </a:p>
          </p:txBody>
        </p:sp>
      </p:grpSp>
      <p:sp>
        <p:nvSpPr>
          <p:cNvPr id="949" name="Google Shape;949;p47"/>
          <p:cNvSpPr txBox="1"/>
          <p:nvPr/>
        </p:nvSpPr>
        <p:spPr>
          <a:xfrm>
            <a:off x="6669312" y="3301464"/>
            <a:ext cx="39946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e</a:t>
            </a:r>
            <a:r>
              <a:rPr baseline="-25000" lang="en-US" sz="2000">
                <a:solidFill>
                  <a:schemeClr val="dk1"/>
                </a:solidFill>
                <a:latin typeface="Calibri"/>
                <a:ea typeface="Calibri"/>
                <a:cs typeface="Calibri"/>
                <a:sym typeface="Calibri"/>
              </a:rPr>
              <a:t>1</a:t>
            </a:r>
            <a:endParaRPr/>
          </a:p>
        </p:txBody>
      </p:sp>
      <p:sp>
        <p:nvSpPr>
          <p:cNvPr id="950" name="Google Shape;950;p47"/>
          <p:cNvSpPr txBox="1"/>
          <p:nvPr/>
        </p:nvSpPr>
        <p:spPr>
          <a:xfrm>
            <a:off x="7181751" y="3314640"/>
            <a:ext cx="39946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e</a:t>
            </a:r>
            <a:r>
              <a:rPr baseline="-25000" lang="en-US" sz="2000">
                <a:solidFill>
                  <a:schemeClr val="dk1"/>
                </a:solidFill>
                <a:latin typeface="Calibri"/>
                <a:ea typeface="Calibri"/>
                <a:cs typeface="Calibri"/>
                <a:sym typeface="Calibri"/>
              </a:rPr>
              <a:t>2</a:t>
            </a:r>
            <a:endParaRPr/>
          </a:p>
        </p:txBody>
      </p:sp>
      <p:sp>
        <p:nvSpPr>
          <p:cNvPr id="951" name="Google Shape;951;p47"/>
          <p:cNvSpPr txBox="1"/>
          <p:nvPr/>
        </p:nvSpPr>
        <p:spPr>
          <a:xfrm>
            <a:off x="8763000" y="3287773"/>
            <a:ext cx="40267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e</a:t>
            </a:r>
            <a:r>
              <a:rPr baseline="-25000" lang="en-US" sz="2000">
                <a:solidFill>
                  <a:schemeClr val="dk1"/>
                </a:solidFill>
                <a:latin typeface="Calibri"/>
                <a:ea typeface="Calibri"/>
                <a:cs typeface="Calibri"/>
                <a:sym typeface="Calibri"/>
              </a:rPr>
              <a:t>n</a:t>
            </a:r>
            <a:endParaRPr baseline="-25000" sz="2000">
              <a:solidFill>
                <a:schemeClr val="dk1"/>
              </a:solidFill>
              <a:latin typeface="Calibri"/>
              <a:ea typeface="Calibri"/>
              <a:cs typeface="Calibri"/>
              <a:sym typeface="Calibri"/>
            </a:endParaRPr>
          </a:p>
        </p:txBody>
      </p:sp>
      <p:sp>
        <p:nvSpPr>
          <p:cNvPr id="952" name="Google Shape;952;p47"/>
          <p:cNvSpPr txBox="1"/>
          <p:nvPr/>
        </p:nvSpPr>
        <p:spPr>
          <a:xfrm>
            <a:off x="7587477" y="843009"/>
            <a:ext cx="37542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σ</a:t>
            </a:r>
            <a:endParaRPr sz="135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48"/>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58" name="Google Shape;958;p48"/>
          <p:cNvSpPr txBox="1"/>
          <p:nvPr>
            <p:ph type="title"/>
          </p:nvPr>
        </p:nvSpPr>
        <p:spPr>
          <a:xfrm>
            <a:off x="533400" y="291153"/>
            <a:ext cx="8610600" cy="45179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2800"/>
              <a:buFont typeface="Calibri"/>
              <a:buNone/>
            </a:pPr>
            <a:r>
              <a:rPr lang="en-US" sz="2800"/>
              <a:t>Neural Net Classification with embeddings as input features!</a:t>
            </a:r>
            <a:endParaRPr b="0" sz="2800"/>
          </a:p>
        </p:txBody>
      </p:sp>
      <p:pic>
        <p:nvPicPr>
          <p:cNvPr id="959" name="Google Shape;959;p48"/>
          <p:cNvPicPr preferRelativeResize="0"/>
          <p:nvPr/>
        </p:nvPicPr>
        <p:blipFill rotWithShape="1">
          <a:blip r:embed="rId3">
            <a:alphaModFix/>
          </a:blip>
          <a:srcRect b="0" l="0" r="0" t="0"/>
          <a:stretch/>
        </p:blipFill>
        <p:spPr>
          <a:xfrm>
            <a:off x="1574959" y="963579"/>
            <a:ext cx="5968841" cy="415510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49"/>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Issue: texts come in different sizes</a:t>
            </a:r>
            <a:endParaRPr/>
          </a:p>
        </p:txBody>
      </p:sp>
      <p:sp>
        <p:nvSpPr>
          <p:cNvPr id="965" name="Google Shape;965;p49"/>
          <p:cNvSpPr txBox="1"/>
          <p:nvPr>
            <p:ph idx="1" type="body"/>
          </p:nvPr>
        </p:nvSpPr>
        <p:spPr>
          <a:xfrm>
            <a:off x="822960" y="1047750"/>
            <a:ext cx="8092440" cy="4095750"/>
          </a:xfrm>
          <a:prstGeom prst="rect">
            <a:avLst/>
          </a:prstGeom>
          <a:noFill/>
          <a:ln>
            <a:noFill/>
          </a:ln>
        </p:spPr>
        <p:txBody>
          <a:bodyPr anchorCtr="0" anchor="t" bIns="45700" lIns="0" spcFirstLastPara="1" rIns="0" wrap="square" tIns="45700">
            <a:normAutofit fontScale="92500" lnSpcReduction="10000"/>
          </a:bodyPr>
          <a:lstStyle/>
          <a:p>
            <a:pPr indent="-7938" lvl="0" marL="7938" rtl="0" algn="l">
              <a:lnSpc>
                <a:spcPct val="90000"/>
              </a:lnSpc>
              <a:spcBef>
                <a:spcPts val="0"/>
              </a:spcBef>
              <a:spcAft>
                <a:spcPts val="0"/>
              </a:spcAft>
              <a:buSzPct val="175000"/>
              <a:buNone/>
            </a:pPr>
            <a:r>
              <a:rPr lang="en-US"/>
              <a:t>This assumes a fixed size length (3)!  </a:t>
            </a:r>
            <a:endParaRPr sz="1600"/>
          </a:p>
          <a:p>
            <a:pPr indent="-7938" lvl="0" marL="7938" rtl="0" algn="l">
              <a:lnSpc>
                <a:spcPct val="90000"/>
              </a:lnSpc>
              <a:spcBef>
                <a:spcPts val="1050"/>
              </a:spcBef>
              <a:spcAft>
                <a:spcPts val="0"/>
              </a:spcAft>
              <a:buSzPct val="100000"/>
              <a:buNone/>
            </a:pPr>
            <a:r>
              <a:rPr lang="en-US" sz="2600"/>
              <a:t>Kind of unrealistic.   </a:t>
            </a:r>
            <a:endParaRPr/>
          </a:p>
          <a:p>
            <a:pPr indent="-7938" lvl="0" marL="7938" rtl="0" algn="l">
              <a:lnSpc>
                <a:spcPct val="90000"/>
              </a:lnSpc>
              <a:spcBef>
                <a:spcPts val="1050"/>
              </a:spcBef>
              <a:spcAft>
                <a:spcPts val="0"/>
              </a:spcAft>
              <a:buSzPct val="100000"/>
              <a:buNone/>
            </a:pPr>
            <a:r>
              <a:rPr lang="en-US" sz="2600"/>
              <a:t>Some simple solutions (more sophisticated solutions later)</a:t>
            </a:r>
            <a:endParaRPr/>
          </a:p>
          <a:p>
            <a:pPr indent="-514350" lvl="0" marL="514350" rtl="0" algn="l">
              <a:lnSpc>
                <a:spcPct val="90000"/>
              </a:lnSpc>
              <a:spcBef>
                <a:spcPts val="1050"/>
              </a:spcBef>
              <a:spcAft>
                <a:spcPts val="0"/>
              </a:spcAft>
              <a:buSzPct val="100000"/>
              <a:buFont typeface="Calibri"/>
              <a:buAutoNum type="arabicPeriod"/>
            </a:pPr>
            <a:r>
              <a:rPr lang="en-US" sz="2600"/>
              <a:t>Make the input the length of the longest review</a:t>
            </a:r>
            <a:endParaRPr/>
          </a:p>
          <a:p>
            <a:pPr indent="-341313" lvl="1" marL="800100" rtl="0" algn="l">
              <a:lnSpc>
                <a:spcPct val="90000"/>
              </a:lnSpc>
              <a:spcBef>
                <a:spcPts val="300"/>
              </a:spcBef>
              <a:spcAft>
                <a:spcPts val="0"/>
              </a:spcAft>
              <a:buSzPct val="100000"/>
              <a:buFont typeface="Arial"/>
              <a:buChar char="•"/>
            </a:pPr>
            <a:r>
              <a:rPr lang="en-US"/>
              <a:t>If shorter then pad with zero embeddings</a:t>
            </a:r>
            <a:endParaRPr/>
          </a:p>
          <a:p>
            <a:pPr indent="-341313" lvl="1" marL="800100" rtl="0" algn="l">
              <a:lnSpc>
                <a:spcPct val="90000"/>
              </a:lnSpc>
              <a:spcBef>
                <a:spcPts val="450"/>
              </a:spcBef>
              <a:spcAft>
                <a:spcPts val="0"/>
              </a:spcAft>
              <a:buSzPct val="100000"/>
              <a:buFont typeface="Arial"/>
              <a:buChar char="•"/>
            </a:pPr>
            <a:r>
              <a:rPr lang="en-US"/>
              <a:t>Truncate if you get longer reviews at test time</a:t>
            </a:r>
            <a:endParaRPr/>
          </a:p>
          <a:p>
            <a:pPr indent="-514350" lvl="0" marL="514350" rtl="0" algn="l">
              <a:lnSpc>
                <a:spcPct val="90000"/>
              </a:lnSpc>
              <a:spcBef>
                <a:spcPts val="1200"/>
              </a:spcBef>
              <a:spcAft>
                <a:spcPts val="0"/>
              </a:spcAft>
              <a:buSzPct val="100000"/>
              <a:buFont typeface="Calibri"/>
              <a:buAutoNum type="arabicPeriod"/>
            </a:pPr>
            <a:r>
              <a:rPr lang="en-US"/>
              <a:t>Create a single "sentence embedding" (the same dimensionality as a word) to represent all the words</a:t>
            </a:r>
            <a:endParaRPr/>
          </a:p>
          <a:p>
            <a:pPr indent="-341313" lvl="1" marL="800100" rtl="0" algn="l">
              <a:lnSpc>
                <a:spcPct val="90000"/>
              </a:lnSpc>
              <a:spcBef>
                <a:spcPts val="300"/>
              </a:spcBef>
              <a:spcAft>
                <a:spcPts val="0"/>
              </a:spcAft>
              <a:buSzPct val="100000"/>
              <a:buFont typeface="Arial"/>
              <a:buChar char="•"/>
            </a:pPr>
            <a:r>
              <a:rPr lang="en-US"/>
              <a:t>Take the mean of all the word embeddings</a:t>
            </a:r>
            <a:endParaRPr/>
          </a:p>
          <a:p>
            <a:pPr indent="-341313" lvl="1" marL="800100" rtl="0" algn="l">
              <a:lnSpc>
                <a:spcPct val="90000"/>
              </a:lnSpc>
              <a:spcBef>
                <a:spcPts val="450"/>
              </a:spcBef>
              <a:spcAft>
                <a:spcPts val="0"/>
              </a:spcAft>
              <a:buSzPct val="100000"/>
              <a:buFont typeface="Arial"/>
              <a:buChar char="•"/>
            </a:pPr>
            <a:r>
              <a:rPr lang="en-US"/>
              <a:t>Take the element-wise max of all the word embeddings</a:t>
            </a:r>
            <a:endParaRPr/>
          </a:p>
          <a:p>
            <a:pPr indent="-401638" lvl="2" marL="1152525" rtl="0" algn="l">
              <a:lnSpc>
                <a:spcPct val="90000"/>
              </a:lnSpc>
              <a:spcBef>
                <a:spcPts val="450"/>
              </a:spcBef>
              <a:spcAft>
                <a:spcPts val="0"/>
              </a:spcAft>
              <a:buSzPct val="100000"/>
              <a:buFont typeface="Arial"/>
              <a:buChar char="•"/>
            </a:pPr>
            <a:r>
              <a:rPr lang="en-US"/>
              <a:t>For each dimension, pick the max value from all words</a:t>
            </a:r>
            <a:endParaRPr/>
          </a:p>
        </p:txBody>
      </p:sp>
      <p:sp>
        <p:nvSpPr>
          <p:cNvPr id="966" name="Google Shape;966;p49"/>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967" name="Google Shape;967;p49"/>
          <p:cNvPicPr preferRelativeResize="0"/>
          <p:nvPr/>
        </p:nvPicPr>
        <p:blipFill rotWithShape="1">
          <a:blip r:embed="rId3">
            <a:alphaModFix/>
          </a:blip>
          <a:srcRect b="0" l="26871" r="7823" t="61639"/>
          <a:stretch/>
        </p:blipFill>
        <p:spPr>
          <a:xfrm>
            <a:off x="5867400" y="817920"/>
            <a:ext cx="2819400" cy="1152867"/>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50"/>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Reminder: Multiclass Outputs</a:t>
            </a:r>
            <a:endParaRPr/>
          </a:p>
        </p:txBody>
      </p:sp>
      <p:sp>
        <p:nvSpPr>
          <p:cNvPr id="973" name="Google Shape;973;p50"/>
          <p:cNvSpPr txBox="1"/>
          <p:nvPr>
            <p:ph idx="1" type="body"/>
          </p:nvPr>
        </p:nvSpPr>
        <p:spPr>
          <a:xfrm>
            <a:off x="822962" y="1200150"/>
            <a:ext cx="7543801" cy="34290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What if you have more than two output classes?</a:t>
            </a:r>
            <a:endParaRPr/>
          </a:p>
          <a:p>
            <a:pPr indent="-253988" lvl="1" marL="404793" rtl="0" algn="l">
              <a:lnSpc>
                <a:spcPct val="90000"/>
              </a:lnSpc>
              <a:spcBef>
                <a:spcPts val="300"/>
              </a:spcBef>
              <a:spcAft>
                <a:spcPts val="0"/>
              </a:spcAft>
              <a:buSzPts val="2400"/>
              <a:buChar char="◦"/>
            </a:pPr>
            <a:r>
              <a:rPr lang="en-US"/>
              <a:t>Add more output units (one for each class)</a:t>
            </a:r>
            <a:endParaRPr/>
          </a:p>
          <a:p>
            <a:pPr indent="-253988" lvl="1" marL="404793" rtl="0" algn="l">
              <a:lnSpc>
                <a:spcPct val="90000"/>
              </a:lnSpc>
              <a:spcBef>
                <a:spcPts val="450"/>
              </a:spcBef>
              <a:spcAft>
                <a:spcPts val="0"/>
              </a:spcAft>
              <a:buSzPts val="2400"/>
              <a:buChar char="◦"/>
            </a:pPr>
            <a:r>
              <a:rPr lang="en-US"/>
              <a:t>And use a “softmax layer”</a:t>
            </a:r>
            <a:endParaRPr/>
          </a:p>
        </p:txBody>
      </p:sp>
      <p:sp>
        <p:nvSpPr>
          <p:cNvPr id="974" name="Google Shape;974;p50"/>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75" name="Google Shape;975;p50"/>
          <p:cNvSpPr/>
          <p:nvPr/>
        </p:nvSpPr>
        <p:spPr>
          <a:xfrm>
            <a:off x="6035420" y="3472819"/>
            <a:ext cx="177879"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76" name="Google Shape;976;p50"/>
          <p:cNvSpPr/>
          <p:nvPr/>
        </p:nvSpPr>
        <p:spPr>
          <a:xfrm>
            <a:off x="5964267" y="3253347"/>
            <a:ext cx="388801"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77" name="Google Shape;977;p50"/>
          <p:cNvSpPr/>
          <p:nvPr/>
        </p:nvSpPr>
        <p:spPr>
          <a:xfrm>
            <a:off x="6019801" y="2419352"/>
            <a:ext cx="388801"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78" name="Google Shape;978;p50"/>
          <p:cNvSpPr/>
          <p:nvPr/>
        </p:nvSpPr>
        <p:spPr>
          <a:xfrm>
            <a:off x="6746933" y="3253347"/>
            <a:ext cx="388801"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79" name="Google Shape;979;p50"/>
          <p:cNvSpPr/>
          <p:nvPr/>
        </p:nvSpPr>
        <p:spPr>
          <a:xfrm>
            <a:off x="6355600" y="3253347"/>
            <a:ext cx="388801"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980" name="Google Shape;980;p50"/>
          <p:cNvCxnSpPr>
            <a:stCxn id="976" idx="0"/>
            <a:endCxn id="977" idx="3"/>
          </p:cNvCxnSpPr>
          <p:nvPr/>
        </p:nvCxnSpPr>
        <p:spPr>
          <a:xfrm rot="10800000">
            <a:off x="6076768" y="2825847"/>
            <a:ext cx="81900" cy="427500"/>
          </a:xfrm>
          <a:prstGeom prst="straightConnector1">
            <a:avLst/>
          </a:prstGeom>
          <a:noFill/>
          <a:ln>
            <a:noFill/>
          </a:ln>
        </p:spPr>
      </p:cxnSp>
      <p:cxnSp>
        <p:nvCxnSpPr>
          <p:cNvPr id="981" name="Google Shape;981;p50"/>
          <p:cNvCxnSpPr>
            <a:stCxn id="979" idx="0"/>
            <a:endCxn id="977" idx="4"/>
          </p:cNvCxnSpPr>
          <p:nvPr/>
        </p:nvCxnSpPr>
        <p:spPr>
          <a:xfrm rot="10800000">
            <a:off x="6214301" y="2895447"/>
            <a:ext cx="335700" cy="357900"/>
          </a:xfrm>
          <a:prstGeom prst="straightConnector1">
            <a:avLst/>
          </a:prstGeom>
          <a:noFill/>
          <a:ln cap="flat" cmpd="sng" w="9525">
            <a:solidFill>
              <a:schemeClr val="dk1"/>
            </a:solidFill>
            <a:prstDash val="solid"/>
            <a:round/>
            <a:headEnd len="sm" w="sm" type="none"/>
            <a:tailEnd len="med" w="med" type="stealth"/>
          </a:ln>
        </p:spPr>
      </p:cxnSp>
      <p:cxnSp>
        <p:nvCxnSpPr>
          <p:cNvPr id="982" name="Google Shape;982;p50"/>
          <p:cNvCxnSpPr>
            <a:stCxn id="978" idx="0"/>
            <a:endCxn id="977" idx="4"/>
          </p:cNvCxnSpPr>
          <p:nvPr/>
        </p:nvCxnSpPr>
        <p:spPr>
          <a:xfrm rot="10800000">
            <a:off x="6214134" y="2895447"/>
            <a:ext cx="727200" cy="357900"/>
          </a:xfrm>
          <a:prstGeom prst="straightConnector1">
            <a:avLst/>
          </a:prstGeom>
          <a:noFill/>
          <a:ln cap="flat" cmpd="sng" w="9525">
            <a:solidFill>
              <a:schemeClr val="dk1"/>
            </a:solidFill>
            <a:prstDash val="solid"/>
            <a:round/>
            <a:headEnd len="sm" w="sm" type="none"/>
            <a:tailEnd len="med" w="med" type="stealth"/>
          </a:ln>
        </p:spPr>
      </p:cxnSp>
      <p:cxnSp>
        <p:nvCxnSpPr>
          <p:cNvPr id="983" name="Google Shape;983;p50"/>
          <p:cNvCxnSpPr>
            <a:stCxn id="976" idx="0"/>
            <a:endCxn id="977" idx="4"/>
          </p:cNvCxnSpPr>
          <p:nvPr/>
        </p:nvCxnSpPr>
        <p:spPr>
          <a:xfrm flipH="1" rot="10800000">
            <a:off x="6158668" y="2895447"/>
            <a:ext cx="55500" cy="357900"/>
          </a:xfrm>
          <a:prstGeom prst="straightConnector1">
            <a:avLst/>
          </a:prstGeom>
          <a:noFill/>
          <a:ln cap="flat" cmpd="sng" w="9525">
            <a:solidFill>
              <a:schemeClr val="dk1"/>
            </a:solidFill>
            <a:prstDash val="solid"/>
            <a:round/>
            <a:headEnd len="sm" w="sm" type="none"/>
            <a:tailEnd len="med" w="med" type="stealth"/>
          </a:ln>
        </p:spPr>
      </p:cxnSp>
      <p:sp>
        <p:nvSpPr>
          <p:cNvPr id="984" name="Google Shape;984;p50"/>
          <p:cNvSpPr/>
          <p:nvPr/>
        </p:nvSpPr>
        <p:spPr>
          <a:xfrm>
            <a:off x="6213296" y="4526287"/>
            <a:ext cx="177879"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85" name="Google Shape;985;p50"/>
          <p:cNvSpPr/>
          <p:nvPr/>
        </p:nvSpPr>
        <p:spPr>
          <a:xfrm>
            <a:off x="5323904" y="4306814"/>
            <a:ext cx="406587"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86" name="Google Shape;986;p50"/>
          <p:cNvSpPr/>
          <p:nvPr/>
        </p:nvSpPr>
        <p:spPr>
          <a:xfrm>
            <a:off x="7102691" y="4306814"/>
            <a:ext cx="388801"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87" name="Google Shape;987;p50"/>
          <p:cNvSpPr/>
          <p:nvPr/>
        </p:nvSpPr>
        <p:spPr>
          <a:xfrm>
            <a:off x="6497903" y="4306814"/>
            <a:ext cx="388801"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988" name="Google Shape;988;p50"/>
          <p:cNvSpPr/>
          <p:nvPr/>
        </p:nvSpPr>
        <p:spPr>
          <a:xfrm>
            <a:off x="5857540" y="4306814"/>
            <a:ext cx="388801"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989" name="Google Shape;989;p50"/>
          <p:cNvCxnSpPr>
            <a:stCxn id="985" idx="0"/>
          </p:cNvCxnSpPr>
          <p:nvPr/>
        </p:nvCxnSpPr>
        <p:spPr>
          <a:xfrm flipH="1" rot="10800000">
            <a:off x="5527197" y="3660014"/>
            <a:ext cx="1032300" cy="646800"/>
          </a:xfrm>
          <a:prstGeom prst="straightConnector1">
            <a:avLst/>
          </a:prstGeom>
          <a:noFill/>
          <a:ln>
            <a:noFill/>
          </a:ln>
        </p:spPr>
      </p:cxnSp>
      <p:cxnSp>
        <p:nvCxnSpPr>
          <p:cNvPr id="990" name="Google Shape;990;p50"/>
          <p:cNvCxnSpPr>
            <a:stCxn id="988" idx="0"/>
            <a:endCxn id="976" idx="4"/>
          </p:cNvCxnSpPr>
          <p:nvPr/>
        </p:nvCxnSpPr>
        <p:spPr>
          <a:xfrm flipH="1" rot="10800000">
            <a:off x="6051941" y="3729314"/>
            <a:ext cx="106800" cy="577500"/>
          </a:xfrm>
          <a:prstGeom prst="straightConnector1">
            <a:avLst/>
          </a:prstGeom>
          <a:noFill/>
          <a:ln cap="flat" cmpd="sng" w="9525">
            <a:solidFill>
              <a:schemeClr val="dk1"/>
            </a:solidFill>
            <a:prstDash val="solid"/>
            <a:round/>
            <a:headEnd len="sm" w="sm" type="none"/>
            <a:tailEnd len="med" w="med" type="stealth"/>
          </a:ln>
        </p:spPr>
      </p:cxnSp>
      <p:cxnSp>
        <p:nvCxnSpPr>
          <p:cNvPr id="991" name="Google Shape;991;p50"/>
          <p:cNvCxnSpPr>
            <a:stCxn id="987" idx="0"/>
            <a:endCxn id="976" idx="4"/>
          </p:cNvCxnSpPr>
          <p:nvPr/>
        </p:nvCxnSpPr>
        <p:spPr>
          <a:xfrm rot="10800000">
            <a:off x="6158604" y="3729314"/>
            <a:ext cx="533700" cy="577500"/>
          </a:xfrm>
          <a:prstGeom prst="straightConnector1">
            <a:avLst/>
          </a:prstGeom>
          <a:noFill/>
          <a:ln cap="flat" cmpd="sng" w="9525">
            <a:solidFill>
              <a:schemeClr val="dk1"/>
            </a:solidFill>
            <a:prstDash val="solid"/>
            <a:round/>
            <a:headEnd len="sm" w="sm" type="none"/>
            <a:tailEnd len="med" w="med" type="stealth"/>
          </a:ln>
        </p:spPr>
      </p:cxnSp>
      <p:cxnSp>
        <p:nvCxnSpPr>
          <p:cNvPr id="992" name="Google Shape;992;p50"/>
          <p:cNvCxnSpPr>
            <a:stCxn id="986" idx="0"/>
            <a:endCxn id="976" idx="4"/>
          </p:cNvCxnSpPr>
          <p:nvPr/>
        </p:nvCxnSpPr>
        <p:spPr>
          <a:xfrm rot="10800000">
            <a:off x="6158591" y="3729314"/>
            <a:ext cx="1138500" cy="577500"/>
          </a:xfrm>
          <a:prstGeom prst="straightConnector1">
            <a:avLst/>
          </a:prstGeom>
          <a:noFill/>
          <a:ln cap="flat" cmpd="sng" w="9525">
            <a:solidFill>
              <a:schemeClr val="dk1"/>
            </a:solidFill>
            <a:prstDash val="solid"/>
            <a:round/>
            <a:headEnd len="sm" w="sm" type="none"/>
            <a:tailEnd len="med" w="med" type="stealth"/>
          </a:ln>
        </p:spPr>
      </p:cxnSp>
      <p:cxnSp>
        <p:nvCxnSpPr>
          <p:cNvPr id="993" name="Google Shape;993;p50"/>
          <p:cNvCxnSpPr>
            <a:stCxn id="985" idx="7"/>
            <a:endCxn id="976" idx="4"/>
          </p:cNvCxnSpPr>
          <p:nvPr/>
        </p:nvCxnSpPr>
        <p:spPr>
          <a:xfrm flipH="1" rot="10800000">
            <a:off x="5670948" y="3729433"/>
            <a:ext cx="487800" cy="647100"/>
          </a:xfrm>
          <a:prstGeom prst="straightConnector1">
            <a:avLst/>
          </a:prstGeom>
          <a:noFill/>
          <a:ln cap="flat" cmpd="sng" w="9525">
            <a:solidFill>
              <a:schemeClr val="dk1"/>
            </a:solidFill>
            <a:prstDash val="solid"/>
            <a:round/>
            <a:headEnd len="sm" w="sm" type="none"/>
            <a:tailEnd len="med" w="med" type="stealth"/>
          </a:ln>
        </p:spPr>
      </p:cxnSp>
      <p:sp>
        <p:nvSpPr>
          <p:cNvPr id="994" name="Google Shape;994;p50"/>
          <p:cNvSpPr/>
          <p:nvPr/>
        </p:nvSpPr>
        <p:spPr>
          <a:xfrm>
            <a:off x="7529600" y="4306814"/>
            <a:ext cx="388801"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995" name="Google Shape;995;p50"/>
          <p:cNvCxnSpPr>
            <a:stCxn id="994" idx="0"/>
            <a:endCxn id="976" idx="4"/>
          </p:cNvCxnSpPr>
          <p:nvPr/>
        </p:nvCxnSpPr>
        <p:spPr>
          <a:xfrm rot="10800000">
            <a:off x="6158601" y="3729314"/>
            <a:ext cx="1565400" cy="577500"/>
          </a:xfrm>
          <a:prstGeom prst="straightConnector1">
            <a:avLst/>
          </a:prstGeom>
          <a:noFill/>
          <a:ln cap="flat" cmpd="sng" w="9525">
            <a:solidFill>
              <a:schemeClr val="dk1"/>
            </a:solidFill>
            <a:prstDash val="solid"/>
            <a:round/>
            <a:headEnd len="sm" w="sm" type="none"/>
            <a:tailEnd len="med" w="med" type="stealth"/>
          </a:ln>
        </p:spPr>
      </p:cxnSp>
      <p:cxnSp>
        <p:nvCxnSpPr>
          <p:cNvPr id="996" name="Google Shape;996;p50"/>
          <p:cNvCxnSpPr>
            <a:stCxn id="985" idx="7"/>
            <a:endCxn id="979" idx="4"/>
          </p:cNvCxnSpPr>
          <p:nvPr/>
        </p:nvCxnSpPr>
        <p:spPr>
          <a:xfrm flipH="1" rot="10800000">
            <a:off x="5670948" y="3729433"/>
            <a:ext cx="879000" cy="647100"/>
          </a:xfrm>
          <a:prstGeom prst="straightConnector1">
            <a:avLst/>
          </a:prstGeom>
          <a:noFill/>
          <a:ln cap="flat" cmpd="sng" w="9525">
            <a:solidFill>
              <a:schemeClr val="dk1"/>
            </a:solidFill>
            <a:prstDash val="solid"/>
            <a:round/>
            <a:headEnd len="sm" w="sm" type="none"/>
            <a:tailEnd len="med" w="med" type="stealth"/>
          </a:ln>
        </p:spPr>
      </p:cxnSp>
      <p:cxnSp>
        <p:nvCxnSpPr>
          <p:cNvPr id="997" name="Google Shape;997;p50"/>
          <p:cNvCxnSpPr>
            <a:endCxn id="978" idx="4"/>
          </p:cNvCxnSpPr>
          <p:nvPr/>
        </p:nvCxnSpPr>
        <p:spPr>
          <a:xfrm flipH="1" rot="10800000">
            <a:off x="5475834" y="3729418"/>
            <a:ext cx="1465500" cy="609600"/>
          </a:xfrm>
          <a:prstGeom prst="straightConnector1">
            <a:avLst/>
          </a:prstGeom>
          <a:noFill/>
          <a:ln cap="flat" cmpd="sng" w="9525">
            <a:solidFill>
              <a:schemeClr val="dk1"/>
            </a:solidFill>
            <a:prstDash val="solid"/>
            <a:round/>
            <a:headEnd len="sm" w="sm" type="none"/>
            <a:tailEnd len="med" w="med" type="stealth"/>
          </a:ln>
        </p:spPr>
      </p:cxnSp>
      <p:cxnSp>
        <p:nvCxnSpPr>
          <p:cNvPr id="998" name="Google Shape;998;p50"/>
          <p:cNvCxnSpPr>
            <a:stCxn id="994" idx="0"/>
            <a:endCxn id="978" idx="4"/>
          </p:cNvCxnSpPr>
          <p:nvPr/>
        </p:nvCxnSpPr>
        <p:spPr>
          <a:xfrm rot="10800000">
            <a:off x="6941301" y="3729314"/>
            <a:ext cx="782700" cy="577500"/>
          </a:xfrm>
          <a:prstGeom prst="straightConnector1">
            <a:avLst/>
          </a:prstGeom>
          <a:noFill/>
          <a:ln cap="flat" cmpd="sng" w="9525">
            <a:solidFill>
              <a:schemeClr val="dk1"/>
            </a:solidFill>
            <a:prstDash val="solid"/>
            <a:round/>
            <a:headEnd len="sm" w="sm" type="none"/>
            <a:tailEnd len="med" w="med" type="stealth"/>
          </a:ln>
        </p:spPr>
      </p:cxnSp>
      <p:cxnSp>
        <p:nvCxnSpPr>
          <p:cNvPr id="999" name="Google Shape;999;p50"/>
          <p:cNvCxnSpPr>
            <a:stCxn id="994" idx="0"/>
            <a:endCxn id="979" idx="4"/>
          </p:cNvCxnSpPr>
          <p:nvPr/>
        </p:nvCxnSpPr>
        <p:spPr>
          <a:xfrm rot="10800000">
            <a:off x="6550101" y="3729314"/>
            <a:ext cx="1173900" cy="577500"/>
          </a:xfrm>
          <a:prstGeom prst="straightConnector1">
            <a:avLst/>
          </a:prstGeom>
          <a:noFill/>
          <a:ln cap="flat" cmpd="sng" w="9525">
            <a:solidFill>
              <a:schemeClr val="dk1"/>
            </a:solidFill>
            <a:prstDash val="solid"/>
            <a:round/>
            <a:headEnd len="sm" w="sm" type="none"/>
            <a:tailEnd len="med" w="med" type="stealth"/>
          </a:ln>
        </p:spPr>
      </p:cxnSp>
      <p:cxnSp>
        <p:nvCxnSpPr>
          <p:cNvPr id="1000" name="Google Shape;1000;p50"/>
          <p:cNvCxnSpPr>
            <a:stCxn id="986" idx="0"/>
            <a:endCxn id="979" idx="4"/>
          </p:cNvCxnSpPr>
          <p:nvPr/>
        </p:nvCxnSpPr>
        <p:spPr>
          <a:xfrm rot="10800000">
            <a:off x="6550091" y="3729314"/>
            <a:ext cx="747000" cy="577500"/>
          </a:xfrm>
          <a:prstGeom prst="straightConnector1">
            <a:avLst/>
          </a:prstGeom>
          <a:noFill/>
          <a:ln cap="flat" cmpd="sng" w="9525">
            <a:solidFill>
              <a:schemeClr val="dk1"/>
            </a:solidFill>
            <a:prstDash val="solid"/>
            <a:round/>
            <a:headEnd len="sm" w="sm" type="none"/>
            <a:tailEnd len="med" w="med" type="stealth"/>
          </a:ln>
        </p:spPr>
      </p:cxnSp>
      <p:cxnSp>
        <p:nvCxnSpPr>
          <p:cNvPr id="1001" name="Google Shape;1001;p50"/>
          <p:cNvCxnSpPr>
            <a:stCxn id="986" idx="0"/>
            <a:endCxn id="978" idx="4"/>
          </p:cNvCxnSpPr>
          <p:nvPr/>
        </p:nvCxnSpPr>
        <p:spPr>
          <a:xfrm rot="10800000">
            <a:off x="6941291" y="3729314"/>
            <a:ext cx="355800" cy="577500"/>
          </a:xfrm>
          <a:prstGeom prst="straightConnector1">
            <a:avLst/>
          </a:prstGeom>
          <a:noFill/>
          <a:ln cap="flat" cmpd="sng" w="9525">
            <a:solidFill>
              <a:schemeClr val="dk1"/>
            </a:solidFill>
            <a:prstDash val="solid"/>
            <a:round/>
            <a:headEnd len="sm" w="sm" type="none"/>
            <a:tailEnd len="med" w="med" type="stealth"/>
          </a:ln>
        </p:spPr>
      </p:cxnSp>
      <p:cxnSp>
        <p:nvCxnSpPr>
          <p:cNvPr id="1002" name="Google Shape;1002;p50"/>
          <p:cNvCxnSpPr>
            <a:stCxn id="987" idx="0"/>
            <a:endCxn id="979" idx="4"/>
          </p:cNvCxnSpPr>
          <p:nvPr/>
        </p:nvCxnSpPr>
        <p:spPr>
          <a:xfrm rot="10800000">
            <a:off x="6550104" y="3729314"/>
            <a:ext cx="142200" cy="577500"/>
          </a:xfrm>
          <a:prstGeom prst="straightConnector1">
            <a:avLst/>
          </a:prstGeom>
          <a:noFill/>
          <a:ln cap="flat" cmpd="sng" w="9525">
            <a:solidFill>
              <a:schemeClr val="dk1"/>
            </a:solidFill>
            <a:prstDash val="solid"/>
            <a:round/>
            <a:headEnd len="sm" w="sm" type="none"/>
            <a:tailEnd len="med" w="med" type="stealth"/>
          </a:ln>
        </p:spPr>
      </p:cxnSp>
      <p:cxnSp>
        <p:nvCxnSpPr>
          <p:cNvPr id="1003" name="Google Shape;1003;p50"/>
          <p:cNvCxnSpPr>
            <a:stCxn id="987" idx="0"/>
            <a:endCxn id="978" idx="4"/>
          </p:cNvCxnSpPr>
          <p:nvPr/>
        </p:nvCxnSpPr>
        <p:spPr>
          <a:xfrm flipH="1" rot="10800000">
            <a:off x="6692304" y="3729314"/>
            <a:ext cx="249000" cy="577500"/>
          </a:xfrm>
          <a:prstGeom prst="straightConnector1">
            <a:avLst/>
          </a:prstGeom>
          <a:noFill/>
          <a:ln cap="flat" cmpd="sng" w="9525">
            <a:solidFill>
              <a:schemeClr val="dk1"/>
            </a:solidFill>
            <a:prstDash val="solid"/>
            <a:round/>
            <a:headEnd len="sm" w="sm" type="none"/>
            <a:tailEnd len="med" w="med" type="stealth"/>
          </a:ln>
        </p:spPr>
      </p:cxnSp>
      <p:cxnSp>
        <p:nvCxnSpPr>
          <p:cNvPr id="1004" name="Google Shape;1004;p50"/>
          <p:cNvCxnSpPr>
            <a:stCxn id="988" idx="0"/>
            <a:endCxn id="979" idx="4"/>
          </p:cNvCxnSpPr>
          <p:nvPr/>
        </p:nvCxnSpPr>
        <p:spPr>
          <a:xfrm flipH="1" rot="10800000">
            <a:off x="6051941" y="3729314"/>
            <a:ext cx="498000" cy="577500"/>
          </a:xfrm>
          <a:prstGeom prst="straightConnector1">
            <a:avLst/>
          </a:prstGeom>
          <a:noFill/>
          <a:ln cap="flat" cmpd="sng" w="9525">
            <a:solidFill>
              <a:schemeClr val="dk1"/>
            </a:solidFill>
            <a:prstDash val="solid"/>
            <a:round/>
            <a:headEnd len="sm" w="sm" type="none"/>
            <a:tailEnd len="med" w="med" type="stealth"/>
          </a:ln>
        </p:spPr>
      </p:cxnSp>
      <p:cxnSp>
        <p:nvCxnSpPr>
          <p:cNvPr id="1005" name="Google Shape;1005;p50"/>
          <p:cNvCxnSpPr>
            <a:endCxn id="978" idx="4"/>
          </p:cNvCxnSpPr>
          <p:nvPr/>
        </p:nvCxnSpPr>
        <p:spPr>
          <a:xfrm flipH="1" rot="10800000">
            <a:off x="5946534" y="3729418"/>
            <a:ext cx="994800" cy="577500"/>
          </a:xfrm>
          <a:prstGeom prst="straightConnector1">
            <a:avLst/>
          </a:prstGeom>
          <a:noFill/>
          <a:ln cap="flat" cmpd="sng" w="9525">
            <a:solidFill>
              <a:schemeClr val="dk1"/>
            </a:solidFill>
            <a:prstDash val="solid"/>
            <a:round/>
            <a:headEnd len="sm" w="sm" type="none"/>
            <a:tailEnd len="med" w="med" type="stealth"/>
          </a:ln>
        </p:spPr>
      </p:cxnSp>
      <p:sp>
        <p:nvSpPr>
          <p:cNvPr id="1006" name="Google Shape;1006;p50"/>
          <p:cNvSpPr txBox="1"/>
          <p:nvPr/>
        </p:nvSpPr>
        <p:spPr>
          <a:xfrm>
            <a:off x="5786388" y="2726611"/>
            <a:ext cx="2134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590A0E"/>
                </a:solidFill>
                <a:latin typeface="Calibri"/>
                <a:ea typeface="Calibri"/>
                <a:cs typeface="Calibri"/>
                <a:sym typeface="Calibri"/>
              </a:rPr>
              <a:t>U</a:t>
            </a:r>
            <a:endParaRPr/>
          </a:p>
        </p:txBody>
      </p:sp>
      <p:sp>
        <p:nvSpPr>
          <p:cNvPr id="1007" name="Google Shape;1007;p50"/>
          <p:cNvSpPr txBox="1"/>
          <p:nvPr/>
        </p:nvSpPr>
        <p:spPr>
          <a:xfrm>
            <a:off x="5323905" y="3692290"/>
            <a:ext cx="2134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590A0E"/>
                </a:solidFill>
                <a:latin typeface="Calibri"/>
                <a:ea typeface="Calibri"/>
                <a:cs typeface="Calibri"/>
                <a:sym typeface="Calibri"/>
              </a:rPr>
              <a:t>W</a:t>
            </a:r>
            <a:endParaRPr/>
          </a:p>
        </p:txBody>
      </p:sp>
      <p:sp>
        <p:nvSpPr>
          <p:cNvPr id="1008" name="Google Shape;1008;p50"/>
          <p:cNvSpPr txBox="1"/>
          <p:nvPr/>
        </p:nvSpPr>
        <p:spPr>
          <a:xfrm>
            <a:off x="7560091" y="4343400"/>
            <a:ext cx="38504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x</a:t>
            </a:r>
            <a:r>
              <a:rPr baseline="-25000" lang="en-US" sz="2000">
                <a:solidFill>
                  <a:schemeClr val="dk1"/>
                </a:solidFill>
                <a:latin typeface="Calibri"/>
                <a:ea typeface="Calibri"/>
                <a:cs typeface="Calibri"/>
                <a:sym typeface="Calibri"/>
              </a:rPr>
              <a:t>n</a:t>
            </a:r>
            <a:endParaRPr baseline="-25000" sz="1800">
              <a:solidFill>
                <a:schemeClr val="dk1"/>
              </a:solidFill>
              <a:latin typeface="Calibri"/>
              <a:ea typeface="Calibri"/>
              <a:cs typeface="Calibri"/>
              <a:sym typeface="Calibri"/>
            </a:endParaRPr>
          </a:p>
        </p:txBody>
      </p:sp>
      <p:sp>
        <p:nvSpPr>
          <p:cNvPr id="1009" name="Google Shape;1009;p50"/>
          <p:cNvSpPr txBox="1"/>
          <p:nvPr/>
        </p:nvSpPr>
        <p:spPr>
          <a:xfrm>
            <a:off x="5365136" y="4356277"/>
            <a:ext cx="40658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x</a:t>
            </a:r>
            <a:r>
              <a:rPr baseline="-25000" lang="en-US" sz="2000">
                <a:solidFill>
                  <a:schemeClr val="dk1"/>
                </a:solidFill>
                <a:latin typeface="Calibri"/>
                <a:ea typeface="Calibri"/>
                <a:cs typeface="Calibri"/>
                <a:sym typeface="Calibri"/>
              </a:rPr>
              <a:t>1</a:t>
            </a:r>
            <a:endParaRPr baseline="-25000" sz="1800">
              <a:solidFill>
                <a:schemeClr val="dk1"/>
              </a:solidFill>
              <a:latin typeface="Calibri"/>
              <a:ea typeface="Calibri"/>
              <a:cs typeface="Calibri"/>
              <a:sym typeface="Calibri"/>
            </a:endParaRPr>
          </a:p>
        </p:txBody>
      </p:sp>
      <p:sp>
        <p:nvSpPr>
          <p:cNvPr id="1010" name="Google Shape;1010;p50"/>
          <p:cNvSpPr/>
          <p:nvPr/>
        </p:nvSpPr>
        <p:spPr>
          <a:xfrm>
            <a:off x="6733276" y="2419352"/>
            <a:ext cx="388801"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1011" name="Google Shape;1011;p50"/>
          <p:cNvCxnSpPr>
            <a:stCxn id="978" idx="0"/>
            <a:endCxn id="1010" idx="4"/>
          </p:cNvCxnSpPr>
          <p:nvPr/>
        </p:nvCxnSpPr>
        <p:spPr>
          <a:xfrm rot="10800000">
            <a:off x="6927534" y="2895447"/>
            <a:ext cx="13800" cy="357900"/>
          </a:xfrm>
          <a:prstGeom prst="straightConnector1">
            <a:avLst/>
          </a:prstGeom>
          <a:noFill/>
          <a:ln cap="flat" cmpd="sng" w="9525">
            <a:solidFill>
              <a:schemeClr val="dk1"/>
            </a:solidFill>
            <a:prstDash val="solid"/>
            <a:round/>
            <a:headEnd len="sm" w="sm" type="none"/>
            <a:tailEnd len="med" w="med" type="stealth"/>
          </a:ln>
        </p:spPr>
      </p:cxnSp>
      <p:cxnSp>
        <p:nvCxnSpPr>
          <p:cNvPr id="1012" name="Google Shape;1012;p50"/>
          <p:cNvCxnSpPr>
            <a:stCxn id="979" idx="0"/>
            <a:endCxn id="1010" idx="4"/>
          </p:cNvCxnSpPr>
          <p:nvPr/>
        </p:nvCxnSpPr>
        <p:spPr>
          <a:xfrm flipH="1" rot="10800000">
            <a:off x="6550001" y="2895447"/>
            <a:ext cx="377700" cy="357900"/>
          </a:xfrm>
          <a:prstGeom prst="straightConnector1">
            <a:avLst/>
          </a:prstGeom>
          <a:noFill/>
          <a:ln cap="flat" cmpd="sng" w="9525">
            <a:solidFill>
              <a:schemeClr val="dk1"/>
            </a:solidFill>
            <a:prstDash val="solid"/>
            <a:round/>
            <a:headEnd len="sm" w="sm" type="none"/>
            <a:tailEnd len="med" w="med" type="stealth"/>
          </a:ln>
        </p:spPr>
      </p:cxnSp>
      <p:cxnSp>
        <p:nvCxnSpPr>
          <p:cNvPr id="1013" name="Google Shape;1013;p50"/>
          <p:cNvCxnSpPr>
            <a:stCxn id="976" idx="0"/>
            <a:endCxn id="1010" idx="4"/>
          </p:cNvCxnSpPr>
          <p:nvPr/>
        </p:nvCxnSpPr>
        <p:spPr>
          <a:xfrm flipH="1" rot="10800000">
            <a:off x="6158668" y="2895447"/>
            <a:ext cx="768900" cy="357900"/>
          </a:xfrm>
          <a:prstGeom prst="straightConnector1">
            <a:avLst/>
          </a:prstGeom>
          <a:noFill/>
          <a:ln cap="flat" cmpd="sng" w="9525">
            <a:solidFill>
              <a:schemeClr val="dk1"/>
            </a:solidFill>
            <a:prstDash val="solid"/>
            <a:round/>
            <a:headEnd len="sm" w="sm" type="none"/>
            <a:tailEnd len="med" w="med" type="stealth"/>
          </a:ln>
        </p:spPr>
      </p:cxnSp>
      <p:pic>
        <p:nvPicPr>
          <p:cNvPr descr="softmax.png" id="1014" name="Google Shape;1014;p50"/>
          <p:cNvPicPr preferRelativeResize="0"/>
          <p:nvPr/>
        </p:nvPicPr>
        <p:blipFill rotWithShape="1">
          <a:blip r:embed="rId3">
            <a:alphaModFix/>
          </a:blip>
          <a:srcRect b="13675" l="5769" r="14134" t="15667"/>
          <a:stretch/>
        </p:blipFill>
        <p:spPr>
          <a:xfrm>
            <a:off x="414200" y="2791471"/>
            <a:ext cx="4429347" cy="86145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51"/>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Neural Language Models (LMs)</a:t>
            </a:r>
            <a:endParaRPr/>
          </a:p>
        </p:txBody>
      </p:sp>
      <p:sp>
        <p:nvSpPr>
          <p:cNvPr id="1020" name="Google Shape;1020;p51"/>
          <p:cNvSpPr txBox="1"/>
          <p:nvPr>
            <p:ph idx="1" type="body"/>
          </p:nvPr>
        </p:nvSpPr>
        <p:spPr>
          <a:xfrm>
            <a:off x="822962" y="1200150"/>
            <a:ext cx="7920989" cy="3823648"/>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b="1" lang="en-US">
                <a:solidFill>
                  <a:schemeClr val="dk1"/>
                </a:solidFill>
              </a:rPr>
              <a:t>Language Modeling</a:t>
            </a:r>
            <a:r>
              <a:rPr lang="en-US"/>
              <a:t>: Calculating the probability of the next word in a sequence given some history. </a:t>
            </a:r>
            <a:endParaRPr/>
          </a:p>
          <a:p>
            <a:pPr indent="-428615" lvl="0" marL="428615" rtl="0" algn="l">
              <a:lnSpc>
                <a:spcPct val="90000"/>
              </a:lnSpc>
              <a:spcBef>
                <a:spcPts val="1050"/>
              </a:spcBef>
              <a:spcAft>
                <a:spcPts val="0"/>
              </a:spcAft>
              <a:buSzPts val="2800"/>
              <a:buFont typeface="Arial"/>
              <a:buChar char="•"/>
            </a:pPr>
            <a:r>
              <a:rPr lang="en-US"/>
              <a:t>We've seen N-gram based LMs</a:t>
            </a:r>
            <a:endParaRPr/>
          </a:p>
          <a:p>
            <a:pPr indent="-428615" lvl="0" marL="428615" rtl="0" algn="l">
              <a:lnSpc>
                <a:spcPct val="90000"/>
              </a:lnSpc>
              <a:spcBef>
                <a:spcPts val="1050"/>
              </a:spcBef>
              <a:spcAft>
                <a:spcPts val="0"/>
              </a:spcAft>
              <a:buSzPts val="2800"/>
              <a:buFont typeface="Arial"/>
              <a:buChar char="•"/>
            </a:pPr>
            <a:r>
              <a:rPr lang="en-US"/>
              <a:t>But neural network LMs far outperform n-gram language models</a:t>
            </a:r>
            <a:endParaRPr/>
          </a:p>
          <a:p>
            <a:pPr indent="0" lvl="0" marL="0" rtl="0" algn="l">
              <a:lnSpc>
                <a:spcPct val="90000"/>
              </a:lnSpc>
              <a:spcBef>
                <a:spcPts val="1050"/>
              </a:spcBef>
              <a:spcAft>
                <a:spcPts val="0"/>
              </a:spcAft>
              <a:buSzPts val="2800"/>
              <a:buNone/>
            </a:pPr>
            <a:r>
              <a:rPr lang="en-US"/>
              <a:t>State-of-the-art neural LMs are based on more powerful neural network technology like Transformers</a:t>
            </a:r>
            <a:endParaRPr/>
          </a:p>
          <a:p>
            <a:pPr indent="0" lvl="0" marL="0" rtl="0" algn="l">
              <a:lnSpc>
                <a:spcPct val="90000"/>
              </a:lnSpc>
              <a:spcBef>
                <a:spcPts val="1050"/>
              </a:spcBef>
              <a:spcAft>
                <a:spcPts val="0"/>
              </a:spcAft>
              <a:buSzPts val="2800"/>
              <a:buNone/>
            </a:pPr>
            <a:r>
              <a:rPr lang="en-US"/>
              <a:t>But </a:t>
            </a:r>
            <a:r>
              <a:rPr b="1" lang="en-US"/>
              <a:t>simple feedforward LMs </a:t>
            </a:r>
            <a:r>
              <a:rPr lang="en-US"/>
              <a:t>can do almost as well!</a:t>
            </a:r>
            <a:endParaRPr/>
          </a:p>
          <a:p>
            <a:pPr indent="-7938" lvl="0" marL="7938" rtl="0" algn="l">
              <a:lnSpc>
                <a:spcPct val="90000"/>
              </a:lnSpc>
              <a:spcBef>
                <a:spcPts val="1050"/>
              </a:spcBef>
              <a:spcAft>
                <a:spcPts val="0"/>
              </a:spcAft>
              <a:buSzPts val="2800"/>
              <a:buNone/>
            </a:pPr>
            <a:r>
              <a:t/>
            </a:r>
            <a:endParaRPr/>
          </a:p>
        </p:txBody>
      </p:sp>
      <p:sp>
        <p:nvSpPr>
          <p:cNvPr id="1021" name="Google Shape;1021;p51"/>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52"/>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b="0" lang="en-US"/>
              <a:t>Simple feedforward Neural Language Models</a:t>
            </a:r>
            <a:endParaRPr/>
          </a:p>
        </p:txBody>
      </p:sp>
      <p:sp>
        <p:nvSpPr>
          <p:cNvPr id="1027" name="Google Shape;1027;p52"/>
          <p:cNvSpPr txBox="1"/>
          <p:nvPr>
            <p:ph idx="1" type="body"/>
          </p:nvPr>
        </p:nvSpPr>
        <p:spPr>
          <a:xfrm>
            <a:off x="822962" y="1200150"/>
            <a:ext cx="7543801" cy="34290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b="1" lang="en-US"/>
              <a:t>Task</a:t>
            </a:r>
            <a:r>
              <a:rPr lang="en-US"/>
              <a:t>: predict next word </a:t>
            </a:r>
            <a:r>
              <a:rPr lang="en-US">
                <a:latin typeface="Times New Roman"/>
                <a:ea typeface="Times New Roman"/>
                <a:cs typeface="Times New Roman"/>
                <a:sym typeface="Times New Roman"/>
              </a:rPr>
              <a:t>w</a:t>
            </a:r>
            <a:r>
              <a:rPr baseline="-25000" lang="en-US">
                <a:latin typeface="Times New Roman"/>
                <a:ea typeface="Times New Roman"/>
                <a:cs typeface="Times New Roman"/>
                <a:sym typeface="Times New Roman"/>
              </a:rPr>
              <a:t>t</a:t>
            </a:r>
            <a:r>
              <a:rPr lang="en-US">
                <a:latin typeface="Times New Roman"/>
                <a:ea typeface="Times New Roman"/>
                <a:cs typeface="Times New Roman"/>
                <a:sym typeface="Times New Roman"/>
              </a:rPr>
              <a:t> </a:t>
            </a:r>
            <a:endParaRPr/>
          </a:p>
          <a:p>
            <a:pPr indent="-7938" lvl="0" marL="7938" rtl="0" algn="l">
              <a:lnSpc>
                <a:spcPct val="90000"/>
              </a:lnSpc>
              <a:spcBef>
                <a:spcPts val="1050"/>
              </a:spcBef>
              <a:spcAft>
                <a:spcPts val="0"/>
              </a:spcAft>
              <a:buSzPts val="2800"/>
              <a:buNone/>
            </a:pPr>
            <a:r>
              <a:rPr lang="en-US"/>
              <a:t>		  given prior words </a:t>
            </a:r>
            <a:r>
              <a:rPr lang="en-US">
                <a:latin typeface="Times New Roman"/>
                <a:ea typeface="Times New Roman"/>
                <a:cs typeface="Times New Roman"/>
                <a:sym typeface="Times New Roman"/>
              </a:rPr>
              <a:t>w</a:t>
            </a:r>
            <a:r>
              <a:rPr baseline="-25000" lang="en-US">
                <a:latin typeface="Times New Roman"/>
                <a:ea typeface="Times New Roman"/>
                <a:cs typeface="Times New Roman"/>
                <a:sym typeface="Times New Roman"/>
              </a:rPr>
              <a:t>t-1</a:t>
            </a:r>
            <a:r>
              <a:rPr lang="en-US">
                <a:latin typeface="Times New Roman"/>
                <a:ea typeface="Times New Roman"/>
                <a:cs typeface="Times New Roman"/>
                <a:sym typeface="Times New Roman"/>
              </a:rPr>
              <a:t>, w</a:t>
            </a:r>
            <a:r>
              <a:rPr baseline="-25000" lang="en-US">
                <a:latin typeface="Times New Roman"/>
                <a:ea typeface="Times New Roman"/>
                <a:cs typeface="Times New Roman"/>
                <a:sym typeface="Times New Roman"/>
              </a:rPr>
              <a:t>t-2</a:t>
            </a:r>
            <a:r>
              <a:rPr lang="en-US">
                <a:latin typeface="Times New Roman"/>
                <a:ea typeface="Times New Roman"/>
                <a:cs typeface="Times New Roman"/>
                <a:sym typeface="Times New Roman"/>
              </a:rPr>
              <a:t>, w</a:t>
            </a:r>
            <a:r>
              <a:rPr baseline="-25000" lang="en-US">
                <a:latin typeface="Times New Roman"/>
                <a:ea typeface="Times New Roman"/>
                <a:cs typeface="Times New Roman"/>
                <a:sym typeface="Times New Roman"/>
              </a:rPr>
              <a:t>t-3</a:t>
            </a:r>
            <a:r>
              <a:rPr lang="en-US"/>
              <a:t>, …</a:t>
            </a:r>
            <a:endParaRPr/>
          </a:p>
          <a:p>
            <a:pPr indent="-7938" lvl="0" marL="7938" rtl="0" algn="l">
              <a:lnSpc>
                <a:spcPct val="90000"/>
              </a:lnSpc>
              <a:spcBef>
                <a:spcPts val="1050"/>
              </a:spcBef>
              <a:spcAft>
                <a:spcPts val="0"/>
              </a:spcAft>
              <a:buSzPts val="2800"/>
              <a:buNone/>
            </a:pPr>
            <a:r>
              <a:rPr b="1" lang="en-US"/>
              <a:t>Problem</a:t>
            </a:r>
            <a:r>
              <a:rPr lang="en-US"/>
              <a:t>: Now we’re dealing with sequences of arbitrary length.</a:t>
            </a:r>
            <a:endParaRPr/>
          </a:p>
          <a:p>
            <a:pPr indent="-7938" lvl="0" marL="7938" rtl="0" algn="l">
              <a:lnSpc>
                <a:spcPct val="90000"/>
              </a:lnSpc>
              <a:spcBef>
                <a:spcPts val="1050"/>
              </a:spcBef>
              <a:spcAft>
                <a:spcPts val="0"/>
              </a:spcAft>
              <a:buSzPts val="2800"/>
              <a:buNone/>
            </a:pPr>
            <a:r>
              <a:rPr b="1" lang="en-US"/>
              <a:t>Solution</a:t>
            </a:r>
            <a:r>
              <a:rPr lang="en-US"/>
              <a:t>: Sliding windows (of fixed length)</a:t>
            </a:r>
            <a:endParaRPr/>
          </a:p>
        </p:txBody>
      </p:sp>
      <p:sp>
        <p:nvSpPr>
          <p:cNvPr id="1028" name="Google Shape;1028;p52"/>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LM.png" id="1029" name="Google Shape;1029;p52"/>
          <p:cNvPicPr preferRelativeResize="0"/>
          <p:nvPr/>
        </p:nvPicPr>
        <p:blipFill rotWithShape="1">
          <a:blip r:embed="rId3">
            <a:alphaModFix/>
          </a:blip>
          <a:srcRect b="0" l="0" r="0" t="0"/>
          <a:stretch/>
        </p:blipFill>
        <p:spPr>
          <a:xfrm>
            <a:off x="2397761" y="3943351"/>
            <a:ext cx="4394200" cy="64155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53"/>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36" name="Google Shape;1036;p53"/>
          <p:cNvSpPr txBox="1"/>
          <p:nvPr>
            <p:ph type="title"/>
          </p:nvPr>
        </p:nvSpPr>
        <p:spPr>
          <a:xfrm>
            <a:off x="822960" y="119702"/>
            <a:ext cx="472059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Neural Language Model </a:t>
            </a:r>
            <a:endParaRPr/>
          </a:p>
        </p:txBody>
      </p:sp>
      <p:pic>
        <p:nvPicPr>
          <p:cNvPr id="1037" name="Google Shape;1037;p53"/>
          <p:cNvPicPr preferRelativeResize="0"/>
          <p:nvPr/>
        </p:nvPicPr>
        <p:blipFill rotWithShape="1">
          <a:blip r:embed="rId3">
            <a:alphaModFix/>
          </a:blip>
          <a:srcRect b="0" l="0" r="0" t="0"/>
          <a:stretch/>
        </p:blipFill>
        <p:spPr>
          <a:xfrm>
            <a:off x="1339093" y="800100"/>
            <a:ext cx="6465818" cy="43434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54"/>
          <p:cNvSpPr txBox="1"/>
          <p:nvPr>
            <p:ph type="title"/>
          </p:nvPr>
        </p:nvSpPr>
        <p:spPr>
          <a:xfrm>
            <a:off x="822960" y="119702"/>
            <a:ext cx="7940040" cy="68039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US"/>
              <a:t>Why Neural LMs work better than N-gram LMs</a:t>
            </a:r>
            <a:endParaRPr/>
          </a:p>
        </p:txBody>
      </p:sp>
      <p:sp>
        <p:nvSpPr>
          <p:cNvPr id="1043" name="Google Shape;1043;p54"/>
          <p:cNvSpPr txBox="1"/>
          <p:nvPr>
            <p:ph idx="1" type="body"/>
          </p:nvPr>
        </p:nvSpPr>
        <p:spPr>
          <a:xfrm>
            <a:off x="822962" y="1200150"/>
            <a:ext cx="8149589" cy="3823648"/>
          </a:xfrm>
          <a:prstGeom prst="rect">
            <a:avLst/>
          </a:prstGeom>
          <a:noFill/>
          <a:ln>
            <a:noFill/>
          </a:ln>
        </p:spPr>
        <p:txBody>
          <a:bodyPr anchorCtr="0" anchor="t" bIns="45700" lIns="0" spcFirstLastPara="1" rIns="0" wrap="square" tIns="45700">
            <a:normAutofit lnSpcReduction="10000"/>
          </a:bodyPr>
          <a:lstStyle/>
          <a:p>
            <a:pPr indent="-7938" lvl="0" marL="7938" rtl="0" algn="l">
              <a:lnSpc>
                <a:spcPct val="90000"/>
              </a:lnSpc>
              <a:spcBef>
                <a:spcPts val="0"/>
              </a:spcBef>
              <a:spcAft>
                <a:spcPts val="0"/>
              </a:spcAft>
              <a:buSzPts val="2800"/>
              <a:buNone/>
            </a:pPr>
            <a:r>
              <a:rPr b="1" lang="en-US"/>
              <a:t>Training data:</a:t>
            </a:r>
            <a:endParaRPr/>
          </a:p>
          <a:p>
            <a:pPr indent="-7938" lvl="0" marL="7938" rtl="0" algn="l">
              <a:lnSpc>
                <a:spcPct val="90000"/>
              </a:lnSpc>
              <a:spcBef>
                <a:spcPts val="1050"/>
              </a:spcBef>
              <a:spcAft>
                <a:spcPts val="0"/>
              </a:spcAft>
              <a:buSzPts val="2800"/>
              <a:buNone/>
            </a:pPr>
            <a:r>
              <a:rPr lang="en-US">
                <a:solidFill>
                  <a:schemeClr val="dk1"/>
                </a:solidFill>
              </a:rPr>
              <a:t>We've seen</a:t>
            </a:r>
            <a:r>
              <a:rPr lang="en-US">
                <a:solidFill>
                  <a:srgbClr val="0000FF"/>
                </a:solidFill>
              </a:rPr>
              <a:t>:  I have to make sure that the cat gets fed. </a:t>
            </a:r>
            <a:endParaRPr/>
          </a:p>
          <a:p>
            <a:pPr indent="-7938" lvl="0" marL="7938" rtl="0" algn="l">
              <a:lnSpc>
                <a:spcPct val="90000"/>
              </a:lnSpc>
              <a:spcBef>
                <a:spcPts val="1050"/>
              </a:spcBef>
              <a:spcAft>
                <a:spcPts val="0"/>
              </a:spcAft>
              <a:buSzPts val="2800"/>
              <a:buNone/>
            </a:pPr>
            <a:r>
              <a:rPr lang="en-US"/>
              <a:t>Never seen:   </a:t>
            </a:r>
            <a:r>
              <a:rPr lang="en-US">
                <a:solidFill>
                  <a:srgbClr val="0000FF"/>
                </a:solidFill>
              </a:rPr>
              <a:t>dog gets fed</a:t>
            </a:r>
            <a:endParaRPr/>
          </a:p>
          <a:p>
            <a:pPr indent="-7938" lvl="0" marL="7938" rtl="0" algn="l">
              <a:lnSpc>
                <a:spcPct val="90000"/>
              </a:lnSpc>
              <a:spcBef>
                <a:spcPts val="1050"/>
              </a:spcBef>
              <a:spcAft>
                <a:spcPts val="0"/>
              </a:spcAft>
              <a:buSzPts val="2800"/>
              <a:buNone/>
            </a:pPr>
            <a:r>
              <a:rPr b="1" lang="en-US"/>
              <a:t>Test data:</a:t>
            </a:r>
            <a:endParaRPr/>
          </a:p>
          <a:p>
            <a:pPr indent="-7938" lvl="0" marL="7938" rtl="0" algn="l">
              <a:lnSpc>
                <a:spcPct val="90000"/>
              </a:lnSpc>
              <a:spcBef>
                <a:spcPts val="1050"/>
              </a:spcBef>
              <a:spcAft>
                <a:spcPts val="0"/>
              </a:spcAft>
              <a:buSzPts val="2800"/>
              <a:buNone/>
            </a:pPr>
            <a:r>
              <a:rPr lang="en-US">
                <a:solidFill>
                  <a:srgbClr val="0000FF"/>
                </a:solidFill>
              </a:rPr>
              <a:t>I forgot to make sure that the dog gets ___</a:t>
            </a:r>
            <a:endParaRPr/>
          </a:p>
          <a:p>
            <a:pPr indent="-7938" lvl="0" marL="7938" rtl="0" algn="l">
              <a:lnSpc>
                <a:spcPct val="90000"/>
              </a:lnSpc>
              <a:spcBef>
                <a:spcPts val="1050"/>
              </a:spcBef>
              <a:spcAft>
                <a:spcPts val="0"/>
              </a:spcAft>
              <a:buSzPts val="2800"/>
              <a:buNone/>
            </a:pPr>
            <a:r>
              <a:rPr lang="en-US">
                <a:solidFill>
                  <a:schemeClr val="dk1"/>
                </a:solidFill>
              </a:rPr>
              <a:t>N-gram LM can't predict "</a:t>
            </a:r>
            <a:r>
              <a:rPr lang="en-US">
                <a:solidFill>
                  <a:srgbClr val="0000FF"/>
                </a:solidFill>
              </a:rPr>
              <a:t>fed</a:t>
            </a:r>
            <a:r>
              <a:rPr lang="en-US">
                <a:solidFill>
                  <a:schemeClr val="dk1"/>
                </a:solidFill>
              </a:rPr>
              <a:t>"!</a:t>
            </a:r>
            <a:endParaRPr/>
          </a:p>
          <a:p>
            <a:pPr indent="-7938" lvl="0" marL="7938" rtl="0" algn="l">
              <a:lnSpc>
                <a:spcPct val="90000"/>
              </a:lnSpc>
              <a:spcBef>
                <a:spcPts val="1050"/>
              </a:spcBef>
              <a:spcAft>
                <a:spcPts val="0"/>
              </a:spcAft>
              <a:buSzPts val="2800"/>
              <a:buNone/>
            </a:pPr>
            <a:r>
              <a:rPr lang="en-US">
                <a:solidFill>
                  <a:schemeClr val="dk1"/>
                </a:solidFill>
              </a:rPr>
              <a:t>Neural LM </a:t>
            </a:r>
            <a:r>
              <a:rPr lang="en-US"/>
              <a:t>can use similarity of "</a:t>
            </a:r>
            <a:r>
              <a:rPr lang="en-US">
                <a:solidFill>
                  <a:srgbClr val="0000FF"/>
                </a:solidFill>
              </a:rPr>
              <a:t>cat</a:t>
            </a:r>
            <a:r>
              <a:rPr lang="en-US"/>
              <a:t>" and "</a:t>
            </a:r>
            <a:r>
              <a:rPr lang="en-US">
                <a:solidFill>
                  <a:srgbClr val="0000FF"/>
                </a:solidFill>
              </a:rPr>
              <a:t>dog</a:t>
            </a:r>
            <a:r>
              <a:rPr lang="en-US"/>
              <a:t>" embeddings to generalize and predict “</a:t>
            </a:r>
            <a:r>
              <a:rPr lang="en-US">
                <a:solidFill>
                  <a:srgbClr val="0000FF"/>
                </a:solidFill>
              </a:rPr>
              <a:t>fed</a:t>
            </a:r>
            <a:r>
              <a:rPr lang="en-US"/>
              <a:t>” after </a:t>
            </a:r>
            <a:r>
              <a:rPr lang="en-US">
                <a:solidFill>
                  <a:srgbClr val="0000FF"/>
                </a:solidFill>
              </a:rPr>
              <a:t>dog</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55"/>
          <p:cNvSpPr txBox="1"/>
          <p:nvPr>
            <p:ph type="title"/>
          </p:nvPr>
        </p:nvSpPr>
        <p:spPr>
          <a:xfrm>
            <a:off x="342900" y="445769"/>
            <a:ext cx="2400300" cy="1714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chemeClr val="lt1"/>
              </a:buClr>
              <a:buSzPct val="100000"/>
              <a:buFont typeface="Calibri"/>
              <a:buNone/>
            </a:pPr>
            <a:r>
              <a:rPr lang="en-US" sz="3000">
                <a:solidFill>
                  <a:schemeClr val="lt1"/>
                </a:solidFill>
              </a:rPr>
              <a:t>Simple Neural Networks and Neural Language Models</a:t>
            </a:r>
            <a:endParaRPr sz="3000">
              <a:solidFill>
                <a:schemeClr val="lt1"/>
              </a:solidFill>
            </a:endParaRPr>
          </a:p>
        </p:txBody>
      </p:sp>
      <p:sp>
        <p:nvSpPr>
          <p:cNvPr id="1050" name="Google Shape;1050;p55"/>
          <p:cNvSpPr txBox="1"/>
          <p:nvPr>
            <p:ph idx="1" type="body"/>
          </p:nvPr>
        </p:nvSpPr>
        <p:spPr>
          <a:xfrm>
            <a:off x="3460240" y="548640"/>
            <a:ext cx="5009393" cy="3943350"/>
          </a:xfrm>
          <a:prstGeom prst="rect">
            <a:avLst/>
          </a:prstGeom>
          <a:noFill/>
          <a:ln>
            <a:noFill/>
          </a:ln>
        </p:spPr>
        <p:txBody>
          <a:bodyPr anchorCtr="0" anchor="t" bIns="45700" lIns="0" spcFirstLastPara="1" rIns="0" wrap="square" tIns="45700">
            <a:normAutofit/>
          </a:bodyPr>
          <a:lstStyle/>
          <a:p>
            <a:pPr indent="-190500" lvl="0" marL="68577" rtl="0" algn="l">
              <a:lnSpc>
                <a:spcPct val="90000"/>
              </a:lnSpc>
              <a:spcBef>
                <a:spcPts val="0"/>
              </a:spcBef>
              <a:spcAft>
                <a:spcPts val="0"/>
              </a:spcAft>
              <a:buSzPts val="3000"/>
              <a:buChar char=" "/>
            </a:pPr>
            <a:r>
              <a:rPr lang="en-US" sz="3000">
                <a:solidFill>
                  <a:schemeClr val="dk2"/>
                </a:solidFill>
              </a:rPr>
              <a:t>Applying feedforward networks to NLP tasks</a:t>
            </a:r>
            <a:endParaRPr/>
          </a:p>
        </p:txBody>
      </p:sp>
      <p:sp>
        <p:nvSpPr>
          <p:cNvPr id="1051" name="Google Shape;1051;p55"/>
          <p:cNvSpPr txBox="1"/>
          <p:nvPr>
            <p:ph idx="2" type="body"/>
          </p:nvPr>
        </p:nvSpPr>
        <p:spPr>
          <a:xfrm>
            <a:off x="342900" y="2194562"/>
            <a:ext cx="2400300" cy="25343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125"/>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56"/>
          <p:cNvSpPr txBox="1"/>
          <p:nvPr>
            <p:ph type="title"/>
          </p:nvPr>
        </p:nvSpPr>
        <p:spPr>
          <a:xfrm>
            <a:off x="342900" y="445769"/>
            <a:ext cx="2400300" cy="1714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chemeClr val="lt1"/>
              </a:buClr>
              <a:buSzPct val="100000"/>
              <a:buFont typeface="Calibri"/>
              <a:buNone/>
            </a:pPr>
            <a:r>
              <a:rPr lang="en-US" sz="3000">
                <a:solidFill>
                  <a:schemeClr val="lt1"/>
                </a:solidFill>
              </a:rPr>
              <a:t>Simple Neural Networks and Neural Language Models</a:t>
            </a:r>
            <a:endParaRPr sz="3000">
              <a:solidFill>
                <a:schemeClr val="lt1"/>
              </a:solidFill>
            </a:endParaRPr>
          </a:p>
        </p:txBody>
      </p:sp>
      <p:sp>
        <p:nvSpPr>
          <p:cNvPr id="1058" name="Google Shape;1058;p56"/>
          <p:cNvSpPr txBox="1"/>
          <p:nvPr>
            <p:ph idx="1" type="body"/>
          </p:nvPr>
        </p:nvSpPr>
        <p:spPr>
          <a:xfrm>
            <a:off x="3460240" y="548640"/>
            <a:ext cx="5009393" cy="3943350"/>
          </a:xfrm>
          <a:prstGeom prst="rect">
            <a:avLst/>
          </a:prstGeom>
          <a:noFill/>
          <a:ln>
            <a:noFill/>
          </a:ln>
        </p:spPr>
        <p:txBody>
          <a:bodyPr anchorCtr="0" anchor="t" bIns="45700" lIns="0" spcFirstLastPara="1" rIns="0" wrap="square" tIns="45700">
            <a:normAutofit/>
          </a:bodyPr>
          <a:lstStyle/>
          <a:p>
            <a:pPr indent="-190500" lvl="0" marL="68577" rtl="0" algn="l">
              <a:lnSpc>
                <a:spcPct val="90000"/>
              </a:lnSpc>
              <a:spcBef>
                <a:spcPts val="0"/>
              </a:spcBef>
              <a:spcAft>
                <a:spcPts val="0"/>
              </a:spcAft>
              <a:buSzPts val="3000"/>
              <a:buChar char=" "/>
            </a:pPr>
            <a:r>
              <a:rPr lang="en-US" sz="3000">
                <a:solidFill>
                  <a:schemeClr val="dk2"/>
                </a:solidFill>
              </a:rPr>
              <a:t>Training Neural Nets: Overview</a:t>
            </a:r>
            <a:endParaRPr/>
          </a:p>
        </p:txBody>
      </p:sp>
      <p:sp>
        <p:nvSpPr>
          <p:cNvPr id="1059" name="Google Shape;1059;p56"/>
          <p:cNvSpPr txBox="1"/>
          <p:nvPr>
            <p:ph idx="2" type="body"/>
          </p:nvPr>
        </p:nvSpPr>
        <p:spPr>
          <a:xfrm>
            <a:off x="342900" y="2194562"/>
            <a:ext cx="2400300" cy="25343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125"/>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57"/>
          <p:cNvSpPr txBox="1"/>
          <p:nvPr>
            <p:ph type="title"/>
          </p:nvPr>
        </p:nvSpPr>
        <p:spPr>
          <a:xfrm>
            <a:off x="762002" y="0"/>
            <a:ext cx="8153399" cy="8001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Intuition: training a 2-layer Network</a:t>
            </a:r>
            <a:endParaRPr/>
          </a:p>
        </p:txBody>
      </p:sp>
      <p:sp>
        <p:nvSpPr>
          <p:cNvPr id="1066" name="Google Shape;1066;p57"/>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67" name="Google Shape;1067;p57"/>
          <p:cNvSpPr/>
          <p:nvPr/>
        </p:nvSpPr>
        <p:spPr>
          <a:xfrm>
            <a:off x="3908121" y="3158156"/>
            <a:ext cx="274441"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068" name="Google Shape;1068;p57"/>
          <p:cNvSpPr/>
          <p:nvPr/>
        </p:nvSpPr>
        <p:spPr>
          <a:xfrm>
            <a:off x="3578789" y="2877239"/>
            <a:ext cx="493995"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069" name="Google Shape;1069;p57"/>
          <p:cNvSpPr/>
          <p:nvPr/>
        </p:nvSpPr>
        <p:spPr>
          <a:xfrm>
            <a:off x="3908120" y="1809752"/>
            <a:ext cx="493995"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070" name="Google Shape;1070;p57"/>
          <p:cNvSpPr/>
          <p:nvPr/>
        </p:nvSpPr>
        <p:spPr>
          <a:xfrm>
            <a:off x="4786331" y="2877239"/>
            <a:ext cx="493995"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071" name="Google Shape;1071;p57"/>
          <p:cNvSpPr/>
          <p:nvPr/>
        </p:nvSpPr>
        <p:spPr>
          <a:xfrm>
            <a:off x="4182560" y="2877239"/>
            <a:ext cx="493995"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1072" name="Google Shape;1072;p57"/>
          <p:cNvCxnSpPr>
            <a:stCxn id="1068" idx="0"/>
            <a:endCxn id="1069" idx="3"/>
          </p:cNvCxnSpPr>
          <p:nvPr/>
        </p:nvCxnSpPr>
        <p:spPr>
          <a:xfrm flipH="1" rot="10800000">
            <a:off x="3825787" y="2216039"/>
            <a:ext cx="154800" cy="661200"/>
          </a:xfrm>
          <a:prstGeom prst="straightConnector1">
            <a:avLst/>
          </a:prstGeom>
          <a:noFill/>
          <a:ln>
            <a:noFill/>
          </a:ln>
        </p:spPr>
      </p:cxnSp>
      <p:cxnSp>
        <p:nvCxnSpPr>
          <p:cNvPr id="1073" name="Google Shape;1073;p57"/>
          <p:cNvCxnSpPr>
            <a:stCxn id="1071" idx="0"/>
            <a:endCxn id="1069" idx="4"/>
          </p:cNvCxnSpPr>
          <p:nvPr/>
        </p:nvCxnSpPr>
        <p:spPr>
          <a:xfrm rot="10800000">
            <a:off x="4155058" y="2285939"/>
            <a:ext cx="274500" cy="591300"/>
          </a:xfrm>
          <a:prstGeom prst="straightConnector1">
            <a:avLst/>
          </a:prstGeom>
          <a:noFill/>
          <a:ln cap="flat" cmpd="sng" w="9525">
            <a:solidFill>
              <a:schemeClr val="dk1"/>
            </a:solidFill>
            <a:prstDash val="solid"/>
            <a:round/>
            <a:headEnd len="sm" w="sm" type="none"/>
            <a:tailEnd len="med" w="med" type="stealth"/>
          </a:ln>
        </p:spPr>
      </p:cxnSp>
      <p:cxnSp>
        <p:nvCxnSpPr>
          <p:cNvPr id="1074" name="Google Shape;1074;p57"/>
          <p:cNvCxnSpPr>
            <a:stCxn id="1070" idx="0"/>
            <a:endCxn id="1069" idx="4"/>
          </p:cNvCxnSpPr>
          <p:nvPr/>
        </p:nvCxnSpPr>
        <p:spPr>
          <a:xfrm rot="10800000">
            <a:off x="4155229" y="2285939"/>
            <a:ext cx="878100" cy="591300"/>
          </a:xfrm>
          <a:prstGeom prst="straightConnector1">
            <a:avLst/>
          </a:prstGeom>
          <a:noFill/>
          <a:ln cap="flat" cmpd="sng" w="9525">
            <a:solidFill>
              <a:schemeClr val="dk1"/>
            </a:solidFill>
            <a:prstDash val="solid"/>
            <a:round/>
            <a:headEnd len="sm" w="sm" type="none"/>
            <a:tailEnd len="med" w="med" type="stealth"/>
          </a:ln>
        </p:spPr>
      </p:cxnSp>
      <p:cxnSp>
        <p:nvCxnSpPr>
          <p:cNvPr id="1075" name="Google Shape;1075;p57"/>
          <p:cNvCxnSpPr>
            <a:stCxn id="1068" idx="7"/>
            <a:endCxn id="1069" idx="4"/>
          </p:cNvCxnSpPr>
          <p:nvPr/>
        </p:nvCxnSpPr>
        <p:spPr>
          <a:xfrm flipH="1" rot="10800000">
            <a:off x="4000440" y="2285758"/>
            <a:ext cx="154800" cy="661200"/>
          </a:xfrm>
          <a:prstGeom prst="straightConnector1">
            <a:avLst/>
          </a:prstGeom>
          <a:noFill/>
          <a:ln cap="flat" cmpd="sng" w="9525">
            <a:solidFill>
              <a:schemeClr val="dk1"/>
            </a:solidFill>
            <a:prstDash val="solid"/>
            <a:round/>
            <a:headEnd len="sm" w="sm" type="none"/>
            <a:tailEnd len="med" w="med" type="stealth"/>
          </a:ln>
        </p:spPr>
      </p:cxnSp>
      <p:sp>
        <p:nvSpPr>
          <p:cNvPr id="1076" name="Google Shape;1076;p57"/>
          <p:cNvSpPr/>
          <p:nvPr/>
        </p:nvSpPr>
        <p:spPr>
          <a:xfrm>
            <a:off x="4182562" y="4506561"/>
            <a:ext cx="274441"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077" name="Google Shape;1077;p57"/>
          <p:cNvSpPr/>
          <p:nvPr/>
        </p:nvSpPr>
        <p:spPr>
          <a:xfrm>
            <a:off x="2590801" y="4225643"/>
            <a:ext cx="493995"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078" name="Google Shape;1078;p57"/>
          <p:cNvSpPr/>
          <p:nvPr/>
        </p:nvSpPr>
        <p:spPr>
          <a:xfrm>
            <a:off x="5335214" y="4225643"/>
            <a:ext cx="493995"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079" name="Google Shape;1079;p57"/>
          <p:cNvSpPr/>
          <p:nvPr/>
        </p:nvSpPr>
        <p:spPr>
          <a:xfrm>
            <a:off x="4402114" y="4225643"/>
            <a:ext cx="493995"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080" name="Google Shape;1080;p57"/>
          <p:cNvSpPr/>
          <p:nvPr/>
        </p:nvSpPr>
        <p:spPr>
          <a:xfrm>
            <a:off x="3414125" y="4225643"/>
            <a:ext cx="493995"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1081" name="Google Shape;1081;p57"/>
          <p:cNvCxnSpPr>
            <a:stCxn id="1077" idx="0"/>
          </p:cNvCxnSpPr>
          <p:nvPr/>
        </p:nvCxnSpPr>
        <p:spPr>
          <a:xfrm flipH="1" rot="10800000">
            <a:off x="2837799" y="3397943"/>
            <a:ext cx="1878900" cy="827700"/>
          </a:xfrm>
          <a:prstGeom prst="straightConnector1">
            <a:avLst/>
          </a:prstGeom>
          <a:noFill/>
          <a:ln>
            <a:noFill/>
          </a:ln>
        </p:spPr>
      </p:cxnSp>
      <p:cxnSp>
        <p:nvCxnSpPr>
          <p:cNvPr id="1082" name="Google Shape;1082;p57"/>
          <p:cNvCxnSpPr>
            <a:stCxn id="1080" idx="0"/>
            <a:endCxn id="1068" idx="4"/>
          </p:cNvCxnSpPr>
          <p:nvPr/>
        </p:nvCxnSpPr>
        <p:spPr>
          <a:xfrm flipH="1" rot="10800000">
            <a:off x="3661123" y="3353243"/>
            <a:ext cx="164700" cy="872400"/>
          </a:xfrm>
          <a:prstGeom prst="straightConnector1">
            <a:avLst/>
          </a:prstGeom>
          <a:noFill/>
          <a:ln cap="flat" cmpd="sng" w="9525">
            <a:solidFill>
              <a:schemeClr val="dk1"/>
            </a:solidFill>
            <a:prstDash val="solid"/>
            <a:round/>
            <a:headEnd len="sm" w="sm" type="none"/>
            <a:tailEnd len="med" w="med" type="stealth"/>
          </a:ln>
        </p:spPr>
      </p:cxnSp>
      <p:cxnSp>
        <p:nvCxnSpPr>
          <p:cNvPr id="1083" name="Google Shape;1083;p57"/>
          <p:cNvCxnSpPr>
            <a:stCxn id="1079" idx="0"/>
            <a:endCxn id="1068" idx="4"/>
          </p:cNvCxnSpPr>
          <p:nvPr/>
        </p:nvCxnSpPr>
        <p:spPr>
          <a:xfrm rot="10800000">
            <a:off x="3825912" y="3353243"/>
            <a:ext cx="823200" cy="872400"/>
          </a:xfrm>
          <a:prstGeom prst="straightConnector1">
            <a:avLst/>
          </a:prstGeom>
          <a:noFill/>
          <a:ln cap="flat" cmpd="sng" w="9525">
            <a:solidFill>
              <a:schemeClr val="dk1"/>
            </a:solidFill>
            <a:prstDash val="solid"/>
            <a:round/>
            <a:headEnd len="sm" w="sm" type="none"/>
            <a:tailEnd len="med" w="med" type="stealth"/>
          </a:ln>
        </p:spPr>
      </p:cxnSp>
      <p:cxnSp>
        <p:nvCxnSpPr>
          <p:cNvPr id="1084" name="Google Shape;1084;p57"/>
          <p:cNvCxnSpPr>
            <a:stCxn id="1078" idx="0"/>
            <a:endCxn id="1068" idx="4"/>
          </p:cNvCxnSpPr>
          <p:nvPr/>
        </p:nvCxnSpPr>
        <p:spPr>
          <a:xfrm rot="10800000">
            <a:off x="3825712" y="3353243"/>
            <a:ext cx="1756500" cy="872400"/>
          </a:xfrm>
          <a:prstGeom prst="straightConnector1">
            <a:avLst/>
          </a:prstGeom>
          <a:noFill/>
          <a:ln cap="flat" cmpd="sng" w="9525">
            <a:solidFill>
              <a:schemeClr val="dk1"/>
            </a:solidFill>
            <a:prstDash val="solid"/>
            <a:round/>
            <a:headEnd len="sm" w="sm" type="none"/>
            <a:tailEnd len="med" w="med" type="stealth"/>
          </a:ln>
        </p:spPr>
      </p:cxnSp>
      <p:cxnSp>
        <p:nvCxnSpPr>
          <p:cNvPr id="1085" name="Google Shape;1085;p57"/>
          <p:cNvCxnSpPr>
            <a:stCxn id="1077" idx="7"/>
            <a:endCxn id="1068" idx="4"/>
          </p:cNvCxnSpPr>
          <p:nvPr/>
        </p:nvCxnSpPr>
        <p:spPr>
          <a:xfrm flipH="1" rot="10800000">
            <a:off x="3012452" y="3353362"/>
            <a:ext cx="813300" cy="942000"/>
          </a:xfrm>
          <a:prstGeom prst="straightConnector1">
            <a:avLst/>
          </a:prstGeom>
          <a:noFill/>
          <a:ln cap="flat" cmpd="sng" w="9525">
            <a:solidFill>
              <a:schemeClr val="dk1"/>
            </a:solidFill>
            <a:prstDash val="solid"/>
            <a:round/>
            <a:headEnd len="sm" w="sm" type="none"/>
            <a:tailEnd len="med" w="med" type="stealth"/>
          </a:ln>
        </p:spPr>
      </p:cxnSp>
      <p:sp>
        <p:nvSpPr>
          <p:cNvPr id="1086" name="Google Shape;1086;p57"/>
          <p:cNvSpPr/>
          <p:nvPr/>
        </p:nvSpPr>
        <p:spPr>
          <a:xfrm>
            <a:off x="5993873" y="4225643"/>
            <a:ext cx="493995"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1087" name="Google Shape;1087;p57"/>
          <p:cNvCxnSpPr>
            <a:stCxn id="1086" idx="0"/>
            <a:endCxn id="1068" idx="4"/>
          </p:cNvCxnSpPr>
          <p:nvPr/>
        </p:nvCxnSpPr>
        <p:spPr>
          <a:xfrm rot="10800000">
            <a:off x="3825871" y="3353243"/>
            <a:ext cx="2415000" cy="872400"/>
          </a:xfrm>
          <a:prstGeom prst="straightConnector1">
            <a:avLst/>
          </a:prstGeom>
          <a:noFill/>
          <a:ln cap="flat" cmpd="sng" w="9525">
            <a:solidFill>
              <a:schemeClr val="dk1"/>
            </a:solidFill>
            <a:prstDash val="solid"/>
            <a:round/>
            <a:headEnd len="sm" w="sm" type="none"/>
            <a:tailEnd len="med" w="med" type="stealth"/>
          </a:ln>
        </p:spPr>
      </p:cxnSp>
      <p:cxnSp>
        <p:nvCxnSpPr>
          <p:cNvPr id="1088" name="Google Shape;1088;p57"/>
          <p:cNvCxnSpPr>
            <a:stCxn id="1077" idx="7"/>
            <a:endCxn id="1071" idx="4"/>
          </p:cNvCxnSpPr>
          <p:nvPr/>
        </p:nvCxnSpPr>
        <p:spPr>
          <a:xfrm flipH="1" rot="10800000">
            <a:off x="3012452" y="3353362"/>
            <a:ext cx="1417200" cy="942000"/>
          </a:xfrm>
          <a:prstGeom prst="straightConnector1">
            <a:avLst/>
          </a:prstGeom>
          <a:noFill/>
          <a:ln cap="flat" cmpd="sng" w="9525">
            <a:solidFill>
              <a:schemeClr val="dk1"/>
            </a:solidFill>
            <a:prstDash val="solid"/>
            <a:round/>
            <a:headEnd len="sm" w="sm" type="none"/>
            <a:tailEnd len="med" w="med" type="stealth"/>
          </a:ln>
        </p:spPr>
      </p:cxnSp>
      <p:cxnSp>
        <p:nvCxnSpPr>
          <p:cNvPr id="1089" name="Google Shape;1089;p57"/>
          <p:cNvCxnSpPr>
            <a:endCxn id="1070" idx="4"/>
          </p:cNvCxnSpPr>
          <p:nvPr/>
        </p:nvCxnSpPr>
        <p:spPr>
          <a:xfrm flipH="1" rot="10800000">
            <a:off x="3044629" y="3353310"/>
            <a:ext cx="1988700" cy="913500"/>
          </a:xfrm>
          <a:prstGeom prst="straightConnector1">
            <a:avLst/>
          </a:prstGeom>
          <a:noFill/>
          <a:ln cap="flat" cmpd="sng" w="9525">
            <a:solidFill>
              <a:schemeClr val="dk1"/>
            </a:solidFill>
            <a:prstDash val="solid"/>
            <a:round/>
            <a:headEnd len="sm" w="sm" type="none"/>
            <a:tailEnd len="med" w="med" type="stealth"/>
          </a:ln>
        </p:spPr>
      </p:cxnSp>
      <p:cxnSp>
        <p:nvCxnSpPr>
          <p:cNvPr id="1090" name="Google Shape;1090;p57"/>
          <p:cNvCxnSpPr>
            <a:stCxn id="1086" idx="0"/>
            <a:endCxn id="1070" idx="4"/>
          </p:cNvCxnSpPr>
          <p:nvPr/>
        </p:nvCxnSpPr>
        <p:spPr>
          <a:xfrm rot="10800000">
            <a:off x="5033371" y="3353243"/>
            <a:ext cx="1207500" cy="872400"/>
          </a:xfrm>
          <a:prstGeom prst="straightConnector1">
            <a:avLst/>
          </a:prstGeom>
          <a:noFill/>
          <a:ln cap="flat" cmpd="sng" w="9525">
            <a:solidFill>
              <a:schemeClr val="dk1"/>
            </a:solidFill>
            <a:prstDash val="solid"/>
            <a:round/>
            <a:headEnd len="sm" w="sm" type="none"/>
            <a:tailEnd len="med" w="med" type="stealth"/>
          </a:ln>
        </p:spPr>
      </p:cxnSp>
      <p:cxnSp>
        <p:nvCxnSpPr>
          <p:cNvPr id="1091" name="Google Shape;1091;p57"/>
          <p:cNvCxnSpPr>
            <a:stCxn id="1086" idx="0"/>
            <a:endCxn id="1071" idx="4"/>
          </p:cNvCxnSpPr>
          <p:nvPr/>
        </p:nvCxnSpPr>
        <p:spPr>
          <a:xfrm rot="10800000">
            <a:off x="4429471" y="3353243"/>
            <a:ext cx="1811400" cy="872400"/>
          </a:xfrm>
          <a:prstGeom prst="straightConnector1">
            <a:avLst/>
          </a:prstGeom>
          <a:noFill/>
          <a:ln cap="flat" cmpd="sng" w="9525">
            <a:solidFill>
              <a:schemeClr val="dk1"/>
            </a:solidFill>
            <a:prstDash val="solid"/>
            <a:round/>
            <a:headEnd len="sm" w="sm" type="none"/>
            <a:tailEnd len="med" w="med" type="stealth"/>
          </a:ln>
        </p:spPr>
      </p:cxnSp>
      <p:cxnSp>
        <p:nvCxnSpPr>
          <p:cNvPr id="1092" name="Google Shape;1092;p57"/>
          <p:cNvCxnSpPr/>
          <p:nvPr/>
        </p:nvCxnSpPr>
        <p:spPr>
          <a:xfrm rot="10800000">
            <a:off x="4388393" y="3375370"/>
            <a:ext cx="1015433" cy="1011302"/>
          </a:xfrm>
          <a:prstGeom prst="straightConnector1">
            <a:avLst/>
          </a:prstGeom>
          <a:noFill/>
          <a:ln cap="flat" cmpd="sng" w="9525">
            <a:solidFill>
              <a:schemeClr val="dk1"/>
            </a:solidFill>
            <a:prstDash val="solid"/>
            <a:round/>
            <a:headEnd len="sm" w="sm" type="none"/>
            <a:tailEnd len="med" w="med" type="stealth"/>
          </a:ln>
        </p:spPr>
      </p:cxnSp>
      <p:cxnSp>
        <p:nvCxnSpPr>
          <p:cNvPr id="1093" name="Google Shape;1093;p57"/>
          <p:cNvCxnSpPr>
            <a:stCxn id="1078" idx="0"/>
            <a:endCxn id="1070" idx="4"/>
          </p:cNvCxnSpPr>
          <p:nvPr/>
        </p:nvCxnSpPr>
        <p:spPr>
          <a:xfrm rot="10800000">
            <a:off x="5033212" y="3353243"/>
            <a:ext cx="549000" cy="872400"/>
          </a:xfrm>
          <a:prstGeom prst="straightConnector1">
            <a:avLst/>
          </a:prstGeom>
          <a:noFill/>
          <a:ln cap="flat" cmpd="sng" w="9525">
            <a:solidFill>
              <a:schemeClr val="dk1"/>
            </a:solidFill>
            <a:prstDash val="solid"/>
            <a:round/>
            <a:headEnd len="sm" w="sm" type="none"/>
            <a:tailEnd len="med" w="med" type="stealth"/>
          </a:ln>
        </p:spPr>
      </p:cxnSp>
      <p:cxnSp>
        <p:nvCxnSpPr>
          <p:cNvPr id="1094" name="Google Shape;1094;p57"/>
          <p:cNvCxnSpPr>
            <a:stCxn id="1079" idx="0"/>
            <a:endCxn id="1071" idx="4"/>
          </p:cNvCxnSpPr>
          <p:nvPr/>
        </p:nvCxnSpPr>
        <p:spPr>
          <a:xfrm rot="10800000">
            <a:off x="4429512" y="3353243"/>
            <a:ext cx="219600" cy="872400"/>
          </a:xfrm>
          <a:prstGeom prst="straightConnector1">
            <a:avLst/>
          </a:prstGeom>
          <a:noFill/>
          <a:ln cap="flat" cmpd="sng" w="9525">
            <a:solidFill>
              <a:schemeClr val="dk1"/>
            </a:solidFill>
            <a:prstDash val="solid"/>
            <a:round/>
            <a:headEnd len="sm" w="sm" type="none"/>
            <a:tailEnd len="med" w="med" type="stealth"/>
          </a:ln>
        </p:spPr>
      </p:cxnSp>
      <p:cxnSp>
        <p:nvCxnSpPr>
          <p:cNvPr id="1095" name="Google Shape;1095;p57"/>
          <p:cNvCxnSpPr>
            <a:stCxn id="1079" idx="0"/>
            <a:endCxn id="1070" idx="4"/>
          </p:cNvCxnSpPr>
          <p:nvPr/>
        </p:nvCxnSpPr>
        <p:spPr>
          <a:xfrm flipH="1" rot="10800000">
            <a:off x="4649112" y="3353243"/>
            <a:ext cx="384300" cy="872400"/>
          </a:xfrm>
          <a:prstGeom prst="straightConnector1">
            <a:avLst/>
          </a:prstGeom>
          <a:noFill/>
          <a:ln cap="flat" cmpd="sng" w="9525">
            <a:solidFill>
              <a:schemeClr val="dk1"/>
            </a:solidFill>
            <a:prstDash val="solid"/>
            <a:round/>
            <a:headEnd len="sm" w="sm" type="none"/>
            <a:tailEnd len="med" w="med" type="stealth"/>
          </a:ln>
        </p:spPr>
      </p:cxnSp>
      <p:cxnSp>
        <p:nvCxnSpPr>
          <p:cNvPr id="1096" name="Google Shape;1096;p57"/>
          <p:cNvCxnSpPr>
            <a:stCxn id="1080" idx="0"/>
            <a:endCxn id="1071" idx="4"/>
          </p:cNvCxnSpPr>
          <p:nvPr/>
        </p:nvCxnSpPr>
        <p:spPr>
          <a:xfrm flipH="1" rot="10800000">
            <a:off x="3661123" y="3353243"/>
            <a:ext cx="768300" cy="872400"/>
          </a:xfrm>
          <a:prstGeom prst="straightConnector1">
            <a:avLst/>
          </a:prstGeom>
          <a:noFill/>
          <a:ln cap="flat" cmpd="sng" w="9525">
            <a:solidFill>
              <a:schemeClr val="dk1"/>
            </a:solidFill>
            <a:prstDash val="solid"/>
            <a:round/>
            <a:headEnd len="sm" w="sm" type="none"/>
            <a:tailEnd len="med" w="med" type="stealth"/>
          </a:ln>
        </p:spPr>
      </p:cxnSp>
      <p:cxnSp>
        <p:nvCxnSpPr>
          <p:cNvPr id="1097" name="Google Shape;1097;p57"/>
          <p:cNvCxnSpPr>
            <a:endCxn id="1070" idx="4"/>
          </p:cNvCxnSpPr>
          <p:nvPr/>
        </p:nvCxnSpPr>
        <p:spPr>
          <a:xfrm flipH="1" rot="10800000">
            <a:off x="3770929" y="3353310"/>
            <a:ext cx="1262400" cy="872400"/>
          </a:xfrm>
          <a:prstGeom prst="straightConnector1">
            <a:avLst/>
          </a:prstGeom>
          <a:noFill/>
          <a:ln cap="flat" cmpd="sng" w="9525">
            <a:solidFill>
              <a:schemeClr val="dk1"/>
            </a:solidFill>
            <a:prstDash val="solid"/>
            <a:round/>
            <a:headEnd len="sm" w="sm" type="none"/>
            <a:tailEnd len="med" w="med" type="stealth"/>
          </a:ln>
        </p:spPr>
      </p:cxnSp>
      <p:sp>
        <p:nvSpPr>
          <p:cNvPr id="1098" name="Google Shape;1098;p57"/>
          <p:cNvSpPr txBox="1"/>
          <p:nvPr/>
        </p:nvSpPr>
        <p:spPr>
          <a:xfrm>
            <a:off x="3523903" y="2203035"/>
            <a:ext cx="32933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590A0E"/>
                </a:solidFill>
                <a:latin typeface="Calibri"/>
                <a:ea typeface="Calibri"/>
                <a:cs typeface="Calibri"/>
                <a:sym typeface="Calibri"/>
              </a:rPr>
              <a:t>U</a:t>
            </a:r>
            <a:endParaRPr/>
          </a:p>
        </p:txBody>
      </p:sp>
      <p:sp>
        <p:nvSpPr>
          <p:cNvPr id="1099" name="Google Shape;1099;p57"/>
          <p:cNvSpPr txBox="1"/>
          <p:nvPr/>
        </p:nvSpPr>
        <p:spPr>
          <a:xfrm>
            <a:off x="2810353" y="3439072"/>
            <a:ext cx="32933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590A0E"/>
                </a:solidFill>
                <a:latin typeface="Calibri"/>
                <a:ea typeface="Calibri"/>
                <a:cs typeface="Calibri"/>
                <a:sym typeface="Calibri"/>
              </a:rPr>
              <a:t>W</a:t>
            </a:r>
            <a:endParaRPr/>
          </a:p>
        </p:txBody>
      </p:sp>
      <p:sp>
        <p:nvSpPr>
          <p:cNvPr id="1100" name="Google Shape;1100;p57"/>
          <p:cNvSpPr txBox="1"/>
          <p:nvPr/>
        </p:nvSpPr>
        <p:spPr>
          <a:xfrm>
            <a:off x="6104891" y="4171558"/>
            <a:ext cx="457176" cy="5078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700">
                <a:solidFill>
                  <a:schemeClr val="dk1"/>
                </a:solidFill>
                <a:latin typeface="Calibri"/>
                <a:ea typeface="Calibri"/>
                <a:cs typeface="Calibri"/>
                <a:sym typeface="Calibri"/>
              </a:rPr>
              <a:t>x</a:t>
            </a:r>
            <a:r>
              <a:rPr baseline="-25000" lang="en-US" sz="2700">
                <a:solidFill>
                  <a:schemeClr val="dk1"/>
                </a:solidFill>
                <a:latin typeface="Calibri"/>
                <a:ea typeface="Calibri"/>
                <a:cs typeface="Calibri"/>
                <a:sym typeface="Calibri"/>
              </a:rPr>
              <a:t>n</a:t>
            </a:r>
            <a:endParaRPr baseline="-25000" sz="2700">
              <a:solidFill>
                <a:schemeClr val="dk1"/>
              </a:solidFill>
              <a:latin typeface="Calibri"/>
              <a:ea typeface="Calibri"/>
              <a:cs typeface="Calibri"/>
              <a:sym typeface="Calibri"/>
            </a:endParaRPr>
          </a:p>
        </p:txBody>
      </p:sp>
      <p:sp>
        <p:nvSpPr>
          <p:cNvPr id="1101" name="Google Shape;1101;p57"/>
          <p:cNvSpPr txBox="1"/>
          <p:nvPr/>
        </p:nvSpPr>
        <p:spPr>
          <a:xfrm>
            <a:off x="2686673" y="4201553"/>
            <a:ext cx="548883" cy="5078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700">
                <a:solidFill>
                  <a:schemeClr val="dk1"/>
                </a:solidFill>
                <a:latin typeface="Calibri"/>
                <a:ea typeface="Calibri"/>
                <a:cs typeface="Calibri"/>
                <a:sym typeface="Calibri"/>
              </a:rPr>
              <a:t>x</a:t>
            </a:r>
            <a:r>
              <a:rPr baseline="-25000" lang="en-US" sz="2700">
                <a:solidFill>
                  <a:schemeClr val="dk1"/>
                </a:solidFill>
                <a:latin typeface="Calibri"/>
                <a:ea typeface="Calibri"/>
                <a:cs typeface="Calibri"/>
                <a:sym typeface="Calibri"/>
              </a:rPr>
              <a:t>1</a:t>
            </a:r>
            <a:endParaRPr/>
          </a:p>
        </p:txBody>
      </p:sp>
      <p:sp>
        <p:nvSpPr>
          <p:cNvPr id="1102" name="Google Shape;1102;p57"/>
          <p:cNvSpPr/>
          <p:nvPr/>
        </p:nvSpPr>
        <p:spPr>
          <a:xfrm>
            <a:off x="4457003" y="1809752"/>
            <a:ext cx="493995"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1103" name="Google Shape;1103;p57"/>
          <p:cNvCxnSpPr>
            <a:stCxn id="1070" idx="0"/>
            <a:endCxn id="1102" idx="4"/>
          </p:cNvCxnSpPr>
          <p:nvPr/>
        </p:nvCxnSpPr>
        <p:spPr>
          <a:xfrm rot="10800000">
            <a:off x="4703929" y="2285939"/>
            <a:ext cx="329400" cy="591300"/>
          </a:xfrm>
          <a:prstGeom prst="straightConnector1">
            <a:avLst/>
          </a:prstGeom>
          <a:noFill/>
          <a:ln cap="flat" cmpd="sng" w="9525">
            <a:solidFill>
              <a:schemeClr val="dk1"/>
            </a:solidFill>
            <a:prstDash val="solid"/>
            <a:round/>
            <a:headEnd len="sm" w="sm" type="none"/>
            <a:tailEnd len="med" w="med" type="stealth"/>
          </a:ln>
        </p:spPr>
      </p:cxnSp>
      <p:cxnSp>
        <p:nvCxnSpPr>
          <p:cNvPr id="1104" name="Google Shape;1104;p57"/>
          <p:cNvCxnSpPr>
            <a:stCxn id="1071" idx="0"/>
            <a:endCxn id="1102" idx="4"/>
          </p:cNvCxnSpPr>
          <p:nvPr/>
        </p:nvCxnSpPr>
        <p:spPr>
          <a:xfrm flipH="1" rot="10800000">
            <a:off x="4429558" y="2285939"/>
            <a:ext cx="274500" cy="591300"/>
          </a:xfrm>
          <a:prstGeom prst="straightConnector1">
            <a:avLst/>
          </a:prstGeom>
          <a:noFill/>
          <a:ln cap="flat" cmpd="sng" w="9525">
            <a:solidFill>
              <a:schemeClr val="dk1"/>
            </a:solidFill>
            <a:prstDash val="solid"/>
            <a:round/>
            <a:headEnd len="sm" w="sm" type="none"/>
            <a:tailEnd len="med" w="med" type="stealth"/>
          </a:ln>
        </p:spPr>
      </p:cxnSp>
      <p:cxnSp>
        <p:nvCxnSpPr>
          <p:cNvPr id="1105" name="Google Shape;1105;p57"/>
          <p:cNvCxnSpPr>
            <a:stCxn id="1068" idx="7"/>
            <a:endCxn id="1102" idx="4"/>
          </p:cNvCxnSpPr>
          <p:nvPr/>
        </p:nvCxnSpPr>
        <p:spPr>
          <a:xfrm flipH="1" rot="10800000">
            <a:off x="4000440" y="2285758"/>
            <a:ext cx="703500" cy="661200"/>
          </a:xfrm>
          <a:prstGeom prst="straightConnector1">
            <a:avLst/>
          </a:prstGeom>
          <a:noFill/>
          <a:ln cap="flat" cmpd="sng" w="9525">
            <a:solidFill>
              <a:schemeClr val="dk1"/>
            </a:solidFill>
            <a:prstDash val="solid"/>
            <a:round/>
            <a:headEnd len="sm" w="sm" type="none"/>
            <a:tailEnd len="med" w="med" type="stealth"/>
          </a:ln>
        </p:spPr>
      </p:cxnSp>
      <p:sp>
        <p:nvSpPr>
          <p:cNvPr id="1106" name="Google Shape;1106;p57"/>
          <p:cNvSpPr/>
          <p:nvPr/>
        </p:nvSpPr>
        <p:spPr>
          <a:xfrm>
            <a:off x="4428647" y="1200152"/>
            <a:ext cx="493995" cy="476071"/>
          </a:xfrm>
          <a:prstGeom prst="ellipse">
            <a:avLst/>
          </a:prstGeom>
          <a:solidFill>
            <a:srgbClr val="3F739B"/>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107" name="Google Shape;1107;p57"/>
          <p:cNvSpPr/>
          <p:nvPr/>
        </p:nvSpPr>
        <p:spPr>
          <a:xfrm>
            <a:off x="3895247" y="1200152"/>
            <a:ext cx="493995" cy="476071"/>
          </a:xfrm>
          <a:prstGeom prst="ellipse">
            <a:avLst/>
          </a:prstGeom>
          <a:solidFill>
            <a:srgbClr val="3F739B"/>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108" name="Google Shape;1108;p57"/>
          <p:cNvSpPr txBox="1"/>
          <p:nvPr/>
        </p:nvSpPr>
        <p:spPr>
          <a:xfrm>
            <a:off x="1600200" y="1809752"/>
            <a:ext cx="2310056" cy="461665"/>
          </a:xfrm>
          <a:prstGeom prst="rect">
            <a:avLst/>
          </a:prstGeom>
          <a:blipFill rotWithShape="1">
            <a:blip r:embed="rId3">
              <a:alphaModFix/>
            </a:blip>
            <a:stretch>
              <a:fillRect b="-26314" l="-4395" r="0" t="-789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1109" name="Google Shape;1109;p57"/>
          <p:cNvSpPr txBox="1"/>
          <p:nvPr/>
        </p:nvSpPr>
        <p:spPr>
          <a:xfrm>
            <a:off x="1643876" y="1200152"/>
            <a:ext cx="2195922" cy="461665"/>
          </a:xfrm>
          <a:prstGeom prst="rect">
            <a:avLst/>
          </a:prstGeom>
          <a:blipFill rotWithShape="1">
            <a:blip r:embed="rId4">
              <a:alphaModFix/>
            </a:blip>
            <a:stretch>
              <a:fillRect b="-26314" l="-4597" r="0" t="-789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1110" name="Google Shape;1110;p57"/>
          <p:cNvSpPr txBox="1"/>
          <p:nvPr/>
        </p:nvSpPr>
        <p:spPr>
          <a:xfrm>
            <a:off x="457200" y="4286250"/>
            <a:ext cx="2022092" cy="4154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100">
                <a:solidFill>
                  <a:schemeClr val="dk1"/>
                </a:solidFill>
                <a:latin typeface="Calibri"/>
                <a:ea typeface="Calibri"/>
                <a:cs typeface="Calibri"/>
                <a:sym typeface="Calibri"/>
              </a:rPr>
              <a:t>Training instance</a:t>
            </a:r>
            <a:endParaRPr/>
          </a:p>
        </p:txBody>
      </p:sp>
      <p:sp>
        <p:nvSpPr>
          <p:cNvPr id="1111" name="Google Shape;1111;p57"/>
          <p:cNvSpPr txBox="1"/>
          <p:nvPr/>
        </p:nvSpPr>
        <p:spPr>
          <a:xfrm>
            <a:off x="5843447" y="1487848"/>
            <a:ext cx="2683042" cy="461665"/>
          </a:xfrm>
          <a:prstGeom prst="rect">
            <a:avLst/>
          </a:prstGeom>
          <a:blipFill rotWithShape="1">
            <a:blip r:embed="rId5">
              <a:alphaModFix/>
            </a:blip>
            <a:stretch>
              <a:fillRect b="-29728" l="-3772" r="-2357" t="-810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1112" name="Google Shape;1112;p57"/>
          <p:cNvSpPr/>
          <p:nvPr/>
        </p:nvSpPr>
        <p:spPr>
          <a:xfrm>
            <a:off x="5134735" y="1363892"/>
            <a:ext cx="411663" cy="354925"/>
          </a:xfrm>
          <a:prstGeom prst="rightBrace">
            <a:avLst>
              <a:gd fmla="val 8333" name="adj1"/>
              <a:gd fmla="val 50000" name="adj2"/>
            </a:avLst>
          </a:prstGeom>
          <a:noFill/>
          <a:ln cap="flat" cmpd="sng" w="349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grpSp>
        <p:nvGrpSpPr>
          <p:cNvPr id="1113" name="Google Shape;1113;p57"/>
          <p:cNvGrpSpPr/>
          <p:nvPr/>
        </p:nvGrpSpPr>
        <p:grpSpPr>
          <a:xfrm>
            <a:off x="1106407" y="2763030"/>
            <a:ext cx="1118319" cy="871197"/>
            <a:chOff x="457200" y="2038350"/>
            <a:chExt cx="1118319" cy="871197"/>
          </a:xfrm>
        </p:grpSpPr>
        <p:sp>
          <p:nvSpPr>
            <p:cNvPr id="1114" name="Google Shape;1114;p57"/>
            <p:cNvSpPr/>
            <p:nvPr/>
          </p:nvSpPr>
          <p:spPr>
            <a:xfrm>
              <a:off x="800100" y="2038350"/>
              <a:ext cx="457200" cy="449878"/>
            </a:xfrm>
            <a:prstGeom prst="up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115" name="Google Shape;1115;p57"/>
            <p:cNvSpPr txBox="1"/>
            <p:nvPr/>
          </p:nvSpPr>
          <p:spPr>
            <a:xfrm>
              <a:off x="457200" y="2609465"/>
              <a:ext cx="1118319" cy="3000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50">
                  <a:solidFill>
                    <a:srgbClr val="C00000"/>
                  </a:solidFill>
                  <a:latin typeface="Calibri"/>
                  <a:ea typeface="Calibri"/>
                  <a:cs typeface="Calibri"/>
                  <a:sym typeface="Calibri"/>
                </a:rPr>
                <a:t>Forward pass</a:t>
              </a:r>
              <a:endParaRPr/>
            </a:p>
          </p:txBody>
        </p:sp>
      </p:grpSp>
      <p:grpSp>
        <p:nvGrpSpPr>
          <p:cNvPr id="1116" name="Google Shape;1116;p57"/>
          <p:cNvGrpSpPr/>
          <p:nvPr/>
        </p:nvGrpSpPr>
        <p:grpSpPr>
          <a:xfrm>
            <a:off x="7085936" y="2546994"/>
            <a:ext cx="1217513" cy="799927"/>
            <a:chOff x="7086600" y="2153265"/>
            <a:chExt cx="1217513" cy="799927"/>
          </a:xfrm>
        </p:grpSpPr>
        <p:sp>
          <p:nvSpPr>
            <p:cNvPr id="1117" name="Google Shape;1117;p57"/>
            <p:cNvSpPr/>
            <p:nvPr/>
          </p:nvSpPr>
          <p:spPr>
            <a:xfrm rot="10800000">
              <a:off x="7489410" y="2503314"/>
              <a:ext cx="457200" cy="449878"/>
            </a:xfrm>
            <a:prstGeom prst="up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118" name="Google Shape;1118;p57"/>
            <p:cNvSpPr txBox="1"/>
            <p:nvPr/>
          </p:nvSpPr>
          <p:spPr>
            <a:xfrm>
              <a:off x="7086600" y="2153265"/>
              <a:ext cx="1217513" cy="3000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50">
                  <a:solidFill>
                    <a:srgbClr val="C00000"/>
                  </a:solidFill>
                  <a:latin typeface="Calibri"/>
                  <a:ea typeface="Calibri"/>
                  <a:cs typeface="Calibri"/>
                  <a:sym typeface="Calibri"/>
                </a:rPr>
                <a:t>Backward pass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58"/>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Intuition: Training a 2-layer network</a:t>
            </a:r>
            <a:endParaRPr/>
          </a:p>
        </p:txBody>
      </p:sp>
      <p:sp>
        <p:nvSpPr>
          <p:cNvPr id="1125" name="Google Shape;1125;p58"/>
          <p:cNvSpPr txBox="1"/>
          <p:nvPr>
            <p:ph idx="1" type="body"/>
          </p:nvPr>
        </p:nvSpPr>
        <p:spPr>
          <a:xfrm>
            <a:off x="697763" y="1143000"/>
            <a:ext cx="8229600" cy="4000500"/>
          </a:xfrm>
          <a:prstGeom prst="rect">
            <a:avLst/>
          </a:prstGeom>
          <a:blipFill rotWithShape="1">
            <a:blip r:embed="rId3">
              <a:alphaModFix/>
            </a:blip>
            <a:stretch>
              <a:fillRect b="0" l="-2618" r="0" t="-3796"/>
            </a:stretch>
          </a:blip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 </a:t>
            </a:r>
            <a:endParaRPr/>
          </a:p>
        </p:txBody>
      </p:sp>
      <p:sp>
        <p:nvSpPr>
          <p:cNvPr id="1126" name="Google Shape;1126;p58"/>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59"/>
          <p:cNvSpPr txBox="1"/>
          <p:nvPr>
            <p:ph type="title"/>
          </p:nvPr>
        </p:nvSpPr>
        <p:spPr>
          <a:xfrm>
            <a:off x="822960" y="119702"/>
            <a:ext cx="843534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000"/>
              <a:buFont typeface="Calibri"/>
              <a:buNone/>
            </a:pPr>
            <a:r>
              <a:rPr lang="en-US" sz="3000"/>
              <a:t>Reminder: Loss Function for binary logistic regression</a:t>
            </a:r>
            <a:endParaRPr/>
          </a:p>
        </p:txBody>
      </p:sp>
      <p:sp>
        <p:nvSpPr>
          <p:cNvPr id="1133" name="Google Shape;1133;p59"/>
          <p:cNvSpPr txBox="1"/>
          <p:nvPr>
            <p:ph idx="1" type="body"/>
          </p:nvPr>
        </p:nvSpPr>
        <p:spPr>
          <a:xfrm>
            <a:off x="822962" y="1200150"/>
            <a:ext cx="7543801" cy="34290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A measure for how far off the current answer is to the right answer</a:t>
            </a:r>
            <a:endParaRPr/>
          </a:p>
          <a:p>
            <a:pPr indent="-7938" lvl="0" marL="7938" rtl="0" algn="l">
              <a:lnSpc>
                <a:spcPct val="90000"/>
              </a:lnSpc>
              <a:spcBef>
                <a:spcPts val="1050"/>
              </a:spcBef>
              <a:spcAft>
                <a:spcPts val="0"/>
              </a:spcAft>
              <a:buSzPts val="2800"/>
              <a:buNone/>
            </a:pPr>
            <a:r>
              <a:rPr lang="en-US"/>
              <a:t>Cross entropy loss for logistic regression:</a:t>
            </a:r>
            <a:endParaRPr/>
          </a:p>
          <a:p>
            <a:pPr indent="0" lvl="1" marL="457178" rtl="0" algn="l">
              <a:lnSpc>
                <a:spcPct val="90000"/>
              </a:lnSpc>
              <a:spcBef>
                <a:spcPts val="300"/>
              </a:spcBef>
              <a:spcAft>
                <a:spcPts val="0"/>
              </a:spcAft>
              <a:buSzPts val="2400"/>
              <a:buNone/>
            </a:pPr>
            <a:r>
              <a:t/>
            </a:r>
            <a:endParaRPr/>
          </a:p>
          <a:p>
            <a:pPr indent="0" lvl="1" marL="457178" rtl="0" algn="l">
              <a:lnSpc>
                <a:spcPct val="90000"/>
              </a:lnSpc>
              <a:spcBef>
                <a:spcPts val="450"/>
              </a:spcBef>
              <a:spcAft>
                <a:spcPts val="0"/>
              </a:spcAft>
              <a:buSzPts val="2400"/>
              <a:buNone/>
            </a:pPr>
            <a:r>
              <a:t/>
            </a:r>
            <a:endParaRPr/>
          </a:p>
        </p:txBody>
      </p:sp>
      <p:sp>
        <p:nvSpPr>
          <p:cNvPr id="1134" name="Google Shape;1134;p59"/>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35" name="Google Shape;1135;p59"/>
          <p:cNvPicPr preferRelativeResize="0"/>
          <p:nvPr/>
        </p:nvPicPr>
        <p:blipFill rotWithShape="1">
          <a:blip r:embed="rId3">
            <a:alphaModFix/>
          </a:blip>
          <a:srcRect b="0" l="0" r="0" t="0"/>
          <a:stretch/>
        </p:blipFill>
        <p:spPr>
          <a:xfrm>
            <a:off x="819548" y="2693094"/>
            <a:ext cx="6563616" cy="443114"/>
          </a:xfrm>
          <a:prstGeom prst="rect">
            <a:avLst/>
          </a:prstGeom>
          <a:noFill/>
          <a:ln>
            <a:noFill/>
          </a:ln>
        </p:spPr>
      </p:pic>
      <p:pic>
        <p:nvPicPr>
          <p:cNvPr id="1136" name="Google Shape;1136;p59"/>
          <p:cNvPicPr preferRelativeResize="0"/>
          <p:nvPr/>
        </p:nvPicPr>
        <p:blipFill rotWithShape="1">
          <a:blip r:embed="rId4">
            <a:alphaModFix/>
          </a:blip>
          <a:srcRect b="0" l="15022" r="0" t="0"/>
          <a:stretch/>
        </p:blipFill>
        <p:spPr>
          <a:xfrm>
            <a:off x="1828801" y="3430804"/>
            <a:ext cx="6142427" cy="4431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60"/>
          <p:cNvSpPr txBox="1"/>
          <p:nvPr>
            <p:ph type="title"/>
          </p:nvPr>
        </p:nvSpPr>
        <p:spPr>
          <a:xfrm>
            <a:off x="822960" y="119702"/>
            <a:ext cx="7978140" cy="68039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US"/>
              <a:t>Reminder: gradient descent for weight updates</a:t>
            </a:r>
            <a:endParaRPr/>
          </a:p>
        </p:txBody>
      </p:sp>
      <p:sp>
        <p:nvSpPr>
          <p:cNvPr id="1143" name="Google Shape;1143;p60"/>
          <p:cNvSpPr txBox="1"/>
          <p:nvPr>
            <p:ph idx="1" type="body"/>
          </p:nvPr>
        </p:nvSpPr>
        <p:spPr>
          <a:xfrm>
            <a:off x="822962" y="1200150"/>
            <a:ext cx="8092439" cy="3943350"/>
          </a:xfrm>
          <a:prstGeom prst="rect">
            <a:avLst/>
          </a:prstGeom>
          <a:blipFill rotWithShape="1">
            <a:blip r:embed="rId3">
              <a:alphaModFix/>
            </a:blip>
            <a:stretch>
              <a:fillRect b="0" l="-2659" r="0" t="-2563"/>
            </a:stretch>
          </a:blip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 </a:t>
            </a:r>
            <a:endParaRPr/>
          </a:p>
        </p:txBody>
      </p:sp>
      <p:pic>
        <p:nvPicPr>
          <p:cNvPr id="1144" name="Google Shape;1144;p60"/>
          <p:cNvPicPr preferRelativeResize="0"/>
          <p:nvPr/>
        </p:nvPicPr>
        <p:blipFill rotWithShape="1">
          <a:blip r:embed="rId4">
            <a:alphaModFix/>
          </a:blip>
          <a:srcRect b="0" l="0" r="0" t="0"/>
          <a:stretch/>
        </p:blipFill>
        <p:spPr>
          <a:xfrm>
            <a:off x="1828800" y="3156472"/>
            <a:ext cx="4842016" cy="890930"/>
          </a:xfrm>
          <a:prstGeom prst="rect">
            <a:avLst/>
          </a:prstGeom>
          <a:noFill/>
          <a:ln>
            <a:noFill/>
          </a:ln>
        </p:spPr>
      </p:pic>
      <p:pic>
        <p:nvPicPr>
          <p:cNvPr id="1145" name="Google Shape;1145;p60"/>
          <p:cNvPicPr preferRelativeResize="0"/>
          <p:nvPr/>
        </p:nvPicPr>
        <p:blipFill rotWithShape="1">
          <a:blip r:embed="rId5">
            <a:alphaModFix/>
          </a:blip>
          <a:srcRect b="0" l="0" r="0" t="0"/>
          <a:stretch/>
        </p:blipFill>
        <p:spPr>
          <a:xfrm>
            <a:off x="2201933" y="4324350"/>
            <a:ext cx="4095750" cy="8191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61"/>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Where did that derivative come from?</a:t>
            </a:r>
            <a:endParaRPr/>
          </a:p>
        </p:txBody>
      </p:sp>
      <p:sp>
        <p:nvSpPr>
          <p:cNvPr id="1152" name="Google Shape;1152;p61"/>
          <p:cNvSpPr txBox="1"/>
          <p:nvPr>
            <p:ph idx="1" type="body"/>
          </p:nvPr>
        </p:nvSpPr>
        <p:spPr>
          <a:xfrm>
            <a:off x="822962" y="1028700"/>
            <a:ext cx="8263889" cy="360045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Using the chain rule!   </a:t>
            </a:r>
            <a:r>
              <a:rPr i="1" lang="en-US">
                <a:latin typeface="Times New Roman"/>
                <a:ea typeface="Times New Roman"/>
                <a:cs typeface="Times New Roman"/>
                <a:sym typeface="Times New Roman"/>
              </a:rPr>
              <a:t>f </a:t>
            </a:r>
            <a:r>
              <a:rPr lang="en-US">
                <a:latin typeface="Times New Roman"/>
                <a:ea typeface="Times New Roman"/>
                <a:cs typeface="Times New Roman"/>
                <a:sym typeface="Times New Roman"/>
              </a:rPr>
              <a:t>(</a:t>
            </a:r>
            <a:r>
              <a:rPr i="1" lang="en-US">
                <a:latin typeface="Times New Roman"/>
                <a:ea typeface="Times New Roman"/>
                <a:cs typeface="Times New Roman"/>
                <a:sym typeface="Times New Roman"/>
              </a:rPr>
              <a:t>x</a:t>
            </a:r>
            <a:r>
              <a:rPr lang="en-US">
                <a:latin typeface="Times New Roman"/>
                <a:ea typeface="Times New Roman"/>
                <a:cs typeface="Times New Roman"/>
                <a:sym typeface="Times New Roman"/>
              </a:rPr>
              <a:t>) = </a:t>
            </a:r>
            <a:r>
              <a:rPr i="1" lang="en-US">
                <a:latin typeface="Times New Roman"/>
                <a:ea typeface="Times New Roman"/>
                <a:cs typeface="Times New Roman"/>
                <a:sym typeface="Times New Roman"/>
              </a:rPr>
              <a:t>u</a:t>
            </a:r>
            <a:r>
              <a:rPr lang="en-US">
                <a:latin typeface="Times New Roman"/>
                <a:ea typeface="Times New Roman"/>
                <a:cs typeface="Times New Roman"/>
                <a:sym typeface="Times New Roman"/>
              </a:rPr>
              <a:t>(</a:t>
            </a:r>
            <a:r>
              <a:rPr i="1" lang="en-US">
                <a:latin typeface="Times New Roman"/>
                <a:ea typeface="Times New Roman"/>
                <a:cs typeface="Times New Roman"/>
                <a:sym typeface="Times New Roman"/>
              </a:rPr>
              <a:t>v</a:t>
            </a:r>
            <a:r>
              <a:rPr lang="en-US">
                <a:latin typeface="Times New Roman"/>
                <a:ea typeface="Times New Roman"/>
                <a:cs typeface="Times New Roman"/>
                <a:sym typeface="Times New Roman"/>
              </a:rPr>
              <a:t>(</a:t>
            </a:r>
            <a:r>
              <a:rPr i="1" lang="en-US">
                <a:latin typeface="Times New Roman"/>
                <a:ea typeface="Times New Roman"/>
                <a:cs typeface="Times New Roman"/>
                <a:sym typeface="Times New Roman"/>
              </a:rPr>
              <a:t>x</a:t>
            </a:r>
            <a:r>
              <a:rPr lang="en-US">
                <a:latin typeface="Times New Roman"/>
                <a:ea typeface="Times New Roman"/>
                <a:cs typeface="Times New Roman"/>
                <a:sym typeface="Times New Roman"/>
              </a:rPr>
              <a:t>)) </a:t>
            </a:r>
            <a:endParaRPr/>
          </a:p>
          <a:p>
            <a:pPr indent="-7938" lvl="0" marL="7938" rtl="0" algn="l">
              <a:lnSpc>
                <a:spcPct val="90000"/>
              </a:lnSpc>
              <a:spcBef>
                <a:spcPts val="1050"/>
              </a:spcBef>
              <a:spcAft>
                <a:spcPts val="0"/>
              </a:spcAft>
              <a:buSzPts val="2800"/>
              <a:buNone/>
            </a:pPr>
            <a:r>
              <a:rPr lang="en-US"/>
              <a:t>Intuition (see the text for details)</a:t>
            </a:r>
            <a:endParaRPr/>
          </a:p>
        </p:txBody>
      </p:sp>
      <p:sp>
        <p:nvSpPr>
          <p:cNvPr id="1153" name="Google Shape;1153;p61"/>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54" name="Google Shape;1154;p61"/>
          <p:cNvPicPr preferRelativeResize="0"/>
          <p:nvPr/>
        </p:nvPicPr>
        <p:blipFill rotWithShape="1">
          <a:blip r:embed="rId3">
            <a:alphaModFix/>
          </a:blip>
          <a:srcRect b="0" l="0" r="0" t="0"/>
          <a:stretch/>
        </p:blipFill>
        <p:spPr>
          <a:xfrm>
            <a:off x="606167" y="2190752"/>
            <a:ext cx="2400617" cy="2455177"/>
          </a:xfrm>
          <a:prstGeom prst="rect">
            <a:avLst/>
          </a:prstGeom>
          <a:noFill/>
          <a:ln>
            <a:noFill/>
          </a:ln>
        </p:spPr>
      </p:pic>
      <p:sp>
        <p:nvSpPr>
          <p:cNvPr id="1155" name="Google Shape;1155;p61"/>
          <p:cNvSpPr txBox="1"/>
          <p:nvPr/>
        </p:nvSpPr>
        <p:spPr>
          <a:xfrm>
            <a:off x="3886202" y="2886077"/>
            <a:ext cx="219669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Derivative of the Loss</a:t>
            </a:r>
            <a:endParaRPr/>
          </a:p>
        </p:txBody>
      </p:sp>
      <p:sp>
        <p:nvSpPr>
          <p:cNvPr id="1156" name="Google Shape;1156;p61"/>
          <p:cNvSpPr txBox="1"/>
          <p:nvPr/>
        </p:nvSpPr>
        <p:spPr>
          <a:xfrm>
            <a:off x="4267202" y="2423508"/>
            <a:ext cx="274100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Derivative of the Activation</a:t>
            </a:r>
            <a:endParaRPr/>
          </a:p>
        </p:txBody>
      </p:sp>
      <p:sp>
        <p:nvSpPr>
          <p:cNvPr id="1157" name="Google Shape;1157;p61"/>
          <p:cNvSpPr txBox="1"/>
          <p:nvPr/>
        </p:nvSpPr>
        <p:spPr>
          <a:xfrm>
            <a:off x="4926990" y="2021475"/>
            <a:ext cx="311816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Derivative of the weighted sum</a:t>
            </a:r>
            <a:endParaRPr/>
          </a:p>
        </p:txBody>
      </p:sp>
      <p:sp>
        <p:nvSpPr>
          <p:cNvPr id="1158" name="Google Shape;1158;p61"/>
          <p:cNvSpPr txBox="1"/>
          <p:nvPr/>
        </p:nvSpPr>
        <p:spPr>
          <a:xfrm>
            <a:off x="3962400" y="3464397"/>
            <a:ext cx="2883033" cy="886718"/>
          </a:xfrm>
          <a:prstGeom prst="rect">
            <a:avLst/>
          </a:prstGeom>
          <a:blipFill rotWithShape="1">
            <a:blip r:embed="rId4">
              <a:alphaModFix/>
            </a:blip>
            <a:stretch>
              <a:fillRect b="-9857" l="-4385" r="-175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pic>
        <p:nvPicPr>
          <p:cNvPr id="1159" name="Google Shape;1159;p61"/>
          <p:cNvPicPr preferRelativeResize="0"/>
          <p:nvPr/>
        </p:nvPicPr>
        <p:blipFill rotWithShape="1">
          <a:blip r:embed="rId5">
            <a:alphaModFix/>
          </a:blip>
          <a:srcRect b="0" l="0" r="0" t="0"/>
          <a:stretch/>
        </p:blipFill>
        <p:spPr>
          <a:xfrm>
            <a:off x="6161535" y="977535"/>
            <a:ext cx="2205225" cy="801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1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2">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62"/>
          <p:cNvSpPr txBox="1"/>
          <p:nvPr>
            <p:ph type="title"/>
          </p:nvPr>
        </p:nvSpPr>
        <p:spPr>
          <a:xfrm>
            <a:off x="822962" y="320572"/>
            <a:ext cx="8016240" cy="68039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US"/>
              <a:t>How can I find that gradient for every weight in the network?</a:t>
            </a:r>
            <a:endParaRPr b="0"/>
          </a:p>
        </p:txBody>
      </p:sp>
      <p:sp>
        <p:nvSpPr>
          <p:cNvPr id="1165" name="Google Shape;1165;p62"/>
          <p:cNvSpPr txBox="1"/>
          <p:nvPr>
            <p:ph idx="1" type="body"/>
          </p:nvPr>
        </p:nvSpPr>
        <p:spPr>
          <a:xfrm>
            <a:off x="822962" y="1276351"/>
            <a:ext cx="8149589" cy="356849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These derivatives on the prior slide only give the updates for one weight layer: the last one! </a:t>
            </a:r>
            <a:endParaRPr/>
          </a:p>
          <a:p>
            <a:pPr indent="-7938" lvl="0" marL="7938" rtl="0" algn="l">
              <a:lnSpc>
                <a:spcPct val="90000"/>
              </a:lnSpc>
              <a:spcBef>
                <a:spcPts val="1050"/>
              </a:spcBef>
              <a:spcAft>
                <a:spcPts val="0"/>
              </a:spcAft>
              <a:buSzPts val="2800"/>
              <a:buNone/>
            </a:pPr>
            <a:r>
              <a:rPr lang="en-US"/>
              <a:t>What about deeper networks?</a:t>
            </a:r>
            <a:endParaRPr/>
          </a:p>
          <a:p>
            <a:pPr indent="-428615" lvl="0" marL="428615" rtl="0" algn="l">
              <a:lnSpc>
                <a:spcPct val="90000"/>
              </a:lnSpc>
              <a:spcBef>
                <a:spcPts val="1050"/>
              </a:spcBef>
              <a:spcAft>
                <a:spcPts val="0"/>
              </a:spcAft>
              <a:buSzPts val="2800"/>
              <a:buFont typeface="Arial"/>
              <a:buChar char="•"/>
            </a:pPr>
            <a:r>
              <a:rPr lang="en-US"/>
              <a:t>Lots of layers, different activation functions?</a:t>
            </a:r>
            <a:endParaRPr/>
          </a:p>
          <a:p>
            <a:pPr indent="-7938" lvl="0" marL="7938" rtl="0" algn="l">
              <a:lnSpc>
                <a:spcPct val="90000"/>
              </a:lnSpc>
              <a:spcBef>
                <a:spcPts val="1050"/>
              </a:spcBef>
              <a:spcAft>
                <a:spcPts val="0"/>
              </a:spcAft>
              <a:buSzPts val="2800"/>
              <a:buNone/>
            </a:pPr>
            <a:r>
              <a:rPr lang="en-US"/>
              <a:t>Solution in the next lecture:</a:t>
            </a:r>
            <a:endParaRPr/>
          </a:p>
          <a:p>
            <a:pPr indent="-457200" lvl="0" marL="457200" rtl="0" algn="l">
              <a:lnSpc>
                <a:spcPct val="90000"/>
              </a:lnSpc>
              <a:spcBef>
                <a:spcPts val="1050"/>
              </a:spcBef>
              <a:spcAft>
                <a:spcPts val="0"/>
              </a:spcAft>
              <a:buSzPts val="2800"/>
              <a:buFont typeface="Arial"/>
              <a:buChar char="•"/>
            </a:pPr>
            <a:r>
              <a:rPr lang="en-US"/>
              <a:t>Even more use of the chain rule!! </a:t>
            </a:r>
            <a:endParaRPr/>
          </a:p>
          <a:p>
            <a:pPr indent="-428615" lvl="0" marL="428615" rtl="0" algn="l">
              <a:lnSpc>
                <a:spcPct val="90000"/>
              </a:lnSpc>
              <a:spcBef>
                <a:spcPts val="1050"/>
              </a:spcBef>
              <a:spcAft>
                <a:spcPts val="0"/>
              </a:spcAft>
              <a:buSzPts val="2800"/>
              <a:buFont typeface="Arial"/>
              <a:buChar char="•"/>
            </a:pPr>
            <a:r>
              <a:rPr lang="en-US"/>
              <a:t>Computation graphs and backward differentiation!</a:t>
            </a:r>
            <a:endParaRPr/>
          </a:p>
        </p:txBody>
      </p:sp>
      <p:sp>
        <p:nvSpPr>
          <p:cNvPr id="1166" name="Google Shape;1166;p62"/>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63"/>
          <p:cNvSpPr txBox="1"/>
          <p:nvPr>
            <p:ph type="title"/>
          </p:nvPr>
        </p:nvSpPr>
        <p:spPr>
          <a:xfrm>
            <a:off x="342900" y="445769"/>
            <a:ext cx="2400300" cy="1714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chemeClr val="lt1"/>
              </a:buClr>
              <a:buSzPct val="100000"/>
              <a:buFont typeface="Calibri"/>
              <a:buNone/>
            </a:pPr>
            <a:r>
              <a:rPr lang="en-US" sz="3000">
                <a:solidFill>
                  <a:schemeClr val="lt1"/>
                </a:solidFill>
              </a:rPr>
              <a:t>Simple Neural Networks and Neural Language Models</a:t>
            </a:r>
            <a:endParaRPr sz="3000">
              <a:solidFill>
                <a:schemeClr val="lt1"/>
              </a:solidFill>
            </a:endParaRPr>
          </a:p>
        </p:txBody>
      </p:sp>
      <p:sp>
        <p:nvSpPr>
          <p:cNvPr id="1173" name="Google Shape;1173;p63"/>
          <p:cNvSpPr txBox="1"/>
          <p:nvPr>
            <p:ph idx="1" type="body"/>
          </p:nvPr>
        </p:nvSpPr>
        <p:spPr>
          <a:xfrm>
            <a:off x="3460240" y="548640"/>
            <a:ext cx="5009393" cy="3943350"/>
          </a:xfrm>
          <a:prstGeom prst="rect">
            <a:avLst/>
          </a:prstGeom>
          <a:noFill/>
          <a:ln>
            <a:noFill/>
          </a:ln>
        </p:spPr>
        <p:txBody>
          <a:bodyPr anchorCtr="0" anchor="t" bIns="45700" lIns="0" spcFirstLastPara="1" rIns="0" wrap="square" tIns="45700">
            <a:normAutofit/>
          </a:bodyPr>
          <a:lstStyle/>
          <a:p>
            <a:pPr indent="-190500" lvl="0" marL="68577" rtl="0" algn="l">
              <a:lnSpc>
                <a:spcPct val="90000"/>
              </a:lnSpc>
              <a:spcBef>
                <a:spcPts val="0"/>
              </a:spcBef>
              <a:spcAft>
                <a:spcPts val="0"/>
              </a:spcAft>
              <a:buSzPts val="3000"/>
              <a:buChar char=" "/>
            </a:pPr>
            <a:r>
              <a:rPr lang="en-US" sz="3000">
                <a:solidFill>
                  <a:schemeClr val="dk2"/>
                </a:solidFill>
              </a:rPr>
              <a:t>Training Neural Nets: Overview</a:t>
            </a:r>
            <a:endParaRPr/>
          </a:p>
        </p:txBody>
      </p:sp>
      <p:sp>
        <p:nvSpPr>
          <p:cNvPr id="1174" name="Google Shape;1174;p63"/>
          <p:cNvSpPr txBox="1"/>
          <p:nvPr>
            <p:ph idx="2" type="body"/>
          </p:nvPr>
        </p:nvSpPr>
        <p:spPr>
          <a:xfrm>
            <a:off x="342900" y="2194562"/>
            <a:ext cx="2400300" cy="25343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125"/>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64"/>
          <p:cNvSpPr txBox="1"/>
          <p:nvPr>
            <p:ph type="title"/>
          </p:nvPr>
        </p:nvSpPr>
        <p:spPr>
          <a:xfrm>
            <a:off x="342900" y="445769"/>
            <a:ext cx="2400300" cy="1714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chemeClr val="lt1"/>
              </a:buClr>
              <a:buSzPct val="100000"/>
              <a:buFont typeface="Calibri"/>
              <a:buNone/>
            </a:pPr>
            <a:r>
              <a:rPr lang="en-US" sz="3000">
                <a:solidFill>
                  <a:schemeClr val="lt1"/>
                </a:solidFill>
              </a:rPr>
              <a:t>Simple Neural Networks and Neural Language Models</a:t>
            </a:r>
            <a:endParaRPr sz="3000">
              <a:solidFill>
                <a:schemeClr val="lt1"/>
              </a:solidFill>
            </a:endParaRPr>
          </a:p>
        </p:txBody>
      </p:sp>
      <p:sp>
        <p:nvSpPr>
          <p:cNvPr id="1181" name="Google Shape;1181;p64"/>
          <p:cNvSpPr txBox="1"/>
          <p:nvPr>
            <p:ph idx="1" type="body"/>
          </p:nvPr>
        </p:nvSpPr>
        <p:spPr>
          <a:xfrm>
            <a:off x="3460240" y="548640"/>
            <a:ext cx="5009393" cy="3943350"/>
          </a:xfrm>
          <a:prstGeom prst="rect">
            <a:avLst/>
          </a:prstGeom>
          <a:noFill/>
          <a:ln>
            <a:noFill/>
          </a:ln>
        </p:spPr>
        <p:txBody>
          <a:bodyPr anchorCtr="0" anchor="t" bIns="45700" lIns="0" spcFirstLastPara="1" rIns="0" wrap="square" tIns="45700">
            <a:normAutofit/>
          </a:bodyPr>
          <a:lstStyle/>
          <a:p>
            <a:pPr indent="-190500" lvl="0" marL="68577" rtl="0" algn="l">
              <a:lnSpc>
                <a:spcPct val="90000"/>
              </a:lnSpc>
              <a:spcBef>
                <a:spcPts val="0"/>
              </a:spcBef>
              <a:spcAft>
                <a:spcPts val="0"/>
              </a:spcAft>
              <a:buSzPts val="3000"/>
              <a:buChar char=" "/>
            </a:pPr>
            <a:r>
              <a:rPr lang="en-US" sz="3000">
                <a:solidFill>
                  <a:schemeClr val="dk2"/>
                </a:solidFill>
              </a:rPr>
              <a:t>Computation Graphs and Backward Differentiation</a:t>
            </a:r>
            <a:endParaRPr/>
          </a:p>
        </p:txBody>
      </p:sp>
      <p:sp>
        <p:nvSpPr>
          <p:cNvPr id="1182" name="Google Shape;1182;p64"/>
          <p:cNvSpPr txBox="1"/>
          <p:nvPr>
            <p:ph idx="2" type="body"/>
          </p:nvPr>
        </p:nvSpPr>
        <p:spPr>
          <a:xfrm>
            <a:off x="342900" y="2194562"/>
            <a:ext cx="2400300" cy="25343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125"/>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65"/>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Why Computation Graphs</a:t>
            </a:r>
            <a:endParaRPr/>
          </a:p>
        </p:txBody>
      </p:sp>
      <p:sp>
        <p:nvSpPr>
          <p:cNvPr id="1189" name="Google Shape;1189;p65"/>
          <p:cNvSpPr txBox="1"/>
          <p:nvPr>
            <p:ph idx="1" type="body"/>
          </p:nvPr>
        </p:nvSpPr>
        <p:spPr>
          <a:xfrm>
            <a:off x="822960" y="914400"/>
            <a:ext cx="7863840" cy="363855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en-US"/>
              <a:t>For training, we need the derivative of the loss with respect to each weight in every layer of the network </a:t>
            </a:r>
            <a:endParaRPr/>
          </a:p>
          <a:p>
            <a:pPr indent="-428615" lvl="0" marL="428615" rtl="0" algn="l">
              <a:lnSpc>
                <a:spcPct val="90000"/>
              </a:lnSpc>
              <a:spcBef>
                <a:spcPts val="1050"/>
              </a:spcBef>
              <a:spcAft>
                <a:spcPts val="0"/>
              </a:spcAft>
              <a:buSzPts val="2600"/>
              <a:buFont typeface="Arial"/>
              <a:buChar char="•"/>
            </a:pPr>
            <a:r>
              <a:rPr lang="en-US" sz="2600"/>
              <a:t>But the loss is computed only at the very end of the network! </a:t>
            </a:r>
            <a:endParaRPr/>
          </a:p>
          <a:p>
            <a:pPr indent="-7938" lvl="0" marL="7938" rtl="0" algn="l">
              <a:lnSpc>
                <a:spcPct val="90000"/>
              </a:lnSpc>
              <a:spcBef>
                <a:spcPts val="1050"/>
              </a:spcBef>
              <a:spcAft>
                <a:spcPts val="0"/>
              </a:spcAft>
              <a:buSzPts val="2800"/>
              <a:buNone/>
            </a:pPr>
            <a:r>
              <a:rPr lang="en-US"/>
              <a:t>Solution: </a:t>
            </a:r>
            <a:r>
              <a:rPr b="1" lang="en-US"/>
              <a:t>error backpropagation </a:t>
            </a:r>
            <a:r>
              <a:rPr lang="en-US" sz="1600"/>
              <a:t>(Rumelhart, Hinton, Williams, 1986) </a:t>
            </a:r>
            <a:endParaRPr/>
          </a:p>
          <a:p>
            <a:pPr indent="-428615" lvl="0" marL="428615" rtl="0" algn="l">
              <a:lnSpc>
                <a:spcPct val="90000"/>
              </a:lnSpc>
              <a:spcBef>
                <a:spcPts val="1050"/>
              </a:spcBef>
              <a:spcAft>
                <a:spcPts val="0"/>
              </a:spcAft>
              <a:buSzPts val="2600"/>
              <a:buFont typeface="Arial"/>
              <a:buChar char="•"/>
            </a:pPr>
            <a:r>
              <a:rPr b="1" lang="en-US" sz="2600"/>
              <a:t>Backprop</a:t>
            </a:r>
            <a:r>
              <a:rPr lang="en-US" sz="2600"/>
              <a:t> is a special case of </a:t>
            </a:r>
            <a:r>
              <a:rPr b="1" lang="en-US" sz="2600"/>
              <a:t>backward differentiation</a:t>
            </a:r>
            <a:endParaRPr sz="2600"/>
          </a:p>
          <a:p>
            <a:pPr indent="-428615" lvl="0" marL="428615" rtl="0" algn="l">
              <a:lnSpc>
                <a:spcPct val="90000"/>
              </a:lnSpc>
              <a:spcBef>
                <a:spcPts val="1050"/>
              </a:spcBef>
              <a:spcAft>
                <a:spcPts val="0"/>
              </a:spcAft>
              <a:buSzPts val="2600"/>
              <a:buFont typeface="Arial"/>
              <a:buChar char="•"/>
            </a:pPr>
            <a:r>
              <a:rPr lang="en-US" sz="2600"/>
              <a:t>Which relies on </a:t>
            </a:r>
            <a:r>
              <a:rPr b="1" lang="en-US" sz="2600"/>
              <a:t>computation graphs</a:t>
            </a:r>
            <a:r>
              <a:rPr lang="en-US" sz="2600"/>
              <a:t>. </a:t>
            </a:r>
            <a:endParaRPr/>
          </a:p>
        </p:txBody>
      </p:sp>
      <p:sp>
        <p:nvSpPr>
          <p:cNvPr id="1190" name="Google Shape;1190;p65"/>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66"/>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Computation Graphs</a:t>
            </a:r>
            <a:endParaRPr/>
          </a:p>
        </p:txBody>
      </p:sp>
      <p:sp>
        <p:nvSpPr>
          <p:cNvPr id="1197" name="Google Shape;1197;p66"/>
          <p:cNvSpPr txBox="1"/>
          <p:nvPr>
            <p:ph idx="1" type="body"/>
          </p:nvPr>
        </p:nvSpPr>
        <p:spPr>
          <a:xfrm>
            <a:off x="971550" y="1657350"/>
            <a:ext cx="7315200" cy="32004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3000"/>
              <a:buNone/>
            </a:pPr>
            <a:r>
              <a:rPr lang="en-US" sz="3000"/>
              <a:t>A computation graph represents the process of computing a mathematical expression</a:t>
            </a:r>
            <a:endParaRPr/>
          </a:p>
          <a:p>
            <a:pPr indent="0" lvl="1" marL="150806" rtl="0" algn="l">
              <a:lnSpc>
                <a:spcPct val="90000"/>
              </a:lnSpc>
              <a:spcBef>
                <a:spcPts val="300"/>
              </a:spcBef>
              <a:spcAft>
                <a:spcPts val="0"/>
              </a:spcAft>
              <a:buSzPts val="2400"/>
              <a:buNone/>
            </a:pPr>
            <a:r>
              <a:t/>
            </a:r>
            <a:endParaRPr/>
          </a:p>
          <a:p>
            <a:pPr indent="-7938" lvl="0" marL="7938" rtl="0" algn="l">
              <a:lnSpc>
                <a:spcPct val="90000"/>
              </a:lnSpc>
              <a:spcBef>
                <a:spcPts val="120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p:txBody>
      </p:sp>
      <p:sp>
        <p:nvSpPr>
          <p:cNvPr id="1198" name="Google Shape;1198;p66"/>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67"/>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Example: </a:t>
            </a:r>
            <a:endParaRPr/>
          </a:p>
        </p:txBody>
      </p:sp>
      <p:pic>
        <p:nvPicPr>
          <p:cNvPr id="1205" name="Google Shape;1205;p67"/>
          <p:cNvPicPr preferRelativeResize="0"/>
          <p:nvPr>
            <p:ph idx="1" type="body"/>
          </p:nvPr>
        </p:nvPicPr>
        <p:blipFill rotWithShape="1">
          <a:blip r:embed="rId3">
            <a:alphaModFix/>
          </a:blip>
          <a:srcRect b="0" l="0" r="0" t="0"/>
          <a:stretch/>
        </p:blipFill>
        <p:spPr>
          <a:xfrm>
            <a:off x="2800350" y="301459"/>
            <a:ext cx="3338286" cy="438150"/>
          </a:xfrm>
          <a:prstGeom prst="rect">
            <a:avLst/>
          </a:prstGeom>
          <a:noFill/>
          <a:ln>
            <a:noFill/>
          </a:ln>
        </p:spPr>
      </p:pic>
      <p:sp>
        <p:nvSpPr>
          <p:cNvPr id="1206" name="Google Shape;1206;p67"/>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07" name="Google Shape;1207;p67"/>
          <p:cNvPicPr preferRelativeResize="0"/>
          <p:nvPr/>
        </p:nvPicPr>
        <p:blipFill rotWithShape="1">
          <a:blip r:embed="rId4">
            <a:alphaModFix/>
          </a:blip>
          <a:srcRect b="0" l="0" r="0" t="0"/>
          <a:stretch/>
        </p:blipFill>
        <p:spPr>
          <a:xfrm>
            <a:off x="4572000" y="800101"/>
            <a:ext cx="1943100" cy="1390185"/>
          </a:xfrm>
          <a:prstGeom prst="rect">
            <a:avLst/>
          </a:prstGeom>
          <a:noFill/>
          <a:ln>
            <a:noFill/>
          </a:ln>
        </p:spPr>
      </p:pic>
      <p:pic>
        <p:nvPicPr>
          <p:cNvPr id="1208" name="Google Shape;1208;p67"/>
          <p:cNvPicPr preferRelativeResize="0"/>
          <p:nvPr/>
        </p:nvPicPr>
        <p:blipFill rotWithShape="1">
          <a:blip r:embed="rId5">
            <a:alphaModFix/>
          </a:blip>
          <a:srcRect b="0" l="0" r="0" t="0"/>
          <a:stretch/>
        </p:blipFill>
        <p:spPr>
          <a:xfrm>
            <a:off x="1314451" y="2682046"/>
            <a:ext cx="6389711" cy="2341753"/>
          </a:xfrm>
          <a:prstGeom prst="rect">
            <a:avLst/>
          </a:prstGeom>
          <a:noFill/>
          <a:ln>
            <a:noFill/>
          </a:ln>
        </p:spPr>
      </p:pic>
      <p:sp>
        <p:nvSpPr>
          <p:cNvPr id="1209" name="Google Shape;1209;p67"/>
          <p:cNvSpPr txBox="1"/>
          <p:nvPr/>
        </p:nvSpPr>
        <p:spPr>
          <a:xfrm>
            <a:off x="1959972" y="1215361"/>
            <a:ext cx="202145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Computations: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68"/>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Example: </a:t>
            </a:r>
            <a:endParaRPr/>
          </a:p>
        </p:txBody>
      </p:sp>
      <p:pic>
        <p:nvPicPr>
          <p:cNvPr id="1216" name="Google Shape;1216;p68"/>
          <p:cNvPicPr preferRelativeResize="0"/>
          <p:nvPr>
            <p:ph idx="1" type="body"/>
          </p:nvPr>
        </p:nvPicPr>
        <p:blipFill rotWithShape="1">
          <a:blip r:embed="rId3">
            <a:alphaModFix/>
          </a:blip>
          <a:srcRect b="0" l="0" r="0" t="0"/>
          <a:stretch/>
        </p:blipFill>
        <p:spPr>
          <a:xfrm>
            <a:off x="2800350" y="301459"/>
            <a:ext cx="3338286" cy="438150"/>
          </a:xfrm>
          <a:prstGeom prst="rect">
            <a:avLst/>
          </a:prstGeom>
          <a:noFill/>
          <a:ln>
            <a:noFill/>
          </a:ln>
        </p:spPr>
      </p:pic>
      <p:sp>
        <p:nvSpPr>
          <p:cNvPr id="1217" name="Google Shape;1217;p68"/>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18" name="Google Shape;1218;p68"/>
          <p:cNvPicPr preferRelativeResize="0"/>
          <p:nvPr/>
        </p:nvPicPr>
        <p:blipFill rotWithShape="1">
          <a:blip r:embed="rId4">
            <a:alphaModFix/>
          </a:blip>
          <a:srcRect b="0" l="0" r="0" t="0"/>
          <a:stretch/>
        </p:blipFill>
        <p:spPr>
          <a:xfrm>
            <a:off x="4572000" y="800099"/>
            <a:ext cx="1943100" cy="1390185"/>
          </a:xfrm>
          <a:prstGeom prst="rect">
            <a:avLst/>
          </a:prstGeom>
          <a:noFill/>
          <a:ln>
            <a:noFill/>
          </a:ln>
        </p:spPr>
      </p:pic>
      <p:pic>
        <p:nvPicPr>
          <p:cNvPr id="1219" name="Google Shape;1219;p68"/>
          <p:cNvPicPr preferRelativeResize="0"/>
          <p:nvPr/>
        </p:nvPicPr>
        <p:blipFill rotWithShape="1">
          <a:blip r:embed="rId5">
            <a:alphaModFix/>
          </a:blip>
          <a:srcRect b="0" l="0" r="0" t="0"/>
          <a:stretch/>
        </p:blipFill>
        <p:spPr>
          <a:xfrm>
            <a:off x="1074761" y="2286935"/>
            <a:ext cx="6629400" cy="2859125"/>
          </a:xfrm>
          <a:prstGeom prst="rect">
            <a:avLst/>
          </a:prstGeom>
          <a:noFill/>
          <a:ln>
            <a:noFill/>
          </a:ln>
        </p:spPr>
      </p:pic>
      <p:sp>
        <p:nvSpPr>
          <p:cNvPr id="1220" name="Google Shape;1220;p68"/>
          <p:cNvSpPr txBox="1"/>
          <p:nvPr/>
        </p:nvSpPr>
        <p:spPr>
          <a:xfrm>
            <a:off x="1943101" y="1218770"/>
            <a:ext cx="202145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Computations:</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69"/>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000"/>
              <a:buFont typeface="Calibri"/>
              <a:buNone/>
            </a:pPr>
            <a:r>
              <a:rPr lang="en-US" sz="3000"/>
              <a:t>Backwards differentiation in computation graphs</a:t>
            </a:r>
            <a:endParaRPr/>
          </a:p>
        </p:txBody>
      </p:sp>
      <p:sp>
        <p:nvSpPr>
          <p:cNvPr id="1227" name="Google Shape;1227;p69"/>
          <p:cNvSpPr txBox="1"/>
          <p:nvPr>
            <p:ph idx="1" type="body"/>
          </p:nvPr>
        </p:nvSpPr>
        <p:spPr>
          <a:xfrm>
            <a:off x="822962" y="1200150"/>
            <a:ext cx="7543801" cy="34290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3000"/>
              <a:buNone/>
            </a:pPr>
            <a:r>
              <a:rPr lang="en-US" sz="3000">
                <a:solidFill>
                  <a:schemeClr val="dk1"/>
                </a:solidFill>
              </a:rPr>
              <a:t>The importance of the computation graph comes from the backward pass</a:t>
            </a:r>
            <a:endParaRPr/>
          </a:p>
          <a:p>
            <a:pPr indent="-7938" lvl="0" marL="7938" rtl="0" algn="l">
              <a:lnSpc>
                <a:spcPct val="90000"/>
              </a:lnSpc>
              <a:spcBef>
                <a:spcPts val="1050"/>
              </a:spcBef>
              <a:spcAft>
                <a:spcPts val="0"/>
              </a:spcAft>
              <a:buSzPts val="3000"/>
              <a:buNone/>
            </a:pPr>
            <a:r>
              <a:rPr lang="en-US" sz="3000">
                <a:solidFill>
                  <a:schemeClr val="dk1"/>
                </a:solidFill>
              </a:rPr>
              <a:t>This is used to compute the derivatives that we’ll need for the weight update.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70"/>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Example</a:t>
            </a:r>
            <a:endParaRPr/>
          </a:p>
        </p:txBody>
      </p:sp>
      <p:pic>
        <p:nvPicPr>
          <p:cNvPr id="1234" name="Google Shape;1234;p70"/>
          <p:cNvPicPr preferRelativeResize="0"/>
          <p:nvPr>
            <p:ph idx="1" type="body"/>
          </p:nvPr>
        </p:nvPicPr>
        <p:blipFill rotWithShape="1">
          <a:blip r:embed="rId3">
            <a:alphaModFix/>
          </a:blip>
          <a:srcRect b="0" l="0" r="0" t="0"/>
          <a:stretch/>
        </p:blipFill>
        <p:spPr>
          <a:xfrm>
            <a:off x="2686050" y="340763"/>
            <a:ext cx="3338286" cy="438150"/>
          </a:xfrm>
          <a:prstGeom prst="rect">
            <a:avLst/>
          </a:prstGeom>
          <a:noFill/>
          <a:ln>
            <a:noFill/>
          </a:ln>
        </p:spPr>
      </p:pic>
      <p:sp>
        <p:nvSpPr>
          <p:cNvPr id="1235" name="Google Shape;1235;p70"/>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36" name="Google Shape;1236;p70"/>
          <p:cNvPicPr preferRelativeResize="0"/>
          <p:nvPr/>
        </p:nvPicPr>
        <p:blipFill rotWithShape="1">
          <a:blip r:embed="rId4">
            <a:alphaModFix/>
          </a:blip>
          <a:srcRect b="0" l="0" r="0" t="0"/>
          <a:stretch/>
        </p:blipFill>
        <p:spPr>
          <a:xfrm>
            <a:off x="3572069" y="999976"/>
            <a:ext cx="2305050" cy="1649141"/>
          </a:xfrm>
          <a:prstGeom prst="rect">
            <a:avLst/>
          </a:prstGeom>
          <a:noFill/>
          <a:ln>
            <a:noFill/>
          </a:ln>
        </p:spPr>
      </p:pic>
      <p:sp>
        <p:nvSpPr>
          <p:cNvPr id="1237" name="Google Shape;1237;p70"/>
          <p:cNvSpPr/>
          <p:nvPr/>
        </p:nvSpPr>
        <p:spPr>
          <a:xfrm>
            <a:off x="1066800" y="3861518"/>
            <a:ext cx="7594082" cy="1004699"/>
          </a:xfrm>
          <a:prstGeom prst="rect">
            <a:avLst/>
          </a:prstGeom>
          <a:blipFill rotWithShape="1">
            <a:blip r:embed="rId5">
              <a:alphaModFix/>
            </a:blip>
            <a:stretch>
              <a:fillRect b="-12344" l="-1335"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1238" name="Google Shape;1238;p70"/>
          <p:cNvSpPr txBox="1"/>
          <p:nvPr/>
        </p:nvSpPr>
        <p:spPr>
          <a:xfrm>
            <a:off x="1066800" y="2965550"/>
            <a:ext cx="54864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We want:</a:t>
            </a:r>
            <a:endParaRPr i="1" sz="2400">
              <a:solidFill>
                <a:schemeClr val="dk1"/>
              </a:solidFill>
              <a:latin typeface="Calibri"/>
              <a:ea typeface="Calibri"/>
              <a:cs typeface="Calibri"/>
              <a:sym typeface="Calibri"/>
            </a:endParaRPr>
          </a:p>
        </p:txBody>
      </p:sp>
      <p:pic>
        <p:nvPicPr>
          <p:cNvPr id="1239" name="Google Shape;1239;p70"/>
          <p:cNvPicPr preferRelativeResize="0"/>
          <p:nvPr/>
        </p:nvPicPr>
        <p:blipFill rotWithShape="1">
          <a:blip r:embed="rId6">
            <a:alphaModFix/>
          </a:blip>
          <a:srcRect b="0" l="0" r="0" t="0"/>
          <a:stretch/>
        </p:blipFill>
        <p:spPr>
          <a:xfrm>
            <a:off x="2819400" y="2883838"/>
            <a:ext cx="2583708" cy="625091"/>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71"/>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a:t>The chain rule</a:t>
            </a:r>
            <a:endParaRPr/>
          </a:p>
        </p:txBody>
      </p:sp>
      <p:sp>
        <p:nvSpPr>
          <p:cNvPr id="1246" name="Google Shape;1246;p71"/>
          <p:cNvSpPr txBox="1"/>
          <p:nvPr>
            <p:ph idx="1" type="body"/>
          </p:nvPr>
        </p:nvSpPr>
        <p:spPr>
          <a:xfrm>
            <a:off x="822962" y="1200150"/>
            <a:ext cx="7863839" cy="3429000"/>
          </a:xfrm>
          <a:prstGeom prst="rect">
            <a:avLst/>
          </a:prstGeom>
          <a:noFill/>
          <a:ln>
            <a:noFill/>
          </a:ln>
        </p:spPr>
        <p:txBody>
          <a:bodyPr anchorCtr="0" anchor="t" bIns="45700" lIns="0" spcFirstLastPara="1" rIns="0" wrap="square" tIns="45700">
            <a:normAutofit lnSpcReduction="10000"/>
          </a:bodyPr>
          <a:lstStyle/>
          <a:p>
            <a:pPr indent="-7938" lvl="0" marL="7938" rtl="0" algn="l">
              <a:lnSpc>
                <a:spcPct val="90000"/>
              </a:lnSpc>
              <a:spcBef>
                <a:spcPts val="0"/>
              </a:spcBef>
              <a:spcAft>
                <a:spcPts val="0"/>
              </a:spcAft>
              <a:buSzPts val="2800"/>
              <a:buNone/>
            </a:pPr>
            <a:r>
              <a:rPr lang="en-US"/>
              <a:t>Computing the derivative of a composite function:</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rPr i="1" lang="en-US">
                <a:latin typeface="Times New Roman"/>
                <a:ea typeface="Times New Roman"/>
                <a:cs typeface="Times New Roman"/>
                <a:sym typeface="Times New Roman"/>
              </a:rPr>
              <a:t>f </a:t>
            </a:r>
            <a:r>
              <a:rPr lang="en-US">
                <a:latin typeface="Times New Roman"/>
                <a:ea typeface="Times New Roman"/>
                <a:cs typeface="Times New Roman"/>
                <a:sym typeface="Times New Roman"/>
              </a:rPr>
              <a:t>(</a:t>
            </a:r>
            <a:r>
              <a:rPr i="1" lang="en-US">
                <a:latin typeface="Times New Roman"/>
                <a:ea typeface="Times New Roman"/>
                <a:cs typeface="Times New Roman"/>
                <a:sym typeface="Times New Roman"/>
              </a:rPr>
              <a:t>x</a:t>
            </a:r>
            <a:r>
              <a:rPr lang="en-US">
                <a:latin typeface="Times New Roman"/>
                <a:ea typeface="Times New Roman"/>
                <a:cs typeface="Times New Roman"/>
                <a:sym typeface="Times New Roman"/>
              </a:rPr>
              <a:t>) = </a:t>
            </a:r>
            <a:r>
              <a:rPr i="1" lang="en-US">
                <a:latin typeface="Times New Roman"/>
                <a:ea typeface="Times New Roman"/>
                <a:cs typeface="Times New Roman"/>
                <a:sym typeface="Times New Roman"/>
              </a:rPr>
              <a:t>u</a:t>
            </a:r>
            <a:r>
              <a:rPr lang="en-US">
                <a:latin typeface="Times New Roman"/>
                <a:ea typeface="Times New Roman"/>
                <a:cs typeface="Times New Roman"/>
                <a:sym typeface="Times New Roman"/>
              </a:rPr>
              <a:t>(</a:t>
            </a:r>
            <a:r>
              <a:rPr i="1" lang="en-US">
                <a:latin typeface="Times New Roman"/>
                <a:ea typeface="Times New Roman"/>
                <a:cs typeface="Times New Roman"/>
                <a:sym typeface="Times New Roman"/>
              </a:rPr>
              <a:t>v</a:t>
            </a:r>
            <a:r>
              <a:rPr lang="en-US">
                <a:latin typeface="Times New Roman"/>
                <a:ea typeface="Times New Roman"/>
                <a:cs typeface="Times New Roman"/>
                <a:sym typeface="Times New Roman"/>
              </a:rPr>
              <a:t>(</a:t>
            </a:r>
            <a:r>
              <a:rPr i="1" lang="en-US">
                <a:latin typeface="Times New Roman"/>
                <a:ea typeface="Times New Roman"/>
                <a:cs typeface="Times New Roman"/>
                <a:sym typeface="Times New Roman"/>
              </a:rPr>
              <a:t>x</a:t>
            </a:r>
            <a:r>
              <a:rPr lang="en-US">
                <a:latin typeface="Times New Roman"/>
                <a:ea typeface="Times New Roman"/>
                <a:cs typeface="Times New Roman"/>
                <a:sym typeface="Times New Roman"/>
              </a:rPr>
              <a:t>))</a:t>
            </a:r>
            <a:endParaRPr/>
          </a:p>
          <a:p>
            <a:pPr indent="-7938" lvl="0" marL="7938" rtl="0" algn="l">
              <a:lnSpc>
                <a:spcPct val="90000"/>
              </a:lnSpc>
              <a:spcBef>
                <a:spcPts val="1050"/>
              </a:spcBef>
              <a:spcAft>
                <a:spcPts val="0"/>
              </a:spcAft>
              <a:buSzPts val="2800"/>
              <a:buNone/>
            </a:pPr>
            <a:r>
              <a:t/>
            </a:r>
            <a:endParaRPr>
              <a:latin typeface="Times New Roman"/>
              <a:ea typeface="Times New Roman"/>
              <a:cs typeface="Times New Roman"/>
              <a:sym typeface="Times New Roman"/>
            </a:endParaRPr>
          </a:p>
          <a:p>
            <a:pPr indent="-7938" lvl="0" marL="7938" rtl="0" algn="l">
              <a:lnSpc>
                <a:spcPct val="90000"/>
              </a:lnSpc>
              <a:spcBef>
                <a:spcPts val="1050"/>
              </a:spcBef>
              <a:spcAft>
                <a:spcPts val="0"/>
              </a:spcAft>
              <a:buSzPts val="2800"/>
              <a:buNone/>
            </a:pPr>
            <a:r>
              <a:t/>
            </a:r>
            <a:endParaRPr i="1">
              <a:latin typeface="Times New Roman"/>
              <a:ea typeface="Times New Roman"/>
              <a:cs typeface="Times New Roman"/>
              <a:sym typeface="Times New Roman"/>
            </a:endParaRPr>
          </a:p>
          <a:p>
            <a:pPr indent="-7938" lvl="0" marL="7938" rtl="0" algn="l">
              <a:lnSpc>
                <a:spcPct val="90000"/>
              </a:lnSpc>
              <a:spcBef>
                <a:spcPts val="1050"/>
              </a:spcBef>
              <a:spcAft>
                <a:spcPts val="0"/>
              </a:spcAft>
              <a:buSzPts val="2800"/>
              <a:buNone/>
            </a:pPr>
            <a:r>
              <a:rPr i="1" lang="en-US">
                <a:latin typeface="Times New Roman"/>
                <a:ea typeface="Times New Roman"/>
                <a:cs typeface="Times New Roman"/>
                <a:sym typeface="Times New Roman"/>
              </a:rPr>
              <a:t>f </a:t>
            </a:r>
            <a:r>
              <a:rPr lang="en-US">
                <a:latin typeface="Times New Roman"/>
                <a:ea typeface="Times New Roman"/>
                <a:cs typeface="Times New Roman"/>
                <a:sym typeface="Times New Roman"/>
              </a:rPr>
              <a:t>(</a:t>
            </a:r>
            <a:r>
              <a:rPr i="1" lang="en-US">
                <a:latin typeface="Times New Roman"/>
                <a:ea typeface="Times New Roman"/>
                <a:cs typeface="Times New Roman"/>
                <a:sym typeface="Times New Roman"/>
              </a:rPr>
              <a:t>x</a:t>
            </a:r>
            <a:r>
              <a:rPr lang="en-US">
                <a:latin typeface="Times New Roman"/>
                <a:ea typeface="Times New Roman"/>
                <a:cs typeface="Times New Roman"/>
                <a:sym typeface="Times New Roman"/>
              </a:rPr>
              <a:t>) = </a:t>
            </a:r>
            <a:r>
              <a:rPr i="1" lang="en-US">
                <a:latin typeface="Times New Roman"/>
                <a:ea typeface="Times New Roman"/>
                <a:cs typeface="Times New Roman"/>
                <a:sym typeface="Times New Roman"/>
              </a:rPr>
              <a:t>u(v(w(x)</a:t>
            </a:r>
            <a:r>
              <a:rPr lang="en-US">
                <a:latin typeface="Times New Roman"/>
                <a:ea typeface="Times New Roman"/>
                <a:cs typeface="Times New Roman"/>
                <a:sym typeface="Times New Roman"/>
              </a:rPr>
              <a:t>)) </a:t>
            </a:r>
            <a:endParaRPr/>
          </a:p>
          <a:p>
            <a:pPr indent="-7938" lvl="0" marL="7938" rtl="0" algn="l">
              <a:lnSpc>
                <a:spcPct val="90000"/>
              </a:lnSpc>
              <a:spcBef>
                <a:spcPts val="1050"/>
              </a:spcBef>
              <a:spcAft>
                <a:spcPts val="0"/>
              </a:spcAft>
              <a:buSzPts val="2800"/>
              <a:buNone/>
            </a:pPr>
            <a:r>
              <a:rPr lang="en-US">
                <a:latin typeface="Times New Roman"/>
                <a:ea typeface="Times New Roman"/>
                <a:cs typeface="Times New Roman"/>
                <a:sym typeface="Times New Roman"/>
              </a:rPr>
              <a:t>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p:txBody>
      </p:sp>
      <p:pic>
        <p:nvPicPr>
          <p:cNvPr id="1247" name="Google Shape;1247;p71"/>
          <p:cNvPicPr preferRelativeResize="0"/>
          <p:nvPr/>
        </p:nvPicPr>
        <p:blipFill rotWithShape="1">
          <a:blip r:embed="rId3">
            <a:alphaModFix/>
          </a:blip>
          <a:srcRect b="0" l="0" r="0" t="0"/>
          <a:stretch/>
        </p:blipFill>
        <p:spPr>
          <a:xfrm>
            <a:off x="3911620" y="2056073"/>
            <a:ext cx="2205225" cy="801900"/>
          </a:xfrm>
          <a:prstGeom prst="rect">
            <a:avLst/>
          </a:prstGeom>
          <a:noFill/>
          <a:ln>
            <a:noFill/>
          </a:ln>
        </p:spPr>
      </p:pic>
      <p:pic>
        <p:nvPicPr>
          <p:cNvPr id="1248" name="Google Shape;1248;p71"/>
          <p:cNvPicPr preferRelativeResize="0"/>
          <p:nvPr/>
        </p:nvPicPr>
        <p:blipFill rotWithShape="1">
          <a:blip r:embed="rId4">
            <a:alphaModFix/>
          </a:blip>
          <a:srcRect b="0" l="0" r="0" t="0"/>
          <a:stretch/>
        </p:blipFill>
        <p:spPr>
          <a:xfrm>
            <a:off x="3911619" y="3342611"/>
            <a:ext cx="2940300" cy="801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pic>
        <p:nvPicPr>
          <p:cNvPr id="1254" name="Google Shape;1254;p72"/>
          <p:cNvPicPr preferRelativeResize="0"/>
          <p:nvPr/>
        </p:nvPicPr>
        <p:blipFill rotWithShape="1">
          <a:blip r:embed="rId3">
            <a:alphaModFix/>
          </a:blip>
          <a:srcRect b="0" l="0" r="15862" t="0"/>
          <a:stretch/>
        </p:blipFill>
        <p:spPr>
          <a:xfrm>
            <a:off x="3657600" y="2400301"/>
            <a:ext cx="971550" cy="893988"/>
          </a:xfrm>
          <a:prstGeom prst="rect">
            <a:avLst/>
          </a:prstGeom>
          <a:noFill/>
          <a:ln>
            <a:noFill/>
          </a:ln>
        </p:spPr>
      </p:pic>
      <p:sp>
        <p:nvSpPr>
          <p:cNvPr id="1255" name="Google Shape;1255;p72"/>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Example</a:t>
            </a:r>
            <a:endParaRPr/>
          </a:p>
        </p:txBody>
      </p:sp>
      <p:pic>
        <p:nvPicPr>
          <p:cNvPr id="1256" name="Google Shape;1256;p72"/>
          <p:cNvPicPr preferRelativeResize="0"/>
          <p:nvPr>
            <p:ph idx="1" type="body"/>
          </p:nvPr>
        </p:nvPicPr>
        <p:blipFill rotWithShape="1">
          <a:blip r:embed="rId4">
            <a:alphaModFix/>
          </a:blip>
          <a:srcRect b="0" l="0" r="0" t="0"/>
          <a:stretch/>
        </p:blipFill>
        <p:spPr>
          <a:xfrm>
            <a:off x="2686050" y="340763"/>
            <a:ext cx="3338286" cy="438150"/>
          </a:xfrm>
          <a:prstGeom prst="rect">
            <a:avLst/>
          </a:prstGeom>
          <a:noFill/>
          <a:ln>
            <a:noFill/>
          </a:ln>
        </p:spPr>
      </p:pic>
      <p:sp>
        <p:nvSpPr>
          <p:cNvPr id="1257" name="Google Shape;1257;p72"/>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58" name="Google Shape;1258;p72"/>
          <p:cNvPicPr preferRelativeResize="0"/>
          <p:nvPr/>
        </p:nvPicPr>
        <p:blipFill rotWithShape="1">
          <a:blip r:embed="rId5">
            <a:alphaModFix/>
          </a:blip>
          <a:srcRect b="0" l="0" r="0" t="0"/>
          <a:stretch/>
        </p:blipFill>
        <p:spPr>
          <a:xfrm>
            <a:off x="381000" y="1090022"/>
            <a:ext cx="2305050" cy="1649141"/>
          </a:xfrm>
          <a:prstGeom prst="rect">
            <a:avLst/>
          </a:prstGeom>
          <a:noFill/>
          <a:ln>
            <a:noFill/>
          </a:ln>
        </p:spPr>
      </p:pic>
      <p:pic>
        <p:nvPicPr>
          <p:cNvPr id="1259" name="Google Shape;1259;p72"/>
          <p:cNvPicPr preferRelativeResize="0"/>
          <p:nvPr/>
        </p:nvPicPr>
        <p:blipFill rotWithShape="1">
          <a:blip r:embed="rId6">
            <a:alphaModFix/>
          </a:blip>
          <a:srcRect b="0" l="0" r="59146" t="0"/>
          <a:stretch/>
        </p:blipFill>
        <p:spPr>
          <a:xfrm>
            <a:off x="3600452" y="3355225"/>
            <a:ext cx="1129934" cy="1795953"/>
          </a:xfrm>
          <a:prstGeom prst="rect">
            <a:avLst/>
          </a:prstGeom>
          <a:noFill/>
          <a:ln>
            <a:noFill/>
          </a:ln>
        </p:spPr>
      </p:pic>
      <p:pic>
        <p:nvPicPr>
          <p:cNvPr id="1260" name="Google Shape;1260;p72"/>
          <p:cNvPicPr preferRelativeResize="0"/>
          <p:nvPr/>
        </p:nvPicPr>
        <p:blipFill rotWithShape="1">
          <a:blip r:embed="rId7">
            <a:alphaModFix/>
          </a:blip>
          <a:srcRect b="0" l="80722" r="0" t="0"/>
          <a:stretch/>
        </p:blipFill>
        <p:spPr>
          <a:xfrm>
            <a:off x="4730385" y="2375476"/>
            <a:ext cx="222615" cy="893988"/>
          </a:xfrm>
          <a:prstGeom prst="rect">
            <a:avLst/>
          </a:prstGeom>
          <a:noFill/>
          <a:ln>
            <a:noFill/>
          </a:ln>
        </p:spPr>
      </p:pic>
      <p:pic>
        <p:nvPicPr>
          <p:cNvPr id="1261" name="Google Shape;1261;p72"/>
          <p:cNvPicPr preferRelativeResize="0"/>
          <p:nvPr/>
        </p:nvPicPr>
        <p:blipFill rotWithShape="1">
          <a:blip r:embed="rId8">
            <a:alphaModFix/>
          </a:blip>
          <a:srcRect b="0" l="44082" r="0" t="0"/>
          <a:stretch/>
        </p:blipFill>
        <p:spPr>
          <a:xfrm>
            <a:off x="4705350" y="3300639"/>
            <a:ext cx="1546567" cy="179595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73"/>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Example</a:t>
            </a:r>
            <a:endParaRPr/>
          </a:p>
        </p:txBody>
      </p:sp>
      <p:pic>
        <p:nvPicPr>
          <p:cNvPr id="1268" name="Google Shape;1268;p73"/>
          <p:cNvPicPr preferRelativeResize="0"/>
          <p:nvPr>
            <p:ph idx="1" type="body"/>
          </p:nvPr>
        </p:nvPicPr>
        <p:blipFill rotWithShape="1">
          <a:blip r:embed="rId3">
            <a:alphaModFix/>
          </a:blip>
          <a:srcRect b="0" l="0" r="0" t="0"/>
          <a:stretch/>
        </p:blipFill>
        <p:spPr>
          <a:xfrm>
            <a:off x="381000" y="823160"/>
            <a:ext cx="3338286" cy="438150"/>
          </a:xfrm>
          <a:prstGeom prst="rect">
            <a:avLst/>
          </a:prstGeom>
          <a:noFill/>
          <a:ln>
            <a:noFill/>
          </a:ln>
        </p:spPr>
      </p:pic>
      <p:sp>
        <p:nvSpPr>
          <p:cNvPr id="1269" name="Google Shape;1269;p73"/>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70" name="Google Shape;1270;p73"/>
          <p:cNvPicPr preferRelativeResize="0"/>
          <p:nvPr/>
        </p:nvPicPr>
        <p:blipFill rotWithShape="1">
          <a:blip r:embed="rId4">
            <a:alphaModFix/>
          </a:blip>
          <a:srcRect b="0" l="0" r="0" t="0"/>
          <a:stretch/>
        </p:blipFill>
        <p:spPr>
          <a:xfrm>
            <a:off x="304800" y="1284372"/>
            <a:ext cx="2305050" cy="1649141"/>
          </a:xfrm>
          <a:prstGeom prst="rect">
            <a:avLst/>
          </a:prstGeom>
          <a:noFill/>
          <a:ln>
            <a:noFill/>
          </a:ln>
        </p:spPr>
      </p:pic>
      <p:pic>
        <p:nvPicPr>
          <p:cNvPr id="1271" name="Google Shape;1271;p73"/>
          <p:cNvPicPr preferRelativeResize="0"/>
          <p:nvPr/>
        </p:nvPicPr>
        <p:blipFill rotWithShape="1">
          <a:blip r:embed="rId5">
            <a:alphaModFix/>
          </a:blip>
          <a:srcRect b="0" l="0" r="0" t="0"/>
          <a:stretch/>
        </p:blipFill>
        <p:spPr>
          <a:xfrm>
            <a:off x="3200400" y="2409969"/>
            <a:ext cx="4953000" cy="2452764"/>
          </a:xfrm>
          <a:prstGeom prst="rect">
            <a:avLst/>
          </a:prstGeom>
          <a:noFill/>
          <a:ln>
            <a:noFill/>
          </a:ln>
        </p:spPr>
      </p:pic>
      <p:pic>
        <p:nvPicPr>
          <p:cNvPr id="1272" name="Google Shape;1272;p73"/>
          <p:cNvPicPr preferRelativeResize="0"/>
          <p:nvPr/>
        </p:nvPicPr>
        <p:blipFill rotWithShape="1">
          <a:blip r:embed="rId6">
            <a:alphaModFix/>
          </a:blip>
          <a:srcRect b="0" l="0" r="0" t="0"/>
          <a:stretch/>
        </p:blipFill>
        <p:spPr>
          <a:xfrm>
            <a:off x="4972051" y="280768"/>
            <a:ext cx="2305050" cy="1496786"/>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74"/>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Example</a:t>
            </a:r>
            <a:endParaRPr/>
          </a:p>
        </p:txBody>
      </p:sp>
      <p:pic>
        <p:nvPicPr>
          <p:cNvPr id="1279" name="Google Shape;1279;p74"/>
          <p:cNvPicPr preferRelativeResize="0"/>
          <p:nvPr>
            <p:ph idx="1" type="body"/>
          </p:nvPr>
        </p:nvPicPr>
        <p:blipFill rotWithShape="1">
          <a:blip r:embed="rId3">
            <a:alphaModFix/>
          </a:blip>
          <a:srcRect b="0" l="0" r="0" t="0"/>
          <a:stretch/>
        </p:blipFill>
        <p:spPr>
          <a:xfrm>
            <a:off x="1826724" y="914402"/>
            <a:ext cx="5688872" cy="3602441"/>
          </a:xfrm>
          <a:prstGeom prst="rect">
            <a:avLst/>
          </a:prstGeom>
          <a:noFill/>
          <a:ln>
            <a:noFill/>
          </a:ln>
        </p:spPr>
      </p:pic>
      <p:sp>
        <p:nvSpPr>
          <p:cNvPr id="1280" name="Google Shape;1280;p74"/>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81" name="Google Shape;1281;p74"/>
          <p:cNvPicPr preferRelativeResize="0"/>
          <p:nvPr/>
        </p:nvPicPr>
        <p:blipFill rotWithShape="1">
          <a:blip r:embed="rId4">
            <a:alphaModFix/>
          </a:blip>
          <a:srcRect b="0" l="0" r="0" t="0"/>
          <a:stretch/>
        </p:blipFill>
        <p:spPr>
          <a:xfrm>
            <a:off x="3893863" y="138037"/>
            <a:ext cx="1504949" cy="977240"/>
          </a:xfrm>
          <a:prstGeom prst="rect">
            <a:avLst/>
          </a:prstGeom>
          <a:noFill/>
          <a:ln>
            <a:noFill/>
          </a:ln>
        </p:spPr>
      </p:pic>
      <p:pic>
        <p:nvPicPr>
          <p:cNvPr id="1282" name="Google Shape;1282;p74"/>
          <p:cNvPicPr preferRelativeResize="0"/>
          <p:nvPr/>
        </p:nvPicPr>
        <p:blipFill rotWithShape="1">
          <a:blip r:embed="rId5">
            <a:alphaModFix/>
          </a:blip>
          <a:srcRect b="0" l="0" r="0" t="0"/>
          <a:stretch/>
        </p:blipFill>
        <p:spPr>
          <a:xfrm>
            <a:off x="6198542" y="81749"/>
            <a:ext cx="2453609" cy="1391599"/>
          </a:xfrm>
          <a:prstGeom prst="rect">
            <a:avLst/>
          </a:prstGeom>
          <a:noFill/>
          <a:ln>
            <a:noFill/>
          </a:ln>
        </p:spPr>
      </p:pic>
      <p:sp>
        <p:nvSpPr>
          <p:cNvPr id="1283" name="Google Shape;1283;p74"/>
          <p:cNvSpPr/>
          <p:nvPr/>
        </p:nvSpPr>
        <p:spPr>
          <a:xfrm>
            <a:off x="2590800" y="4248150"/>
            <a:ext cx="4834546" cy="596691"/>
          </a:xfrm>
          <a:prstGeom prst="rect">
            <a:avLst/>
          </a:prstGeom>
          <a:solidFill>
            <a:schemeClr val="lt1"/>
          </a:solidFill>
          <a:ln cap="flat"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1284" name="Google Shape;1284;p74"/>
          <p:cNvSpPr/>
          <p:nvPr/>
        </p:nvSpPr>
        <p:spPr>
          <a:xfrm>
            <a:off x="4604692" y="3607746"/>
            <a:ext cx="4463108" cy="977240"/>
          </a:xfrm>
          <a:prstGeom prst="rect">
            <a:avLst/>
          </a:prstGeom>
          <a:solidFill>
            <a:schemeClr val="lt1"/>
          </a:solidFill>
          <a:ln cap="flat"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75"/>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Example</a:t>
            </a:r>
            <a:endParaRPr/>
          </a:p>
        </p:txBody>
      </p:sp>
      <p:pic>
        <p:nvPicPr>
          <p:cNvPr id="1291" name="Google Shape;1291;p75"/>
          <p:cNvPicPr preferRelativeResize="0"/>
          <p:nvPr>
            <p:ph idx="1" type="body"/>
          </p:nvPr>
        </p:nvPicPr>
        <p:blipFill rotWithShape="1">
          <a:blip r:embed="rId3">
            <a:alphaModFix/>
          </a:blip>
          <a:srcRect b="0" l="0" r="0" t="0"/>
          <a:stretch/>
        </p:blipFill>
        <p:spPr>
          <a:xfrm>
            <a:off x="1545128" y="886566"/>
            <a:ext cx="6053746" cy="4137233"/>
          </a:xfrm>
          <a:prstGeom prst="rect">
            <a:avLst/>
          </a:prstGeom>
          <a:noFill/>
          <a:ln>
            <a:noFill/>
          </a:ln>
        </p:spPr>
      </p:pic>
      <p:sp>
        <p:nvSpPr>
          <p:cNvPr id="1292" name="Google Shape;1292;p75"/>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p76"/>
          <p:cNvSpPr txBox="1"/>
          <p:nvPr>
            <p:ph type="title"/>
          </p:nvPr>
        </p:nvSpPr>
        <p:spPr>
          <a:xfrm>
            <a:off x="971551" y="0"/>
            <a:ext cx="8125646" cy="8001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b="0" lang="en-US"/>
              <a:t>Backward differentiation on a two layer network</a:t>
            </a:r>
            <a:endParaRPr/>
          </a:p>
        </p:txBody>
      </p:sp>
      <p:sp>
        <p:nvSpPr>
          <p:cNvPr id="1299" name="Google Shape;1299;p76"/>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00" name="Google Shape;1300;p76"/>
          <p:cNvSpPr/>
          <p:nvPr/>
        </p:nvSpPr>
        <p:spPr>
          <a:xfrm>
            <a:off x="3153332" y="3209573"/>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301" name="Google Shape;1301;p76"/>
          <p:cNvSpPr/>
          <p:nvPr/>
        </p:nvSpPr>
        <p:spPr>
          <a:xfrm>
            <a:off x="2924732" y="2828573"/>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302" name="Google Shape;1302;p76"/>
          <p:cNvSpPr/>
          <p:nvPr/>
        </p:nvSpPr>
        <p:spPr>
          <a:xfrm>
            <a:off x="3381932" y="1600200"/>
            <a:ext cx="457200" cy="454432"/>
          </a:xfrm>
          <a:prstGeom prst="ellipse">
            <a:avLst/>
          </a:prstGeom>
          <a:solidFill>
            <a:srgbClr val="FF6600"/>
          </a:solidFill>
          <a:ln>
            <a:noFill/>
          </a:ln>
        </p:spPr>
        <p:txBody>
          <a:bodyPr anchorCtr="0" anchor="t" bIns="617200" lIns="68575" spcFirstLastPara="1" rIns="91425" wrap="square" tIns="45700">
            <a:noAutofit/>
          </a:bodyPr>
          <a:lstStyle/>
          <a:p>
            <a:pPr indent="0" lvl="0" marL="0" marR="0" rtl="0" algn="l">
              <a:spcBef>
                <a:spcPts val="0"/>
              </a:spcBef>
              <a:spcAft>
                <a:spcPts val="0"/>
              </a:spcAft>
              <a:buNone/>
            </a:pPr>
            <a:r>
              <a:rPr lang="en-US" sz="3000">
                <a:solidFill>
                  <a:schemeClr val="dk1"/>
                </a:solidFill>
                <a:latin typeface="Times New Roman"/>
                <a:ea typeface="Times New Roman"/>
                <a:cs typeface="Times New Roman"/>
                <a:sym typeface="Times New Roman"/>
              </a:rPr>
              <a:t>σ</a:t>
            </a:r>
            <a:endParaRPr sz="3000">
              <a:solidFill>
                <a:schemeClr val="dk1"/>
              </a:solidFill>
              <a:latin typeface="Times New Roman"/>
              <a:ea typeface="Times New Roman"/>
              <a:cs typeface="Times New Roman"/>
              <a:sym typeface="Times New Roman"/>
            </a:endParaRPr>
          </a:p>
        </p:txBody>
      </p:sp>
      <p:sp>
        <p:nvSpPr>
          <p:cNvPr id="1303" name="Google Shape;1303;p76"/>
          <p:cNvSpPr/>
          <p:nvPr/>
        </p:nvSpPr>
        <p:spPr>
          <a:xfrm>
            <a:off x="3762932" y="2828573"/>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1304" name="Google Shape;1304;p76"/>
          <p:cNvCxnSpPr>
            <a:stCxn id="1301" idx="0"/>
            <a:endCxn id="1302" idx="3"/>
          </p:cNvCxnSpPr>
          <p:nvPr/>
        </p:nvCxnSpPr>
        <p:spPr>
          <a:xfrm flipH="1" rot="10800000">
            <a:off x="3153332" y="1987973"/>
            <a:ext cx="295500" cy="840600"/>
          </a:xfrm>
          <a:prstGeom prst="straightConnector1">
            <a:avLst/>
          </a:prstGeom>
          <a:noFill/>
          <a:ln>
            <a:noFill/>
          </a:ln>
        </p:spPr>
      </p:cxnSp>
      <p:cxnSp>
        <p:nvCxnSpPr>
          <p:cNvPr id="1305" name="Google Shape;1305;p76"/>
          <p:cNvCxnSpPr>
            <a:stCxn id="1303" idx="0"/>
            <a:endCxn id="1302" idx="4"/>
          </p:cNvCxnSpPr>
          <p:nvPr/>
        </p:nvCxnSpPr>
        <p:spPr>
          <a:xfrm rot="10800000">
            <a:off x="3610532" y="2054573"/>
            <a:ext cx="381000" cy="774000"/>
          </a:xfrm>
          <a:prstGeom prst="straightConnector1">
            <a:avLst/>
          </a:prstGeom>
          <a:noFill/>
          <a:ln cap="flat" cmpd="sng" w="9525">
            <a:solidFill>
              <a:schemeClr val="dk1"/>
            </a:solidFill>
            <a:prstDash val="solid"/>
            <a:round/>
            <a:headEnd len="sm" w="sm" type="none"/>
            <a:tailEnd len="med" w="med" type="stealth"/>
          </a:ln>
        </p:spPr>
      </p:cxnSp>
      <p:cxnSp>
        <p:nvCxnSpPr>
          <p:cNvPr id="1306" name="Google Shape;1306;p76"/>
          <p:cNvCxnSpPr>
            <a:stCxn id="1301" idx="7"/>
            <a:endCxn id="1302" idx="4"/>
          </p:cNvCxnSpPr>
          <p:nvPr/>
        </p:nvCxnSpPr>
        <p:spPr>
          <a:xfrm flipH="1" rot="10800000">
            <a:off x="3314977" y="2054692"/>
            <a:ext cx="295500" cy="843600"/>
          </a:xfrm>
          <a:prstGeom prst="straightConnector1">
            <a:avLst/>
          </a:prstGeom>
          <a:noFill/>
          <a:ln cap="flat" cmpd="sng" w="9525">
            <a:solidFill>
              <a:schemeClr val="dk1"/>
            </a:solidFill>
            <a:prstDash val="solid"/>
            <a:round/>
            <a:headEnd len="sm" w="sm" type="none"/>
            <a:tailEnd len="med" w="med" type="stealth"/>
          </a:ln>
        </p:spPr>
      </p:cxnSp>
      <p:sp>
        <p:nvSpPr>
          <p:cNvPr id="1307" name="Google Shape;1307;p76"/>
          <p:cNvSpPr/>
          <p:nvPr/>
        </p:nvSpPr>
        <p:spPr>
          <a:xfrm>
            <a:off x="3534332" y="4552952"/>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308" name="Google Shape;1308;p76"/>
          <p:cNvSpPr/>
          <p:nvPr/>
        </p:nvSpPr>
        <p:spPr>
          <a:xfrm>
            <a:off x="4067732"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sp>
        <p:nvSpPr>
          <p:cNvPr id="1309" name="Google Shape;1309;p76"/>
          <p:cNvSpPr/>
          <p:nvPr/>
        </p:nvSpPr>
        <p:spPr>
          <a:xfrm>
            <a:off x="2696132" y="417195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cxnSp>
        <p:nvCxnSpPr>
          <p:cNvPr id="1310" name="Google Shape;1310;p76"/>
          <p:cNvCxnSpPr/>
          <p:nvPr/>
        </p:nvCxnSpPr>
        <p:spPr>
          <a:xfrm flipH="1" rot="10800000">
            <a:off x="2247901" y="3049354"/>
            <a:ext cx="2456096" cy="1122596"/>
          </a:xfrm>
          <a:prstGeom prst="straightConnector1">
            <a:avLst/>
          </a:prstGeom>
          <a:noFill/>
          <a:ln>
            <a:noFill/>
          </a:ln>
        </p:spPr>
      </p:cxnSp>
      <p:cxnSp>
        <p:nvCxnSpPr>
          <p:cNvPr id="1311" name="Google Shape;1311;p76"/>
          <p:cNvCxnSpPr>
            <a:stCxn id="1309" idx="0"/>
            <a:endCxn id="1301" idx="4"/>
          </p:cNvCxnSpPr>
          <p:nvPr/>
        </p:nvCxnSpPr>
        <p:spPr>
          <a:xfrm flipH="1" rot="10800000">
            <a:off x="2924732" y="3304652"/>
            <a:ext cx="228600" cy="867300"/>
          </a:xfrm>
          <a:prstGeom prst="straightConnector1">
            <a:avLst/>
          </a:prstGeom>
          <a:noFill/>
          <a:ln cap="flat" cmpd="sng" w="9525">
            <a:solidFill>
              <a:schemeClr val="dk1"/>
            </a:solidFill>
            <a:prstDash val="solid"/>
            <a:round/>
            <a:headEnd len="sm" w="sm" type="none"/>
            <a:tailEnd len="med" w="med" type="stealth"/>
          </a:ln>
        </p:spPr>
      </p:cxnSp>
      <p:cxnSp>
        <p:nvCxnSpPr>
          <p:cNvPr id="1312" name="Google Shape;1312;p76"/>
          <p:cNvCxnSpPr>
            <a:stCxn id="1308" idx="0"/>
            <a:endCxn id="1300" idx="1"/>
          </p:cNvCxnSpPr>
          <p:nvPr/>
        </p:nvCxnSpPr>
        <p:spPr>
          <a:xfrm rot="10800000">
            <a:off x="3209132" y="3279152"/>
            <a:ext cx="1087200" cy="892800"/>
          </a:xfrm>
          <a:prstGeom prst="straightConnector1">
            <a:avLst/>
          </a:prstGeom>
          <a:noFill/>
          <a:ln cap="flat" cmpd="sng" w="9525">
            <a:solidFill>
              <a:schemeClr val="dk1"/>
            </a:solidFill>
            <a:prstDash val="solid"/>
            <a:round/>
            <a:headEnd len="sm" w="sm" type="none"/>
            <a:tailEnd len="med" w="med" type="stealth"/>
          </a:ln>
        </p:spPr>
      </p:cxnSp>
      <p:cxnSp>
        <p:nvCxnSpPr>
          <p:cNvPr id="1313" name="Google Shape;1313;p76"/>
          <p:cNvCxnSpPr>
            <a:stCxn id="1308" idx="0"/>
            <a:endCxn id="1303" idx="4"/>
          </p:cNvCxnSpPr>
          <p:nvPr/>
        </p:nvCxnSpPr>
        <p:spPr>
          <a:xfrm rot="10800000">
            <a:off x="3991532" y="3304652"/>
            <a:ext cx="304800" cy="867300"/>
          </a:xfrm>
          <a:prstGeom prst="straightConnector1">
            <a:avLst/>
          </a:prstGeom>
          <a:noFill/>
          <a:ln cap="flat" cmpd="sng" w="9525">
            <a:solidFill>
              <a:schemeClr val="dk1"/>
            </a:solidFill>
            <a:prstDash val="solid"/>
            <a:round/>
            <a:headEnd len="sm" w="sm" type="none"/>
            <a:tailEnd len="med" w="med" type="stealth"/>
          </a:ln>
        </p:spPr>
      </p:cxnSp>
      <p:cxnSp>
        <p:nvCxnSpPr>
          <p:cNvPr id="1314" name="Google Shape;1314;p76"/>
          <p:cNvCxnSpPr>
            <a:stCxn id="1309" idx="0"/>
            <a:endCxn id="1303" idx="4"/>
          </p:cNvCxnSpPr>
          <p:nvPr/>
        </p:nvCxnSpPr>
        <p:spPr>
          <a:xfrm flipH="1" rot="10800000">
            <a:off x="2924732" y="3304652"/>
            <a:ext cx="1066800" cy="867300"/>
          </a:xfrm>
          <a:prstGeom prst="straightConnector1">
            <a:avLst/>
          </a:prstGeom>
          <a:noFill/>
          <a:ln cap="flat" cmpd="sng" w="9525">
            <a:solidFill>
              <a:schemeClr val="dk1"/>
            </a:solidFill>
            <a:prstDash val="solid"/>
            <a:round/>
            <a:headEnd len="sm" w="sm" type="none"/>
            <a:tailEnd len="med" w="med" type="stealth"/>
          </a:ln>
        </p:spPr>
      </p:cxnSp>
      <p:sp>
        <p:nvSpPr>
          <p:cNvPr id="1315" name="Google Shape;1315;p76"/>
          <p:cNvSpPr txBox="1"/>
          <p:nvPr/>
        </p:nvSpPr>
        <p:spPr>
          <a:xfrm>
            <a:off x="2541127" y="2127077"/>
            <a:ext cx="8382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590A0E"/>
                </a:solidFill>
                <a:latin typeface="Calibri"/>
                <a:ea typeface="Calibri"/>
                <a:cs typeface="Calibri"/>
                <a:sym typeface="Calibri"/>
              </a:rPr>
              <a:t>W</a:t>
            </a:r>
            <a:r>
              <a:rPr baseline="30000" lang="en-US" sz="2800">
                <a:solidFill>
                  <a:srgbClr val="590A0E"/>
                </a:solidFill>
                <a:latin typeface="Calibri"/>
                <a:ea typeface="Calibri"/>
                <a:cs typeface="Calibri"/>
                <a:sym typeface="Calibri"/>
              </a:rPr>
              <a:t>[2]</a:t>
            </a:r>
            <a:endParaRPr/>
          </a:p>
        </p:txBody>
      </p:sp>
      <p:sp>
        <p:nvSpPr>
          <p:cNvPr id="1316" name="Google Shape;1316;p76"/>
          <p:cNvSpPr txBox="1"/>
          <p:nvPr/>
        </p:nvSpPr>
        <p:spPr>
          <a:xfrm>
            <a:off x="2057400" y="3435530"/>
            <a:ext cx="8763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590A0E"/>
                </a:solidFill>
                <a:latin typeface="Calibri"/>
                <a:ea typeface="Calibri"/>
                <a:cs typeface="Calibri"/>
                <a:sym typeface="Calibri"/>
              </a:rPr>
              <a:t>W</a:t>
            </a:r>
            <a:r>
              <a:rPr baseline="30000" lang="en-US" sz="2800">
                <a:solidFill>
                  <a:srgbClr val="590A0E"/>
                </a:solidFill>
                <a:latin typeface="Calibri"/>
                <a:ea typeface="Calibri"/>
                <a:cs typeface="Calibri"/>
                <a:sym typeface="Calibri"/>
              </a:rPr>
              <a:t>[1]</a:t>
            </a:r>
            <a:endParaRPr sz="2800">
              <a:solidFill>
                <a:srgbClr val="590A0E"/>
              </a:solidFill>
              <a:latin typeface="Calibri"/>
              <a:ea typeface="Calibri"/>
              <a:cs typeface="Calibri"/>
              <a:sym typeface="Calibri"/>
            </a:endParaRPr>
          </a:p>
        </p:txBody>
      </p:sp>
      <p:sp>
        <p:nvSpPr>
          <p:cNvPr id="1317" name="Google Shape;1317;p76"/>
          <p:cNvSpPr txBox="1"/>
          <p:nvPr/>
        </p:nvSpPr>
        <p:spPr>
          <a:xfrm>
            <a:off x="3486150" y="1108825"/>
            <a:ext cx="30008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1318" name="Google Shape;1318;p76"/>
          <p:cNvSpPr txBox="1"/>
          <p:nvPr/>
        </p:nvSpPr>
        <p:spPr>
          <a:xfrm>
            <a:off x="4070261" y="4709275"/>
            <a:ext cx="38183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x</a:t>
            </a:r>
            <a:r>
              <a:rPr baseline="-25000" lang="en-US" sz="2000">
                <a:solidFill>
                  <a:schemeClr val="dk1"/>
                </a:solidFill>
                <a:latin typeface="Calibri"/>
                <a:ea typeface="Calibri"/>
                <a:cs typeface="Calibri"/>
                <a:sym typeface="Calibri"/>
              </a:rPr>
              <a:t>2</a:t>
            </a:r>
            <a:endParaRPr baseline="-25000" sz="1800">
              <a:solidFill>
                <a:schemeClr val="dk1"/>
              </a:solidFill>
              <a:latin typeface="Calibri"/>
              <a:ea typeface="Calibri"/>
              <a:cs typeface="Calibri"/>
              <a:sym typeface="Calibri"/>
            </a:endParaRPr>
          </a:p>
        </p:txBody>
      </p:sp>
      <p:sp>
        <p:nvSpPr>
          <p:cNvPr id="1319" name="Google Shape;1319;p76"/>
          <p:cNvSpPr txBox="1"/>
          <p:nvPr/>
        </p:nvSpPr>
        <p:spPr>
          <a:xfrm>
            <a:off x="2763719" y="4684886"/>
            <a:ext cx="4572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x</a:t>
            </a:r>
            <a:r>
              <a:rPr baseline="-25000" lang="en-US" sz="2000">
                <a:solidFill>
                  <a:schemeClr val="dk1"/>
                </a:solidFill>
                <a:latin typeface="Calibri"/>
                <a:ea typeface="Calibri"/>
                <a:cs typeface="Calibri"/>
                <a:sym typeface="Calibri"/>
              </a:rPr>
              <a:t>1</a:t>
            </a:r>
            <a:endParaRPr baseline="-25000" sz="1800">
              <a:solidFill>
                <a:schemeClr val="dk1"/>
              </a:solidFill>
              <a:latin typeface="Calibri"/>
              <a:ea typeface="Calibri"/>
              <a:cs typeface="Calibri"/>
              <a:sym typeface="Calibri"/>
            </a:endParaRPr>
          </a:p>
        </p:txBody>
      </p:sp>
      <p:sp>
        <p:nvSpPr>
          <p:cNvPr id="1320" name="Google Shape;1320;p76"/>
          <p:cNvSpPr txBox="1"/>
          <p:nvPr/>
        </p:nvSpPr>
        <p:spPr>
          <a:xfrm>
            <a:off x="1150974" y="1653217"/>
            <a:ext cx="190718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Sigmoid activation</a:t>
            </a:r>
            <a:endParaRPr/>
          </a:p>
        </p:txBody>
      </p:sp>
      <p:sp>
        <p:nvSpPr>
          <p:cNvPr id="1321" name="Google Shape;1321;p76"/>
          <p:cNvSpPr txBox="1"/>
          <p:nvPr/>
        </p:nvSpPr>
        <p:spPr>
          <a:xfrm>
            <a:off x="1062694" y="2896933"/>
            <a:ext cx="16353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ReLU activation</a:t>
            </a:r>
            <a:endParaRPr/>
          </a:p>
        </p:txBody>
      </p:sp>
      <p:sp>
        <p:nvSpPr>
          <p:cNvPr id="1322" name="Google Shape;1322;p76"/>
          <p:cNvSpPr/>
          <p:nvPr/>
        </p:nvSpPr>
        <p:spPr>
          <a:xfrm>
            <a:off x="4972050" y="411480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Tahoma"/>
                <a:ea typeface="Tahoma"/>
                <a:cs typeface="Tahoma"/>
                <a:sym typeface="Tahoma"/>
              </a:rPr>
              <a:t>1</a:t>
            </a:r>
            <a:endParaRPr/>
          </a:p>
        </p:txBody>
      </p:sp>
      <p:cxnSp>
        <p:nvCxnSpPr>
          <p:cNvPr id="1323" name="Google Shape;1323;p76"/>
          <p:cNvCxnSpPr>
            <a:endCxn id="1301" idx="4"/>
          </p:cNvCxnSpPr>
          <p:nvPr/>
        </p:nvCxnSpPr>
        <p:spPr>
          <a:xfrm rot="10800000">
            <a:off x="3153332" y="3304644"/>
            <a:ext cx="2008200" cy="790200"/>
          </a:xfrm>
          <a:prstGeom prst="straightConnector1">
            <a:avLst/>
          </a:prstGeom>
          <a:noFill/>
          <a:ln cap="flat" cmpd="sng" w="9525">
            <a:solidFill>
              <a:schemeClr val="dk1"/>
            </a:solidFill>
            <a:prstDash val="solid"/>
            <a:round/>
            <a:headEnd len="sm" w="sm" type="none"/>
            <a:tailEnd len="med" w="med" type="stealth"/>
          </a:ln>
        </p:spPr>
      </p:cxnSp>
      <p:cxnSp>
        <p:nvCxnSpPr>
          <p:cNvPr id="1324" name="Google Shape;1324;p76"/>
          <p:cNvCxnSpPr>
            <a:stCxn id="1322" idx="0"/>
            <a:endCxn id="1303" idx="4"/>
          </p:cNvCxnSpPr>
          <p:nvPr/>
        </p:nvCxnSpPr>
        <p:spPr>
          <a:xfrm rot="10800000">
            <a:off x="3991650" y="3304502"/>
            <a:ext cx="1209000" cy="810300"/>
          </a:xfrm>
          <a:prstGeom prst="straightConnector1">
            <a:avLst/>
          </a:prstGeom>
          <a:noFill/>
          <a:ln cap="flat" cmpd="sng" w="9525">
            <a:solidFill>
              <a:schemeClr val="dk1"/>
            </a:solidFill>
            <a:prstDash val="solid"/>
            <a:round/>
            <a:headEnd len="sm" w="sm" type="none"/>
            <a:tailEnd len="med" w="med" type="stealth"/>
          </a:ln>
        </p:spPr>
      </p:cxnSp>
      <p:sp>
        <p:nvSpPr>
          <p:cNvPr id="1325" name="Google Shape;1325;p76"/>
          <p:cNvSpPr/>
          <p:nvPr/>
        </p:nvSpPr>
        <p:spPr>
          <a:xfrm>
            <a:off x="4463627" y="2743202"/>
            <a:ext cx="457200" cy="476071"/>
          </a:xfrm>
          <a:prstGeom prst="ellipse">
            <a:avLst/>
          </a:prstGeom>
          <a:solidFill>
            <a:srgbClr val="FF66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Tahoma"/>
                <a:ea typeface="Tahoma"/>
                <a:cs typeface="Tahoma"/>
                <a:sym typeface="Tahoma"/>
              </a:rPr>
              <a:t>1</a:t>
            </a:r>
            <a:endParaRPr/>
          </a:p>
        </p:txBody>
      </p:sp>
      <p:cxnSp>
        <p:nvCxnSpPr>
          <p:cNvPr id="1326" name="Google Shape;1326;p76"/>
          <p:cNvCxnSpPr>
            <a:stCxn id="1325" idx="1"/>
            <a:endCxn id="1302" idx="4"/>
          </p:cNvCxnSpPr>
          <p:nvPr/>
        </p:nvCxnSpPr>
        <p:spPr>
          <a:xfrm rot="10800000">
            <a:off x="3610482" y="2054521"/>
            <a:ext cx="920100" cy="758400"/>
          </a:xfrm>
          <a:prstGeom prst="straightConnector1">
            <a:avLst/>
          </a:prstGeom>
          <a:noFill/>
          <a:ln cap="flat" cmpd="sng" w="9525">
            <a:solidFill>
              <a:schemeClr val="dk1"/>
            </a:solidFill>
            <a:prstDash val="solid"/>
            <a:round/>
            <a:headEnd len="sm" w="sm" type="none"/>
            <a:tailEnd len="med" w="med" type="stealth"/>
          </a:ln>
        </p:spPr>
      </p:cxnSp>
      <p:sp>
        <p:nvSpPr>
          <p:cNvPr id="1327" name="Google Shape;1327;p76"/>
          <p:cNvSpPr txBox="1"/>
          <p:nvPr/>
        </p:nvSpPr>
        <p:spPr>
          <a:xfrm>
            <a:off x="4859219" y="3460825"/>
            <a:ext cx="8763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590A0E"/>
                </a:solidFill>
                <a:latin typeface="Calibri"/>
                <a:ea typeface="Calibri"/>
                <a:cs typeface="Calibri"/>
                <a:sym typeface="Calibri"/>
              </a:rPr>
              <a:t>b</a:t>
            </a:r>
            <a:r>
              <a:rPr baseline="30000" lang="en-US" sz="2800">
                <a:solidFill>
                  <a:srgbClr val="590A0E"/>
                </a:solidFill>
                <a:latin typeface="Calibri"/>
                <a:ea typeface="Calibri"/>
                <a:cs typeface="Calibri"/>
                <a:sym typeface="Calibri"/>
              </a:rPr>
              <a:t>[1]</a:t>
            </a:r>
            <a:endParaRPr/>
          </a:p>
        </p:txBody>
      </p:sp>
      <p:sp>
        <p:nvSpPr>
          <p:cNvPr id="1328" name="Google Shape;1328;p76"/>
          <p:cNvSpPr txBox="1"/>
          <p:nvPr/>
        </p:nvSpPr>
        <p:spPr>
          <a:xfrm>
            <a:off x="4296332" y="2189007"/>
            <a:ext cx="8763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590A0E"/>
                </a:solidFill>
                <a:latin typeface="Calibri"/>
                <a:ea typeface="Calibri"/>
                <a:cs typeface="Calibri"/>
                <a:sym typeface="Calibri"/>
              </a:rPr>
              <a:t>b</a:t>
            </a:r>
            <a:r>
              <a:rPr baseline="30000" lang="en-US" sz="2800">
                <a:solidFill>
                  <a:srgbClr val="590A0E"/>
                </a:solidFill>
                <a:latin typeface="Calibri"/>
                <a:ea typeface="Calibri"/>
                <a:cs typeface="Calibri"/>
                <a:sym typeface="Calibri"/>
              </a:rPr>
              <a:t>[2]</a:t>
            </a:r>
            <a:endParaRPr sz="2800">
              <a:solidFill>
                <a:srgbClr val="590A0E"/>
              </a:solidFill>
              <a:latin typeface="Calibri"/>
              <a:ea typeface="Calibri"/>
              <a:cs typeface="Calibri"/>
              <a:sym typeface="Calibri"/>
            </a:endParaRPr>
          </a:p>
        </p:txBody>
      </p:sp>
      <p:pic>
        <p:nvPicPr>
          <p:cNvPr id="1329" name="Google Shape;1329;p76"/>
          <p:cNvPicPr preferRelativeResize="0"/>
          <p:nvPr/>
        </p:nvPicPr>
        <p:blipFill rotWithShape="1">
          <a:blip r:embed="rId3">
            <a:alphaModFix/>
          </a:blip>
          <a:srcRect b="0" l="0" r="0" t="0"/>
          <a:stretch/>
        </p:blipFill>
        <p:spPr>
          <a:xfrm>
            <a:off x="5842663" y="1315192"/>
            <a:ext cx="3254534" cy="285675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
        <p:nvSpPr>
          <p:cNvPr id="1335" name="Google Shape;1335;p77"/>
          <p:cNvSpPr txBox="1"/>
          <p:nvPr>
            <p:ph type="title"/>
          </p:nvPr>
        </p:nvSpPr>
        <p:spPr>
          <a:xfrm>
            <a:off x="971551" y="0"/>
            <a:ext cx="8125646" cy="8001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b="0" lang="en-US"/>
              <a:t>Backward differentiation on a two layer network</a:t>
            </a:r>
            <a:endParaRPr/>
          </a:p>
        </p:txBody>
      </p:sp>
      <p:sp>
        <p:nvSpPr>
          <p:cNvPr id="1336" name="Google Shape;1336;p77"/>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37" name="Google Shape;1337;p77"/>
          <p:cNvSpPr/>
          <p:nvPr/>
        </p:nvSpPr>
        <p:spPr>
          <a:xfrm>
            <a:off x="3534332" y="4552952"/>
            <a:ext cx="381000" cy="476071"/>
          </a:xfrm>
          <a:prstGeom prst="ellipse">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9900"/>
              </a:solidFill>
              <a:latin typeface="Tahoma"/>
              <a:ea typeface="Tahoma"/>
              <a:cs typeface="Tahoma"/>
              <a:sym typeface="Tahoma"/>
            </a:endParaRPr>
          </a:p>
        </p:txBody>
      </p:sp>
      <p:pic>
        <p:nvPicPr>
          <p:cNvPr id="1338" name="Google Shape;1338;p77"/>
          <p:cNvPicPr preferRelativeResize="0"/>
          <p:nvPr/>
        </p:nvPicPr>
        <p:blipFill rotWithShape="1">
          <a:blip r:embed="rId3">
            <a:alphaModFix/>
          </a:blip>
          <a:srcRect b="0" l="0" r="0" t="0"/>
          <a:stretch/>
        </p:blipFill>
        <p:spPr>
          <a:xfrm>
            <a:off x="857251" y="1394092"/>
            <a:ext cx="3254534" cy="2856758"/>
          </a:xfrm>
          <a:prstGeom prst="rect">
            <a:avLst/>
          </a:prstGeom>
          <a:noFill/>
          <a:ln>
            <a:noFill/>
          </a:ln>
        </p:spPr>
      </p:pic>
      <p:pic>
        <p:nvPicPr>
          <p:cNvPr id="1339" name="Google Shape;1339;p77"/>
          <p:cNvPicPr preferRelativeResize="0"/>
          <p:nvPr/>
        </p:nvPicPr>
        <p:blipFill rotWithShape="1">
          <a:blip r:embed="rId4">
            <a:alphaModFix/>
          </a:blip>
          <a:srcRect b="0" l="0" r="0" t="0"/>
          <a:stretch/>
        </p:blipFill>
        <p:spPr>
          <a:xfrm>
            <a:off x="4540478" y="3146693"/>
            <a:ext cx="2884869" cy="800100"/>
          </a:xfrm>
          <a:prstGeom prst="rect">
            <a:avLst/>
          </a:prstGeom>
          <a:noFill/>
          <a:ln>
            <a:noFill/>
          </a:ln>
        </p:spPr>
      </p:pic>
      <p:pic>
        <p:nvPicPr>
          <p:cNvPr id="1340" name="Google Shape;1340;p77"/>
          <p:cNvPicPr preferRelativeResize="0"/>
          <p:nvPr/>
        </p:nvPicPr>
        <p:blipFill rotWithShape="1">
          <a:blip r:embed="rId5">
            <a:alphaModFix/>
          </a:blip>
          <a:srcRect b="0" l="0" r="0" t="0"/>
          <a:stretch/>
        </p:blipFill>
        <p:spPr>
          <a:xfrm>
            <a:off x="4537750" y="2007550"/>
            <a:ext cx="3333721" cy="7317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78"/>
          <p:cNvSpPr txBox="1"/>
          <p:nvPr>
            <p:ph type="title"/>
          </p:nvPr>
        </p:nvSpPr>
        <p:spPr>
          <a:xfrm>
            <a:off x="800100" y="118250"/>
            <a:ext cx="7543800" cy="68039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b="0" lang="en-US"/>
              <a:t>Backward differentiation on a 2-layer network </a:t>
            </a:r>
            <a:endParaRPr/>
          </a:p>
        </p:txBody>
      </p:sp>
      <p:pic>
        <p:nvPicPr>
          <p:cNvPr id="1347" name="Google Shape;1347;p78"/>
          <p:cNvPicPr preferRelativeResize="0"/>
          <p:nvPr/>
        </p:nvPicPr>
        <p:blipFill rotWithShape="1">
          <a:blip r:embed="rId3">
            <a:alphaModFix/>
          </a:blip>
          <a:srcRect b="0" l="0" r="0" t="0"/>
          <a:stretch/>
        </p:blipFill>
        <p:spPr>
          <a:xfrm>
            <a:off x="191813" y="1105200"/>
            <a:ext cx="8534400" cy="3577883"/>
          </a:xfrm>
          <a:prstGeom prst="rect">
            <a:avLst/>
          </a:prstGeom>
          <a:noFill/>
          <a:ln>
            <a:noFill/>
          </a:ln>
        </p:spPr>
      </p:pic>
      <p:pic>
        <p:nvPicPr>
          <p:cNvPr id="1348" name="Google Shape;1348;p78"/>
          <p:cNvPicPr preferRelativeResize="0"/>
          <p:nvPr/>
        </p:nvPicPr>
        <p:blipFill rotWithShape="1">
          <a:blip r:embed="rId4">
            <a:alphaModFix/>
          </a:blip>
          <a:srcRect b="0" l="0" r="0" t="0"/>
          <a:stretch/>
        </p:blipFill>
        <p:spPr>
          <a:xfrm>
            <a:off x="6096000" y="3244268"/>
            <a:ext cx="2057400" cy="570607"/>
          </a:xfrm>
          <a:prstGeom prst="rect">
            <a:avLst/>
          </a:prstGeom>
          <a:noFill/>
          <a:ln>
            <a:noFill/>
          </a:ln>
        </p:spPr>
      </p:pic>
      <p:pic>
        <p:nvPicPr>
          <p:cNvPr id="1349" name="Google Shape;1349;p78"/>
          <p:cNvPicPr preferRelativeResize="0"/>
          <p:nvPr/>
        </p:nvPicPr>
        <p:blipFill rotWithShape="1">
          <a:blip r:embed="rId5">
            <a:alphaModFix/>
          </a:blip>
          <a:srcRect b="0" l="0" r="0" t="0"/>
          <a:stretch/>
        </p:blipFill>
        <p:spPr>
          <a:xfrm>
            <a:off x="3276600" y="1223652"/>
            <a:ext cx="2222500" cy="487865"/>
          </a:xfrm>
          <a:prstGeom prst="rect">
            <a:avLst/>
          </a:prstGeom>
          <a:noFill/>
          <a:ln>
            <a:noFill/>
          </a:ln>
        </p:spPr>
      </p:pic>
      <p:pic>
        <p:nvPicPr>
          <p:cNvPr id="1350" name="Google Shape;1350;p78"/>
          <p:cNvPicPr preferRelativeResize="0"/>
          <p:nvPr/>
        </p:nvPicPr>
        <p:blipFill rotWithShape="1">
          <a:blip r:embed="rId5">
            <a:alphaModFix/>
          </a:blip>
          <a:srcRect b="0" l="0" r="0" t="0"/>
          <a:stretch/>
        </p:blipFill>
        <p:spPr>
          <a:xfrm>
            <a:off x="2590800" y="4157538"/>
            <a:ext cx="2222500" cy="48786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79"/>
          <p:cNvSpPr txBox="1"/>
          <p:nvPr>
            <p:ph type="title"/>
          </p:nvPr>
        </p:nvSpPr>
        <p:spPr>
          <a:xfrm>
            <a:off x="457200" y="340238"/>
            <a:ext cx="8686800" cy="680397"/>
          </a:xfrm>
          <a:prstGeom prst="rect">
            <a:avLst/>
          </a:prstGeom>
          <a:blipFill rotWithShape="1">
            <a:blip r:embed="rId3">
              <a:alphaModFix/>
            </a:blip>
            <a:stretch>
              <a:fillRect b="-14543" l="-1752" r="0" t="-45453"/>
            </a:stretch>
          </a:blip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SzPts val="3600"/>
              <a:buFont typeface="Calibri"/>
              <a:buNone/>
            </a:pPr>
            <a:r>
              <a:rPr lang="en-US"/>
              <a:t> </a:t>
            </a:r>
            <a:endParaRPr/>
          </a:p>
        </p:txBody>
      </p:sp>
      <p:sp>
        <p:nvSpPr>
          <p:cNvPr id="1357" name="Google Shape;1357;p79"/>
          <p:cNvSpPr txBox="1"/>
          <p:nvPr/>
        </p:nvSpPr>
        <p:spPr>
          <a:xfrm>
            <a:off x="-323236" y="1191177"/>
            <a:ext cx="7047271" cy="369332"/>
          </a:xfrm>
          <a:prstGeom prst="rect">
            <a:avLst/>
          </a:prstGeom>
          <a:blipFill rotWithShape="1">
            <a:blip r:embed="rId4">
              <a:alphaModFix/>
            </a:blip>
            <a:stretch>
              <a:fillRect b="-39996" l="0" r="0" t="-1333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1358" name="Google Shape;1358;p79"/>
          <p:cNvSpPr txBox="1"/>
          <p:nvPr/>
        </p:nvSpPr>
        <p:spPr>
          <a:xfrm>
            <a:off x="-609600" y="1669018"/>
            <a:ext cx="7414321" cy="369332"/>
          </a:xfrm>
          <a:prstGeom prst="rect">
            <a:avLst/>
          </a:prstGeom>
          <a:blipFill rotWithShape="1">
            <a:blip r:embed="rId5">
              <a:alphaModFix/>
            </a:blip>
            <a:stretch>
              <a:fillRect b="-36663" l="0" r="0" t="-666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1359" name="Google Shape;1359;p79"/>
          <p:cNvSpPr txBox="1"/>
          <p:nvPr/>
        </p:nvSpPr>
        <p:spPr>
          <a:xfrm>
            <a:off x="1066800" y="2038828"/>
            <a:ext cx="7911726" cy="543034"/>
          </a:xfrm>
          <a:prstGeom prst="rect">
            <a:avLst/>
          </a:prstGeom>
          <a:blipFill rotWithShape="1">
            <a:blip r:embed="rId6">
              <a:alphaModFix/>
            </a:blip>
            <a:stretch>
              <a:fillRect b="-13635" l="-1121"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1360" name="Google Shape;1360;p79"/>
          <p:cNvSpPr txBox="1"/>
          <p:nvPr/>
        </p:nvSpPr>
        <p:spPr>
          <a:xfrm>
            <a:off x="491613" y="2766876"/>
            <a:ext cx="6071419" cy="795474"/>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1361" name="Google Shape;1361;p79"/>
          <p:cNvSpPr txBox="1"/>
          <p:nvPr/>
        </p:nvSpPr>
        <p:spPr>
          <a:xfrm>
            <a:off x="152400" y="3429923"/>
            <a:ext cx="7911726" cy="691536"/>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1362" name="Google Shape;1362;p79"/>
          <p:cNvSpPr txBox="1"/>
          <p:nvPr/>
        </p:nvSpPr>
        <p:spPr>
          <a:xfrm>
            <a:off x="605466" y="4286603"/>
            <a:ext cx="2594933" cy="702244"/>
          </a:xfrm>
          <a:prstGeom prst="rect">
            <a:avLst/>
          </a:prstGeom>
          <a:blipFill rotWithShape="1">
            <a:blip r:embed="rId9">
              <a:alphaModFix/>
            </a:blip>
            <a:stretch>
              <a:fillRect b="-16069" l="0" r="0" t="-178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sp>
        <p:nvSpPr>
          <p:cNvPr id="1363" name="Google Shape;1363;p79"/>
          <p:cNvSpPr txBox="1"/>
          <p:nvPr/>
        </p:nvSpPr>
        <p:spPr>
          <a:xfrm>
            <a:off x="3352800" y="4318641"/>
            <a:ext cx="5185734" cy="710131"/>
          </a:xfrm>
          <a:prstGeom prst="rect">
            <a:avLst/>
          </a:prstGeom>
          <a:blipFill rotWithShape="1">
            <a:blip r:embed="rId10">
              <a:alphaModFix/>
            </a:blip>
            <a:stretch>
              <a:fillRect b="-1403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50">
                <a:latin typeface="Calibri"/>
                <a:ea typeface="Calibri"/>
                <a:cs typeface="Calibri"/>
                <a:sym typeface="Calibri"/>
              </a:rPr>
              <a:t> </a:t>
            </a:r>
            <a:endParaRPr/>
          </a:p>
        </p:txBody>
      </p:sp>
      <p:pic>
        <p:nvPicPr>
          <p:cNvPr id="1364" name="Google Shape;1364;p79"/>
          <p:cNvPicPr preferRelativeResize="0"/>
          <p:nvPr/>
        </p:nvPicPr>
        <p:blipFill rotWithShape="1">
          <a:blip r:embed="rId11">
            <a:alphaModFix/>
          </a:blip>
          <a:srcRect b="0" l="0" r="0" t="0"/>
          <a:stretch/>
        </p:blipFill>
        <p:spPr>
          <a:xfrm>
            <a:off x="7474137" y="18870"/>
            <a:ext cx="1669863" cy="146576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80"/>
          <p:cNvSpPr txBox="1"/>
          <p:nvPr>
            <p:ph type="title"/>
          </p:nvPr>
        </p:nvSpPr>
        <p:spPr>
          <a:xfrm>
            <a:off x="822960" y="119702"/>
            <a:ext cx="7543800" cy="68039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en-US"/>
              <a:t>Summary</a:t>
            </a:r>
            <a:endParaRPr/>
          </a:p>
        </p:txBody>
      </p:sp>
      <p:sp>
        <p:nvSpPr>
          <p:cNvPr id="1370" name="Google Shape;1370;p80"/>
          <p:cNvSpPr txBox="1"/>
          <p:nvPr>
            <p:ph idx="1" type="body"/>
          </p:nvPr>
        </p:nvSpPr>
        <p:spPr>
          <a:xfrm>
            <a:off x="822962" y="1200151"/>
            <a:ext cx="7978139" cy="364469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400"/>
              <a:buNone/>
            </a:pPr>
            <a:r>
              <a:rPr lang="en-US" sz="2400"/>
              <a:t>For training, we need the derivative of the loss with respect to weights in early layers of the network </a:t>
            </a:r>
            <a:endParaRPr/>
          </a:p>
          <a:p>
            <a:pPr indent="-428615" lvl="0" marL="428615" rtl="0" algn="l">
              <a:lnSpc>
                <a:spcPct val="90000"/>
              </a:lnSpc>
              <a:spcBef>
                <a:spcPts val="1050"/>
              </a:spcBef>
              <a:spcAft>
                <a:spcPts val="0"/>
              </a:spcAft>
              <a:buSzPts val="2400"/>
              <a:buFont typeface="Arial"/>
              <a:buChar char="•"/>
            </a:pPr>
            <a:r>
              <a:rPr lang="en-US" sz="2400"/>
              <a:t>But loss is computed only at the very end of the network! </a:t>
            </a:r>
            <a:endParaRPr/>
          </a:p>
          <a:p>
            <a:pPr indent="-7938" lvl="0" marL="7938" rtl="0" algn="l">
              <a:lnSpc>
                <a:spcPct val="90000"/>
              </a:lnSpc>
              <a:spcBef>
                <a:spcPts val="1050"/>
              </a:spcBef>
              <a:spcAft>
                <a:spcPts val="0"/>
              </a:spcAft>
              <a:buSzPts val="2400"/>
              <a:buNone/>
            </a:pPr>
            <a:r>
              <a:rPr lang="en-US" sz="2400"/>
              <a:t>Solution: </a:t>
            </a:r>
            <a:r>
              <a:rPr b="1" lang="en-US" sz="2400"/>
              <a:t>backward differentiation</a:t>
            </a:r>
            <a:endParaRPr/>
          </a:p>
          <a:p>
            <a:pPr indent="-7938" lvl="0" marL="7938" rtl="0" algn="l">
              <a:lnSpc>
                <a:spcPct val="90000"/>
              </a:lnSpc>
              <a:spcBef>
                <a:spcPts val="1050"/>
              </a:spcBef>
              <a:spcAft>
                <a:spcPts val="0"/>
              </a:spcAft>
              <a:buSzPts val="2400"/>
              <a:buNone/>
            </a:pPr>
            <a:r>
              <a:rPr lang="en-US" sz="2400"/>
              <a:t>Given a computation graph and the derivatives of all the functions in it we can automatically compute the derivative of the loss with respect to these early weights.</a:t>
            </a:r>
            <a:endParaRPr/>
          </a:p>
          <a:p>
            <a:pPr indent="-7938" lvl="0" marL="7938" rtl="0" algn="l">
              <a:lnSpc>
                <a:spcPct val="90000"/>
              </a:lnSpc>
              <a:spcBef>
                <a:spcPts val="1050"/>
              </a:spcBef>
              <a:spcAft>
                <a:spcPts val="0"/>
              </a:spcAft>
              <a:buSzPts val="2400"/>
              <a:buNone/>
            </a:pPr>
            <a:r>
              <a:t/>
            </a:r>
            <a:endParaRPr sz="2400"/>
          </a:p>
        </p:txBody>
      </p:sp>
      <p:sp>
        <p:nvSpPr>
          <p:cNvPr id="1371" name="Google Shape;1371;p80"/>
          <p:cNvSpPr txBox="1"/>
          <p:nvPr>
            <p:ph idx="12" type="sldNum"/>
          </p:nvPr>
        </p:nvSpPr>
        <p:spPr>
          <a:xfrm>
            <a:off x="7425347" y="4844841"/>
            <a:ext cx="984019"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sp>
        <p:nvSpPr>
          <p:cNvPr id="1377" name="Google Shape;1377;p81"/>
          <p:cNvSpPr txBox="1"/>
          <p:nvPr>
            <p:ph type="title"/>
          </p:nvPr>
        </p:nvSpPr>
        <p:spPr>
          <a:xfrm>
            <a:off x="342900" y="445769"/>
            <a:ext cx="2400300" cy="1714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chemeClr val="lt1"/>
              </a:buClr>
              <a:buSzPct val="100000"/>
              <a:buFont typeface="Calibri"/>
              <a:buNone/>
            </a:pPr>
            <a:r>
              <a:rPr lang="en-US" sz="3000">
                <a:solidFill>
                  <a:schemeClr val="lt1"/>
                </a:solidFill>
              </a:rPr>
              <a:t>Simple Neural Networks and Neural Language Models</a:t>
            </a:r>
            <a:endParaRPr sz="3000">
              <a:solidFill>
                <a:schemeClr val="lt1"/>
              </a:solidFill>
            </a:endParaRPr>
          </a:p>
        </p:txBody>
      </p:sp>
      <p:sp>
        <p:nvSpPr>
          <p:cNvPr id="1378" name="Google Shape;1378;p81"/>
          <p:cNvSpPr txBox="1"/>
          <p:nvPr>
            <p:ph idx="1" type="body"/>
          </p:nvPr>
        </p:nvSpPr>
        <p:spPr>
          <a:xfrm>
            <a:off x="3460240" y="548640"/>
            <a:ext cx="5009393" cy="3943350"/>
          </a:xfrm>
          <a:prstGeom prst="rect">
            <a:avLst/>
          </a:prstGeom>
          <a:noFill/>
          <a:ln>
            <a:noFill/>
          </a:ln>
        </p:spPr>
        <p:txBody>
          <a:bodyPr anchorCtr="0" anchor="t" bIns="45700" lIns="0" spcFirstLastPara="1" rIns="0" wrap="square" tIns="45700">
            <a:normAutofit/>
          </a:bodyPr>
          <a:lstStyle/>
          <a:p>
            <a:pPr indent="-190500" lvl="0" marL="68577" rtl="0" algn="l">
              <a:lnSpc>
                <a:spcPct val="90000"/>
              </a:lnSpc>
              <a:spcBef>
                <a:spcPts val="0"/>
              </a:spcBef>
              <a:spcAft>
                <a:spcPts val="0"/>
              </a:spcAft>
              <a:buSzPts val="3000"/>
              <a:buChar char=" "/>
            </a:pPr>
            <a:r>
              <a:rPr lang="en-US" sz="3000">
                <a:solidFill>
                  <a:schemeClr val="dk2"/>
                </a:solidFill>
              </a:rPr>
              <a:t>Computation Graphs and Backward Differentiation</a:t>
            </a:r>
            <a:endParaRPr/>
          </a:p>
        </p:txBody>
      </p:sp>
      <p:sp>
        <p:nvSpPr>
          <p:cNvPr id="1379" name="Google Shape;1379;p81"/>
          <p:cNvSpPr txBox="1"/>
          <p:nvPr>
            <p:ph idx="2" type="body"/>
          </p:nvPr>
        </p:nvSpPr>
        <p:spPr>
          <a:xfrm>
            <a:off x="342900" y="2194562"/>
            <a:ext cx="2400300" cy="25343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125"/>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2009-06-12T17:14:38Z</dcterms:created>
  <dc:creator>Dan Jurafsky</dc:creator>
</cp:coreProperties>
</file>