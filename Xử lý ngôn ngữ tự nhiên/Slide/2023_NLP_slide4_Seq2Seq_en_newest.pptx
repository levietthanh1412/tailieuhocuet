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</p:sldMasterIdLst>
  <p:notesMasterIdLst>
    <p:notesMasterId r:id="rId61"/>
  </p:notesMasterIdLst>
  <p:handoutMasterIdLst>
    <p:handoutMasterId r:id="rId62"/>
  </p:handoutMasterIdLst>
  <p:sldIdLst>
    <p:sldId id="620" r:id="rId2"/>
    <p:sldId id="622" r:id="rId3"/>
    <p:sldId id="624" r:id="rId4"/>
    <p:sldId id="625" r:id="rId5"/>
    <p:sldId id="626" r:id="rId6"/>
    <p:sldId id="627" r:id="rId7"/>
    <p:sldId id="628" r:id="rId8"/>
    <p:sldId id="629" r:id="rId9"/>
    <p:sldId id="630" r:id="rId10"/>
    <p:sldId id="631" r:id="rId11"/>
    <p:sldId id="632" r:id="rId12"/>
    <p:sldId id="633" r:id="rId13"/>
    <p:sldId id="634" r:id="rId14"/>
    <p:sldId id="636" r:id="rId15"/>
    <p:sldId id="637" r:id="rId16"/>
    <p:sldId id="638" r:id="rId17"/>
    <p:sldId id="639" r:id="rId18"/>
    <p:sldId id="640" r:id="rId19"/>
    <p:sldId id="641" r:id="rId20"/>
    <p:sldId id="642" r:id="rId21"/>
    <p:sldId id="643" r:id="rId22"/>
    <p:sldId id="644" r:id="rId23"/>
    <p:sldId id="645" r:id="rId24"/>
    <p:sldId id="646" r:id="rId25"/>
    <p:sldId id="647" r:id="rId26"/>
    <p:sldId id="648" r:id="rId27"/>
    <p:sldId id="649" r:id="rId28"/>
    <p:sldId id="650" r:id="rId29"/>
    <p:sldId id="651" r:id="rId30"/>
    <p:sldId id="652" r:id="rId31"/>
    <p:sldId id="653" r:id="rId32"/>
    <p:sldId id="654" r:id="rId33"/>
    <p:sldId id="655" r:id="rId34"/>
    <p:sldId id="656" r:id="rId35"/>
    <p:sldId id="657" r:id="rId36"/>
    <p:sldId id="658" r:id="rId37"/>
    <p:sldId id="659" r:id="rId38"/>
    <p:sldId id="660" r:id="rId39"/>
    <p:sldId id="661" r:id="rId40"/>
    <p:sldId id="662" r:id="rId41"/>
    <p:sldId id="663" r:id="rId42"/>
    <p:sldId id="664" r:id="rId43"/>
    <p:sldId id="665" r:id="rId44"/>
    <p:sldId id="668" r:id="rId45"/>
    <p:sldId id="669" r:id="rId46"/>
    <p:sldId id="671" r:id="rId47"/>
    <p:sldId id="670" r:id="rId48"/>
    <p:sldId id="672" r:id="rId49"/>
    <p:sldId id="673" r:id="rId50"/>
    <p:sldId id="685" r:id="rId51"/>
    <p:sldId id="674" r:id="rId52"/>
    <p:sldId id="676" r:id="rId53"/>
    <p:sldId id="677" r:id="rId54"/>
    <p:sldId id="678" r:id="rId55"/>
    <p:sldId id="679" r:id="rId56"/>
    <p:sldId id="623" r:id="rId57"/>
    <p:sldId id="680" r:id="rId58"/>
    <p:sldId id="681" r:id="rId59"/>
    <p:sldId id="683" r:id="rId60"/>
  </p:sldIdLst>
  <p:sldSz cx="9144000" cy="5143500" type="screen16x9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FF"/>
    <a:srgbClr val="FFCC66"/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4" autoAdjust="0"/>
    <p:restoredTop sz="86907" autoAdjust="0"/>
  </p:normalViewPr>
  <p:slideViewPr>
    <p:cSldViewPr>
      <p:cViewPr varScale="1">
        <p:scale>
          <a:sx n="77" d="100"/>
          <a:sy n="77" d="100"/>
        </p:scale>
        <p:origin x="736" y="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1833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2757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Rousseau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European bias in this lecture</a:t>
            </a:r>
            <a:endParaRPr/>
          </a:p>
        </p:txBody>
      </p:sp>
      <p:sp>
        <p:nvSpPr>
          <p:cNvPr id="120" name="Google Shape;12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6696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9689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4833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5564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2334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7911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there’s an embedding layer but it’s not in this picture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two separate sets of word embeddings, for the two languages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these can be deep/bidir/lstm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8290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5925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5974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8121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all exactly like how you train a LM, except you also do the encoder part.</a:t>
            </a:r>
            <a:endParaRPr/>
          </a:p>
        </p:txBody>
      </p:sp>
      <p:sp>
        <p:nvSpPr>
          <p:cNvPr id="363" name="Google Shape;36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0342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9" name="Google Shape;63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0869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6" name="Google Shape;6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18134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4" name="Google Shape;6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99081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2" name="Google Shape;66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01703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5" name="Google Shape;67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79128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7" name="Google Shape;69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24058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8" name="Google Shape;72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07188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8" name="Google Shape;7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0141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7" name="Google Shape;81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97274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5" name="Google Shape;87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56996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79278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8" name="Google Shape;94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google mt team size</a:t>
            </a:r>
            <a:endParaRPr/>
          </a:p>
        </p:txBody>
      </p:sp>
      <p:sp>
        <p:nvSpPr>
          <p:cNvPr id="949" name="Google Shape;949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64299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6" name="Google Shape;95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google mt team size</a:t>
            </a:r>
            <a:endParaRPr/>
          </a:p>
        </p:txBody>
      </p:sp>
      <p:sp>
        <p:nvSpPr>
          <p:cNvPr id="957" name="Google Shape;957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06003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4" name="Google Shape;96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useful at the lower end of perf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need better metrics; this is its own area of research</a:t>
            </a:r>
            <a:endParaRPr/>
          </a:p>
        </p:txBody>
      </p:sp>
      <p:sp>
        <p:nvSpPr>
          <p:cNvPr id="965" name="Google Shape;965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56309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2" name="Google Shape;97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973" name="Google Shape;97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13450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9" name="Google Shape;109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1100" name="Google Shape;1100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83149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5" name="Google Shape;122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72736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3" name="Google Shape;123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1234" name="Google Shape;1234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03554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1" name="Google Shape;130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1302" name="Google Shape;1302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42803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0" name="Google Shape;137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1371" name="Google Shape;1371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54981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2" name="Google Shape;1442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1443" name="Google Shape;1443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63197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7" name="Google Shape;1517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1518" name="Google Shape;1518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07897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8" name="Google Shape;160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1609" name="Google Shape;1609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04875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7" name="Google Shape;1707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1708" name="Google Shape;1708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93291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3" name="Google Shape;1813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1814" name="Google Shape;1814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59872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4" name="Google Shape;1924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1925" name="Google Shape;1925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52997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9" name="Google Shape;204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2050" name="Google Shape;2050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45705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6" name="Google Shape;2186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2187" name="Google Shape;2187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88384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5" name="Google Shape;233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anyone see any problems with this?</a:t>
            </a:r>
            <a:endParaRPr/>
          </a:p>
        </p:txBody>
      </p:sp>
      <p:sp>
        <p:nvSpPr>
          <p:cNvPr id="2336" name="Google Shape;2336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60016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8" name="Google Shape;248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60850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6" name="Google Shape;250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7" name="Google Shape;250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423829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Google Shape;2516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7" name="Google Shape;251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521226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7" name="Google Shape;2537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google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team size, decades of work beaten by simple new system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make it deep, make the encoder bidirectional, obviously upgrade the RNN cell, feed in the source backwards, speed up the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computation,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pretrain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other stuff, one network for all languages, many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tips and tricks      link brain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hyperparameter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paper</a:t>
            </a:r>
            <a:endParaRPr dirty="0"/>
          </a:p>
        </p:txBody>
      </p:sp>
      <p:sp>
        <p:nvSpPr>
          <p:cNvPr id="2538" name="Google Shape;2538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43874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5" name="Google Shape;254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080256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1" name="Google Shape;2551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2" name="Google Shape;255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364990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3" name="Google Shape;257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26163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0" name="Google Shape;258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3583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</p:spPr>
        <p:txBody>
          <a:bodyPr/>
          <a:lstStyle>
            <a:lvl1pPr algn="ctr"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4705350"/>
            <a:ext cx="12192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4705350"/>
            <a:ext cx="19050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4705350"/>
            <a:ext cx="765174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333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BDC8F-D922-0A4E-AAA0-9C7D97FF3D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096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67000" y="468630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7A63A-31A1-2C4C-95AA-A445DBCAB17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13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50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343150"/>
            <a:ext cx="3008313" cy="22514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29988-E849-C549-AA67-252EA40F09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882B1-C6D6-A945-BB8B-B7B1B12471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A8D9-15F1-AF4D-8149-0C26EB27AC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285750"/>
            <a:ext cx="2114550" cy="44005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6191250" cy="44005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7BED9-9427-674C-8047-314E304C86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Narro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6858000" cy="3333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51816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706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8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52550"/>
            <a:ext cx="7772400" cy="333375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1" r:id="rId13"/>
    <p:sldLayoutId id="2147483712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>
            <a:spLocks noGrp="1"/>
          </p:cNvSpPr>
          <p:nvPr>
            <p:ph type="ctrTitle"/>
          </p:nvPr>
        </p:nvSpPr>
        <p:spPr>
          <a:xfrm>
            <a:off x="457200" y="742950"/>
            <a:ext cx="83058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rmAutofit fontScale="90000"/>
          </a:bodyPr>
          <a:lstStyle/>
          <a:p>
            <a:pPr>
              <a:buSzPts val="3959"/>
            </a:pPr>
            <a:r>
              <a:rPr lang="en-US" sz="2969" dirty="0"/>
              <a:t/>
            </a:r>
            <a:br>
              <a:rPr lang="en-US" sz="2969" dirty="0"/>
            </a:br>
            <a:r>
              <a:rPr lang="en-US" sz="2969" dirty="0"/>
              <a:t/>
            </a:r>
            <a:br>
              <a:rPr lang="en-US" sz="2969" dirty="0"/>
            </a:br>
            <a:r>
              <a:rPr lang="en-US" sz="2969" dirty="0"/>
              <a:t/>
            </a:r>
            <a:br>
              <a:rPr lang="en-US" sz="2969" dirty="0"/>
            </a:br>
            <a:r>
              <a:rPr lang="en-US" sz="2969" dirty="0"/>
              <a:t/>
            </a:r>
            <a:br>
              <a:rPr lang="en-US" sz="2969" dirty="0"/>
            </a:br>
            <a:r>
              <a:rPr lang="en-US" sz="2969" dirty="0"/>
              <a:t/>
            </a:r>
            <a:br>
              <a:rPr lang="en-US" sz="2969" dirty="0"/>
            </a:br>
            <a:r>
              <a:rPr lang="en-US" sz="2969" dirty="0"/>
              <a:t/>
            </a:r>
            <a:br>
              <a:rPr lang="en-US" sz="2969" dirty="0"/>
            </a:br>
            <a:r>
              <a:rPr lang="en-US" sz="5300" dirty="0" smtClean="0">
                <a:solidFill>
                  <a:srgbClr val="FF0000"/>
                </a:solidFill>
              </a:rPr>
              <a:t>Seq2seq model </a:t>
            </a:r>
            <a:br>
              <a:rPr lang="en-US" sz="5300" dirty="0" smtClean="0">
                <a:solidFill>
                  <a:srgbClr val="FF0000"/>
                </a:solidFill>
              </a:rPr>
            </a:br>
            <a:r>
              <a:rPr lang="en-US" sz="4400" dirty="0" smtClean="0">
                <a:solidFill>
                  <a:srgbClr val="0000FF"/>
                </a:solidFill>
              </a:rPr>
              <a:t>and application </a:t>
            </a:r>
            <a:r>
              <a:rPr lang="en-US" sz="4400" dirty="0">
                <a:solidFill>
                  <a:srgbClr val="0000FF"/>
                </a:solidFill>
              </a:rPr>
              <a:t>for </a:t>
            </a:r>
            <a:r>
              <a:rPr lang="en-US" sz="4400" dirty="0" smtClean="0">
                <a:solidFill>
                  <a:srgbClr val="0000FF"/>
                </a:solidFill>
              </a:rPr>
              <a:t>machine translation</a:t>
            </a:r>
            <a:endParaRPr sz="4400" dirty="0">
              <a:solidFill>
                <a:srgbClr val="0000FF"/>
              </a:solidFill>
            </a:endParaRPr>
          </a:p>
        </p:txBody>
      </p:sp>
      <p:sp>
        <p:nvSpPr>
          <p:cNvPr id="108" name="Google Shape;108;p1"/>
          <p:cNvSpPr txBox="1">
            <a:spLocks noGrp="1"/>
          </p:cNvSpPr>
          <p:nvPr>
            <p:ph type="subTitle" idx="1"/>
          </p:nvPr>
        </p:nvSpPr>
        <p:spPr>
          <a:xfrm>
            <a:off x="2268073" y="3564658"/>
            <a:ext cx="4800600" cy="9749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</a:pPr>
            <a:r>
              <a:rPr lang="en-US" sz="1800" b="1" smtClean="0">
                <a:solidFill>
                  <a:schemeClr val="dk1"/>
                </a:solidFill>
                <a:sym typeface="Arial"/>
              </a:rPr>
              <a:t>Tran Hong Viet</a:t>
            </a:r>
            <a:endParaRPr sz="1800" dirty="0"/>
          </a:p>
          <a:p>
            <a:pPr>
              <a:buClr>
                <a:schemeClr val="dk1"/>
              </a:buClr>
            </a:pPr>
            <a:r>
              <a:rPr lang="en-US" sz="1800" b="1" dirty="0">
                <a:solidFill>
                  <a:schemeClr val="dk1"/>
                </a:solidFill>
                <a:sym typeface="Arial"/>
              </a:rPr>
              <a:t>UET, VNU-Hanoi</a:t>
            </a:r>
            <a:endParaRPr sz="1800" dirty="0"/>
          </a:p>
        </p:txBody>
      </p:sp>
      <p:sp>
        <p:nvSpPr>
          <p:cNvPr id="109" name="Google Shape;109;p1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/>
              <a:p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9582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>
            <a:spLocks noGrp="1"/>
          </p:cNvSpPr>
          <p:nvPr>
            <p:ph type="title"/>
          </p:nvPr>
        </p:nvSpPr>
        <p:spPr>
          <a:xfrm>
            <a:off x="642487" y="64971"/>
            <a:ext cx="3543389" cy="74355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b="1" dirty="0" smtClean="0">
                <a:solidFill>
                  <a:srgbClr val="0066FF"/>
                </a:solidFill>
              </a:rPr>
              <a:t>Content</a:t>
            </a:r>
            <a:endParaRPr b="1" dirty="0">
              <a:solidFill>
                <a:srgbClr val="0066FF"/>
              </a:solidFill>
            </a:endParaRPr>
          </a:p>
        </p:txBody>
      </p:sp>
      <p:sp>
        <p:nvSpPr>
          <p:cNvPr id="115" name="Google Shape;115;p2"/>
          <p:cNvSpPr txBox="1">
            <a:spLocks noGrp="1"/>
          </p:cNvSpPr>
          <p:nvPr>
            <p:ph type="body" idx="1"/>
          </p:nvPr>
        </p:nvSpPr>
        <p:spPr>
          <a:xfrm>
            <a:off x="642486" y="1147813"/>
            <a:ext cx="6887027" cy="34849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128588" indent="-128588"/>
            <a:r>
              <a:rPr lang="en-US" dirty="0"/>
              <a:t>Introduction to </a:t>
            </a:r>
            <a:r>
              <a:rPr lang="en-US" dirty="0" smtClean="0"/>
              <a:t>Machine Translation</a:t>
            </a:r>
            <a:endParaRPr lang="en-US" sz="2000" dirty="0"/>
          </a:p>
          <a:p>
            <a:pPr marL="128588" indent="-128588"/>
            <a:r>
              <a:rPr lang="en-US" dirty="0" smtClean="0"/>
              <a:t>The </a:t>
            </a:r>
            <a:r>
              <a:rPr lang="en-US" dirty="0"/>
              <a:t>seq2seq model</a:t>
            </a:r>
            <a:endParaRPr sz="2000" dirty="0"/>
          </a:p>
          <a:p>
            <a:pPr marL="128588" indent="-128588"/>
            <a:r>
              <a:rPr lang="en-US" dirty="0"/>
              <a:t>Attention mechanism</a:t>
            </a:r>
            <a:endParaRPr sz="2000" dirty="0"/>
          </a:p>
          <a:p>
            <a:pPr marL="128588" indent="-128588"/>
            <a:r>
              <a:rPr lang="en-US" b="1" dirty="0" smtClean="0">
                <a:solidFill>
                  <a:srgbClr val="FF0000"/>
                </a:solidFill>
              </a:rPr>
              <a:t>Practice: </a:t>
            </a:r>
            <a:r>
              <a:rPr lang="en-US" dirty="0"/>
              <a:t>Machine translation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seq2seq</a:t>
            </a:r>
            <a:endParaRPr sz="40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2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949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563079" y="0"/>
            <a:ext cx="4594800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Machine Translation</a:t>
            </a:r>
            <a:b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400" dirty="0" err="1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Dịch</a:t>
            </a: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máy</a:t>
            </a: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</p:txBody>
      </p:sp>
      <p:sp>
        <p:nvSpPr>
          <p:cNvPr id="123" name="Google Shape;123;p3"/>
          <p:cNvSpPr txBox="1">
            <a:spLocks noGrp="1"/>
          </p:cNvSpPr>
          <p:nvPr>
            <p:ph type="body" idx="1"/>
          </p:nvPr>
        </p:nvSpPr>
        <p:spPr>
          <a:xfrm>
            <a:off x="563079" y="1215738"/>
            <a:ext cx="6966434" cy="34169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SzPts val="2400"/>
              <a:buNone/>
            </a:pPr>
            <a:r>
              <a:rPr lang="en-US" sz="1800" b="1" u="sng" dirty="0">
                <a:latin typeface="Calibri"/>
                <a:ea typeface="Calibri"/>
                <a:cs typeface="Calibri"/>
                <a:sym typeface="Calibri"/>
              </a:rPr>
              <a:t>Machine Translation (MT)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is the task of translating a sentence </a:t>
            </a: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from one language (the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source language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) to a sentence </a:t>
            </a: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in another language (the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target language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).</a:t>
            </a:r>
            <a:endParaRPr dirty="0"/>
          </a:p>
          <a:p>
            <a:pPr marL="0" indent="0" algn="ctr">
              <a:spcBef>
                <a:spcPts val="360"/>
              </a:spcBef>
              <a:buSzPts val="2400"/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x:	</a:t>
            </a:r>
            <a:r>
              <a:rPr lang="en-US" sz="1800" i="1" dirty="0" err="1">
                <a:latin typeface="Calibri"/>
                <a:ea typeface="Calibri"/>
                <a:cs typeface="Calibri"/>
                <a:sym typeface="Calibri"/>
              </a:rPr>
              <a:t>L'homme</a:t>
            </a: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i="1" dirty="0" err="1">
                <a:latin typeface="Calibri"/>
                <a:ea typeface="Calibri"/>
                <a:cs typeface="Calibri"/>
                <a:sym typeface="Calibri"/>
              </a:rPr>
              <a:t>est</a:t>
            </a: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 né </a:t>
            </a:r>
            <a:r>
              <a:rPr lang="en-US" sz="1800" i="1" dirty="0" err="1">
                <a:latin typeface="Calibri"/>
                <a:ea typeface="Calibri"/>
                <a:cs typeface="Calibri"/>
                <a:sym typeface="Calibri"/>
              </a:rPr>
              <a:t>libre</a:t>
            </a: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, et partout </a:t>
            </a:r>
            <a:r>
              <a:rPr lang="en-US" sz="1800" i="1" dirty="0" err="1">
                <a:latin typeface="Calibri"/>
                <a:ea typeface="Calibri"/>
                <a:cs typeface="Calibri"/>
                <a:sym typeface="Calibri"/>
              </a:rPr>
              <a:t>il</a:t>
            </a: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i="1" dirty="0" err="1">
                <a:latin typeface="Calibri"/>
                <a:ea typeface="Calibri"/>
                <a:cs typeface="Calibri"/>
                <a:sym typeface="Calibri"/>
              </a:rPr>
              <a:t>est</a:t>
            </a: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i="1" dirty="0" err="1">
                <a:latin typeface="Calibri"/>
                <a:ea typeface="Calibri"/>
                <a:cs typeface="Calibri"/>
                <a:sym typeface="Calibri"/>
              </a:rPr>
              <a:t>dans</a:t>
            </a: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 les </a:t>
            </a:r>
            <a:r>
              <a:rPr lang="en-US" sz="1800" i="1" dirty="0" err="1">
                <a:latin typeface="Calibri"/>
                <a:ea typeface="Calibri"/>
                <a:cs typeface="Calibri"/>
                <a:sym typeface="Calibri"/>
              </a:rPr>
              <a:t>fers</a:t>
            </a:r>
            <a:endParaRPr sz="1800" i="1" dirty="0">
              <a:latin typeface="Calibri"/>
              <a:ea typeface="Calibri"/>
              <a:cs typeface="Calibri"/>
              <a:sym typeface="Calibri"/>
            </a:endParaRPr>
          </a:p>
          <a:p>
            <a:pPr marL="0" indent="0" algn="ctr">
              <a:spcBef>
                <a:spcPts val="360"/>
              </a:spcBef>
              <a:buSzPts val="2400"/>
              <a:buNone/>
            </a:pPr>
            <a:endParaRPr sz="1800" i="1" dirty="0">
              <a:latin typeface="Calibri"/>
              <a:ea typeface="Calibri"/>
              <a:cs typeface="Calibri"/>
              <a:sym typeface="Calibri"/>
            </a:endParaRPr>
          </a:p>
          <a:p>
            <a:pPr marL="0" indent="0" algn="ctr">
              <a:spcBef>
                <a:spcPts val="360"/>
              </a:spcBef>
              <a:buSzPts val="2400"/>
              <a:buNone/>
            </a:pPr>
            <a:endParaRPr sz="1800" i="1" dirty="0">
              <a:latin typeface="Calibri"/>
              <a:ea typeface="Calibri"/>
              <a:cs typeface="Calibri"/>
              <a:sym typeface="Calibri"/>
            </a:endParaRPr>
          </a:p>
          <a:p>
            <a:pPr marL="0" indent="0" algn="ctr">
              <a:spcBef>
                <a:spcPts val="360"/>
              </a:spcBef>
              <a:buSzPts val="2400"/>
              <a:buNone/>
            </a:pPr>
            <a:endParaRPr sz="1800" i="1" dirty="0">
              <a:latin typeface="Calibri"/>
              <a:ea typeface="Calibri"/>
              <a:cs typeface="Calibri"/>
              <a:sym typeface="Calibri"/>
            </a:endParaRPr>
          </a:p>
          <a:p>
            <a:pPr marL="0" indent="0" algn="ctr">
              <a:spcBef>
                <a:spcPts val="360"/>
              </a:spcBef>
              <a:buSzPts val="2400"/>
              <a:buNone/>
            </a:pP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y: 	Man is born free, but everywhere he is in chains</a:t>
            </a:r>
            <a:endParaRPr dirty="0"/>
          </a:p>
        </p:txBody>
      </p:sp>
      <p:sp>
        <p:nvSpPr>
          <p:cNvPr id="124" name="Google Shape;124;p3"/>
          <p:cNvSpPr txBox="1">
            <a:spLocks noGrp="1"/>
          </p:cNvSpPr>
          <p:nvPr>
            <p:ph type="sldNum" idx="12"/>
          </p:nvPr>
        </p:nvSpPr>
        <p:spPr>
          <a:xfrm>
            <a:off x="7293092" y="4716732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3</a:t>
            </a:fld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3"/>
          <p:cNvCxnSpPr/>
          <p:nvPr/>
        </p:nvCxnSpPr>
        <p:spPr>
          <a:xfrm>
            <a:off x="4938921" y="3051933"/>
            <a:ext cx="0" cy="707456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38100" cap="flat" cmpd="sng">
            <a:solidFill>
              <a:srgbClr val="3A85FE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2436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613611" y="0"/>
            <a:ext cx="4544268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What is Neural Machine Translation?</a:t>
            </a:r>
            <a:endParaRPr dirty="0"/>
          </a:p>
        </p:txBody>
      </p:sp>
      <p:sp>
        <p:nvSpPr>
          <p:cNvPr id="131" name="Google Shape;131;p4"/>
          <p:cNvSpPr txBox="1">
            <a:spLocks noGrp="1"/>
          </p:cNvSpPr>
          <p:nvPr>
            <p:ph type="body" idx="1"/>
          </p:nvPr>
        </p:nvSpPr>
        <p:spPr>
          <a:xfrm>
            <a:off x="693019" y="1215738"/>
            <a:ext cx="6836494" cy="34169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257156" indent="-257156">
              <a:spcBef>
                <a:spcPts val="0"/>
              </a:spcBef>
              <a:buSzPts val="2400"/>
              <a:buFont typeface="Times"/>
              <a:buChar char="•"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Neural Machine Translation (NMT)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is a way to do Machine Translation with a </a:t>
            </a: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single neural network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The neural network architecture is called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sequence-to-sequence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(aka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seq2seq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) and it involves </a:t>
            </a:r>
            <a:r>
              <a:rPr lang="en-US" sz="1800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two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RNNs (LSTMs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).</a:t>
            </a:r>
            <a:endParaRPr dirty="0"/>
          </a:p>
        </p:txBody>
      </p:sp>
      <p:sp>
        <p:nvSpPr>
          <p:cNvPr id="132" name="Google Shape;132;p4"/>
          <p:cNvSpPr txBox="1">
            <a:spLocks noGrp="1"/>
          </p:cNvSpPr>
          <p:nvPr>
            <p:ph type="sldNum" idx="12"/>
          </p:nvPr>
        </p:nvSpPr>
        <p:spPr>
          <a:xfrm>
            <a:off x="7228121" y="4645670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4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419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591955" y="0"/>
            <a:ext cx="4565924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buSzPts val="3300"/>
            </a:pPr>
            <a:r>
              <a:rPr lang="en-US" b="0" dirty="0">
                <a:solidFill>
                  <a:srgbClr val="0066FF"/>
                </a:solidFill>
              </a:rPr>
              <a:t>Encoder-decoder Framework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138" name="Google Shape;138;p5"/>
          <p:cNvSpPr txBox="1">
            <a:spLocks noGrp="1"/>
          </p:cNvSpPr>
          <p:nvPr>
            <p:ph type="body" idx="1"/>
          </p:nvPr>
        </p:nvSpPr>
        <p:spPr>
          <a:xfrm>
            <a:off x="1371600" y="3319322"/>
            <a:ext cx="6400800" cy="6332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57146" indent="0">
              <a:spcBef>
                <a:spcPts val="0"/>
              </a:spcBef>
              <a:buNone/>
            </a:pPr>
            <a:r>
              <a:rPr lang="en-US" dirty="0"/>
              <a:t>“Sequence to Sequence Learning with Neural Networks”, 2014</a:t>
            </a:r>
            <a:endParaRPr dirty="0"/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/>
              <a:pPr/>
              <a:t>5</a:t>
            </a:fld>
            <a:endParaRPr/>
          </a:p>
        </p:txBody>
      </p:sp>
      <p:pic>
        <p:nvPicPr>
          <p:cNvPr id="140" name="Google Shape;14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394651"/>
            <a:ext cx="5849874" cy="13018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/>
          <p:cNvCxnSpPr/>
          <p:nvPr/>
        </p:nvCxnSpPr>
        <p:spPr bwMode="auto">
          <a:xfrm>
            <a:off x="1447800" y="2800350"/>
            <a:ext cx="1905000" cy="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295400" y="2893045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solidFill>
                  <a:srgbClr val="FF0000"/>
                </a:solidFill>
                <a:latin typeface="+mn-lt"/>
              </a:rPr>
              <a:t>Encoder (RNN/LSTM)</a:t>
            </a:r>
            <a:endParaRPr lang="en-US" sz="1800" b="1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657600" y="1276350"/>
            <a:ext cx="3566160" cy="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4572000" y="81915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rgbClr val="FF0000"/>
                </a:solidFill>
                <a:latin typeface="+mn-lt"/>
              </a:rPr>
              <a:t>Decoder (RNN/LSTM)</a:t>
            </a:r>
            <a:endParaRPr lang="en-US" sz="18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17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>
            <a:spLocks noGrp="1"/>
          </p:cNvSpPr>
          <p:nvPr>
            <p:ph type="title"/>
          </p:nvPr>
        </p:nvSpPr>
        <p:spPr>
          <a:xfrm>
            <a:off x="613611" y="0"/>
            <a:ext cx="4544268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buSzPts val="3300"/>
            </a:pPr>
            <a:r>
              <a:rPr lang="en-US" b="0" dirty="0">
                <a:solidFill>
                  <a:srgbClr val="0066FF"/>
                </a:solidFill>
              </a:rPr>
              <a:t>Encoder-decoder Framework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146" name="Google Shape;146;p6"/>
          <p:cNvSpPr txBox="1">
            <a:spLocks noGrp="1"/>
          </p:cNvSpPr>
          <p:nvPr>
            <p:ph type="body" idx="1"/>
          </p:nvPr>
        </p:nvSpPr>
        <p:spPr>
          <a:xfrm>
            <a:off x="1604772" y="3998265"/>
            <a:ext cx="5534767" cy="50635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rmAutofit/>
          </a:bodyPr>
          <a:lstStyle/>
          <a:p>
            <a:pPr marL="57146" indent="0">
              <a:spcBef>
                <a:spcPts val="0"/>
              </a:spcBef>
              <a:buSzPts val="2000"/>
              <a:buNone/>
            </a:pPr>
            <a:r>
              <a:rPr lang="en-US" sz="1500" dirty="0"/>
              <a:t>“Sequence to Sequence Learning with Neural Networks”, 2014</a:t>
            </a:r>
            <a:endParaRPr dirty="0"/>
          </a:p>
        </p:txBody>
      </p:sp>
      <p:sp>
        <p:nvSpPr>
          <p:cNvPr id="147" name="Google Shape;147;p6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/>
              <a:pPr/>
              <a:t>6</a:t>
            </a:fld>
            <a:endParaRPr/>
          </a:p>
        </p:txBody>
      </p:sp>
      <p:pic>
        <p:nvPicPr>
          <p:cNvPr id="148" name="Google Shape;14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7622" y="1349171"/>
            <a:ext cx="5849874" cy="130183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 txBox="1"/>
          <p:nvPr/>
        </p:nvSpPr>
        <p:spPr>
          <a:xfrm>
            <a:off x="2027352" y="1129895"/>
            <a:ext cx="1716786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800" b="1" baseline="-25000" dirty="0" smtClean="0">
                <a:solidFill>
                  <a:srgbClr val="FF0000"/>
                </a:solidFill>
              </a:rPr>
              <a:t>Vector K-</a:t>
            </a:r>
            <a:r>
              <a:rPr lang="en-US" sz="1800" b="1" baseline="-25000" dirty="0" err="1" smtClean="0">
                <a:solidFill>
                  <a:srgbClr val="FF0000"/>
                </a:solidFill>
              </a:rPr>
              <a:t>dimention</a:t>
            </a:r>
            <a:r>
              <a:rPr lang="en-US" sz="1800" b="1" baseline="-25000" dirty="0" smtClean="0">
                <a:solidFill>
                  <a:srgbClr val="FF0000"/>
                </a:solidFill>
              </a:rPr>
              <a:t> of context</a:t>
            </a:r>
            <a:endParaRPr sz="1800" b="1" baseline="-25000" dirty="0">
              <a:solidFill>
                <a:srgbClr val="FF0000"/>
              </a:solidFill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5157879" y="2824140"/>
            <a:ext cx="3346041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800" b="1" baseline="-25000" dirty="0">
                <a:solidFill>
                  <a:srgbClr val="FF0000"/>
                </a:solidFill>
              </a:rPr>
              <a:t>Condition of the word to be </a:t>
            </a:r>
            <a:r>
              <a:rPr lang="en-US" sz="1800" b="1" baseline="-25000" dirty="0" smtClean="0">
                <a:solidFill>
                  <a:srgbClr val="FF0000"/>
                </a:solidFill>
              </a:rPr>
              <a:t>generate from the translation system</a:t>
            </a:r>
            <a:endParaRPr sz="1800" b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67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title"/>
          </p:nvPr>
        </p:nvSpPr>
        <p:spPr>
          <a:xfrm>
            <a:off x="591954" y="0"/>
            <a:ext cx="4565925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buSzPts val="3300"/>
            </a:pPr>
            <a:r>
              <a:rPr lang="en-US" b="0" dirty="0">
                <a:solidFill>
                  <a:srgbClr val="0066FF"/>
                </a:solidFill>
              </a:rPr>
              <a:t>Encoder-decoder Framework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156" name="Google Shape;156;p7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/>
              <a:pPr/>
              <a:t>7</a:t>
            </a:fld>
            <a:endParaRPr/>
          </a:p>
        </p:txBody>
      </p:sp>
      <p:pic>
        <p:nvPicPr>
          <p:cNvPr id="157" name="Google Shape;15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7622" y="1389230"/>
            <a:ext cx="6115296" cy="21700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2977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>
            <a:spLocks noGrp="1"/>
          </p:cNvSpPr>
          <p:nvPr>
            <p:ph type="title"/>
          </p:nvPr>
        </p:nvSpPr>
        <p:spPr>
          <a:xfrm>
            <a:off x="613611" y="0"/>
            <a:ext cx="4544268" cy="6446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buSzPts val="3300"/>
            </a:pPr>
            <a:r>
              <a:rPr lang="en-US" b="0" dirty="0">
                <a:solidFill>
                  <a:srgbClr val="0066FF"/>
                </a:solidFill>
              </a:rPr>
              <a:t>Encoder-decoder Framework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163" name="Google Shape;163;p8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/>
              <a:pPr/>
              <a:t>8</a:t>
            </a:fld>
            <a:endParaRPr/>
          </a:p>
        </p:txBody>
      </p:sp>
      <p:pic>
        <p:nvPicPr>
          <p:cNvPr id="164" name="Google Shape;16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4314" y="2025912"/>
            <a:ext cx="6115296" cy="217008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 txBox="1"/>
          <p:nvPr/>
        </p:nvSpPr>
        <p:spPr>
          <a:xfrm>
            <a:off x="3643851" y="644635"/>
            <a:ext cx="2297430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All inputs are </a:t>
            </a:r>
            <a:r>
              <a:rPr lang="en-US" sz="1800" b="1" dirty="0" err="1">
                <a:solidFill>
                  <a:srgbClr val="FF0000"/>
                </a:solidFill>
              </a:rPr>
              <a:t>aggregatedin</a:t>
            </a:r>
            <a:r>
              <a:rPr lang="en-US" sz="1800" b="1" dirty="0">
                <a:solidFill>
                  <a:srgbClr val="FF0000"/>
                </a:solidFill>
              </a:rPr>
              <a:t> this single vector</a:t>
            </a:r>
            <a:endParaRPr sz="1800" b="1" dirty="0">
              <a:solidFill>
                <a:srgbClr val="FF0000"/>
              </a:solidFill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696554" y="1626000"/>
            <a:ext cx="96012" cy="39991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4419600" y="4222058"/>
            <a:ext cx="3965849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In the </a:t>
            </a:r>
            <a:r>
              <a:rPr lang="en-US" sz="1600" b="1" dirty="0" smtClean="0">
                <a:solidFill>
                  <a:srgbClr val="FF0000"/>
                </a:solidFill>
              </a:rPr>
              <a:t>seq2seq, </a:t>
            </a:r>
            <a:r>
              <a:rPr lang="en-US" sz="1600" b="1" dirty="0">
                <a:solidFill>
                  <a:srgbClr val="FF0000"/>
                </a:solidFill>
              </a:rPr>
              <a:t>the decoder's state depends only on the previous state and the previous output</a:t>
            </a:r>
            <a:endParaRPr sz="1600" b="1" dirty="0">
              <a:solidFill>
                <a:srgbClr val="FF0000"/>
              </a:solidFill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246471" y="3359308"/>
            <a:ext cx="34289" cy="92583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2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9"/>
          <p:cNvGrpSpPr/>
          <p:nvPr/>
        </p:nvGrpSpPr>
        <p:grpSpPr>
          <a:xfrm>
            <a:off x="1223012" y="1952272"/>
            <a:ext cx="2303625" cy="1356626"/>
            <a:chOff x="1" y="2254743"/>
            <a:chExt cx="3071500" cy="1808835"/>
          </a:xfrm>
        </p:grpSpPr>
        <p:grpSp>
          <p:nvGrpSpPr>
            <p:cNvPr id="175" name="Google Shape;175;p9"/>
            <p:cNvGrpSpPr/>
            <p:nvPr/>
          </p:nvGrpSpPr>
          <p:grpSpPr>
            <a:xfrm rot="5400000">
              <a:off x="735934" y="2931359"/>
              <a:ext cx="779512" cy="265728"/>
              <a:chOff x="6223414" y="4018641"/>
              <a:chExt cx="776477" cy="280329"/>
            </a:xfrm>
          </p:grpSpPr>
          <p:grpSp>
            <p:nvGrpSpPr>
              <p:cNvPr id="176" name="Google Shape;176;p9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177" name="Google Shape;177;p9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" name="Google Shape;178;p9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" name="Google Shape;179;p9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" name="Google Shape;180;p9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1" name="Google Shape;181;p9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82" name="Google Shape;182;p9"/>
            <p:cNvCxnSpPr>
              <a:endCxn id="181" idx="3"/>
            </p:cNvCxnSpPr>
            <p:nvPr/>
          </p:nvCxnSpPr>
          <p:spPr>
            <a:xfrm rot="10800000">
              <a:off x="1125690" y="3453979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83" name="Google Shape;183;p9"/>
            <p:cNvCxnSpPr>
              <a:stCxn id="181" idx="0"/>
            </p:cNvCxnSpPr>
            <p:nvPr/>
          </p:nvCxnSpPr>
          <p:spPr>
            <a:xfrm>
              <a:off x="1258554" y="3064223"/>
              <a:ext cx="344700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84" name="Google Shape;184;p9"/>
            <p:cNvSpPr txBox="1"/>
            <p:nvPr/>
          </p:nvSpPr>
          <p:spPr>
            <a:xfrm rot="-5400000">
              <a:off x="-624812" y="2879557"/>
              <a:ext cx="161895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35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Encoder RNN</a:t>
              </a:r>
              <a:endParaRPr sz="1800"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362190" y="2674467"/>
              <a:ext cx="188427" cy="779512"/>
            </a:xfrm>
            <a:prstGeom prst="leftBrace">
              <a:avLst>
                <a:gd name="adj1" fmla="val 39130"/>
                <a:gd name="adj2" fmla="val 50000"/>
              </a:avLst>
            </a:prstGeom>
            <a:noFill/>
            <a:ln w="1905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grpSp>
          <p:nvGrpSpPr>
            <p:cNvPr id="186" name="Google Shape;186;p9"/>
            <p:cNvGrpSpPr/>
            <p:nvPr/>
          </p:nvGrpSpPr>
          <p:grpSpPr>
            <a:xfrm rot="5400000">
              <a:off x="1343546" y="2925460"/>
              <a:ext cx="779512" cy="265728"/>
              <a:chOff x="6223414" y="4018641"/>
              <a:chExt cx="776477" cy="280329"/>
            </a:xfrm>
          </p:grpSpPr>
          <p:grpSp>
            <p:nvGrpSpPr>
              <p:cNvPr id="187" name="Google Shape;187;p9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188" name="Google Shape;188;p9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9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" name="Google Shape;190;p9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9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2" name="Google Shape;192;p9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93" name="Google Shape;193;p9"/>
            <p:cNvCxnSpPr>
              <a:endCxn id="192" idx="3"/>
            </p:cNvCxnSpPr>
            <p:nvPr/>
          </p:nvCxnSpPr>
          <p:spPr>
            <a:xfrm rot="10800000">
              <a:off x="1733302" y="3448080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94" name="Google Shape;194;p9"/>
            <p:cNvCxnSpPr>
              <a:stCxn id="192" idx="0"/>
            </p:cNvCxnSpPr>
            <p:nvPr/>
          </p:nvCxnSpPr>
          <p:spPr>
            <a:xfrm>
              <a:off x="1866166" y="3058324"/>
              <a:ext cx="344700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195" name="Google Shape;195;p9"/>
            <p:cNvGrpSpPr/>
            <p:nvPr/>
          </p:nvGrpSpPr>
          <p:grpSpPr>
            <a:xfrm rot="5400000">
              <a:off x="1938460" y="2925460"/>
              <a:ext cx="779512" cy="265728"/>
              <a:chOff x="6223414" y="4018641"/>
              <a:chExt cx="776477" cy="280329"/>
            </a:xfrm>
          </p:grpSpPr>
          <p:grpSp>
            <p:nvGrpSpPr>
              <p:cNvPr id="196" name="Google Shape;196;p9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197" name="Google Shape;197;p9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9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9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9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1" name="Google Shape;201;p9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02" name="Google Shape;202;p9"/>
            <p:cNvCxnSpPr>
              <a:endCxn id="201" idx="3"/>
            </p:cNvCxnSpPr>
            <p:nvPr/>
          </p:nvCxnSpPr>
          <p:spPr>
            <a:xfrm rot="10800000">
              <a:off x="2328216" y="3448080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03" name="Google Shape;203;p9"/>
            <p:cNvCxnSpPr>
              <a:stCxn id="201" idx="0"/>
            </p:cNvCxnSpPr>
            <p:nvPr/>
          </p:nvCxnSpPr>
          <p:spPr>
            <a:xfrm>
              <a:off x="2461080" y="3058324"/>
              <a:ext cx="344700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204" name="Google Shape;204;p9"/>
            <p:cNvGrpSpPr/>
            <p:nvPr/>
          </p:nvGrpSpPr>
          <p:grpSpPr>
            <a:xfrm rot="5400000">
              <a:off x="2548881" y="2922590"/>
              <a:ext cx="779512" cy="265728"/>
              <a:chOff x="6223414" y="4018641"/>
              <a:chExt cx="776477" cy="280329"/>
            </a:xfrm>
          </p:grpSpPr>
          <p:grpSp>
            <p:nvGrpSpPr>
              <p:cNvPr id="205" name="Google Shape;205;p9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206" name="Google Shape;206;p9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9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9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9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9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11" name="Google Shape;211;p9"/>
            <p:cNvCxnSpPr>
              <a:endCxn id="210" idx="3"/>
            </p:cNvCxnSpPr>
            <p:nvPr/>
          </p:nvCxnSpPr>
          <p:spPr>
            <a:xfrm rot="10800000">
              <a:off x="2938637" y="3445210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212" name="Google Shape;212;p9"/>
          <p:cNvSpPr txBox="1">
            <a:spLocks noGrp="1"/>
          </p:cNvSpPr>
          <p:nvPr>
            <p:ph type="title"/>
          </p:nvPr>
        </p:nvSpPr>
        <p:spPr>
          <a:xfrm>
            <a:off x="476932" y="42869"/>
            <a:ext cx="7905067" cy="5484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sz="24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Neural Machine Translation</a:t>
            </a:r>
            <a:endParaRPr dirty="0"/>
          </a:p>
        </p:txBody>
      </p:sp>
      <p:sp>
        <p:nvSpPr>
          <p:cNvPr id="213" name="Google Shape;213;p9"/>
          <p:cNvSpPr txBox="1">
            <a:spLocks noGrp="1"/>
          </p:cNvSpPr>
          <p:nvPr>
            <p:ph type="sldNum" idx="12"/>
          </p:nvPr>
        </p:nvSpPr>
        <p:spPr>
          <a:xfrm>
            <a:off x="6066473" y="4869657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9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4062770" y="3310270"/>
            <a:ext cx="68326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9"/>
          <p:cNvGrpSpPr/>
          <p:nvPr/>
        </p:nvGrpSpPr>
        <p:grpSpPr>
          <a:xfrm>
            <a:off x="1908390" y="3317035"/>
            <a:ext cx="1945547" cy="751808"/>
            <a:chOff x="913828" y="4074425"/>
            <a:chExt cx="2594063" cy="1002411"/>
          </a:xfrm>
        </p:grpSpPr>
        <p:sp>
          <p:nvSpPr>
            <p:cNvPr id="216" name="Google Shape;216;p9"/>
            <p:cNvSpPr txBox="1"/>
            <p:nvPr/>
          </p:nvSpPr>
          <p:spPr>
            <a:xfrm>
              <a:off x="913828" y="4707504"/>
              <a:ext cx="25940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Source sentence (input)</a:t>
              </a:r>
              <a:endParaRPr sz="1800" dirty="0"/>
            </a:p>
          </p:txBody>
        </p:sp>
        <p:sp>
          <p:nvSpPr>
            <p:cNvPr id="217" name="Google Shape;217;p9"/>
            <p:cNvSpPr/>
            <p:nvPr/>
          </p:nvSpPr>
          <p:spPr>
            <a:xfrm rot="-5400000">
              <a:off x="2063405" y="3384881"/>
              <a:ext cx="271031" cy="2434549"/>
            </a:xfrm>
            <a:prstGeom prst="leftBrace">
              <a:avLst>
                <a:gd name="adj1" fmla="val 39130"/>
                <a:gd name="adj2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800">
                <a:solidFill>
                  <a:schemeClr val="accent3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218" name="Google Shape;218;p9"/>
            <p:cNvSpPr txBox="1"/>
            <p:nvPr/>
          </p:nvSpPr>
          <p:spPr>
            <a:xfrm>
              <a:off x="927203" y="4074425"/>
              <a:ext cx="258068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les    pauvres  sont   démunis</a:t>
              </a:r>
              <a:endParaRPr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9"/>
          <p:cNvGrpSpPr/>
          <p:nvPr/>
        </p:nvGrpSpPr>
        <p:grpSpPr>
          <a:xfrm>
            <a:off x="3526637" y="2260483"/>
            <a:ext cx="978894" cy="1041834"/>
            <a:chOff x="3071492" y="2665698"/>
            <a:chExt cx="1305192" cy="1389112"/>
          </a:xfrm>
        </p:grpSpPr>
        <p:cxnSp>
          <p:nvCxnSpPr>
            <p:cNvPr id="220" name="Google Shape;220;p9"/>
            <p:cNvCxnSpPr>
              <a:stCxn id="210" idx="0"/>
              <a:endCxn id="221" idx="2"/>
            </p:cNvCxnSpPr>
            <p:nvPr/>
          </p:nvCxnSpPr>
          <p:spPr>
            <a:xfrm flipV="1">
              <a:off x="3071492" y="3055454"/>
              <a:ext cx="1039464" cy="9632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222" name="Google Shape;222;p9"/>
            <p:cNvGrpSpPr/>
            <p:nvPr/>
          </p:nvGrpSpPr>
          <p:grpSpPr>
            <a:xfrm>
              <a:off x="4110956" y="2665698"/>
              <a:ext cx="265728" cy="1389112"/>
              <a:chOff x="4110956" y="2665698"/>
              <a:chExt cx="265728" cy="1389112"/>
            </a:xfrm>
          </p:grpSpPr>
          <p:grpSp>
            <p:nvGrpSpPr>
              <p:cNvPr id="223" name="Google Shape;223;p9"/>
              <p:cNvGrpSpPr/>
              <p:nvPr/>
            </p:nvGrpSpPr>
            <p:grpSpPr>
              <a:xfrm rot="5400000">
                <a:off x="3854064" y="2922590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224" name="Google Shape;224;p9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225" name="Google Shape;225;p9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" name="Google Shape;226;p9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" name="Google Shape;227;p9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9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21" name="Google Shape;221;p9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9" name="Google Shape;229;p9"/>
              <p:cNvCxnSpPr>
                <a:endCxn id="221" idx="3"/>
              </p:cNvCxnSpPr>
              <p:nvPr/>
            </p:nvCxnSpPr>
            <p:spPr>
              <a:xfrm rot="10800000">
                <a:off x="4243820" y="3445210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</p:grpSp>
      <p:grpSp>
        <p:nvGrpSpPr>
          <p:cNvPr id="230" name="Google Shape;230;p9"/>
          <p:cNvGrpSpPr/>
          <p:nvPr/>
        </p:nvGrpSpPr>
        <p:grpSpPr>
          <a:xfrm>
            <a:off x="4505531" y="2267059"/>
            <a:ext cx="457815" cy="1041834"/>
            <a:chOff x="4376685" y="2674467"/>
            <a:chExt cx="610420" cy="1389112"/>
          </a:xfrm>
        </p:grpSpPr>
        <p:cxnSp>
          <p:nvCxnSpPr>
            <p:cNvPr id="231" name="Google Shape;231;p9"/>
            <p:cNvCxnSpPr>
              <a:stCxn id="221" idx="0"/>
            </p:cNvCxnSpPr>
            <p:nvPr/>
          </p:nvCxnSpPr>
          <p:spPr>
            <a:xfrm>
              <a:off x="4376685" y="3267209"/>
              <a:ext cx="344700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232" name="Google Shape;232;p9"/>
            <p:cNvGrpSpPr/>
            <p:nvPr/>
          </p:nvGrpSpPr>
          <p:grpSpPr>
            <a:xfrm rot="5400000">
              <a:off x="4464485" y="2931359"/>
              <a:ext cx="779512" cy="265728"/>
              <a:chOff x="6223414" y="4018641"/>
              <a:chExt cx="776477" cy="280329"/>
            </a:xfrm>
          </p:grpSpPr>
          <p:grpSp>
            <p:nvGrpSpPr>
              <p:cNvPr id="233" name="Google Shape;233;p9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234" name="Google Shape;234;p9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p9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" name="Google Shape;236;p9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7" name="Google Shape;237;p9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8" name="Google Shape;238;p9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39" name="Google Shape;239;p9"/>
            <p:cNvCxnSpPr>
              <a:endCxn id="238" idx="3"/>
            </p:cNvCxnSpPr>
            <p:nvPr/>
          </p:nvCxnSpPr>
          <p:spPr>
            <a:xfrm rot="10800000">
              <a:off x="4854241" y="3453979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240" name="Google Shape;240;p9"/>
          <p:cNvGrpSpPr/>
          <p:nvPr/>
        </p:nvGrpSpPr>
        <p:grpSpPr>
          <a:xfrm>
            <a:off x="4963346" y="2260483"/>
            <a:ext cx="461754" cy="1041834"/>
            <a:chOff x="4987104" y="2665698"/>
            <a:chExt cx="615671" cy="1389112"/>
          </a:xfrm>
        </p:grpSpPr>
        <p:cxnSp>
          <p:nvCxnSpPr>
            <p:cNvPr id="241" name="Google Shape;241;p9"/>
            <p:cNvCxnSpPr>
              <a:stCxn id="238" idx="0"/>
            </p:cNvCxnSpPr>
            <p:nvPr/>
          </p:nvCxnSpPr>
          <p:spPr>
            <a:xfrm>
              <a:off x="4987104" y="3275976"/>
              <a:ext cx="344700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242" name="Google Shape;242;p9"/>
            <p:cNvGrpSpPr/>
            <p:nvPr/>
          </p:nvGrpSpPr>
          <p:grpSpPr>
            <a:xfrm rot="5400000">
              <a:off x="5080155" y="2922590"/>
              <a:ext cx="779512" cy="265728"/>
              <a:chOff x="6223414" y="4018641"/>
              <a:chExt cx="776477" cy="280329"/>
            </a:xfrm>
          </p:grpSpPr>
          <p:grpSp>
            <p:nvGrpSpPr>
              <p:cNvPr id="243" name="Google Shape;243;p9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244" name="Google Shape;244;p9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" name="Google Shape;245;p9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" name="Google Shape;246;p9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" name="Google Shape;247;p9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8" name="Google Shape;248;p9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49" name="Google Shape;249;p9"/>
            <p:cNvCxnSpPr>
              <a:endCxn id="248" idx="3"/>
            </p:cNvCxnSpPr>
            <p:nvPr/>
          </p:nvCxnSpPr>
          <p:spPr>
            <a:xfrm rot="10800000">
              <a:off x="5469911" y="3445210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250" name="Google Shape;250;p9"/>
          <p:cNvSpPr txBox="1"/>
          <p:nvPr/>
        </p:nvSpPr>
        <p:spPr>
          <a:xfrm>
            <a:off x="1451619" y="687641"/>
            <a:ext cx="2976803" cy="27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388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The sequence-to-sequence model</a:t>
            </a:r>
            <a:endParaRPr sz="1800" dirty="0"/>
          </a:p>
        </p:txBody>
      </p:sp>
      <p:grpSp>
        <p:nvGrpSpPr>
          <p:cNvPr id="251" name="Google Shape;251;p9"/>
          <p:cNvGrpSpPr/>
          <p:nvPr/>
        </p:nvGrpSpPr>
        <p:grpSpPr>
          <a:xfrm>
            <a:off x="4306236" y="906130"/>
            <a:ext cx="3073460" cy="415241"/>
            <a:chOff x="4084463" y="1033118"/>
            <a:chExt cx="4097946" cy="553655"/>
          </a:xfrm>
        </p:grpSpPr>
        <p:sp>
          <p:nvSpPr>
            <p:cNvPr id="252" name="Google Shape;252;p9"/>
            <p:cNvSpPr txBox="1"/>
            <p:nvPr/>
          </p:nvSpPr>
          <p:spPr>
            <a:xfrm>
              <a:off x="4560428" y="1033118"/>
              <a:ext cx="320621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sentence (output)</a:t>
              </a:r>
              <a:endParaRPr sz="1800" dirty="0"/>
            </a:p>
          </p:txBody>
        </p:sp>
        <p:sp>
          <p:nvSpPr>
            <p:cNvPr id="253" name="Google Shape;253;p9"/>
            <p:cNvSpPr/>
            <p:nvPr/>
          </p:nvSpPr>
          <p:spPr>
            <a:xfrm rot="5400000">
              <a:off x="5997920" y="-597715"/>
              <a:ext cx="271031" cy="4097946"/>
            </a:xfrm>
            <a:prstGeom prst="leftBrace">
              <a:avLst>
                <a:gd name="adj1" fmla="val 39130"/>
                <a:gd name="adj2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800">
                <a:solidFill>
                  <a:schemeClr val="accent3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grpSp>
        <p:nvGrpSpPr>
          <p:cNvPr id="254" name="Google Shape;254;p9"/>
          <p:cNvGrpSpPr/>
          <p:nvPr/>
        </p:nvGrpSpPr>
        <p:grpSpPr>
          <a:xfrm>
            <a:off x="7682325" y="1986577"/>
            <a:ext cx="428312" cy="1179830"/>
            <a:chOff x="8612411" y="2300481"/>
            <a:chExt cx="571083" cy="1573107"/>
          </a:xfrm>
        </p:grpSpPr>
        <p:sp>
          <p:nvSpPr>
            <p:cNvPr id="255" name="Google Shape;255;p9"/>
            <p:cNvSpPr txBox="1"/>
            <p:nvPr/>
          </p:nvSpPr>
          <p:spPr>
            <a:xfrm rot="5400000">
              <a:off x="8212275" y="2902369"/>
              <a:ext cx="15731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35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Decoder RNN</a:t>
              </a:r>
              <a:endParaRPr sz="1800"/>
            </a:p>
          </p:txBody>
        </p:sp>
        <p:sp>
          <p:nvSpPr>
            <p:cNvPr id="256" name="Google Shape;256;p9"/>
            <p:cNvSpPr/>
            <p:nvPr/>
          </p:nvSpPr>
          <p:spPr>
            <a:xfrm rot="10800000">
              <a:off x="8612411" y="2697279"/>
              <a:ext cx="188427" cy="779512"/>
            </a:xfrm>
            <a:prstGeom prst="leftBrace">
              <a:avLst>
                <a:gd name="adj1" fmla="val 39130"/>
                <a:gd name="adj2" fmla="val 50000"/>
              </a:avLst>
            </a:prstGeom>
            <a:noFill/>
            <a:ln w="1905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sp>
        <p:nvSpPr>
          <p:cNvPr id="257" name="Google Shape;257;p9"/>
          <p:cNvSpPr txBox="1"/>
          <p:nvPr/>
        </p:nvSpPr>
        <p:spPr>
          <a:xfrm>
            <a:off x="1879256" y="4326166"/>
            <a:ext cx="1826250" cy="692498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RNN 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an </a:t>
            </a:r>
            <a:r>
              <a:rPr lang="en-US" sz="135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encoding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source sentence.</a:t>
            </a:r>
            <a:endParaRPr sz="1800"/>
          </a:p>
        </p:txBody>
      </p:sp>
      <p:grpSp>
        <p:nvGrpSpPr>
          <p:cNvPr id="258" name="Google Shape;258;p9"/>
          <p:cNvGrpSpPr/>
          <p:nvPr/>
        </p:nvGrpSpPr>
        <p:grpSpPr>
          <a:xfrm>
            <a:off x="1620864" y="1010408"/>
            <a:ext cx="2517068" cy="1880165"/>
            <a:chOff x="530463" y="1210680"/>
            <a:chExt cx="3356090" cy="2506885"/>
          </a:xfrm>
        </p:grpSpPr>
        <p:cxnSp>
          <p:nvCxnSpPr>
            <p:cNvPr id="259" name="Google Shape;259;p9"/>
            <p:cNvCxnSpPr>
              <a:stCxn id="260" idx="2"/>
            </p:cNvCxnSpPr>
            <p:nvPr/>
          </p:nvCxnSpPr>
          <p:spPr>
            <a:xfrm>
              <a:off x="2208508" y="2134010"/>
              <a:ext cx="373800" cy="341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381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261" name="Google Shape;261;p9"/>
            <p:cNvGrpSpPr/>
            <p:nvPr/>
          </p:nvGrpSpPr>
          <p:grpSpPr>
            <a:xfrm>
              <a:off x="530463" y="1210680"/>
              <a:ext cx="3356090" cy="2506885"/>
              <a:chOff x="530463" y="1210680"/>
              <a:chExt cx="3356090" cy="2506885"/>
            </a:xfrm>
          </p:grpSpPr>
          <p:sp>
            <p:nvSpPr>
              <p:cNvPr id="262" name="Google Shape;262;p9"/>
              <p:cNvSpPr/>
              <p:nvPr/>
            </p:nvSpPr>
            <p:spPr>
              <a:xfrm>
                <a:off x="2623982" y="2640113"/>
                <a:ext cx="645623" cy="1077452"/>
              </a:xfrm>
              <a:prstGeom prst="rect">
                <a:avLst/>
              </a:prstGeom>
              <a:noFill/>
              <a:ln w="28575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9"/>
              <p:cNvSpPr txBox="1"/>
              <p:nvPr/>
            </p:nvSpPr>
            <p:spPr>
              <a:xfrm>
                <a:off x="530463" y="1210680"/>
                <a:ext cx="3356090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pPr algn="ctr"/>
                <a:r>
                  <a:rPr lang="en-US" sz="1350" dirty="0">
                    <a:solidFill>
                      <a:schemeClr val="accent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Encoding of the source sentence.</a:t>
                </a:r>
                <a:br>
                  <a:rPr lang="en-US" sz="1350" dirty="0">
                    <a:solidFill>
                      <a:schemeClr val="accent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350" dirty="0">
                    <a:solidFill>
                      <a:schemeClr val="accent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Provides initial hidden state </a:t>
                </a:r>
                <a:br>
                  <a:rPr lang="en-US" sz="1350" dirty="0">
                    <a:solidFill>
                      <a:schemeClr val="accent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350" dirty="0">
                    <a:solidFill>
                      <a:schemeClr val="accent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 </a:t>
                </a:r>
                <a:r>
                  <a:rPr lang="en-US" sz="1350" dirty="0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Decoder RNN</a:t>
                </a:r>
                <a:r>
                  <a:rPr lang="en-US" sz="1350" dirty="0">
                    <a:solidFill>
                      <a:schemeClr val="accent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800" dirty="0"/>
              </a:p>
            </p:txBody>
          </p:sp>
        </p:grpSp>
      </p:grpSp>
      <p:sp>
        <p:nvSpPr>
          <p:cNvPr id="263" name="Google Shape;263;p9"/>
          <p:cNvSpPr/>
          <p:nvPr/>
        </p:nvSpPr>
        <p:spPr>
          <a:xfrm>
            <a:off x="4284621" y="3777454"/>
            <a:ext cx="3655232" cy="484748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 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Language Model that generates target sentence conditioned on </a:t>
            </a:r>
            <a:r>
              <a:rPr lang="en-US" sz="135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encoding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>
              <a:solidFill>
                <a:srgbClr val="FF8A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9"/>
          <p:cNvGrpSpPr/>
          <p:nvPr/>
        </p:nvGrpSpPr>
        <p:grpSpPr>
          <a:xfrm>
            <a:off x="4192659" y="1489537"/>
            <a:ext cx="389369" cy="929762"/>
            <a:chOff x="3959520" y="1637761"/>
            <a:chExt cx="519159" cy="1239682"/>
          </a:xfrm>
        </p:grpSpPr>
        <p:cxnSp>
          <p:nvCxnSpPr>
            <p:cNvPr id="265" name="Google Shape;265;p9"/>
            <p:cNvCxnSpPr>
              <a:stCxn id="221" idx="1"/>
            </p:cNvCxnSpPr>
            <p:nvPr/>
          </p:nvCxnSpPr>
          <p:spPr>
            <a:xfrm rot="10800000">
              <a:off x="4243820" y="2213543"/>
              <a:ext cx="0" cy="6639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66" name="Google Shape;266;p9"/>
            <p:cNvSpPr txBox="1"/>
            <p:nvPr/>
          </p:nvSpPr>
          <p:spPr>
            <a:xfrm>
              <a:off x="4014642" y="1637761"/>
              <a:ext cx="46403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endParaRPr sz="1800"/>
            </a:p>
          </p:txBody>
        </p:sp>
        <p:sp>
          <p:nvSpPr>
            <p:cNvPr id="267" name="Google Shape;267;p9"/>
            <p:cNvSpPr txBox="1"/>
            <p:nvPr/>
          </p:nvSpPr>
          <p:spPr>
            <a:xfrm rot="-5400000">
              <a:off x="3722181" y="2218555"/>
              <a:ext cx="782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800" dirty="0" err="1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argmax</a:t>
              </a:r>
              <a:endParaRPr sz="1800" dirty="0"/>
            </a:p>
          </p:txBody>
        </p:sp>
      </p:grpSp>
      <p:grpSp>
        <p:nvGrpSpPr>
          <p:cNvPr id="268" name="Google Shape;268;p9"/>
          <p:cNvGrpSpPr/>
          <p:nvPr/>
        </p:nvGrpSpPr>
        <p:grpSpPr>
          <a:xfrm>
            <a:off x="4473996" y="1340823"/>
            <a:ext cx="729854" cy="2210487"/>
            <a:chOff x="4334641" y="2019072"/>
            <a:chExt cx="973138" cy="2367723"/>
          </a:xfrm>
        </p:grpSpPr>
        <p:cxnSp>
          <p:nvCxnSpPr>
            <p:cNvPr id="269" name="Google Shape;269;p9"/>
            <p:cNvCxnSpPr/>
            <p:nvPr/>
          </p:nvCxnSpPr>
          <p:spPr>
            <a:xfrm>
              <a:off x="4334641" y="2019072"/>
              <a:ext cx="452320" cy="2055353"/>
            </a:xfrm>
            <a:prstGeom prst="straightConnector1">
              <a:avLst/>
            </a:prstGeom>
            <a:noFill/>
            <a:ln w="28575" cap="flat" cmpd="sng">
              <a:solidFill>
                <a:srgbClr val="FF8AD8"/>
              </a:solidFill>
              <a:prstDash val="dot"/>
              <a:round/>
              <a:headEnd type="none" w="sm" len="sm"/>
              <a:tailEnd type="stealth" w="med" len="med"/>
            </a:ln>
          </p:spPr>
        </p:cxnSp>
        <p:sp>
          <p:nvSpPr>
            <p:cNvPr id="270" name="Google Shape;270;p9"/>
            <p:cNvSpPr txBox="1"/>
            <p:nvPr/>
          </p:nvSpPr>
          <p:spPr>
            <a:xfrm>
              <a:off x="4396754" y="4048241"/>
              <a:ext cx="91102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endParaRPr sz="1800"/>
            </a:p>
          </p:txBody>
        </p:sp>
      </p:grpSp>
      <p:grpSp>
        <p:nvGrpSpPr>
          <p:cNvPr id="271" name="Google Shape;271;p9"/>
          <p:cNvGrpSpPr/>
          <p:nvPr/>
        </p:nvGrpSpPr>
        <p:grpSpPr>
          <a:xfrm>
            <a:off x="4641679" y="1487101"/>
            <a:ext cx="441146" cy="938774"/>
            <a:chOff x="4558214" y="1634517"/>
            <a:chExt cx="588194" cy="1251698"/>
          </a:xfrm>
        </p:grpSpPr>
        <p:cxnSp>
          <p:nvCxnSpPr>
            <p:cNvPr id="272" name="Google Shape;272;p9"/>
            <p:cNvCxnSpPr>
              <a:stCxn id="238" idx="1"/>
            </p:cNvCxnSpPr>
            <p:nvPr/>
          </p:nvCxnSpPr>
          <p:spPr>
            <a:xfrm rot="10800000">
              <a:off x="4854239" y="2222315"/>
              <a:ext cx="0" cy="6639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73" name="Google Shape;273;p9"/>
            <p:cNvSpPr txBox="1"/>
            <p:nvPr/>
          </p:nvSpPr>
          <p:spPr>
            <a:xfrm rot="-5400000">
              <a:off x="4320875" y="2218555"/>
              <a:ext cx="782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800" dirty="0" err="1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argmax</a:t>
              </a:r>
              <a:endParaRPr sz="1800" dirty="0"/>
            </a:p>
          </p:txBody>
        </p:sp>
        <p:sp>
          <p:nvSpPr>
            <p:cNvPr id="274" name="Google Shape;274;p9"/>
            <p:cNvSpPr txBox="1"/>
            <p:nvPr/>
          </p:nvSpPr>
          <p:spPr>
            <a:xfrm>
              <a:off x="4571740" y="1634517"/>
              <a:ext cx="57466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</p:grpSp>
      <p:grpSp>
        <p:nvGrpSpPr>
          <p:cNvPr id="275" name="Google Shape;275;p9"/>
          <p:cNvGrpSpPr/>
          <p:nvPr/>
        </p:nvGrpSpPr>
        <p:grpSpPr>
          <a:xfrm>
            <a:off x="4940961" y="1769231"/>
            <a:ext cx="724272" cy="1784105"/>
            <a:chOff x="4957268" y="2010685"/>
            <a:chExt cx="965696" cy="2378807"/>
          </a:xfrm>
        </p:grpSpPr>
        <p:cxnSp>
          <p:nvCxnSpPr>
            <p:cNvPr id="276" name="Google Shape;276;p9"/>
            <p:cNvCxnSpPr/>
            <p:nvPr/>
          </p:nvCxnSpPr>
          <p:spPr>
            <a:xfrm>
              <a:off x="4957268" y="2010685"/>
              <a:ext cx="452320" cy="2055353"/>
            </a:xfrm>
            <a:prstGeom prst="straightConnector1">
              <a:avLst/>
            </a:prstGeom>
            <a:noFill/>
            <a:ln w="28575" cap="flat" cmpd="sng">
              <a:solidFill>
                <a:srgbClr val="FF8AD8"/>
              </a:solidFill>
              <a:prstDash val="dot"/>
              <a:round/>
              <a:headEnd type="none" w="sm" len="sm"/>
              <a:tailEnd type="stealth" w="med" len="med"/>
            </a:ln>
          </p:spPr>
        </p:cxnSp>
        <p:sp>
          <p:nvSpPr>
            <p:cNvPr id="277" name="Google Shape;277;p9"/>
            <p:cNvSpPr txBox="1"/>
            <p:nvPr/>
          </p:nvSpPr>
          <p:spPr>
            <a:xfrm>
              <a:off x="5011939" y="4050938"/>
              <a:ext cx="91102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</p:grpSp>
      <p:grpSp>
        <p:nvGrpSpPr>
          <p:cNvPr id="278" name="Google Shape;278;p9"/>
          <p:cNvGrpSpPr/>
          <p:nvPr/>
        </p:nvGrpSpPr>
        <p:grpSpPr>
          <a:xfrm>
            <a:off x="5088809" y="1487104"/>
            <a:ext cx="479253" cy="842780"/>
            <a:chOff x="4533545" y="1639964"/>
            <a:chExt cx="639004" cy="1123707"/>
          </a:xfrm>
        </p:grpSpPr>
        <p:cxnSp>
          <p:nvCxnSpPr>
            <p:cNvPr id="279" name="Google Shape;279;p9"/>
            <p:cNvCxnSpPr/>
            <p:nvPr/>
          </p:nvCxnSpPr>
          <p:spPr>
            <a:xfrm rot="10800000">
              <a:off x="4854241" y="2010685"/>
              <a:ext cx="0" cy="663782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80" name="Google Shape;280;p9"/>
            <p:cNvSpPr txBox="1"/>
            <p:nvPr/>
          </p:nvSpPr>
          <p:spPr>
            <a:xfrm rot="-5400000">
              <a:off x="4320875" y="2218555"/>
              <a:ext cx="782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8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argmax</a:t>
              </a:r>
              <a:endParaRPr sz="1800"/>
            </a:p>
          </p:txBody>
        </p:sp>
        <p:sp>
          <p:nvSpPr>
            <p:cNvPr id="281" name="Google Shape;281;p9"/>
            <p:cNvSpPr txBox="1"/>
            <p:nvPr/>
          </p:nvSpPr>
          <p:spPr>
            <a:xfrm>
              <a:off x="4533545" y="1639964"/>
              <a:ext cx="6390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don’t</a:t>
              </a:r>
              <a:endParaRPr sz="1800"/>
            </a:p>
          </p:txBody>
        </p:sp>
      </p:grpSp>
      <p:grpSp>
        <p:nvGrpSpPr>
          <p:cNvPr id="282" name="Google Shape;282;p9"/>
          <p:cNvGrpSpPr/>
          <p:nvPr/>
        </p:nvGrpSpPr>
        <p:grpSpPr>
          <a:xfrm>
            <a:off x="4284621" y="4448812"/>
            <a:ext cx="3655232" cy="484748"/>
            <a:chOff x="4063133" y="5509829"/>
            <a:chExt cx="4873642" cy="646331"/>
          </a:xfrm>
        </p:grpSpPr>
        <p:cxnSp>
          <p:nvCxnSpPr>
            <p:cNvPr id="283" name="Google Shape;283;p9"/>
            <p:cNvCxnSpPr/>
            <p:nvPr/>
          </p:nvCxnSpPr>
          <p:spPr>
            <a:xfrm>
              <a:off x="6499954" y="5975197"/>
              <a:ext cx="452320" cy="0"/>
            </a:xfrm>
            <a:prstGeom prst="straightConnector1">
              <a:avLst/>
            </a:prstGeom>
            <a:noFill/>
            <a:ln w="28575" cap="flat" cmpd="sng">
              <a:solidFill>
                <a:srgbClr val="FF8AD8"/>
              </a:solidFill>
              <a:prstDash val="dot"/>
              <a:round/>
              <a:headEnd type="none" w="sm" len="sm"/>
              <a:tailEnd type="stealth" w="med" len="med"/>
            </a:ln>
          </p:spPr>
        </p:cxnSp>
        <p:sp>
          <p:nvSpPr>
            <p:cNvPr id="284" name="Google Shape;284;p9"/>
            <p:cNvSpPr/>
            <p:nvPr/>
          </p:nvSpPr>
          <p:spPr>
            <a:xfrm>
              <a:off x="4063133" y="5509829"/>
              <a:ext cx="4873642" cy="646331"/>
            </a:xfrm>
            <a:prstGeom prst="rect">
              <a:avLst/>
            </a:prstGeom>
            <a:noFill/>
            <a:ln w="19050" cap="flat" cmpd="sng">
              <a:solidFill>
                <a:srgbClr val="FF8A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350">
                  <a:solidFill>
                    <a:srgbClr val="FF8AD8"/>
                  </a:solidFill>
                  <a:latin typeface="Calibri"/>
                  <a:ea typeface="Calibri"/>
                  <a:cs typeface="Calibri"/>
                  <a:sym typeface="Calibri"/>
                </a:rPr>
                <a:t>Note: This diagram shows </a:t>
              </a:r>
              <a:r>
                <a:rPr lang="en-US" sz="1350" b="1">
                  <a:solidFill>
                    <a:srgbClr val="FF8AD8"/>
                  </a:solidFill>
                  <a:latin typeface="Calibri"/>
                  <a:ea typeface="Calibri"/>
                  <a:cs typeface="Calibri"/>
                  <a:sym typeface="Calibri"/>
                </a:rPr>
                <a:t>test time</a:t>
              </a:r>
              <a:r>
                <a:rPr lang="en-US" sz="1350">
                  <a:solidFill>
                    <a:srgbClr val="FF8AD8"/>
                  </a:solidFill>
                  <a:latin typeface="Calibri"/>
                  <a:ea typeface="Calibri"/>
                  <a:cs typeface="Calibri"/>
                  <a:sym typeface="Calibri"/>
                </a:rPr>
                <a:t> behavior: decoder output is fed in           as next step’s input</a:t>
              </a:r>
              <a:endParaRPr sz="1800"/>
            </a:p>
          </p:txBody>
        </p:sp>
      </p:grpSp>
      <p:grpSp>
        <p:nvGrpSpPr>
          <p:cNvPr id="285" name="Google Shape;285;p9"/>
          <p:cNvGrpSpPr/>
          <p:nvPr/>
        </p:nvGrpSpPr>
        <p:grpSpPr>
          <a:xfrm>
            <a:off x="5413535" y="1481560"/>
            <a:ext cx="2171193" cy="2074652"/>
            <a:chOff x="5587367" y="1627128"/>
            <a:chExt cx="2894924" cy="2766202"/>
          </a:xfrm>
        </p:grpSpPr>
        <p:cxnSp>
          <p:nvCxnSpPr>
            <p:cNvPr id="286" name="Google Shape;286;p9"/>
            <p:cNvCxnSpPr>
              <a:stCxn id="248" idx="0"/>
            </p:cNvCxnSpPr>
            <p:nvPr/>
          </p:nvCxnSpPr>
          <p:spPr>
            <a:xfrm>
              <a:off x="5602786" y="3267202"/>
              <a:ext cx="344700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287" name="Google Shape;287;p9"/>
            <p:cNvGrpSpPr/>
            <p:nvPr/>
          </p:nvGrpSpPr>
          <p:grpSpPr>
            <a:xfrm rot="5400000">
              <a:off x="5690576" y="2922590"/>
              <a:ext cx="779512" cy="265728"/>
              <a:chOff x="6223414" y="4018641"/>
              <a:chExt cx="776477" cy="280329"/>
            </a:xfrm>
          </p:grpSpPr>
          <p:grpSp>
            <p:nvGrpSpPr>
              <p:cNvPr id="288" name="Google Shape;288;p9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289" name="Google Shape;289;p9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" name="Google Shape;290;p9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" name="Google Shape;291;p9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9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3" name="Google Shape;293;p9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94" name="Google Shape;294;p9"/>
            <p:cNvCxnSpPr>
              <a:endCxn id="293" idx="3"/>
            </p:cNvCxnSpPr>
            <p:nvPr/>
          </p:nvCxnSpPr>
          <p:spPr>
            <a:xfrm rot="10800000">
              <a:off x="6080332" y="3445210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95" name="Google Shape;295;p9"/>
            <p:cNvCxnSpPr>
              <a:stCxn id="293" idx="0"/>
            </p:cNvCxnSpPr>
            <p:nvPr/>
          </p:nvCxnSpPr>
          <p:spPr>
            <a:xfrm>
              <a:off x="6213196" y="3055454"/>
              <a:ext cx="344700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96" name="Google Shape;296;p9"/>
            <p:cNvCxnSpPr>
              <a:stCxn id="293" idx="1"/>
            </p:cNvCxnSpPr>
            <p:nvPr/>
          </p:nvCxnSpPr>
          <p:spPr>
            <a:xfrm rot="10800000">
              <a:off x="6080332" y="2001798"/>
              <a:ext cx="0" cy="6639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297" name="Google Shape;297;p9"/>
            <p:cNvGrpSpPr/>
            <p:nvPr/>
          </p:nvGrpSpPr>
          <p:grpSpPr>
            <a:xfrm rot="5400000">
              <a:off x="6300997" y="2931359"/>
              <a:ext cx="779512" cy="265728"/>
              <a:chOff x="6223414" y="4018641"/>
              <a:chExt cx="776477" cy="280329"/>
            </a:xfrm>
          </p:grpSpPr>
          <p:grpSp>
            <p:nvGrpSpPr>
              <p:cNvPr id="298" name="Google Shape;298;p9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299" name="Google Shape;299;p9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9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9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9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" name="Google Shape;303;p9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04" name="Google Shape;304;p9"/>
            <p:cNvCxnSpPr>
              <a:endCxn id="303" idx="3"/>
            </p:cNvCxnSpPr>
            <p:nvPr/>
          </p:nvCxnSpPr>
          <p:spPr>
            <a:xfrm rot="10800000">
              <a:off x="6690753" y="3453979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05" name="Google Shape;305;p9"/>
            <p:cNvCxnSpPr>
              <a:stCxn id="303" idx="0"/>
            </p:cNvCxnSpPr>
            <p:nvPr/>
          </p:nvCxnSpPr>
          <p:spPr>
            <a:xfrm>
              <a:off x="6823617" y="3064223"/>
              <a:ext cx="344700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06" name="Google Shape;306;p9"/>
            <p:cNvCxnSpPr>
              <a:stCxn id="303" idx="1"/>
            </p:cNvCxnSpPr>
            <p:nvPr/>
          </p:nvCxnSpPr>
          <p:spPr>
            <a:xfrm rot="10800000">
              <a:off x="6690753" y="2010567"/>
              <a:ext cx="0" cy="6639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307" name="Google Shape;307;p9"/>
            <p:cNvGrpSpPr/>
            <p:nvPr/>
          </p:nvGrpSpPr>
          <p:grpSpPr>
            <a:xfrm rot="5400000">
              <a:off x="6916667" y="2922590"/>
              <a:ext cx="779512" cy="265728"/>
              <a:chOff x="6223414" y="4018641"/>
              <a:chExt cx="776477" cy="280329"/>
            </a:xfrm>
          </p:grpSpPr>
          <p:grpSp>
            <p:nvGrpSpPr>
              <p:cNvPr id="308" name="Google Shape;308;p9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309" name="Google Shape;309;p9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9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9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9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3" name="Google Shape;313;p9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14" name="Google Shape;314;p9"/>
            <p:cNvCxnSpPr>
              <a:endCxn id="313" idx="3"/>
            </p:cNvCxnSpPr>
            <p:nvPr/>
          </p:nvCxnSpPr>
          <p:spPr>
            <a:xfrm rot="10800000">
              <a:off x="7306423" y="3445210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15" name="Google Shape;315;p9"/>
            <p:cNvCxnSpPr>
              <a:stCxn id="313" idx="0"/>
            </p:cNvCxnSpPr>
            <p:nvPr/>
          </p:nvCxnSpPr>
          <p:spPr>
            <a:xfrm>
              <a:off x="7439287" y="3055454"/>
              <a:ext cx="344700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16" name="Google Shape;316;p9"/>
            <p:cNvCxnSpPr>
              <a:stCxn id="313" idx="1"/>
            </p:cNvCxnSpPr>
            <p:nvPr/>
          </p:nvCxnSpPr>
          <p:spPr>
            <a:xfrm rot="10800000">
              <a:off x="7306423" y="2001798"/>
              <a:ext cx="0" cy="6639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317" name="Google Shape;317;p9"/>
            <p:cNvGrpSpPr/>
            <p:nvPr/>
          </p:nvGrpSpPr>
          <p:grpSpPr>
            <a:xfrm rot="5400000">
              <a:off x="7503523" y="2922590"/>
              <a:ext cx="779512" cy="265728"/>
              <a:chOff x="6223414" y="4018641"/>
              <a:chExt cx="776477" cy="280329"/>
            </a:xfrm>
          </p:grpSpPr>
          <p:grpSp>
            <p:nvGrpSpPr>
              <p:cNvPr id="318" name="Google Shape;318;p9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319" name="Google Shape;319;p9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9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9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9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42DA8F">
                    <a:alpha val="80000"/>
                  </a:srgbClr>
                </a:solidFill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9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24" name="Google Shape;324;p9"/>
            <p:cNvCxnSpPr>
              <a:endCxn id="323" idx="3"/>
            </p:cNvCxnSpPr>
            <p:nvPr/>
          </p:nvCxnSpPr>
          <p:spPr>
            <a:xfrm rot="10800000">
              <a:off x="7893279" y="3445210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25" name="Google Shape;325;p9"/>
            <p:cNvCxnSpPr>
              <a:stCxn id="323" idx="1"/>
            </p:cNvCxnSpPr>
            <p:nvPr/>
          </p:nvCxnSpPr>
          <p:spPr>
            <a:xfrm rot="10800000">
              <a:off x="7893279" y="2001798"/>
              <a:ext cx="0" cy="6639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26" name="Google Shape;326;p9"/>
            <p:cNvCxnSpPr/>
            <p:nvPr/>
          </p:nvCxnSpPr>
          <p:spPr>
            <a:xfrm>
              <a:off x="5587367" y="1999457"/>
              <a:ext cx="452320" cy="2055353"/>
            </a:xfrm>
            <a:prstGeom prst="straightConnector1">
              <a:avLst/>
            </a:prstGeom>
            <a:noFill/>
            <a:ln w="28575" cap="flat" cmpd="sng">
              <a:solidFill>
                <a:srgbClr val="FF8AD8"/>
              </a:solidFill>
              <a:prstDash val="dot"/>
              <a:round/>
              <a:headEnd type="none" w="sm" len="sm"/>
              <a:tailEnd type="stealth" w="med" len="med"/>
            </a:ln>
          </p:spPr>
        </p:cxnSp>
        <p:cxnSp>
          <p:nvCxnSpPr>
            <p:cNvPr id="327" name="Google Shape;327;p9"/>
            <p:cNvCxnSpPr/>
            <p:nvPr/>
          </p:nvCxnSpPr>
          <p:spPr>
            <a:xfrm>
              <a:off x="6183003" y="1999457"/>
              <a:ext cx="452320" cy="2055353"/>
            </a:xfrm>
            <a:prstGeom prst="straightConnector1">
              <a:avLst/>
            </a:prstGeom>
            <a:noFill/>
            <a:ln w="28575" cap="flat" cmpd="sng">
              <a:solidFill>
                <a:srgbClr val="FF8AD8"/>
              </a:solidFill>
              <a:prstDash val="dot"/>
              <a:round/>
              <a:headEnd type="none" w="sm" len="sm"/>
              <a:tailEnd type="stealth" w="med" len="med"/>
            </a:ln>
          </p:spPr>
        </p:cxnSp>
        <p:cxnSp>
          <p:nvCxnSpPr>
            <p:cNvPr id="328" name="Google Shape;328;p9"/>
            <p:cNvCxnSpPr/>
            <p:nvPr/>
          </p:nvCxnSpPr>
          <p:spPr>
            <a:xfrm>
              <a:off x="6793385" y="1975686"/>
              <a:ext cx="452320" cy="2055353"/>
            </a:xfrm>
            <a:prstGeom prst="straightConnector1">
              <a:avLst/>
            </a:prstGeom>
            <a:noFill/>
            <a:ln w="28575" cap="flat" cmpd="sng">
              <a:solidFill>
                <a:srgbClr val="FF8AD8"/>
              </a:solidFill>
              <a:prstDash val="dot"/>
              <a:round/>
              <a:headEnd type="none" w="sm" len="sm"/>
              <a:tailEnd type="stealth" w="med" len="med"/>
            </a:ln>
          </p:spPr>
        </p:cxnSp>
        <p:cxnSp>
          <p:nvCxnSpPr>
            <p:cNvPr id="329" name="Google Shape;329;p9"/>
            <p:cNvCxnSpPr/>
            <p:nvPr/>
          </p:nvCxnSpPr>
          <p:spPr>
            <a:xfrm>
              <a:off x="7387373" y="1999456"/>
              <a:ext cx="452320" cy="2055353"/>
            </a:xfrm>
            <a:prstGeom prst="straightConnector1">
              <a:avLst/>
            </a:prstGeom>
            <a:noFill/>
            <a:ln w="28575" cap="flat" cmpd="sng">
              <a:solidFill>
                <a:srgbClr val="FF8AD8"/>
              </a:solidFill>
              <a:prstDash val="dot"/>
              <a:round/>
              <a:headEnd type="none" w="sm" len="sm"/>
              <a:tailEnd type="stealth" w="med" len="med"/>
            </a:ln>
          </p:spPr>
        </p:cxnSp>
        <p:sp>
          <p:nvSpPr>
            <p:cNvPr id="330" name="Google Shape;330;p9"/>
            <p:cNvSpPr txBox="1"/>
            <p:nvPr/>
          </p:nvSpPr>
          <p:spPr>
            <a:xfrm>
              <a:off x="5777759" y="1627128"/>
              <a:ext cx="25782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2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have      any    money  &lt;END&gt;</a:t>
              </a:r>
              <a:endParaRPr sz="1800" dirty="0"/>
            </a:p>
          </p:txBody>
        </p:sp>
        <p:sp>
          <p:nvSpPr>
            <p:cNvPr id="331" name="Google Shape;331;p9"/>
            <p:cNvSpPr txBox="1"/>
            <p:nvPr/>
          </p:nvSpPr>
          <p:spPr>
            <a:xfrm>
              <a:off x="5793400" y="4054776"/>
              <a:ext cx="268889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don’t    have      any    money</a:t>
              </a:r>
              <a:endParaRPr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9"/>
            <p:cNvSpPr txBox="1"/>
            <p:nvPr/>
          </p:nvSpPr>
          <p:spPr>
            <a:xfrm rot="-5400000">
              <a:off x="5576188" y="2214882"/>
              <a:ext cx="782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8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argmax</a:t>
              </a:r>
              <a:endParaRPr sz="1800"/>
            </a:p>
          </p:txBody>
        </p:sp>
        <p:sp>
          <p:nvSpPr>
            <p:cNvPr id="333" name="Google Shape;333;p9"/>
            <p:cNvSpPr txBox="1"/>
            <p:nvPr/>
          </p:nvSpPr>
          <p:spPr>
            <a:xfrm rot="-5400000">
              <a:off x="6180863" y="2214882"/>
              <a:ext cx="782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8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argmax</a:t>
              </a:r>
              <a:endParaRPr sz="1800"/>
            </a:p>
          </p:txBody>
        </p:sp>
        <p:sp>
          <p:nvSpPr>
            <p:cNvPr id="334" name="Google Shape;334;p9"/>
            <p:cNvSpPr txBox="1"/>
            <p:nvPr/>
          </p:nvSpPr>
          <p:spPr>
            <a:xfrm rot="-5400000">
              <a:off x="6785538" y="2214882"/>
              <a:ext cx="782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8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argmax</a:t>
              </a:r>
              <a:endParaRPr sz="1800"/>
            </a:p>
          </p:txBody>
        </p:sp>
        <p:sp>
          <p:nvSpPr>
            <p:cNvPr id="335" name="Google Shape;335;p9"/>
            <p:cNvSpPr txBox="1"/>
            <p:nvPr/>
          </p:nvSpPr>
          <p:spPr>
            <a:xfrm rot="-5400000">
              <a:off x="7390213" y="2214882"/>
              <a:ext cx="782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8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argmax</a:t>
              </a: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25996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"/>
          <p:cNvSpPr txBox="1">
            <a:spLocks noGrp="1"/>
          </p:cNvSpPr>
          <p:nvPr>
            <p:ph type="title"/>
          </p:nvPr>
        </p:nvSpPr>
        <p:spPr>
          <a:xfrm>
            <a:off x="620830" y="0"/>
            <a:ext cx="4537049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buSzPts val="3300"/>
            </a:pPr>
            <a:r>
              <a:rPr lang="en-US" b="1" dirty="0" smtClean="0">
                <a:solidFill>
                  <a:srgbClr val="0066FF"/>
                </a:solidFill>
              </a:rPr>
              <a:t>Training of NMT system</a:t>
            </a:r>
            <a:endParaRPr b="1" dirty="0">
              <a:solidFill>
                <a:srgbClr val="0066FF"/>
              </a:solidFill>
            </a:endParaRPr>
          </a:p>
        </p:txBody>
      </p:sp>
      <p:sp>
        <p:nvSpPr>
          <p:cNvPr id="341" name="Google Shape;341;p10"/>
          <p:cNvSpPr txBox="1">
            <a:spLocks noGrp="1"/>
          </p:cNvSpPr>
          <p:nvPr>
            <p:ph type="body" idx="1"/>
          </p:nvPr>
        </p:nvSpPr>
        <p:spPr>
          <a:xfrm>
            <a:off x="714676" y="928947"/>
            <a:ext cx="7972124" cy="411127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rmAutofit/>
          </a:bodyPr>
          <a:lstStyle/>
          <a:p>
            <a:pPr marL="128588" indent="-128588">
              <a:spcBef>
                <a:spcPts val="0"/>
              </a:spcBef>
            </a:pPr>
            <a:r>
              <a:rPr lang="en-US" dirty="0"/>
              <a:t>As in other RNN models, we can train by minimizing the loss function between what we predict at each step and its </a:t>
            </a:r>
            <a:r>
              <a:rPr lang="en-US" dirty="0" smtClean="0"/>
              <a:t>ground true </a:t>
            </a:r>
            <a:r>
              <a:rPr lang="en-US" dirty="0"/>
              <a:t>value</a:t>
            </a:r>
            <a:r>
              <a:rPr lang="en-US" dirty="0" smtClean="0"/>
              <a:t>.</a:t>
            </a:r>
            <a:endParaRPr dirty="0"/>
          </a:p>
        </p:txBody>
      </p:sp>
      <p:sp>
        <p:nvSpPr>
          <p:cNvPr id="342" name="Google Shape;342;p10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/>
              <a:pPr/>
              <a:t>10</a:t>
            </a:fld>
            <a:endParaRPr/>
          </a:p>
        </p:txBody>
      </p:sp>
      <p:pic>
        <p:nvPicPr>
          <p:cNvPr id="343" name="Google Shape;34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2469" y="2139632"/>
            <a:ext cx="6119936" cy="19340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078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/>
          <p:cNvSpPr txBox="1">
            <a:spLocks noGrp="1"/>
          </p:cNvSpPr>
          <p:nvPr>
            <p:ph type="title"/>
          </p:nvPr>
        </p:nvSpPr>
        <p:spPr>
          <a:xfrm>
            <a:off x="591954" y="0"/>
            <a:ext cx="6570845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buSzPts val="3300"/>
            </a:pPr>
            <a:r>
              <a:rPr lang="en-US" dirty="0">
                <a:solidFill>
                  <a:srgbClr val="0066FF"/>
                </a:solidFill>
              </a:rPr>
              <a:t>Training of NMT system</a:t>
            </a:r>
            <a:endParaRPr b="1" dirty="0">
              <a:solidFill>
                <a:srgbClr val="0066FF"/>
              </a:solidFill>
            </a:endParaRPr>
          </a:p>
        </p:txBody>
      </p:sp>
      <p:sp>
        <p:nvSpPr>
          <p:cNvPr id="349" name="Google Shape;349;p11"/>
          <p:cNvSpPr txBox="1">
            <a:spLocks noGrp="1"/>
          </p:cNvSpPr>
          <p:nvPr>
            <p:ph type="body" idx="1"/>
          </p:nvPr>
        </p:nvSpPr>
        <p:spPr>
          <a:xfrm>
            <a:off x="1614488" y="1215738"/>
            <a:ext cx="5915025" cy="34169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rmAutofit/>
          </a:bodyPr>
          <a:lstStyle/>
          <a:p>
            <a:pPr marL="128588" indent="-28575">
              <a:spcBef>
                <a:spcPts val="0"/>
              </a:spcBef>
              <a:buNone/>
            </a:pPr>
            <a:endParaRPr/>
          </a:p>
        </p:txBody>
      </p:sp>
      <p:sp>
        <p:nvSpPr>
          <p:cNvPr id="350" name="Google Shape;350;p11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/>
              <a:pPr/>
              <a:t>11</a:t>
            </a:fld>
            <a:endParaRPr/>
          </a:p>
        </p:txBody>
      </p:sp>
      <p:pic>
        <p:nvPicPr>
          <p:cNvPr id="351" name="Google Shape;35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8" y="1183648"/>
            <a:ext cx="6365272" cy="31369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551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"/>
          <p:cNvSpPr txBox="1">
            <a:spLocks noGrp="1"/>
          </p:cNvSpPr>
          <p:nvPr>
            <p:ph type="title"/>
          </p:nvPr>
        </p:nvSpPr>
        <p:spPr>
          <a:xfrm>
            <a:off x="1614490" y="0"/>
            <a:ext cx="3543389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buSzPts val="3300"/>
            </a:pPr>
            <a:endParaRPr dirty="0"/>
          </a:p>
        </p:txBody>
      </p:sp>
      <p:sp>
        <p:nvSpPr>
          <p:cNvPr id="357" name="Google Shape;357;p12"/>
          <p:cNvSpPr txBox="1">
            <a:spLocks noGrp="1"/>
          </p:cNvSpPr>
          <p:nvPr>
            <p:ph type="body" idx="1"/>
          </p:nvPr>
        </p:nvSpPr>
        <p:spPr>
          <a:xfrm>
            <a:off x="1367028" y="706358"/>
            <a:ext cx="6400800" cy="38671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rmAutofit/>
          </a:bodyPr>
          <a:lstStyle/>
          <a:p>
            <a:pPr marL="128588" indent="-28575">
              <a:spcBef>
                <a:spcPts val="0"/>
              </a:spcBef>
              <a:buNone/>
            </a:pPr>
            <a:endParaRPr/>
          </a:p>
        </p:txBody>
      </p:sp>
      <p:sp>
        <p:nvSpPr>
          <p:cNvPr id="358" name="Google Shape;358;p12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/>
              <a:pPr/>
              <a:t>12</a:t>
            </a:fld>
            <a:endParaRPr/>
          </a:p>
        </p:txBody>
      </p:sp>
      <p:pic>
        <p:nvPicPr>
          <p:cNvPr id="359" name="Google Shape;35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928947"/>
            <a:ext cx="6471666" cy="35492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8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"/>
          <p:cNvSpPr txBox="1">
            <a:spLocks noGrp="1"/>
          </p:cNvSpPr>
          <p:nvPr>
            <p:ph type="title"/>
          </p:nvPr>
        </p:nvSpPr>
        <p:spPr>
          <a:xfrm>
            <a:off x="555859" y="0"/>
            <a:ext cx="4602020" cy="5837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dirty="0">
                <a:solidFill>
                  <a:srgbClr val="0066FF"/>
                </a:solidFill>
              </a:rPr>
              <a:t>Training of NMT system</a:t>
            </a:r>
            <a:endParaRPr b="1" dirty="0">
              <a:solidFill>
                <a:srgbClr val="0066FF"/>
              </a:solidFill>
            </a:endParaRPr>
          </a:p>
        </p:txBody>
      </p:sp>
      <p:sp>
        <p:nvSpPr>
          <p:cNvPr id="366" name="Google Shape;366;p13"/>
          <p:cNvSpPr txBox="1">
            <a:spLocks noGrp="1"/>
          </p:cNvSpPr>
          <p:nvPr>
            <p:ph type="sldNum" idx="12"/>
          </p:nvPr>
        </p:nvSpPr>
        <p:spPr>
          <a:xfrm>
            <a:off x="7318236" y="4747512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13</a:t>
            </a:fld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7" name="Google Shape;367;p13"/>
          <p:cNvGrpSpPr/>
          <p:nvPr/>
        </p:nvGrpSpPr>
        <p:grpSpPr>
          <a:xfrm>
            <a:off x="1113383" y="2278438"/>
            <a:ext cx="2303624" cy="1356626"/>
            <a:chOff x="-39493" y="2941661"/>
            <a:chExt cx="3071499" cy="1808835"/>
          </a:xfrm>
        </p:grpSpPr>
        <p:grpSp>
          <p:nvGrpSpPr>
            <p:cNvPr id="368" name="Google Shape;368;p13"/>
            <p:cNvGrpSpPr/>
            <p:nvPr/>
          </p:nvGrpSpPr>
          <p:grpSpPr>
            <a:xfrm rot="5400000">
              <a:off x="696439" y="3618277"/>
              <a:ext cx="779512" cy="265728"/>
              <a:chOff x="6223414" y="4018641"/>
              <a:chExt cx="776477" cy="280329"/>
            </a:xfrm>
          </p:grpSpPr>
          <p:grpSp>
            <p:nvGrpSpPr>
              <p:cNvPr id="369" name="Google Shape;369;p13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370" name="Google Shape;370;p13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" name="Google Shape;371;p13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" name="Google Shape;372;p13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" name="Google Shape;373;p13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74" name="Google Shape;374;p13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75" name="Google Shape;375;p13"/>
            <p:cNvCxnSpPr>
              <a:endCxn id="374" idx="3"/>
            </p:cNvCxnSpPr>
            <p:nvPr/>
          </p:nvCxnSpPr>
          <p:spPr>
            <a:xfrm rot="10800000">
              <a:off x="1086195" y="4140897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76" name="Google Shape;376;p13"/>
            <p:cNvCxnSpPr>
              <a:stCxn id="374" idx="0"/>
            </p:cNvCxnSpPr>
            <p:nvPr/>
          </p:nvCxnSpPr>
          <p:spPr>
            <a:xfrm>
              <a:off x="1219059" y="3751141"/>
              <a:ext cx="344700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77" name="Google Shape;377;p13"/>
            <p:cNvSpPr txBox="1"/>
            <p:nvPr/>
          </p:nvSpPr>
          <p:spPr>
            <a:xfrm rot="-5400000">
              <a:off x="-664307" y="3566475"/>
              <a:ext cx="161895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35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Encoder RNN</a:t>
              </a:r>
              <a:endParaRPr sz="1800"/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322695" y="3361385"/>
              <a:ext cx="188427" cy="779512"/>
            </a:xfrm>
            <a:prstGeom prst="leftBrace">
              <a:avLst>
                <a:gd name="adj1" fmla="val 39130"/>
                <a:gd name="adj2" fmla="val 50000"/>
              </a:avLst>
            </a:prstGeom>
            <a:noFill/>
            <a:ln w="1905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grpSp>
          <p:nvGrpSpPr>
            <p:cNvPr id="379" name="Google Shape;379;p13"/>
            <p:cNvGrpSpPr/>
            <p:nvPr/>
          </p:nvGrpSpPr>
          <p:grpSpPr>
            <a:xfrm rot="5400000">
              <a:off x="1304051" y="3612378"/>
              <a:ext cx="779512" cy="265728"/>
              <a:chOff x="6223414" y="4018641"/>
              <a:chExt cx="776477" cy="280329"/>
            </a:xfrm>
          </p:grpSpPr>
          <p:grpSp>
            <p:nvGrpSpPr>
              <p:cNvPr id="380" name="Google Shape;380;p13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381" name="Google Shape;381;p13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" name="Google Shape;382;p13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" name="Google Shape;383;p13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" name="Google Shape;384;p13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5" name="Google Shape;385;p13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86" name="Google Shape;386;p13"/>
            <p:cNvCxnSpPr>
              <a:endCxn id="385" idx="3"/>
            </p:cNvCxnSpPr>
            <p:nvPr/>
          </p:nvCxnSpPr>
          <p:spPr>
            <a:xfrm rot="10800000">
              <a:off x="1693807" y="4134998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87" name="Google Shape;387;p13"/>
            <p:cNvCxnSpPr>
              <a:stCxn id="385" idx="0"/>
            </p:cNvCxnSpPr>
            <p:nvPr/>
          </p:nvCxnSpPr>
          <p:spPr>
            <a:xfrm>
              <a:off x="1826671" y="3745242"/>
              <a:ext cx="344700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388" name="Google Shape;388;p13"/>
            <p:cNvGrpSpPr/>
            <p:nvPr/>
          </p:nvGrpSpPr>
          <p:grpSpPr>
            <a:xfrm rot="5400000">
              <a:off x="1898965" y="3612378"/>
              <a:ext cx="779512" cy="265728"/>
              <a:chOff x="6223414" y="4018641"/>
              <a:chExt cx="776477" cy="280329"/>
            </a:xfrm>
          </p:grpSpPr>
          <p:grpSp>
            <p:nvGrpSpPr>
              <p:cNvPr id="389" name="Google Shape;389;p13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390" name="Google Shape;390;p13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" name="Google Shape;391;p13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" name="Google Shape;392;p13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" name="Google Shape;393;p13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4" name="Google Shape;394;p13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5" name="Google Shape;395;p13"/>
            <p:cNvCxnSpPr>
              <a:endCxn id="394" idx="3"/>
            </p:cNvCxnSpPr>
            <p:nvPr/>
          </p:nvCxnSpPr>
          <p:spPr>
            <a:xfrm rot="10800000">
              <a:off x="2288721" y="4134998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96" name="Google Shape;396;p13"/>
            <p:cNvCxnSpPr>
              <a:stCxn id="394" idx="0"/>
            </p:cNvCxnSpPr>
            <p:nvPr/>
          </p:nvCxnSpPr>
          <p:spPr>
            <a:xfrm>
              <a:off x="2421585" y="3745242"/>
              <a:ext cx="344700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397" name="Google Shape;397;p13"/>
            <p:cNvGrpSpPr/>
            <p:nvPr/>
          </p:nvGrpSpPr>
          <p:grpSpPr>
            <a:xfrm rot="5400000">
              <a:off x="2509386" y="3609508"/>
              <a:ext cx="779512" cy="265728"/>
              <a:chOff x="6223414" y="4018641"/>
              <a:chExt cx="776477" cy="280329"/>
            </a:xfrm>
          </p:grpSpPr>
          <p:grpSp>
            <p:nvGrpSpPr>
              <p:cNvPr id="398" name="Google Shape;398;p13"/>
              <p:cNvGrpSpPr/>
              <p:nvPr/>
            </p:nvGrpSpPr>
            <p:grpSpPr>
              <a:xfrm rot="-5400000">
                <a:off x="6550278" y="3846238"/>
                <a:ext cx="112131" cy="616723"/>
                <a:chOff x="1883650" y="2468875"/>
                <a:chExt cx="153620" cy="844910"/>
              </a:xfrm>
            </p:grpSpPr>
            <p:sp>
              <p:nvSpPr>
                <p:cNvPr id="399" name="Google Shape;399;p13"/>
                <p:cNvSpPr/>
                <p:nvPr/>
              </p:nvSpPr>
              <p:spPr>
                <a:xfrm>
                  <a:off x="1883650" y="246887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0" name="Google Shape;400;p13"/>
                <p:cNvSpPr/>
                <p:nvPr/>
              </p:nvSpPr>
              <p:spPr>
                <a:xfrm>
                  <a:off x="1883650" y="269930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1" name="Google Shape;401;p13"/>
                <p:cNvSpPr/>
                <p:nvPr/>
              </p:nvSpPr>
              <p:spPr>
                <a:xfrm>
                  <a:off x="1883650" y="292973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2" name="Google Shape;402;p13"/>
                <p:cNvSpPr/>
                <p:nvPr/>
              </p:nvSpPr>
              <p:spPr>
                <a:xfrm>
                  <a:off x="1883650" y="3160165"/>
                  <a:ext cx="153620" cy="153620"/>
                </a:xfrm>
                <a:prstGeom prst="ellipse">
                  <a:avLst/>
                </a:prstGeom>
                <a:solidFill>
                  <a:srgbClr val="C00000">
                    <a:alpha val="80000"/>
                  </a:srgbClr>
                </a:solidFill>
                <a:ln w="19050" cap="flat" cmpd="sng">
                  <a:solidFill>
                    <a:srgbClr val="77001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3" name="Google Shape;403;p13"/>
              <p:cNvSpPr/>
              <p:nvPr/>
            </p:nvSpPr>
            <p:spPr>
              <a:xfrm>
                <a:off x="6223414" y="4018641"/>
                <a:ext cx="776477" cy="28032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4" name="Google Shape;404;p13"/>
            <p:cNvCxnSpPr>
              <a:endCxn id="403" idx="3"/>
            </p:cNvCxnSpPr>
            <p:nvPr/>
          </p:nvCxnSpPr>
          <p:spPr>
            <a:xfrm rot="10800000">
              <a:off x="2899142" y="4132128"/>
              <a:ext cx="0" cy="609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405" name="Google Shape;405;p13"/>
          <p:cNvGrpSpPr/>
          <p:nvPr/>
        </p:nvGrpSpPr>
        <p:grpSpPr>
          <a:xfrm>
            <a:off x="1400283" y="3636439"/>
            <a:ext cx="6074814" cy="749090"/>
            <a:chOff x="343044" y="4752327"/>
            <a:chExt cx="8099752" cy="998787"/>
          </a:xfrm>
        </p:grpSpPr>
        <p:sp>
          <p:nvSpPr>
            <p:cNvPr id="406" name="Google Shape;406;p13"/>
            <p:cNvSpPr txBox="1"/>
            <p:nvPr/>
          </p:nvSpPr>
          <p:spPr>
            <a:xfrm>
              <a:off x="343044" y="5381782"/>
              <a:ext cx="33119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Source sentence (from corpus)</a:t>
              </a:r>
              <a:endParaRPr sz="1800"/>
            </a:p>
          </p:txBody>
        </p:sp>
        <p:sp>
          <p:nvSpPr>
            <p:cNvPr id="407" name="Google Shape;407;p13"/>
            <p:cNvSpPr/>
            <p:nvPr/>
          </p:nvSpPr>
          <p:spPr>
            <a:xfrm rot="-5400000">
              <a:off x="2023910" y="4071799"/>
              <a:ext cx="271031" cy="2434549"/>
            </a:xfrm>
            <a:prstGeom prst="leftBrace">
              <a:avLst>
                <a:gd name="adj1" fmla="val 39130"/>
                <a:gd name="adj2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800">
                <a:solidFill>
                  <a:schemeClr val="accent3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408" name="Google Shape;408;p13"/>
            <p:cNvSpPr txBox="1"/>
            <p:nvPr/>
          </p:nvSpPr>
          <p:spPr>
            <a:xfrm>
              <a:off x="3746839" y="4752327"/>
              <a:ext cx="469595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&lt;START&gt;   the      poor    don’t    have      any    money</a:t>
              </a:r>
              <a:endParaRPr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3"/>
            <p:cNvSpPr txBox="1"/>
            <p:nvPr/>
          </p:nvSpPr>
          <p:spPr>
            <a:xfrm>
              <a:off x="887708" y="4761343"/>
              <a:ext cx="258068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2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les    </a:t>
              </a:r>
              <a:r>
                <a:rPr lang="en-US" sz="1200" i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pauvres</a:t>
              </a:r>
              <a:r>
                <a:rPr lang="en-US" sz="12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en-US" sz="1200" i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sont</a:t>
              </a:r>
              <a:r>
                <a:rPr lang="en-US" sz="12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lang="en-US" sz="1200" i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démunis</a:t>
              </a:r>
              <a:endParaRPr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3"/>
            <p:cNvSpPr txBox="1"/>
            <p:nvPr/>
          </p:nvSpPr>
          <p:spPr>
            <a:xfrm>
              <a:off x="3950989" y="5361927"/>
              <a:ext cx="37699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sentence (from corpus)</a:t>
              </a:r>
              <a:endParaRPr sz="1800"/>
            </a:p>
          </p:txBody>
        </p:sp>
        <p:sp>
          <p:nvSpPr>
            <p:cNvPr id="411" name="Google Shape;411;p13"/>
            <p:cNvSpPr/>
            <p:nvPr/>
          </p:nvSpPr>
          <p:spPr>
            <a:xfrm rot="-5400000">
              <a:off x="5854728" y="3034192"/>
              <a:ext cx="271031" cy="4486809"/>
            </a:xfrm>
            <a:prstGeom prst="leftBrace">
              <a:avLst>
                <a:gd name="adj1" fmla="val 39130"/>
                <a:gd name="adj2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800">
                <a:solidFill>
                  <a:schemeClr val="accent3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sp>
        <p:nvSpPr>
          <p:cNvPr id="412" name="Google Shape;412;p13"/>
          <p:cNvSpPr txBox="1"/>
          <p:nvPr/>
        </p:nvSpPr>
        <p:spPr>
          <a:xfrm>
            <a:off x="2669768" y="4550782"/>
            <a:ext cx="3252967" cy="484748"/>
          </a:xfrm>
          <a:prstGeom prst="rect">
            <a:avLst/>
          </a:prstGeom>
          <a:noFill/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Seq2seq is optimized as a </a:t>
            </a:r>
            <a:r>
              <a:rPr lang="en-US" sz="1350" b="1" u="sng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single system.</a:t>
            </a:r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/>
          </a:p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Backpropagation operates “</a:t>
            </a:r>
            <a:r>
              <a:rPr lang="en-US" sz="1350" i="1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end to end”</a:t>
            </a:r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 b="1" u="sng">
              <a:solidFill>
                <a:srgbClr val="3A87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3" name="Google Shape;413;p13"/>
          <p:cNvGrpSpPr/>
          <p:nvPr/>
        </p:nvGrpSpPr>
        <p:grpSpPr>
          <a:xfrm>
            <a:off x="3417007" y="1822541"/>
            <a:ext cx="4584001" cy="1812527"/>
            <a:chOff x="3031998" y="2333795"/>
            <a:chExt cx="6112001" cy="2416702"/>
          </a:xfrm>
        </p:grpSpPr>
        <p:cxnSp>
          <p:nvCxnSpPr>
            <p:cNvPr id="414" name="Google Shape;414;p13"/>
            <p:cNvCxnSpPr>
              <a:stCxn id="403" idx="0"/>
              <a:endCxn id="415" idx="2"/>
            </p:cNvCxnSpPr>
            <p:nvPr/>
          </p:nvCxnSpPr>
          <p:spPr>
            <a:xfrm flipV="1">
              <a:off x="3031998" y="3742372"/>
              <a:ext cx="1039463" cy="9621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416" name="Google Shape;416;p13"/>
            <p:cNvGrpSpPr/>
            <p:nvPr/>
          </p:nvGrpSpPr>
          <p:grpSpPr>
            <a:xfrm>
              <a:off x="4031343" y="2333795"/>
              <a:ext cx="5112656" cy="2416702"/>
              <a:chOff x="4031343" y="2333795"/>
              <a:chExt cx="5112656" cy="2416702"/>
            </a:xfrm>
          </p:grpSpPr>
          <p:grpSp>
            <p:nvGrpSpPr>
              <p:cNvPr id="417" name="Google Shape;417;p13"/>
              <p:cNvGrpSpPr/>
              <p:nvPr/>
            </p:nvGrpSpPr>
            <p:grpSpPr>
              <a:xfrm rot="5400000">
                <a:off x="3814569" y="3609508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418" name="Google Shape;418;p13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419" name="Google Shape;419;p13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0" name="Google Shape;420;p13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1" name="Google Shape;421;p13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2" name="Google Shape;422;p13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15" name="Google Shape;415;p13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23" name="Google Shape;423;p13"/>
              <p:cNvCxnSpPr>
                <a:endCxn id="415" idx="3"/>
              </p:cNvCxnSpPr>
              <p:nvPr/>
            </p:nvCxnSpPr>
            <p:spPr>
              <a:xfrm rot="10800000">
                <a:off x="4204325" y="4132128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24" name="Google Shape;424;p13"/>
              <p:cNvCxnSpPr>
                <a:stCxn id="415" idx="0"/>
              </p:cNvCxnSpPr>
              <p:nvPr/>
            </p:nvCxnSpPr>
            <p:spPr>
              <a:xfrm>
                <a:off x="4337189" y="3742372"/>
                <a:ext cx="34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25" name="Google Shape;425;p13"/>
              <p:cNvCxnSpPr>
                <a:stCxn id="415" idx="1"/>
              </p:cNvCxnSpPr>
              <p:nvPr/>
            </p:nvCxnSpPr>
            <p:spPr>
              <a:xfrm rot="10800000">
                <a:off x="4204325" y="2688716"/>
                <a:ext cx="0" cy="66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grpSp>
            <p:nvGrpSpPr>
              <p:cNvPr id="426" name="Google Shape;426;p13"/>
              <p:cNvGrpSpPr/>
              <p:nvPr/>
            </p:nvGrpSpPr>
            <p:grpSpPr>
              <a:xfrm rot="5400000">
                <a:off x="4424990" y="3618277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427" name="Google Shape;427;p13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428" name="Google Shape;428;p13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9" name="Google Shape;429;p13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" name="Google Shape;430;p13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1" name="Google Shape;431;p13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32" name="Google Shape;432;p13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33" name="Google Shape;433;p13"/>
              <p:cNvCxnSpPr>
                <a:endCxn id="432" idx="3"/>
              </p:cNvCxnSpPr>
              <p:nvPr/>
            </p:nvCxnSpPr>
            <p:spPr>
              <a:xfrm rot="10800000">
                <a:off x="4814746" y="4140897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34" name="Google Shape;434;p13"/>
              <p:cNvCxnSpPr>
                <a:stCxn id="432" idx="0"/>
              </p:cNvCxnSpPr>
              <p:nvPr/>
            </p:nvCxnSpPr>
            <p:spPr>
              <a:xfrm>
                <a:off x="4947610" y="3751141"/>
                <a:ext cx="34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grpSp>
            <p:nvGrpSpPr>
              <p:cNvPr id="435" name="Google Shape;435;p13"/>
              <p:cNvGrpSpPr/>
              <p:nvPr/>
            </p:nvGrpSpPr>
            <p:grpSpPr>
              <a:xfrm rot="5400000">
                <a:off x="5040660" y="3609508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436" name="Google Shape;436;p13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437" name="Google Shape;437;p13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8" name="Google Shape;438;p13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9" name="Google Shape;439;p13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0" name="Google Shape;440;p13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41" name="Google Shape;441;p13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42" name="Google Shape;442;p13"/>
              <p:cNvCxnSpPr>
                <a:endCxn id="441" idx="3"/>
              </p:cNvCxnSpPr>
              <p:nvPr/>
            </p:nvCxnSpPr>
            <p:spPr>
              <a:xfrm rot="10800000">
                <a:off x="5430416" y="4132128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43" name="Google Shape;443;p13"/>
              <p:cNvCxnSpPr>
                <a:stCxn id="441" idx="0"/>
              </p:cNvCxnSpPr>
              <p:nvPr/>
            </p:nvCxnSpPr>
            <p:spPr>
              <a:xfrm>
                <a:off x="5563280" y="3742372"/>
                <a:ext cx="34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grpSp>
            <p:nvGrpSpPr>
              <p:cNvPr id="444" name="Google Shape;444;p13"/>
              <p:cNvGrpSpPr/>
              <p:nvPr/>
            </p:nvGrpSpPr>
            <p:grpSpPr>
              <a:xfrm rot="5400000">
                <a:off x="5651081" y="3609508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445" name="Google Shape;445;p13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446" name="Google Shape;446;p13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7" name="Google Shape;447;p13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8" name="Google Shape;448;p13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9" name="Google Shape;449;p13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50" name="Google Shape;450;p13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51" name="Google Shape;451;p13"/>
              <p:cNvCxnSpPr>
                <a:endCxn id="450" idx="3"/>
              </p:cNvCxnSpPr>
              <p:nvPr/>
            </p:nvCxnSpPr>
            <p:spPr>
              <a:xfrm rot="10800000">
                <a:off x="6040837" y="4132128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52" name="Google Shape;452;p13"/>
              <p:cNvCxnSpPr>
                <a:stCxn id="450" idx="0"/>
              </p:cNvCxnSpPr>
              <p:nvPr/>
            </p:nvCxnSpPr>
            <p:spPr>
              <a:xfrm>
                <a:off x="6173701" y="3742372"/>
                <a:ext cx="34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grpSp>
            <p:nvGrpSpPr>
              <p:cNvPr id="453" name="Google Shape;453;p13"/>
              <p:cNvGrpSpPr/>
              <p:nvPr/>
            </p:nvGrpSpPr>
            <p:grpSpPr>
              <a:xfrm rot="5400000">
                <a:off x="6261502" y="3618277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454" name="Google Shape;454;p13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455" name="Google Shape;455;p13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6" name="Google Shape;456;p13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7" name="Google Shape;457;p13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8" name="Google Shape;458;p13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59" name="Google Shape;459;p13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60" name="Google Shape;460;p13"/>
              <p:cNvCxnSpPr>
                <a:endCxn id="459" idx="3"/>
              </p:cNvCxnSpPr>
              <p:nvPr/>
            </p:nvCxnSpPr>
            <p:spPr>
              <a:xfrm rot="10800000">
                <a:off x="6651258" y="4140897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61" name="Google Shape;461;p13"/>
              <p:cNvCxnSpPr>
                <a:stCxn id="459" idx="0"/>
              </p:cNvCxnSpPr>
              <p:nvPr/>
            </p:nvCxnSpPr>
            <p:spPr>
              <a:xfrm>
                <a:off x="6784122" y="3751141"/>
                <a:ext cx="34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grpSp>
            <p:nvGrpSpPr>
              <p:cNvPr id="462" name="Google Shape;462;p13"/>
              <p:cNvGrpSpPr/>
              <p:nvPr/>
            </p:nvGrpSpPr>
            <p:grpSpPr>
              <a:xfrm rot="5400000">
                <a:off x="6877172" y="3609508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463" name="Google Shape;463;p13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464" name="Google Shape;464;p13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5" name="Google Shape;465;p13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6" name="Google Shape;466;p13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7" name="Google Shape;467;p13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68" name="Google Shape;468;p13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69" name="Google Shape;469;p13"/>
              <p:cNvCxnSpPr>
                <a:endCxn id="468" idx="3"/>
              </p:cNvCxnSpPr>
              <p:nvPr/>
            </p:nvCxnSpPr>
            <p:spPr>
              <a:xfrm rot="10800000">
                <a:off x="7266928" y="4132128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70" name="Google Shape;470;p13"/>
              <p:cNvCxnSpPr>
                <a:stCxn id="468" idx="0"/>
              </p:cNvCxnSpPr>
              <p:nvPr/>
            </p:nvCxnSpPr>
            <p:spPr>
              <a:xfrm>
                <a:off x="7399792" y="3742372"/>
                <a:ext cx="34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grpSp>
            <p:nvGrpSpPr>
              <p:cNvPr id="471" name="Google Shape;471;p13"/>
              <p:cNvGrpSpPr/>
              <p:nvPr/>
            </p:nvGrpSpPr>
            <p:grpSpPr>
              <a:xfrm rot="5400000">
                <a:off x="7464028" y="3609508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472" name="Google Shape;472;p13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473" name="Google Shape;473;p13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4" name="Google Shape;474;p13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5" name="Google Shape;475;p13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6" name="Google Shape;476;p13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77" name="Google Shape;477;p13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78" name="Google Shape;478;p13"/>
              <p:cNvCxnSpPr>
                <a:endCxn id="477" idx="3"/>
              </p:cNvCxnSpPr>
              <p:nvPr/>
            </p:nvCxnSpPr>
            <p:spPr>
              <a:xfrm rot="10800000">
                <a:off x="7853784" y="4132128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79" name="Google Shape;479;p13"/>
              <p:cNvSpPr txBox="1"/>
              <p:nvPr/>
            </p:nvSpPr>
            <p:spPr>
              <a:xfrm rot="5400000">
                <a:off x="8172780" y="3589287"/>
                <a:ext cx="157310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pPr algn="ctr"/>
                <a:r>
                  <a:rPr lang="en-US" sz="1350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Decoder RNN</a:t>
                </a:r>
                <a:endParaRPr sz="1800"/>
              </a:p>
            </p:txBody>
          </p:sp>
          <p:sp>
            <p:nvSpPr>
              <p:cNvPr id="480" name="Google Shape;480;p13"/>
              <p:cNvSpPr/>
              <p:nvPr/>
            </p:nvSpPr>
            <p:spPr>
              <a:xfrm rot="10800000">
                <a:off x="8572916" y="3384197"/>
                <a:ext cx="188427" cy="779512"/>
              </a:xfrm>
              <a:prstGeom prst="leftBrace">
                <a:avLst>
                  <a:gd name="adj1" fmla="val 39130"/>
                  <a:gd name="adj2" fmla="val 50000"/>
                </a:avLst>
              </a:prstGeom>
              <a:noFill/>
              <a:ln w="19050" cap="flat" cmpd="sng">
                <a:solidFill>
                  <a:srgbClr val="00B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endParaRPr sz="1800">
                  <a:solidFill>
                    <a:schemeClr val="dk1"/>
                  </a:solidFill>
                  <a:latin typeface="Lucida Sans"/>
                  <a:ea typeface="Lucida Sans"/>
                  <a:cs typeface="Lucida Sans"/>
                  <a:sym typeface="Lucida Sans"/>
                </a:endParaRPr>
              </a:p>
            </p:txBody>
          </p:sp>
          <p:sp>
            <p:nvSpPr>
              <p:cNvPr id="481" name="Google Shape;481;p13"/>
              <p:cNvSpPr txBox="1"/>
              <p:nvPr/>
            </p:nvSpPr>
            <p:spPr>
              <a:xfrm>
                <a:off x="4031343" y="2336907"/>
                <a:ext cx="460230" cy="338554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10711"/>
                </a:stretch>
              </a:blipFill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r>
                  <a:rPr lang="en-US" sz="135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800"/>
              </a:p>
            </p:txBody>
          </p:sp>
          <p:cxnSp>
            <p:nvCxnSpPr>
              <p:cNvPr id="482" name="Google Shape;482;p13"/>
              <p:cNvCxnSpPr/>
              <p:nvPr/>
            </p:nvCxnSpPr>
            <p:spPr>
              <a:xfrm rot="10800000">
                <a:off x="4823272" y="2695685"/>
                <a:ext cx="0" cy="663782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83" name="Google Shape;483;p13"/>
              <p:cNvSpPr txBox="1"/>
              <p:nvPr/>
            </p:nvSpPr>
            <p:spPr>
              <a:xfrm>
                <a:off x="4650290" y="2343758"/>
                <a:ext cx="460230" cy="338554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14811"/>
                </a:stretch>
              </a:blipFill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r>
                  <a:rPr lang="en-US" sz="135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800"/>
              </a:p>
            </p:txBody>
          </p:sp>
          <p:cxnSp>
            <p:nvCxnSpPr>
              <p:cNvPr id="484" name="Google Shape;484;p13"/>
              <p:cNvCxnSpPr/>
              <p:nvPr/>
            </p:nvCxnSpPr>
            <p:spPr>
              <a:xfrm rot="10800000">
                <a:off x="5434488" y="2685722"/>
                <a:ext cx="0" cy="663782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85" name="Google Shape;485;p13"/>
              <p:cNvSpPr txBox="1"/>
              <p:nvPr/>
            </p:nvSpPr>
            <p:spPr>
              <a:xfrm>
                <a:off x="5261506" y="2333795"/>
                <a:ext cx="460230" cy="338554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-14811"/>
                </a:stretch>
              </a:blipFill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r>
                  <a:rPr lang="en-US" sz="135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800"/>
              </a:p>
            </p:txBody>
          </p:sp>
          <p:cxnSp>
            <p:nvCxnSpPr>
              <p:cNvPr id="486" name="Google Shape;486;p13"/>
              <p:cNvCxnSpPr/>
              <p:nvPr/>
            </p:nvCxnSpPr>
            <p:spPr>
              <a:xfrm rot="10800000">
                <a:off x="6040837" y="2686541"/>
                <a:ext cx="0" cy="663782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87" name="Google Shape;487;p13"/>
              <p:cNvSpPr txBox="1"/>
              <p:nvPr/>
            </p:nvSpPr>
            <p:spPr>
              <a:xfrm>
                <a:off x="5867855" y="2334614"/>
                <a:ext cx="460230" cy="338554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14811"/>
                </a:stretch>
              </a:blipFill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r>
                  <a:rPr lang="en-US" sz="135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800"/>
              </a:p>
            </p:txBody>
          </p:sp>
          <p:cxnSp>
            <p:nvCxnSpPr>
              <p:cNvPr id="488" name="Google Shape;488;p13"/>
              <p:cNvCxnSpPr/>
              <p:nvPr/>
            </p:nvCxnSpPr>
            <p:spPr>
              <a:xfrm rot="10800000">
                <a:off x="6649411" y="2695041"/>
                <a:ext cx="0" cy="663782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89" name="Google Shape;489;p13"/>
              <p:cNvSpPr txBox="1"/>
              <p:nvPr/>
            </p:nvSpPr>
            <p:spPr>
              <a:xfrm>
                <a:off x="6476429" y="2343114"/>
                <a:ext cx="460230" cy="338554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14284"/>
                </a:stretch>
              </a:blipFill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r>
                  <a:rPr lang="en-US" sz="135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800"/>
              </a:p>
            </p:txBody>
          </p:sp>
          <p:cxnSp>
            <p:nvCxnSpPr>
              <p:cNvPr id="490" name="Google Shape;490;p13"/>
              <p:cNvCxnSpPr/>
              <p:nvPr/>
            </p:nvCxnSpPr>
            <p:spPr>
              <a:xfrm rot="10800000">
                <a:off x="7266702" y="2695041"/>
                <a:ext cx="0" cy="663782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91" name="Google Shape;491;p13"/>
              <p:cNvSpPr txBox="1"/>
              <p:nvPr/>
            </p:nvSpPr>
            <p:spPr>
              <a:xfrm>
                <a:off x="7093720" y="2343114"/>
                <a:ext cx="460230" cy="338554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-14284"/>
                </a:stretch>
              </a:blipFill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r>
                  <a:rPr lang="en-US" sz="135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800"/>
              </a:p>
            </p:txBody>
          </p:sp>
          <p:cxnSp>
            <p:nvCxnSpPr>
              <p:cNvPr id="492" name="Google Shape;492;p13"/>
              <p:cNvCxnSpPr/>
              <p:nvPr/>
            </p:nvCxnSpPr>
            <p:spPr>
              <a:xfrm rot="10800000">
                <a:off x="7846649" y="2695651"/>
                <a:ext cx="0" cy="663782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93" name="Google Shape;493;p13"/>
              <p:cNvSpPr txBox="1"/>
              <p:nvPr/>
            </p:nvSpPr>
            <p:spPr>
              <a:xfrm>
                <a:off x="7673667" y="2343724"/>
                <a:ext cx="460230" cy="338554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r>
                  <a:rPr lang="en-US" sz="135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800"/>
              </a:p>
            </p:txBody>
          </p:sp>
        </p:grpSp>
      </p:grpSp>
      <p:grpSp>
        <p:nvGrpSpPr>
          <p:cNvPr id="494" name="Google Shape;494;p13"/>
          <p:cNvGrpSpPr/>
          <p:nvPr/>
        </p:nvGrpSpPr>
        <p:grpSpPr>
          <a:xfrm>
            <a:off x="4146591" y="1010624"/>
            <a:ext cx="3104924" cy="793991"/>
            <a:chOff x="4004782" y="1318614"/>
            <a:chExt cx="4139898" cy="1058655"/>
          </a:xfrm>
        </p:grpSpPr>
        <p:cxnSp>
          <p:nvCxnSpPr>
            <p:cNvPr id="495" name="Google Shape;495;p13"/>
            <p:cNvCxnSpPr/>
            <p:nvPr/>
          </p:nvCxnSpPr>
          <p:spPr>
            <a:xfrm rot="10800000">
              <a:off x="4204325" y="1706636"/>
              <a:ext cx="0" cy="663782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96" name="Google Shape;496;p13"/>
            <p:cNvSpPr txBox="1"/>
            <p:nvPr/>
          </p:nvSpPr>
          <p:spPr>
            <a:xfrm>
              <a:off x="4004782" y="1369058"/>
              <a:ext cx="460230" cy="338554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-15381"/>
              </a:stretch>
            </a:blipFill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35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800"/>
            </a:p>
          </p:txBody>
        </p:sp>
        <p:cxnSp>
          <p:nvCxnSpPr>
            <p:cNvPr id="497" name="Google Shape;497;p13"/>
            <p:cNvCxnSpPr/>
            <p:nvPr/>
          </p:nvCxnSpPr>
          <p:spPr>
            <a:xfrm rot="10800000">
              <a:off x="4823272" y="1713487"/>
              <a:ext cx="0" cy="663782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98" name="Google Shape;498;p13"/>
            <p:cNvSpPr txBox="1"/>
            <p:nvPr/>
          </p:nvSpPr>
          <p:spPr>
            <a:xfrm>
              <a:off x="4623729" y="1375909"/>
              <a:ext cx="460230" cy="338554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14811"/>
              </a:stretch>
            </a:blipFill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35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800"/>
            </a:p>
          </p:txBody>
        </p:sp>
        <p:cxnSp>
          <p:nvCxnSpPr>
            <p:cNvPr id="499" name="Google Shape;499;p13"/>
            <p:cNvCxnSpPr/>
            <p:nvPr/>
          </p:nvCxnSpPr>
          <p:spPr>
            <a:xfrm rot="10800000">
              <a:off x="5434488" y="1703524"/>
              <a:ext cx="0" cy="663782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00" name="Google Shape;500;p13"/>
            <p:cNvSpPr txBox="1"/>
            <p:nvPr/>
          </p:nvSpPr>
          <p:spPr>
            <a:xfrm>
              <a:off x="5234945" y="1365946"/>
              <a:ext cx="460230" cy="338554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15381"/>
              </a:stretch>
            </a:blipFill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35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800"/>
            </a:p>
          </p:txBody>
        </p:sp>
        <p:cxnSp>
          <p:nvCxnSpPr>
            <p:cNvPr id="501" name="Google Shape;501;p13"/>
            <p:cNvCxnSpPr/>
            <p:nvPr/>
          </p:nvCxnSpPr>
          <p:spPr>
            <a:xfrm rot="10800000">
              <a:off x="6040837" y="1704343"/>
              <a:ext cx="0" cy="663782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02" name="Google Shape;502;p13"/>
            <p:cNvSpPr txBox="1"/>
            <p:nvPr/>
          </p:nvSpPr>
          <p:spPr>
            <a:xfrm>
              <a:off x="5841294" y="1366765"/>
              <a:ext cx="460230" cy="338554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-15381"/>
              </a:stretch>
            </a:blipFill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35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800"/>
            </a:p>
          </p:txBody>
        </p:sp>
        <p:cxnSp>
          <p:nvCxnSpPr>
            <p:cNvPr id="503" name="Google Shape;503;p13"/>
            <p:cNvCxnSpPr/>
            <p:nvPr/>
          </p:nvCxnSpPr>
          <p:spPr>
            <a:xfrm rot="10800000">
              <a:off x="6649411" y="1712843"/>
              <a:ext cx="0" cy="663782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04" name="Google Shape;504;p13"/>
            <p:cNvSpPr txBox="1"/>
            <p:nvPr/>
          </p:nvSpPr>
          <p:spPr>
            <a:xfrm>
              <a:off x="6449868" y="1375265"/>
              <a:ext cx="460230" cy="338554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-14811"/>
              </a:stretch>
            </a:blipFill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35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800"/>
            </a:p>
          </p:txBody>
        </p:sp>
        <p:cxnSp>
          <p:nvCxnSpPr>
            <p:cNvPr id="505" name="Google Shape;505;p13"/>
            <p:cNvCxnSpPr/>
            <p:nvPr/>
          </p:nvCxnSpPr>
          <p:spPr>
            <a:xfrm rot="10800000">
              <a:off x="7266702" y="1712843"/>
              <a:ext cx="0" cy="663782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06" name="Google Shape;506;p13"/>
            <p:cNvSpPr txBox="1"/>
            <p:nvPr/>
          </p:nvSpPr>
          <p:spPr>
            <a:xfrm>
              <a:off x="7067159" y="1375265"/>
              <a:ext cx="460230" cy="338554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-14811"/>
              </a:stretch>
            </a:blipFill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35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800"/>
            </a:p>
          </p:txBody>
        </p:sp>
        <p:cxnSp>
          <p:nvCxnSpPr>
            <p:cNvPr id="507" name="Google Shape;507;p13"/>
            <p:cNvCxnSpPr/>
            <p:nvPr/>
          </p:nvCxnSpPr>
          <p:spPr>
            <a:xfrm rot="10800000">
              <a:off x="7846649" y="1713453"/>
              <a:ext cx="0" cy="663782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08" name="Google Shape;508;p13"/>
            <p:cNvSpPr txBox="1"/>
            <p:nvPr/>
          </p:nvSpPr>
          <p:spPr>
            <a:xfrm>
              <a:off x="7684450" y="1318614"/>
              <a:ext cx="460230" cy="338554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-14811"/>
              </a:stretch>
            </a:blipFill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35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800"/>
            </a:p>
          </p:txBody>
        </p:sp>
      </p:grpSp>
      <p:grpSp>
        <p:nvGrpSpPr>
          <p:cNvPr id="509" name="Google Shape;509;p13"/>
          <p:cNvGrpSpPr/>
          <p:nvPr/>
        </p:nvGrpSpPr>
        <p:grpSpPr>
          <a:xfrm>
            <a:off x="1856849" y="1349025"/>
            <a:ext cx="5203686" cy="1550092"/>
            <a:chOff x="951799" y="1702440"/>
            <a:chExt cx="6938248" cy="2066789"/>
          </a:xfrm>
        </p:grpSpPr>
        <p:cxnSp>
          <p:nvCxnSpPr>
            <p:cNvPr id="510" name="Google Shape;510;p13"/>
            <p:cNvCxnSpPr/>
            <p:nvPr/>
          </p:nvCxnSpPr>
          <p:spPr>
            <a:xfrm rot="10800000">
              <a:off x="951799" y="3745367"/>
              <a:ext cx="6938248" cy="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76200" cap="flat" cmpd="sng">
              <a:solidFill>
                <a:srgbClr val="3A87FF">
                  <a:alpha val="42352"/>
                </a:srgbClr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511" name="Google Shape;511;p13"/>
            <p:cNvCxnSpPr/>
            <p:nvPr/>
          </p:nvCxnSpPr>
          <p:spPr>
            <a:xfrm>
              <a:off x="4204325" y="1705552"/>
              <a:ext cx="0" cy="2056826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76200" cap="flat" cmpd="sng">
              <a:solidFill>
                <a:srgbClr val="3A87FF">
                  <a:alpha val="42352"/>
                </a:srgbClr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512" name="Google Shape;512;p13"/>
            <p:cNvCxnSpPr/>
            <p:nvPr/>
          </p:nvCxnSpPr>
          <p:spPr>
            <a:xfrm>
              <a:off x="4823272" y="1712403"/>
              <a:ext cx="0" cy="2056826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76200" cap="flat" cmpd="sng">
              <a:solidFill>
                <a:srgbClr val="3A87FF">
                  <a:alpha val="42352"/>
                </a:srgbClr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513" name="Google Shape;513;p13"/>
            <p:cNvCxnSpPr/>
            <p:nvPr/>
          </p:nvCxnSpPr>
          <p:spPr>
            <a:xfrm>
              <a:off x="5434488" y="1702440"/>
              <a:ext cx="0" cy="20568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76200" cap="flat" cmpd="sng">
              <a:solidFill>
                <a:srgbClr val="3A87FF">
                  <a:alpha val="42352"/>
                </a:srgbClr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514" name="Google Shape;514;p13"/>
            <p:cNvCxnSpPr/>
            <p:nvPr/>
          </p:nvCxnSpPr>
          <p:spPr>
            <a:xfrm>
              <a:off x="6040837" y="1703259"/>
              <a:ext cx="0" cy="2056826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76200" cap="flat" cmpd="sng">
              <a:solidFill>
                <a:srgbClr val="3A87FF">
                  <a:alpha val="42352"/>
                </a:srgbClr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515" name="Google Shape;515;p13"/>
            <p:cNvCxnSpPr/>
            <p:nvPr/>
          </p:nvCxnSpPr>
          <p:spPr>
            <a:xfrm>
              <a:off x="6649411" y="1711759"/>
              <a:ext cx="0" cy="2056826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76200" cap="flat" cmpd="sng">
              <a:solidFill>
                <a:srgbClr val="3A87FF">
                  <a:alpha val="42352"/>
                </a:srgbClr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516" name="Google Shape;516;p13"/>
            <p:cNvCxnSpPr/>
            <p:nvPr/>
          </p:nvCxnSpPr>
          <p:spPr>
            <a:xfrm>
              <a:off x="7266702" y="1711759"/>
              <a:ext cx="0" cy="2056826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76200" cap="flat" cmpd="sng">
              <a:solidFill>
                <a:srgbClr val="3A87FF">
                  <a:alpha val="42352"/>
                </a:srgbClr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517" name="Google Shape;517;p13"/>
            <p:cNvCxnSpPr/>
            <p:nvPr/>
          </p:nvCxnSpPr>
          <p:spPr>
            <a:xfrm>
              <a:off x="7846649" y="1712369"/>
              <a:ext cx="0" cy="2056826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76200" cap="flat" cmpd="sng">
              <a:solidFill>
                <a:srgbClr val="3A87FF">
                  <a:alpha val="42352"/>
                </a:srgbClr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</p:grpSp>
      <p:grpSp>
        <p:nvGrpSpPr>
          <p:cNvPr id="518" name="Google Shape;518;p13"/>
          <p:cNvGrpSpPr/>
          <p:nvPr/>
        </p:nvGrpSpPr>
        <p:grpSpPr>
          <a:xfrm>
            <a:off x="4321731" y="559206"/>
            <a:ext cx="920362" cy="738914"/>
            <a:chOff x="3649733" y="720335"/>
            <a:chExt cx="1227149" cy="985217"/>
          </a:xfrm>
        </p:grpSpPr>
        <p:sp>
          <p:nvSpPr>
            <p:cNvPr id="519" name="Google Shape;519;p13"/>
            <p:cNvSpPr txBox="1"/>
            <p:nvPr/>
          </p:nvSpPr>
          <p:spPr>
            <a:xfrm>
              <a:off x="3649733" y="720335"/>
              <a:ext cx="122714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800" dirty="0">
                  <a:latin typeface="Calibri"/>
                  <a:ea typeface="Calibri"/>
                  <a:cs typeface="Calibri"/>
                  <a:sym typeface="Calibri"/>
                </a:rPr>
                <a:t>= </a:t>
              </a:r>
              <a:r>
                <a:rPr lang="en-US" sz="900" dirty="0">
                  <a:latin typeface="Calibri"/>
                  <a:ea typeface="Calibri"/>
                  <a:cs typeface="Calibri"/>
                  <a:sym typeface="Calibri"/>
                </a:rPr>
                <a:t>negative log </a:t>
              </a:r>
              <a:br>
                <a:rPr lang="en-US" sz="900" dirty="0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900" dirty="0" err="1">
                  <a:latin typeface="Calibri"/>
                  <a:ea typeface="Calibri"/>
                  <a:cs typeface="Calibri"/>
                  <a:sym typeface="Calibri"/>
                </a:rPr>
                <a:t>prob</a:t>
              </a:r>
              <a:r>
                <a:rPr lang="en-US" sz="900" dirty="0">
                  <a:latin typeface="Calibri"/>
                  <a:ea typeface="Calibri"/>
                  <a:cs typeface="Calibri"/>
                  <a:sym typeface="Calibri"/>
                </a:rPr>
                <a:t> of “the”</a:t>
              </a:r>
              <a:endParaRPr sz="900" dirty="0"/>
            </a:p>
          </p:txBody>
        </p:sp>
        <p:sp>
          <p:nvSpPr>
            <p:cNvPr id="520" name="Google Shape;520;p13"/>
            <p:cNvSpPr/>
            <p:nvPr/>
          </p:nvSpPr>
          <p:spPr>
            <a:xfrm>
              <a:off x="3986919" y="1379463"/>
              <a:ext cx="434811" cy="326089"/>
            </a:xfrm>
            <a:prstGeom prst="rect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1" name="Google Shape;521;p13"/>
          <p:cNvGrpSpPr/>
          <p:nvPr/>
        </p:nvGrpSpPr>
        <p:grpSpPr>
          <a:xfrm>
            <a:off x="2471093" y="923556"/>
            <a:ext cx="4731022" cy="607955"/>
            <a:chOff x="1770783" y="1135146"/>
            <a:chExt cx="6308029" cy="810607"/>
          </a:xfrm>
        </p:grpSpPr>
        <p:sp>
          <p:nvSpPr>
            <p:cNvPr id="522" name="Google Shape;522;p13"/>
            <p:cNvSpPr txBox="1"/>
            <p:nvPr/>
          </p:nvSpPr>
          <p:spPr>
            <a:xfrm>
              <a:off x="1770783" y="1135146"/>
              <a:ext cx="1662268" cy="810607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t="-92287" r="-755" b="-143046"/>
              </a:stretch>
            </a:blipFill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35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800"/>
            </a:p>
          </p:txBody>
        </p:sp>
        <p:sp>
          <p:nvSpPr>
            <p:cNvPr id="523" name="Google Shape;523;p13"/>
            <p:cNvSpPr txBox="1"/>
            <p:nvPr/>
          </p:nvSpPr>
          <p:spPr>
            <a:xfrm>
              <a:off x="3376700" y="1372915"/>
              <a:ext cx="4702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3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=                 +          +         +         +          +         +</a:t>
              </a:r>
              <a:endParaRPr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4" name="Google Shape;524;p13"/>
          <p:cNvGrpSpPr/>
          <p:nvPr/>
        </p:nvGrpSpPr>
        <p:grpSpPr>
          <a:xfrm>
            <a:off x="6646153" y="537336"/>
            <a:ext cx="1020968" cy="727716"/>
            <a:chOff x="4325517" y="855562"/>
            <a:chExt cx="1361290" cy="970288"/>
          </a:xfrm>
        </p:grpSpPr>
        <p:sp>
          <p:nvSpPr>
            <p:cNvPr id="525" name="Google Shape;525;p13"/>
            <p:cNvSpPr txBox="1"/>
            <p:nvPr/>
          </p:nvSpPr>
          <p:spPr>
            <a:xfrm>
              <a:off x="4325517" y="855562"/>
              <a:ext cx="136129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800" dirty="0">
                  <a:latin typeface="Calibri"/>
                  <a:ea typeface="Calibri"/>
                  <a:cs typeface="Calibri"/>
                  <a:sym typeface="Calibri"/>
                </a:rPr>
                <a:t>= </a:t>
              </a:r>
              <a:r>
                <a:rPr lang="en-US" sz="1100" dirty="0">
                  <a:latin typeface="Calibri"/>
                  <a:ea typeface="Calibri"/>
                  <a:cs typeface="Calibri"/>
                  <a:sym typeface="Calibri"/>
                </a:rPr>
                <a:t>negative log </a:t>
              </a:r>
              <a:br>
                <a:rPr lang="en-US" sz="1100" dirty="0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dirty="0" err="1">
                  <a:latin typeface="Calibri"/>
                  <a:ea typeface="Calibri"/>
                  <a:cs typeface="Calibri"/>
                  <a:sym typeface="Calibri"/>
                </a:rPr>
                <a:t>prob</a:t>
              </a:r>
              <a:r>
                <a:rPr lang="en-US" sz="1100" dirty="0">
                  <a:latin typeface="Calibri"/>
                  <a:ea typeface="Calibri"/>
                  <a:cs typeface="Calibri"/>
                  <a:sym typeface="Calibri"/>
                </a:rPr>
                <a:t> of &lt;END&gt;</a:t>
              </a:r>
              <a:endParaRPr sz="1100" dirty="0"/>
            </a:p>
          </p:txBody>
        </p:sp>
        <p:sp>
          <p:nvSpPr>
            <p:cNvPr id="526" name="Google Shape;526;p13"/>
            <p:cNvSpPr/>
            <p:nvPr/>
          </p:nvSpPr>
          <p:spPr>
            <a:xfrm>
              <a:off x="4759163" y="1499761"/>
              <a:ext cx="434811" cy="326089"/>
            </a:xfrm>
            <a:prstGeom prst="rect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13"/>
          <p:cNvGrpSpPr/>
          <p:nvPr/>
        </p:nvGrpSpPr>
        <p:grpSpPr>
          <a:xfrm>
            <a:off x="5616913" y="569031"/>
            <a:ext cx="955340" cy="743669"/>
            <a:chOff x="4126148" y="761782"/>
            <a:chExt cx="1273787" cy="991558"/>
          </a:xfrm>
        </p:grpSpPr>
        <p:sp>
          <p:nvSpPr>
            <p:cNvPr id="528" name="Google Shape;528;p13"/>
            <p:cNvSpPr txBox="1"/>
            <p:nvPr/>
          </p:nvSpPr>
          <p:spPr>
            <a:xfrm>
              <a:off x="4126148" y="761782"/>
              <a:ext cx="12737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800" dirty="0">
                  <a:latin typeface="Calibri"/>
                  <a:ea typeface="Calibri"/>
                  <a:cs typeface="Calibri"/>
                  <a:sym typeface="Calibri"/>
                </a:rPr>
                <a:t>= </a:t>
              </a:r>
              <a:r>
                <a:rPr lang="en-US" sz="1000" dirty="0">
                  <a:latin typeface="Calibri"/>
                  <a:ea typeface="Calibri"/>
                  <a:cs typeface="Calibri"/>
                  <a:sym typeface="Calibri"/>
                </a:rPr>
                <a:t>negative log </a:t>
              </a:r>
              <a:br>
                <a:rPr lang="en-US" sz="1000" dirty="0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000" dirty="0" err="1">
                  <a:latin typeface="Calibri"/>
                  <a:ea typeface="Calibri"/>
                  <a:cs typeface="Calibri"/>
                  <a:sym typeface="Calibri"/>
                </a:rPr>
                <a:t>prob</a:t>
              </a:r>
              <a:r>
                <a:rPr lang="en-US" sz="1000" dirty="0">
                  <a:latin typeface="Calibri"/>
                  <a:ea typeface="Calibri"/>
                  <a:cs typeface="Calibri"/>
                  <a:sym typeface="Calibri"/>
                </a:rPr>
                <a:t> of “have”</a:t>
              </a:r>
              <a:endParaRPr sz="1000" dirty="0"/>
            </a:p>
          </p:txBody>
        </p:sp>
        <p:sp>
          <p:nvSpPr>
            <p:cNvPr id="529" name="Google Shape;529;p13"/>
            <p:cNvSpPr/>
            <p:nvPr/>
          </p:nvSpPr>
          <p:spPr>
            <a:xfrm>
              <a:off x="4574057" y="1427251"/>
              <a:ext cx="434811" cy="326089"/>
            </a:xfrm>
            <a:prstGeom prst="rect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025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5"/>
          <p:cNvSpPr txBox="1">
            <a:spLocks noGrp="1"/>
          </p:cNvSpPr>
          <p:nvPr>
            <p:ph type="title"/>
          </p:nvPr>
        </p:nvSpPr>
        <p:spPr>
          <a:xfrm>
            <a:off x="563079" y="0"/>
            <a:ext cx="4594800" cy="74355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7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Better-than-greedy decoding?</a:t>
            </a:r>
            <a:endParaRPr sz="2700" dirty="0"/>
          </a:p>
        </p:txBody>
      </p:sp>
      <p:sp>
        <p:nvSpPr>
          <p:cNvPr id="642" name="Google Shape;642;p15"/>
          <p:cNvSpPr txBox="1">
            <a:spLocks noGrp="1"/>
          </p:cNvSpPr>
          <p:nvPr>
            <p:ph type="body" idx="1"/>
          </p:nvPr>
        </p:nvSpPr>
        <p:spPr>
          <a:xfrm>
            <a:off x="642486" y="1039529"/>
            <a:ext cx="6887027" cy="359319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257156" indent="-257156">
              <a:spcBef>
                <a:spcPts val="0"/>
              </a:spcBef>
              <a:buSzPts val="2400"/>
              <a:buFont typeface="Times"/>
              <a:buChar char="•"/>
            </a:pP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Greedy decoding has no way to undo decisions! </a:t>
            </a:r>
            <a:endParaRPr sz="1800"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15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</a:t>
            </a:r>
            <a:r>
              <a:rPr lang="en-US" sz="15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pauvres</a:t>
            </a:r>
            <a:r>
              <a:rPr lang="en-US" sz="15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sont</a:t>
            </a:r>
            <a:r>
              <a:rPr lang="en-US" sz="15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démunis</a:t>
            </a:r>
            <a:r>
              <a:rPr lang="en-US" sz="15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(the poor don’t have any money)</a:t>
            </a:r>
            <a:endParaRPr sz="1500"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15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the ____</a:t>
            </a:r>
            <a:endParaRPr sz="1500"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15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the poor ____</a:t>
            </a:r>
            <a:endParaRPr sz="1500"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15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the poor </a:t>
            </a:r>
            <a:r>
              <a:rPr lang="en-US" sz="1500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are</a:t>
            </a:r>
            <a:r>
              <a:rPr lang="en-US" sz="15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____</a:t>
            </a:r>
            <a:br>
              <a:rPr lang="en-US" sz="15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2100" b="1" dirty="0">
                <a:latin typeface="Calibri"/>
                <a:ea typeface="Calibri"/>
                <a:cs typeface="Calibri"/>
                <a:sym typeface="Calibri"/>
              </a:rPr>
              <a:t>Better option</a:t>
            </a: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: use </a:t>
            </a:r>
            <a:r>
              <a:rPr lang="en-US" sz="21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beam search </a:t>
            </a: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(a search algorithm) to explore </a:t>
            </a:r>
            <a:r>
              <a:rPr lang="en-US" sz="2100" i="1" dirty="0">
                <a:latin typeface="Calibri"/>
                <a:ea typeface="Calibri"/>
                <a:cs typeface="Calibri"/>
                <a:sym typeface="Calibri"/>
              </a:rPr>
              <a:t>several</a:t>
            </a: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 hypotheses and select the best one</a:t>
            </a:r>
            <a:endParaRPr sz="1800" dirty="0"/>
          </a:p>
          <a:p>
            <a:pPr marL="257156" indent="-142865">
              <a:spcBef>
                <a:spcPts val="360"/>
              </a:spcBef>
              <a:buSzPts val="2400"/>
              <a:buNone/>
            </a:pPr>
            <a:endParaRPr sz="2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5"/>
          <p:cNvSpPr txBox="1">
            <a:spLocks noGrp="1"/>
          </p:cNvSpPr>
          <p:nvPr>
            <p:ph type="sldNum" idx="12"/>
          </p:nvPr>
        </p:nvSpPr>
        <p:spPr>
          <a:xfrm>
            <a:off x="7148713" y="4654858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14</a:t>
            </a:fld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405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"/>
          <p:cNvSpPr txBox="1">
            <a:spLocks noGrp="1"/>
          </p:cNvSpPr>
          <p:nvPr>
            <p:ph type="title"/>
          </p:nvPr>
        </p:nvSpPr>
        <p:spPr>
          <a:xfrm>
            <a:off x="591955" y="1"/>
            <a:ext cx="4565924" cy="7002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 smtClean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Decoder based on Beam </a:t>
            </a: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dirty="0"/>
          </a:p>
        </p:txBody>
      </p:sp>
      <p:sp>
        <p:nvSpPr>
          <p:cNvPr id="649" name="Google Shape;649;p16"/>
          <p:cNvSpPr txBox="1">
            <a:spLocks noGrp="1"/>
          </p:cNvSpPr>
          <p:nvPr>
            <p:ph type="body" idx="1"/>
          </p:nvPr>
        </p:nvSpPr>
        <p:spPr>
          <a:xfrm>
            <a:off x="512545" y="1215738"/>
            <a:ext cx="7146758" cy="35515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42" t="-735" r="-146"/>
            </a:stretch>
          </a:blipFill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257156" indent="-257156">
              <a:spcBef>
                <a:spcPts val="0"/>
              </a:spcBef>
              <a:buSzPts val="2400"/>
              <a:buFont typeface="Times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0" name="Google Shape;650;p16"/>
          <p:cNvSpPr txBox="1">
            <a:spLocks noGrp="1"/>
          </p:cNvSpPr>
          <p:nvPr>
            <p:ph type="sldNum" idx="12"/>
          </p:nvPr>
        </p:nvSpPr>
        <p:spPr>
          <a:xfrm>
            <a:off x="7271435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15</a:t>
            </a:fld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1" name="Google Shape;65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2491" y="1621319"/>
            <a:ext cx="5798917" cy="3408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554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7"/>
          <p:cNvSpPr txBox="1">
            <a:spLocks noGrp="1"/>
          </p:cNvSpPr>
          <p:nvPr>
            <p:ph type="title"/>
          </p:nvPr>
        </p:nvSpPr>
        <p:spPr>
          <a:xfrm>
            <a:off x="584735" y="0"/>
            <a:ext cx="4573144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dirty="0">
                <a:solidFill>
                  <a:srgbClr val="3A85FE"/>
                </a:solidFill>
                <a:ea typeface="Calibri"/>
                <a:cs typeface="Calibri"/>
                <a:sym typeface="Calibri"/>
              </a:rPr>
              <a:t>Decoder based on Beam search</a:t>
            </a:r>
            <a:r>
              <a:rPr lang="en-US" dirty="0" smtClean="0">
                <a:solidFill>
                  <a:srgbClr val="0066FF"/>
                </a:solidFill>
              </a:rPr>
              <a:t>: Example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657" name="Google Shape;657;p17"/>
          <p:cNvSpPr txBox="1">
            <a:spLocks noGrp="1"/>
          </p:cNvSpPr>
          <p:nvPr>
            <p:ph type="body" idx="1"/>
          </p:nvPr>
        </p:nvSpPr>
        <p:spPr>
          <a:xfrm>
            <a:off x="1394755" y="1051117"/>
            <a:ext cx="1247172" cy="3267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Beam size = 2</a:t>
            </a:r>
            <a:endParaRPr/>
          </a:p>
        </p:txBody>
      </p:sp>
      <p:sp>
        <p:nvSpPr>
          <p:cNvPr id="658" name="Google Shape;658;p17"/>
          <p:cNvSpPr txBox="1">
            <a:spLocks noGrp="1"/>
          </p:cNvSpPr>
          <p:nvPr>
            <p:ph type="sldNum" idx="12"/>
          </p:nvPr>
        </p:nvSpPr>
        <p:spPr>
          <a:xfrm>
            <a:off x="7170370" y="4738389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16</a:t>
            </a:fld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7"/>
          <p:cNvSpPr txBox="1"/>
          <p:nvPr/>
        </p:nvSpPr>
        <p:spPr>
          <a:xfrm>
            <a:off x="1143009" y="2784981"/>
            <a:ext cx="875333" cy="3267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84603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8"/>
          <p:cNvSpPr txBox="1">
            <a:spLocks noGrp="1"/>
          </p:cNvSpPr>
          <p:nvPr>
            <p:ph type="title"/>
          </p:nvPr>
        </p:nvSpPr>
        <p:spPr>
          <a:xfrm>
            <a:off x="642487" y="0"/>
            <a:ext cx="4515392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dirty="0">
                <a:solidFill>
                  <a:srgbClr val="3A85FE"/>
                </a:solidFill>
                <a:ea typeface="Calibri"/>
                <a:cs typeface="Calibri"/>
                <a:sym typeface="Calibri"/>
              </a:rPr>
              <a:t>Decoder based on Beam search</a:t>
            </a:r>
            <a:r>
              <a:rPr lang="en-US" dirty="0">
                <a:solidFill>
                  <a:srgbClr val="0066FF"/>
                </a:solidFill>
              </a:rPr>
              <a:t>: Example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665" name="Google Shape;665;p18"/>
          <p:cNvSpPr txBox="1">
            <a:spLocks noGrp="1"/>
          </p:cNvSpPr>
          <p:nvPr>
            <p:ph type="body" idx="1"/>
          </p:nvPr>
        </p:nvSpPr>
        <p:spPr>
          <a:xfrm>
            <a:off x="1322228" y="1092319"/>
            <a:ext cx="1247172" cy="3267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Beam size = 2</a:t>
            </a:r>
            <a:endParaRPr/>
          </a:p>
        </p:txBody>
      </p:sp>
      <p:sp>
        <p:nvSpPr>
          <p:cNvPr id="666" name="Google Shape;666;p18"/>
          <p:cNvSpPr txBox="1">
            <a:spLocks noGrp="1"/>
          </p:cNvSpPr>
          <p:nvPr>
            <p:ph type="sldNum" idx="12"/>
          </p:nvPr>
        </p:nvSpPr>
        <p:spPr>
          <a:xfrm>
            <a:off x="7098181" y="4745607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17</a:t>
            </a:fld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8"/>
          <p:cNvSpPr txBox="1"/>
          <p:nvPr/>
        </p:nvSpPr>
        <p:spPr>
          <a:xfrm>
            <a:off x="1143009" y="2784981"/>
            <a:ext cx="875333" cy="3267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800"/>
          </a:p>
        </p:txBody>
      </p:sp>
      <p:grpSp>
        <p:nvGrpSpPr>
          <p:cNvPr id="668" name="Google Shape;668;p18"/>
          <p:cNvGrpSpPr/>
          <p:nvPr/>
        </p:nvGrpSpPr>
        <p:grpSpPr>
          <a:xfrm>
            <a:off x="1580639" y="2086461"/>
            <a:ext cx="579126" cy="1724219"/>
            <a:chOff x="583518" y="2781936"/>
            <a:chExt cx="772168" cy="2298959"/>
          </a:xfrm>
        </p:grpSpPr>
        <p:sp>
          <p:nvSpPr>
            <p:cNvPr id="669" name="Google Shape;669;p18"/>
            <p:cNvSpPr txBox="1"/>
            <p:nvPr/>
          </p:nvSpPr>
          <p:spPr>
            <a:xfrm>
              <a:off x="785151" y="2781936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endParaRPr sz="1800"/>
            </a:p>
          </p:txBody>
        </p:sp>
        <p:sp>
          <p:nvSpPr>
            <p:cNvPr id="670" name="Google Shape;670;p18"/>
            <p:cNvSpPr txBox="1"/>
            <p:nvPr/>
          </p:nvSpPr>
          <p:spPr>
            <a:xfrm>
              <a:off x="785151" y="4645237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800"/>
            </a:p>
          </p:txBody>
        </p:sp>
        <p:cxnSp>
          <p:nvCxnSpPr>
            <p:cNvPr id="671" name="Google Shape;671;p18"/>
            <p:cNvCxnSpPr>
              <a:endCxn id="669" idx="2"/>
            </p:cNvCxnSpPr>
            <p:nvPr/>
          </p:nvCxnSpPr>
          <p:spPr>
            <a:xfrm rot="10800000" flipH="1">
              <a:off x="583518" y="3217594"/>
              <a:ext cx="486900" cy="495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72" name="Google Shape;672;p18"/>
            <p:cNvCxnSpPr>
              <a:endCxn id="670" idx="0"/>
            </p:cNvCxnSpPr>
            <p:nvPr/>
          </p:nvCxnSpPr>
          <p:spPr>
            <a:xfrm>
              <a:off x="583518" y="4149037"/>
              <a:ext cx="486900" cy="496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00350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9"/>
          <p:cNvSpPr txBox="1">
            <a:spLocks noGrp="1"/>
          </p:cNvSpPr>
          <p:nvPr>
            <p:ph type="title"/>
          </p:nvPr>
        </p:nvSpPr>
        <p:spPr>
          <a:xfrm>
            <a:off x="613611" y="0"/>
            <a:ext cx="4551487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dirty="0">
                <a:solidFill>
                  <a:srgbClr val="3A85FE"/>
                </a:solidFill>
                <a:ea typeface="Calibri"/>
                <a:cs typeface="Calibri"/>
                <a:sym typeface="Calibri"/>
              </a:rPr>
              <a:t>Decoder based on Beam search</a:t>
            </a:r>
            <a:r>
              <a:rPr lang="en-US" dirty="0">
                <a:solidFill>
                  <a:srgbClr val="0066FF"/>
                </a:solidFill>
              </a:rPr>
              <a:t>: Example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678" name="Google Shape;678;p19"/>
          <p:cNvSpPr txBox="1">
            <a:spLocks noGrp="1"/>
          </p:cNvSpPr>
          <p:nvPr>
            <p:ph type="body" idx="1"/>
          </p:nvPr>
        </p:nvSpPr>
        <p:spPr>
          <a:xfrm>
            <a:off x="1322233" y="969876"/>
            <a:ext cx="1247172" cy="3267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Beam size = 2</a:t>
            </a:r>
            <a:endParaRPr/>
          </a:p>
        </p:txBody>
      </p:sp>
      <p:sp>
        <p:nvSpPr>
          <p:cNvPr id="679" name="Google Shape;679;p19"/>
          <p:cNvSpPr txBox="1">
            <a:spLocks noGrp="1"/>
          </p:cNvSpPr>
          <p:nvPr>
            <p:ph type="sldNum" idx="12"/>
          </p:nvPr>
        </p:nvSpPr>
        <p:spPr>
          <a:xfrm>
            <a:off x="7069305" y="4673418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18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0" name="Google Shape;680;p19"/>
          <p:cNvGrpSpPr/>
          <p:nvPr/>
        </p:nvGrpSpPr>
        <p:grpSpPr>
          <a:xfrm>
            <a:off x="2159771" y="1887296"/>
            <a:ext cx="1133050" cy="2114067"/>
            <a:chOff x="1355686" y="2516395"/>
            <a:chExt cx="1510733" cy="2818756"/>
          </a:xfrm>
        </p:grpSpPr>
        <p:sp>
          <p:nvSpPr>
            <p:cNvPr id="681" name="Google Shape;681;p19"/>
            <p:cNvSpPr txBox="1"/>
            <p:nvPr/>
          </p:nvSpPr>
          <p:spPr>
            <a:xfrm>
              <a:off x="1749461" y="251639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sp>
          <p:nvSpPr>
            <p:cNvPr id="682" name="Google Shape;682;p19"/>
            <p:cNvSpPr txBox="1"/>
            <p:nvPr/>
          </p:nvSpPr>
          <p:spPr>
            <a:xfrm>
              <a:off x="1749461" y="304293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people</a:t>
              </a:r>
              <a:endParaRPr sz="1800"/>
            </a:p>
          </p:txBody>
        </p:sp>
        <p:sp>
          <p:nvSpPr>
            <p:cNvPr id="683" name="Google Shape;683;p19"/>
            <p:cNvSpPr txBox="1"/>
            <p:nvPr/>
          </p:nvSpPr>
          <p:spPr>
            <a:xfrm>
              <a:off x="1749461" y="437295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sp>
          <p:nvSpPr>
            <p:cNvPr id="684" name="Google Shape;684;p19"/>
            <p:cNvSpPr txBox="1"/>
            <p:nvPr/>
          </p:nvSpPr>
          <p:spPr>
            <a:xfrm>
              <a:off x="1749461" y="489949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person</a:t>
              </a:r>
              <a:endParaRPr sz="1800"/>
            </a:p>
          </p:txBody>
        </p:sp>
        <p:cxnSp>
          <p:nvCxnSpPr>
            <p:cNvPr id="685" name="Google Shape;685;p19"/>
            <p:cNvCxnSpPr>
              <a:stCxn id="686" idx="3"/>
              <a:endCxn id="681" idx="1"/>
            </p:cNvCxnSpPr>
            <p:nvPr/>
          </p:nvCxnSpPr>
          <p:spPr>
            <a:xfrm rot="10800000" flipH="1">
              <a:off x="1355686" y="2734275"/>
              <a:ext cx="393900" cy="2655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87" name="Google Shape;687;p19"/>
            <p:cNvCxnSpPr>
              <a:stCxn id="686" idx="3"/>
              <a:endCxn id="682" idx="1"/>
            </p:cNvCxnSpPr>
            <p:nvPr/>
          </p:nvCxnSpPr>
          <p:spPr>
            <a:xfrm>
              <a:off x="1355686" y="2999775"/>
              <a:ext cx="393900" cy="2610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88" name="Google Shape;688;p19"/>
            <p:cNvCxnSpPr>
              <a:stCxn id="689" idx="3"/>
              <a:endCxn id="683" idx="1"/>
            </p:cNvCxnSpPr>
            <p:nvPr/>
          </p:nvCxnSpPr>
          <p:spPr>
            <a:xfrm rot="10800000" flipH="1">
              <a:off x="1355686" y="4590676"/>
              <a:ext cx="393900" cy="2724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90" name="Google Shape;690;p19"/>
            <p:cNvCxnSpPr>
              <a:stCxn id="689" idx="3"/>
              <a:endCxn id="684" idx="1"/>
            </p:cNvCxnSpPr>
            <p:nvPr/>
          </p:nvCxnSpPr>
          <p:spPr>
            <a:xfrm>
              <a:off x="1355686" y="4863076"/>
              <a:ext cx="393900" cy="254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691" name="Google Shape;691;p19"/>
          <p:cNvSpPr txBox="1"/>
          <p:nvPr/>
        </p:nvSpPr>
        <p:spPr>
          <a:xfrm>
            <a:off x="1143009" y="2784981"/>
            <a:ext cx="875333" cy="3267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800"/>
          </a:p>
        </p:txBody>
      </p:sp>
      <p:grpSp>
        <p:nvGrpSpPr>
          <p:cNvPr id="692" name="Google Shape;692;p19"/>
          <p:cNvGrpSpPr/>
          <p:nvPr/>
        </p:nvGrpSpPr>
        <p:grpSpPr>
          <a:xfrm>
            <a:off x="1580676" y="2086461"/>
            <a:ext cx="579095" cy="1724219"/>
            <a:chOff x="583560" y="2781936"/>
            <a:chExt cx="772126" cy="2298959"/>
          </a:xfrm>
        </p:grpSpPr>
        <p:sp>
          <p:nvSpPr>
            <p:cNvPr id="686" name="Google Shape;686;p19"/>
            <p:cNvSpPr txBox="1"/>
            <p:nvPr/>
          </p:nvSpPr>
          <p:spPr>
            <a:xfrm>
              <a:off x="785151" y="2781936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endParaRPr sz="1800"/>
            </a:p>
          </p:txBody>
        </p:sp>
        <p:sp>
          <p:nvSpPr>
            <p:cNvPr id="689" name="Google Shape;689;p19"/>
            <p:cNvSpPr txBox="1"/>
            <p:nvPr/>
          </p:nvSpPr>
          <p:spPr>
            <a:xfrm>
              <a:off x="785151" y="4645237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800"/>
            </a:p>
          </p:txBody>
        </p:sp>
        <p:cxnSp>
          <p:nvCxnSpPr>
            <p:cNvPr id="693" name="Google Shape;693;p19"/>
            <p:cNvCxnSpPr>
              <a:stCxn id="691" idx="0"/>
              <a:endCxn id="686" idx="2"/>
            </p:cNvCxnSpPr>
            <p:nvPr/>
          </p:nvCxnSpPr>
          <p:spPr>
            <a:xfrm rot="10800000" flipH="1">
              <a:off x="583560" y="3217696"/>
              <a:ext cx="486900" cy="495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94" name="Google Shape;694;p19"/>
            <p:cNvCxnSpPr>
              <a:stCxn id="691" idx="2"/>
              <a:endCxn id="689" idx="0"/>
            </p:cNvCxnSpPr>
            <p:nvPr/>
          </p:nvCxnSpPr>
          <p:spPr>
            <a:xfrm>
              <a:off x="583560" y="4148955"/>
              <a:ext cx="486900" cy="496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729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0"/>
          <p:cNvSpPr txBox="1">
            <a:spLocks noGrp="1"/>
          </p:cNvSpPr>
          <p:nvPr>
            <p:ph type="title"/>
          </p:nvPr>
        </p:nvSpPr>
        <p:spPr>
          <a:xfrm>
            <a:off x="628049" y="0"/>
            <a:ext cx="4529830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dirty="0">
                <a:solidFill>
                  <a:srgbClr val="3A85FE"/>
                </a:solidFill>
                <a:ea typeface="Calibri"/>
                <a:cs typeface="Calibri"/>
                <a:sym typeface="Calibri"/>
              </a:rPr>
              <a:t>Decoder based on Beam search</a:t>
            </a:r>
            <a:r>
              <a:rPr lang="en-US" dirty="0">
                <a:solidFill>
                  <a:srgbClr val="0066FF"/>
                </a:solidFill>
              </a:rPr>
              <a:t>: Example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700" name="Google Shape;700;p20"/>
          <p:cNvSpPr txBox="1">
            <a:spLocks noGrp="1"/>
          </p:cNvSpPr>
          <p:nvPr>
            <p:ph type="body" idx="1"/>
          </p:nvPr>
        </p:nvSpPr>
        <p:spPr>
          <a:xfrm>
            <a:off x="1322233" y="987025"/>
            <a:ext cx="1247172" cy="3267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Beam size = 2</a:t>
            </a:r>
            <a:endParaRPr/>
          </a:p>
        </p:txBody>
      </p:sp>
      <p:sp>
        <p:nvSpPr>
          <p:cNvPr id="701" name="Google Shape;701;p20"/>
          <p:cNvSpPr txBox="1">
            <a:spLocks noGrp="1"/>
          </p:cNvSpPr>
          <p:nvPr>
            <p:ph type="sldNum" idx="12"/>
          </p:nvPr>
        </p:nvSpPr>
        <p:spPr>
          <a:xfrm>
            <a:off x="7127057" y="4673418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19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2" name="Google Shape;702;p20"/>
          <p:cNvGrpSpPr/>
          <p:nvPr/>
        </p:nvGrpSpPr>
        <p:grpSpPr>
          <a:xfrm>
            <a:off x="2159771" y="1887296"/>
            <a:ext cx="1133050" cy="2114067"/>
            <a:chOff x="1355686" y="2516395"/>
            <a:chExt cx="1510733" cy="2818756"/>
          </a:xfrm>
        </p:grpSpPr>
        <p:sp>
          <p:nvSpPr>
            <p:cNvPr id="703" name="Google Shape;703;p20"/>
            <p:cNvSpPr txBox="1"/>
            <p:nvPr/>
          </p:nvSpPr>
          <p:spPr>
            <a:xfrm>
              <a:off x="1749461" y="251639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sp>
          <p:nvSpPr>
            <p:cNvPr id="704" name="Google Shape;704;p20"/>
            <p:cNvSpPr txBox="1"/>
            <p:nvPr/>
          </p:nvSpPr>
          <p:spPr>
            <a:xfrm>
              <a:off x="1749461" y="304293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people</a:t>
              </a:r>
              <a:endParaRPr sz="1800"/>
            </a:p>
          </p:txBody>
        </p:sp>
        <p:sp>
          <p:nvSpPr>
            <p:cNvPr id="705" name="Google Shape;705;p20"/>
            <p:cNvSpPr txBox="1"/>
            <p:nvPr/>
          </p:nvSpPr>
          <p:spPr>
            <a:xfrm>
              <a:off x="1749461" y="437295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sp>
          <p:nvSpPr>
            <p:cNvPr id="706" name="Google Shape;706;p20"/>
            <p:cNvSpPr txBox="1"/>
            <p:nvPr/>
          </p:nvSpPr>
          <p:spPr>
            <a:xfrm>
              <a:off x="1749461" y="489949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person</a:t>
              </a:r>
              <a:endParaRPr sz="1800"/>
            </a:p>
          </p:txBody>
        </p:sp>
        <p:cxnSp>
          <p:nvCxnSpPr>
            <p:cNvPr id="707" name="Google Shape;707;p20"/>
            <p:cNvCxnSpPr>
              <a:stCxn id="708" idx="3"/>
              <a:endCxn id="703" idx="1"/>
            </p:cNvCxnSpPr>
            <p:nvPr/>
          </p:nvCxnSpPr>
          <p:spPr>
            <a:xfrm rot="10800000" flipH="1">
              <a:off x="1355686" y="2734275"/>
              <a:ext cx="393900" cy="2655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09" name="Google Shape;709;p20"/>
            <p:cNvCxnSpPr>
              <a:stCxn id="708" idx="3"/>
              <a:endCxn id="704" idx="1"/>
            </p:cNvCxnSpPr>
            <p:nvPr/>
          </p:nvCxnSpPr>
          <p:spPr>
            <a:xfrm>
              <a:off x="1355686" y="2999775"/>
              <a:ext cx="393900" cy="2610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10" name="Google Shape;710;p20"/>
            <p:cNvCxnSpPr>
              <a:stCxn id="711" idx="3"/>
              <a:endCxn id="705" idx="1"/>
            </p:cNvCxnSpPr>
            <p:nvPr/>
          </p:nvCxnSpPr>
          <p:spPr>
            <a:xfrm rot="10800000" flipH="1">
              <a:off x="1355686" y="4590676"/>
              <a:ext cx="393900" cy="2724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12" name="Google Shape;712;p20"/>
            <p:cNvCxnSpPr>
              <a:stCxn id="711" idx="3"/>
              <a:endCxn id="706" idx="1"/>
            </p:cNvCxnSpPr>
            <p:nvPr/>
          </p:nvCxnSpPr>
          <p:spPr>
            <a:xfrm>
              <a:off x="1355686" y="4863076"/>
              <a:ext cx="393900" cy="254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713" name="Google Shape;713;p20"/>
          <p:cNvGrpSpPr/>
          <p:nvPr/>
        </p:nvGrpSpPr>
        <p:grpSpPr>
          <a:xfrm>
            <a:off x="3292820" y="1666412"/>
            <a:ext cx="1091274" cy="2133807"/>
            <a:chOff x="2866418" y="2221881"/>
            <a:chExt cx="1455031" cy="2845076"/>
          </a:xfrm>
        </p:grpSpPr>
        <p:sp>
          <p:nvSpPr>
            <p:cNvPr id="714" name="Google Shape;714;p20"/>
            <p:cNvSpPr txBox="1"/>
            <p:nvPr/>
          </p:nvSpPr>
          <p:spPr>
            <a:xfrm>
              <a:off x="3204491" y="2221881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are</a:t>
              </a:r>
              <a:endParaRPr sz="1800"/>
            </a:p>
          </p:txBody>
        </p:sp>
        <p:sp>
          <p:nvSpPr>
            <p:cNvPr id="715" name="Google Shape;715;p20"/>
            <p:cNvSpPr txBox="1"/>
            <p:nvPr/>
          </p:nvSpPr>
          <p:spPr>
            <a:xfrm>
              <a:off x="3204491" y="2748419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don’t</a:t>
              </a:r>
              <a:endParaRPr sz="1800"/>
            </a:p>
          </p:txBody>
        </p:sp>
        <p:sp>
          <p:nvSpPr>
            <p:cNvPr id="716" name="Google Shape;716;p20"/>
            <p:cNvSpPr txBox="1"/>
            <p:nvPr/>
          </p:nvSpPr>
          <p:spPr>
            <a:xfrm>
              <a:off x="3204491" y="4104761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person</a:t>
              </a:r>
              <a:endParaRPr sz="1800"/>
            </a:p>
          </p:txBody>
        </p:sp>
        <p:sp>
          <p:nvSpPr>
            <p:cNvPr id="717" name="Google Shape;717;p20"/>
            <p:cNvSpPr txBox="1"/>
            <p:nvPr/>
          </p:nvSpPr>
          <p:spPr>
            <a:xfrm>
              <a:off x="3204491" y="4631299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but</a:t>
              </a:r>
              <a:endParaRPr sz="1800"/>
            </a:p>
          </p:txBody>
        </p:sp>
        <p:cxnSp>
          <p:nvCxnSpPr>
            <p:cNvPr id="718" name="Google Shape;718;p20"/>
            <p:cNvCxnSpPr>
              <a:stCxn id="703" idx="3"/>
              <a:endCxn id="714" idx="1"/>
            </p:cNvCxnSpPr>
            <p:nvPr/>
          </p:nvCxnSpPr>
          <p:spPr>
            <a:xfrm rot="10800000" flipH="1">
              <a:off x="2866418" y="2439622"/>
              <a:ext cx="338100" cy="294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19" name="Google Shape;719;p20"/>
            <p:cNvCxnSpPr>
              <a:stCxn id="703" idx="3"/>
              <a:endCxn id="715" idx="1"/>
            </p:cNvCxnSpPr>
            <p:nvPr/>
          </p:nvCxnSpPr>
          <p:spPr>
            <a:xfrm>
              <a:off x="2866418" y="2734222"/>
              <a:ext cx="338100" cy="2319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20" name="Google Shape;720;p20"/>
            <p:cNvCxnSpPr>
              <a:stCxn id="705" idx="3"/>
              <a:endCxn id="716" idx="1"/>
            </p:cNvCxnSpPr>
            <p:nvPr/>
          </p:nvCxnSpPr>
          <p:spPr>
            <a:xfrm rot="10800000" flipH="1">
              <a:off x="2866418" y="4322582"/>
              <a:ext cx="338100" cy="268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21" name="Google Shape;721;p20"/>
            <p:cNvCxnSpPr>
              <a:stCxn id="705" idx="3"/>
              <a:endCxn id="717" idx="1"/>
            </p:cNvCxnSpPr>
            <p:nvPr/>
          </p:nvCxnSpPr>
          <p:spPr>
            <a:xfrm>
              <a:off x="2866418" y="4590782"/>
              <a:ext cx="338100" cy="2583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722" name="Google Shape;722;p20"/>
          <p:cNvSpPr txBox="1"/>
          <p:nvPr/>
        </p:nvSpPr>
        <p:spPr>
          <a:xfrm>
            <a:off x="1143009" y="2784981"/>
            <a:ext cx="875333" cy="3267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800"/>
          </a:p>
        </p:txBody>
      </p:sp>
      <p:grpSp>
        <p:nvGrpSpPr>
          <p:cNvPr id="723" name="Google Shape;723;p20"/>
          <p:cNvGrpSpPr/>
          <p:nvPr/>
        </p:nvGrpSpPr>
        <p:grpSpPr>
          <a:xfrm>
            <a:off x="1580676" y="2086461"/>
            <a:ext cx="579095" cy="1724219"/>
            <a:chOff x="583560" y="2781936"/>
            <a:chExt cx="772126" cy="2298959"/>
          </a:xfrm>
        </p:grpSpPr>
        <p:sp>
          <p:nvSpPr>
            <p:cNvPr id="708" name="Google Shape;708;p20"/>
            <p:cNvSpPr txBox="1"/>
            <p:nvPr/>
          </p:nvSpPr>
          <p:spPr>
            <a:xfrm>
              <a:off x="785151" y="2781936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endParaRPr sz="1800"/>
            </a:p>
          </p:txBody>
        </p:sp>
        <p:sp>
          <p:nvSpPr>
            <p:cNvPr id="711" name="Google Shape;711;p20"/>
            <p:cNvSpPr txBox="1"/>
            <p:nvPr/>
          </p:nvSpPr>
          <p:spPr>
            <a:xfrm>
              <a:off x="785151" y="4645237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800"/>
            </a:p>
          </p:txBody>
        </p:sp>
        <p:cxnSp>
          <p:nvCxnSpPr>
            <p:cNvPr id="724" name="Google Shape;724;p20"/>
            <p:cNvCxnSpPr>
              <a:stCxn id="722" idx="0"/>
              <a:endCxn id="708" idx="2"/>
            </p:cNvCxnSpPr>
            <p:nvPr/>
          </p:nvCxnSpPr>
          <p:spPr>
            <a:xfrm rot="10800000" flipH="1">
              <a:off x="583560" y="3217696"/>
              <a:ext cx="486900" cy="495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25" name="Google Shape;725;p20"/>
            <p:cNvCxnSpPr>
              <a:stCxn id="722" idx="2"/>
              <a:endCxn id="711" idx="0"/>
            </p:cNvCxnSpPr>
            <p:nvPr/>
          </p:nvCxnSpPr>
          <p:spPr>
            <a:xfrm>
              <a:off x="583560" y="4148955"/>
              <a:ext cx="486900" cy="496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7017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1"/>
          <p:cNvSpPr txBox="1">
            <a:spLocks noGrp="1"/>
          </p:cNvSpPr>
          <p:nvPr>
            <p:ph type="title"/>
          </p:nvPr>
        </p:nvSpPr>
        <p:spPr>
          <a:xfrm>
            <a:off x="599173" y="0"/>
            <a:ext cx="4558706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dirty="0">
                <a:solidFill>
                  <a:srgbClr val="3A85FE"/>
                </a:solidFill>
                <a:ea typeface="Calibri"/>
                <a:cs typeface="Calibri"/>
                <a:sym typeface="Calibri"/>
              </a:rPr>
              <a:t>Decoder based on Beam search</a:t>
            </a:r>
            <a:r>
              <a:rPr lang="en-US" dirty="0">
                <a:solidFill>
                  <a:srgbClr val="0066FF"/>
                </a:solidFill>
              </a:rPr>
              <a:t>: Example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731" name="Google Shape;731;p21"/>
          <p:cNvSpPr txBox="1">
            <a:spLocks noGrp="1"/>
          </p:cNvSpPr>
          <p:nvPr>
            <p:ph type="body" idx="1"/>
          </p:nvPr>
        </p:nvSpPr>
        <p:spPr>
          <a:xfrm>
            <a:off x="1322233" y="980153"/>
            <a:ext cx="1247172" cy="3267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Beam size = 2</a:t>
            </a:r>
            <a:endParaRPr/>
          </a:p>
        </p:txBody>
      </p:sp>
      <p:sp>
        <p:nvSpPr>
          <p:cNvPr id="732" name="Google Shape;732;p21"/>
          <p:cNvSpPr txBox="1">
            <a:spLocks noGrp="1"/>
          </p:cNvSpPr>
          <p:nvPr>
            <p:ph type="sldNum" idx="12"/>
          </p:nvPr>
        </p:nvSpPr>
        <p:spPr>
          <a:xfrm>
            <a:off x="7350844" y="4695075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20</a:t>
            </a:fld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3" name="Google Shape;733;p21"/>
          <p:cNvGrpSpPr/>
          <p:nvPr/>
        </p:nvGrpSpPr>
        <p:grpSpPr>
          <a:xfrm>
            <a:off x="2159771" y="1887296"/>
            <a:ext cx="1133050" cy="2114067"/>
            <a:chOff x="1355686" y="2516395"/>
            <a:chExt cx="1510733" cy="2818756"/>
          </a:xfrm>
        </p:grpSpPr>
        <p:sp>
          <p:nvSpPr>
            <p:cNvPr id="734" name="Google Shape;734;p21"/>
            <p:cNvSpPr txBox="1"/>
            <p:nvPr/>
          </p:nvSpPr>
          <p:spPr>
            <a:xfrm>
              <a:off x="1749461" y="251639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sp>
          <p:nvSpPr>
            <p:cNvPr id="735" name="Google Shape;735;p21"/>
            <p:cNvSpPr txBox="1"/>
            <p:nvPr/>
          </p:nvSpPr>
          <p:spPr>
            <a:xfrm>
              <a:off x="1749461" y="304293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people</a:t>
              </a:r>
              <a:endParaRPr sz="1800"/>
            </a:p>
          </p:txBody>
        </p:sp>
        <p:sp>
          <p:nvSpPr>
            <p:cNvPr id="736" name="Google Shape;736;p21"/>
            <p:cNvSpPr txBox="1"/>
            <p:nvPr/>
          </p:nvSpPr>
          <p:spPr>
            <a:xfrm>
              <a:off x="1749461" y="437295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sp>
          <p:nvSpPr>
            <p:cNvPr id="737" name="Google Shape;737;p21"/>
            <p:cNvSpPr txBox="1"/>
            <p:nvPr/>
          </p:nvSpPr>
          <p:spPr>
            <a:xfrm>
              <a:off x="1749461" y="489949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person</a:t>
              </a:r>
              <a:endParaRPr sz="1800"/>
            </a:p>
          </p:txBody>
        </p:sp>
        <p:cxnSp>
          <p:nvCxnSpPr>
            <p:cNvPr id="738" name="Google Shape;738;p21"/>
            <p:cNvCxnSpPr>
              <a:stCxn id="739" idx="3"/>
              <a:endCxn id="734" idx="1"/>
            </p:cNvCxnSpPr>
            <p:nvPr/>
          </p:nvCxnSpPr>
          <p:spPr>
            <a:xfrm rot="10800000" flipH="1">
              <a:off x="1355686" y="2734275"/>
              <a:ext cx="393900" cy="2655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40" name="Google Shape;740;p21"/>
            <p:cNvCxnSpPr>
              <a:stCxn id="739" idx="3"/>
              <a:endCxn id="735" idx="1"/>
            </p:cNvCxnSpPr>
            <p:nvPr/>
          </p:nvCxnSpPr>
          <p:spPr>
            <a:xfrm>
              <a:off x="1355686" y="2999775"/>
              <a:ext cx="393900" cy="2610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41" name="Google Shape;741;p21"/>
            <p:cNvCxnSpPr>
              <a:stCxn id="742" idx="3"/>
              <a:endCxn id="736" idx="1"/>
            </p:cNvCxnSpPr>
            <p:nvPr/>
          </p:nvCxnSpPr>
          <p:spPr>
            <a:xfrm rot="10800000" flipH="1">
              <a:off x="1355686" y="4590676"/>
              <a:ext cx="393900" cy="2724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43" name="Google Shape;743;p21"/>
            <p:cNvCxnSpPr>
              <a:stCxn id="742" idx="3"/>
              <a:endCxn id="737" idx="1"/>
            </p:cNvCxnSpPr>
            <p:nvPr/>
          </p:nvCxnSpPr>
          <p:spPr>
            <a:xfrm>
              <a:off x="1355686" y="4863076"/>
              <a:ext cx="393900" cy="254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744" name="Google Shape;744;p21"/>
          <p:cNvGrpSpPr/>
          <p:nvPr/>
        </p:nvGrpSpPr>
        <p:grpSpPr>
          <a:xfrm>
            <a:off x="3292820" y="1666412"/>
            <a:ext cx="1091274" cy="2133807"/>
            <a:chOff x="2866418" y="2221881"/>
            <a:chExt cx="1455031" cy="2845076"/>
          </a:xfrm>
        </p:grpSpPr>
        <p:sp>
          <p:nvSpPr>
            <p:cNvPr id="745" name="Google Shape;745;p21"/>
            <p:cNvSpPr txBox="1"/>
            <p:nvPr/>
          </p:nvSpPr>
          <p:spPr>
            <a:xfrm>
              <a:off x="3204491" y="2221881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are</a:t>
              </a:r>
              <a:endParaRPr sz="1800"/>
            </a:p>
          </p:txBody>
        </p:sp>
        <p:sp>
          <p:nvSpPr>
            <p:cNvPr id="746" name="Google Shape;746;p21"/>
            <p:cNvSpPr txBox="1"/>
            <p:nvPr/>
          </p:nvSpPr>
          <p:spPr>
            <a:xfrm>
              <a:off x="3204491" y="2748419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don’t</a:t>
              </a:r>
              <a:endParaRPr sz="1800"/>
            </a:p>
          </p:txBody>
        </p:sp>
        <p:sp>
          <p:nvSpPr>
            <p:cNvPr id="747" name="Google Shape;747;p21"/>
            <p:cNvSpPr txBox="1"/>
            <p:nvPr/>
          </p:nvSpPr>
          <p:spPr>
            <a:xfrm>
              <a:off x="3204491" y="4104761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person</a:t>
              </a:r>
              <a:endParaRPr sz="1800"/>
            </a:p>
          </p:txBody>
        </p:sp>
        <p:sp>
          <p:nvSpPr>
            <p:cNvPr id="748" name="Google Shape;748;p21"/>
            <p:cNvSpPr txBox="1"/>
            <p:nvPr/>
          </p:nvSpPr>
          <p:spPr>
            <a:xfrm>
              <a:off x="3204491" y="4631299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but</a:t>
              </a:r>
              <a:endParaRPr sz="1800"/>
            </a:p>
          </p:txBody>
        </p:sp>
        <p:cxnSp>
          <p:nvCxnSpPr>
            <p:cNvPr id="749" name="Google Shape;749;p21"/>
            <p:cNvCxnSpPr>
              <a:stCxn id="734" idx="3"/>
              <a:endCxn id="745" idx="1"/>
            </p:cNvCxnSpPr>
            <p:nvPr/>
          </p:nvCxnSpPr>
          <p:spPr>
            <a:xfrm rot="10800000" flipH="1">
              <a:off x="2866418" y="2439622"/>
              <a:ext cx="338100" cy="294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50" name="Google Shape;750;p21"/>
            <p:cNvCxnSpPr>
              <a:stCxn id="734" idx="3"/>
              <a:endCxn id="746" idx="1"/>
            </p:cNvCxnSpPr>
            <p:nvPr/>
          </p:nvCxnSpPr>
          <p:spPr>
            <a:xfrm>
              <a:off x="2866418" y="2734222"/>
              <a:ext cx="338100" cy="2319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51" name="Google Shape;751;p21"/>
            <p:cNvCxnSpPr>
              <a:stCxn id="736" idx="3"/>
              <a:endCxn id="747" idx="1"/>
            </p:cNvCxnSpPr>
            <p:nvPr/>
          </p:nvCxnSpPr>
          <p:spPr>
            <a:xfrm rot="10800000" flipH="1">
              <a:off x="2866418" y="4322582"/>
              <a:ext cx="338100" cy="268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52" name="Google Shape;752;p21"/>
            <p:cNvCxnSpPr>
              <a:stCxn id="736" idx="3"/>
              <a:endCxn id="748" idx="1"/>
            </p:cNvCxnSpPr>
            <p:nvPr/>
          </p:nvCxnSpPr>
          <p:spPr>
            <a:xfrm>
              <a:off x="2866418" y="4590782"/>
              <a:ext cx="338100" cy="2583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753" name="Google Shape;753;p21"/>
          <p:cNvGrpSpPr/>
          <p:nvPr/>
        </p:nvGrpSpPr>
        <p:grpSpPr>
          <a:xfrm>
            <a:off x="4384094" y="1118826"/>
            <a:ext cx="1155663" cy="1693820"/>
            <a:chOff x="4321450" y="1491757"/>
            <a:chExt cx="1540884" cy="2258427"/>
          </a:xfrm>
        </p:grpSpPr>
        <p:sp>
          <p:nvSpPr>
            <p:cNvPr id="754" name="Google Shape;754;p21"/>
            <p:cNvSpPr txBox="1"/>
            <p:nvPr/>
          </p:nvSpPr>
          <p:spPr>
            <a:xfrm>
              <a:off x="4719576" y="1491757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always</a:t>
              </a:r>
              <a:endParaRPr sz="1800"/>
            </a:p>
          </p:txBody>
        </p:sp>
        <p:sp>
          <p:nvSpPr>
            <p:cNvPr id="755" name="Google Shape;755;p21"/>
            <p:cNvSpPr txBox="1"/>
            <p:nvPr/>
          </p:nvSpPr>
          <p:spPr>
            <a:xfrm>
              <a:off x="4719576" y="201829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endParaRPr sz="1800"/>
            </a:p>
          </p:txBody>
        </p:sp>
        <p:sp>
          <p:nvSpPr>
            <p:cNvPr id="756" name="Google Shape;756;p21"/>
            <p:cNvSpPr txBox="1"/>
            <p:nvPr/>
          </p:nvSpPr>
          <p:spPr>
            <a:xfrm>
              <a:off x="4745376" y="2787988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have</a:t>
              </a:r>
              <a:endParaRPr sz="1800"/>
            </a:p>
          </p:txBody>
        </p:sp>
        <p:sp>
          <p:nvSpPr>
            <p:cNvPr id="757" name="Google Shape;757;p21"/>
            <p:cNvSpPr txBox="1"/>
            <p:nvPr/>
          </p:nvSpPr>
          <p:spPr>
            <a:xfrm>
              <a:off x="4745376" y="3314526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take</a:t>
              </a:r>
              <a:endParaRPr sz="1800"/>
            </a:p>
          </p:txBody>
        </p:sp>
        <p:cxnSp>
          <p:nvCxnSpPr>
            <p:cNvPr id="758" name="Google Shape;758;p21"/>
            <p:cNvCxnSpPr>
              <a:stCxn id="746" idx="3"/>
              <a:endCxn id="756" idx="1"/>
            </p:cNvCxnSpPr>
            <p:nvPr/>
          </p:nvCxnSpPr>
          <p:spPr>
            <a:xfrm>
              <a:off x="4321450" y="2966241"/>
              <a:ext cx="423900" cy="39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59" name="Google Shape;759;p21"/>
            <p:cNvCxnSpPr>
              <a:stCxn id="746" idx="3"/>
              <a:endCxn id="757" idx="1"/>
            </p:cNvCxnSpPr>
            <p:nvPr/>
          </p:nvCxnSpPr>
          <p:spPr>
            <a:xfrm>
              <a:off x="4321450" y="2966241"/>
              <a:ext cx="423900" cy="566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60" name="Google Shape;760;p21"/>
            <p:cNvCxnSpPr>
              <a:stCxn id="745" idx="3"/>
              <a:endCxn id="755" idx="1"/>
            </p:cNvCxnSpPr>
            <p:nvPr/>
          </p:nvCxnSpPr>
          <p:spPr>
            <a:xfrm rot="10800000" flipH="1">
              <a:off x="4321450" y="2236003"/>
              <a:ext cx="398100" cy="2037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61" name="Google Shape;761;p21"/>
            <p:cNvCxnSpPr>
              <a:stCxn id="745" idx="3"/>
              <a:endCxn id="754" idx="1"/>
            </p:cNvCxnSpPr>
            <p:nvPr/>
          </p:nvCxnSpPr>
          <p:spPr>
            <a:xfrm rot="10800000" flipH="1">
              <a:off x="4321450" y="1709503"/>
              <a:ext cx="398100" cy="730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762" name="Google Shape;762;p21"/>
          <p:cNvSpPr txBox="1"/>
          <p:nvPr/>
        </p:nvSpPr>
        <p:spPr>
          <a:xfrm>
            <a:off x="1143009" y="2784981"/>
            <a:ext cx="875333" cy="3267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800"/>
          </a:p>
        </p:txBody>
      </p:sp>
      <p:grpSp>
        <p:nvGrpSpPr>
          <p:cNvPr id="763" name="Google Shape;763;p21"/>
          <p:cNvGrpSpPr/>
          <p:nvPr/>
        </p:nvGrpSpPr>
        <p:grpSpPr>
          <a:xfrm>
            <a:off x="1580676" y="2086461"/>
            <a:ext cx="579095" cy="1724219"/>
            <a:chOff x="583560" y="2781936"/>
            <a:chExt cx="772126" cy="2298959"/>
          </a:xfrm>
        </p:grpSpPr>
        <p:sp>
          <p:nvSpPr>
            <p:cNvPr id="739" name="Google Shape;739;p21"/>
            <p:cNvSpPr txBox="1"/>
            <p:nvPr/>
          </p:nvSpPr>
          <p:spPr>
            <a:xfrm>
              <a:off x="785151" y="2781936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endParaRPr sz="1800"/>
            </a:p>
          </p:txBody>
        </p:sp>
        <p:sp>
          <p:nvSpPr>
            <p:cNvPr id="742" name="Google Shape;742;p21"/>
            <p:cNvSpPr txBox="1"/>
            <p:nvPr/>
          </p:nvSpPr>
          <p:spPr>
            <a:xfrm>
              <a:off x="785151" y="4645237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800"/>
            </a:p>
          </p:txBody>
        </p:sp>
        <p:cxnSp>
          <p:nvCxnSpPr>
            <p:cNvPr id="764" name="Google Shape;764;p21"/>
            <p:cNvCxnSpPr>
              <a:stCxn id="762" idx="0"/>
              <a:endCxn id="739" idx="2"/>
            </p:cNvCxnSpPr>
            <p:nvPr/>
          </p:nvCxnSpPr>
          <p:spPr>
            <a:xfrm rot="10800000" flipH="1">
              <a:off x="583560" y="3217696"/>
              <a:ext cx="486900" cy="495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65" name="Google Shape;765;p21"/>
            <p:cNvCxnSpPr>
              <a:stCxn id="762" idx="2"/>
              <a:endCxn id="742" idx="0"/>
            </p:cNvCxnSpPr>
            <p:nvPr/>
          </p:nvCxnSpPr>
          <p:spPr>
            <a:xfrm>
              <a:off x="583560" y="4148955"/>
              <a:ext cx="486900" cy="496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22111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2"/>
          <p:cNvSpPr txBox="1">
            <a:spLocks noGrp="1"/>
          </p:cNvSpPr>
          <p:nvPr>
            <p:ph type="title"/>
          </p:nvPr>
        </p:nvSpPr>
        <p:spPr>
          <a:xfrm>
            <a:off x="635268" y="-21477"/>
            <a:ext cx="4510178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dirty="0">
                <a:solidFill>
                  <a:srgbClr val="3A85FE"/>
                </a:solidFill>
                <a:ea typeface="Calibri"/>
                <a:cs typeface="Calibri"/>
                <a:sym typeface="Calibri"/>
              </a:rPr>
              <a:t>Decoder based on Beam search</a:t>
            </a:r>
            <a:r>
              <a:rPr lang="en-US" dirty="0">
                <a:solidFill>
                  <a:srgbClr val="0066FF"/>
                </a:solidFill>
              </a:rPr>
              <a:t>: Example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771" name="Google Shape;771;p22"/>
          <p:cNvSpPr txBox="1">
            <a:spLocks noGrp="1"/>
          </p:cNvSpPr>
          <p:nvPr>
            <p:ph type="body" idx="1"/>
          </p:nvPr>
        </p:nvSpPr>
        <p:spPr>
          <a:xfrm>
            <a:off x="1322233" y="961324"/>
            <a:ext cx="1247172" cy="3267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Beam size = 2</a:t>
            </a:r>
            <a:endParaRPr/>
          </a:p>
        </p:txBody>
      </p:sp>
      <p:sp>
        <p:nvSpPr>
          <p:cNvPr id="772" name="Google Shape;772;p22"/>
          <p:cNvSpPr txBox="1">
            <a:spLocks noGrp="1"/>
          </p:cNvSpPr>
          <p:nvPr>
            <p:ph type="sldNum" idx="12"/>
          </p:nvPr>
        </p:nvSpPr>
        <p:spPr>
          <a:xfrm>
            <a:off x="7199246" y="470229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21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3" name="Google Shape;773;p22"/>
          <p:cNvGrpSpPr/>
          <p:nvPr/>
        </p:nvGrpSpPr>
        <p:grpSpPr>
          <a:xfrm>
            <a:off x="2159771" y="1887296"/>
            <a:ext cx="1133050" cy="2114067"/>
            <a:chOff x="1355686" y="2516395"/>
            <a:chExt cx="1510733" cy="2818756"/>
          </a:xfrm>
        </p:grpSpPr>
        <p:sp>
          <p:nvSpPr>
            <p:cNvPr id="774" name="Google Shape;774;p22"/>
            <p:cNvSpPr txBox="1"/>
            <p:nvPr/>
          </p:nvSpPr>
          <p:spPr>
            <a:xfrm>
              <a:off x="1749461" y="251639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sp>
          <p:nvSpPr>
            <p:cNvPr id="775" name="Google Shape;775;p22"/>
            <p:cNvSpPr txBox="1"/>
            <p:nvPr/>
          </p:nvSpPr>
          <p:spPr>
            <a:xfrm>
              <a:off x="1749461" y="304293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people</a:t>
              </a:r>
              <a:endParaRPr sz="1800"/>
            </a:p>
          </p:txBody>
        </p:sp>
        <p:sp>
          <p:nvSpPr>
            <p:cNvPr id="776" name="Google Shape;776;p22"/>
            <p:cNvSpPr txBox="1"/>
            <p:nvPr/>
          </p:nvSpPr>
          <p:spPr>
            <a:xfrm>
              <a:off x="1749461" y="437295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sp>
          <p:nvSpPr>
            <p:cNvPr id="777" name="Google Shape;777;p22"/>
            <p:cNvSpPr txBox="1"/>
            <p:nvPr/>
          </p:nvSpPr>
          <p:spPr>
            <a:xfrm>
              <a:off x="1749461" y="489949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person</a:t>
              </a:r>
              <a:endParaRPr sz="1800"/>
            </a:p>
          </p:txBody>
        </p:sp>
        <p:cxnSp>
          <p:nvCxnSpPr>
            <p:cNvPr id="778" name="Google Shape;778;p22"/>
            <p:cNvCxnSpPr>
              <a:stCxn id="779" idx="3"/>
              <a:endCxn id="774" idx="1"/>
            </p:cNvCxnSpPr>
            <p:nvPr/>
          </p:nvCxnSpPr>
          <p:spPr>
            <a:xfrm rot="10800000" flipH="1">
              <a:off x="1355686" y="2734275"/>
              <a:ext cx="393900" cy="2655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80" name="Google Shape;780;p22"/>
            <p:cNvCxnSpPr>
              <a:stCxn id="779" idx="3"/>
              <a:endCxn id="775" idx="1"/>
            </p:cNvCxnSpPr>
            <p:nvPr/>
          </p:nvCxnSpPr>
          <p:spPr>
            <a:xfrm>
              <a:off x="1355686" y="2999775"/>
              <a:ext cx="393900" cy="2610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81" name="Google Shape;781;p22"/>
            <p:cNvCxnSpPr>
              <a:stCxn id="782" idx="3"/>
              <a:endCxn id="776" idx="1"/>
            </p:cNvCxnSpPr>
            <p:nvPr/>
          </p:nvCxnSpPr>
          <p:spPr>
            <a:xfrm rot="10800000" flipH="1">
              <a:off x="1355686" y="4590676"/>
              <a:ext cx="393900" cy="2724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83" name="Google Shape;783;p22"/>
            <p:cNvCxnSpPr>
              <a:stCxn id="782" idx="3"/>
              <a:endCxn id="777" idx="1"/>
            </p:cNvCxnSpPr>
            <p:nvPr/>
          </p:nvCxnSpPr>
          <p:spPr>
            <a:xfrm>
              <a:off x="1355686" y="4863076"/>
              <a:ext cx="393900" cy="254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784" name="Google Shape;784;p22"/>
          <p:cNvGrpSpPr/>
          <p:nvPr/>
        </p:nvGrpSpPr>
        <p:grpSpPr>
          <a:xfrm>
            <a:off x="3292820" y="1666412"/>
            <a:ext cx="1091274" cy="2133807"/>
            <a:chOff x="2866418" y="2221881"/>
            <a:chExt cx="1455031" cy="2845076"/>
          </a:xfrm>
        </p:grpSpPr>
        <p:sp>
          <p:nvSpPr>
            <p:cNvPr id="785" name="Google Shape;785;p22"/>
            <p:cNvSpPr txBox="1"/>
            <p:nvPr/>
          </p:nvSpPr>
          <p:spPr>
            <a:xfrm>
              <a:off x="3204491" y="2221881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are</a:t>
              </a:r>
              <a:endParaRPr sz="1800"/>
            </a:p>
          </p:txBody>
        </p:sp>
        <p:sp>
          <p:nvSpPr>
            <p:cNvPr id="786" name="Google Shape;786;p22"/>
            <p:cNvSpPr txBox="1"/>
            <p:nvPr/>
          </p:nvSpPr>
          <p:spPr>
            <a:xfrm>
              <a:off x="3204491" y="2748419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don’t</a:t>
              </a:r>
              <a:endParaRPr sz="1800"/>
            </a:p>
          </p:txBody>
        </p:sp>
        <p:sp>
          <p:nvSpPr>
            <p:cNvPr id="787" name="Google Shape;787;p22"/>
            <p:cNvSpPr txBox="1"/>
            <p:nvPr/>
          </p:nvSpPr>
          <p:spPr>
            <a:xfrm>
              <a:off x="3204491" y="4104761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person</a:t>
              </a:r>
              <a:endParaRPr sz="1800"/>
            </a:p>
          </p:txBody>
        </p:sp>
        <p:sp>
          <p:nvSpPr>
            <p:cNvPr id="788" name="Google Shape;788;p22"/>
            <p:cNvSpPr txBox="1"/>
            <p:nvPr/>
          </p:nvSpPr>
          <p:spPr>
            <a:xfrm>
              <a:off x="3204491" y="4631299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but</a:t>
              </a:r>
              <a:endParaRPr sz="1800"/>
            </a:p>
          </p:txBody>
        </p:sp>
        <p:cxnSp>
          <p:nvCxnSpPr>
            <p:cNvPr id="789" name="Google Shape;789;p22"/>
            <p:cNvCxnSpPr>
              <a:stCxn id="774" idx="3"/>
              <a:endCxn id="785" idx="1"/>
            </p:cNvCxnSpPr>
            <p:nvPr/>
          </p:nvCxnSpPr>
          <p:spPr>
            <a:xfrm rot="10800000" flipH="1">
              <a:off x="2866418" y="2439622"/>
              <a:ext cx="338100" cy="294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90" name="Google Shape;790;p22"/>
            <p:cNvCxnSpPr>
              <a:stCxn id="774" idx="3"/>
              <a:endCxn id="786" idx="1"/>
            </p:cNvCxnSpPr>
            <p:nvPr/>
          </p:nvCxnSpPr>
          <p:spPr>
            <a:xfrm>
              <a:off x="2866418" y="2734222"/>
              <a:ext cx="338100" cy="2319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91" name="Google Shape;791;p22"/>
            <p:cNvCxnSpPr>
              <a:stCxn id="776" idx="3"/>
              <a:endCxn id="787" idx="1"/>
            </p:cNvCxnSpPr>
            <p:nvPr/>
          </p:nvCxnSpPr>
          <p:spPr>
            <a:xfrm rot="10800000" flipH="1">
              <a:off x="2866418" y="4322582"/>
              <a:ext cx="338100" cy="268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92" name="Google Shape;792;p22"/>
            <p:cNvCxnSpPr>
              <a:stCxn id="776" idx="3"/>
              <a:endCxn id="788" idx="1"/>
            </p:cNvCxnSpPr>
            <p:nvPr/>
          </p:nvCxnSpPr>
          <p:spPr>
            <a:xfrm>
              <a:off x="2866418" y="4590782"/>
              <a:ext cx="338100" cy="2583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793" name="Google Shape;793;p22"/>
          <p:cNvGrpSpPr/>
          <p:nvPr/>
        </p:nvGrpSpPr>
        <p:grpSpPr>
          <a:xfrm>
            <a:off x="4384094" y="1118826"/>
            <a:ext cx="1155663" cy="1693820"/>
            <a:chOff x="4321450" y="1491757"/>
            <a:chExt cx="1540884" cy="2258427"/>
          </a:xfrm>
        </p:grpSpPr>
        <p:sp>
          <p:nvSpPr>
            <p:cNvPr id="794" name="Google Shape;794;p22"/>
            <p:cNvSpPr txBox="1"/>
            <p:nvPr/>
          </p:nvSpPr>
          <p:spPr>
            <a:xfrm>
              <a:off x="4719576" y="1491757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always</a:t>
              </a:r>
              <a:endParaRPr sz="1800"/>
            </a:p>
          </p:txBody>
        </p:sp>
        <p:sp>
          <p:nvSpPr>
            <p:cNvPr id="795" name="Google Shape;795;p22"/>
            <p:cNvSpPr txBox="1"/>
            <p:nvPr/>
          </p:nvSpPr>
          <p:spPr>
            <a:xfrm>
              <a:off x="4719576" y="201829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endParaRPr sz="1800"/>
            </a:p>
          </p:txBody>
        </p:sp>
        <p:sp>
          <p:nvSpPr>
            <p:cNvPr id="796" name="Google Shape;796;p22"/>
            <p:cNvSpPr txBox="1"/>
            <p:nvPr/>
          </p:nvSpPr>
          <p:spPr>
            <a:xfrm>
              <a:off x="4745376" y="2787988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have</a:t>
              </a:r>
              <a:endParaRPr sz="1800"/>
            </a:p>
          </p:txBody>
        </p:sp>
        <p:sp>
          <p:nvSpPr>
            <p:cNvPr id="797" name="Google Shape;797;p22"/>
            <p:cNvSpPr txBox="1"/>
            <p:nvPr/>
          </p:nvSpPr>
          <p:spPr>
            <a:xfrm>
              <a:off x="4745376" y="3314526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take</a:t>
              </a:r>
              <a:endParaRPr sz="1800"/>
            </a:p>
          </p:txBody>
        </p:sp>
        <p:cxnSp>
          <p:nvCxnSpPr>
            <p:cNvPr id="798" name="Google Shape;798;p22"/>
            <p:cNvCxnSpPr>
              <a:stCxn id="786" idx="3"/>
              <a:endCxn id="796" idx="1"/>
            </p:cNvCxnSpPr>
            <p:nvPr/>
          </p:nvCxnSpPr>
          <p:spPr>
            <a:xfrm>
              <a:off x="4321450" y="2966241"/>
              <a:ext cx="423900" cy="39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99" name="Google Shape;799;p22"/>
            <p:cNvCxnSpPr>
              <a:stCxn id="786" idx="3"/>
              <a:endCxn id="797" idx="1"/>
            </p:cNvCxnSpPr>
            <p:nvPr/>
          </p:nvCxnSpPr>
          <p:spPr>
            <a:xfrm>
              <a:off x="4321450" y="2966241"/>
              <a:ext cx="423900" cy="566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00" name="Google Shape;800;p22"/>
            <p:cNvCxnSpPr>
              <a:stCxn id="785" idx="3"/>
              <a:endCxn id="795" idx="1"/>
            </p:cNvCxnSpPr>
            <p:nvPr/>
          </p:nvCxnSpPr>
          <p:spPr>
            <a:xfrm rot="10800000" flipH="1">
              <a:off x="4321450" y="2236003"/>
              <a:ext cx="398100" cy="2037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01" name="Google Shape;801;p22"/>
            <p:cNvCxnSpPr>
              <a:stCxn id="785" idx="3"/>
              <a:endCxn id="794" idx="1"/>
            </p:cNvCxnSpPr>
            <p:nvPr/>
          </p:nvCxnSpPr>
          <p:spPr>
            <a:xfrm rot="10800000" flipH="1">
              <a:off x="4321450" y="1709503"/>
              <a:ext cx="398100" cy="730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802" name="Google Shape;802;p22"/>
          <p:cNvGrpSpPr/>
          <p:nvPr/>
        </p:nvGrpSpPr>
        <p:grpSpPr>
          <a:xfrm>
            <a:off x="5520407" y="1345424"/>
            <a:ext cx="1175013" cy="1766302"/>
            <a:chOff x="5836535" y="1793890"/>
            <a:chExt cx="1566684" cy="2355069"/>
          </a:xfrm>
        </p:grpSpPr>
        <p:sp>
          <p:nvSpPr>
            <p:cNvPr id="803" name="Google Shape;803;p22"/>
            <p:cNvSpPr txBox="1"/>
            <p:nvPr/>
          </p:nvSpPr>
          <p:spPr>
            <a:xfrm>
              <a:off x="6286261" y="1793890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</a:t>
              </a:r>
              <a:endParaRPr sz="1800"/>
            </a:p>
          </p:txBody>
        </p:sp>
        <p:sp>
          <p:nvSpPr>
            <p:cNvPr id="804" name="Google Shape;804;p22"/>
            <p:cNvSpPr txBox="1"/>
            <p:nvPr/>
          </p:nvSpPr>
          <p:spPr>
            <a:xfrm>
              <a:off x="6286261" y="2320428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with</a:t>
              </a:r>
              <a:endParaRPr sz="1800"/>
            </a:p>
          </p:txBody>
        </p:sp>
        <p:sp>
          <p:nvSpPr>
            <p:cNvPr id="805" name="Google Shape;805;p22"/>
            <p:cNvSpPr txBox="1"/>
            <p:nvPr/>
          </p:nvSpPr>
          <p:spPr>
            <a:xfrm>
              <a:off x="6286261" y="318676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any</a:t>
              </a:r>
              <a:endParaRPr sz="1800"/>
            </a:p>
          </p:txBody>
        </p:sp>
        <p:sp>
          <p:nvSpPr>
            <p:cNvPr id="806" name="Google Shape;806;p22"/>
            <p:cNvSpPr txBox="1"/>
            <p:nvPr/>
          </p:nvSpPr>
          <p:spPr>
            <a:xfrm>
              <a:off x="6286261" y="3713301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enough</a:t>
              </a:r>
              <a:endParaRPr sz="1800"/>
            </a:p>
          </p:txBody>
        </p:sp>
        <p:cxnSp>
          <p:nvCxnSpPr>
            <p:cNvPr id="807" name="Google Shape;807;p22"/>
            <p:cNvCxnSpPr>
              <a:stCxn id="795" idx="3"/>
              <a:endCxn id="803" idx="1"/>
            </p:cNvCxnSpPr>
            <p:nvPr/>
          </p:nvCxnSpPr>
          <p:spPr>
            <a:xfrm rot="10800000" flipH="1">
              <a:off x="5836535" y="2011726"/>
              <a:ext cx="449700" cy="2244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08" name="Google Shape;808;p22"/>
            <p:cNvCxnSpPr>
              <a:stCxn id="795" idx="3"/>
              <a:endCxn id="804" idx="1"/>
            </p:cNvCxnSpPr>
            <p:nvPr/>
          </p:nvCxnSpPr>
          <p:spPr>
            <a:xfrm>
              <a:off x="5836535" y="2236126"/>
              <a:ext cx="449700" cy="302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09" name="Google Shape;809;p22"/>
            <p:cNvCxnSpPr>
              <a:stCxn id="796" idx="3"/>
              <a:endCxn id="805" idx="1"/>
            </p:cNvCxnSpPr>
            <p:nvPr/>
          </p:nvCxnSpPr>
          <p:spPr>
            <a:xfrm>
              <a:off x="5862335" y="3005819"/>
              <a:ext cx="423900" cy="3987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10" name="Google Shape;810;p22"/>
            <p:cNvCxnSpPr>
              <a:stCxn id="796" idx="3"/>
              <a:endCxn id="806" idx="1"/>
            </p:cNvCxnSpPr>
            <p:nvPr/>
          </p:nvCxnSpPr>
          <p:spPr>
            <a:xfrm>
              <a:off x="5862335" y="3005819"/>
              <a:ext cx="423900" cy="925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811" name="Google Shape;811;p22"/>
          <p:cNvSpPr txBox="1"/>
          <p:nvPr/>
        </p:nvSpPr>
        <p:spPr>
          <a:xfrm>
            <a:off x="1143009" y="2784981"/>
            <a:ext cx="875333" cy="3267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800"/>
          </a:p>
        </p:txBody>
      </p:sp>
      <p:grpSp>
        <p:nvGrpSpPr>
          <p:cNvPr id="812" name="Google Shape;812;p22"/>
          <p:cNvGrpSpPr/>
          <p:nvPr/>
        </p:nvGrpSpPr>
        <p:grpSpPr>
          <a:xfrm>
            <a:off x="1580676" y="2086461"/>
            <a:ext cx="579095" cy="1724219"/>
            <a:chOff x="583560" y="2781936"/>
            <a:chExt cx="772126" cy="2298959"/>
          </a:xfrm>
        </p:grpSpPr>
        <p:sp>
          <p:nvSpPr>
            <p:cNvPr id="779" name="Google Shape;779;p22"/>
            <p:cNvSpPr txBox="1"/>
            <p:nvPr/>
          </p:nvSpPr>
          <p:spPr>
            <a:xfrm>
              <a:off x="785151" y="2781936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endParaRPr sz="1800"/>
            </a:p>
          </p:txBody>
        </p:sp>
        <p:sp>
          <p:nvSpPr>
            <p:cNvPr id="782" name="Google Shape;782;p22"/>
            <p:cNvSpPr txBox="1"/>
            <p:nvPr/>
          </p:nvSpPr>
          <p:spPr>
            <a:xfrm>
              <a:off x="785151" y="4645237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800"/>
            </a:p>
          </p:txBody>
        </p:sp>
        <p:cxnSp>
          <p:nvCxnSpPr>
            <p:cNvPr id="813" name="Google Shape;813;p22"/>
            <p:cNvCxnSpPr>
              <a:stCxn id="811" idx="0"/>
              <a:endCxn id="779" idx="2"/>
            </p:cNvCxnSpPr>
            <p:nvPr/>
          </p:nvCxnSpPr>
          <p:spPr>
            <a:xfrm rot="10800000" flipH="1">
              <a:off x="583560" y="3217696"/>
              <a:ext cx="486900" cy="495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14" name="Google Shape;814;p22"/>
            <p:cNvCxnSpPr>
              <a:stCxn id="811" idx="2"/>
              <a:endCxn id="782" idx="0"/>
            </p:cNvCxnSpPr>
            <p:nvPr/>
          </p:nvCxnSpPr>
          <p:spPr>
            <a:xfrm>
              <a:off x="583560" y="4148955"/>
              <a:ext cx="486900" cy="496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87525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3"/>
          <p:cNvSpPr txBox="1">
            <a:spLocks noGrp="1"/>
          </p:cNvSpPr>
          <p:nvPr>
            <p:ph type="title"/>
          </p:nvPr>
        </p:nvSpPr>
        <p:spPr>
          <a:xfrm>
            <a:off x="613611" y="0"/>
            <a:ext cx="4544268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dirty="0">
                <a:solidFill>
                  <a:srgbClr val="3A85FE"/>
                </a:solidFill>
                <a:ea typeface="Calibri"/>
                <a:cs typeface="Calibri"/>
                <a:sym typeface="Calibri"/>
              </a:rPr>
              <a:t>Decoder based on Beam search</a:t>
            </a:r>
            <a:r>
              <a:rPr lang="en-US" dirty="0">
                <a:solidFill>
                  <a:srgbClr val="0066FF"/>
                </a:solidFill>
              </a:rPr>
              <a:t>: Example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820" name="Google Shape;820;p23"/>
          <p:cNvSpPr txBox="1">
            <a:spLocks noGrp="1"/>
          </p:cNvSpPr>
          <p:nvPr>
            <p:ph type="body" idx="1"/>
          </p:nvPr>
        </p:nvSpPr>
        <p:spPr>
          <a:xfrm>
            <a:off x="1394755" y="980153"/>
            <a:ext cx="1247172" cy="3267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Beam size = 2</a:t>
            </a:r>
            <a:endParaRPr/>
          </a:p>
        </p:txBody>
      </p:sp>
      <p:sp>
        <p:nvSpPr>
          <p:cNvPr id="821" name="Google Shape;821;p23"/>
          <p:cNvSpPr txBox="1">
            <a:spLocks noGrp="1"/>
          </p:cNvSpPr>
          <p:nvPr>
            <p:ph type="sldNum" idx="12"/>
          </p:nvPr>
        </p:nvSpPr>
        <p:spPr>
          <a:xfrm>
            <a:off x="7249778" y="4745607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22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2" name="Google Shape;822;p23"/>
          <p:cNvGrpSpPr/>
          <p:nvPr/>
        </p:nvGrpSpPr>
        <p:grpSpPr>
          <a:xfrm>
            <a:off x="2159771" y="1887296"/>
            <a:ext cx="1133050" cy="2114067"/>
            <a:chOff x="1355686" y="2516395"/>
            <a:chExt cx="1510733" cy="2818756"/>
          </a:xfrm>
        </p:grpSpPr>
        <p:sp>
          <p:nvSpPr>
            <p:cNvPr id="823" name="Google Shape;823;p23"/>
            <p:cNvSpPr txBox="1"/>
            <p:nvPr/>
          </p:nvSpPr>
          <p:spPr>
            <a:xfrm>
              <a:off x="1749461" y="251639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sp>
          <p:nvSpPr>
            <p:cNvPr id="824" name="Google Shape;824;p23"/>
            <p:cNvSpPr txBox="1"/>
            <p:nvPr/>
          </p:nvSpPr>
          <p:spPr>
            <a:xfrm>
              <a:off x="1749461" y="304293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people</a:t>
              </a:r>
              <a:endParaRPr sz="1800"/>
            </a:p>
          </p:txBody>
        </p:sp>
        <p:sp>
          <p:nvSpPr>
            <p:cNvPr id="825" name="Google Shape;825;p23"/>
            <p:cNvSpPr txBox="1"/>
            <p:nvPr/>
          </p:nvSpPr>
          <p:spPr>
            <a:xfrm>
              <a:off x="1749461" y="437295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sp>
          <p:nvSpPr>
            <p:cNvPr id="826" name="Google Shape;826;p23"/>
            <p:cNvSpPr txBox="1"/>
            <p:nvPr/>
          </p:nvSpPr>
          <p:spPr>
            <a:xfrm>
              <a:off x="1749461" y="489949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person</a:t>
              </a:r>
              <a:endParaRPr sz="1800"/>
            </a:p>
          </p:txBody>
        </p:sp>
        <p:cxnSp>
          <p:nvCxnSpPr>
            <p:cNvPr id="827" name="Google Shape;827;p23"/>
            <p:cNvCxnSpPr>
              <a:stCxn id="828" idx="3"/>
              <a:endCxn id="823" idx="1"/>
            </p:cNvCxnSpPr>
            <p:nvPr/>
          </p:nvCxnSpPr>
          <p:spPr>
            <a:xfrm rot="10800000" flipH="1">
              <a:off x="1355686" y="2734275"/>
              <a:ext cx="393900" cy="2655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29" name="Google Shape;829;p23"/>
            <p:cNvCxnSpPr>
              <a:stCxn id="828" idx="3"/>
              <a:endCxn id="824" idx="1"/>
            </p:cNvCxnSpPr>
            <p:nvPr/>
          </p:nvCxnSpPr>
          <p:spPr>
            <a:xfrm>
              <a:off x="1355686" y="2999775"/>
              <a:ext cx="393900" cy="2610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30" name="Google Shape;830;p23"/>
            <p:cNvCxnSpPr>
              <a:stCxn id="831" idx="3"/>
              <a:endCxn id="825" idx="1"/>
            </p:cNvCxnSpPr>
            <p:nvPr/>
          </p:nvCxnSpPr>
          <p:spPr>
            <a:xfrm rot="10800000" flipH="1">
              <a:off x="1355686" y="4590676"/>
              <a:ext cx="393900" cy="2724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32" name="Google Shape;832;p23"/>
            <p:cNvCxnSpPr>
              <a:stCxn id="831" idx="3"/>
              <a:endCxn id="826" idx="1"/>
            </p:cNvCxnSpPr>
            <p:nvPr/>
          </p:nvCxnSpPr>
          <p:spPr>
            <a:xfrm>
              <a:off x="1355686" y="4863076"/>
              <a:ext cx="393900" cy="254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833" name="Google Shape;833;p23"/>
          <p:cNvGrpSpPr/>
          <p:nvPr/>
        </p:nvGrpSpPr>
        <p:grpSpPr>
          <a:xfrm>
            <a:off x="3292820" y="1666412"/>
            <a:ext cx="1091274" cy="2133807"/>
            <a:chOff x="2866418" y="2221881"/>
            <a:chExt cx="1455031" cy="2845076"/>
          </a:xfrm>
        </p:grpSpPr>
        <p:sp>
          <p:nvSpPr>
            <p:cNvPr id="834" name="Google Shape;834;p23"/>
            <p:cNvSpPr txBox="1"/>
            <p:nvPr/>
          </p:nvSpPr>
          <p:spPr>
            <a:xfrm>
              <a:off x="3204491" y="2221881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are</a:t>
              </a:r>
              <a:endParaRPr sz="1800"/>
            </a:p>
          </p:txBody>
        </p:sp>
        <p:sp>
          <p:nvSpPr>
            <p:cNvPr id="835" name="Google Shape;835;p23"/>
            <p:cNvSpPr txBox="1"/>
            <p:nvPr/>
          </p:nvSpPr>
          <p:spPr>
            <a:xfrm>
              <a:off x="3204491" y="2748419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don’t</a:t>
              </a:r>
              <a:endParaRPr sz="1800"/>
            </a:p>
          </p:txBody>
        </p:sp>
        <p:sp>
          <p:nvSpPr>
            <p:cNvPr id="836" name="Google Shape;836;p23"/>
            <p:cNvSpPr txBox="1"/>
            <p:nvPr/>
          </p:nvSpPr>
          <p:spPr>
            <a:xfrm>
              <a:off x="3204491" y="4104761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person</a:t>
              </a:r>
              <a:endParaRPr sz="1800"/>
            </a:p>
          </p:txBody>
        </p:sp>
        <p:sp>
          <p:nvSpPr>
            <p:cNvPr id="837" name="Google Shape;837;p23"/>
            <p:cNvSpPr txBox="1"/>
            <p:nvPr/>
          </p:nvSpPr>
          <p:spPr>
            <a:xfrm>
              <a:off x="3204491" y="4631299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but</a:t>
              </a:r>
              <a:endParaRPr sz="1800"/>
            </a:p>
          </p:txBody>
        </p:sp>
        <p:cxnSp>
          <p:nvCxnSpPr>
            <p:cNvPr id="838" name="Google Shape;838;p23"/>
            <p:cNvCxnSpPr>
              <a:stCxn id="823" idx="3"/>
              <a:endCxn id="834" idx="1"/>
            </p:cNvCxnSpPr>
            <p:nvPr/>
          </p:nvCxnSpPr>
          <p:spPr>
            <a:xfrm rot="10800000" flipH="1">
              <a:off x="2866418" y="2439622"/>
              <a:ext cx="338100" cy="294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39" name="Google Shape;839;p23"/>
            <p:cNvCxnSpPr>
              <a:stCxn id="823" idx="3"/>
              <a:endCxn id="835" idx="1"/>
            </p:cNvCxnSpPr>
            <p:nvPr/>
          </p:nvCxnSpPr>
          <p:spPr>
            <a:xfrm>
              <a:off x="2866418" y="2734222"/>
              <a:ext cx="338100" cy="2319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40" name="Google Shape;840;p23"/>
            <p:cNvCxnSpPr>
              <a:stCxn id="825" idx="3"/>
              <a:endCxn id="836" idx="1"/>
            </p:cNvCxnSpPr>
            <p:nvPr/>
          </p:nvCxnSpPr>
          <p:spPr>
            <a:xfrm rot="10800000" flipH="1">
              <a:off x="2866418" y="4322582"/>
              <a:ext cx="338100" cy="268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41" name="Google Shape;841;p23"/>
            <p:cNvCxnSpPr>
              <a:stCxn id="825" idx="3"/>
              <a:endCxn id="837" idx="1"/>
            </p:cNvCxnSpPr>
            <p:nvPr/>
          </p:nvCxnSpPr>
          <p:spPr>
            <a:xfrm>
              <a:off x="2866418" y="4590782"/>
              <a:ext cx="338100" cy="2583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842" name="Google Shape;842;p23"/>
          <p:cNvGrpSpPr/>
          <p:nvPr/>
        </p:nvGrpSpPr>
        <p:grpSpPr>
          <a:xfrm>
            <a:off x="4384094" y="1118826"/>
            <a:ext cx="1155663" cy="1693820"/>
            <a:chOff x="4321450" y="1491757"/>
            <a:chExt cx="1540884" cy="2258427"/>
          </a:xfrm>
        </p:grpSpPr>
        <p:sp>
          <p:nvSpPr>
            <p:cNvPr id="843" name="Google Shape;843;p23"/>
            <p:cNvSpPr txBox="1"/>
            <p:nvPr/>
          </p:nvSpPr>
          <p:spPr>
            <a:xfrm>
              <a:off x="4719576" y="1491757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always</a:t>
              </a:r>
              <a:endParaRPr sz="1800"/>
            </a:p>
          </p:txBody>
        </p:sp>
        <p:sp>
          <p:nvSpPr>
            <p:cNvPr id="844" name="Google Shape;844;p23"/>
            <p:cNvSpPr txBox="1"/>
            <p:nvPr/>
          </p:nvSpPr>
          <p:spPr>
            <a:xfrm>
              <a:off x="4719576" y="201829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endParaRPr sz="1800"/>
            </a:p>
          </p:txBody>
        </p:sp>
        <p:sp>
          <p:nvSpPr>
            <p:cNvPr id="845" name="Google Shape;845;p23"/>
            <p:cNvSpPr txBox="1"/>
            <p:nvPr/>
          </p:nvSpPr>
          <p:spPr>
            <a:xfrm>
              <a:off x="4745376" y="2787988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have</a:t>
              </a:r>
              <a:endParaRPr sz="1800"/>
            </a:p>
          </p:txBody>
        </p:sp>
        <p:sp>
          <p:nvSpPr>
            <p:cNvPr id="846" name="Google Shape;846;p23"/>
            <p:cNvSpPr txBox="1"/>
            <p:nvPr/>
          </p:nvSpPr>
          <p:spPr>
            <a:xfrm>
              <a:off x="4745376" y="3314526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take</a:t>
              </a:r>
              <a:endParaRPr sz="1800"/>
            </a:p>
          </p:txBody>
        </p:sp>
        <p:cxnSp>
          <p:nvCxnSpPr>
            <p:cNvPr id="847" name="Google Shape;847;p23"/>
            <p:cNvCxnSpPr>
              <a:stCxn id="835" idx="3"/>
              <a:endCxn id="845" idx="1"/>
            </p:cNvCxnSpPr>
            <p:nvPr/>
          </p:nvCxnSpPr>
          <p:spPr>
            <a:xfrm>
              <a:off x="4321450" y="2966241"/>
              <a:ext cx="423900" cy="39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48" name="Google Shape;848;p23"/>
            <p:cNvCxnSpPr>
              <a:stCxn id="835" idx="3"/>
              <a:endCxn id="846" idx="1"/>
            </p:cNvCxnSpPr>
            <p:nvPr/>
          </p:nvCxnSpPr>
          <p:spPr>
            <a:xfrm>
              <a:off x="4321450" y="2966241"/>
              <a:ext cx="423900" cy="566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49" name="Google Shape;849;p23"/>
            <p:cNvCxnSpPr>
              <a:stCxn id="834" idx="3"/>
              <a:endCxn id="844" idx="1"/>
            </p:cNvCxnSpPr>
            <p:nvPr/>
          </p:nvCxnSpPr>
          <p:spPr>
            <a:xfrm rot="10800000" flipH="1">
              <a:off x="4321450" y="2236003"/>
              <a:ext cx="398100" cy="2037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50" name="Google Shape;850;p23"/>
            <p:cNvCxnSpPr>
              <a:stCxn id="834" idx="3"/>
              <a:endCxn id="843" idx="1"/>
            </p:cNvCxnSpPr>
            <p:nvPr/>
          </p:nvCxnSpPr>
          <p:spPr>
            <a:xfrm rot="10800000" flipH="1">
              <a:off x="4321450" y="1709503"/>
              <a:ext cx="398100" cy="730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851" name="Google Shape;851;p23"/>
          <p:cNvGrpSpPr/>
          <p:nvPr/>
        </p:nvGrpSpPr>
        <p:grpSpPr>
          <a:xfrm>
            <a:off x="5520407" y="1345424"/>
            <a:ext cx="1175013" cy="1766302"/>
            <a:chOff x="5836535" y="1793890"/>
            <a:chExt cx="1566684" cy="2355069"/>
          </a:xfrm>
        </p:grpSpPr>
        <p:sp>
          <p:nvSpPr>
            <p:cNvPr id="852" name="Google Shape;852;p23"/>
            <p:cNvSpPr txBox="1"/>
            <p:nvPr/>
          </p:nvSpPr>
          <p:spPr>
            <a:xfrm>
              <a:off x="6286261" y="1793890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</a:t>
              </a:r>
              <a:endParaRPr sz="1800"/>
            </a:p>
          </p:txBody>
        </p:sp>
        <p:sp>
          <p:nvSpPr>
            <p:cNvPr id="853" name="Google Shape;853;p23"/>
            <p:cNvSpPr txBox="1"/>
            <p:nvPr/>
          </p:nvSpPr>
          <p:spPr>
            <a:xfrm>
              <a:off x="6286261" y="2320428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with</a:t>
              </a:r>
              <a:endParaRPr sz="1800"/>
            </a:p>
          </p:txBody>
        </p:sp>
        <p:sp>
          <p:nvSpPr>
            <p:cNvPr id="854" name="Google Shape;854;p23"/>
            <p:cNvSpPr txBox="1"/>
            <p:nvPr/>
          </p:nvSpPr>
          <p:spPr>
            <a:xfrm>
              <a:off x="6286261" y="318676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any</a:t>
              </a:r>
              <a:endParaRPr sz="1800"/>
            </a:p>
          </p:txBody>
        </p:sp>
        <p:sp>
          <p:nvSpPr>
            <p:cNvPr id="855" name="Google Shape;855;p23"/>
            <p:cNvSpPr txBox="1"/>
            <p:nvPr/>
          </p:nvSpPr>
          <p:spPr>
            <a:xfrm>
              <a:off x="6286261" y="3713301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enough</a:t>
              </a:r>
              <a:endParaRPr sz="1800"/>
            </a:p>
          </p:txBody>
        </p:sp>
        <p:cxnSp>
          <p:nvCxnSpPr>
            <p:cNvPr id="856" name="Google Shape;856;p23"/>
            <p:cNvCxnSpPr>
              <a:stCxn id="844" idx="3"/>
              <a:endCxn id="852" idx="1"/>
            </p:cNvCxnSpPr>
            <p:nvPr/>
          </p:nvCxnSpPr>
          <p:spPr>
            <a:xfrm rot="10800000" flipH="1">
              <a:off x="5836535" y="2011726"/>
              <a:ext cx="449700" cy="2244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57" name="Google Shape;857;p23"/>
            <p:cNvCxnSpPr>
              <a:stCxn id="844" idx="3"/>
              <a:endCxn id="853" idx="1"/>
            </p:cNvCxnSpPr>
            <p:nvPr/>
          </p:nvCxnSpPr>
          <p:spPr>
            <a:xfrm>
              <a:off x="5836535" y="2236126"/>
              <a:ext cx="449700" cy="302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58" name="Google Shape;858;p23"/>
            <p:cNvCxnSpPr>
              <a:stCxn id="845" idx="3"/>
              <a:endCxn id="854" idx="1"/>
            </p:cNvCxnSpPr>
            <p:nvPr/>
          </p:nvCxnSpPr>
          <p:spPr>
            <a:xfrm>
              <a:off x="5862335" y="3005819"/>
              <a:ext cx="423900" cy="3987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59" name="Google Shape;859;p23"/>
            <p:cNvCxnSpPr>
              <a:stCxn id="845" idx="3"/>
              <a:endCxn id="855" idx="1"/>
            </p:cNvCxnSpPr>
            <p:nvPr/>
          </p:nvCxnSpPr>
          <p:spPr>
            <a:xfrm>
              <a:off x="5862335" y="3005819"/>
              <a:ext cx="423900" cy="925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860" name="Google Shape;860;p23"/>
          <p:cNvGrpSpPr/>
          <p:nvPr/>
        </p:nvGrpSpPr>
        <p:grpSpPr>
          <a:xfrm>
            <a:off x="6695421" y="1887296"/>
            <a:ext cx="1201414" cy="1831551"/>
            <a:chOff x="7403226" y="2516395"/>
            <a:chExt cx="1601885" cy="2442068"/>
          </a:xfrm>
        </p:grpSpPr>
        <p:sp>
          <p:nvSpPr>
            <p:cNvPr id="861" name="Google Shape;861;p23"/>
            <p:cNvSpPr txBox="1"/>
            <p:nvPr/>
          </p:nvSpPr>
          <p:spPr>
            <a:xfrm>
              <a:off x="7888153" y="251639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money</a:t>
              </a:r>
              <a:endParaRPr sz="1800"/>
            </a:p>
          </p:txBody>
        </p:sp>
        <p:sp>
          <p:nvSpPr>
            <p:cNvPr id="862" name="Google Shape;862;p23"/>
            <p:cNvSpPr txBox="1"/>
            <p:nvPr/>
          </p:nvSpPr>
          <p:spPr>
            <a:xfrm>
              <a:off x="7888153" y="304293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funds</a:t>
              </a:r>
              <a:endParaRPr sz="1800"/>
            </a:p>
          </p:txBody>
        </p:sp>
        <p:sp>
          <p:nvSpPr>
            <p:cNvPr id="863" name="Google Shape;863;p23"/>
            <p:cNvSpPr txBox="1"/>
            <p:nvPr/>
          </p:nvSpPr>
          <p:spPr>
            <a:xfrm>
              <a:off x="7888153" y="3996267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money</a:t>
              </a:r>
              <a:endParaRPr sz="1800"/>
            </a:p>
          </p:txBody>
        </p:sp>
        <p:sp>
          <p:nvSpPr>
            <p:cNvPr id="864" name="Google Shape;864;p23"/>
            <p:cNvSpPr txBox="1"/>
            <p:nvPr/>
          </p:nvSpPr>
          <p:spPr>
            <a:xfrm>
              <a:off x="7888153" y="452280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funds</a:t>
              </a:r>
              <a:endParaRPr sz="1800"/>
            </a:p>
          </p:txBody>
        </p:sp>
        <p:cxnSp>
          <p:nvCxnSpPr>
            <p:cNvPr id="865" name="Google Shape;865;p23"/>
            <p:cNvCxnSpPr>
              <a:stCxn id="854" idx="3"/>
              <a:endCxn id="861" idx="1"/>
            </p:cNvCxnSpPr>
            <p:nvPr/>
          </p:nvCxnSpPr>
          <p:spPr>
            <a:xfrm rot="10800000" flipH="1">
              <a:off x="7403226" y="2734099"/>
              <a:ext cx="484800" cy="6705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66" name="Google Shape;866;p23"/>
            <p:cNvCxnSpPr>
              <a:stCxn id="854" idx="3"/>
              <a:endCxn id="862" idx="1"/>
            </p:cNvCxnSpPr>
            <p:nvPr/>
          </p:nvCxnSpPr>
          <p:spPr>
            <a:xfrm rot="10800000" flipH="1">
              <a:off x="7403226" y="3260899"/>
              <a:ext cx="484800" cy="1437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67" name="Google Shape;867;p23"/>
            <p:cNvCxnSpPr>
              <a:stCxn id="855" idx="3"/>
              <a:endCxn id="863" idx="1"/>
            </p:cNvCxnSpPr>
            <p:nvPr/>
          </p:nvCxnSpPr>
          <p:spPr>
            <a:xfrm>
              <a:off x="7403226" y="3931137"/>
              <a:ext cx="484800" cy="2829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68" name="Google Shape;868;p23"/>
            <p:cNvCxnSpPr>
              <a:stCxn id="855" idx="3"/>
              <a:endCxn id="864" idx="1"/>
            </p:cNvCxnSpPr>
            <p:nvPr/>
          </p:nvCxnSpPr>
          <p:spPr>
            <a:xfrm>
              <a:off x="7403226" y="3931137"/>
              <a:ext cx="484800" cy="8094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869" name="Google Shape;869;p23"/>
          <p:cNvSpPr txBox="1"/>
          <p:nvPr/>
        </p:nvSpPr>
        <p:spPr>
          <a:xfrm>
            <a:off x="1143009" y="2784981"/>
            <a:ext cx="875333" cy="3267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800"/>
          </a:p>
        </p:txBody>
      </p:sp>
      <p:grpSp>
        <p:nvGrpSpPr>
          <p:cNvPr id="870" name="Google Shape;870;p23"/>
          <p:cNvGrpSpPr/>
          <p:nvPr/>
        </p:nvGrpSpPr>
        <p:grpSpPr>
          <a:xfrm>
            <a:off x="1580676" y="2086461"/>
            <a:ext cx="579095" cy="1724219"/>
            <a:chOff x="583560" y="2781936"/>
            <a:chExt cx="772126" cy="2298959"/>
          </a:xfrm>
        </p:grpSpPr>
        <p:sp>
          <p:nvSpPr>
            <p:cNvPr id="828" name="Google Shape;828;p23"/>
            <p:cNvSpPr txBox="1"/>
            <p:nvPr/>
          </p:nvSpPr>
          <p:spPr>
            <a:xfrm>
              <a:off x="785151" y="2781936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endParaRPr sz="1800"/>
            </a:p>
          </p:txBody>
        </p:sp>
        <p:sp>
          <p:nvSpPr>
            <p:cNvPr id="831" name="Google Shape;831;p23"/>
            <p:cNvSpPr txBox="1"/>
            <p:nvPr/>
          </p:nvSpPr>
          <p:spPr>
            <a:xfrm>
              <a:off x="785151" y="4645237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800"/>
            </a:p>
          </p:txBody>
        </p:sp>
        <p:cxnSp>
          <p:nvCxnSpPr>
            <p:cNvPr id="871" name="Google Shape;871;p23"/>
            <p:cNvCxnSpPr>
              <a:stCxn id="869" idx="0"/>
              <a:endCxn id="828" idx="2"/>
            </p:cNvCxnSpPr>
            <p:nvPr/>
          </p:nvCxnSpPr>
          <p:spPr>
            <a:xfrm rot="10800000" flipH="1">
              <a:off x="583560" y="3217696"/>
              <a:ext cx="486900" cy="495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72" name="Google Shape;872;p23"/>
            <p:cNvCxnSpPr>
              <a:stCxn id="869" idx="2"/>
              <a:endCxn id="831" idx="0"/>
            </p:cNvCxnSpPr>
            <p:nvPr/>
          </p:nvCxnSpPr>
          <p:spPr>
            <a:xfrm>
              <a:off x="583560" y="4148955"/>
              <a:ext cx="486900" cy="496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1773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4"/>
          <p:cNvSpPr txBox="1">
            <a:spLocks noGrp="1"/>
          </p:cNvSpPr>
          <p:nvPr>
            <p:ph type="title"/>
          </p:nvPr>
        </p:nvSpPr>
        <p:spPr>
          <a:xfrm>
            <a:off x="628049" y="0"/>
            <a:ext cx="4529830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dirty="0">
                <a:solidFill>
                  <a:srgbClr val="3A85FE"/>
                </a:solidFill>
                <a:ea typeface="Calibri"/>
                <a:cs typeface="Calibri"/>
                <a:sym typeface="Calibri"/>
              </a:rPr>
              <a:t>Decoder based on Beam search</a:t>
            </a:r>
            <a:r>
              <a:rPr lang="en-US" dirty="0">
                <a:solidFill>
                  <a:srgbClr val="0066FF"/>
                </a:solidFill>
              </a:rPr>
              <a:t>: Example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878" name="Google Shape;878;p24"/>
          <p:cNvSpPr txBox="1">
            <a:spLocks noGrp="1"/>
          </p:cNvSpPr>
          <p:nvPr>
            <p:ph type="body" idx="1"/>
          </p:nvPr>
        </p:nvSpPr>
        <p:spPr>
          <a:xfrm>
            <a:off x="1394755" y="969876"/>
            <a:ext cx="1247172" cy="3267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Beam size = 2</a:t>
            </a:r>
            <a:endParaRPr/>
          </a:p>
        </p:txBody>
      </p:sp>
      <p:sp>
        <p:nvSpPr>
          <p:cNvPr id="879" name="Google Shape;879;p24"/>
          <p:cNvSpPr txBox="1">
            <a:spLocks noGrp="1"/>
          </p:cNvSpPr>
          <p:nvPr>
            <p:ph type="sldNum" idx="12"/>
          </p:nvPr>
        </p:nvSpPr>
        <p:spPr>
          <a:xfrm>
            <a:off x="7125309" y="4752826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23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0" name="Google Shape;880;p24"/>
          <p:cNvGrpSpPr/>
          <p:nvPr/>
        </p:nvGrpSpPr>
        <p:grpSpPr>
          <a:xfrm>
            <a:off x="2159771" y="1887296"/>
            <a:ext cx="1133050" cy="2114067"/>
            <a:chOff x="1355686" y="2516395"/>
            <a:chExt cx="1510733" cy="2818756"/>
          </a:xfrm>
        </p:grpSpPr>
        <p:sp>
          <p:nvSpPr>
            <p:cNvPr id="881" name="Google Shape;881;p24"/>
            <p:cNvSpPr txBox="1"/>
            <p:nvPr/>
          </p:nvSpPr>
          <p:spPr>
            <a:xfrm>
              <a:off x="1749461" y="251639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sp>
          <p:nvSpPr>
            <p:cNvPr id="882" name="Google Shape;882;p24"/>
            <p:cNvSpPr txBox="1"/>
            <p:nvPr/>
          </p:nvSpPr>
          <p:spPr>
            <a:xfrm>
              <a:off x="1749461" y="304293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people</a:t>
              </a:r>
              <a:endParaRPr sz="1800"/>
            </a:p>
          </p:txBody>
        </p:sp>
        <p:sp>
          <p:nvSpPr>
            <p:cNvPr id="883" name="Google Shape;883;p24"/>
            <p:cNvSpPr txBox="1"/>
            <p:nvPr/>
          </p:nvSpPr>
          <p:spPr>
            <a:xfrm>
              <a:off x="1749461" y="437295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sp>
          <p:nvSpPr>
            <p:cNvPr id="884" name="Google Shape;884;p24"/>
            <p:cNvSpPr txBox="1"/>
            <p:nvPr/>
          </p:nvSpPr>
          <p:spPr>
            <a:xfrm>
              <a:off x="1749461" y="489949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person</a:t>
              </a:r>
              <a:endParaRPr sz="1800"/>
            </a:p>
          </p:txBody>
        </p:sp>
        <p:cxnSp>
          <p:nvCxnSpPr>
            <p:cNvPr id="885" name="Google Shape;885;p24"/>
            <p:cNvCxnSpPr>
              <a:stCxn id="886" idx="3"/>
              <a:endCxn id="881" idx="1"/>
            </p:cNvCxnSpPr>
            <p:nvPr/>
          </p:nvCxnSpPr>
          <p:spPr>
            <a:xfrm rot="10800000" flipH="1">
              <a:off x="1355686" y="2734275"/>
              <a:ext cx="393900" cy="2655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87" name="Google Shape;887;p24"/>
            <p:cNvCxnSpPr>
              <a:stCxn id="886" idx="3"/>
              <a:endCxn id="882" idx="1"/>
            </p:cNvCxnSpPr>
            <p:nvPr/>
          </p:nvCxnSpPr>
          <p:spPr>
            <a:xfrm>
              <a:off x="1355686" y="2999775"/>
              <a:ext cx="393900" cy="2610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88" name="Google Shape;888;p24"/>
            <p:cNvCxnSpPr>
              <a:stCxn id="889" idx="3"/>
              <a:endCxn id="883" idx="1"/>
            </p:cNvCxnSpPr>
            <p:nvPr/>
          </p:nvCxnSpPr>
          <p:spPr>
            <a:xfrm rot="10800000" flipH="1">
              <a:off x="1355686" y="4590676"/>
              <a:ext cx="393900" cy="2724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90" name="Google Shape;890;p24"/>
            <p:cNvCxnSpPr>
              <a:stCxn id="889" idx="3"/>
              <a:endCxn id="884" idx="1"/>
            </p:cNvCxnSpPr>
            <p:nvPr/>
          </p:nvCxnSpPr>
          <p:spPr>
            <a:xfrm>
              <a:off x="1355686" y="4863076"/>
              <a:ext cx="393900" cy="254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891" name="Google Shape;891;p24"/>
          <p:cNvGrpSpPr/>
          <p:nvPr/>
        </p:nvGrpSpPr>
        <p:grpSpPr>
          <a:xfrm>
            <a:off x="3292820" y="1666412"/>
            <a:ext cx="1091274" cy="2133807"/>
            <a:chOff x="2866418" y="2221881"/>
            <a:chExt cx="1455031" cy="2845076"/>
          </a:xfrm>
        </p:grpSpPr>
        <p:sp>
          <p:nvSpPr>
            <p:cNvPr id="892" name="Google Shape;892;p24"/>
            <p:cNvSpPr txBox="1"/>
            <p:nvPr/>
          </p:nvSpPr>
          <p:spPr>
            <a:xfrm>
              <a:off x="3204491" y="2221881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are</a:t>
              </a:r>
              <a:endParaRPr sz="1800"/>
            </a:p>
          </p:txBody>
        </p:sp>
        <p:sp>
          <p:nvSpPr>
            <p:cNvPr id="893" name="Google Shape;893;p24"/>
            <p:cNvSpPr txBox="1"/>
            <p:nvPr/>
          </p:nvSpPr>
          <p:spPr>
            <a:xfrm>
              <a:off x="3204491" y="2748419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don’t</a:t>
              </a:r>
              <a:endParaRPr sz="1800"/>
            </a:p>
          </p:txBody>
        </p:sp>
        <p:sp>
          <p:nvSpPr>
            <p:cNvPr id="894" name="Google Shape;894;p24"/>
            <p:cNvSpPr txBox="1"/>
            <p:nvPr/>
          </p:nvSpPr>
          <p:spPr>
            <a:xfrm>
              <a:off x="3204491" y="4104761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person</a:t>
              </a:r>
              <a:endParaRPr sz="1800"/>
            </a:p>
          </p:txBody>
        </p:sp>
        <p:sp>
          <p:nvSpPr>
            <p:cNvPr id="895" name="Google Shape;895;p24"/>
            <p:cNvSpPr txBox="1"/>
            <p:nvPr/>
          </p:nvSpPr>
          <p:spPr>
            <a:xfrm>
              <a:off x="3204491" y="4631299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but</a:t>
              </a:r>
              <a:endParaRPr sz="1800"/>
            </a:p>
          </p:txBody>
        </p:sp>
        <p:cxnSp>
          <p:nvCxnSpPr>
            <p:cNvPr id="896" name="Google Shape;896;p24"/>
            <p:cNvCxnSpPr>
              <a:stCxn id="881" idx="3"/>
              <a:endCxn id="892" idx="1"/>
            </p:cNvCxnSpPr>
            <p:nvPr/>
          </p:nvCxnSpPr>
          <p:spPr>
            <a:xfrm rot="10800000" flipH="1">
              <a:off x="2866418" y="2439622"/>
              <a:ext cx="338100" cy="294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97" name="Google Shape;897;p24"/>
            <p:cNvCxnSpPr>
              <a:stCxn id="881" idx="3"/>
              <a:endCxn id="893" idx="1"/>
            </p:cNvCxnSpPr>
            <p:nvPr/>
          </p:nvCxnSpPr>
          <p:spPr>
            <a:xfrm>
              <a:off x="2866418" y="2734222"/>
              <a:ext cx="338100" cy="2319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98" name="Google Shape;898;p24"/>
            <p:cNvCxnSpPr>
              <a:stCxn id="883" idx="3"/>
              <a:endCxn id="894" idx="1"/>
            </p:cNvCxnSpPr>
            <p:nvPr/>
          </p:nvCxnSpPr>
          <p:spPr>
            <a:xfrm rot="10800000" flipH="1">
              <a:off x="2866418" y="4322582"/>
              <a:ext cx="338100" cy="268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99" name="Google Shape;899;p24"/>
            <p:cNvCxnSpPr>
              <a:stCxn id="883" idx="3"/>
              <a:endCxn id="895" idx="1"/>
            </p:cNvCxnSpPr>
            <p:nvPr/>
          </p:nvCxnSpPr>
          <p:spPr>
            <a:xfrm>
              <a:off x="2866418" y="4590782"/>
              <a:ext cx="338100" cy="2583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900" name="Google Shape;900;p24"/>
          <p:cNvGrpSpPr/>
          <p:nvPr/>
        </p:nvGrpSpPr>
        <p:grpSpPr>
          <a:xfrm>
            <a:off x="4384094" y="1118826"/>
            <a:ext cx="1155663" cy="1693820"/>
            <a:chOff x="4321450" y="1491757"/>
            <a:chExt cx="1540884" cy="2258427"/>
          </a:xfrm>
        </p:grpSpPr>
        <p:sp>
          <p:nvSpPr>
            <p:cNvPr id="901" name="Google Shape;901;p24"/>
            <p:cNvSpPr txBox="1"/>
            <p:nvPr/>
          </p:nvSpPr>
          <p:spPr>
            <a:xfrm>
              <a:off x="4719576" y="1491757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always</a:t>
              </a:r>
              <a:endParaRPr sz="1800"/>
            </a:p>
          </p:txBody>
        </p:sp>
        <p:sp>
          <p:nvSpPr>
            <p:cNvPr id="902" name="Google Shape;902;p24"/>
            <p:cNvSpPr txBox="1"/>
            <p:nvPr/>
          </p:nvSpPr>
          <p:spPr>
            <a:xfrm>
              <a:off x="4719576" y="201829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endParaRPr sz="1800"/>
            </a:p>
          </p:txBody>
        </p:sp>
        <p:sp>
          <p:nvSpPr>
            <p:cNvPr id="903" name="Google Shape;903;p24"/>
            <p:cNvSpPr txBox="1"/>
            <p:nvPr/>
          </p:nvSpPr>
          <p:spPr>
            <a:xfrm>
              <a:off x="4745376" y="2787988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have</a:t>
              </a:r>
              <a:endParaRPr sz="1800"/>
            </a:p>
          </p:txBody>
        </p:sp>
        <p:sp>
          <p:nvSpPr>
            <p:cNvPr id="904" name="Google Shape;904;p24"/>
            <p:cNvSpPr txBox="1"/>
            <p:nvPr/>
          </p:nvSpPr>
          <p:spPr>
            <a:xfrm>
              <a:off x="4745376" y="3314526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take</a:t>
              </a:r>
              <a:endParaRPr sz="1800"/>
            </a:p>
          </p:txBody>
        </p:sp>
        <p:cxnSp>
          <p:nvCxnSpPr>
            <p:cNvPr id="905" name="Google Shape;905;p24"/>
            <p:cNvCxnSpPr>
              <a:stCxn id="893" idx="3"/>
              <a:endCxn id="903" idx="1"/>
            </p:cNvCxnSpPr>
            <p:nvPr/>
          </p:nvCxnSpPr>
          <p:spPr>
            <a:xfrm>
              <a:off x="4321450" y="2966241"/>
              <a:ext cx="423900" cy="39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06" name="Google Shape;906;p24"/>
            <p:cNvCxnSpPr>
              <a:stCxn id="893" idx="3"/>
              <a:endCxn id="904" idx="1"/>
            </p:cNvCxnSpPr>
            <p:nvPr/>
          </p:nvCxnSpPr>
          <p:spPr>
            <a:xfrm>
              <a:off x="4321450" y="2966241"/>
              <a:ext cx="423900" cy="566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07" name="Google Shape;907;p24"/>
            <p:cNvCxnSpPr>
              <a:stCxn id="892" idx="3"/>
              <a:endCxn id="902" idx="1"/>
            </p:cNvCxnSpPr>
            <p:nvPr/>
          </p:nvCxnSpPr>
          <p:spPr>
            <a:xfrm rot="10800000" flipH="1">
              <a:off x="4321450" y="2236003"/>
              <a:ext cx="398100" cy="2037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08" name="Google Shape;908;p24"/>
            <p:cNvCxnSpPr>
              <a:stCxn id="892" idx="3"/>
              <a:endCxn id="901" idx="1"/>
            </p:cNvCxnSpPr>
            <p:nvPr/>
          </p:nvCxnSpPr>
          <p:spPr>
            <a:xfrm rot="10800000" flipH="1">
              <a:off x="4321450" y="1709503"/>
              <a:ext cx="398100" cy="730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909" name="Google Shape;909;p24"/>
          <p:cNvGrpSpPr/>
          <p:nvPr/>
        </p:nvGrpSpPr>
        <p:grpSpPr>
          <a:xfrm>
            <a:off x="5520407" y="1345424"/>
            <a:ext cx="1175013" cy="1766302"/>
            <a:chOff x="5836535" y="1793890"/>
            <a:chExt cx="1566684" cy="2355069"/>
          </a:xfrm>
        </p:grpSpPr>
        <p:sp>
          <p:nvSpPr>
            <p:cNvPr id="910" name="Google Shape;910;p24"/>
            <p:cNvSpPr txBox="1"/>
            <p:nvPr/>
          </p:nvSpPr>
          <p:spPr>
            <a:xfrm>
              <a:off x="6286261" y="1793890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</a:t>
              </a:r>
              <a:endParaRPr sz="1800"/>
            </a:p>
          </p:txBody>
        </p:sp>
        <p:sp>
          <p:nvSpPr>
            <p:cNvPr id="911" name="Google Shape;911;p24"/>
            <p:cNvSpPr txBox="1"/>
            <p:nvPr/>
          </p:nvSpPr>
          <p:spPr>
            <a:xfrm>
              <a:off x="6286261" y="2320428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with</a:t>
              </a:r>
              <a:endParaRPr sz="1800"/>
            </a:p>
          </p:txBody>
        </p:sp>
        <p:sp>
          <p:nvSpPr>
            <p:cNvPr id="912" name="Google Shape;912;p24"/>
            <p:cNvSpPr txBox="1"/>
            <p:nvPr/>
          </p:nvSpPr>
          <p:spPr>
            <a:xfrm>
              <a:off x="6286261" y="318676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any</a:t>
              </a:r>
              <a:endParaRPr sz="1800"/>
            </a:p>
          </p:txBody>
        </p:sp>
        <p:sp>
          <p:nvSpPr>
            <p:cNvPr id="913" name="Google Shape;913;p24"/>
            <p:cNvSpPr txBox="1"/>
            <p:nvPr/>
          </p:nvSpPr>
          <p:spPr>
            <a:xfrm>
              <a:off x="6286261" y="3713301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enough</a:t>
              </a:r>
              <a:endParaRPr sz="1800"/>
            </a:p>
          </p:txBody>
        </p:sp>
        <p:cxnSp>
          <p:nvCxnSpPr>
            <p:cNvPr id="914" name="Google Shape;914;p24"/>
            <p:cNvCxnSpPr>
              <a:stCxn id="902" idx="3"/>
              <a:endCxn id="910" idx="1"/>
            </p:cNvCxnSpPr>
            <p:nvPr/>
          </p:nvCxnSpPr>
          <p:spPr>
            <a:xfrm rot="10800000" flipH="1">
              <a:off x="5836535" y="2011726"/>
              <a:ext cx="449700" cy="2244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15" name="Google Shape;915;p24"/>
            <p:cNvCxnSpPr>
              <a:stCxn id="902" idx="3"/>
              <a:endCxn id="911" idx="1"/>
            </p:cNvCxnSpPr>
            <p:nvPr/>
          </p:nvCxnSpPr>
          <p:spPr>
            <a:xfrm>
              <a:off x="5836535" y="2236126"/>
              <a:ext cx="449700" cy="3021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16" name="Google Shape;916;p24"/>
            <p:cNvCxnSpPr>
              <a:stCxn id="903" idx="3"/>
              <a:endCxn id="912" idx="1"/>
            </p:cNvCxnSpPr>
            <p:nvPr/>
          </p:nvCxnSpPr>
          <p:spPr>
            <a:xfrm>
              <a:off x="5862335" y="3005819"/>
              <a:ext cx="423900" cy="3987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17" name="Google Shape;917;p24"/>
            <p:cNvCxnSpPr>
              <a:stCxn id="903" idx="3"/>
              <a:endCxn id="913" idx="1"/>
            </p:cNvCxnSpPr>
            <p:nvPr/>
          </p:nvCxnSpPr>
          <p:spPr>
            <a:xfrm>
              <a:off x="5862335" y="3005819"/>
              <a:ext cx="423900" cy="925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918" name="Google Shape;918;p24"/>
          <p:cNvGrpSpPr/>
          <p:nvPr/>
        </p:nvGrpSpPr>
        <p:grpSpPr>
          <a:xfrm>
            <a:off x="6695421" y="1887296"/>
            <a:ext cx="1201414" cy="1831551"/>
            <a:chOff x="7403226" y="2516395"/>
            <a:chExt cx="1601885" cy="2442068"/>
          </a:xfrm>
        </p:grpSpPr>
        <p:sp>
          <p:nvSpPr>
            <p:cNvPr id="919" name="Google Shape;919;p24"/>
            <p:cNvSpPr txBox="1"/>
            <p:nvPr/>
          </p:nvSpPr>
          <p:spPr>
            <a:xfrm>
              <a:off x="7888153" y="251639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money</a:t>
              </a:r>
              <a:endParaRPr sz="1800"/>
            </a:p>
          </p:txBody>
        </p:sp>
        <p:sp>
          <p:nvSpPr>
            <p:cNvPr id="920" name="Google Shape;920;p24"/>
            <p:cNvSpPr txBox="1"/>
            <p:nvPr/>
          </p:nvSpPr>
          <p:spPr>
            <a:xfrm>
              <a:off x="7888153" y="3042933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funds</a:t>
              </a:r>
              <a:endParaRPr sz="1800"/>
            </a:p>
          </p:txBody>
        </p:sp>
        <p:sp>
          <p:nvSpPr>
            <p:cNvPr id="921" name="Google Shape;921;p24"/>
            <p:cNvSpPr txBox="1"/>
            <p:nvPr/>
          </p:nvSpPr>
          <p:spPr>
            <a:xfrm>
              <a:off x="7888153" y="3996267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money</a:t>
              </a:r>
              <a:endParaRPr sz="1800"/>
            </a:p>
          </p:txBody>
        </p:sp>
        <p:sp>
          <p:nvSpPr>
            <p:cNvPr id="922" name="Google Shape;922;p24"/>
            <p:cNvSpPr txBox="1"/>
            <p:nvPr/>
          </p:nvSpPr>
          <p:spPr>
            <a:xfrm>
              <a:off x="7888153" y="4522805"/>
              <a:ext cx="1116958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funds</a:t>
              </a:r>
              <a:endParaRPr sz="1800"/>
            </a:p>
          </p:txBody>
        </p:sp>
        <p:cxnSp>
          <p:nvCxnSpPr>
            <p:cNvPr id="923" name="Google Shape;923;p24"/>
            <p:cNvCxnSpPr>
              <a:stCxn id="912" idx="3"/>
              <a:endCxn id="919" idx="1"/>
            </p:cNvCxnSpPr>
            <p:nvPr/>
          </p:nvCxnSpPr>
          <p:spPr>
            <a:xfrm rot="10800000" flipH="1">
              <a:off x="7403226" y="2734099"/>
              <a:ext cx="484800" cy="6705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24" name="Google Shape;924;p24"/>
            <p:cNvCxnSpPr>
              <a:stCxn id="912" idx="3"/>
              <a:endCxn id="920" idx="1"/>
            </p:cNvCxnSpPr>
            <p:nvPr/>
          </p:nvCxnSpPr>
          <p:spPr>
            <a:xfrm rot="10800000" flipH="1">
              <a:off x="7403226" y="3260899"/>
              <a:ext cx="484800" cy="1437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25" name="Google Shape;925;p24"/>
            <p:cNvCxnSpPr>
              <a:stCxn id="913" idx="3"/>
              <a:endCxn id="921" idx="1"/>
            </p:cNvCxnSpPr>
            <p:nvPr/>
          </p:nvCxnSpPr>
          <p:spPr>
            <a:xfrm>
              <a:off x="7403226" y="3931137"/>
              <a:ext cx="484800" cy="2829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26" name="Google Shape;926;p24"/>
            <p:cNvCxnSpPr>
              <a:stCxn id="913" idx="3"/>
              <a:endCxn id="922" idx="1"/>
            </p:cNvCxnSpPr>
            <p:nvPr/>
          </p:nvCxnSpPr>
          <p:spPr>
            <a:xfrm>
              <a:off x="7403226" y="3931137"/>
              <a:ext cx="484800" cy="8094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927" name="Google Shape;927;p24"/>
          <p:cNvSpPr txBox="1"/>
          <p:nvPr/>
        </p:nvSpPr>
        <p:spPr>
          <a:xfrm>
            <a:off x="1143009" y="2784981"/>
            <a:ext cx="875333" cy="3267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500" i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800"/>
          </a:p>
        </p:txBody>
      </p:sp>
      <p:grpSp>
        <p:nvGrpSpPr>
          <p:cNvPr id="928" name="Google Shape;928;p24"/>
          <p:cNvGrpSpPr/>
          <p:nvPr/>
        </p:nvGrpSpPr>
        <p:grpSpPr>
          <a:xfrm>
            <a:off x="1580676" y="2086461"/>
            <a:ext cx="579095" cy="1724219"/>
            <a:chOff x="583560" y="2781936"/>
            <a:chExt cx="772126" cy="2298959"/>
          </a:xfrm>
        </p:grpSpPr>
        <p:sp>
          <p:nvSpPr>
            <p:cNvPr id="886" name="Google Shape;886;p24"/>
            <p:cNvSpPr txBox="1"/>
            <p:nvPr/>
          </p:nvSpPr>
          <p:spPr>
            <a:xfrm>
              <a:off x="785151" y="2781936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endParaRPr sz="1800"/>
            </a:p>
          </p:txBody>
        </p:sp>
        <p:sp>
          <p:nvSpPr>
            <p:cNvPr id="889" name="Google Shape;889;p24"/>
            <p:cNvSpPr txBox="1"/>
            <p:nvPr/>
          </p:nvSpPr>
          <p:spPr>
            <a:xfrm>
              <a:off x="785151" y="4645237"/>
              <a:ext cx="570535" cy="435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5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800"/>
            </a:p>
          </p:txBody>
        </p:sp>
        <p:cxnSp>
          <p:nvCxnSpPr>
            <p:cNvPr id="929" name="Google Shape;929;p24"/>
            <p:cNvCxnSpPr>
              <a:stCxn id="927" idx="0"/>
              <a:endCxn id="886" idx="2"/>
            </p:cNvCxnSpPr>
            <p:nvPr/>
          </p:nvCxnSpPr>
          <p:spPr>
            <a:xfrm rot="10800000" flipH="1">
              <a:off x="583560" y="3217696"/>
              <a:ext cx="486900" cy="4956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30" name="Google Shape;930;p24"/>
            <p:cNvCxnSpPr>
              <a:stCxn id="927" idx="2"/>
              <a:endCxn id="889" idx="0"/>
            </p:cNvCxnSpPr>
            <p:nvPr/>
          </p:nvCxnSpPr>
          <p:spPr>
            <a:xfrm>
              <a:off x="583560" y="4148955"/>
              <a:ext cx="486900" cy="4962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66947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5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7224713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buSzPts val="3300"/>
            </a:pPr>
            <a:r>
              <a:rPr lang="en-US" b="1" dirty="0">
                <a:solidFill>
                  <a:srgbClr val="0066FF"/>
                </a:solidFill>
              </a:rPr>
              <a:t>Beam search: </a:t>
            </a:r>
            <a:r>
              <a:rPr lang="en-US" dirty="0">
                <a:solidFill>
                  <a:srgbClr val="0099FF"/>
                </a:solidFill>
              </a:rPr>
              <a:t>stopping criterion</a:t>
            </a:r>
            <a:endParaRPr b="1" dirty="0">
              <a:solidFill>
                <a:srgbClr val="0099FF"/>
              </a:solidFill>
            </a:endParaRPr>
          </a:p>
        </p:txBody>
      </p:sp>
      <p:sp>
        <p:nvSpPr>
          <p:cNvPr id="936" name="Google Shape;936;p25"/>
          <p:cNvSpPr txBox="1">
            <a:spLocks noGrp="1"/>
          </p:cNvSpPr>
          <p:nvPr>
            <p:ph type="body" idx="1"/>
          </p:nvPr>
        </p:nvSpPr>
        <p:spPr>
          <a:xfrm>
            <a:off x="381000" y="834154"/>
            <a:ext cx="7924800" cy="40700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rmAutofit/>
          </a:bodyPr>
          <a:lstStyle/>
          <a:p>
            <a:pPr marL="128588" indent="-128588">
              <a:spcBef>
                <a:spcPts val="0"/>
              </a:spcBef>
            </a:pPr>
            <a:r>
              <a:rPr lang="en-US" dirty="0"/>
              <a:t>In greedy decoding, usually we decode until the model produces an &lt;END&gt;</a:t>
            </a:r>
            <a:endParaRPr dirty="0"/>
          </a:p>
          <a:p>
            <a:pPr marL="57146" indent="0"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: </a:t>
            </a:r>
            <a:r>
              <a:rPr lang="en-US" i="1" dirty="0"/>
              <a:t>&lt;START&gt; he hit me with a pie &lt;END&gt;</a:t>
            </a:r>
            <a:endParaRPr dirty="0"/>
          </a:p>
          <a:p>
            <a:pPr marL="128588" indent="-128588"/>
            <a:r>
              <a:rPr lang="en-US" dirty="0"/>
              <a:t>In </a:t>
            </a:r>
            <a:r>
              <a:rPr lang="en-US" dirty="0">
                <a:solidFill>
                  <a:srgbClr val="0099FF"/>
                </a:solidFill>
              </a:rPr>
              <a:t>beam search decoding</a:t>
            </a:r>
            <a:r>
              <a:rPr lang="en-US" dirty="0"/>
              <a:t>, different hypotheses may produce &lt;END&gt; tokens </a:t>
            </a:r>
            <a:r>
              <a:rPr lang="en-US" dirty="0" smtClean="0"/>
              <a:t>on different </a:t>
            </a:r>
            <a:r>
              <a:rPr lang="en-US" dirty="0" err="1" smtClean="0"/>
              <a:t>timesteps</a:t>
            </a:r>
            <a:endParaRPr dirty="0"/>
          </a:p>
          <a:p>
            <a:pPr marL="385763" lvl="1" indent="-128588">
              <a:buSzPts val="2000"/>
            </a:pPr>
            <a:r>
              <a:rPr lang="en-US" sz="1600" dirty="0"/>
              <a:t>When a hypothesis produces &lt;END&gt;, that hypothesis is </a:t>
            </a:r>
            <a:r>
              <a:rPr lang="en-US" sz="1600" b="1" dirty="0" smtClean="0">
                <a:solidFill>
                  <a:srgbClr val="FF0000"/>
                </a:solidFill>
              </a:rPr>
              <a:t>complete</a:t>
            </a:r>
            <a:r>
              <a:rPr lang="en-US" sz="1500" dirty="0"/>
              <a:t>.</a:t>
            </a:r>
            <a:endParaRPr dirty="0"/>
          </a:p>
          <a:p>
            <a:pPr marL="385763" lvl="1" indent="-128588">
              <a:buSzPts val="2000"/>
            </a:pPr>
            <a:r>
              <a:rPr lang="en-US" sz="1600" b="1" dirty="0">
                <a:solidFill>
                  <a:srgbClr val="FF0000"/>
                </a:solidFill>
              </a:rPr>
              <a:t>Place it aside </a:t>
            </a:r>
            <a:r>
              <a:rPr lang="en-US" sz="1600" dirty="0"/>
              <a:t>and continue exploring other hypotheses via beam </a:t>
            </a:r>
            <a:r>
              <a:rPr lang="en-US" sz="1600" dirty="0" smtClean="0"/>
              <a:t>search.</a:t>
            </a:r>
            <a:endParaRPr dirty="0"/>
          </a:p>
          <a:p>
            <a:pPr marL="128588" indent="-128588"/>
            <a:r>
              <a:rPr lang="en-US" dirty="0"/>
              <a:t>Usually we continue beam search </a:t>
            </a:r>
            <a:r>
              <a:rPr lang="en-US" dirty="0" smtClean="0"/>
              <a:t>until:</a:t>
            </a:r>
            <a:endParaRPr dirty="0"/>
          </a:p>
          <a:p>
            <a:pPr marL="385763" lvl="1" indent="-128588">
              <a:buSzPts val="2000"/>
            </a:pPr>
            <a:r>
              <a:rPr lang="en-US" sz="1600" dirty="0"/>
              <a:t>We reach </a:t>
            </a:r>
            <a:r>
              <a:rPr lang="en-US" sz="1600" dirty="0" err="1"/>
              <a:t>timestep</a:t>
            </a:r>
            <a:r>
              <a:rPr lang="en-US" sz="1600" dirty="0"/>
              <a:t> </a:t>
            </a:r>
            <a:r>
              <a:rPr lang="en-US" sz="1600" i="1" dirty="0"/>
              <a:t>T </a:t>
            </a:r>
            <a:r>
              <a:rPr lang="en-US" sz="1600" dirty="0"/>
              <a:t>(where </a:t>
            </a:r>
            <a:r>
              <a:rPr lang="en-US" sz="1600" i="1" dirty="0"/>
              <a:t>T </a:t>
            </a:r>
            <a:r>
              <a:rPr lang="en-US" sz="1600" dirty="0"/>
              <a:t>is some pre-defined cutoff), or</a:t>
            </a:r>
            <a:endParaRPr sz="1500" dirty="0"/>
          </a:p>
          <a:p>
            <a:pPr marL="385763" lvl="1" indent="-128588">
              <a:buSzPts val="2000"/>
            </a:pPr>
            <a:r>
              <a:rPr lang="en-US" sz="1600" dirty="0"/>
              <a:t>We have at least </a:t>
            </a:r>
            <a:r>
              <a:rPr lang="en-US" sz="1600" i="1" dirty="0"/>
              <a:t>n </a:t>
            </a:r>
            <a:r>
              <a:rPr lang="en-US" sz="1600" dirty="0"/>
              <a:t>completed hypotheses (where </a:t>
            </a:r>
            <a:r>
              <a:rPr lang="en-US" sz="1600" i="1" dirty="0"/>
              <a:t>n </a:t>
            </a:r>
            <a:r>
              <a:rPr lang="en-US" sz="1600" dirty="0"/>
              <a:t>is pre-defined cutoff)</a:t>
            </a:r>
            <a:endParaRPr dirty="0"/>
          </a:p>
          <a:p>
            <a:pPr marL="385763" lvl="1" indent="-42863">
              <a:buNone/>
            </a:pPr>
            <a:endParaRPr dirty="0"/>
          </a:p>
        </p:txBody>
      </p:sp>
      <p:sp>
        <p:nvSpPr>
          <p:cNvPr id="937" name="Google Shape;937;p25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/>
              <a:p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257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27"/>
          <p:cNvSpPr txBox="1">
            <a:spLocks noGrp="1"/>
          </p:cNvSpPr>
          <p:nvPr>
            <p:ph type="title"/>
          </p:nvPr>
        </p:nvSpPr>
        <p:spPr>
          <a:xfrm>
            <a:off x="628049" y="0"/>
            <a:ext cx="4529830" cy="7146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00B050"/>
              </a:buClr>
              <a:buSzPts val="3300"/>
            </a:pPr>
            <a:r>
              <a:rPr lang="en-US" dirty="0" smtClean="0">
                <a:solidFill>
                  <a:srgbClr val="0066FF"/>
                </a:solidFill>
              </a:rPr>
              <a:t>Advantage of </a:t>
            </a:r>
            <a:r>
              <a:rPr lang="en-US" sz="2400" dirty="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NMT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952" name="Google Shape;952;p27"/>
          <p:cNvSpPr txBox="1">
            <a:spLocks noGrp="1"/>
          </p:cNvSpPr>
          <p:nvPr>
            <p:ph type="body" idx="1"/>
          </p:nvPr>
        </p:nvSpPr>
        <p:spPr>
          <a:xfrm>
            <a:off x="628048" y="895350"/>
            <a:ext cx="7372951" cy="3718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SzPts val="2400"/>
              <a:buNone/>
            </a:pP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Compared to SMT, NMT has many </a:t>
            </a:r>
            <a:r>
              <a:rPr lang="en-US" sz="1800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Better </a:t>
            </a:r>
            <a:r>
              <a:rPr lang="en-US" sz="1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dirty="0"/>
          </a:p>
          <a:p>
            <a:pPr marL="385763" lvl="1" indent="-128588">
              <a:spcBef>
                <a:spcPts val="330"/>
              </a:spcBef>
              <a:buClr>
                <a:srgbClr val="3A85FE"/>
              </a:buClr>
              <a:buSzPts val="2200"/>
              <a:buFont typeface="Times"/>
              <a:buChar char="•"/>
            </a:pPr>
            <a:r>
              <a:rPr lang="en-US" sz="1650" dirty="0">
                <a:latin typeface="Calibri"/>
                <a:ea typeface="Calibri"/>
                <a:cs typeface="Calibri"/>
                <a:sym typeface="Calibri"/>
              </a:rPr>
              <a:t>More </a:t>
            </a:r>
            <a:r>
              <a:rPr lang="en-US" sz="165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fluent</a:t>
            </a:r>
            <a:endParaRPr dirty="0"/>
          </a:p>
          <a:p>
            <a:pPr marL="385763" lvl="1" indent="-128588">
              <a:spcBef>
                <a:spcPts val="330"/>
              </a:spcBef>
              <a:buClr>
                <a:srgbClr val="3A85FE"/>
              </a:buClr>
              <a:buSzPts val="2200"/>
              <a:buFont typeface="Times"/>
              <a:buChar char="•"/>
            </a:pPr>
            <a:r>
              <a:rPr lang="en-US" sz="1650" dirty="0">
                <a:latin typeface="Calibri"/>
                <a:ea typeface="Calibri"/>
                <a:cs typeface="Calibri"/>
                <a:sym typeface="Calibri"/>
              </a:rPr>
              <a:t>Better use of </a:t>
            </a:r>
            <a:r>
              <a:rPr lang="en-US" sz="165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200"/>
              <a:buFont typeface="Times"/>
              <a:buChar char="•"/>
            </a:pPr>
            <a:r>
              <a:rPr lang="en-US" sz="1650" dirty="0">
                <a:latin typeface="Calibri"/>
                <a:ea typeface="Calibri"/>
                <a:cs typeface="Calibri"/>
                <a:sym typeface="Calibri"/>
              </a:rPr>
              <a:t>Better use of </a:t>
            </a:r>
            <a:r>
              <a:rPr lang="en-US" sz="165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phrase similarities</a:t>
            </a:r>
            <a:r>
              <a:rPr lang="en-US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1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single neural network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to be optimized end-to-end</a:t>
            </a:r>
            <a:endParaRPr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200"/>
              <a:buFont typeface="Times"/>
              <a:buChar char="•"/>
            </a:pPr>
            <a:r>
              <a:rPr lang="en-US" sz="1650" dirty="0">
                <a:latin typeface="Calibri"/>
                <a:ea typeface="Calibri"/>
                <a:cs typeface="Calibri"/>
                <a:sym typeface="Calibri"/>
              </a:rPr>
              <a:t>No subcomponents to be individually optimized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Requires much </a:t>
            </a:r>
            <a:r>
              <a:rPr lang="en-US" sz="1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less human engineering effort</a:t>
            </a:r>
            <a:endParaRPr dirty="0"/>
          </a:p>
          <a:p>
            <a:pPr marL="385763" lvl="1" indent="-128588">
              <a:spcBef>
                <a:spcPts val="330"/>
              </a:spcBef>
              <a:buClr>
                <a:srgbClr val="3A85FE"/>
              </a:buClr>
              <a:buSzPts val="2200"/>
              <a:buFont typeface="Times"/>
              <a:buChar char="•"/>
            </a:pPr>
            <a:r>
              <a:rPr lang="en-US" sz="1650" dirty="0">
                <a:latin typeface="Calibri"/>
                <a:ea typeface="Calibri"/>
                <a:cs typeface="Calibri"/>
                <a:sym typeface="Calibri"/>
              </a:rPr>
              <a:t>No feature engineering</a:t>
            </a:r>
            <a:endParaRPr dirty="0"/>
          </a:p>
          <a:p>
            <a:pPr marL="385763" lvl="1" indent="-128588">
              <a:spcBef>
                <a:spcPts val="330"/>
              </a:spcBef>
              <a:buClr>
                <a:srgbClr val="3A85FE"/>
              </a:buClr>
              <a:buSzPts val="2200"/>
              <a:buFont typeface="Times"/>
              <a:buChar char="•"/>
            </a:pPr>
            <a:r>
              <a:rPr lang="en-US" sz="1650" dirty="0">
                <a:latin typeface="Calibri"/>
                <a:ea typeface="Calibri"/>
                <a:cs typeface="Calibri"/>
                <a:sym typeface="Calibri"/>
              </a:rPr>
              <a:t>Same method for all language pairs</a:t>
            </a:r>
            <a:endParaRPr dirty="0"/>
          </a:p>
        </p:txBody>
      </p:sp>
      <p:sp>
        <p:nvSpPr>
          <p:cNvPr id="953" name="Google Shape;953;p27"/>
          <p:cNvSpPr txBox="1">
            <a:spLocks noGrp="1"/>
          </p:cNvSpPr>
          <p:nvPr>
            <p:ph type="sldNum" idx="12"/>
          </p:nvPr>
        </p:nvSpPr>
        <p:spPr>
          <a:xfrm>
            <a:off x="7220903" y="4716732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25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09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8"/>
          <p:cNvSpPr txBox="1">
            <a:spLocks noGrp="1"/>
          </p:cNvSpPr>
          <p:nvPr>
            <p:ph type="title"/>
          </p:nvPr>
        </p:nvSpPr>
        <p:spPr>
          <a:xfrm>
            <a:off x="599173" y="0"/>
            <a:ext cx="4558706" cy="69301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C00000"/>
              </a:buClr>
              <a:buSzPts val="3200"/>
            </a:pPr>
            <a:r>
              <a:rPr lang="en-US" dirty="0" smtClean="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Weakness of NMT</a:t>
            </a:r>
            <a:r>
              <a:rPr lang="en-US" dirty="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4000" dirty="0">
              <a:solidFill>
                <a:srgbClr val="0066FF"/>
              </a:solidFill>
            </a:endParaRPr>
          </a:p>
        </p:txBody>
      </p:sp>
      <p:sp>
        <p:nvSpPr>
          <p:cNvPr id="960" name="Google Shape;960;p28"/>
          <p:cNvSpPr txBox="1">
            <a:spLocks noGrp="1"/>
          </p:cNvSpPr>
          <p:nvPr>
            <p:ph type="body" idx="1"/>
          </p:nvPr>
        </p:nvSpPr>
        <p:spPr>
          <a:xfrm>
            <a:off x="599174" y="1047750"/>
            <a:ext cx="6930339" cy="34169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SzPts val="2400"/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Compared to SMT:</a:t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NMT is </a:t>
            </a:r>
            <a:r>
              <a:rPr lang="en-US" sz="18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less interpretable </a:t>
            </a:r>
            <a:endParaRPr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 to debug</a:t>
            </a:r>
            <a:b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NMT is </a:t>
            </a:r>
            <a:r>
              <a:rPr lang="en-US" sz="18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difficult to control	</a:t>
            </a:r>
            <a:endParaRPr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can’t easily specify rules or guidelines for translation</a:t>
            </a:r>
            <a:endParaRPr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 concerns!</a:t>
            </a:r>
            <a:endParaRPr dirty="0"/>
          </a:p>
          <a:p>
            <a:pPr marL="385763" lvl="1" indent="-57146">
              <a:spcBef>
                <a:spcPts val="360"/>
              </a:spcBef>
              <a:buClr>
                <a:srgbClr val="3A85FE"/>
              </a:buClr>
              <a:buSzPts val="2400"/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8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26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057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29"/>
          <p:cNvSpPr txBox="1">
            <a:spLocks noGrp="1"/>
          </p:cNvSpPr>
          <p:nvPr>
            <p:ph type="title"/>
          </p:nvPr>
        </p:nvSpPr>
        <p:spPr>
          <a:xfrm>
            <a:off x="628048" y="1"/>
            <a:ext cx="6077551" cy="6667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dirty="0" smtClean="0">
                <a:solidFill>
                  <a:srgbClr val="3A85FE"/>
                </a:solidFill>
                <a:ea typeface="Calibri"/>
                <a:cs typeface="Calibri"/>
                <a:sym typeface="Calibri"/>
              </a:rPr>
              <a:t>How to evaluation MT system?</a:t>
            </a:r>
            <a:endParaRPr sz="4000" dirty="0"/>
          </a:p>
        </p:txBody>
      </p:sp>
      <p:sp>
        <p:nvSpPr>
          <p:cNvPr id="968" name="Google Shape;968;p29"/>
          <p:cNvSpPr txBox="1">
            <a:spLocks noGrp="1"/>
          </p:cNvSpPr>
          <p:nvPr>
            <p:ph type="body" idx="1"/>
          </p:nvPr>
        </p:nvSpPr>
        <p:spPr>
          <a:xfrm>
            <a:off x="628048" y="895350"/>
            <a:ext cx="7677751" cy="409522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SzPts val="2400"/>
              <a:buNone/>
            </a:pP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BLEU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ingual </a:t>
            </a: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valuation </a:t>
            </a: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nderstudy)</a:t>
            </a:r>
            <a:endParaRPr dirty="0"/>
          </a:p>
          <a:p>
            <a:pPr marL="0" indent="0">
              <a:spcBef>
                <a:spcPts val="360"/>
              </a:spcBef>
              <a:buSzPts val="2400"/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BLEU compares the </a:t>
            </a:r>
            <a:r>
              <a:rPr lang="en-US" sz="1800" u="sng" dirty="0">
                <a:latin typeface="Calibri"/>
                <a:ea typeface="Calibri"/>
                <a:cs typeface="Calibri"/>
                <a:sym typeface="Calibri"/>
              </a:rPr>
              <a:t>machine-written translation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to one or several </a:t>
            </a:r>
            <a:r>
              <a:rPr lang="en-US" sz="1800" u="sng" dirty="0">
                <a:latin typeface="Calibri"/>
                <a:ea typeface="Calibri"/>
                <a:cs typeface="Calibri"/>
                <a:sym typeface="Calibri"/>
              </a:rPr>
              <a:t>human-written translation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(s), and computes a </a:t>
            </a:r>
            <a:r>
              <a:rPr lang="en-US" sz="18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similarity score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based on:</a:t>
            </a:r>
            <a:endParaRPr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i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-gram precision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(usually up to 3 or 4-grams)</a:t>
            </a:r>
            <a:endParaRPr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Penalty for too-short system translations</a:t>
            </a:r>
            <a:endParaRPr dirty="0"/>
          </a:p>
          <a:p>
            <a:pPr marL="385763" lvl="1" indent="-57146">
              <a:spcBef>
                <a:spcPts val="360"/>
              </a:spcBef>
              <a:buClr>
                <a:srgbClr val="3A85FE"/>
              </a:buClr>
              <a:buSzPts val="2400"/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BLEU is </a:t>
            </a:r>
            <a:r>
              <a:rPr lang="en-US" sz="1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useful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but </a:t>
            </a:r>
            <a:r>
              <a:rPr lang="en-US" sz="18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imperfect</a:t>
            </a:r>
            <a:endParaRPr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many valid ways to translate a sentence</a:t>
            </a:r>
            <a:endParaRPr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a </a:t>
            </a:r>
            <a:r>
              <a:rPr lang="en-US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good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translation can get a </a:t>
            </a:r>
            <a:r>
              <a:rPr lang="en-US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poor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BLEU score because it has low </a:t>
            </a:r>
            <a:r>
              <a:rPr lang="en-US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-gram overlap with the human translation ☹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9"/>
          <p:cNvSpPr txBox="1">
            <a:spLocks noGrp="1"/>
          </p:cNvSpPr>
          <p:nvPr>
            <p:ph type="sldNum" idx="12"/>
          </p:nvPr>
        </p:nvSpPr>
        <p:spPr>
          <a:xfrm>
            <a:off x="7220903" y="4716732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27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841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0"/>
          <p:cNvSpPr txBox="1">
            <a:spLocks noGrp="1"/>
          </p:cNvSpPr>
          <p:nvPr>
            <p:ph type="title"/>
          </p:nvPr>
        </p:nvSpPr>
        <p:spPr>
          <a:xfrm>
            <a:off x="613610" y="0"/>
            <a:ext cx="7844590" cy="5844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800" dirty="0">
                <a:solidFill>
                  <a:srgbClr val="3A85FE"/>
                </a:solidFill>
                <a:latin typeface="+mn-lt"/>
                <a:ea typeface="Calibri"/>
                <a:cs typeface="Calibri"/>
                <a:sym typeface="Calibri"/>
              </a:rPr>
              <a:t>Sequence-to-sequence</a:t>
            </a:r>
            <a:r>
              <a:rPr lang="en-US" sz="2800" dirty="0" smtClean="0">
                <a:solidFill>
                  <a:srgbClr val="3A85FE"/>
                </a:solidFill>
                <a:latin typeface="+mn-lt"/>
                <a:ea typeface="Calibri"/>
                <a:cs typeface="Calibri"/>
                <a:sym typeface="Calibri"/>
              </a:rPr>
              <a:t>: the </a:t>
            </a:r>
            <a:r>
              <a:rPr lang="en-US" sz="2800" dirty="0">
                <a:solidFill>
                  <a:srgbClr val="3A85FE"/>
                </a:solidFill>
                <a:latin typeface="+mn-lt"/>
                <a:ea typeface="Calibri"/>
                <a:cs typeface="Calibri"/>
                <a:sym typeface="Calibri"/>
              </a:rPr>
              <a:t>bottleneck problem</a:t>
            </a:r>
            <a:endParaRPr sz="2800" dirty="0">
              <a:latin typeface="+mn-lt"/>
            </a:endParaRPr>
          </a:p>
        </p:txBody>
      </p:sp>
      <p:sp>
        <p:nvSpPr>
          <p:cNvPr id="976" name="Google Shape;976;p30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28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7" name="Google Shape;977;p30"/>
          <p:cNvGrpSpPr/>
          <p:nvPr/>
        </p:nvGrpSpPr>
        <p:grpSpPr>
          <a:xfrm rot="5400000">
            <a:off x="1694952" y="2654690"/>
            <a:ext cx="584634" cy="199296"/>
            <a:chOff x="6223414" y="4018641"/>
            <a:chExt cx="776477" cy="280329"/>
          </a:xfrm>
        </p:grpSpPr>
        <p:grpSp>
          <p:nvGrpSpPr>
            <p:cNvPr id="978" name="Google Shape;978;p3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979" name="Google Shape;979;p3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3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3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3" name="Google Shape;983;p3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84" name="Google Shape;984;p30"/>
          <p:cNvCxnSpPr>
            <a:endCxn id="983" idx="3"/>
          </p:cNvCxnSpPr>
          <p:nvPr/>
        </p:nvCxnSpPr>
        <p:spPr>
          <a:xfrm rot="10800000">
            <a:off x="1987269" y="3046655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85" name="Google Shape;985;p30"/>
          <p:cNvCxnSpPr>
            <a:stCxn id="983" idx="0"/>
          </p:cNvCxnSpPr>
          <p:nvPr/>
        </p:nvCxnSpPr>
        <p:spPr>
          <a:xfrm>
            <a:off x="2086917" y="2754338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86" name="Google Shape;986;p30"/>
          <p:cNvSpPr txBox="1"/>
          <p:nvPr/>
        </p:nvSpPr>
        <p:spPr>
          <a:xfrm rot="-5400000">
            <a:off x="674398" y="2615840"/>
            <a:ext cx="121421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RNN</a:t>
            </a:r>
            <a:endParaRPr sz="1800"/>
          </a:p>
        </p:txBody>
      </p:sp>
      <p:sp>
        <p:nvSpPr>
          <p:cNvPr id="987" name="Google Shape;987;p30"/>
          <p:cNvSpPr txBox="1"/>
          <p:nvPr/>
        </p:nvSpPr>
        <p:spPr>
          <a:xfrm>
            <a:off x="1828381" y="3986801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988" name="Google Shape;988;p30"/>
          <p:cNvSpPr/>
          <p:nvPr/>
        </p:nvSpPr>
        <p:spPr>
          <a:xfrm rot="-5400000">
            <a:off x="2690565" y="2994839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89" name="Google Shape;989;p30"/>
          <p:cNvSpPr/>
          <p:nvPr/>
        </p:nvSpPr>
        <p:spPr>
          <a:xfrm>
            <a:off x="1414650" y="2462021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90" name="Google Shape;990;p30"/>
          <p:cNvSpPr txBox="1"/>
          <p:nvPr/>
        </p:nvSpPr>
        <p:spPr>
          <a:xfrm>
            <a:off x="3982760" y="3505233"/>
            <a:ext cx="352196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   the      poor    don’t    have      any    money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0"/>
          <p:cNvSpPr txBox="1"/>
          <p:nvPr/>
        </p:nvSpPr>
        <p:spPr>
          <a:xfrm>
            <a:off x="1838404" y="3511995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30"/>
          <p:cNvGrpSpPr/>
          <p:nvPr/>
        </p:nvGrpSpPr>
        <p:grpSpPr>
          <a:xfrm rot="5400000">
            <a:off x="2150661" y="2650266"/>
            <a:ext cx="584634" cy="199296"/>
            <a:chOff x="6223414" y="4018641"/>
            <a:chExt cx="776477" cy="280329"/>
          </a:xfrm>
        </p:grpSpPr>
        <p:grpSp>
          <p:nvGrpSpPr>
            <p:cNvPr id="993" name="Google Shape;993;p3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994" name="Google Shape;994;p3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3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3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3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8" name="Google Shape;998;p3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99" name="Google Shape;999;p30"/>
          <p:cNvCxnSpPr>
            <a:endCxn id="998" idx="3"/>
          </p:cNvCxnSpPr>
          <p:nvPr/>
        </p:nvCxnSpPr>
        <p:spPr>
          <a:xfrm rot="10800000">
            <a:off x="2442978" y="304223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00" name="Google Shape;1000;p30"/>
          <p:cNvCxnSpPr>
            <a:stCxn id="998" idx="0"/>
          </p:cNvCxnSpPr>
          <p:nvPr/>
        </p:nvCxnSpPr>
        <p:spPr>
          <a:xfrm>
            <a:off x="2542626" y="274991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001" name="Google Shape;1001;p30"/>
          <p:cNvGrpSpPr/>
          <p:nvPr/>
        </p:nvGrpSpPr>
        <p:grpSpPr>
          <a:xfrm rot="5400000">
            <a:off x="2596847" y="2650266"/>
            <a:ext cx="584634" cy="199296"/>
            <a:chOff x="6223414" y="4018641"/>
            <a:chExt cx="776477" cy="280329"/>
          </a:xfrm>
        </p:grpSpPr>
        <p:grpSp>
          <p:nvGrpSpPr>
            <p:cNvPr id="1002" name="Google Shape;1002;p3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003" name="Google Shape;1003;p3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3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3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3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07" name="Google Shape;1007;p3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08" name="Google Shape;1008;p30"/>
          <p:cNvCxnSpPr>
            <a:endCxn id="1007" idx="3"/>
          </p:cNvCxnSpPr>
          <p:nvPr/>
        </p:nvCxnSpPr>
        <p:spPr>
          <a:xfrm rot="10800000">
            <a:off x="2889164" y="304223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09" name="Google Shape;1009;p30"/>
          <p:cNvCxnSpPr>
            <a:stCxn id="1007" idx="0"/>
          </p:cNvCxnSpPr>
          <p:nvPr/>
        </p:nvCxnSpPr>
        <p:spPr>
          <a:xfrm>
            <a:off x="2988812" y="274991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010" name="Google Shape;1010;p30"/>
          <p:cNvGrpSpPr/>
          <p:nvPr/>
        </p:nvGrpSpPr>
        <p:grpSpPr>
          <a:xfrm rot="5400000">
            <a:off x="3054662" y="2648114"/>
            <a:ext cx="584634" cy="199296"/>
            <a:chOff x="6223414" y="4018641"/>
            <a:chExt cx="776477" cy="280329"/>
          </a:xfrm>
        </p:grpSpPr>
        <p:grpSp>
          <p:nvGrpSpPr>
            <p:cNvPr id="1011" name="Google Shape;1011;p3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012" name="Google Shape;1012;p3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3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3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3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16" name="Google Shape;1016;p3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17" name="Google Shape;1017;p30"/>
          <p:cNvCxnSpPr>
            <a:endCxn id="1016" idx="3"/>
          </p:cNvCxnSpPr>
          <p:nvPr/>
        </p:nvCxnSpPr>
        <p:spPr>
          <a:xfrm rot="10800000">
            <a:off x="3346979" y="3040079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18" name="Google Shape;1018;p30"/>
          <p:cNvCxnSpPr>
            <a:stCxn id="1016" idx="0"/>
            <a:endCxn id="1019" idx="2"/>
          </p:cNvCxnSpPr>
          <p:nvPr/>
        </p:nvCxnSpPr>
        <p:spPr>
          <a:xfrm>
            <a:off x="3446627" y="2747762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020" name="Google Shape;1020;p30"/>
          <p:cNvGrpSpPr/>
          <p:nvPr/>
        </p:nvGrpSpPr>
        <p:grpSpPr>
          <a:xfrm rot="5400000">
            <a:off x="4033550" y="2648114"/>
            <a:ext cx="584634" cy="199296"/>
            <a:chOff x="6223414" y="4018641"/>
            <a:chExt cx="776477" cy="280329"/>
          </a:xfrm>
        </p:grpSpPr>
        <p:grpSp>
          <p:nvGrpSpPr>
            <p:cNvPr id="1021" name="Google Shape;1021;p3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022" name="Google Shape;1022;p3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3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3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3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19" name="Google Shape;1019;p3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26" name="Google Shape;1026;p30"/>
          <p:cNvCxnSpPr>
            <a:endCxn id="1019" idx="3"/>
          </p:cNvCxnSpPr>
          <p:nvPr/>
        </p:nvCxnSpPr>
        <p:spPr>
          <a:xfrm rot="10800000">
            <a:off x="4325867" y="3040079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27" name="Google Shape;1027;p30"/>
          <p:cNvCxnSpPr>
            <a:stCxn id="1019" idx="0"/>
          </p:cNvCxnSpPr>
          <p:nvPr/>
        </p:nvCxnSpPr>
        <p:spPr>
          <a:xfrm>
            <a:off x="4425515" y="2747762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28" name="Google Shape;1028;p30"/>
          <p:cNvCxnSpPr>
            <a:stCxn id="1019" idx="1"/>
          </p:cNvCxnSpPr>
          <p:nvPr/>
        </p:nvCxnSpPr>
        <p:spPr>
          <a:xfrm rot="10800000">
            <a:off x="4325867" y="1957520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029" name="Google Shape;1029;p30"/>
          <p:cNvGrpSpPr/>
          <p:nvPr/>
        </p:nvGrpSpPr>
        <p:grpSpPr>
          <a:xfrm rot="5400000">
            <a:off x="4491365" y="2654690"/>
            <a:ext cx="584634" cy="199296"/>
            <a:chOff x="6223414" y="4018641"/>
            <a:chExt cx="776477" cy="280329"/>
          </a:xfrm>
        </p:grpSpPr>
        <p:grpSp>
          <p:nvGrpSpPr>
            <p:cNvPr id="1030" name="Google Shape;1030;p3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031" name="Google Shape;1031;p3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3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3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3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35" name="Google Shape;1035;p3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36" name="Google Shape;1036;p30"/>
          <p:cNvCxnSpPr>
            <a:endCxn id="1035" idx="3"/>
          </p:cNvCxnSpPr>
          <p:nvPr/>
        </p:nvCxnSpPr>
        <p:spPr>
          <a:xfrm rot="10800000">
            <a:off x="4783682" y="3046655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37" name="Google Shape;1037;p30"/>
          <p:cNvCxnSpPr>
            <a:stCxn id="1035" idx="0"/>
          </p:cNvCxnSpPr>
          <p:nvPr/>
        </p:nvCxnSpPr>
        <p:spPr>
          <a:xfrm>
            <a:off x="4883330" y="2754338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38" name="Google Shape;1038;p30"/>
          <p:cNvCxnSpPr>
            <a:stCxn id="1035" idx="1"/>
          </p:cNvCxnSpPr>
          <p:nvPr/>
        </p:nvCxnSpPr>
        <p:spPr>
          <a:xfrm rot="10800000">
            <a:off x="4783682" y="1964096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039" name="Google Shape;1039;p30"/>
          <p:cNvGrpSpPr/>
          <p:nvPr/>
        </p:nvGrpSpPr>
        <p:grpSpPr>
          <a:xfrm rot="5400000">
            <a:off x="4953118" y="2648114"/>
            <a:ext cx="584634" cy="199296"/>
            <a:chOff x="6223414" y="4018641"/>
            <a:chExt cx="776477" cy="280329"/>
          </a:xfrm>
        </p:grpSpPr>
        <p:grpSp>
          <p:nvGrpSpPr>
            <p:cNvPr id="1040" name="Google Shape;1040;p3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041" name="Google Shape;1041;p3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3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3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3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45" name="Google Shape;1045;p3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46" name="Google Shape;1046;p30"/>
          <p:cNvCxnSpPr>
            <a:endCxn id="1045" idx="3"/>
          </p:cNvCxnSpPr>
          <p:nvPr/>
        </p:nvCxnSpPr>
        <p:spPr>
          <a:xfrm rot="10800000">
            <a:off x="5245435" y="3040079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47" name="Google Shape;1047;p30"/>
          <p:cNvCxnSpPr>
            <a:stCxn id="1045" idx="0"/>
          </p:cNvCxnSpPr>
          <p:nvPr/>
        </p:nvCxnSpPr>
        <p:spPr>
          <a:xfrm>
            <a:off x="5345083" y="2747762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48" name="Google Shape;1048;p30"/>
          <p:cNvCxnSpPr>
            <a:stCxn id="1045" idx="1"/>
          </p:cNvCxnSpPr>
          <p:nvPr/>
        </p:nvCxnSpPr>
        <p:spPr>
          <a:xfrm rot="10800000">
            <a:off x="5245435" y="1957520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049" name="Google Shape;1049;p30"/>
          <p:cNvGrpSpPr/>
          <p:nvPr/>
        </p:nvGrpSpPr>
        <p:grpSpPr>
          <a:xfrm rot="5400000">
            <a:off x="5410934" y="2648114"/>
            <a:ext cx="584634" cy="199296"/>
            <a:chOff x="6223414" y="4018641"/>
            <a:chExt cx="776477" cy="280329"/>
          </a:xfrm>
        </p:grpSpPr>
        <p:grpSp>
          <p:nvGrpSpPr>
            <p:cNvPr id="1050" name="Google Shape;1050;p3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051" name="Google Shape;1051;p3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3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3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3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55" name="Google Shape;1055;p3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56" name="Google Shape;1056;p30"/>
          <p:cNvCxnSpPr>
            <a:endCxn id="1055" idx="3"/>
          </p:cNvCxnSpPr>
          <p:nvPr/>
        </p:nvCxnSpPr>
        <p:spPr>
          <a:xfrm rot="10800000">
            <a:off x="5703251" y="3040079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57" name="Google Shape;1057;p30"/>
          <p:cNvCxnSpPr>
            <a:stCxn id="1055" idx="0"/>
          </p:cNvCxnSpPr>
          <p:nvPr/>
        </p:nvCxnSpPr>
        <p:spPr>
          <a:xfrm>
            <a:off x="5802899" y="2747762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58" name="Google Shape;1058;p30"/>
          <p:cNvCxnSpPr>
            <a:stCxn id="1055" idx="1"/>
          </p:cNvCxnSpPr>
          <p:nvPr/>
        </p:nvCxnSpPr>
        <p:spPr>
          <a:xfrm rot="10800000">
            <a:off x="5703251" y="1957520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059" name="Google Shape;1059;p30"/>
          <p:cNvGrpSpPr/>
          <p:nvPr/>
        </p:nvGrpSpPr>
        <p:grpSpPr>
          <a:xfrm rot="5400000">
            <a:off x="5868749" y="2654690"/>
            <a:ext cx="584634" cy="199296"/>
            <a:chOff x="6223414" y="4018641"/>
            <a:chExt cx="776477" cy="280329"/>
          </a:xfrm>
        </p:grpSpPr>
        <p:grpSp>
          <p:nvGrpSpPr>
            <p:cNvPr id="1060" name="Google Shape;1060;p3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061" name="Google Shape;1061;p3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3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3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3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65" name="Google Shape;1065;p3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66" name="Google Shape;1066;p30"/>
          <p:cNvCxnSpPr>
            <a:endCxn id="1065" idx="3"/>
          </p:cNvCxnSpPr>
          <p:nvPr/>
        </p:nvCxnSpPr>
        <p:spPr>
          <a:xfrm rot="10800000">
            <a:off x="6161066" y="3046655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67" name="Google Shape;1067;p30"/>
          <p:cNvCxnSpPr>
            <a:stCxn id="1065" idx="0"/>
          </p:cNvCxnSpPr>
          <p:nvPr/>
        </p:nvCxnSpPr>
        <p:spPr>
          <a:xfrm>
            <a:off x="6260714" y="2754338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68" name="Google Shape;1068;p30"/>
          <p:cNvCxnSpPr>
            <a:stCxn id="1065" idx="1"/>
          </p:cNvCxnSpPr>
          <p:nvPr/>
        </p:nvCxnSpPr>
        <p:spPr>
          <a:xfrm rot="10800000">
            <a:off x="6161066" y="1964096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069" name="Google Shape;1069;p30"/>
          <p:cNvGrpSpPr/>
          <p:nvPr/>
        </p:nvGrpSpPr>
        <p:grpSpPr>
          <a:xfrm rot="5400000">
            <a:off x="6330502" y="2648114"/>
            <a:ext cx="584634" cy="199296"/>
            <a:chOff x="6223414" y="4018641"/>
            <a:chExt cx="776477" cy="280329"/>
          </a:xfrm>
        </p:grpSpPr>
        <p:grpSp>
          <p:nvGrpSpPr>
            <p:cNvPr id="1070" name="Google Shape;1070;p3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071" name="Google Shape;1071;p3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3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3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3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5" name="Google Shape;1075;p3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76" name="Google Shape;1076;p30"/>
          <p:cNvCxnSpPr>
            <a:endCxn id="1075" idx="3"/>
          </p:cNvCxnSpPr>
          <p:nvPr/>
        </p:nvCxnSpPr>
        <p:spPr>
          <a:xfrm rot="10800000">
            <a:off x="6622819" y="3040079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77" name="Google Shape;1077;p30"/>
          <p:cNvCxnSpPr>
            <a:stCxn id="1075" idx="0"/>
          </p:cNvCxnSpPr>
          <p:nvPr/>
        </p:nvCxnSpPr>
        <p:spPr>
          <a:xfrm>
            <a:off x="6722467" y="2747762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78" name="Google Shape;1078;p30"/>
          <p:cNvCxnSpPr>
            <a:stCxn id="1075" idx="1"/>
          </p:cNvCxnSpPr>
          <p:nvPr/>
        </p:nvCxnSpPr>
        <p:spPr>
          <a:xfrm rot="10800000">
            <a:off x="6622819" y="1957520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079" name="Google Shape;1079;p30"/>
          <p:cNvGrpSpPr/>
          <p:nvPr/>
        </p:nvGrpSpPr>
        <p:grpSpPr>
          <a:xfrm rot="5400000">
            <a:off x="6770644" y="2648114"/>
            <a:ext cx="584634" cy="199296"/>
            <a:chOff x="6223414" y="4018641"/>
            <a:chExt cx="776477" cy="280329"/>
          </a:xfrm>
        </p:grpSpPr>
        <p:grpSp>
          <p:nvGrpSpPr>
            <p:cNvPr id="1080" name="Google Shape;1080;p3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081" name="Google Shape;1081;p3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3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3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3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85" name="Google Shape;1085;p3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86" name="Google Shape;1086;p30"/>
          <p:cNvCxnSpPr>
            <a:endCxn id="1085" idx="3"/>
          </p:cNvCxnSpPr>
          <p:nvPr/>
        </p:nvCxnSpPr>
        <p:spPr>
          <a:xfrm rot="10800000">
            <a:off x="7062961" y="3040079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87" name="Google Shape;1087;p30"/>
          <p:cNvCxnSpPr>
            <a:stCxn id="1085" idx="1"/>
          </p:cNvCxnSpPr>
          <p:nvPr/>
        </p:nvCxnSpPr>
        <p:spPr>
          <a:xfrm rot="10800000">
            <a:off x="7062961" y="1957520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88" name="Google Shape;1088;p30"/>
          <p:cNvSpPr txBox="1"/>
          <p:nvPr/>
        </p:nvSpPr>
        <p:spPr>
          <a:xfrm>
            <a:off x="4163133" y="1684497"/>
            <a:ext cx="324688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     poor    don’t    have      any    money  &lt;END&gt;</a:t>
            </a:r>
            <a:endParaRPr sz="1800"/>
          </a:p>
        </p:txBody>
      </p:sp>
      <p:sp>
        <p:nvSpPr>
          <p:cNvPr id="1089" name="Google Shape;1089;p30"/>
          <p:cNvSpPr txBox="1"/>
          <p:nvPr/>
        </p:nvSpPr>
        <p:spPr>
          <a:xfrm rot="5400000">
            <a:off x="7302216" y="2632949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sp>
        <p:nvSpPr>
          <p:cNvPr id="1090" name="Google Shape;1090;p30"/>
          <p:cNvSpPr txBox="1"/>
          <p:nvPr/>
        </p:nvSpPr>
        <p:spPr>
          <a:xfrm>
            <a:off x="4540755" y="1151636"/>
            <a:ext cx="240465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sentence (output)</a:t>
            </a:r>
            <a:endParaRPr sz="1800"/>
          </a:p>
        </p:txBody>
      </p:sp>
      <p:sp>
        <p:nvSpPr>
          <p:cNvPr id="1091" name="Google Shape;1091;p30"/>
          <p:cNvSpPr/>
          <p:nvPr/>
        </p:nvSpPr>
        <p:spPr>
          <a:xfrm rot="5400000">
            <a:off x="5641450" y="7890"/>
            <a:ext cx="203273" cy="3073460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92" name="Google Shape;1092;p30"/>
          <p:cNvSpPr/>
          <p:nvPr/>
        </p:nvSpPr>
        <p:spPr>
          <a:xfrm rot="10800000">
            <a:off x="7602318" y="2479130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93" name="Google Shape;1093;p30"/>
          <p:cNvSpPr txBox="1"/>
          <p:nvPr/>
        </p:nvSpPr>
        <p:spPr>
          <a:xfrm>
            <a:off x="4549170" y="4396712"/>
            <a:ext cx="2744600" cy="276999"/>
          </a:xfrm>
          <a:prstGeom prst="rect">
            <a:avLst/>
          </a:prstGeom>
          <a:noFill/>
          <a:ln w="28575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 b="1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Problems with this architecture?</a:t>
            </a:r>
            <a:endParaRPr sz="1800"/>
          </a:p>
        </p:txBody>
      </p:sp>
      <p:sp>
        <p:nvSpPr>
          <p:cNvPr id="1094" name="Google Shape;1094;p30"/>
          <p:cNvSpPr/>
          <p:nvPr/>
        </p:nvSpPr>
        <p:spPr>
          <a:xfrm>
            <a:off x="3110997" y="2327972"/>
            <a:ext cx="484217" cy="808089"/>
          </a:xfrm>
          <a:prstGeom prst="rect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0"/>
          <p:cNvSpPr txBox="1"/>
          <p:nvPr/>
        </p:nvSpPr>
        <p:spPr>
          <a:xfrm>
            <a:off x="1271953" y="972797"/>
            <a:ext cx="207502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Encoding of the </a:t>
            </a:r>
            <a:br>
              <a:rPr lang="en-US" sz="135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source sentence. </a:t>
            </a:r>
            <a:endParaRPr sz="1800"/>
          </a:p>
        </p:txBody>
      </p:sp>
      <p:cxnSp>
        <p:nvCxnSpPr>
          <p:cNvPr id="1096" name="Google Shape;1096;p30"/>
          <p:cNvCxnSpPr>
            <a:stCxn id="1095" idx="2"/>
          </p:cNvCxnSpPr>
          <p:nvPr/>
        </p:nvCxnSpPr>
        <p:spPr>
          <a:xfrm>
            <a:off x="2309465" y="1457544"/>
            <a:ext cx="770175" cy="779175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0894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31"/>
          <p:cNvSpPr txBox="1">
            <a:spLocks noGrp="1"/>
          </p:cNvSpPr>
          <p:nvPr>
            <p:ph type="title"/>
          </p:nvPr>
        </p:nvSpPr>
        <p:spPr>
          <a:xfrm>
            <a:off x="591954" y="1"/>
            <a:ext cx="8094846" cy="5191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8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Sequence-to-sequence: the bottleneck problem</a:t>
            </a:r>
            <a:endParaRPr sz="3600" dirty="0"/>
          </a:p>
        </p:txBody>
      </p:sp>
      <p:sp>
        <p:nvSpPr>
          <p:cNvPr id="1103" name="Google Shape;1103;p31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29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4" name="Google Shape;1104;p31"/>
          <p:cNvGrpSpPr/>
          <p:nvPr/>
        </p:nvGrpSpPr>
        <p:grpSpPr>
          <a:xfrm rot="5400000">
            <a:off x="1694952" y="2654690"/>
            <a:ext cx="584634" cy="199296"/>
            <a:chOff x="6223414" y="4018641"/>
            <a:chExt cx="776477" cy="280329"/>
          </a:xfrm>
        </p:grpSpPr>
        <p:grpSp>
          <p:nvGrpSpPr>
            <p:cNvPr id="1105" name="Google Shape;1105;p3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106" name="Google Shape;1106;p3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3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3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3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0" name="Google Shape;1110;p3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11" name="Google Shape;1111;p31"/>
          <p:cNvCxnSpPr>
            <a:endCxn id="1110" idx="3"/>
          </p:cNvCxnSpPr>
          <p:nvPr/>
        </p:nvCxnSpPr>
        <p:spPr>
          <a:xfrm rot="10800000">
            <a:off x="1987269" y="3046655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12" name="Google Shape;1112;p31"/>
          <p:cNvCxnSpPr>
            <a:stCxn id="1110" idx="0"/>
          </p:cNvCxnSpPr>
          <p:nvPr/>
        </p:nvCxnSpPr>
        <p:spPr>
          <a:xfrm>
            <a:off x="2086917" y="2754338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13" name="Google Shape;1113;p31"/>
          <p:cNvSpPr txBox="1"/>
          <p:nvPr/>
        </p:nvSpPr>
        <p:spPr>
          <a:xfrm rot="-5400000">
            <a:off x="674398" y="2615840"/>
            <a:ext cx="121421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RNN</a:t>
            </a:r>
            <a:endParaRPr sz="1800"/>
          </a:p>
        </p:txBody>
      </p:sp>
      <p:sp>
        <p:nvSpPr>
          <p:cNvPr id="1114" name="Google Shape;1114;p31"/>
          <p:cNvSpPr txBox="1"/>
          <p:nvPr/>
        </p:nvSpPr>
        <p:spPr>
          <a:xfrm>
            <a:off x="1828381" y="3986801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1115" name="Google Shape;1115;p31"/>
          <p:cNvSpPr/>
          <p:nvPr/>
        </p:nvSpPr>
        <p:spPr>
          <a:xfrm rot="-5400000">
            <a:off x="2690565" y="2994839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16" name="Google Shape;1116;p31"/>
          <p:cNvSpPr/>
          <p:nvPr/>
        </p:nvSpPr>
        <p:spPr>
          <a:xfrm>
            <a:off x="1414650" y="2462021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17" name="Google Shape;1117;p31"/>
          <p:cNvSpPr txBox="1"/>
          <p:nvPr/>
        </p:nvSpPr>
        <p:spPr>
          <a:xfrm>
            <a:off x="3982760" y="3505233"/>
            <a:ext cx="352196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   the      poor    don’t    have      any    money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31"/>
          <p:cNvSpPr txBox="1"/>
          <p:nvPr/>
        </p:nvSpPr>
        <p:spPr>
          <a:xfrm>
            <a:off x="1838404" y="3511995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9" name="Google Shape;1119;p31"/>
          <p:cNvGrpSpPr/>
          <p:nvPr/>
        </p:nvGrpSpPr>
        <p:grpSpPr>
          <a:xfrm rot="5400000">
            <a:off x="2150661" y="2650266"/>
            <a:ext cx="584634" cy="199296"/>
            <a:chOff x="6223414" y="4018641"/>
            <a:chExt cx="776477" cy="280329"/>
          </a:xfrm>
        </p:grpSpPr>
        <p:grpSp>
          <p:nvGrpSpPr>
            <p:cNvPr id="1120" name="Google Shape;1120;p3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121" name="Google Shape;1121;p3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3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3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3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25" name="Google Shape;1125;p3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26" name="Google Shape;1126;p31"/>
          <p:cNvCxnSpPr>
            <a:endCxn id="1125" idx="3"/>
          </p:cNvCxnSpPr>
          <p:nvPr/>
        </p:nvCxnSpPr>
        <p:spPr>
          <a:xfrm rot="10800000">
            <a:off x="2442978" y="304223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27" name="Google Shape;1127;p31"/>
          <p:cNvCxnSpPr>
            <a:stCxn id="1125" idx="0"/>
          </p:cNvCxnSpPr>
          <p:nvPr/>
        </p:nvCxnSpPr>
        <p:spPr>
          <a:xfrm>
            <a:off x="2542626" y="274991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128" name="Google Shape;1128;p31"/>
          <p:cNvGrpSpPr/>
          <p:nvPr/>
        </p:nvGrpSpPr>
        <p:grpSpPr>
          <a:xfrm rot="5400000">
            <a:off x="2596847" y="2650266"/>
            <a:ext cx="584634" cy="199296"/>
            <a:chOff x="6223414" y="4018641"/>
            <a:chExt cx="776477" cy="280329"/>
          </a:xfrm>
        </p:grpSpPr>
        <p:grpSp>
          <p:nvGrpSpPr>
            <p:cNvPr id="1129" name="Google Shape;1129;p3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130" name="Google Shape;1130;p3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3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3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3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4" name="Google Shape;1134;p3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35" name="Google Shape;1135;p31"/>
          <p:cNvCxnSpPr>
            <a:endCxn id="1134" idx="3"/>
          </p:cNvCxnSpPr>
          <p:nvPr/>
        </p:nvCxnSpPr>
        <p:spPr>
          <a:xfrm rot="10800000">
            <a:off x="2889164" y="304223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36" name="Google Shape;1136;p31"/>
          <p:cNvCxnSpPr>
            <a:stCxn id="1134" idx="0"/>
          </p:cNvCxnSpPr>
          <p:nvPr/>
        </p:nvCxnSpPr>
        <p:spPr>
          <a:xfrm>
            <a:off x="2988812" y="274991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137" name="Google Shape;1137;p31"/>
          <p:cNvGrpSpPr/>
          <p:nvPr/>
        </p:nvGrpSpPr>
        <p:grpSpPr>
          <a:xfrm rot="5400000">
            <a:off x="3054662" y="2648114"/>
            <a:ext cx="584634" cy="199296"/>
            <a:chOff x="6223414" y="4018641"/>
            <a:chExt cx="776477" cy="280329"/>
          </a:xfrm>
        </p:grpSpPr>
        <p:grpSp>
          <p:nvGrpSpPr>
            <p:cNvPr id="1138" name="Google Shape;1138;p3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139" name="Google Shape;1139;p3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3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3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3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43" name="Google Shape;1143;p3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44" name="Google Shape;1144;p31"/>
          <p:cNvCxnSpPr>
            <a:endCxn id="1143" idx="3"/>
          </p:cNvCxnSpPr>
          <p:nvPr/>
        </p:nvCxnSpPr>
        <p:spPr>
          <a:xfrm rot="10800000">
            <a:off x="3346979" y="3040079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45" name="Google Shape;1145;p31"/>
          <p:cNvCxnSpPr>
            <a:stCxn id="1143" idx="0"/>
            <a:endCxn id="1146" idx="2"/>
          </p:cNvCxnSpPr>
          <p:nvPr/>
        </p:nvCxnSpPr>
        <p:spPr>
          <a:xfrm>
            <a:off x="3446627" y="2747762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147" name="Google Shape;1147;p31"/>
          <p:cNvGrpSpPr/>
          <p:nvPr/>
        </p:nvGrpSpPr>
        <p:grpSpPr>
          <a:xfrm rot="5400000">
            <a:off x="4033550" y="2648114"/>
            <a:ext cx="584634" cy="199296"/>
            <a:chOff x="6223414" y="4018641"/>
            <a:chExt cx="776477" cy="280329"/>
          </a:xfrm>
        </p:grpSpPr>
        <p:grpSp>
          <p:nvGrpSpPr>
            <p:cNvPr id="1148" name="Google Shape;1148;p3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149" name="Google Shape;1149;p3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3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3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3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46" name="Google Shape;1146;p3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53" name="Google Shape;1153;p31"/>
          <p:cNvCxnSpPr>
            <a:endCxn id="1146" idx="3"/>
          </p:cNvCxnSpPr>
          <p:nvPr/>
        </p:nvCxnSpPr>
        <p:spPr>
          <a:xfrm rot="10800000">
            <a:off x="4325867" y="3040079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54" name="Google Shape;1154;p31"/>
          <p:cNvCxnSpPr>
            <a:stCxn id="1146" idx="0"/>
          </p:cNvCxnSpPr>
          <p:nvPr/>
        </p:nvCxnSpPr>
        <p:spPr>
          <a:xfrm>
            <a:off x="4425515" y="2747762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55" name="Google Shape;1155;p31"/>
          <p:cNvCxnSpPr>
            <a:stCxn id="1146" idx="1"/>
          </p:cNvCxnSpPr>
          <p:nvPr/>
        </p:nvCxnSpPr>
        <p:spPr>
          <a:xfrm rot="10800000">
            <a:off x="4325867" y="1957520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156" name="Google Shape;1156;p31"/>
          <p:cNvGrpSpPr/>
          <p:nvPr/>
        </p:nvGrpSpPr>
        <p:grpSpPr>
          <a:xfrm rot="5400000">
            <a:off x="4491365" y="2654690"/>
            <a:ext cx="584634" cy="199296"/>
            <a:chOff x="6223414" y="4018641"/>
            <a:chExt cx="776477" cy="280329"/>
          </a:xfrm>
        </p:grpSpPr>
        <p:grpSp>
          <p:nvGrpSpPr>
            <p:cNvPr id="1157" name="Google Shape;1157;p3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158" name="Google Shape;1158;p3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3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3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3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62" name="Google Shape;1162;p3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63" name="Google Shape;1163;p31"/>
          <p:cNvCxnSpPr>
            <a:endCxn id="1162" idx="3"/>
          </p:cNvCxnSpPr>
          <p:nvPr/>
        </p:nvCxnSpPr>
        <p:spPr>
          <a:xfrm rot="10800000">
            <a:off x="4783682" y="3046655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64" name="Google Shape;1164;p31"/>
          <p:cNvCxnSpPr>
            <a:stCxn id="1162" idx="0"/>
          </p:cNvCxnSpPr>
          <p:nvPr/>
        </p:nvCxnSpPr>
        <p:spPr>
          <a:xfrm>
            <a:off x="4883330" y="2754338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65" name="Google Shape;1165;p31"/>
          <p:cNvCxnSpPr>
            <a:stCxn id="1162" idx="1"/>
          </p:cNvCxnSpPr>
          <p:nvPr/>
        </p:nvCxnSpPr>
        <p:spPr>
          <a:xfrm rot="10800000">
            <a:off x="4783682" y="1964096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166" name="Google Shape;1166;p31"/>
          <p:cNvGrpSpPr/>
          <p:nvPr/>
        </p:nvGrpSpPr>
        <p:grpSpPr>
          <a:xfrm rot="5400000">
            <a:off x="4953118" y="2648114"/>
            <a:ext cx="584634" cy="199296"/>
            <a:chOff x="6223414" y="4018641"/>
            <a:chExt cx="776477" cy="280329"/>
          </a:xfrm>
        </p:grpSpPr>
        <p:grpSp>
          <p:nvGrpSpPr>
            <p:cNvPr id="1167" name="Google Shape;1167;p3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168" name="Google Shape;1168;p3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3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3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1" name="Google Shape;1171;p3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2" name="Google Shape;1172;p3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73" name="Google Shape;1173;p31"/>
          <p:cNvCxnSpPr>
            <a:endCxn id="1172" idx="3"/>
          </p:cNvCxnSpPr>
          <p:nvPr/>
        </p:nvCxnSpPr>
        <p:spPr>
          <a:xfrm rot="10800000">
            <a:off x="5245435" y="3040079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74" name="Google Shape;1174;p31"/>
          <p:cNvCxnSpPr>
            <a:stCxn id="1172" idx="0"/>
          </p:cNvCxnSpPr>
          <p:nvPr/>
        </p:nvCxnSpPr>
        <p:spPr>
          <a:xfrm>
            <a:off x="5345083" y="2747762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75" name="Google Shape;1175;p31"/>
          <p:cNvCxnSpPr>
            <a:stCxn id="1172" idx="1"/>
          </p:cNvCxnSpPr>
          <p:nvPr/>
        </p:nvCxnSpPr>
        <p:spPr>
          <a:xfrm rot="10800000">
            <a:off x="5245435" y="1957520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176" name="Google Shape;1176;p31"/>
          <p:cNvGrpSpPr/>
          <p:nvPr/>
        </p:nvGrpSpPr>
        <p:grpSpPr>
          <a:xfrm rot="5400000">
            <a:off x="5410934" y="2648114"/>
            <a:ext cx="584634" cy="199296"/>
            <a:chOff x="6223414" y="4018641"/>
            <a:chExt cx="776477" cy="280329"/>
          </a:xfrm>
        </p:grpSpPr>
        <p:grpSp>
          <p:nvGrpSpPr>
            <p:cNvPr id="1177" name="Google Shape;1177;p3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178" name="Google Shape;1178;p3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3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3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3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82" name="Google Shape;1182;p3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83" name="Google Shape;1183;p31"/>
          <p:cNvCxnSpPr>
            <a:endCxn id="1182" idx="3"/>
          </p:cNvCxnSpPr>
          <p:nvPr/>
        </p:nvCxnSpPr>
        <p:spPr>
          <a:xfrm rot="10800000">
            <a:off x="5703251" y="3040079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84" name="Google Shape;1184;p31"/>
          <p:cNvCxnSpPr>
            <a:stCxn id="1182" idx="0"/>
          </p:cNvCxnSpPr>
          <p:nvPr/>
        </p:nvCxnSpPr>
        <p:spPr>
          <a:xfrm>
            <a:off x="5802899" y="2747762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85" name="Google Shape;1185;p31"/>
          <p:cNvCxnSpPr>
            <a:stCxn id="1182" idx="1"/>
          </p:cNvCxnSpPr>
          <p:nvPr/>
        </p:nvCxnSpPr>
        <p:spPr>
          <a:xfrm rot="10800000">
            <a:off x="5703251" y="1957520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186" name="Google Shape;1186;p31"/>
          <p:cNvGrpSpPr/>
          <p:nvPr/>
        </p:nvGrpSpPr>
        <p:grpSpPr>
          <a:xfrm rot="5400000">
            <a:off x="5868749" y="2654690"/>
            <a:ext cx="584634" cy="199296"/>
            <a:chOff x="6223414" y="4018641"/>
            <a:chExt cx="776477" cy="280329"/>
          </a:xfrm>
        </p:grpSpPr>
        <p:grpSp>
          <p:nvGrpSpPr>
            <p:cNvPr id="1187" name="Google Shape;1187;p3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188" name="Google Shape;1188;p3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3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3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3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2" name="Google Shape;1192;p3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93" name="Google Shape;1193;p31"/>
          <p:cNvCxnSpPr>
            <a:endCxn id="1192" idx="3"/>
          </p:cNvCxnSpPr>
          <p:nvPr/>
        </p:nvCxnSpPr>
        <p:spPr>
          <a:xfrm rot="10800000">
            <a:off x="6161066" y="3046655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94" name="Google Shape;1194;p31"/>
          <p:cNvCxnSpPr>
            <a:stCxn id="1192" idx="0"/>
          </p:cNvCxnSpPr>
          <p:nvPr/>
        </p:nvCxnSpPr>
        <p:spPr>
          <a:xfrm>
            <a:off x="6260714" y="2754338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95" name="Google Shape;1195;p31"/>
          <p:cNvCxnSpPr>
            <a:stCxn id="1192" idx="1"/>
          </p:cNvCxnSpPr>
          <p:nvPr/>
        </p:nvCxnSpPr>
        <p:spPr>
          <a:xfrm rot="10800000">
            <a:off x="6161066" y="1964096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196" name="Google Shape;1196;p31"/>
          <p:cNvGrpSpPr/>
          <p:nvPr/>
        </p:nvGrpSpPr>
        <p:grpSpPr>
          <a:xfrm rot="5400000">
            <a:off x="6330502" y="2648114"/>
            <a:ext cx="584634" cy="199296"/>
            <a:chOff x="6223414" y="4018641"/>
            <a:chExt cx="776477" cy="280329"/>
          </a:xfrm>
        </p:grpSpPr>
        <p:grpSp>
          <p:nvGrpSpPr>
            <p:cNvPr id="1197" name="Google Shape;1197;p3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198" name="Google Shape;1198;p3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3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0" name="Google Shape;1200;p3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1" name="Google Shape;1201;p3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2" name="Google Shape;1202;p3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03" name="Google Shape;1203;p31"/>
          <p:cNvCxnSpPr>
            <a:endCxn id="1202" idx="3"/>
          </p:cNvCxnSpPr>
          <p:nvPr/>
        </p:nvCxnSpPr>
        <p:spPr>
          <a:xfrm rot="10800000">
            <a:off x="6622819" y="3040079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04" name="Google Shape;1204;p31"/>
          <p:cNvCxnSpPr>
            <a:stCxn id="1202" idx="0"/>
          </p:cNvCxnSpPr>
          <p:nvPr/>
        </p:nvCxnSpPr>
        <p:spPr>
          <a:xfrm>
            <a:off x="6722467" y="2747762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05" name="Google Shape;1205;p31"/>
          <p:cNvCxnSpPr>
            <a:stCxn id="1202" idx="1"/>
          </p:cNvCxnSpPr>
          <p:nvPr/>
        </p:nvCxnSpPr>
        <p:spPr>
          <a:xfrm rot="10800000">
            <a:off x="6622819" y="1957520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206" name="Google Shape;1206;p31"/>
          <p:cNvGrpSpPr/>
          <p:nvPr/>
        </p:nvGrpSpPr>
        <p:grpSpPr>
          <a:xfrm rot="5400000">
            <a:off x="6770644" y="2648114"/>
            <a:ext cx="584634" cy="199296"/>
            <a:chOff x="6223414" y="4018641"/>
            <a:chExt cx="776477" cy="280329"/>
          </a:xfrm>
        </p:grpSpPr>
        <p:grpSp>
          <p:nvGrpSpPr>
            <p:cNvPr id="1207" name="Google Shape;1207;p3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208" name="Google Shape;1208;p3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3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3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3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12" name="Google Shape;1212;p3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13" name="Google Shape;1213;p31"/>
          <p:cNvCxnSpPr>
            <a:endCxn id="1212" idx="3"/>
          </p:cNvCxnSpPr>
          <p:nvPr/>
        </p:nvCxnSpPr>
        <p:spPr>
          <a:xfrm rot="10800000">
            <a:off x="7062961" y="3040079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14" name="Google Shape;1214;p31"/>
          <p:cNvCxnSpPr>
            <a:stCxn id="1212" idx="1"/>
          </p:cNvCxnSpPr>
          <p:nvPr/>
        </p:nvCxnSpPr>
        <p:spPr>
          <a:xfrm rot="10800000">
            <a:off x="7062961" y="1957520"/>
            <a:ext cx="0" cy="4979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215" name="Google Shape;1215;p31"/>
          <p:cNvSpPr txBox="1"/>
          <p:nvPr/>
        </p:nvSpPr>
        <p:spPr>
          <a:xfrm>
            <a:off x="4163133" y="1684497"/>
            <a:ext cx="324688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     poor    don’t    have      any    money  &lt;END&gt;</a:t>
            </a:r>
            <a:endParaRPr sz="1800"/>
          </a:p>
        </p:txBody>
      </p:sp>
      <p:sp>
        <p:nvSpPr>
          <p:cNvPr id="1216" name="Google Shape;1216;p31"/>
          <p:cNvSpPr txBox="1"/>
          <p:nvPr/>
        </p:nvSpPr>
        <p:spPr>
          <a:xfrm rot="5400000">
            <a:off x="7302216" y="2632949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sp>
        <p:nvSpPr>
          <p:cNvPr id="1217" name="Google Shape;1217;p31"/>
          <p:cNvSpPr txBox="1"/>
          <p:nvPr/>
        </p:nvSpPr>
        <p:spPr>
          <a:xfrm>
            <a:off x="4540755" y="1151636"/>
            <a:ext cx="240465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sentence (output)</a:t>
            </a:r>
            <a:endParaRPr sz="1800"/>
          </a:p>
        </p:txBody>
      </p:sp>
      <p:sp>
        <p:nvSpPr>
          <p:cNvPr id="1218" name="Google Shape;1218;p31"/>
          <p:cNvSpPr/>
          <p:nvPr/>
        </p:nvSpPr>
        <p:spPr>
          <a:xfrm rot="5400000">
            <a:off x="5641450" y="7890"/>
            <a:ext cx="203273" cy="3073460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19" name="Google Shape;1219;p31"/>
          <p:cNvSpPr/>
          <p:nvPr/>
        </p:nvSpPr>
        <p:spPr>
          <a:xfrm rot="10800000">
            <a:off x="7602318" y="2479130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20" name="Google Shape;1220;p31"/>
          <p:cNvSpPr/>
          <p:nvPr/>
        </p:nvSpPr>
        <p:spPr>
          <a:xfrm>
            <a:off x="3110997" y="2327972"/>
            <a:ext cx="484217" cy="808089"/>
          </a:xfrm>
          <a:prstGeom prst="rect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1"/>
          <p:cNvSpPr txBox="1"/>
          <p:nvPr/>
        </p:nvSpPr>
        <p:spPr>
          <a:xfrm>
            <a:off x="1335796" y="880409"/>
            <a:ext cx="2223605" cy="1256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275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Encoding of the </a:t>
            </a:r>
            <a:br>
              <a:rPr lang="en-US" sz="1275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source sentence. </a:t>
            </a:r>
            <a:br>
              <a:rPr lang="en-US" sz="1275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This needs to capture </a:t>
            </a:r>
            <a:r>
              <a:rPr lang="en-US" sz="1275" i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all information</a:t>
            </a:r>
            <a:r>
              <a:rPr lang="en-US" sz="1275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about the source sentence.</a:t>
            </a:r>
            <a:endParaRPr sz="1275"/>
          </a:p>
          <a:p>
            <a:pPr algn="ctr"/>
            <a:r>
              <a:rPr lang="en-US" sz="1275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Information bottleneck!</a:t>
            </a:r>
            <a:endParaRPr sz="1275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2" name="Google Shape;1222;p31"/>
          <p:cNvCxnSpPr>
            <a:stCxn id="1221" idx="2"/>
          </p:cNvCxnSpPr>
          <p:nvPr/>
        </p:nvCxnSpPr>
        <p:spPr>
          <a:xfrm>
            <a:off x="2447597" y="2136743"/>
            <a:ext cx="582525" cy="212175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06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691" y="189456"/>
            <a:ext cx="8271709" cy="742950"/>
          </a:xfrm>
        </p:spPr>
        <p:txBody>
          <a:bodyPr/>
          <a:lstStyle/>
          <a:p>
            <a:r>
              <a:rPr lang="en-US" dirty="0" smtClean="0">
                <a:solidFill>
                  <a:srgbClr val="0066FF"/>
                </a:solidFill>
              </a:rPr>
              <a:t>Watching </a:t>
            </a:r>
            <a:r>
              <a:rPr lang="en-US" b="1" dirty="0" smtClean="0">
                <a:solidFill>
                  <a:srgbClr val="0066FF"/>
                </a:solidFill>
              </a:rPr>
              <a:t>sentence </a:t>
            </a:r>
            <a:r>
              <a:rPr lang="en-US" b="1" dirty="0">
                <a:solidFill>
                  <a:srgbClr val="0066FF"/>
                </a:solidFill>
              </a:rPr>
              <a:t>embedding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691" y="1208519"/>
            <a:ext cx="7886700" cy="3416986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14" y="1399243"/>
            <a:ext cx="8741546" cy="322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7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32"/>
          <p:cNvSpPr txBox="1">
            <a:spLocks noGrp="1"/>
          </p:cNvSpPr>
          <p:nvPr>
            <p:ph type="title"/>
          </p:nvPr>
        </p:nvSpPr>
        <p:spPr>
          <a:xfrm>
            <a:off x="620830" y="1"/>
            <a:ext cx="4537049" cy="7507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Attention (</a:t>
            </a:r>
            <a:r>
              <a:rPr lang="en-US" sz="2400" dirty="0" err="1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Chú</a:t>
            </a: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 ý)</a:t>
            </a:r>
            <a:endParaRPr dirty="0"/>
          </a:p>
        </p:txBody>
      </p:sp>
      <p:sp>
        <p:nvSpPr>
          <p:cNvPr id="1228" name="Google Shape;1228;p32"/>
          <p:cNvSpPr txBox="1">
            <a:spLocks noGrp="1"/>
          </p:cNvSpPr>
          <p:nvPr>
            <p:ph type="body" idx="1"/>
          </p:nvPr>
        </p:nvSpPr>
        <p:spPr>
          <a:xfrm>
            <a:off x="678582" y="1215738"/>
            <a:ext cx="6850931" cy="34169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257156" indent="-257156">
              <a:spcBef>
                <a:spcPts val="0"/>
              </a:spcBef>
              <a:buSzPts val="2400"/>
              <a:buFont typeface="Times"/>
              <a:buChar char="•"/>
            </a:pPr>
            <a:r>
              <a:rPr lang="en-US" sz="2100" b="1" dirty="0" smtClean="0">
                <a:latin typeface="Calibri"/>
                <a:ea typeface="Calibri"/>
                <a:cs typeface="Calibri"/>
                <a:sym typeface="Calibri"/>
              </a:rPr>
              <a:t>Attention:</a:t>
            </a:r>
            <a:r>
              <a:rPr lang="en-US" sz="2100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100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olution</a:t>
            </a:r>
            <a:r>
              <a:rPr lang="en-US" sz="2100" dirty="0" smtClean="0">
                <a:latin typeface="Calibri"/>
                <a:ea typeface="Calibri"/>
                <a:cs typeface="Calibri"/>
                <a:sym typeface="Calibri"/>
              </a:rPr>
              <a:t> for bottleneck problem.</a:t>
            </a:r>
            <a:endParaRPr sz="1800" dirty="0"/>
          </a:p>
          <a:p>
            <a:pPr marL="257156" indent="-142865">
              <a:spcBef>
                <a:spcPts val="360"/>
              </a:spcBef>
              <a:buSzPts val="2400"/>
              <a:buNone/>
            </a:pPr>
            <a:endParaRPr sz="2100" u="sng" dirty="0"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2100" b="1" u="sng" dirty="0" smtClean="0">
                <a:latin typeface="Calibri"/>
                <a:ea typeface="Calibri"/>
                <a:cs typeface="Calibri"/>
                <a:sym typeface="Calibri"/>
              </a:rPr>
              <a:t>Main idea</a:t>
            </a:r>
            <a:r>
              <a:rPr lang="en-US" sz="2100" b="1" dirty="0" smtClean="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on each step of the decoder, </a:t>
            </a:r>
            <a:r>
              <a:rPr lang="en-US" sz="2000" dirty="0"/>
              <a:t>use </a:t>
            </a:r>
            <a:r>
              <a:rPr lang="en-US" sz="2000" b="1" i="1" dirty="0">
                <a:solidFill>
                  <a:srgbClr val="FF0000"/>
                </a:solidFill>
              </a:rPr>
              <a:t>direct connection to the encoder</a:t>
            </a:r>
            <a:r>
              <a:rPr lang="en-US" sz="2000" i="1" dirty="0"/>
              <a:t> </a:t>
            </a:r>
            <a:r>
              <a:rPr lang="en-US" sz="2000" i="1" dirty="0" smtClean="0"/>
              <a:t>to </a:t>
            </a:r>
            <a:r>
              <a:rPr lang="en-US" sz="2100" b="1" i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focus </a:t>
            </a:r>
            <a:r>
              <a:rPr lang="en-US" sz="21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 a particular part</a:t>
            </a:r>
            <a:r>
              <a:rPr lang="en-US" sz="2100" i="1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of the source sequence</a:t>
            </a:r>
            <a:br>
              <a:rPr lang="en-US" sz="21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1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1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360"/>
              </a:spcBef>
              <a:buSzPts val="2400"/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32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31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0" name="Google Shape;123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8117" y="2843526"/>
            <a:ext cx="1762760" cy="11798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838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33"/>
          <p:cNvSpPr txBox="1">
            <a:spLocks noGrp="1"/>
          </p:cNvSpPr>
          <p:nvPr>
            <p:ph type="title"/>
          </p:nvPr>
        </p:nvSpPr>
        <p:spPr>
          <a:xfrm>
            <a:off x="606392" y="1"/>
            <a:ext cx="6556408" cy="65431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b="0" dirty="0">
                <a:solidFill>
                  <a:srgbClr val="0066FF"/>
                </a:solidFill>
              </a:rPr>
              <a:t>Encoder-Decoder </a:t>
            </a:r>
            <a:r>
              <a:rPr lang="en-US" b="0" dirty="0" err="1">
                <a:solidFill>
                  <a:srgbClr val="0066FF"/>
                </a:solidFill>
              </a:rPr>
              <a:t>với</a:t>
            </a:r>
            <a:r>
              <a:rPr lang="en-US" b="0" dirty="0">
                <a:solidFill>
                  <a:srgbClr val="0066FF"/>
                </a:solidFill>
              </a:rPr>
              <a:t> Attention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1237" name="Google Shape;1237;p33"/>
          <p:cNvSpPr txBox="1">
            <a:spLocks noGrp="1"/>
          </p:cNvSpPr>
          <p:nvPr>
            <p:ph type="sldNum" idx="12"/>
          </p:nvPr>
        </p:nvSpPr>
        <p:spPr>
          <a:xfrm>
            <a:off x="6210580" y="4804411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32</a:t>
            </a:fld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8" name="Google Shape;1238;p33"/>
          <p:cNvGrpSpPr/>
          <p:nvPr/>
        </p:nvGrpSpPr>
        <p:grpSpPr>
          <a:xfrm rot="5400000">
            <a:off x="1694952" y="3419376"/>
            <a:ext cx="584634" cy="199296"/>
            <a:chOff x="6223414" y="4018641"/>
            <a:chExt cx="776477" cy="280329"/>
          </a:xfrm>
        </p:grpSpPr>
        <p:grpSp>
          <p:nvGrpSpPr>
            <p:cNvPr id="1239" name="Google Shape;1239;p33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240" name="Google Shape;1240;p33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33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33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33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44" name="Google Shape;1244;p33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45" name="Google Shape;1245;p33"/>
          <p:cNvCxnSpPr>
            <a:endCxn id="1244" idx="3"/>
          </p:cNvCxnSpPr>
          <p:nvPr/>
        </p:nvCxnSpPr>
        <p:spPr>
          <a:xfrm rot="10800000">
            <a:off x="1987269" y="381134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46" name="Google Shape;1246;p33"/>
          <p:cNvCxnSpPr>
            <a:stCxn id="1244" idx="0"/>
          </p:cNvCxnSpPr>
          <p:nvPr/>
        </p:nvCxnSpPr>
        <p:spPr>
          <a:xfrm>
            <a:off x="2086917" y="351902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247" name="Google Shape;1247;p33"/>
          <p:cNvSpPr txBox="1"/>
          <p:nvPr/>
        </p:nvSpPr>
        <p:spPr>
          <a:xfrm rot="-5400000">
            <a:off x="1006280" y="3270078"/>
            <a:ext cx="71664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</a:t>
            </a:r>
            <a:b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endParaRPr sz="1800"/>
          </a:p>
        </p:txBody>
      </p:sp>
      <p:sp>
        <p:nvSpPr>
          <p:cNvPr id="1248" name="Google Shape;1248;p33"/>
          <p:cNvSpPr txBox="1"/>
          <p:nvPr/>
        </p:nvSpPr>
        <p:spPr>
          <a:xfrm>
            <a:off x="1828381" y="4751486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1249" name="Google Shape;1249;p33"/>
          <p:cNvSpPr/>
          <p:nvPr/>
        </p:nvSpPr>
        <p:spPr>
          <a:xfrm rot="-5400000">
            <a:off x="2690565" y="3759524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50" name="Google Shape;1250;p33"/>
          <p:cNvSpPr/>
          <p:nvPr/>
        </p:nvSpPr>
        <p:spPr>
          <a:xfrm>
            <a:off x="1605396" y="3226707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51" name="Google Shape;1251;p33"/>
          <p:cNvSpPr txBox="1"/>
          <p:nvPr/>
        </p:nvSpPr>
        <p:spPr>
          <a:xfrm>
            <a:off x="3982754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3"/>
          <p:cNvSpPr txBox="1"/>
          <p:nvPr/>
        </p:nvSpPr>
        <p:spPr>
          <a:xfrm>
            <a:off x="1838404" y="4276680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3" name="Google Shape;1253;p33"/>
          <p:cNvGrpSpPr/>
          <p:nvPr/>
        </p:nvGrpSpPr>
        <p:grpSpPr>
          <a:xfrm rot="5400000">
            <a:off x="2150661" y="3414952"/>
            <a:ext cx="584634" cy="199296"/>
            <a:chOff x="6223414" y="4018641"/>
            <a:chExt cx="776477" cy="280329"/>
          </a:xfrm>
        </p:grpSpPr>
        <p:grpSp>
          <p:nvGrpSpPr>
            <p:cNvPr id="1254" name="Google Shape;1254;p33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255" name="Google Shape;1255;p33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33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33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33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59" name="Google Shape;1259;p33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60" name="Google Shape;1260;p33"/>
          <p:cNvCxnSpPr>
            <a:endCxn id="1259" idx="3"/>
          </p:cNvCxnSpPr>
          <p:nvPr/>
        </p:nvCxnSpPr>
        <p:spPr>
          <a:xfrm rot="10800000">
            <a:off x="2442978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61" name="Google Shape;1261;p33"/>
          <p:cNvCxnSpPr>
            <a:stCxn id="1259" idx="0"/>
          </p:cNvCxnSpPr>
          <p:nvPr/>
        </p:nvCxnSpPr>
        <p:spPr>
          <a:xfrm>
            <a:off x="2542626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262" name="Google Shape;1262;p33"/>
          <p:cNvGrpSpPr/>
          <p:nvPr/>
        </p:nvGrpSpPr>
        <p:grpSpPr>
          <a:xfrm rot="5400000">
            <a:off x="2596847" y="3414952"/>
            <a:ext cx="584634" cy="199296"/>
            <a:chOff x="6223414" y="4018641"/>
            <a:chExt cx="776477" cy="280329"/>
          </a:xfrm>
        </p:grpSpPr>
        <p:grpSp>
          <p:nvGrpSpPr>
            <p:cNvPr id="1263" name="Google Shape;1263;p33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264" name="Google Shape;1264;p33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5" name="Google Shape;1265;p33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6" name="Google Shape;1266;p33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7" name="Google Shape;1267;p33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68" name="Google Shape;1268;p33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69" name="Google Shape;1269;p33"/>
          <p:cNvCxnSpPr>
            <a:endCxn id="1268" idx="3"/>
          </p:cNvCxnSpPr>
          <p:nvPr/>
        </p:nvCxnSpPr>
        <p:spPr>
          <a:xfrm rot="10800000">
            <a:off x="2889164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70" name="Google Shape;1270;p33"/>
          <p:cNvCxnSpPr>
            <a:stCxn id="1268" idx="0"/>
          </p:cNvCxnSpPr>
          <p:nvPr/>
        </p:nvCxnSpPr>
        <p:spPr>
          <a:xfrm>
            <a:off x="2988812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271" name="Google Shape;1271;p33"/>
          <p:cNvGrpSpPr/>
          <p:nvPr/>
        </p:nvGrpSpPr>
        <p:grpSpPr>
          <a:xfrm rot="5400000">
            <a:off x="3054662" y="3412799"/>
            <a:ext cx="584634" cy="199296"/>
            <a:chOff x="6223414" y="4018641"/>
            <a:chExt cx="776477" cy="280329"/>
          </a:xfrm>
        </p:grpSpPr>
        <p:grpSp>
          <p:nvGrpSpPr>
            <p:cNvPr id="1272" name="Google Shape;1272;p33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273" name="Google Shape;1273;p33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33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33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33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7" name="Google Shape;1277;p33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78" name="Google Shape;1278;p33"/>
          <p:cNvCxnSpPr>
            <a:endCxn id="1277" idx="3"/>
          </p:cNvCxnSpPr>
          <p:nvPr/>
        </p:nvCxnSpPr>
        <p:spPr>
          <a:xfrm rot="10800000">
            <a:off x="334697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79" name="Google Shape;1279;p33"/>
          <p:cNvCxnSpPr>
            <a:stCxn id="1277" idx="0"/>
            <a:endCxn id="1280" idx="2"/>
          </p:cNvCxnSpPr>
          <p:nvPr/>
        </p:nvCxnSpPr>
        <p:spPr>
          <a:xfrm>
            <a:off x="3446627" y="3512447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281" name="Google Shape;1281;p33"/>
          <p:cNvGrpSpPr/>
          <p:nvPr/>
        </p:nvGrpSpPr>
        <p:grpSpPr>
          <a:xfrm rot="5400000">
            <a:off x="4033550" y="3412799"/>
            <a:ext cx="584634" cy="199296"/>
            <a:chOff x="6223414" y="4018641"/>
            <a:chExt cx="776477" cy="280329"/>
          </a:xfrm>
        </p:grpSpPr>
        <p:grpSp>
          <p:nvGrpSpPr>
            <p:cNvPr id="1282" name="Google Shape;1282;p33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283" name="Google Shape;1283;p33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33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33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33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80" name="Google Shape;1280;p33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87" name="Google Shape;1287;p33"/>
          <p:cNvCxnSpPr>
            <a:endCxn id="1280" idx="3"/>
          </p:cNvCxnSpPr>
          <p:nvPr/>
        </p:nvCxnSpPr>
        <p:spPr>
          <a:xfrm rot="10800000">
            <a:off x="4325867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288" name="Google Shape;1288;p33"/>
          <p:cNvSpPr txBox="1"/>
          <p:nvPr/>
        </p:nvSpPr>
        <p:spPr>
          <a:xfrm rot="5400000">
            <a:off x="7302216" y="3397634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sp>
        <p:nvSpPr>
          <p:cNvPr id="1289" name="Google Shape;1289;p33"/>
          <p:cNvSpPr/>
          <p:nvPr/>
        </p:nvSpPr>
        <p:spPr>
          <a:xfrm rot="10800000">
            <a:off x="7602318" y="3243816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1290" name="Google Shape;1290;p33"/>
          <p:cNvGrpSpPr/>
          <p:nvPr/>
        </p:nvGrpSpPr>
        <p:grpSpPr>
          <a:xfrm>
            <a:off x="1122226" y="2250912"/>
            <a:ext cx="621668" cy="923814"/>
            <a:chOff x="-27698" y="3001216"/>
            <a:chExt cx="828890" cy="1231752"/>
          </a:xfrm>
        </p:grpSpPr>
        <p:sp>
          <p:nvSpPr>
            <p:cNvPr id="1291" name="Google Shape;1291;p33"/>
            <p:cNvSpPr txBox="1"/>
            <p:nvPr/>
          </p:nvSpPr>
          <p:spPr>
            <a:xfrm rot="-5400000">
              <a:off x="-320409" y="3293926"/>
              <a:ext cx="12317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350">
                  <a:solidFill>
                    <a:srgbClr val="3A87FF"/>
                  </a:solidFill>
                  <a:latin typeface="Calibri"/>
                  <a:ea typeface="Calibri"/>
                  <a:cs typeface="Calibri"/>
                  <a:sym typeface="Calibri"/>
                </a:rPr>
                <a:t>Attention scores</a:t>
              </a:r>
              <a:endParaRPr sz="1800"/>
            </a:p>
          </p:txBody>
        </p:sp>
        <p:sp>
          <p:nvSpPr>
            <p:cNvPr id="1292" name="Google Shape;1292;p33"/>
            <p:cNvSpPr/>
            <p:nvPr/>
          </p:nvSpPr>
          <p:spPr>
            <a:xfrm>
              <a:off x="612764" y="3275371"/>
              <a:ext cx="188427" cy="625195"/>
            </a:xfrm>
            <a:prstGeom prst="leftBrace">
              <a:avLst>
                <a:gd name="adj1" fmla="val 39130"/>
                <a:gd name="adj2" fmla="val 50000"/>
              </a:avLst>
            </a:prstGeom>
            <a:noFill/>
            <a:ln w="19050" cap="flat" cmpd="sng">
              <a:solidFill>
                <a:srgbClr val="3A87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grpSp>
        <p:nvGrpSpPr>
          <p:cNvPr id="1293" name="Google Shape;1293;p33"/>
          <p:cNvGrpSpPr/>
          <p:nvPr/>
        </p:nvGrpSpPr>
        <p:grpSpPr>
          <a:xfrm>
            <a:off x="1950319" y="1238947"/>
            <a:ext cx="2375549" cy="1987760"/>
            <a:chOff x="1076420" y="1651921"/>
            <a:chExt cx="3167396" cy="2650346"/>
          </a:xfrm>
        </p:grpSpPr>
        <p:cxnSp>
          <p:nvCxnSpPr>
            <p:cNvPr id="1294" name="Google Shape;1294;p33"/>
            <p:cNvCxnSpPr>
              <a:stCxn id="1244" idx="1"/>
              <a:endCxn id="1295" idx="2"/>
            </p:cNvCxnSpPr>
            <p:nvPr/>
          </p:nvCxnSpPr>
          <p:spPr>
            <a:xfrm rot="10800000" flipH="1">
              <a:off x="1125686" y="3627267"/>
              <a:ext cx="6900" cy="6750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95" name="Google Shape;1295;p33"/>
            <p:cNvSpPr/>
            <p:nvPr/>
          </p:nvSpPr>
          <p:spPr>
            <a:xfrm rot="-5400000">
              <a:off x="1079559" y="3517982"/>
              <a:ext cx="106291" cy="112570"/>
            </a:xfrm>
            <a:prstGeom prst="ellipse">
              <a:avLst/>
            </a:prstGeom>
            <a:solidFill>
              <a:srgbClr val="BDD7FF">
                <a:alpha val="80000"/>
              </a:srgbClr>
            </a:solidFill>
            <a:ln w="19050" cap="flat" cmpd="sng">
              <a:solidFill>
                <a:srgbClr val="3A87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96" name="Google Shape;1296;p33"/>
            <p:cNvCxnSpPr>
              <a:stCxn id="1280" idx="1"/>
              <a:endCxn id="1295" idx="3"/>
            </p:cNvCxnSpPr>
            <p:nvPr/>
          </p:nvCxnSpPr>
          <p:spPr>
            <a:xfrm rot="10800000">
              <a:off x="1172416" y="3611898"/>
              <a:ext cx="3071400" cy="6816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97" name="Google Shape;1297;p33"/>
            <p:cNvSpPr txBox="1"/>
            <p:nvPr/>
          </p:nvSpPr>
          <p:spPr>
            <a:xfrm>
              <a:off x="1201423" y="1651921"/>
              <a:ext cx="23310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350" dirty="0">
                  <a:latin typeface="Calibri"/>
                  <a:ea typeface="Calibri"/>
                  <a:cs typeface="Calibri"/>
                  <a:sym typeface="Calibri"/>
                </a:rPr>
                <a:t>dot product</a:t>
              </a:r>
              <a:endParaRPr sz="1800" dirty="0"/>
            </a:p>
          </p:txBody>
        </p:sp>
        <p:cxnSp>
          <p:nvCxnSpPr>
            <p:cNvPr id="1298" name="Google Shape;1298;p33"/>
            <p:cNvCxnSpPr>
              <a:stCxn id="1297" idx="2"/>
              <a:endCxn id="1295" idx="6"/>
            </p:cNvCxnSpPr>
            <p:nvPr/>
          </p:nvCxnSpPr>
          <p:spPr>
            <a:xfrm flipH="1">
              <a:off x="1132742" y="2021253"/>
              <a:ext cx="1234200" cy="15000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190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553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34"/>
          <p:cNvSpPr txBox="1">
            <a:spLocks noGrp="1"/>
          </p:cNvSpPr>
          <p:nvPr>
            <p:ph type="title"/>
          </p:nvPr>
        </p:nvSpPr>
        <p:spPr>
          <a:xfrm>
            <a:off x="599173" y="0"/>
            <a:ext cx="4558706" cy="8028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7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Seq2Seq </a:t>
            </a:r>
            <a:r>
              <a:rPr lang="en-US" sz="2700" dirty="0" smtClean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US" sz="27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attention</a:t>
            </a:r>
            <a:endParaRPr sz="2700" dirty="0"/>
          </a:p>
        </p:txBody>
      </p:sp>
      <p:sp>
        <p:nvSpPr>
          <p:cNvPr id="1305" name="Google Shape;1305;p34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33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6" name="Google Shape;1306;p34"/>
          <p:cNvGrpSpPr/>
          <p:nvPr/>
        </p:nvGrpSpPr>
        <p:grpSpPr>
          <a:xfrm rot="5400000">
            <a:off x="1694952" y="3419376"/>
            <a:ext cx="584634" cy="199296"/>
            <a:chOff x="6223414" y="4018641"/>
            <a:chExt cx="776477" cy="280329"/>
          </a:xfrm>
        </p:grpSpPr>
        <p:grpSp>
          <p:nvGrpSpPr>
            <p:cNvPr id="1307" name="Google Shape;1307;p3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308" name="Google Shape;1308;p3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3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3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3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2" name="Google Shape;1312;p3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13" name="Google Shape;1313;p34"/>
          <p:cNvCxnSpPr>
            <a:endCxn id="1312" idx="3"/>
          </p:cNvCxnSpPr>
          <p:nvPr/>
        </p:nvCxnSpPr>
        <p:spPr>
          <a:xfrm rot="10800000">
            <a:off x="1987269" y="381134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14" name="Google Shape;1314;p34"/>
          <p:cNvCxnSpPr>
            <a:stCxn id="1312" idx="0"/>
          </p:cNvCxnSpPr>
          <p:nvPr/>
        </p:nvCxnSpPr>
        <p:spPr>
          <a:xfrm>
            <a:off x="2086917" y="351902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15" name="Google Shape;1315;p34"/>
          <p:cNvSpPr txBox="1"/>
          <p:nvPr/>
        </p:nvSpPr>
        <p:spPr>
          <a:xfrm rot="-5400000">
            <a:off x="1006280" y="3270078"/>
            <a:ext cx="71664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</a:t>
            </a:r>
            <a:b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endParaRPr sz="1800"/>
          </a:p>
        </p:txBody>
      </p:sp>
      <p:sp>
        <p:nvSpPr>
          <p:cNvPr id="1316" name="Google Shape;1316;p34"/>
          <p:cNvSpPr txBox="1"/>
          <p:nvPr/>
        </p:nvSpPr>
        <p:spPr>
          <a:xfrm>
            <a:off x="1828381" y="4751486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1317" name="Google Shape;1317;p34"/>
          <p:cNvSpPr/>
          <p:nvPr/>
        </p:nvSpPr>
        <p:spPr>
          <a:xfrm rot="-5400000">
            <a:off x="2690565" y="3759524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18" name="Google Shape;1318;p34"/>
          <p:cNvSpPr/>
          <p:nvPr/>
        </p:nvSpPr>
        <p:spPr>
          <a:xfrm>
            <a:off x="1605396" y="3226707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19" name="Google Shape;1319;p34"/>
          <p:cNvSpPr txBox="1"/>
          <p:nvPr/>
        </p:nvSpPr>
        <p:spPr>
          <a:xfrm>
            <a:off x="3982754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34"/>
          <p:cNvSpPr txBox="1"/>
          <p:nvPr/>
        </p:nvSpPr>
        <p:spPr>
          <a:xfrm>
            <a:off x="1838404" y="4276680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1" name="Google Shape;1321;p34"/>
          <p:cNvGrpSpPr/>
          <p:nvPr/>
        </p:nvGrpSpPr>
        <p:grpSpPr>
          <a:xfrm rot="5400000">
            <a:off x="2150661" y="3414952"/>
            <a:ext cx="584634" cy="199296"/>
            <a:chOff x="6223414" y="4018641"/>
            <a:chExt cx="776477" cy="280329"/>
          </a:xfrm>
        </p:grpSpPr>
        <p:grpSp>
          <p:nvGrpSpPr>
            <p:cNvPr id="1322" name="Google Shape;1322;p3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323" name="Google Shape;1323;p3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3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3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3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7" name="Google Shape;1327;p3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28" name="Google Shape;1328;p34"/>
          <p:cNvCxnSpPr>
            <a:endCxn id="1327" idx="3"/>
          </p:cNvCxnSpPr>
          <p:nvPr/>
        </p:nvCxnSpPr>
        <p:spPr>
          <a:xfrm rot="10800000">
            <a:off x="2442978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29" name="Google Shape;1329;p34"/>
          <p:cNvCxnSpPr>
            <a:stCxn id="1327" idx="0"/>
          </p:cNvCxnSpPr>
          <p:nvPr/>
        </p:nvCxnSpPr>
        <p:spPr>
          <a:xfrm>
            <a:off x="2542626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330" name="Google Shape;1330;p34"/>
          <p:cNvGrpSpPr/>
          <p:nvPr/>
        </p:nvGrpSpPr>
        <p:grpSpPr>
          <a:xfrm rot="5400000">
            <a:off x="2596847" y="3414952"/>
            <a:ext cx="584634" cy="199296"/>
            <a:chOff x="6223414" y="4018641"/>
            <a:chExt cx="776477" cy="280329"/>
          </a:xfrm>
        </p:grpSpPr>
        <p:grpSp>
          <p:nvGrpSpPr>
            <p:cNvPr id="1331" name="Google Shape;1331;p3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332" name="Google Shape;1332;p3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3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3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3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6" name="Google Shape;1336;p3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37" name="Google Shape;1337;p34"/>
          <p:cNvCxnSpPr>
            <a:endCxn id="1336" idx="3"/>
          </p:cNvCxnSpPr>
          <p:nvPr/>
        </p:nvCxnSpPr>
        <p:spPr>
          <a:xfrm rot="10800000">
            <a:off x="2889164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38" name="Google Shape;1338;p34"/>
          <p:cNvCxnSpPr>
            <a:stCxn id="1336" idx="0"/>
          </p:cNvCxnSpPr>
          <p:nvPr/>
        </p:nvCxnSpPr>
        <p:spPr>
          <a:xfrm>
            <a:off x="2988812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339" name="Google Shape;1339;p34"/>
          <p:cNvGrpSpPr/>
          <p:nvPr/>
        </p:nvGrpSpPr>
        <p:grpSpPr>
          <a:xfrm rot="5400000">
            <a:off x="3054662" y="3412799"/>
            <a:ext cx="584634" cy="199296"/>
            <a:chOff x="6223414" y="4018641"/>
            <a:chExt cx="776477" cy="280329"/>
          </a:xfrm>
        </p:grpSpPr>
        <p:grpSp>
          <p:nvGrpSpPr>
            <p:cNvPr id="1340" name="Google Shape;1340;p3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341" name="Google Shape;1341;p3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3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3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3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5" name="Google Shape;1345;p3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46" name="Google Shape;1346;p34"/>
          <p:cNvCxnSpPr>
            <a:endCxn id="1345" idx="3"/>
          </p:cNvCxnSpPr>
          <p:nvPr/>
        </p:nvCxnSpPr>
        <p:spPr>
          <a:xfrm rot="10800000">
            <a:off x="334697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47" name="Google Shape;1347;p34"/>
          <p:cNvCxnSpPr>
            <a:stCxn id="1345" idx="0"/>
            <a:endCxn id="1348" idx="2"/>
          </p:cNvCxnSpPr>
          <p:nvPr/>
        </p:nvCxnSpPr>
        <p:spPr>
          <a:xfrm>
            <a:off x="3446627" y="3512447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349" name="Google Shape;1349;p34"/>
          <p:cNvGrpSpPr/>
          <p:nvPr/>
        </p:nvGrpSpPr>
        <p:grpSpPr>
          <a:xfrm rot="5400000">
            <a:off x="4033550" y="3412799"/>
            <a:ext cx="584634" cy="199296"/>
            <a:chOff x="6223414" y="4018641"/>
            <a:chExt cx="776477" cy="280329"/>
          </a:xfrm>
        </p:grpSpPr>
        <p:grpSp>
          <p:nvGrpSpPr>
            <p:cNvPr id="1350" name="Google Shape;1350;p3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351" name="Google Shape;1351;p3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3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3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3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8" name="Google Shape;1348;p3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55" name="Google Shape;1355;p34"/>
          <p:cNvCxnSpPr>
            <a:endCxn id="1348" idx="3"/>
          </p:cNvCxnSpPr>
          <p:nvPr/>
        </p:nvCxnSpPr>
        <p:spPr>
          <a:xfrm rot="10800000">
            <a:off x="4325867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56" name="Google Shape;1356;p34"/>
          <p:cNvSpPr txBox="1"/>
          <p:nvPr/>
        </p:nvSpPr>
        <p:spPr>
          <a:xfrm rot="5400000">
            <a:off x="7302216" y="3397634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sp>
        <p:nvSpPr>
          <p:cNvPr id="1357" name="Google Shape;1357;p34"/>
          <p:cNvSpPr/>
          <p:nvPr/>
        </p:nvSpPr>
        <p:spPr>
          <a:xfrm rot="10800000">
            <a:off x="7602318" y="3243816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358" name="Google Shape;1358;p34"/>
          <p:cNvCxnSpPr>
            <a:stCxn id="1327" idx="1"/>
            <a:endCxn id="1359" idx="2"/>
          </p:cNvCxnSpPr>
          <p:nvPr/>
        </p:nvCxnSpPr>
        <p:spPr>
          <a:xfrm rot="10800000" flipH="1">
            <a:off x="2442978" y="2720533"/>
            <a:ext cx="2925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59" name="Google Shape;1359;p34"/>
          <p:cNvSpPr/>
          <p:nvPr/>
        </p:nvSpPr>
        <p:spPr>
          <a:xfrm rot="-5400000">
            <a:off x="2405943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0" name="Google Shape;1360;p34"/>
          <p:cNvCxnSpPr>
            <a:stCxn id="1348" idx="1"/>
            <a:endCxn id="1359" idx="3"/>
          </p:cNvCxnSpPr>
          <p:nvPr/>
        </p:nvCxnSpPr>
        <p:spPr>
          <a:xfrm rot="10800000">
            <a:off x="2475692" y="2708930"/>
            <a:ext cx="1850175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61" name="Google Shape;1361;p34"/>
          <p:cNvSpPr txBox="1"/>
          <p:nvPr/>
        </p:nvSpPr>
        <p:spPr>
          <a:xfrm rot="-5400000">
            <a:off x="902693" y="2470449"/>
            <a:ext cx="92381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scores</a:t>
            </a:r>
            <a:endParaRPr sz="1800"/>
          </a:p>
        </p:txBody>
      </p:sp>
      <p:sp>
        <p:nvSpPr>
          <p:cNvPr id="1362" name="Google Shape;1362;p34"/>
          <p:cNvSpPr/>
          <p:nvPr/>
        </p:nvSpPr>
        <p:spPr>
          <a:xfrm>
            <a:off x="1602579" y="2456535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363" name="Google Shape;1363;p34"/>
          <p:cNvCxnSpPr>
            <a:stCxn id="1312" idx="1"/>
            <a:endCxn id="1364" idx="2"/>
          </p:cNvCxnSpPr>
          <p:nvPr/>
        </p:nvCxnSpPr>
        <p:spPr>
          <a:xfrm rot="10800000" flipH="1">
            <a:off x="1987269" y="2720457"/>
            <a:ext cx="5175" cy="506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64" name="Google Shape;1364;p34"/>
          <p:cNvSpPr/>
          <p:nvPr/>
        </p:nvSpPr>
        <p:spPr>
          <a:xfrm rot="-5400000">
            <a:off x="1952676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5" name="Google Shape;1365;p34"/>
          <p:cNvCxnSpPr>
            <a:stCxn id="1348" idx="1"/>
            <a:endCxn id="1364" idx="3"/>
          </p:cNvCxnSpPr>
          <p:nvPr/>
        </p:nvCxnSpPr>
        <p:spPr>
          <a:xfrm rot="10800000">
            <a:off x="2022317" y="2708930"/>
            <a:ext cx="2303550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66" name="Google Shape;1366;p34"/>
          <p:cNvSpPr txBox="1"/>
          <p:nvPr/>
        </p:nvSpPr>
        <p:spPr>
          <a:xfrm>
            <a:off x="2044075" y="1238942"/>
            <a:ext cx="174827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 dirty="0">
                <a:latin typeface="Calibri"/>
                <a:ea typeface="Calibri"/>
                <a:cs typeface="Calibri"/>
                <a:sym typeface="Calibri"/>
              </a:rPr>
              <a:t>dot product</a:t>
            </a:r>
            <a:endParaRPr sz="1800" dirty="0"/>
          </a:p>
        </p:txBody>
      </p:sp>
      <p:cxnSp>
        <p:nvCxnSpPr>
          <p:cNvPr id="1367" name="Google Shape;1367;p34"/>
          <p:cNvCxnSpPr>
            <a:stCxn id="1366" idx="2"/>
            <a:endCxn id="1359" idx="6"/>
          </p:cNvCxnSpPr>
          <p:nvPr/>
        </p:nvCxnSpPr>
        <p:spPr>
          <a:xfrm flipH="1">
            <a:off x="2445713" y="1515941"/>
            <a:ext cx="472500" cy="112500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6755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35"/>
          <p:cNvSpPr txBox="1">
            <a:spLocks noGrp="1"/>
          </p:cNvSpPr>
          <p:nvPr>
            <p:ph type="title"/>
          </p:nvPr>
        </p:nvSpPr>
        <p:spPr>
          <a:xfrm>
            <a:off x="613611" y="0"/>
            <a:ext cx="4544268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Sequence-to-sequence with attention</a:t>
            </a:r>
            <a:endParaRPr dirty="0"/>
          </a:p>
        </p:txBody>
      </p:sp>
      <p:sp>
        <p:nvSpPr>
          <p:cNvPr id="1374" name="Google Shape;1374;p35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34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5" name="Google Shape;1375;p35"/>
          <p:cNvGrpSpPr/>
          <p:nvPr/>
        </p:nvGrpSpPr>
        <p:grpSpPr>
          <a:xfrm rot="5400000">
            <a:off x="1694952" y="3419376"/>
            <a:ext cx="584634" cy="199296"/>
            <a:chOff x="6223414" y="4018641"/>
            <a:chExt cx="776477" cy="280329"/>
          </a:xfrm>
        </p:grpSpPr>
        <p:grpSp>
          <p:nvGrpSpPr>
            <p:cNvPr id="1376" name="Google Shape;1376;p35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377" name="Google Shape;1377;p35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35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35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35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81" name="Google Shape;1381;p35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82" name="Google Shape;1382;p35"/>
          <p:cNvCxnSpPr>
            <a:endCxn id="1381" idx="3"/>
          </p:cNvCxnSpPr>
          <p:nvPr/>
        </p:nvCxnSpPr>
        <p:spPr>
          <a:xfrm rot="10800000">
            <a:off x="1987269" y="381134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83" name="Google Shape;1383;p35"/>
          <p:cNvCxnSpPr>
            <a:stCxn id="1381" idx="0"/>
          </p:cNvCxnSpPr>
          <p:nvPr/>
        </p:nvCxnSpPr>
        <p:spPr>
          <a:xfrm>
            <a:off x="2086917" y="351902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84" name="Google Shape;1384;p35"/>
          <p:cNvSpPr txBox="1"/>
          <p:nvPr/>
        </p:nvSpPr>
        <p:spPr>
          <a:xfrm rot="-5400000">
            <a:off x="1006280" y="3270078"/>
            <a:ext cx="71664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</a:t>
            </a:r>
            <a:b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endParaRPr sz="1800"/>
          </a:p>
        </p:txBody>
      </p:sp>
      <p:sp>
        <p:nvSpPr>
          <p:cNvPr id="1385" name="Google Shape;1385;p35"/>
          <p:cNvSpPr txBox="1"/>
          <p:nvPr/>
        </p:nvSpPr>
        <p:spPr>
          <a:xfrm>
            <a:off x="1828381" y="4751486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1386" name="Google Shape;1386;p35"/>
          <p:cNvSpPr/>
          <p:nvPr/>
        </p:nvSpPr>
        <p:spPr>
          <a:xfrm rot="-5400000">
            <a:off x="2690565" y="3759524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87" name="Google Shape;1387;p35"/>
          <p:cNvSpPr/>
          <p:nvPr/>
        </p:nvSpPr>
        <p:spPr>
          <a:xfrm>
            <a:off x="1605396" y="3226707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88" name="Google Shape;1388;p35"/>
          <p:cNvSpPr txBox="1"/>
          <p:nvPr/>
        </p:nvSpPr>
        <p:spPr>
          <a:xfrm>
            <a:off x="3982754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35"/>
          <p:cNvSpPr txBox="1"/>
          <p:nvPr/>
        </p:nvSpPr>
        <p:spPr>
          <a:xfrm>
            <a:off x="1838404" y="4276680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0" name="Google Shape;1390;p35"/>
          <p:cNvGrpSpPr/>
          <p:nvPr/>
        </p:nvGrpSpPr>
        <p:grpSpPr>
          <a:xfrm rot="5400000">
            <a:off x="2150661" y="3414952"/>
            <a:ext cx="584634" cy="199296"/>
            <a:chOff x="6223414" y="4018641"/>
            <a:chExt cx="776477" cy="280329"/>
          </a:xfrm>
        </p:grpSpPr>
        <p:grpSp>
          <p:nvGrpSpPr>
            <p:cNvPr id="1391" name="Google Shape;1391;p35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392" name="Google Shape;1392;p35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35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35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35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6" name="Google Shape;1396;p35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97" name="Google Shape;1397;p35"/>
          <p:cNvCxnSpPr>
            <a:endCxn id="1396" idx="3"/>
          </p:cNvCxnSpPr>
          <p:nvPr/>
        </p:nvCxnSpPr>
        <p:spPr>
          <a:xfrm rot="10800000">
            <a:off x="2442978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98" name="Google Shape;1398;p35"/>
          <p:cNvCxnSpPr>
            <a:stCxn id="1396" idx="0"/>
          </p:cNvCxnSpPr>
          <p:nvPr/>
        </p:nvCxnSpPr>
        <p:spPr>
          <a:xfrm>
            <a:off x="2542626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399" name="Google Shape;1399;p35"/>
          <p:cNvGrpSpPr/>
          <p:nvPr/>
        </p:nvGrpSpPr>
        <p:grpSpPr>
          <a:xfrm rot="5400000">
            <a:off x="2596847" y="3414952"/>
            <a:ext cx="584634" cy="199296"/>
            <a:chOff x="6223414" y="4018641"/>
            <a:chExt cx="776477" cy="280329"/>
          </a:xfrm>
        </p:grpSpPr>
        <p:grpSp>
          <p:nvGrpSpPr>
            <p:cNvPr id="1400" name="Google Shape;1400;p35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401" name="Google Shape;1401;p35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2" name="Google Shape;1402;p35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3" name="Google Shape;1403;p35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4" name="Google Shape;1404;p35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05" name="Google Shape;1405;p35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06" name="Google Shape;1406;p35"/>
          <p:cNvCxnSpPr>
            <a:endCxn id="1405" idx="3"/>
          </p:cNvCxnSpPr>
          <p:nvPr/>
        </p:nvCxnSpPr>
        <p:spPr>
          <a:xfrm rot="10800000">
            <a:off x="2889164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07" name="Google Shape;1407;p35"/>
          <p:cNvCxnSpPr>
            <a:stCxn id="1405" idx="0"/>
          </p:cNvCxnSpPr>
          <p:nvPr/>
        </p:nvCxnSpPr>
        <p:spPr>
          <a:xfrm>
            <a:off x="2988812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408" name="Google Shape;1408;p35"/>
          <p:cNvGrpSpPr/>
          <p:nvPr/>
        </p:nvGrpSpPr>
        <p:grpSpPr>
          <a:xfrm rot="5400000">
            <a:off x="3054662" y="3412799"/>
            <a:ext cx="584634" cy="199296"/>
            <a:chOff x="6223414" y="4018641"/>
            <a:chExt cx="776477" cy="280329"/>
          </a:xfrm>
        </p:grpSpPr>
        <p:grpSp>
          <p:nvGrpSpPr>
            <p:cNvPr id="1409" name="Google Shape;1409;p35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410" name="Google Shape;1410;p35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35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2" name="Google Shape;1412;p35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35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14" name="Google Shape;1414;p35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15" name="Google Shape;1415;p35"/>
          <p:cNvCxnSpPr>
            <a:endCxn id="1414" idx="3"/>
          </p:cNvCxnSpPr>
          <p:nvPr/>
        </p:nvCxnSpPr>
        <p:spPr>
          <a:xfrm rot="10800000">
            <a:off x="334697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16" name="Google Shape;1416;p35"/>
          <p:cNvCxnSpPr>
            <a:stCxn id="1414" idx="0"/>
            <a:endCxn id="1417" idx="2"/>
          </p:cNvCxnSpPr>
          <p:nvPr/>
        </p:nvCxnSpPr>
        <p:spPr>
          <a:xfrm>
            <a:off x="3446627" y="3512447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418" name="Google Shape;1418;p35"/>
          <p:cNvGrpSpPr/>
          <p:nvPr/>
        </p:nvGrpSpPr>
        <p:grpSpPr>
          <a:xfrm rot="5400000">
            <a:off x="4033550" y="3412799"/>
            <a:ext cx="584634" cy="199296"/>
            <a:chOff x="6223414" y="4018641"/>
            <a:chExt cx="776477" cy="280329"/>
          </a:xfrm>
        </p:grpSpPr>
        <p:grpSp>
          <p:nvGrpSpPr>
            <p:cNvPr id="1419" name="Google Shape;1419;p35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420" name="Google Shape;1420;p35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35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35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35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17" name="Google Shape;1417;p35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24" name="Google Shape;1424;p35"/>
          <p:cNvCxnSpPr>
            <a:endCxn id="1417" idx="3"/>
          </p:cNvCxnSpPr>
          <p:nvPr/>
        </p:nvCxnSpPr>
        <p:spPr>
          <a:xfrm rot="10800000">
            <a:off x="4325867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425" name="Google Shape;1425;p35"/>
          <p:cNvSpPr txBox="1"/>
          <p:nvPr/>
        </p:nvSpPr>
        <p:spPr>
          <a:xfrm rot="5400000">
            <a:off x="7302216" y="3397634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sp>
        <p:nvSpPr>
          <p:cNvPr id="1426" name="Google Shape;1426;p35"/>
          <p:cNvSpPr/>
          <p:nvPr/>
        </p:nvSpPr>
        <p:spPr>
          <a:xfrm rot="10800000">
            <a:off x="7602318" y="3243816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427" name="Google Shape;1427;p35"/>
          <p:cNvCxnSpPr>
            <a:stCxn id="1396" idx="1"/>
            <a:endCxn id="1428" idx="2"/>
          </p:cNvCxnSpPr>
          <p:nvPr/>
        </p:nvCxnSpPr>
        <p:spPr>
          <a:xfrm rot="10800000" flipH="1">
            <a:off x="2442978" y="2720533"/>
            <a:ext cx="2925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29" name="Google Shape;1429;p35"/>
          <p:cNvCxnSpPr>
            <a:stCxn id="1405" idx="1"/>
            <a:endCxn id="1430" idx="2"/>
          </p:cNvCxnSpPr>
          <p:nvPr/>
        </p:nvCxnSpPr>
        <p:spPr>
          <a:xfrm rot="10800000" flipH="1">
            <a:off x="2889164" y="2720533"/>
            <a:ext cx="9900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428" name="Google Shape;1428;p35"/>
          <p:cNvSpPr/>
          <p:nvPr/>
        </p:nvSpPr>
        <p:spPr>
          <a:xfrm rot="-5400000">
            <a:off x="2405943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35"/>
          <p:cNvSpPr/>
          <p:nvPr/>
        </p:nvSpPr>
        <p:spPr>
          <a:xfrm rot="-5400000">
            <a:off x="2859207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1" name="Google Shape;1431;p35"/>
          <p:cNvCxnSpPr>
            <a:stCxn id="1417" idx="1"/>
            <a:endCxn id="1430" idx="4"/>
          </p:cNvCxnSpPr>
          <p:nvPr/>
        </p:nvCxnSpPr>
        <p:spPr>
          <a:xfrm rot="10800000">
            <a:off x="2941217" y="2680805"/>
            <a:ext cx="1384650" cy="539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32" name="Google Shape;1432;p35"/>
          <p:cNvCxnSpPr>
            <a:stCxn id="1417" idx="1"/>
            <a:endCxn id="1428" idx="3"/>
          </p:cNvCxnSpPr>
          <p:nvPr/>
        </p:nvCxnSpPr>
        <p:spPr>
          <a:xfrm rot="10800000">
            <a:off x="2475692" y="2708930"/>
            <a:ext cx="1850175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433" name="Google Shape;1433;p35"/>
          <p:cNvSpPr txBox="1"/>
          <p:nvPr/>
        </p:nvSpPr>
        <p:spPr>
          <a:xfrm rot="-5400000">
            <a:off x="902693" y="2470449"/>
            <a:ext cx="92381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scores</a:t>
            </a:r>
            <a:endParaRPr sz="1800"/>
          </a:p>
        </p:txBody>
      </p:sp>
      <p:sp>
        <p:nvSpPr>
          <p:cNvPr id="1434" name="Google Shape;1434;p35"/>
          <p:cNvSpPr/>
          <p:nvPr/>
        </p:nvSpPr>
        <p:spPr>
          <a:xfrm>
            <a:off x="1602579" y="2456535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435" name="Google Shape;1435;p35"/>
          <p:cNvCxnSpPr>
            <a:stCxn id="1381" idx="1"/>
            <a:endCxn id="1436" idx="2"/>
          </p:cNvCxnSpPr>
          <p:nvPr/>
        </p:nvCxnSpPr>
        <p:spPr>
          <a:xfrm rot="10800000" flipH="1">
            <a:off x="1987269" y="2720457"/>
            <a:ext cx="5175" cy="506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436" name="Google Shape;1436;p35"/>
          <p:cNvSpPr/>
          <p:nvPr/>
        </p:nvSpPr>
        <p:spPr>
          <a:xfrm rot="-5400000">
            <a:off x="1952676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7" name="Google Shape;1437;p35"/>
          <p:cNvCxnSpPr>
            <a:stCxn id="1417" idx="1"/>
            <a:endCxn id="1436" idx="3"/>
          </p:cNvCxnSpPr>
          <p:nvPr/>
        </p:nvCxnSpPr>
        <p:spPr>
          <a:xfrm rot="10800000">
            <a:off x="2022317" y="2708930"/>
            <a:ext cx="2303550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438" name="Google Shape;1438;p35"/>
          <p:cNvSpPr txBox="1"/>
          <p:nvPr/>
        </p:nvSpPr>
        <p:spPr>
          <a:xfrm>
            <a:off x="2044075" y="1238942"/>
            <a:ext cx="174827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 dirty="0">
                <a:latin typeface="Calibri"/>
                <a:ea typeface="Calibri"/>
                <a:cs typeface="Calibri"/>
                <a:sym typeface="Calibri"/>
              </a:rPr>
              <a:t>dot product</a:t>
            </a:r>
            <a:endParaRPr sz="1800" dirty="0"/>
          </a:p>
        </p:txBody>
      </p:sp>
      <p:cxnSp>
        <p:nvCxnSpPr>
          <p:cNvPr id="1439" name="Google Shape;1439;p35"/>
          <p:cNvCxnSpPr>
            <a:stCxn id="1438" idx="2"/>
            <a:endCxn id="1430" idx="6"/>
          </p:cNvCxnSpPr>
          <p:nvPr/>
        </p:nvCxnSpPr>
        <p:spPr>
          <a:xfrm flipH="1">
            <a:off x="2899088" y="1515941"/>
            <a:ext cx="19125" cy="112500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6103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36"/>
          <p:cNvSpPr txBox="1">
            <a:spLocks noGrp="1"/>
          </p:cNvSpPr>
          <p:nvPr>
            <p:ph type="title"/>
          </p:nvPr>
        </p:nvSpPr>
        <p:spPr>
          <a:xfrm>
            <a:off x="380999" y="-9500"/>
            <a:ext cx="7649631" cy="663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Sequence-to-sequence with attention</a:t>
            </a:r>
            <a:endParaRPr dirty="0"/>
          </a:p>
        </p:txBody>
      </p:sp>
      <p:sp>
        <p:nvSpPr>
          <p:cNvPr id="1446" name="Google Shape;1446;p36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35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7" name="Google Shape;1447;p36"/>
          <p:cNvGrpSpPr/>
          <p:nvPr/>
        </p:nvGrpSpPr>
        <p:grpSpPr>
          <a:xfrm rot="5400000">
            <a:off x="1694952" y="3419376"/>
            <a:ext cx="584634" cy="199296"/>
            <a:chOff x="6223414" y="4018641"/>
            <a:chExt cx="776477" cy="280329"/>
          </a:xfrm>
        </p:grpSpPr>
        <p:grpSp>
          <p:nvGrpSpPr>
            <p:cNvPr id="1448" name="Google Shape;1448;p36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449" name="Google Shape;1449;p36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36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36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36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53" name="Google Shape;1453;p36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54" name="Google Shape;1454;p36"/>
          <p:cNvCxnSpPr>
            <a:endCxn id="1453" idx="3"/>
          </p:cNvCxnSpPr>
          <p:nvPr/>
        </p:nvCxnSpPr>
        <p:spPr>
          <a:xfrm rot="10800000">
            <a:off x="1987269" y="381134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55" name="Google Shape;1455;p36"/>
          <p:cNvCxnSpPr>
            <a:stCxn id="1453" idx="0"/>
          </p:cNvCxnSpPr>
          <p:nvPr/>
        </p:nvCxnSpPr>
        <p:spPr>
          <a:xfrm>
            <a:off x="2086917" y="351902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456" name="Google Shape;1456;p36"/>
          <p:cNvSpPr txBox="1"/>
          <p:nvPr/>
        </p:nvSpPr>
        <p:spPr>
          <a:xfrm rot="-5400000">
            <a:off x="1006280" y="3270078"/>
            <a:ext cx="71664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</a:t>
            </a:r>
            <a:b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endParaRPr sz="1800"/>
          </a:p>
        </p:txBody>
      </p:sp>
      <p:sp>
        <p:nvSpPr>
          <p:cNvPr id="1457" name="Google Shape;1457;p36"/>
          <p:cNvSpPr txBox="1"/>
          <p:nvPr/>
        </p:nvSpPr>
        <p:spPr>
          <a:xfrm>
            <a:off x="1828381" y="4751486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1458" name="Google Shape;1458;p36"/>
          <p:cNvSpPr/>
          <p:nvPr/>
        </p:nvSpPr>
        <p:spPr>
          <a:xfrm rot="-5400000">
            <a:off x="2690565" y="3759524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459" name="Google Shape;1459;p36"/>
          <p:cNvSpPr/>
          <p:nvPr/>
        </p:nvSpPr>
        <p:spPr>
          <a:xfrm>
            <a:off x="1605396" y="3226707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460" name="Google Shape;1460;p36"/>
          <p:cNvSpPr txBox="1"/>
          <p:nvPr/>
        </p:nvSpPr>
        <p:spPr>
          <a:xfrm>
            <a:off x="3982754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36"/>
          <p:cNvSpPr txBox="1"/>
          <p:nvPr/>
        </p:nvSpPr>
        <p:spPr>
          <a:xfrm>
            <a:off x="1838404" y="4276680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2" name="Google Shape;1462;p36"/>
          <p:cNvGrpSpPr/>
          <p:nvPr/>
        </p:nvGrpSpPr>
        <p:grpSpPr>
          <a:xfrm rot="5400000">
            <a:off x="2150661" y="3414952"/>
            <a:ext cx="584634" cy="199296"/>
            <a:chOff x="6223414" y="4018641"/>
            <a:chExt cx="776477" cy="280329"/>
          </a:xfrm>
        </p:grpSpPr>
        <p:grpSp>
          <p:nvGrpSpPr>
            <p:cNvPr id="1463" name="Google Shape;1463;p36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464" name="Google Shape;1464;p36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5" name="Google Shape;1465;p36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6" name="Google Shape;1466;p36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7" name="Google Shape;1467;p36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68" name="Google Shape;1468;p36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69" name="Google Shape;1469;p36"/>
          <p:cNvCxnSpPr>
            <a:endCxn id="1468" idx="3"/>
          </p:cNvCxnSpPr>
          <p:nvPr/>
        </p:nvCxnSpPr>
        <p:spPr>
          <a:xfrm rot="10800000">
            <a:off x="2442978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70" name="Google Shape;1470;p36"/>
          <p:cNvCxnSpPr>
            <a:stCxn id="1468" idx="0"/>
          </p:cNvCxnSpPr>
          <p:nvPr/>
        </p:nvCxnSpPr>
        <p:spPr>
          <a:xfrm>
            <a:off x="2542626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471" name="Google Shape;1471;p36"/>
          <p:cNvGrpSpPr/>
          <p:nvPr/>
        </p:nvGrpSpPr>
        <p:grpSpPr>
          <a:xfrm rot="5400000">
            <a:off x="2596847" y="3414952"/>
            <a:ext cx="584634" cy="199296"/>
            <a:chOff x="6223414" y="4018641"/>
            <a:chExt cx="776477" cy="280329"/>
          </a:xfrm>
        </p:grpSpPr>
        <p:grpSp>
          <p:nvGrpSpPr>
            <p:cNvPr id="1472" name="Google Shape;1472;p36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473" name="Google Shape;1473;p36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4" name="Google Shape;1474;p36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5" name="Google Shape;1475;p36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6" name="Google Shape;1476;p36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7" name="Google Shape;1477;p36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78" name="Google Shape;1478;p36"/>
          <p:cNvCxnSpPr>
            <a:endCxn id="1477" idx="3"/>
          </p:cNvCxnSpPr>
          <p:nvPr/>
        </p:nvCxnSpPr>
        <p:spPr>
          <a:xfrm rot="10800000">
            <a:off x="2889164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79" name="Google Shape;1479;p36"/>
          <p:cNvCxnSpPr>
            <a:stCxn id="1477" idx="0"/>
          </p:cNvCxnSpPr>
          <p:nvPr/>
        </p:nvCxnSpPr>
        <p:spPr>
          <a:xfrm>
            <a:off x="2988812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480" name="Google Shape;1480;p36"/>
          <p:cNvGrpSpPr/>
          <p:nvPr/>
        </p:nvGrpSpPr>
        <p:grpSpPr>
          <a:xfrm rot="5400000">
            <a:off x="3054662" y="3412799"/>
            <a:ext cx="584634" cy="199296"/>
            <a:chOff x="6223414" y="4018641"/>
            <a:chExt cx="776477" cy="280329"/>
          </a:xfrm>
        </p:grpSpPr>
        <p:grpSp>
          <p:nvGrpSpPr>
            <p:cNvPr id="1481" name="Google Shape;1481;p36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482" name="Google Shape;1482;p36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36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4" name="Google Shape;1484;p36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5" name="Google Shape;1485;p36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6" name="Google Shape;1486;p36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87" name="Google Shape;1487;p36"/>
          <p:cNvCxnSpPr>
            <a:endCxn id="1486" idx="3"/>
          </p:cNvCxnSpPr>
          <p:nvPr/>
        </p:nvCxnSpPr>
        <p:spPr>
          <a:xfrm rot="10800000">
            <a:off x="334697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88" name="Google Shape;1488;p36"/>
          <p:cNvCxnSpPr>
            <a:stCxn id="1486" idx="0"/>
            <a:endCxn id="1489" idx="2"/>
          </p:cNvCxnSpPr>
          <p:nvPr/>
        </p:nvCxnSpPr>
        <p:spPr>
          <a:xfrm>
            <a:off x="3446627" y="3512447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490" name="Google Shape;1490;p36"/>
          <p:cNvGrpSpPr/>
          <p:nvPr/>
        </p:nvGrpSpPr>
        <p:grpSpPr>
          <a:xfrm rot="5400000">
            <a:off x="4033550" y="3412799"/>
            <a:ext cx="584634" cy="199296"/>
            <a:chOff x="6223414" y="4018641"/>
            <a:chExt cx="776477" cy="280329"/>
          </a:xfrm>
        </p:grpSpPr>
        <p:grpSp>
          <p:nvGrpSpPr>
            <p:cNvPr id="1491" name="Google Shape;1491;p36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492" name="Google Shape;1492;p36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36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36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5" name="Google Shape;1495;p36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9" name="Google Shape;1489;p36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96" name="Google Shape;1496;p36"/>
          <p:cNvCxnSpPr>
            <a:endCxn id="1489" idx="3"/>
          </p:cNvCxnSpPr>
          <p:nvPr/>
        </p:nvCxnSpPr>
        <p:spPr>
          <a:xfrm rot="10800000">
            <a:off x="4325867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497" name="Google Shape;1497;p36"/>
          <p:cNvSpPr txBox="1"/>
          <p:nvPr/>
        </p:nvSpPr>
        <p:spPr>
          <a:xfrm rot="5400000">
            <a:off x="7302216" y="3397634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sp>
        <p:nvSpPr>
          <p:cNvPr id="1498" name="Google Shape;1498;p36"/>
          <p:cNvSpPr/>
          <p:nvPr/>
        </p:nvSpPr>
        <p:spPr>
          <a:xfrm rot="10800000">
            <a:off x="7602318" y="3243816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499" name="Google Shape;1499;p36"/>
          <p:cNvCxnSpPr>
            <a:stCxn id="1468" idx="1"/>
            <a:endCxn id="1500" idx="2"/>
          </p:cNvCxnSpPr>
          <p:nvPr/>
        </p:nvCxnSpPr>
        <p:spPr>
          <a:xfrm rot="10800000" flipH="1">
            <a:off x="2442978" y="2720533"/>
            <a:ext cx="2925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01" name="Google Shape;1501;p36"/>
          <p:cNvCxnSpPr>
            <a:stCxn id="1477" idx="1"/>
            <a:endCxn id="1502" idx="2"/>
          </p:cNvCxnSpPr>
          <p:nvPr/>
        </p:nvCxnSpPr>
        <p:spPr>
          <a:xfrm rot="10800000" flipH="1">
            <a:off x="2889164" y="2720533"/>
            <a:ext cx="9900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03" name="Google Shape;1503;p36"/>
          <p:cNvCxnSpPr>
            <a:stCxn id="1486" idx="1"/>
            <a:endCxn id="1504" idx="2"/>
          </p:cNvCxnSpPr>
          <p:nvPr/>
        </p:nvCxnSpPr>
        <p:spPr>
          <a:xfrm rot="10800000" flipH="1">
            <a:off x="3346979" y="2720630"/>
            <a:ext cx="5400" cy="499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500" name="Google Shape;1500;p36"/>
          <p:cNvSpPr/>
          <p:nvPr/>
        </p:nvSpPr>
        <p:spPr>
          <a:xfrm rot="-5400000">
            <a:off x="2405943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36"/>
          <p:cNvSpPr/>
          <p:nvPr/>
        </p:nvSpPr>
        <p:spPr>
          <a:xfrm rot="-5400000">
            <a:off x="2859207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36"/>
          <p:cNvSpPr/>
          <p:nvPr/>
        </p:nvSpPr>
        <p:spPr>
          <a:xfrm rot="-5400000">
            <a:off x="3312474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5" name="Google Shape;1505;p36"/>
          <p:cNvCxnSpPr>
            <a:stCxn id="1489" idx="1"/>
            <a:endCxn id="1504" idx="4"/>
          </p:cNvCxnSpPr>
          <p:nvPr/>
        </p:nvCxnSpPr>
        <p:spPr>
          <a:xfrm rot="10800000">
            <a:off x="3394592" y="2680805"/>
            <a:ext cx="931275" cy="539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06" name="Google Shape;1506;p36"/>
          <p:cNvCxnSpPr>
            <a:stCxn id="1489" idx="1"/>
            <a:endCxn id="1502" idx="4"/>
          </p:cNvCxnSpPr>
          <p:nvPr/>
        </p:nvCxnSpPr>
        <p:spPr>
          <a:xfrm rot="10800000">
            <a:off x="2941217" y="2680805"/>
            <a:ext cx="1384650" cy="539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07" name="Google Shape;1507;p36"/>
          <p:cNvCxnSpPr>
            <a:stCxn id="1489" idx="1"/>
            <a:endCxn id="1500" idx="3"/>
          </p:cNvCxnSpPr>
          <p:nvPr/>
        </p:nvCxnSpPr>
        <p:spPr>
          <a:xfrm rot="10800000">
            <a:off x="2475692" y="2708930"/>
            <a:ext cx="1850175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508" name="Google Shape;1508;p36"/>
          <p:cNvSpPr txBox="1"/>
          <p:nvPr/>
        </p:nvSpPr>
        <p:spPr>
          <a:xfrm rot="-5400000">
            <a:off x="902693" y="2470449"/>
            <a:ext cx="92381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scores</a:t>
            </a:r>
            <a:endParaRPr sz="1800"/>
          </a:p>
        </p:txBody>
      </p:sp>
      <p:sp>
        <p:nvSpPr>
          <p:cNvPr id="1509" name="Google Shape;1509;p36"/>
          <p:cNvSpPr/>
          <p:nvPr/>
        </p:nvSpPr>
        <p:spPr>
          <a:xfrm>
            <a:off x="1602579" y="2456535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510" name="Google Shape;1510;p36"/>
          <p:cNvCxnSpPr>
            <a:stCxn id="1453" idx="1"/>
            <a:endCxn id="1511" idx="2"/>
          </p:cNvCxnSpPr>
          <p:nvPr/>
        </p:nvCxnSpPr>
        <p:spPr>
          <a:xfrm rot="10800000" flipH="1">
            <a:off x="1987269" y="2720457"/>
            <a:ext cx="5175" cy="506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511" name="Google Shape;1511;p36"/>
          <p:cNvSpPr/>
          <p:nvPr/>
        </p:nvSpPr>
        <p:spPr>
          <a:xfrm rot="-5400000">
            <a:off x="1952676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2" name="Google Shape;1512;p36"/>
          <p:cNvCxnSpPr>
            <a:stCxn id="1489" idx="1"/>
            <a:endCxn id="1511" idx="3"/>
          </p:cNvCxnSpPr>
          <p:nvPr/>
        </p:nvCxnSpPr>
        <p:spPr>
          <a:xfrm rot="10800000">
            <a:off x="2022317" y="2708930"/>
            <a:ext cx="2303550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513" name="Google Shape;1513;p36"/>
          <p:cNvSpPr txBox="1"/>
          <p:nvPr/>
        </p:nvSpPr>
        <p:spPr>
          <a:xfrm>
            <a:off x="2044075" y="1238942"/>
            <a:ext cx="174827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 dirty="0">
                <a:latin typeface="Calibri"/>
                <a:ea typeface="Calibri"/>
                <a:cs typeface="Calibri"/>
                <a:sym typeface="Calibri"/>
              </a:rPr>
              <a:t>dot product</a:t>
            </a:r>
            <a:endParaRPr sz="1800" dirty="0"/>
          </a:p>
        </p:txBody>
      </p:sp>
      <p:cxnSp>
        <p:nvCxnSpPr>
          <p:cNvPr id="1514" name="Google Shape;1514;p36"/>
          <p:cNvCxnSpPr>
            <a:stCxn id="1513" idx="2"/>
            <a:endCxn id="1504" idx="6"/>
          </p:cNvCxnSpPr>
          <p:nvPr/>
        </p:nvCxnSpPr>
        <p:spPr>
          <a:xfrm>
            <a:off x="2918213" y="1515941"/>
            <a:ext cx="434025" cy="112500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6049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37"/>
          <p:cNvSpPr txBox="1">
            <a:spLocks noGrp="1"/>
          </p:cNvSpPr>
          <p:nvPr>
            <p:ph type="title"/>
          </p:nvPr>
        </p:nvSpPr>
        <p:spPr>
          <a:xfrm>
            <a:off x="628049" y="0"/>
            <a:ext cx="4529830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Sequence-to-sequence with attention</a:t>
            </a:r>
            <a:endParaRPr/>
          </a:p>
        </p:txBody>
      </p:sp>
      <p:sp>
        <p:nvSpPr>
          <p:cNvPr id="1521" name="Google Shape;1521;p37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36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22" name="Google Shape;1522;p37"/>
          <p:cNvGrpSpPr/>
          <p:nvPr/>
        </p:nvGrpSpPr>
        <p:grpSpPr>
          <a:xfrm rot="5400000">
            <a:off x="1694952" y="3419376"/>
            <a:ext cx="584634" cy="199296"/>
            <a:chOff x="6223414" y="4018641"/>
            <a:chExt cx="776477" cy="280329"/>
          </a:xfrm>
        </p:grpSpPr>
        <p:grpSp>
          <p:nvGrpSpPr>
            <p:cNvPr id="1523" name="Google Shape;1523;p37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524" name="Google Shape;1524;p37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5" name="Google Shape;1525;p37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6" name="Google Shape;1526;p37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37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28" name="Google Shape;1528;p37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29" name="Google Shape;1529;p37"/>
          <p:cNvCxnSpPr>
            <a:endCxn id="1528" idx="3"/>
          </p:cNvCxnSpPr>
          <p:nvPr/>
        </p:nvCxnSpPr>
        <p:spPr>
          <a:xfrm rot="10800000">
            <a:off x="1987269" y="381134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30" name="Google Shape;1530;p37"/>
          <p:cNvCxnSpPr>
            <a:stCxn id="1528" idx="0"/>
          </p:cNvCxnSpPr>
          <p:nvPr/>
        </p:nvCxnSpPr>
        <p:spPr>
          <a:xfrm>
            <a:off x="2086917" y="351902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531" name="Google Shape;1531;p37"/>
          <p:cNvSpPr txBox="1"/>
          <p:nvPr/>
        </p:nvSpPr>
        <p:spPr>
          <a:xfrm rot="-5400000">
            <a:off x="1006280" y="3270078"/>
            <a:ext cx="71664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</a:t>
            </a:r>
            <a:b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endParaRPr sz="1800"/>
          </a:p>
        </p:txBody>
      </p:sp>
      <p:sp>
        <p:nvSpPr>
          <p:cNvPr id="1532" name="Google Shape;1532;p37"/>
          <p:cNvSpPr txBox="1"/>
          <p:nvPr/>
        </p:nvSpPr>
        <p:spPr>
          <a:xfrm>
            <a:off x="1828381" y="4751486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1533" name="Google Shape;1533;p37"/>
          <p:cNvSpPr/>
          <p:nvPr/>
        </p:nvSpPr>
        <p:spPr>
          <a:xfrm rot="-5400000">
            <a:off x="2690565" y="3759524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534" name="Google Shape;1534;p37"/>
          <p:cNvSpPr/>
          <p:nvPr/>
        </p:nvSpPr>
        <p:spPr>
          <a:xfrm>
            <a:off x="1605396" y="3226707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535" name="Google Shape;1535;p37"/>
          <p:cNvSpPr txBox="1"/>
          <p:nvPr/>
        </p:nvSpPr>
        <p:spPr>
          <a:xfrm>
            <a:off x="3982754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37"/>
          <p:cNvSpPr txBox="1"/>
          <p:nvPr/>
        </p:nvSpPr>
        <p:spPr>
          <a:xfrm>
            <a:off x="1838404" y="4276680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7" name="Google Shape;1537;p37"/>
          <p:cNvGrpSpPr/>
          <p:nvPr/>
        </p:nvGrpSpPr>
        <p:grpSpPr>
          <a:xfrm rot="5400000">
            <a:off x="2150661" y="3414952"/>
            <a:ext cx="584634" cy="199296"/>
            <a:chOff x="6223414" y="4018641"/>
            <a:chExt cx="776477" cy="280329"/>
          </a:xfrm>
        </p:grpSpPr>
        <p:grpSp>
          <p:nvGrpSpPr>
            <p:cNvPr id="1538" name="Google Shape;1538;p37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539" name="Google Shape;1539;p37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0" name="Google Shape;1540;p37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37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37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43" name="Google Shape;1543;p37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44" name="Google Shape;1544;p37"/>
          <p:cNvCxnSpPr>
            <a:endCxn id="1543" idx="3"/>
          </p:cNvCxnSpPr>
          <p:nvPr/>
        </p:nvCxnSpPr>
        <p:spPr>
          <a:xfrm rot="10800000">
            <a:off x="2442978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45" name="Google Shape;1545;p37"/>
          <p:cNvCxnSpPr>
            <a:stCxn id="1543" idx="0"/>
          </p:cNvCxnSpPr>
          <p:nvPr/>
        </p:nvCxnSpPr>
        <p:spPr>
          <a:xfrm>
            <a:off x="2542626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546" name="Google Shape;1546;p37"/>
          <p:cNvGrpSpPr/>
          <p:nvPr/>
        </p:nvGrpSpPr>
        <p:grpSpPr>
          <a:xfrm rot="5400000">
            <a:off x="2596847" y="3414952"/>
            <a:ext cx="584634" cy="199296"/>
            <a:chOff x="6223414" y="4018641"/>
            <a:chExt cx="776477" cy="280329"/>
          </a:xfrm>
        </p:grpSpPr>
        <p:grpSp>
          <p:nvGrpSpPr>
            <p:cNvPr id="1547" name="Google Shape;1547;p37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548" name="Google Shape;1548;p37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37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37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37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2" name="Google Shape;1552;p37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53" name="Google Shape;1553;p37"/>
          <p:cNvCxnSpPr>
            <a:endCxn id="1552" idx="3"/>
          </p:cNvCxnSpPr>
          <p:nvPr/>
        </p:nvCxnSpPr>
        <p:spPr>
          <a:xfrm rot="10800000">
            <a:off x="2889164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54" name="Google Shape;1554;p37"/>
          <p:cNvCxnSpPr>
            <a:stCxn id="1552" idx="0"/>
          </p:cNvCxnSpPr>
          <p:nvPr/>
        </p:nvCxnSpPr>
        <p:spPr>
          <a:xfrm>
            <a:off x="2988812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555" name="Google Shape;1555;p37"/>
          <p:cNvGrpSpPr/>
          <p:nvPr/>
        </p:nvGrpSpPr>
        <p:grpSpPr>
          <a:xfrm rot="5400000">
            <a:off x="3054662" y="3412799"/>
            <a:ext cx="584634" cy="199296"/>
            <a:chOff x="6223414" y="4018641"/>
            <a:chExt cx="776477" cy="280329"/>
          </a:xfrm>
        </p:grpSpPr>
        <p:grpSp>
          <p:nvGrpSpPr>
            <p:cNvPr id="1556" name="Google Shape;1556;p37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557" name="Google Shape;1557;p37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8" name="Google Shape;1558;p37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9" name="Google Shape;1559;p37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0" name="Google Shape;1560;p37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61" name="Google Shape;1561;p37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62" name="Google Shape;1562;p37"/>
          <p:cNvCxnSpPr>
            <a:endCxn id="1561" idx="3"/>
          </p:cNvCxnSpPr>
          <p:nvPr/>
        </p:nvCxnSpPr>
        <p:spPr>
          <a:xfrm rot="10800000">
            <a:off x="334697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63" name="Google Shape;1563;p37"/>
          <p:cNvCxnSpPr>
            <a:stCxn id="1561" idx="0"/>
            <a:endCxn id="1564" idx="2"/>
          </p:cNvCxnSpPr>
          <p:nvPr/>
        </p:nvCxnSpPr>
        <p:spPr>
          <a:xfrm>
            <a:off x="3446627" y="3512447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565" name="Google Shape;1565;p37"/>
          <p:cNvGrpSpPr/>
          <p:nvPr/>
        </p:nvGrpSpPr>
        <p:grpSpPr>
          <a:xfrm rot="5400000">
            <a:off x="4033550" y="3412799"/>
            <a:ext cx="584634" cy="199296"/>
            <a:chOff x="6223414" y="4018641"/>
            <a:chExt cx="776477" cy="280329"/>
          </a:xfrm>
        </p:grpSpPr>
        <p:grpSp>
          <p:nvGrpSpPr>
            <p:cNvPr id="1566" name="Google Shape;1566;p37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567" name="Google Shape;1567;p37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37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37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570;p37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64" name="Google Shape;1564;p37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71" name="Google Shape;1571;p37"/>
          <p:cNvCxnSpPr>
            <a:endCxn id="1564" idx="3"/>
          </p:cNvCxnSpPr>
          <p:nvPr/>
        </p:nvCxnSpPr>
        <p:spPr>
          <a:xfrm rot="10800000">
            <a:off x="4325867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572" name="Google Shape;1572;p37"/>
          <p:cNvSpPr txBox="1"/>
          <p:nvPr/>
        </p:nvSpPr>
        <p:spPr>
          <a:xfrm rot="5400000">
            <a:off x="7302216" y="3397634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sp>
        <p:nvSpPr>
          <p:cNvPr id="1573" name="Google Shape;1573;p37"/>
          <p:cNvSpPr/>
          <p:nvPr/>
        </p:nvSpPr>
        <p:spPr>
          <a:xfrm rot="10800000">
            <a:off x="7602318" y="3243816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574" name="Google Shape;1574;p37"/>
          <p:cNvCxnSpPr>
            <a:stCxn id="1543" idx="1"/>
            <a:endCxn id="1575" idx="2"/>
          </p:cNvCxnSpPr>
          <p:nvPr/>
        </p:nvCxnSpPr>
        <p:spPr>
          <a:xfrm rot="10800000" flipH="1">
            <a:off x="2442978" y="2720533"/>
            <a:ext cx="2925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76" name="Google Shape;1576;p37"/>
          <p:cNvCxnSpPr>
            <a:stCxn id="1552" idx="1"/>
            <a:endCxn id="1577" idx="2"/>
          </p:cNvCxnSpPr>
          <p:nvPr/>
        </p:nvCxnSpPr>
        <p:spPr>
          <a:xfrm rot="10800000" flipH="1">
            <a:off x="2889164" y="2720533"/>
            <a:ext cx="9900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78" name="Google Shape;1578;p37"/>
          <p:cNvCxnSpPr>
            <a:stCxn id="1561" idx="1"/>
            <a:endCxn id="1579" idx="2"/>
          </p:cNvCxnSpPr>
          <p:nvPr/>
        </p:nvCxnSpPr>
        <p:spPr>
          <a:xfrm rot="10800000" flipH="1">
            <a:off x="3346979" y="2720630"/>
            <a:ext cx="5400" cy="499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575" name="Google Shape;1575;p37"/>
          <p:cNvSpPr/>
          <p:nvPr/>
        </p:nvSpPr>
        <p:spPr>
          <a:xfrm rot="-5400000">
            <a:off x="2405943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37"/>
          <p:cNvSpPr/>
          <p:nvPr/>
        </p:nvSpPr>
        <p:spPr>
          <a:xfrm rot="-5400000">
            <a:off x="2859207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37"/>
          <p:cNvSpPr/>
          <p:nvPr/>
        </p:nvSpPr>
        <p:spPr>
          <a:xfrm rot="-5400000">
            <a:off x="3312474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0" name="Google Shape;1580;p37"/>
          <p:cNvCxnSpPr>
            <a:stCxn id="1564" idx="1"/>
            <a:endCxn id="1579" idx="4"/>
          </p:cNvCxnSpPr>
          <p:nvPr/>
        </p:nvCxnSpPr>
        <p:spPr>
          <a:xfrm rot="10800000">
            <a:off x="3394592" y="2680805"/>
            <a:ext cx="931275" cy="539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81" name="Google Shape;1581;p37"/>
          <p:cNvCxnSpPr>
            <a:stCxn id="1564" idx="1"/>
            <a:endCxn id="1577" idx="4"/>
          </p:cNvCxnSpPr>
          <p:nvPr/>
        </p:nvCxnSpPr>
        <p:spPr>
          <a:xfrm rot="10800000">
            <a:off x="2941217" y="2680805"/>
            <a:ext cx="1384650" cy="539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82" name="Google Shape;1582;p37"/>
          <p:cNvCxnSpPr>
            <a:stCxn id="1564" idx="1"/>
            <a:endCxn id="1575" idx="3"/>
          </p:cNvCxnSpPr>
          <p:nvPr/>
        </p:nvCxnSpPr>
        <p:spPr>
          <a:xfrm rot="10800000">
            <a:off x="2475692" y="2708930"/>
            <a:ext cx="1850175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583" name="Google Shape;1583;p37"/>
          <p:cNvSpPr txBox="1"/>
          <p:nvPr/>
        </p:nvSpPr>
        <p:spPr>
          <a:xfrm rot="-5400000">
            <a:off x="902693" y="2470449"/>
            <a:ext cx="92381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scores</a:t>
            </a:r>
            <a:endParaRPr sz="1800"/>
          </a:p>
        </p:txBody>
      </p:sp>
      <p:sp>
        <p:nvSpPr>
          <p:cNvPr id="1584" name="Google Shape;1584;p37"/>
          <p:cNvSpPr/>
          <p:nvPr/>
        </p:nvSpPr>
        <p:spPr>
          <a:xfrm>
            <a:off x="1602579" y="2456535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585" name="Google Shape;1585;p37"/>
          <p:cNvCxnSpPr>
            <a:stCxn id="1528" idx="1"/>
            <a:endCxn id="1586" idx="2"/>
          </p:cNvCxnSpPr>
          <p:nvPr/>
        </p:nvCxnSpPr>
        <p:spPr>
          <a:xfrm rot="10800000" flipH="1">
            <a:off x="1987269" y="2720457"/>
            <a:ext cx="5175" cy="506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586" name="Google Shape;1586;p37"/>
          <p:cNvSpPr/>
          <p:nvPr/>
        </p:nvSpPr>
        <p:spPr>
          <a:xfrm rot="-5400000">
            <a:off x="1952676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7" name="Google Shape;1587;p37"/>
          <p:cNvCxnSpPr>
            <a:stCxn id="1564" idx="1"/>
            <a:endCxn id="1586" idx="3"/>
          </p:cNvCxnSpPr>
          <p:nvPr/>
        </p:nvCxnSpPr>
        <p:spPr>
          <a:xfrm rot="10800000">
            <a:off x="2022317" y="2708930"/>
            <a:ext cx="2303550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588" name="Google Shape;1588;p37"/>
          <p:cNvGrpSpPr/>
          <p:nvPr/>
        </p:nvGrpSpPr>
        <p:grpSpPr>
          <a:xfrm>
            <a:off x="2087006" y="1048901"/>
            <a:ext cx="3266155" cy="698374"/>
            <a:chOff x="1258662" y="1398527"/>
            <a:chExt cx="4354873" cy="931165"/>
          </a:xfrm>
        </p:grpSpPr>
        <p:sp>
          <p:nvSpPr>
            <p:cNvPr id="1589" name="Google Shape;1589;p37"/>
            <p:cNvSpPr txBox="1"/>
            <p:nvPr/>
          </p:nvSpPr>
          <p:spPr>
            <a:xfrm>
              <a:off x="2210862" y="1398527"/>
              <a:ext cx="3402673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350" dirty="0">
                  <a:latin typeface="Calibri"/>
                  <a:ea typeface="Calibri"/>
                  <a:cs typeface="Calibri"/>
                  <a:sym typeface="Calibri"/>
                </a:rPr>
                <a:t>On this decoder </a:t>
              </a:r>
              <a:r>
                <a:rPr lang="en-US" sz="1350" dirty="0" err="1">
                  <a:latin typeface="Calibri"/>
                  <a:ea typeface="Calibri"/>
                  <a:cs typeface="Calibri"/>
                  <a:sym typeface="Calibri"/>
                </a:rPr>
                <a:t>timestep</a:t>
              </a:r>
              <a:r>
                <a:rPr lang="en-US" sz="1350" dirty="0">
                  <a:latin typeface="Calibri"/>
                  <a:ea typeface="Calibri"/>
                  <a:cs typeface="Calibri"/>
                  <a:sym typeface="Calibri"/>
                </a:rPr>
                <a:t>, we’re mostly focusing on the first encoder hidden state (</a:t>
              </a:r>
              <a:r>
                <a:rPr lang="en-US" sz="1350" i="1" dirty="0">
                  <a:latin typeface="Calibri"/>
                  <a:ea typeface="Calibri"/>
                  <a:cs typeface="Calibri"/>
                  <a:sym typeface="Calibri"/>
                </a:rPr>
                <a:t>”les”</a:t>
              </a:r>
              <a:r>
                <a:rPr lang="en-US" sz="1350" dirty="0"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1800" dirty="0"/>
            </a:p>
          </p:txBody>
        </p:sp>
        <p:cxnSp>
          <p:nvCxnSpPr>
            <p:cNvPr id="1590" name="Google Shape;1590;p37"/>
            <p:cNvCxnSpPr>
              <a:stCxn id="1589" idx="1"/>
            </p:cNvCxnSpPr>
            <p:nvPr/>
          </p:nvCxnSpPr>
          <p:spPr>
            <a:xfrm flipH="1">
              <a:off x="1258662" y="1860192"/>
              <a:ext cx="952200" cy="4695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190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1591" name="Google Shape;1591;p37"/>
          <p:cNvGrpSpPr/>
          <p:nvPr/>
        </p:nvGrpSpPr>
        <p:grpSpPr>
          <a:xfrm>
            <a:off x="1122227" y="1351335"/>
            <a:ext cx="2489708" cy="980900"/>
            <a:chOff x="-27700" y="1801774"/>
            <a:chExt cx="3319610" cy="1307867"/>
          </a:xfrm>
        </p:grpSpPr>
        <p:cxnSp>
          <p:nvCxnSpPr>
            <p:cNvPr id="1592" name="Google Shape;1592;p37"/>
            <p:cNvCxnSpPr/>
            <p:nvPr/>
          </p:nvCxnSpPr>
          <p:spPr>
            <a:xfrm>
              <a:off x="983426" y="2768307"/>
              <a:ext cx="2308484" cy="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19050" cap="flat" cmpd="sng">
              <a:solidFill>
                <a:srgbClr val="3A8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93" name="Google Shape;1593;p37"/>
            <p:cNvSpPr/>
            <p:nvPr/>
          </p:nvSpPr>
          <p:spPr>
            <a:xfrm>
              <a:off x="1066886" y="2292306"/>
              <a:ext cx="136163" cy="476001"/>
            </a:xfrm>
            <a:prstGeom prst="rect">
              <a:avLst/>
            </a:prstGeom>
            <a:solidFill>
              <a:srgbClr val="BDD6FF"/>
            </a:solidFill>
            <a:ln w="19050" cap="flat" cmpd="sng">
              <a:solidFill>
                <a:srgbClr val="3A87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37"/>
            <p:cNvSpPr/>
            <p:nvPr/>
          </p:nvSpPr>
          <p:spPr>
            <a:xfrm>
              <a:off x="1670682" y="2713341"/>
              <a:ext cx="136163" cy="45719"/>
            </a:xfrm>
            <a:prstGeom prst="rect">
              <a:avLst/>
            </a:prstGeom>
            <a:solidFill>
              <a:srgbClr val="BDD6FF"/>
            </a:solidFill>
            <a:ln w="19050" cap="flat" cmpd="sng">
              <a:solidFill>
                <a:srgbClr val="3A87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37"/>
            <p:cNvSpPr/>
            <p:nvPr/>
          </p:nvSpPr>
          <p:spPr>
            <a:xfrm>
              <a:off x="2274478" y="2713341"/>
              <a:ext cx="136163" cy="45719"/>
            </a:xfrm>
            <a:prstGeom prst="rect">
              <a:avLst/>
            </a:prstGeom>
            <a:solidFill>
              <a:srgbClr val="BDD6FF"/>
            </a:solidFill>
            <a:ln w="19050" cap="flat" cmpd="sng">
              <a:solidFill>
                <a:srgbClr val="3A87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37"/>
            <p:cNvSpPr/>
            <p:nvPr/>
          </p:nvSpPr>
          <p:spPr>
            <a:xfrm>
              <a:off x="2878274" y="2713341"/>
              <a:ext cx="136163" cy="45719"/>
            </a:xfrm>
            <a:prstGeom prst="rect">
              <a:avLst/>
            </a:prstGeom>
            <a:solidFill>
              <a:srgbClr val="BDD6FF"/>
            </a:solidFill>
            <a:ln w="19050" cap="flat" cmpd="sng">
              <a:solidFill>
                <a:srgbClr val="3A87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37"/>
            <p:cNvSpPr txBox="1"/>
            <p:nvPr/>
          </p:nvSpPr>
          <p:spPr>
            <a:xfrm rot="-5400000">
              <a:off x="-358468" y="2132542"/>
              <a:ext cx="1307867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350">
                  <a:solidFill>
                    <a:srgbClr val="3A87FF"/>
                  </a:solidFill>
                  <a:latin typeface="Calibri"/>
                  <a:ea typeface="Calibri"/>
                  <a:cs typeface="Calibri"/>
                  <a:sym typeface="Calibri"/>
                </a:rPr>
                <a:t>Attention distribution</a:t>
              </a:r>
              <a:endParaRPr sz="1800"/>
            </a:p>
          </p:txBody>
        </p:sp>
        <p:sp>
          <p:nvSpPr>
            <p:cNvPr id="1598" name="Google Shape;1598;p37"/>
            <p:cNvSpPr/>
            <p:nvPr/>
          </p:nvSpPr>
          <p:spPr>
            <a:xfrm>
              <a:off x="625293" y="2143111"/>
              <a:ext cx="188427" cy="625195"/>
            </a:xfrm>
            <a:prstGeom prst="leftBrace">
              <a:avLst>
                <a:gd name="adj1" fmla="val 39130"/>
                <a:gd name="adj2" fmla="val 50000"/>
              </a:avLst>
            </a:prstGeom>
            <a:noFill/>
            <a:ln w="19050" cap="flat" cmpd="sng">
              <a:solidFill>
                <a:srgbClr val="3A87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grpSp>
        <p:nvGrpSpPr>
          <p:cNvPr id="1599" name="Google Shape;1599;p37"/>
          <p:cNvGrpSpPr/>
          <p:nvPr/>
        </p:nvGrpSpPr>
        <p:grpSpPr>
          <a:xfrm>
            <a:off x="1992428" y="2069247"/>
            <a:ext cx="4656208" cy="571552"/>
            <a:chOff x="1132561" y="2758992"/>
            <a:chExt cx="6208276" cy="762069"/>
          </a:xfrm>
        </p:grpSpPr>
        <p:sp>
          <p:nvSpPr>
            <p:cNvPr id="1600" name="Google Shape;1600;p37"/>
            <p:cNvSpPr txBox="1"/>
            <p:nvPr/>
          </p:nvSpPr>
          <p:spPr>
            <a:xfrm>
              <a:off x="4195887" y="2758992"/>
              <a:ext cx="3144950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350" dirty="0">
                  <a:latin typeface="Calibri"/>
                  <a:ea typeface="Calibri"/>
                  <a:cs typeface="Calibri"/>
                  <a:sym typeface="Calibri"/>
                </a:rPr>
                <a:t>Take </a:t>
              </a:r>
              <a:r>
                <a:rPr lang="en-US" sz="1350" dirty="0" err="1">
                  <a:latin typeface="Calibri"/>
                  <a:ea typeface="Calibri"/>
                  <a:cs typeface="Calibri"/>
                  <a:sym typeface="Calibri"/>
                </a:rPr>
                <a:t>softmax</a:t>
              </a:r>
              <a:r>
                <a:rPr lang="en-US" sz="1350" dirty="0">
                  <a:latin typeface="Calibri"/>
                  <a:ea typeface="Calibri"/>
                  <a:cs typeface="Calibri"/>
                  <a:sym typeface="Calibri"/>
                </a:rPr>
                <a:t> to turn the scores into a probability distribution</a:t>
              </a:r>
              <a:endParaRPr sz="1800" dirty="0"/>
            </a:p>
          </p:txBody>
        </p:sp>
        <p:cxnSp>
          <p:nvCxnSpPr>
            <p:cNvPr id="1601" name="Google Shape;1601;p37"/>
            <p:cNvCxnSpPr>
              <a:stCxn id="1600" idx="1"/>
            </p:cNvCxnSpPr>
            <p:nvPr/>
          </p:nvCxnSpPr>
          <p:spPr>
            <a:xfrm flipH="1">
              <a:off x="3423687" y="3082157"/>
              <a:ext cx="772200" cy="90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190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02" name="Google Shape;1602;p37"/>
            <p:cNvCxnSpPr>
              <a:endCxn id="1593" idx="2"/>
            </p:cNvCxnSpPr>
            <p:nvPr/>
          </p:nvCxnSpPr>
          <p:spPr>
            <a:xfrm rot="10800000" flipH="1">
              <a:off x="1132561" y="2768308"/>
              <a:ext cx="2400" cy="7527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603" name="Google Shape;1603;p37"/>
            <p:cNvCxnSpPr>
              <a:endCxn id="1594" idx="2"/>
            </p:cNvCxnSpPr>
            <p:nvPr/>
          </p:nvCxnSpPr>
          <p:spPr>
            <a:xfrm rot="10800000" flipH="1">
              <a:off x="1736957" y="2759061"/>
              <a:ext cx="1800" cy="7620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604" name="Google Shape;1604;p37"/>
            <p:cNvCxnSpPr>
              <a:endCxn id="1595" idx="2"/>
            </p:cNvCxnSpPr>
            <p:nvPr/>
          </p:nvCxnSpPr>
          <p:spPr>
            <a:xfrm rot="10800000" flipH="1">
              <a:off x="2341353" y="2759061"/>
              <a:ext cx="1200" cy="7620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605" name="Google Shape;1605;p37"/>
            <p:cNvCxnSpPr>
              <a:endCxn id="1596" idx="2"/>
            </p:cNvCxnSpPr>
            <p:nvPr/>
          </p:nvCxnSpPr>
          <p:spPr>
            <a:xfrm rot="10800000" flipH="1">
              <a:off x="2945749" y="2759061"/>
              <a:ext cx="600" cy="7620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22878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38"/>
          <p:cNvSpPr txBox="1">
            <a:spLocks noGrp="1"/>
          </p:cNvSpPr>
          <p:nvPr>
            <p:ph type="title"/>
          </p:nvPr>
        </p:nvSpPr>
        <p:spPr>
          <a:xfrm>
            <a:off x="613611" y="0"/>
            <a:ext cx="4544268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Sequence-to-sequence with attention</a:t>
            </a:r>
            <a:endParaRPr dirty="0"/>
          </a:p>
        </p:txBody>
      </p:sp>
      <p:sp>
        <p:nvSpPr>
          <p:cNvPr id="1612" name="Google Shape;1612;p38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37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13" name="Google Shape;1613;p38"/>
          <p:cNvGrpSpPr/>
          <p:nvPr/>
        </p:nvGrpSpPr>
        <p:grpSpPr>
          <a:xfrm rot="5400000">
            <a:off x="1694952" y="3419376"/>
            <a:ext cx="584634" cy="199296"/>
            <a:chOff x="6223414" y="4018641"/>
            <a:chExt cx="776477" cy="280329"/>
          </a:xfrm>
        </p:grpSpPr>
        <p:grpSp>
          <p:nvGrpSpPr>
            <p:cNvPr id="1614" name="Google Shape;1614;p38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615" name="Google Shape;1615;p38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38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38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38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19" name="Google Shape;1619;p38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20" name="Google Shape;1620;p38"/>
          <p:cNvCxnSpPr>
            <a:endCxn id="1619" idx="3"/>
          </p:cNvCxnSpPr>
          <p:nvPr/>
        </p:nvCxnSpPr>
        <p:spPr>
          <a:xfrm rot="10800000">
            <a:off x="1987269" y="381134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21" name="Google Shape;1621;p38"/>
          <p:cNvCxnSpPr>
            <a:stCxn id="1619" idx="0"/>
          </p:cNvCxnSpPr>
          <p:nvPr/>
        </p:nvCxnSpPr>
        <p:spPr>
          <a:xfrm>
            <a:off x="2086917" y="351902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622" name="Google Shape;1622;p38"/>
          <p:cNvSpPr txBox="1"/>
          <p:nvPr/>
        </p:nvSpPr>
        <p:spPr>
          <a:xfrm rot="-5400000">
            <a:off x="1006280" y="3270078"/>
            <a:ext cx="71664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</a:t>
            </a:r>
            <a:b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endParaRPr sz="1800"/>
          </a:p>
        </p:txBody>
      </p:sp>
      <p:sp>
        <p:nvSpPr>
          <p:cNvPr id="1623" name="Google Shape;1623;p38"/>
          <p:cNvSpPr txBox="1"/>
          <p:nvPr/>
        </p:nvSpPr>
        <p:spPr>
          <a:xfrm>
            <a:off x="1828381" y="4751486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1624" name="Google Shape;1624;p38"/>
          <p:cNvSpPr/>
          <p:nvPr/>
        </p:nvSpPr>
        <p:spPr>
          <a:xfrm rot="-5400000">
            <a:off x="2690565" y="3759524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25" name="Google Shape;1625;p38"/>
          <p:cNvSpPr/>
          <p:nvPr/>
        </p:nvSpPr>
        <p:spPr>
          <a:xfrm>
            <a:off x="1605396" y="3226707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26" name="Google Shape;1626;p38"/>
          <p:cNvSpPr txBox="1"/>
          <p:nvPr/>
        </p:nvSpPr>
        <p:spPr>
          <a:xfrm>
            <a:off x="3982754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38"/>
          <p:cNvSpPr txBox="1"/>
          <p:nvPr/>
        </p:nvSpPr>
        <p:spPr>
          <a:xfrm>
            <a:off x="1838404" y="4276680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8" name="Google Shape;1628;p38"/>
          <p:cNvGrpSpPr/>
          <p:nvPr/>
        </p:nvGrpSpPr>
        <p:grpSpPr>
          <a:xfrm rot="5400000">
            <a:off x="2150661" y="3414952"/>
            <a:ext cx="584634" cy="199296"/>
            <a:chOff x="6223414" y="4018641"/>
            <a:chExt cx="776477" cy="280329"/>
          </a:xfrm>
        </p:grpSpPr>
        <p:grpSp>
          <p:nvGrpSpPr>
            <p:cNvPr id="1629" name="Google Shape;1629;p38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630" name="Google Shape;1630;p38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1" name="Google Shape;1631;p38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38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3" name="Google Shape;1633;p38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4" name="Google Shape;1634;p38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35" name="Google Shape;1635;p38"/>
          <p:cNvCxnSpPr>
            <a:endCxn id="1634" idx="3"/>
          </p:cNvCxnSpPr>
          <p:nvPr/>
        </p:nvCxnSpPr>
        <p:spPr>
          <a:xfrm rot="10800000">
            <a:off x="2442978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36" name="Google Shape;1636;p38"/>
          <p:cNvCxnSpPr>
            <a:stCxn id="1634" idx="0"/>
          </p:cNvCxnSpPr>
          <p:nvPr/>
        </p:nvCxnSpPr>
        <p:spPr>
          <a:xfrm>
            <a:off x="2542626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637" name="Google Shape;1637;p38"/>
          <p:cNvGrpSpPr/>
          <p:nvPr/>
        </p:nvGrpSpPr>
        <p:grpSpPr>
          <a:xfrm rot="5400000">
            <a:off x="2596847" y="3414952"/>
            <a:ext cx="584634" cy="199296"/>
            <a:chOff x="6223414" y="4018641"/>
            <a:chExt cx="776477" cy="280329"/>
          </a:xfrm>
        </p:grpSpPr>
        <p:grpSp>
          <p:nvGrpSpPr>
            <p:cNvPr id="1638" name="Google Shape;1638;p38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639" name="Google Shape;1639;p38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38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38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38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43" name="Google Shape;1643;p38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44" name="Google Shape;1644;p38"/>
          <p:cNvCxnSpPr>
            <a:endCxn id="1643" idx="3"/>
          </p:cNvCxnSpPr>
          <p:nvPr/>
        </p:nvCxnSpPr>
        <p:spPr>
          <a:xfrm rot="10800000">
            <a:off x="2889164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45" name="Google Shape;1645;p38"/>
          <p:cNvCxnSpPr>
            <a:stCxn id="1643" idx="0"/>
          </p:cNvCxnSpPr>
          <p:nvPr/>
        </p:nvCxnSpPr>
        <p:spPr>
          <a:xfrm>
            <a:off x="2988812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646" name="Google Shape;1646;p38"/>
          <p:cNvGrpSpPr/>
          <p:nvPr/>
        </p:nvGrpSpPr>
        <p:grpSpPr>
          <a:xfrm rot="5400000">
            <a:off x="3054662" y="3412799"/>
            <a:ext cx="584634" cy="199296"/>
            <a:chOff x="6223414" y="4018641"/>
            <a:chExt cx="776477" cy="280329"/>
          </a:xfrm>
        </p:grpSpPr>
        <p:grpSp>
          <p:nvGrpSpPr>
            <p:cNvPr id="1647" name="Google Shape;1647;p38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648" name="Google Shape;1648;p38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38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38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38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2" name="Google Shape;1652;p38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53" name="Google Shape;1653;p38"/>
          <p:cNvCxnSpPr>
            <a:endCxn id="1652" idx="3"/>
          </p:cNvCxnSpPr>
          <p:nvPr/>
        </p:nvCxnSpPr>
        <p:spPr>
          <a:xfrm rot="10800000">
            <a:off x="334697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54" name="Google Shape;1654;p38"/>
          <p:cNvCxnSpPr>
            <a:stCxn id="1652" idx="0"/>
            <a:endCxn id="1655" idx="2"/>
          </p:cNvCxnSpPr>
          <p:nvPr/>
        </p:nvCxnSpPr>
        <p:spPr>
          <a:xfrm>
            <a:off x="3446627" y="3512447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656" name="Google Shape;1656;p38"/>
          <p:cNvGrpSpPr/>
          <p:nvPr/>
        </p:nvGrpSpPr>
        <p:grpSpPr>
          <a:xfrm rot="5400000">
            <a:off x="4033550" y="3412799"/>
            <a:ext cx="584634" cy="199296"/>
            <a:chOff x="6223414" y="4018641"/>
            <a:chExt cx="776477" cy="280329"/>
          </a:xfrm>
        </p:grpSpPr>
        <p:grpSp>
          <p:nvGrpSpPr>
            <p:cNvPr id="1657" name="Google Shape;1657;p38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658" name="Google Shape;1658;p38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9" name="Google Shape;1659;p38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0" name="Google Shape;1660;p38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1" name="Google Shape;1661;p38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5" name="Google Shape;1655;p38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62" name="Google Shape;1662;p38"/>
          <p:cNvCxnSpPr>
            <a:endCxn id="1655" idx="3"/>
          </p:cNvCxnSpPr>
          <p:nvPr/>
        </p:nvCxnSpPr>
        <p:spPr>
          <a:xfrm rot="10800000">
            <a:off x="4325867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663" name="Google Shape;1663;p38"/>
          <p:cNvSpPr txBox="1"/>
          <p:nvPr/>
        </p:nvSpPr>
        <p:spPr>
          <a:xfrm rot="5400000">
            <a:off x="7302216" y="3397634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sp>
        <p:nvSpPr>
          <p:cNvPr id="1664" name="Google Shape;1664;p38"/>
          <p:cNvSpPr/>
          <p:nvPr/>
        </p:nvSpPr>
        <p:spPr>
          <a:xfrm rot="10800000">
            <a:off x="7602318" y="3243816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665" name="Google Shape;1665;p38"/>
          <p:cNvCxnSpPr/>
          <p:nvPr/>
        </p:nvCxnSpPr>
        <p:spPr>
          <a:xfrm>
            <a:off x="1880570" y="2076230"/>
            <a:ext cx="1731363" cy="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66" name="Google Shape;1666;p38"/>
          <p:cNvSpPr/>
          <p:nvPr/>
        </p:nvSpPr>
        <p:spPr>
          <a:xfrm>
            <a:off x="1943172" y="1719239"/>
            <a:ext cx="102122" cy="357001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38"/>
          <p:cNvSpPr/>
          <p:nvPr/>
        </p:nvSpPr>
        <p:spPr>
          <a:xfrm>
            <a:off x="2396019" y="2035015"/>
            <a:ext cx="102122" cy="3428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38"/>
          <p:cNvSpPr/>
          <p:nvPr/>
        </p:nvSpPr>
        <p:spPr>
          <a:xfrm>
            <a:off x="2848866" y="2035015"/>
            <a:ext cx="102122" cy="3428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38"/>
          <p:cNvSpPr/>
          <p:nvPr/>
        </p:nvSpPr>
        <p:spPr>
          <a:xfrm>
            <a:off x="3301713" y="2035015"/>
            <a:ext cx="102122" cy="3428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38"/>
          <p:cNvSpPr txBox="1"/>
          <p:nvPr/>
        </p:nvSpPr>
        <p:spPr>
          <a:xfrm rot="-5400000">
            <a:off x="874151" y="1599411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distribution</a:t>
            </a:r>
            <a:endParaRPr sz="1800"/>
          </a:p>
        </p:txBody>
      </p:sp>
      <p:sp>
        <p:nvSpPr>
          <p:cNvPr id="1671" name="Google Shape;1671;p38"/>
          <p:cNvSpPr/>
          <p:nvPr/>
        </p:nvSpPr>
        <p:spPr>
          <a:xfrm>
            <a:off x="1611978" y="1607340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672" name="Google Shape;1672;p38"/>
          <p:cNvCxnSpPr>
            <a:stCxn id="1619" idx="1"/>
            <a:endCxn id="1673" idx="2"/>
          </p:cNvCxnSpPr>
          <p:nvPr/>
        </p:nvCxnSpPr>
        <p:spPr>
          <a:xfrm rot="10800000" flipH="1">
            <a:off x="1987269" y="2720457"/>
            <a:ext cx="5175" cy="506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74" name="Google Shape;1674;p38"/>
          <p:cNvCxnSpPr>
            <a:stCxn id="1634" idx="1"/>
            <a:endCxn id="1675" idx="2"/>
          </p:cNvCxnSpPr>
          <p:nvPr/>
        </p:nvCxnSpPr>
        <p:spPr>
          <a:xfrm rot="10800000" flipH="1">
            <a:off x="2442978" y="2720533"/>
            <a:ext cx="2925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76" name="Google Shape;1676;p38"/>
          <p:cNvCxnSpPr>
            <a:stCxn id="1643" idx="1"/>
            <a:endCxn id="1677" idx="2"/>
          </p:cNvCxnSpPr>
          <p:nvPr/>
        </p:nvCxnSpPr>
        <p:spPr>
          <a:xfrm rot="10800000" flipH="1">
            <a:off x="2889164" y="2720533"/>
            <a:ext cx="9900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78" name="Google Shape;1678;p38"/>
          <p:cNvCxnSpPr>
            <a:stCxn id="1652" idx="1"/>
            <a:endCxn id="1679" idx="2"/>
          </p:cNvCxnSpPr>
          <p:nvPr/>
        </p:nvCxnSpPr>
        <p:spPr>
          <a:xfrm rot="10800000" flipH="1">
            <a:off x="3346979" y="2720630"/>
            <a:ext cx="5400" cy="499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673" name="Google Shape;1673;p38"/>
          <p:cNvSpPr/>
          <p:nvPr/>
        </p:nvSpPr>
        <p:spPr>
          <a:xfrm rot="-5400000">
            <a:off x="1952676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38"/>
          <p:cNvSpPr/>
          <p:nvPr/>
        </p:nvSpPr>
        <p:spPr>
          <a:xfrm rot="-5400000">
            <a:off x="2405943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38"/>
          <p:cNvSpPr/>
          <p:nvPr/>
        </p:nvSpPr>
        <p:spPr>
          <a:xfrm rot="-5400000">
            <a:off x="2859207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38"/>
          <p:cNvSpPr/>
          <p:nvPr/>
        </p:nvSpPr>
        <p:spPr>
          <a:xfrm rot="-5400000">
            <a:off x="3312474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0" name="Google Shape;1680;p38"/>
          <p:cNvCxnSpPr>
            <a:stCxn id="1655" idx="1"/>
            <a:endCxn id="1679" idx="4"/>
          </p:cNvCxnSpPr>
          <p:nvPr/>
        </p:nvCxnSpPr>
        <p:spPr>
          <a:xfrm rot="10800000">
            <a:off x="3394592" y="2680805"/>
            <a:ext cx="931275" cy="539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81" name="Google Shape;1681;p38"/>
          <p:cNvCxnSpPr>
            <a:stCxn id="1655" idx="1"/>
            <a:endCxn id="1677" idx="4"/>
          </p:cNvCxnSpPr>
          <p:nvPr/>
        </p:nvCxnSpPr>
        <p:spPr>
          <a:xfrm rot="10800000">
            <a:off x="2941217" y="2680805"/>
            <a:ext cx="1384650" cy="539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82" name="Google Shape;1682;p38"/>
          <p:cNvCxnSpPr>
            <a:stCxn id="1655" idx="1"/>
            <a:endCxn id="1675" idx="3"/>
          </p:cNvCxnSpPr>
          <p:nvPr/>
        </p:nvCxnSpPr>
        <p:spPr>
          <a:xfrm rot="10800000">
            <a:off x="2475692" y="2708930"/>
            <a:ext cx="1850175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83" name="Google Shape;1683;p38"/>
          <p:cNvCxnSpPr>
            <a:stCxn id="1655" idx="1"/>
            <a:endCxn id="1673" idx="3"/>
          </p:cNvCxnSpPr>
          <p:nvPr/>
        </p:nvCxnSpPr>
        <p:spPr>
          <a:xfrm rot="10800000">
            <a:off x="2022317" y="2708930"/>
            <a:ext cx="2303550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84" name="Google Shape;1684;p38"/>
          <p:cNvCxnSpPr>
            <a:stCxn id="1673" idx="6"/>
            <a:endCxn id="1666" idx="2"/>
          </p:cNvCxnSpPr>
          <p:nvPr/>
        </p:nvCxnSpPr>
        <p:spPr>
          <a:xfrm rot="10800000" flipH="1">
            <a:off x="1992533" y="2076320"/>
            <a:ext cx="1800" cy="5645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85" name="Google Shape;1685;p38"/>
          <p:cNvCxnSpPr>
            <a:stCxn id="1675" idx="6"/>
            <a:endCxn id="1667" idx="2"/>
          </p:cNvCxnSpPr>
          <p:nvPr/>
        </p:nvCxnSpPr>
        <p:spPr>
          <a:xfrm rot="10800000" flipH="1">
            <a:off x="2445801" y="2069345"/>
            <a:ext cx="1350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86" name="Google Shape;1686;p38"/>
          <p:cNvCxnSpPr>
            <a:stCxn id="1677" idx="6"/>
            <a:endCxn id="1668" idx="2"/>
          </p:cNvCxnSpPr>
          <p:nvPr/>
        </p:nvCxnSpPr>
        <p:spPr>
          <a:xfrm rot="10800000" flipH="1">
            <a:off x="2899064" y="2069345"/>
            <a:ext cx="900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87" name="Google Shape;1687;p38"/>
          <p:cNvCxnSpPr>
            <a:stCxn id="1679" idx="6"/>
            <a:endCxn id="1669" idx="2"/>
          </p:cNvCxnSpPr>
          <p:nvPr/>
        </p:nvCxnSpPr>
        <p:spPr>
          <a:xfrm rot="10800000" flipH="1">
            <a:off x="3352332" y="2069345"/>
            <a:ext cx="450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688" name="Google Shape;1688;p38"/>
          <p:cNvSpPr txBox="1"/>
          <p:nvPr/>
        </p:nvSpPr>
        <p:spPr>
          <a:xfrm rot="-5400000">
            <a:off x="902693" y="2470449"/>
            <a:ext cx="92381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scores</a:t>
            </a:r>
            <a:endParaRPr sz="1800"/>
          </a:p>
        </p:txBody>
      </p:sp>
      <p:sp>
        <p:nvSpPr>
          <p:cNvPr id="1689" name="Google Shape;1689;p38"/>
          <p:cNvSpPr/>
          <p:nvPr/>
        </p:nvSpPr>
        <p:spPr>
          <a:xfrm>
            <a:off x="1602579" y="2456535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690" name="Google Shape;1690;p38"/>
          <p:cNvCxnSpPr>
            <a:stCxn id="1666" idx="0"/>
            <a:endCxn id="1691" idx="3"/>
          </p:cNvCxnSpPr>
          <p:nvPr/>
        </p:nvCxnSpPr>
        <p:spPr>
          <a:xfrm rot="10800000" flipH="1">
            <a:off x="1994232" y="1413463"/>
            <a:ext cx="767475" cy="3057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1692" name="Google Shape;1692;p38"/>
          <p:cNvCxnSpPr>
            <a:stCxn id="1667" idx="0"/>
            <a:endCxn id="1691" idx="3"/>
          </p:cNvCxnSpPr>
          <p:nvPr/>
        </p:nvCxnSpPr>
        <p:spPr>
          <a:xfrm rot="10800000" flipH="1">
            <a:off x="2447079" y="1413563"/>
            <a:ext cx="314550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1693" name="Google Shape;1693;p38"/>
          <p:cNvCxnSpPr>
            <a:stCxn id="1668" idx="0"/>
            <a:endCxn id="1691" idx="3"/>
          </p:cNvCxnSpPr>
          <p:nvPr/>
        </p:nvCxnSpPr>
        <p:spPr>
          <a:xfrm rot="10800000">
            <a:off x="2761550" y="1413563"/>
            <a:ext cx="138375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1694" name="Google Shape;1694;p38"/>
          <p:cNvCxnSpPr>
            <a:stCxn id="1669" idx="0"/>
            <a:endCxn id="1691" idx="3"/>
          </p:cNvCxnSpPr>
          <p:nvPr/>
        </p:nvCxnSpPr>
        <p:spPr>
          <a:xfrm rot="10800000">
            <a:off x="2761698" y="1413563"/>
            <a:ext cx="591075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grpSp>
        <p:nvGrpSpPr>
          <p:cNvPr id="1695" name="Google Shape;1695;p38"/>
          <p:cNvGrpSpPr/>
          <p:nvPr/>
        </p:nvGrpSpPr>
        <p:grpSpPr>
          <a:xfrm rot="5400000">
            <a:off x="2469334" y="1021499"/>
            <a:ext cx="584634" cy="199296"/>
            <a:chOff x="6223414" y="4018641"/>
            <a:chExt cx="776477" cy="280329"/>
          </a:xfrm>
        </p:grpSpPr>
        <p:grpSp>
          <p:nvGrpSpPr>
            <p:cNvPr id="1696" name="Google Shape;1696;p38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697" name="Google Shape;1697;p38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1698;p38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1699;p38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1700;p38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91" name="Google Shape;1691;p38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3A87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1" name="Google Shape;1701;p38"/>
          <p:cNvSpPr txBox="1"/>
          <p:nvPr/>
        </p:nvSpPr>
        <p:spPr>
          <a:xfrm>
            <a:off x="2776296" y="866589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output</a:t>
            </a:r>
            <a:endParaRPr sz="1800"/>
          </a:p>
        </p:txBody>
      </p:sp>
      <p:grpSp>
        <p:nvGrpSpPr>
          <p:cNvPr id="1702" name="Google Shape;1702;p38"/>
          <p:cNvGrpSpPr/>
          <p:nvPr/>
        </p:nvGrpSpPr>
        <p:grpSpPr>
          <a:xfrm>
            <a:off x="3705156" y="929435"/>
            <a:ext cx="3975385" cy="1523494"/>
            <a:chOff x="3416197" y="1239237"/>
            <a:chExt cx="5300513" cy="2031325"/>
          </a:xfrm>
        </p:grpSpPr>
        <p:sp>
          <p:nvSpPr>
            <p:cNvPr id="1703" name="Google Shape;1703;p38"/>
            <p:cNvSpPr txBox="1"/>
            <p:nvPr/>
          </p:nvSpPr>
          <p:spPr>
            <a:xfrm>
              <a:off x="4595178" y="1239237"/>
              <a:ext cx="4121532" cy="2031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35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Use the </a:t>
              </a:r>
              <a:r>
                <a:rPr lang="en-US" sz="1350">
                  <a:solidFill>
                    <a:srgbClr val="3A87FF"/>
                  </a:solidFill>
                  <a:latin typeface="Calibri"/>
                  <a:ea typeface="Calibri"/>
                  <a:cs typeface="Calibri"/>
                  <a:sym typeface="Calibri"/>
                </a:rPr>
                <a:t>attention distribution </a:t>
              </a:r>
              <a:r>
                <a:rPr lang="en-US" sz="135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to take a </a:t>
              </a:r>
              <a:r>
                <a:rPr lang="en-US" sz="1350" b="1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weighted sum </a:t>
              </a:r>
              <a:r>
                <a:rPr lang="en-US" sz="135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of the </a:t>
              </a:r>
              <a:r>
                <a:rPr lang="en-US" sz="135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encoder hidden states</a:t>
              </a:r>
              <a:r>
                <a:rPr lang="en-US" sz="135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800"/>
            </a:p>
            <a:p>
              <a:endParaRPr sz="135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r>
                <a:rPr lang="en-US" sz="135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The </a:t>
              </a:r>
              <a:r>
                <a:rPr lang="en-US" sz="1350">
                  <a:solidFill>
                    <a:srgbClr val="3A87FF"/>
                  </a:solidFill>
                  <a:latin typeface="Calibri"/>
                  <a:ea typeface="Calibri"/>
                  <a:cs typeface="Calibri"/>
                  <a:sym typeface="Calibri"/>
                </a:rPr>
                <a:t>attention output </a:t>
              </a:r>
              <a:r>
                <a:rPr lang="en-US" sz="135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mostly contains information the </a:t>
              </a:r>
              <a:r>
                <a:rPr lang="en-US" sz="135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hidden states </a:t>
              </a:r>
              <a:r>
                <a:rPr lang="en-US" sz="135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that received high attention.</a:t>
              </a:r>
              <a:endParaRPr sz="1800"/>
            </a:p>
          </p:txBody>
        </p:sp>
        <p:cxnSp>
          <p:nvCxnSpPr>
            <p:cNvPr id="1704" name="Google Shape;1704;p38"/>
            <p:cNvCxnSpPr/>
            <p:nvPr/>
          </p:nvCxnSpPr>
          <p:spPr>
            <a:xfrm rot="10800000">
              <a:off x="3416197" y="1408141"/>
              <a:ext cx="1155802" cy="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190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40339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39"/>
          <p:cNvSpPr txBox="1">
            <a:spLocks noGrp="1"/>
          </p:cNvSpPr>
          <p:nvPr>
            <p:ph type="title"/>
          </p:nvPr>
        </p:nvSpPr>
        <p:spPr>
          <a:xfrm>
            <a:off x="613611" y="0"/>
            <a:ext cx="4544268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Sequence-to-sequence with attention</a:t>
            </a:r>
            <a:endParaRPr dirty="0"/>
          </a:p>
        </p:txBody>
      </p:sp>
      <p:sp>
        <p:nvSpPr>
          <p:cNvPr id="1711" name="Google Shape;1711;p39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38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2" name="Google Shape;1712;p39"/>
          <p:cNvGrpSpPr/>
          <p:nvPr/>
        </p:nvGrpSpPr>
        <p:grpSpPr>
          <a:xfrm rot="5400000">
            <a:off x="1694952" y="3419376"/>
            <a:ext cx="584634" cy="199296"/>
            <a:chOff x="6223414" y="4018641"/>
            <a:chExt cx="776477" cy="280329"/>
          </a:xfrm>
        </p:grpSpPr>
        <p:grpSp>
          <p:nvGrpSpPr>
            <p:cNvPr id="1713" name="Google Shape;1713;p39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714" name="Google Shape;1714;p39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39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39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7" name="Google Shape;1717;p39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8" name="Google Shape;1718;p39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19" name="Google Shape;1719;p39"/>
          <p:cNvCxnSpPr>
            <a:endCxn id="1718" idx="3"/>
          </p:cNvCxnSpPr>
          <p:nvPr/>
        </p:nvCxnSpPr>
        <p:spPr>
          <a:xfrm rot="10800000">
            <a:off x="1987269" y="381134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20" name="Google Shape;1720;p39"/>
          <p:cNvCxnSpPr>
            <a:stCxn id="1718" idx="0"/>
          </p:cNvCxnSpPr>
          <p:nvPr/>
        </p:nvCxnSpPr>
        <p:spPr>
          <a:xfrm>
            <a:off x="2086917" y="351902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21" name="Google Shape;1721;p39"/>
          <p:cNvSpPr txBox="1"/>
          <p:nvPr/>
        </p:nvSpPr>
        <p:spPr>
          <a:xfrm rot="-5400000">
            <a:off x="1006280" y="3270078"/>
            <a:ext cx="71664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</a:t>
            </a:r>
            <a:b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endParaRPr sz="1800"/>
          </a:p>
        </p:txBody>
      </p:sp>
      <p:sp>
        <p:nvSpPr>
          <p:cNvPr id="1722" name="Google Shape;1722;p39"/>
          <p:cNvSpPr txBox="1"/>
          <p:nvPr/>
        </p:nvSpPr>
        <p:spPr>
          <a:xfrm>
            <a:off x="1828381" y="4751486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1723" name="Google Shape;1723;p39"/>
          <p:cNvSpPr/>
          <p:nvPr/>
        </p:nvSpPr>
        <p:spPr>
          <a:xfrm rot="-5400000">
            <a:off x="2690565" y="3759524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24" name="Google Shape;1724;p39"/>
          <p:cNvSpPr/>
          <p:nvPr/>
        </p:nvSpPr>
        <p:spPr>
          <a:xfrm>
            <a:off x="1605396" y="3226707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25" name="Google Shape;1725;p39"/>
          <p:cNvSpPr txBox="1"/>
          <p:nvPr/>
        </p:nvSpPr>
        <p:spPr>
          <a:xfrm>
            <a:off x="3982754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39"/>
          <p:cNvSpPr txBox="1"/>
          <p:nvPr/>
        </p:nvSpPr>
        <p:spPr>
          <a:xfrm>
            <a:off x="1838404" y="4276680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7" name="Google Shape;1727;p39"/>
          <p:cNvGrpSpPr/>
          <p:nvPr/>
        </p:nvGrpSpPr>
        <p:grpSpPr>
          <a:xfrm rot="5400000">
            <a:off x="2150661" y="3414952"/>
            <a:ext cx="584634" cy="199296"/>
            <a:chOff x="6223414" y="4018641"/>
            <a:chExt cx="776477" cy="280329"/>
          </a:xfrm>
        </p:grpSpPr>
        <p:grpSp>
          <p:nvGrpSpPr>
            <p:cNvPr id="1728" name="Google Shape;1728;p39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729" name="Google Shape;1729;p39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39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1731;p39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2" name="Google Shape;1732;p39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33" name="Google Shape;1733;p39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34" name="Google Shape;1734;p39"/>
          <p:cNvCxnSpPr>
            <a:endCxn id="1733" idx="3"/>
          </p:cNvCxnSpPr>
          <p:nvPr/>
        </p:nvCxnSpPr>
        <p:spPr>
          <a:xfrm rot="10800000">
            <a:off x="2442978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35" name="Google Shape;1735;p39"/>
          <p:cNvCxnSpPr>
            <a:stCxn id="1733" idx="0"/>
          </p:cNvCxnSpPr>
          <p:nvPr/>
        </p:nvCxnSpPr>
        <p:spPr>
          <a:xfrm>
            <a:off x="2542626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736" name="Google Shape;1736;p39"/>
          <p:cNvGrpSpPr/>
          <p:nvPr/>
        </p:nvGrpSpPr>
        <p:grpSpPr>
          <a:xfrm rot="5400000">
            <a:off x="2596847" y="3414952"/>
            <a:ext cx="584634" cy="199296"/>
            <a:chOff x="6223414" y="4018641"/>
            <a:chExt cx="776477" cy="280329"/>
          </a:xfrm>
        </p:grpSpPr>
        <p:grpSp>
          <p:nvGrpSpPr>
            <p:cNvPr id="1737" name="Google Shape;1737;p39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738" name="Google Shape;1738;p39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9" name="Google Shape;1739;p39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0" name="Google Shape;1740;p39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1" name="Google Shape;1741;p39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42" name="Google Shape;1742;p39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43" name="Google Shape;1743;p39"/>
          <p:cNvCxnSpPr>
            <a:endCxn id="1742" idx="3"/>
          </p:cNvCxnSpPr>
          <p:nvPr/>
        </p:nvCxnSpPr>
        <p:spPr>
          <a:xfrm rot="10800000">
            <a:off x="2889164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44" name="Google Shape;1744;p39"/>
          <p:cNvCxnSpPr>
            <a:stCxn id="1742" idx="0"/>
          </p:cNvCxnSpPr>
          <p:nvPr/>
        </p:nvCxnSpPr>
        <p:spPr>
          <a:xfrm>
            <a:off x="2988812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745" name="Google Shape;1745;p39"/>
          <p:cNvGrpSpPr/>
          <p:nvPr/>
        </p:nvGrpSpPr>
        <p:grpSpPr>
          <a:xfrm rot="5400000">
            <a:off x="3054662" y="3412799"/>
            <a:ext cx="584634" cy="199296"/>
            <a:chOff x="6223414" y="4018641"/>
            <a:chExt cx="776477" cy="280329"/>
          </a:xfrm>
        </p:grpSpPr>
        <p:grpSp>
          <p:nvGrpSpPr>
            <p:cNvPr id="1746" name="Google Shape;1746;p39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747" name="Google Shape;1747;p39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8" name="Google Shape;1748;p39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9" name="Google Shape;1749;p39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0" name="Google Shape;1750;p39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51" name="Google Shape;1751;p39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52" name="Google Shape;1752;p39"/>
          <p:cNvCxnSpPr>
            <a:endCxn id="1751" idx="3"/>
          </p:cNvCxnSpPr>
          <p:nvPr/>
        </p:nvCxnSpPr>
        <p:spPr>
          <a:xfrm rot="10800000">
            <a:off x="334697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53" name="Google Shape;1753;p39"/>
          <p:cNvCxnSpPr>
            <a:stCxn id="1751" idx="0"/>
            <a:endCxn id="1754" idx="2"/>
          </p:cNvCxnSpPr>
          <p:nvPr/>
        </p:nvCxnSpPr>
        <p:spPr>
          <a:xfrm>
            <a:off x="3446627" y="3512447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755" name="Google Shape;1755;p39"/>
          <p:cNvGrpSpPr/>
          <p:nvPr/>
        </p:nvGrpSpPr>
        <p:grpSpPr>
          <a:xfrm rot="5400000">
            <a:off x="4033550" y="3412799"/>
            <a:ext cx="584634" cy="199296"/>
            <a:chOff x="6223414" y="4018641"/>
            <a:chExt cx="776477" cy="280329"/>
          </a:xfrm>
        </p:grpSpPr>
        <p:grpSp>
          <p:nvGrpSpPr>
            <p:cNvPr id="1756" name="Google Shape;1756;p39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757" name="Google Shape;1757;p39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1758;p39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1759;p39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1760;p39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54" name="Google Shape;1754;p39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61" name="Google Shape;1761;p39"/>
          <p:cNvCxnSpPr>
            <a:endCxn id="1754" idx="3"/>
          </p:cNvCxnSpPr>
          <p:nvPr/>
        </p:nvCxnSpPr>
        <p:spPr>
          <a:xfrm rot="10800000">
            <a:off x="4325867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62" name="Google Shape;1762;p39"/>
          <p:cNvSpPr txBox="1"/>
          <p:nvPr/>
        </p:nvSpPr>
        <p:spPr>
          <a:xfrm rot="5400000">
            <a:off x="7302216" y="3397634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sp>
        <p:nvSpPr>
          <p:cNvPr id="1763" name="Google Shape;1763;p39"/>
          <p:cNvSpPr/>
          <p:nvPr/>
        </p:nvSpPr>
        <p:spPr>
          <a:xfrm rot="10800000">
            <a:off x="7602318" y="3243816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764" name="Google Shape;1764;p39"/>
          <p:cNvCxnSpPr/>
          <p:nvPr/>
        </p:nvCxnSpPr>
        <p:spPr>
          <a:xfrm>
            <a:off x="1880570" y="2076230"/>
            <a:ext cx="1731363" cy="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65" name="Google Shape;1765;p39"/>
          <p:cNvSpPr/>
          <p:nvPr/>
        </p:nvSpPr>
        <p:spPr>
          <a:xfrm>
            <a:off x="1943172" y="1719239"/>
            <a:ext cx="102122" cy="357001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39"/>
          <p:cNvSpPr/>
          <p:nvPr/>
        </p:nvSpPr>
        <p:spPr>
          <a:xfrm>
            <a:off x="2396019" y="2035015"/>
            <a:ext cx="102122" cy="3428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39"/>
          <p:cNvSpPr/>
          <p:nvPr/>
        </p:nvSpPr>
        <p:spPr>
          <a:xfrm>
            <a:off x="2848866" y="2035015"/>
            <a:ext cx="102122" cy="3428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39"/>
          <p:cNvSpPr/>
          <p:nvPr/>
        </p:nvSpPr>
        <p:spPr>
          <a:xfrm>
            <a:off x="3301713" y="2035015"/>
            <a:ext cx="102122" cy="3428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39"/>
          <p:cNvSpPr txBox="1"/>
          <p:nvPr/>
        </p:nvSpPr>
        <p:spPr>
          <a:xfrm rot="-5400000">
            <a:off x="874151" y="1599411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distribution</a:t>
            </a:r>
            <a:endParaRPr sz="1800"/>
          </a:p>
        </p:txBody>
      </p:sp>
      <p:sp>
        <p:nvSpPr>
          <p:cNvPr id="1770" name="Google Shape;1770;p39"/>
          <p:cNvSpPr/>
          <p:nvPr/>
        </p:nvSpPr>
        <p:spPr>
          <a:xfrm>
            <a:off x="1611978" y="1607340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771" name="Google Shape;1771;p39"/>
          <p:cNvCxnSpPr>
            <a:stCxn id="1718" idx="1"/>
            <a:endCxn id="1772" idx="2"/>
          </p:cNvCxnSpPr>
          <p:nvPr/>
        </p:nvCxnSpPr>
        <p:spPr>
          <a:xfrm rot="10800000" flipH="1">
            <a:off x="1987269" y="2720457"/>
            <a:ext cx="5175" cy="506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73" name="Google Shape;1773;p39"/>
          <p:cNvCxnSpPr>
            <a:stCxn id="1733" idx="1"/>
            <a:endCxn id="1774" idx="2"/>
          </p:cNvCxnSpPr>
          <p:nvPr/>
        </p:nvCxnSpPr>
        <p:spPr>
          <a:xfrm rot="10800000" flipH="1">
            <a:off x="2442978" y="2720533"/>
            <a:ext cx="2925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75" name="Google Shape;1775;p39"/>
          <p:cNvCxnSpPr>
            <a:stCxn id="1742" idx="1"/>
            <a:endCxn id="1776" idx="2"/>
          </p:cNvCxnSpPr>
          <p:nvPr/>
        </p:nvCxnSpPr>
        <p:spPr>
          <a:xfrm rot="10800000" flipH="1">
            <a:off x="2889164" y="2720533"/>
            <a:ext cx="9900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77" name="Google Shape;1777;p39"/>
          <p:cNvCxnSpPr>
            <a:stCxn id="1751" idx="1"/>
            <a:endCxn id="1778" idx="2"/>
          </p:cNvCxnSpPr>
          <p:nvPr/>
        </p:nvCxnSpPr>
        <p:spPr>
          <a:xfrm rot="10800000" flipH="1">
            <a:off x="3346979" y="2720630"/>
            <a:ext cx="5400" cy="499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72" name="Google Shape;1772;p39"/>
          <p:cNvSpPr/>
          <p:nvPr/>
        </p:nvSpPr>
        <p:spPr>
          <a:xfrm rot="-5400000">
            <a:off x="1952676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39"/>
          <p:cNvSpPr/>
          <p:nvPr/>
        </p:nvSpPr>
        <p:spPr>
          <a:xfrm rot="-5400000">
            <a:off x="2405943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39"/>
          <p:cNvSpPr/>
          <p:nvPr/>
        </p:nvSpPr>
        <p:spPr>
          <a:xfrm rot="-5400000">
            <a:off x="2859207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39"/>
          <p:cNvSpPr/>
          <p:nvPr/>
        </p:nvSpPr>
        <p:spPr>
          <a:xfrm rot="-5400000">
            <a:off x="3312474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9" name="Google Shape;1779;p39"/>
          <p:cNvCxnSpPr>
            <a:stCxn id="1754" idx="1"/>
            <a:endCxn id="1778" idx="4"/>
          </p:cNvCxnSpPr>
          <p:nvPr/>
        </p:nvCxnSpPr>
        <p:spPr>
          <a:xfrm rot="10800000">
            <a:off x="3394592" y="2680805"/>
            <a:ext cx="931275" cy="539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80" name="Google Shape;1780;p39"/>
          <p:cNvCxnSpPr>
            <a:stCxn id="1754" idx="1"/>
            <a:endCxn id="1776" idx="4"/>
          </p:cNvCxnSpPr>
          <p:nvPr/>
        </p:nvCxnSpPr>
        <p:spPr>
          <a:xfrm rot="10800000">
            <a:off x="2941217" y="2680805"/>
            <a:ext cx="1384650" cy="539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81" name="Google Shape;1781;p39"/>
          <p:cNvCxnSpPr>
            <a:stCxn id="1754" idx="1"/>
            <a:endCxn id="1774" idx="3"/>
          </p:cNvCxnSpPr>
          <p:nvPr/>
        </p:nvCxnSpPr>
        <p:spPr>
          <a:xfrm rot="10800000">
            <a:off x="2475692" y="2708930"/>
            <a:ext cx="1850175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82" name="Google Shape;1782;p39"/>
          <p:cNvCxnSpPr>
            <a:stCxn id="1754" idx="1"/>
            <a:endCxn id="1772" idx="3"/>
          </p:cNvCxnSpPr>
          <p:nvPr/>
        </p:nvCxnSpPr>
        <p:spPr>
          <a:xfrm rot="10800000">
            <a:off x="2022317" y="2708930"/>
            <a:ext cx="2303550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83" name="Google Shape;1783;p39"/>
          <p:cNvCxnSpPr>
            <a:stCxn id="1772" idx="6"/>
            <a:endCxn id="1765" idx="2"/>
          </p:cNvCxnSpPr>
          <p:nvPr/>
        </p:nvCxnSpPr>
        <p:spPr>
          <a:xfrm rot="10800000" flipH="1">
            <a:off x="1992533" y="2076320"/>
            <a:ext cx="1800" cy="5645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84" name="Google Shape;1784;p39"/>
          <p:cNvCxnSpPr>
            <a:stCxn id="1774" idx="6"/>
            <a:endCxn id="1766" idx="2"/>
          </p:cNvCxnSpPr>
          <p:nvPr/>
        </p:nvCxnSpPr>
        <p:spPr>
          <a:xfrm rot="10800000" flipH="1">
            <a:off x="2445801" y="2069345"/>
            <a:ext cx="1350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85" name="Google Shape;1785;p39"/>
          <p:cNvCxnSpPr>
            <a:stCxn id="1776" idx="6"/>
            <a:endCxn id="1767" idx="2"/>
          </p:cNvCxnSpPr>
          <p:nvPr/>
        </p:nvCxnSpPr>
        <p:spPr>
          <a:xfrm rot="10800000" flipH="1">
            <a:off x="2899064" y="2069345"/>
            <a:ext cx="900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86" name="Google Shape;1786;p39"/>
          <p:cNvCxnSpPr>
            <a:stCxn id="1778" idx="6"/>
            <a:endCxn id="1768" idx="2"/>
          </p:cNvCxnSpPr>
          <p:nvPr/>
        </p:nvCxnSpPr>
        <p:spPr>
          <a:xfrm rot="10800000" flipH="1">
            <a:off x="3352332" y="2069345"/>
            <a:ext cx="450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87" name="Google Shape;1787;p39"/>
          <p:cNvSpPr txBox="1"/>
          <p:nvPr/>
        </p:nvSpPr>
        <p:spPr>
          <a:xfrm rot="-5400000">
            <a:off x="902693" y="2470449"/>
            <a:ext cx="92381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scores</a:t>
            </a:r>
            <a:endParaRPr sz="1800"/>
          </a:p>
        </p:txBody>
      </p:sp>
      <p:sp>
        <p:nvSpPr>
          <p:cNvPr id="1788" name="Google Shape;1788;p39"/>
          <p:cNvSpPr/>
          <p:nvPr/>
        </p:nvSpPr>
        <p:spPr>
          <a:xfrm>
            <a:off x="1602579" y="2456535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789" name="Google Shape;1789;p39"/>
          <p:cNvCxnSpPr>
            <a:stCxn id="1765" idx="0"/>
            <a:endCxn id="1790" idx="3"/>
          </p:cNvCxnSpPr>
          <p:nvPr/>
        </p:nvCxnSpPr>
        <p:spPr>
          <a:xfrm rot="10800000" flipH="1">
            <a:off x="1994232" y="1413463"/>
            <a:ext cx="767475" cy="3057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1791" name="Google Shape;1791;p39"/>
          <p:cNvCxnSpPr>
            <a:stCxn id="1766" idx="0"/>
            <a:endCxn id="1790" idx="3"/>
          </p:cNvCxnSpPr>
          <p:nvPr/>
        </p:nvCxnSpPr>
        <p:spPr>
          <a:xfrm rot="10800000" flipH="1">
            <a:off x="2447079" y="1413563"/>
            <a:ext cx="314550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1792" name="Google Shape;1792;p39"/>
          <p:cNvCxnSpPr>
            <a:stCxn id="1767" idx="0"/>
            <a:endCxn id="1790" idx="3"/>
          </p:cNvCxnSpPr>
          <p:nvPr/>
        </p:nvCxnSpPr>
        <p:spPr>
          <a:xfrm rot="10800000">
            <a:off x="2761550" y="1413563"/>
            <a:ext cx="138375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1793" name="Google Shape;1793;p39"/>
          <p:cNvCxnSpPr>
            <a:stCxn id="1768" idx="0"/>
            <a:endCxn id="1790" idx="3"/>
          </p:cNvCxnSpPr>
          <p:nvPr/>
        </p:nvCxnSpPr>
        <p:spPr>
          <a:xfrm rot="10800000">
            <a:off x="2761698" y="1413563"/>
            <a:ext cx="591075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grpSp>
        <p:nvGrpSpPr>
          <p:cNvPr id="1794" name="Google Shape;1794;p39"/>
          <p:cNvGrpSpPr/>
          <p:nvPr/>
        </p:nvGrpSpPr>
        <p:grpSpPr>
          <a:xfrm rot="5400000">
            <a:off x="2469334" y="1021499"/>
            <a:ext cx="584634" cy="199296"/>
            <a:chOff x="6223414" y="4018641"/>
            <a:chExt cx="776477" cy="280329"/>
          </a:xfrm>
        </p:grpSpPr>
        <p:grpSp>
          <p:nvGrpSpPr>
            <p:cNvPr id="1795" name="Google Shape;1795;p39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796" name="Google Shape;1796;p39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39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39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39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90" name="Google Shape;1790;p39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3A87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0" name="Google Shape;1800;p39"/>
          <p:cNvSpPr txBox="1"/>
          <p:nvPr/>
        </p:nvSpPr>
        <p:spPr>
          <a:xfrm>
            <a:off x="2776296" y="866589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output</a:t>
            </a:r>
            <a:endParaRPr sz="1800"/>
          </a:p>
        </p:txBody>
      </p:sp>
      <p:grpSp>
        <p:nvGrpSpPr>
          <p:cNvPr id="1801" name="Google Shape;1801;p39"/>
          <p:cNvGrpSpPr/>
          <p:nvPr/>
        </p:nvGrpSpPr>
        <p:grpSpPr>
          <a:xfrm>
            <a:off x="4506023" y="1212006"/>
            <a:ext cx="2930962" cy="692498"/>
            <a:chOff x="4484020" y="1616001"/>
            <a:chExt cx="3907949" cy="923330"/>
          </a:xfrm>
        </p:grpSpPr>
        <p:sp>
          <p:nvSpPr>
            <p:cNvPr id="1802" name="Google Shape;1802;p39"/>
            <p:cNvSpPr txBox="1"/>
            <p:nvPr/>
          </p:nvSpPr>
          <p:spPr>
            <a:xfrm>
              <a:off x="5183920" y="1616001"/>
              <a:ext cx="3208049" cy="92333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1579" t="-1349" r="-1577" b="-8105"/>
              </a:stretch>
            </a:blipFill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35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800"/>
            </a:p>
          </p:txBody>
        </p:sp>
        <p:cxnSp>
          <p:nvCxnSpPr>
            <p:cNvPr id="1803" name="Google Shape;1803;p39"/>
            <p:cNvCxnSpPr>
              <a:stCxn id="1802" idx="1"/>
              <a:endCxn id="1804" idx="3"/>
            </p:cNvCxnSpPr>
            <p:nvPr/>
          </p:nvCxnSpPr>
          <p:spPr>
            <a:xfrm rot="10800000">
              <a:off x="4484020" y="2077666"/>
              <a:ext cx="699900" cy="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190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1805" name="Google Shape;1805;p39"/>
          <p:cNvGrpSpPr/>
          <p:nvPr/>
        </p:nvGrpSpPr>
        <p:grpSpPr>
          <a:xfrm>
            <a:off x="2867287" y="1341174"/>
            <a:ext cx="1638701" cy="1878958"/>
            <a:chOff x="2299040" y="1788224"/>
            <a:chExt cx="2184934" cy="2505277"/>
          </a:xfrm>
        </p:grpSpPr>
        <p:cxnSp>
          <p:nvCxnSpPr>
            <p:cNvPr id="1806" name="Google Shape;1806;p39"/>
            <p:cNvCxnSpPr>
              <a:stCxn id="1754" idx="1"/>
            </p:cNvCxnSpPr>
            <p:nvPr/>
          </p:nvCxnSpPr>
          <p:spPr>
            <a:xfrm rot="10800000">
              <a:off x="4243814" y="2292201"/>
              <a:ext cx="0" cy="20013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807" name="Google Shape;1807;p39"/>
            <p:cNvCxnSpPr/>
            <p:nvPr/>
          </p:nvCxnSpPr>
          <p:spPr>
            <a:xfrm>
              <a:off x="2299040" y="1788224"/>
              <a:ext cx="1712562" cy="254415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804" name="Google Shape;1804;p39"/>
            <p:cNvSpPr txBox="1"/>
            <p:nvPr/>
          </p:nvSpPr>
          <p:spPr>
            <a:xfrm>
              <a:off x="4023744" y="1908389"/>
              <a:ext cx="460230" cy="33855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10711"/>
              </a:stretch>
            </a:blipFill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r>
                <a:rPr lang="en-US" sz="135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800"/>
            </a:p>
          </p:txBody>
        </p:sp>
      </p:grpSp>
      <p:grpSp>
        <p:nvGrpSpPr>
          <p:cNvPr id="1808" name="Google Shape;1808;p39"/>
          <p:cNvGrpSpPr/>
          <p:nvPr/>
        </p:nvGrpSpPr>
        <p:grpSpPr>
          <a:xfrm>
            <a:off x="4145852" y="917181"/>
            <a:ext cx="373162" cy="514117"/>
            <a:chOff x="4003795" y="1222898"/>
            <a:chExt cx="497549" cy="685489"/>
          </a:xfrm>
        </p:grpSpPr>
        <p:cxnSp>
          <p:nvCxnSpPr>
            <p:cNvPr id="1809" name="Google Shape;1809;p39"/>
            <p:cNvCxnSpPr>
              <a:stCxn id="1804" idx="0"/>
              <a:endCxn id="1810" idx="2"/>
            </p:cNvCxnSpPr>
            <p:nvPr/>
          </p:nvCxnSpPr>
          <p:spPr>
            <a:xfrm rot="10800000">
              <a:off x="4252662" y="1561587"/>
              <a:ext cx="1200" cy="34680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810" name="Google Shape;1810;p39"/>
            <p:cNvSpPr txBox="1"/>
            <p:nvPr/>
          </p:nvSpPr>
          <p:spPr>
            <a:xfrm>
              <a:off x="4003795" y="1222898"/>
              <a:ext cx="497549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endParaRPr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670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40"/>
          <p:cNvSpPr txBox="1">
            <a:spLocks noGrp="1"/>
          </p:cNvSpPr>
          <p:nvPr>
            <p:ph type="title"/>
          </p:nvPr>
        </p:nvSpPr>
        <p:spPr>
          <a:xfrm>
            <a:off x="591955" y="0"/>
            <a:ext cx="4565924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Sequence-to-sequence with attention</a:t>
            </a:r>
            <a:endParaRPr dirty="0"/>
          </a:p>
        </p:txBody>
      </p:sp>
      <p:sp>
        <p:nvSpPr>
          <p:cNvPr id="1817" name="Google Shape;1817;p40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39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8" name="Google Shape;1818;p40"/>
          <p:cNvGrpSpPr/>
          <p:nvPr/>
        </p:nvGrpSpPr>
        <p:grpSpPr>
          <a:xfrm rot="5400000">
            <a:off x="1694952" y="3419376"/>
            <a:ext cx="584634" cy="199296"/>
            <a:chOff x="6223414" y="4018641"/>
            <a:chExt cx="776477" cy="280329"/>
          </a:xfrm>
        </p:grpSpPr>
        <p:grpSp>
          <p:nvGrpSpPr>
            <p:cNvPr id="1819" name="Google Shape;1819;p4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820" name="Google Shape;1820;p4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1" name="Google Shape;1821;p4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2" name="Google Shape;1822;p4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3" name="Google Shape;1823;p4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24" name="Google Shape;1824;p4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25" name="Google Shape;1825;p40"/>
          <p:cNvCxnSpPr>
            <a:endCxn id="1824" idx="3"/>
          </p:cNvCxnSpPr>
          <p:nvPr/>
        </p:nvCxnSpPr>
        <p:spPr>
          <a:xfrm rot="10800000">
            <a:off x="1987269" y="381134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26" name="Google Shape;1826;p40"/>
          <p:cNvCxnSpPr>
            <a:stCxn id="1824" idx="0"/>
          </p:cNvCxnSpPr>
          <p:nvPr/>
        </p:nvCxnSpPr>
        <p:spPr>
          <a:xfrm>
            <a:off x="2086917" y="351902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27" name="Google Shape;1827;p40"/>
          <p:cNvSpPr txBox="1"/>
          <p:nvPr/>
        </p:nvSpPr>
        <p:spPr>
          <a:xfrm rot="-5400000">
            <a:off x="1006280" y="3270078"/>
            <a:ext cx="71664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</a:t>
            </a:r>
            <a:b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endParaRPr sz="1800"/>
          </a:p>
        </p:txBody>
      </p:sp>
      <p:sp>
        <p:nvSpPr>
          <p:cNvPr id="1828" name="Google Shape;1828;p40"/>
          <p:cNvSpPr txBox="1"/>
          <p:nvPr/>
        </p:nvSpPr>
        <p:spPr>
          <a:xfrm>
            <a:off x="1828381" y="4751486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1829" name="Google Shape;1829;p40"/>
          <p:cNvSpPr/>
          <p:nvPr/>
        </p:nvSpPr>
        <p:spPr>
          <a:xfrm rot="-5400000">
            <a:off x="2690565" y="3759524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830" name="Google Shape;1830;p40"/>
          <p:cNvSpPr/>
          <p:nvPr/>
        </p:nvSpPr>
        <p:spPr>
          <a:xfrm>
            <a:off x="1605396" y="3226707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831" name="Google Shape;1831;p40"/>
          <p:cNvSpPr txBox="1"/>
          <p:nvPr/>
        </p:nvSpPr>
        <p:spPr>
          <a:xfrm>
            <a:off x="3982754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40"/>
          <p:cNvSpPr txBox="1"/>
          <p:nvPr/>
        </p:nvSpPr>
        <p:spPr>
          <a:xfrm>
            <a:off x="1838404" y="4276680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33" name="Google Shape;1833;p40"/>
          <p:cNvGrpSpPr/>
          <p:nvPr/>
        </p:nvGrpSpPr>
        <p:grpSpPr>
          <a:xfrm rot="5400000">
            <a:off x="2150661" y="3414952"/>
            <a:ext cx="584634" cy="199296"/>
            <a:chOff x="6223414" y="4018641"/>
            <a:chExt cx="776477" cy="280329"/>
          </a:xfrm>
        </p:grpSpPr>
        <p:grpSp>
          <p:nvGrpSpPr>
            <p:cNvPr id="1834" name="Google Shape;1834;p4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835" name="Google Shape;1835;p4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4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4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4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39" name="Google Shape;1839;p4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40" name="Google Shape;1840;p40"/>
          <p:cNvCxnSpPr>
            <a:endCxn id="1839" idx="3"/>
          </p:cNvCxnSpPr>
          <p:nvPr/>
        </p:nvCxnSpPr>
        <p:spPr>
          <a:xfrm rot="10800000">
            <a:off x="2442978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41" name="Google Shape;1841;p40"/>
          <p:cNvCxnSpPr>
            <a:stCxn id="1839" idx="0"/>
          </p:cNvCxnSpPr>
          <p:nvPr/>
        </p:nvCxnSpPr>
        <p:spPr>
          <a:xfrm>
            <a:off x="2542626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842" name="Google Shape;1842;p40"/>
          <p:cNvGrpSpPr/>
          <p:nvPr/>
        </p:nvGrpSpPr>
        <p:grpSpPr>
          <a:xfrm rot="5400000">
            <a:off x="2596847" y="3414952"/>
            <a:ext cx="584634" cy="199296"/>
            <a:chOff x="6223414" y="4018641"/>
            <a:chExt cx="776477" cy="280329"/>
          </a:xfrm>
        </p:grpSpPr>
        <p:grpSp>
          <p:nvGrpSpPr>
            <p:cNvPr id="1843" name="Google Shape;1843;p4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844" name="Google Shape;1844;p4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5" name="Google Shape;1845;p4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6" name="Google Shape;1846;p4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7" name="Google Shape;1847;p4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48" name="Google Shape;1848;p4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49" name="Google Shape;1849;p40"/>
          <p:cNvCxnSpPr>
            <a:endCxn id="1848" idx="3"/>
          </p:cNvCxnSpPr>
          <p:nvPr/>
        </p:nvCxnSpPr>
        <p:spPr>
          <a:xfrm rot="10800000">
            <a:off x="2889164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50" name="Google Shape;1850;p40"/>
          <p:cNvCxnSpPr>
            <a:stCxn id="1848" idx="0"/>
          </p:cNvCxnSpPr>
          <p:nvPr/>
        </p:nvCxnSpPr>
        <p:spPr>
          <a:xfrm>
            <a:off x="2988812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851" name="Google Shape;1851;p40"/>
          <p:cNvGrpSpPr/>
          <p:nvPr/>
        </p:nvGrpSpPr>
        <p:grpSpPr>
          <a:xfrm rot="5400000">
            <a:off x="3054662" y="3412799"/>
            <a:ext cx="584634" cy="199296"/>
            <a:chOff x="6223414" y="4018641"/>
            <a:chExt cx="776477" cy="280329"/>
          </a:xfrm>
        </p:grpSpPr>
        <p:grpSp>
          <p:nvGrpSpPr>
            <p:cNvPr id="1852" name="Google Shape;1852;p4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853" name="Google Shape;1853;p4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4" name="Google Shape;1854;p4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4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6" name="Google Shape;1856;p4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7" name="Google Shape;1857;p4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58" name="Google Shape;1858;p40"/>
          <p:cNvCxnSpPr>
            <a:endCxn id="1857" idx="3"/>
          </p:cNvCxnSpPr>
          <p:nvPr/>
        </p:nvCxnSpPr>
        <p:spPr>
          <a:xfrm rot="10800000">
            <a:off x="334697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59" name="Google Shape;1859;p40"/>
          <p:cNvCxnSpPr>
            <a:stCxn id="1857" idx="0"/>
            <a:endCxn id="1860" idx="2"/>
          </p:cNvCxnSpPr>
          <p:nvPr/>
        </p:nvCxnSpPr>
        <p:spPr>
          <a:xfrm>
            <a:off x="3446627" y="3512447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861" name="Google Shape;1861;p40"/>
          <p:cNvGrpSpPr/>
          <p:nvPr/>
        </p:nvGrpSpPr>
        <p:grpSpPr>
          <a:xfrm rot="5400000">
            <a:off x="4033550" y="3412799"/>
            <a:ext cx="584634" cy="199296"/>
            <a:chOff x="6223414" y="4018641"/>
            <a:chExt cx="776477" cy="280329"/>
          </a:xfrm>
        </p:grpSpPr>
        <p:grpSp>
          <p:nvGrpSpPr>
            <p:cNvPr id="1862" name="Google Shape;1862;p4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863" name="Google Shape;1863;p4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4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5" name="Google Shape;1865;p4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6" name="Google Shape;1866;p4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0" name="Google Shape;1860;p4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67" name="Google Shape;1867;p40"/>
          <p:cNvCxnSpPr>
            <a:endCxn id="1860" idx="3"/>
          </p:cNvCxnSpPr>
          <p:nvPr/>
        </p:nvCxnSpPr>
        <p:spPr>
          <a:xfrm rot="10800000">
            <a:off x="4325867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68" name="Google Shape;1868;p40"/>
          <p:cNvCxnSpPr>
            <a:stCxn id="1860" idx="0"/>
          </p:cNvCxnSpPr>
          <p:nvPr/>
        </p:nvCxnSpPr>
        <p:spPr>
          <a:xfrm>
            <a:off x="4425515" y="3512447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69" name="Google Shape;1869;p40"/>
          <p:cNvSpPr txBox="1"/>
          <p:nvPr/>
        </p:nvSpPr>
        <p:spPr>
          <a:xfrm rot="5400000">
            <a:off x="7302216" y="3397634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sp>
        <p:nvSpPr>
          <p:cNvPr id="1870" name="Google Shape;1870;p40"/>
          <p:cNvSpPr/>
          <p:nvPr/>
        </p:nvSpPr>
        <p:spPr>
          <a:xfrm rot="10800000">
            <a:off x="7602318" y="3243816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871" name="Google Shape;1871;p40"/>
          <p:cNvCxnSpPr>
            <a:stCxn id="1824" idx="1"/>
            <a:endCxn id="1872" idx="2"/>
          </p:cNvCxnSpPr>
          <p:nvPr/>
        </p:nvCxnSpPr>
        <p:spPr>
          <a:xfrm rot="10800000" flipH="1">
            <a:off x="1987269" y="2720457"/>
            <a:ext cx="5175" cy="506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73" name="Google Shape;1873;p40"/>
          <p:cNvCxnSpPr>
            <a:stCxn id="1839" idx="1"/>
            <a:endCxn id="1874" idx="2"/>
          </p:cNvCxnSpPr>
          <p:nvPr/>
        </p:nvCxnSpPr>
        <p:spPr>
          <a:xfrm rot="10800000" flipH="1">
            <a:off x="2442978" y="2720533"/>
            <a:ext cx="2925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75" name="Google Shape;1875;p40"/>
          <p:cNvCxnSpPr>
            <a:stCxn id="1848" idx="1"/>
            <a:endCxn id="1876" idx="2"/>
          </p:cNvCxnSpPr>
          <p:nvPr/>
        </p:nvCxnSpPr>
        <p:spPr>
          <a:xfrm rot="10800000" flipH="1">
            <a:off x="2889164" y="2720533"/>
            <a:ext cx="9900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77" name="Google Shape;1877;p40"/>
          <p:cNvCxnSpPr>
            <a:stCxn id="1857" idx="1"/>
            <a:endCxn id="1878" idx="2"/>
          </p:cNvCxnSpPr>
          <p:nvPr/>
        </p:nvCxnSpPr>
        <p:spPr>
          <a:xfrm rot="10800000" flipH="1">
            <a:off x="3346979" y="2720630"/>
            <a:ext cx="5400" cy="499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72" name="Google Shape;1872;p40"/>
          <p:cNvSpPr/>
          <p:nvPr/>
        </p:nvSpPr>
        <p:spPr>
          <a:xfrm rot="-5400000">
            <a:off x="1952676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40"/>
          <p:cNvSpPr/>
          <p:nvPr/>
        </p:nvSpPr>
        <p:spPr>
          <a:xfrm rot="-5400000">
            <a:off x="2405943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40"/>
          <p:cNvSpPr/>
          <p:nvPr/>
        </p:nvSpPr>
        <p:spPr>
          <a:xfrm rot="-5400000">
            <a:off x="2859207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40"/>
          <p:cNvSpPr/>
          <p:nvPr/>
        </p:nvSpPr>
        <p:spPr>
          <a:xfrm rot="-5400000">
            <a:off x="3312474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9" name="Google Shape;1879;p40"/>
          <p:cNvCxnSpPr>
            <a:stCxn id="1880" idx="1"/>
            <a:endCxn id="1878" idx="4"/>
          </p:cNvCxnSpPr>
          <p:nvPr/>
        </p:nvCxnSpPr>
        <p:spPr>
          <a:xfrm rot="10800000">
            <a:off x="3394594" y="2680805"/>
            <a:ext cx="1379025" cy="539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81" name="Google Shape;1881;p40"/>
          <p:cNvCxnSpPr>
            <a:stCxn id="1880" idx="1"/>
            <a:endCxn id="1876" idx="4"/>
          </p:cNvCxnSpPr>
          <p:nvPr/>
        </p:nvCxnSpPr>
        <p:spPr>
          <a:xfrm rot="10800000">
            <a:off x="2941219" y="2680805"/>
            <a:ext cx="1832400" cy="539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82" name="Google Shape;1882;p40"/>
          <p:cNvCxnSpPr>
            <a:stCxn id="1880" idx="1"/>
            <a:endCxn id="1874" idx="3"/>
          </p:cNvCxnSpPr>
          <p:nvPr/>
        </p:nvCxnSpPr>
        <p:spPr>
          <a:xfrm rot="10800000">
            <a:off x="2475694" y="2708930"/>
            <a:ext cx="2297925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83" name="Google Shape;1883;p40"/>
          <p:cNvCxnSpPr>
            <a:stCxn id="1880" idx="1"/>
            <a:endCxn id="1872" idx="3"/>
          </p:cNvCxnSpPr>
          <p:nvPr/>
        </p:nvCxnSpPr>
        <p:spPr>
          <a:xfrm rot="10800000">
            <a:off x="2022319" y="2708930"/>
            <a:ext cx="2751300" cy="511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84" name="Google Shape;1884;p40"/>
          <p:cNvSpPr txBox="1"/>
          <p:nvPr/>
        </p:nvSpPr>
        <p:spPr>
          <a:xfrm rot="-5400000">
            <a:off x="902693" y="2470449"/>
            <a:ext cx="92381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scores</a:t>
            </a:r>
            <a:endParaRPr sz="1800"/>
          </a:p>
        </p:txBody>
      </p:sp>
      <p:sp>
        <p:nvSpPr>
          <p:cNvPr id="1885" name="Google Shape;1885;p40"/>
          <p:cNvSpPr/>
          <p:nvPr/>
        </p:nvSpPr>
        <p:spPr>
          <a:xfrm>
            <a:off x="1602579" y="2456535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886" name="Google Shape;1886;p40"/>
          <p:cNvSpPr txBox="1"/>
          <p:nvPr/>
        </p:nvSpPr>
        <p:spPr>
          <a:xfrm>
            <a:off x="4430507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endParaRPr sz="1800"/>
          </a:p>
        </p:txBody>
      </p:sp>
      <p:grpSp>
        <p:nvGrpSpPr>
          <p:cNvPr id="1887" name="Google Shape;1887;p40"/>
          <p:cNvGrpSpPr/>
          <p:nvPr/>
        </p:nvGrpSpPr>
        <p:grpSpPr>
          <a:xfrm rot="5400000">
            <a:off x="4481302" y="3412799"/>
            <a:ext cx="584634" cy="199296"/>
            <a:chOff x="6223414" y="4018641"/>
            <a:chExt cx="776477" cy="280329"/>
          </a:xfrm>
        </p:grpSpPr>
        <p:grpSp>
          <p:nvGrpSpPr>
            <p:cNvPr id="1888" name="Google Shape;1888;p4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889" name="Google Shape;1889;p4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4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4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2" name="Google Shape;1892;p4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80" name="Google Shape;1880;p4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93" name="Google Shape;1893;p40"/>
          <p:cNvCxnSpPr>
            <a:endCxn id="1880" idx="3"/>
          </p:cNvCxnSpPr>
          <p:nvPr/>
        </p:nvCxnSpPr>
        <p:spPr>
          <a:xfrm rot="10800000">
            <a:off x="477361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94" name="Google Shape;1894;p40"/>
          <p:cNvCxnSpPr/>
          <p:nvPr/>
        </p:nvCxnSpPr>
        <p:spPr>
          <a:xfrm>
            <a:off x="1880570" y="2076230"/>
            <a:ext cx="1731363" cy="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95" name="Google Shape;1895;p40"/>
          <p:cNvSpPr/>
          <p:nvPr/>
        </p:nvSpPr>
        <p:spPr>
          <a:xfrm>
            <a:off x="1943172" y="2035014"/>
            <a:ext cx="102122" cy="41225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40"/>
          <p:cNvSpPr/>
          <p:nvPr/>
        </p:nvSpPr>
        <p:spPr>
          <a:xfrm>
            <a:off x="2396019" y="1685213"/>
            <a:ext cx="102122" cy="384088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40"/>
          <p:cNvSpPr/>
          <p:nvPr/>
        </p:nvSpPr>
        <p:spPr>
          <a:xfrm>
            <a:off x="2848866" y="2035015"/>
            <a:ext cx="102122" cy="3428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40"/>
          <p:cNvSpPr/>
          <p:nvPr/>
        </p:nvSpPr>
        <p:spPr>
          <a:xfrm>
            <a:off x="3301713" y="2035015"/>
            <a:ext cx="102122" cy="3428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40"/>
          <p:cNvSpPr txBox="1"/>
          <p:nvPr/>
        </p:nvSpPr>
        <p:spPr>
          <a:xfrm rot="-5400000">
            <a:off x="874151" y="1599411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distribution</a:t>
            </a:r>
            <a:endParaRPr sz="1800"/>
          </a:p>
        </p:txBody>
      </p:sp>
      <p:sp>
        <p:nvSpPr>
          <p:cNvPr id="1900" name="Google Shape;1900;p40"/>
          <p:cNvSpPr/>
          <p:nvPr/>
        </p:nvSpPr>
        <p:spPr>
          <a:xfrm>
            <a:off x="1611978" y="1607340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901" name="Google Shape;1901;p40"/>
          <p:cNvCxnSpPr>
            <a:endCxn id="1895" idx="2"/>
          </p:cNvCxnSpPr>
          <p:nvPr/>
        </p:nvCxnSpPr>
        <p:spPr>
          <a:xfrm rot="10800000" flipH="1">
            <a:off x="1992432" y="2076238"/>
            <a:ext cx="1800" cy="5645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02" name="Google Shape;1902;p40"/>
          <p:cNvCxnSpPr>
            <a:endCxn id="1896" idx="2"/>
          </p:cNvCxnSpPr>
          <p:nvPr/>
        </p:nvCxnSpPr>
        <p:spPr>
          <a:xfrm rot="10800000" flipH="1">
            <a:off x="2445729" y="2069300"/>
            <a:ext cx="1350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03" name="Google Shape;1903;p40"/>
          <p:cNvCxnSpPr>
            <a:endCxn id="1897" idx="2"/>
          </p:cNvCxnSpPr>
          <p:nvPr/>
        </p:nvCxnSpPr>
        <p:spPr>
          <a:xfrm rot="10800000" flipH="1">
            <a:off x="2899025" y="2069303"/>
            <a:ext cx="900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04" name="Google Shape;1904;p40"/>
          <p:cNvCxnSpPr>
            <a:endCxn id="1898" idx="2"/>
          </p:cNvCxnSpPr>
          <p:nvPr/>
        </p:nvCxnSpPr>
        <p:spPr>
          <a:xfrm rot="10800000" flipH="1">
            <a:off x="3352323" y="2069303"/>
            <a:ext cx="450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05" name="Google Shape;1905;p40"/>
          <p:cNvCxnSpPr>
            <a:stCxn id="1895" idx="0"/>
            <a:endCxn id="1906" idx="3"/>
          </p:cNvCxnSpPr>
          <p:nvPr/>
        </p:nvCxnSpPr>
        <p:spPr>
          <a:xfrm rot="10800000" flipH="1">
            <a:off x="1994232" y="1413563"/>
            <a:ext cx="767475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1907" name="Google Shape;1907;p40"/>
          <p:cNvCxnSpPr>
            <a:stCxn id="1896" idx="0"/>
            <a:endCxn id="1906" idx="3"/>
          </p:cNvCxnSpPr>
          <p:nvPr/>
        </p:nvCxnSpPr>
        <p:spPr>
          <a:xfrm rot="10800000" flipH="1">
            <a:off x="2447079" y="1413412"/>
            <a:ext cx="314550" cy="2718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1908" name="Google Shape;1908;p40"/>
          <p:cNvCxnSpPr>
            <a:stCxn id="1897" idx="0"/>
            <a:endCxn id="1906" idx="3"/>
          </p:cNvCxnSpPr>
          <p:nvPr/>
        </p:nvCxnSpPr>
        <p:spPr>
          <a:xfrm rot="10800000">
            <a:off x="2761550" y="1413563"/>
            <a:ext cx="138375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1909" name="Google Shape;1909;p40"/>
          <p:cNvCxnSpPr>
            <a:stCxn id="1898" idx="0"/>
            <a:endCxn id="1906" idx="3"/>
          </p:cNvCxnSpPr>
          <p:nvPr/>
        </p:nvCxnSpPr>
        <p:spPr>
          <a:xfrm rot="10800000">
            <a:off x="2761698" y="1413563"/>
            <a:ext cx="591075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grpSp>
        <p:nvGrpSpPr>
          <p:cNvPr id="1910" name="Google Shape;1910;p40"/>
          <p:cNvGrpSpPr/>
          <p:nvPr/>
        </p:nvGrpSpPr>
        <p:grpSpPr>
          <a:xfrm rot="5400000">
            <a:off x="2469334" y="1021499"/>
            <a:ext cx="584634" cy="199296"/>
            <a:chOff x="6223414" y="4018641"/>
            <a:chExt cx="776477" cy="280329"/>
          </a:xfrm>
        </p:grpSpPr>
        <p:grpSp>
          <p:nvGrpSpPr>
            <p:cNvPr id="1911" name="Google Shape;1911;p40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912" name="Google Shape;1912;p40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40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40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5" name="Google Shape;1915;p40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6" name="Google Shape;1906;p40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3A87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6" name="Google Shape;1916;p40"/>
          <p:cNvSpPr txBox="1"/>
          <p:nvPr/>
        </p:nvSpPr>
        <p:spPr>
          <a:xfrm>
            <a:off x="2776296" y="866589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output</a:t>
            </a:r>
            <a:endParaRPr sz="1800"/>
          </a:p>
        </p:txBody>
      </p:sp>
      <p:cxnSp>
        <p:nvCxnSpPr>
          <p:cNvPr id="1917" name="Google Shape;1917;p40"/>
          <p:cNvCxnSpPr>
            <a:endCxn id="1918" idx="1"/>
          </p:cNvCxnSpPr>
          <p:nvPr/>
        </p:nvCxnSpPr>
        <p:spPr>
          <a:xfrm>
            <a:off x="2867384" y="1341122"/>
            <a:ext cx="1732275" cy="2173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19" name="Google Shape;1919;p40"/>
          <p:cNvCxnSpPr>
            <a:stCxn id="1880" idx="1"/>
            <a:endCxn id="1918" idx="2"/>
          </p:cNvCxnSpPr>
          <p:nvPr/>
        </p:nvCxnSpPr>
        <p:spPr>
          <a:xfrm rot="10800000">
            <a:off x="4772269" y="1685405"/>
            <a:ext cx="1350" cy="15347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18" name="Google Shape;1918;p40"/>
          <p:cNvSpPr txBox="1"/>
          <p:nvPr/>
        </p:nvSpPr>
        <p:spPr>
          <a:xfrm>
            <a:off x="4599661" y="1431516"/>
            <a:ext cx="345173" cy="25391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711"/>
            </a:stretch>
          </a:blip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/>
          </a:p>
        </p:txBody>
      </p:sp>
      <p:cxnSp>
        <p:nvCxnSpPr>
          <p:cNvPr id="1920" name="Google Shape;1920;p40"/>
          <p:cNvCxnSpPr>
            <a:stCxn id="1918" idx="0"/>
            <a:endCxn id="1921" idx="2"/>
          </p:cNvCxnSpPr>
          <p:nvPr/>
        </p:nvCxnSpPr>
        <p:spPr>
          <a:xfrm rot="10800000" flipH="1">
            <a:off x="4772246" y="1171190"/>
            <a:ext cx="2925" cy="260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21" name="Google Shape;1921;p40"/>
          <p:cNvSpPr txBox="1"/>
          <p:nvPr/>
        </p:nvSpPr>
        <p:spPr>
          <a:xfrm>
            <a:off x="4546226" y="917178"/>
            <a:ext cx="45797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poor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3944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41"/>
          <p:cNvSpPr txBox="1">
            <a:spLocks noGrp="1"/>
          </p:cNvSpPr>
          <p:nvPr>
            <p:ph type="title"/>
          </p:nvPr>
        </p:nvSpPr>
        <p:spPr>
          <a:xfrm>
            <a:off x="613611" y="0"/>
            <a:ext cx="4544268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Sequence-to-sequence with attention</a:t>
            </a:r>
            <a:endParaRPr dirty="0"/>
          </a:p>
        </p:txBody>
      </p:sp>
      <p:sp>
        <p:nvSpPr>
          <p:cNvPr id="1928" name="Google Shape;1928;p41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40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9" name="Google Shape;1929;p41"/>
          <p:cNvGrpSpPr/>
          <p:nvPr/>
        </p:nvGrpSpPr>
        <p:grpSpPr>
          <a:xfrm rot="5400000">
            <a:off x="1694952" y="3419376"/>
            <a:ext cx="584634" cy="199296"/>
            <a:chOff x="6223414" y="4018641"/>
            <a:chExt cx="776477" cy="280329"/>
          </a:xfrm>
        </p:grpSpPr>
        <p:grpSp>
          <p:nvGrpSpPr>
            <p:cNvPr id="1930" name="Google Shape;1930;p4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931" name="Google Shape;1931;p4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2" name="Google Shape;1932;p4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3" name="Google Shape;1933;p4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4" name="Google Shape;1934;p4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5" name="Google Shape;1935;p4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36" name="Google Shape;1936;p41"/>
          <p:cNvCxnSpPr>
            <a:endCxn id="1935" idx="3"/>
          </p:cNvCxnSpPr>
          <p:nvPr/>
        </p:nvCxnSpPr>
        <p:spPr>
          <a:xfrm rot="10800000">
            <a:off x="1987269" y="381134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37" name="Google Shape;1937;p41"/>
          <p:cNvCxnSpPr>
            <a:stCxn id="1935" idx="0"/>
          </p:cNvCxnSpPr>
          <p:nvPr/>
        </p:nvCxnSpPr>
        <p:spPr>
          <a:xfrm>
            <a:off x="2086917" y="351902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38" name="Google Shape;1938;p41"/>
          <p:cNvSpPr txBox="1"/>
          <p:nvPr/>
        </p:nvSpPr>
        <p:spPr>
          <a:xfrm rot="-5400000">
            <a:off x="1006280" y="3270078"/>
            <a:ext cx="71664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</a:t>
            </a:r>
            <a:b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endParaRPr sz="1800"/>
          </a:p>
        </p:txBody>
      </p:sp>
      <p:sp>
        <p:nvSpPr>
          <p:cNvPr id="1939" name="Google Shape;1939;p41"/>
          <p:cNvSpPr txBox="1"/>
          <p:nvPr/>
        </p:nvSpPr>
        <p:spPr>
          <a:xfrm>
            <a:off x="1828381" y="4751486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1940" name="Google Shape;1940;p41"/>
          <p:cNvSpPr/>
          <p:nvPr/>
        </p:nvSpPr>
        <p:spPr>
          <a:xfrm rot="-5400000">
            <a:off x="2690565" y="3759524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941" name="Google Shape;1941;p41"/>
          <p:cNvSpPr/>
          <p:nvPr/>
        </p:nvSpPr>
        <p:spPr>
          <a:xfrm>
            <a:off x="1605396" y="3226707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942" name="Google Shape;1942;p41"/>
          <p:cNvSpPr txBox="1"/>
          <p:nvPr/>
        </p:nvSpPr>
        <p:spPr>
          <a:xfrm>
            <a:off x="3982754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41"/>
          <p:cNvSpPr txBox="1"/>
          <p:nvPr/>
        </p:nvSpPr>
        <p:spPr>
          <a:xfrm>
            <a:off x="1838404" y="4276680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4" name="Google Shape;1944;p41"/>
          <p:cNvGrpSpPr/>
          <p:nvPr/>
        </p:nvGrpSpPr>
        <p:grpSpPr>
          <a:xfrm rot="5400000">
            <a:off x="2150661" y="3414952"/>
            <a:ext cx="584634" cy="199296"/>
            <a:chOff x="6223414" y="4018641"/>
            <a:chExt cx="776477" cy="280329"/>
          </a:xfrm>
        </p:grpSpPr>
        <p:grpSp>
          <p:nvGrpSpPr>
            <p:cNvPr id="1945" name="Google Shape;1945;p4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946" name="Google Shape;1946;p4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7" name="Google Shape;1947;p4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8" name="Google Shape;1948;p4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9" name="Google Shape;1949;p4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50" name="Google Shape;1950;p4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51" name="Google Shape;1951;p41"/>
          <p:cNvCxnSpPr>
            <a:endCxn id="1950" idx="3"/>
          </p:cNvCxnSpPr>
          <p:nvPr/>
        </p:nvCxnSpPr>
        <p:spPr>
          <a:xfrm rot="10800000">
            <a:off x="2442978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52" name="Google Shape;1952;p41"/>
          <p:cNvCxnSpPr>
            <a:stCxn id="1950" idx="0"/>
          </p:cNvCxnSpPr>
          <p:nvPr/>
        </p:nvCxnSpPr>
        <p:spPr>
          <a:xfrm>
            <a:off x="2542626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953" name="Google Shape;1953;p41"/>
          <p:cNvGrpSpPr/>
          <p:nvPr/>
        </p:nvGrpSpPr>
        <p:grpSpPr>
          <a:xfrm rot="5400000">
            <a:off x="2596847" y="3414952"/>
            <a:ext cx="584634" cy="199296"/>
            <a:chOff x="6223414" y="4018641"/>
            <a:chExt cx="776477" cy="280329"/>
          </a:xfrm>
        </p:grpSpPr>
        <p:grpSp>
          <p:nvGrpSpPr>
            <p:cNvPr id="1954" name="Google Shape;1954;p4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955" name="Google Shape;1955;p4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4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7" name="Google Shape;1957;p4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8" name="Google Shape;1958;p4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59" name="Google Shape;1959;p4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60" name="Google Shape;1960;p41"/>
          <p:cNvCxnSpPr>
            <a:endCxn id="1959" idx="3"/>
          </p:cNvCxnSpPr>
          <p:nvPr/>
        </p:nvCxnSpPr>
        <p:spPr>
          <a:xfrm rot="10800000">
            <a:off x="2889164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61" name="Google Shape;1961;p41"/>
          <p:cNvCxnSpPr>
            <a:stCxn id="1959" idx="0"/>
          </p:cNvCxnSpPr>
          <p:nvPr/>
        </p:nvCxnSpPr>
        <p:spPr>
          <a:xfrm>
            <a:off x="2988812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962" name="Google Shape;1962;p41"/>
          <p:cNvGrpSpPr/>
          <p:nvPr/>
        </p:nvGrpSpPr>
        <p:grpSpPr>
          <a:xfrm rot="5400000">
            <a:off x="3054662" y="3412799"/>
            <a:ext cx="584634" cy="199296"/>
            <a:chOff x="6223414" y="4018641"/>
            <a:chExt cx="776477" cy="280329"/>
          </a:xfrm>
        </p:grpSpPr>
        <p:grpSp>
          <p:nvGrpSpPr>
            <p:cNvPr id="1963" name="Google Shape;1963;p4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964" name="Google Shape;1964;p4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5" name="Google Shape;1965;p4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6" name="Google Shape;1966;p4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7" name="Google Shape;1967;p4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68" name="Google Shape;1968;p4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69" name="Google Shape;1969;p41"/>
          <p:cNvCxnSpPr>
            <a:endCxn id="1968" idx="3"/>
          </p:cNvCxnSpPr>
          <p:nvPr/>
        </p:nvCxnSpPr>
        <p:spPr>
          <a:xfrm rot="10800000">
            <a:off x="334697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70" name="Google Shape;1970;p41"/>
          <p:cNvCxnSpPr>
            <a:stCxn id="1968" idx="0"/>
            <a:endCxn id="1971" idx="2"/>
          </p:cNvCxnSpPr>
          <p:nvPr/>
        </p:nvCxnSpPr>
        <p:spPr>
          <a:xfrm>
            <a:off x="3446627" y="3512447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972" name="Google Shape;1972;p41"/>
          <p:cNvGrpSpPr/>
          <p:nvPr/>
        </p:nvGrpSpPr>
        <p:grpSpPr>
          <a:xfrm rot="5400000">
            <a:off x="4033550" y="3412799"/>
            <a:ext cx="584634" cy="199296"/>
            <a:chOff x="6223414" y="4018641"/>
            <a:chExt cx="776477" cy="280329"/>
          </a:xfrm>
        </p:grpSpPr>
        <p:grpSp>
          <p:nvGrpSpPr>
            <p:cNvPr id="1973" name="Google Shape;1973;p4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1974" name="Google Shape;1974;p4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5" name="Google Shape;1975;p4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6" name="Google Shape;1976;p4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7" name="Google Shape;1977;p4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71" name="Google Shape;1971;p4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78" name="Google Shape;1978;p41"/>
          <p:cNvCxnSpPr>
            <a:endCxn id="1971" idx="3"/>
          </p:cNvCxnSpPr>
          <p:nvPr/>
        </p:nvCxnSpPr>
        <p:spPr>
          <a:xfrm rot="10800000">
            <a:off x="4325867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79" name="Google Shape;1979;p41"/>
          <p:cNvCxnSpPr>
            <a:stCxn id="1971" idx="0"/>
          </p:cNvCxnSpPr>
          <p:nvPr/>
        </p:nvCxnSpPr>
        <p:spPr>
          <a:xfrm>
            <a:off x="4425515" y="3512447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80" name="Google Shape;1980;p41"/>
          <p:cNvSpPr txBox="1"/>
          <p:nvPr/>
        </p:nvSpPr>
        <p:spPr>
          <a:xfrm rot="5400000">
            <a:off x="7302216" y="3397634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cxnSp>
        <p:nvCxnSpPr>
          <p:cNvPr id="1981" name="Google Shape;1981;p41"/>
          <p:cNvCxnSpPr>
            <a:stCxn id="1935" idx="1"/>
            <a:endCxn id="1982" idx="2"/>
          </p:cNvCxnSpPr>
          <p:nvPr/>
        </p:nvCxnSpPr>
        <p:spPr>
          <a:xfrm rot="10800000" flipH="1">
            <a:off x="1987269" y="2720457"/>
            <a:ext cx="5175" cy="506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83" name="Google Shape;1983;p41"/>
          <p:cNvCxnSpPr>
            <a:stCxn id="1950" idx="1"/>
            <a:endCxn id="1984" idx="2"/>
          </p:cNvCxnSpPr>
          <p:nvPr/>
        </p:nvCxnSpPr>
        <p:spPr>
          <a:xfrm rot="10800000" flipH="1">
            <a:off x="2442978" y="2720533"/>
            <a:ext cx="2925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85" name="Google Shape;1985;p41"/>
          <p:cNvCxnSpPr>
            <a:stCxn id="1959" idx="1"/>
            <a:endCxn id="1986" idx="2"/>
          </p:cNvCxnSpPr>
          <p:nvPr/>
        </p:nvCxnSpPr>
        <p:spPr>
          <a:xfrm rot="10800000" flipH="1">
            <a:off x="2889164" y="2720533"/>
            <a:ext cx="9900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87" name="Google Shape;1987;p41"/>
          <p:cNvCxnSpPr>
            <a:stCxn id="1968" idx="1"/>
            <a:endCxn id="1988" idx="2"/>
          </p:cNvCxnSpPr>
          <p:nvPr/>
        </p:nvCxnSpPr>
        <p:spPr>
          <a:xfrm rot="10800000" flipH="1">
            <a:off x="3346979" y="2720630"/>
            <a:ext cx="5400" cy="499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82" name="Google Shape;1982;p41"/>
          <p:cNvSpPr/>
          <p:nvPr/>
        </p:nvSpPr>
        <p:spPr>
          <a:xfrm rot="-5400000">
            <a:off x="1952676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41"/>
          <p:cNvSpPr/>
          <p:nvPr/>
        </p:nvSpPr>
        <p:spPr>
          <a:xfrm rot="-5400000">
            <a:off x="2405943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41"/>
          <p:cNvSpPr/>
          <p:nvPr/>
        </p:nvSpPr>
        <p:spPr>
          <a:xfrm rot="-5400000">
            <a:off x="2859207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41"/>
          <p:cNvSpPr/>
          <p:nvPr/>
        </p:nvSpPr>
        <p:spPr>
          <a:xfrm rot="-5400000">
            <a:off x="3312474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9" name="Google Shape;1989;p41"/>
          <p:cNvCxnSpPr>
            <a:stCxn id="1990" idx="1"/>
            <a:endCxn id="1988" idx="4"/>
          </p:cNvCxnSpPr>
          <p:nvPr/>
        </p:nvCxnSpPr>
        <p:spPr>
          <a:xfrm rot="10800000">
            <a:off x="3394548" y="2680658"/>
            <a:ext cx="1838025" cy="5364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91" name="Google Shape;1991;p41"/>
          <p:cNvCxnSpPr>
            <a:stCxn id="1990" idx="1"/>
            <a:endCxn id="1986" idx="4"/>
          </p:cNvCxnSpPr>
          <p:nvPr/>
        </p:nvCxnSpPr>
        <p:spPr>
          <a:xfrm rot="10800000">
            <a:off x="2941173" y="2680658"/>
            <a:ext cx="2291400" cy="5364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92" name="Google Shape;1992;p41"/>
          <p:cNvCxnSpPr>
            <a:stCxn id="1990" idx="1"/>
            <a:endCxn id="1984" idx="3"/>
          </p:cNvCxnSpPr>
          <p:nvPr/>
        </p:nvCxnSpPr>
        <p:spPr>
          <a:xfrm rot="10800000">
            <a:off x="2475648" y="2708783"/>
            <a:ext cx="2756925" cy="5082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93" name="Google Shape;1993;p41"/>
          <p:cNvCxnSpPr>
            <a:stCxn id="1990" idx="1"/>
            <a:endCxn id="1982" idx="3"/>
          </p:cNvCxnSpPr>
          <p:nvPr/>
        </p:nvCxnSpPr>
        <p:spPr>
          <a:xfrm rot="10800000">
            <a:off x="2022273" y="2708783"/>
            <a:ext cx="3210300" cy="5082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94" name="Google Shape;1994;p41"/>
          <p:cNvSpPr txBox="1"/>
          <p:nvPr/>
        </p:nvSpPr>
        <p:spPr>
          <a:xfrm rot="-5400000">
            <a:off x="902693" y="2470449"/>
            <a:ext cx="92381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scores</a:t>
            </a:r>
            <a:endParaRPr sz="1800"/>
          </a:p>
        </p:txBody>
      </p:sp>
      <p:sp>
        <p:nvSpPr>
          <p:cNvPr id="1995" name="Google Shape;1995;p41"/>
          <p:cNvSpPr/>
          <p:nvPr/>
        </p:nvSpPr>
        <p:spPr>
          <a:xfrm>
            <a:off x="1602579" y="2456535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996" name="Google Shape;1996;p41"/>
          <p:cNvCxnSpPr/>
          <p:nvPr/>
        </p:nvCxnSpPr>
        <p:spPr>
          <a:xfrm>
            <a:off x="1880570" y="2076230"/>
            <a:ext cx="1731363" cy="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97" name="Google Shape;1997;p41"/>
          <p:cNvSpPr/>
          <p:nvPr/>
        </p:nvSpPr>
        <p:spPr>
          <a:xfrm>
            <a:off x="1943172" y="2035014"/>
            <a:ext cx="102122" cy="41225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41"/>
          <p:cNvSpPr/>
          <p:nvPr/>
        </p:nvSpPr>
        <p:spPr>
          <a:xfrm>
            <a:off x="2396018" y="2035015"/>
            <a:ext cx="106474" cy="3428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41"/>
          <p:cNvSpPr/>
          <p:nvPr/>
        </p:nvSpPr>
        <p:spPr>
          <a:xfrm>
            <a:off x="2848859" y="1821865"/>
            <a:ext cx="92415" cy="24743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41"/>
          <p:cNvSpPr/>
          <p:nvPr/>
        </p:nvSpPr>
        <p:spPr>
          <a:xfrm>
            <a:off x="3301713" y="1821865"/>
            <a:ext cx="92834" cy="24743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41"/>
          <p:cNvSpPr txBox="1"/>
          <p:nvPr/>
        </p:nvSpPr>
        <p:spPr>
          <a:xfrm rot="-5400000">
            <a:off x="874151" y="1599411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distribution</a:t>
            </a:r>
            <a:endParaRPr sz="1800"/>
          </a:p>
        </p:txBody>
      </p:sp>
      <p:sp>
        <p:nvSpPr>
          <p:cNvPr id="2002" name="Google Shape;2002;p41"/>
          <p:cNvSpPr/>
          <p:nvPr/>
        </p:nvSpPr>
        <p:spPr>
          <a:xfrm>
            <a:off x="1611978" y="1607340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2003" name="Google Shape;2003;p41"/>
          <p:cNvCxnSpPr>
            <a:endCxn id="1997" idx="2"/>
          </p:cNvCxnSpPr>
          <p:nvPr/>
        </p:nvCxnSpPr>
        <p:spPr>
          <a:xfrm rot="10800000" flipH="1">
            <a:off x="1992432" y="2076238"/>
            <a:ext cx="1800" cy="5645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04" name="Google Shape;2004;p41"/>
          <p:cNvCxnSpPr>
            <a:endCxn id="1998" idx="2"/>
          </p:cNvCxnSpPr>
          <p:nvPr/>
        </p:nvCxnSpPr>
        <p:spPr>
          <a:xfrm rot="10800000" flipH="1">
            <a:off x="2445879" y="2069303"/>
            <a:ext cx="3375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05" name="Google Shape;2005;p41"/>
          <p:cNvCxnSpPr>
            <a:endCxn id="1999" idx="2"/>
          </p:cNvCxnSpPr>
          <p:nvPr/>
        </p:nvCxnSpPr>
        <p:spPr>
          <a:xfrm rot="10800000">
            <a:off x="2895067" y="2069303"/>
            <a:ext cx="4050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06" name="Google Shape;2006;p41"/>
          <p:cNvCxnSpPr>
            <a:endCxn id="2000" idx="2"/>
          </p:cNvCxnSpPr>
          <p:nvPr/>
        </p:nvCxnSpPr>
        <p:spPr>
          <a:xfrm rot="10800000">
            <a:off x="3348129" y="2069303"/>
            <a:ext cx="4275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07" name="Google Shape;2007;p41"/>
          <p:cNvCxnSpPr>
            <a:stCxn id="1997" idx="0"/>
            <a:endCxn id="2008" idx="3"/>
          </p:cNvCxnSpPr>
          <p:nvPr/>
        </p:nvCxnSpPr>
        <p:spPr>
          <a:xfrm rot="10800000" flipH="1">
            <a:off x="1994232" y="1413563"/>
            <a:ext cx="767475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2009" name="Google Shape;2009;p41"/>
          <p:cNvCxnSpPr>
            <a:stCxn id="1998" idx="0"/>
            <a:endCxn id="2008" idx="3"/>
          </p:cNvCxnSpPr>
          <p:nvPr/>
        </p:nvCxnSpPr>
        <p:spPr>
          <a:xfrm rot="10800000" flipH="1">
            <a:off x="2449254" y="1413563"/>
            <a:ext cx="312300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2010" name="Google Shape;2010;p41"/>
          <p:cNvCxnSpPr>
            <a:stCxn id="1999" idx="0"/>
            <a:endCxn id="2008" idx="3"/>
          </p:cNvCxnSpPr>
          <p:nvPr/>
        </p:nvCxnSpPr>
        <p:spPr>
          <a:xfrm rot="10800000">
            <a:off x="2761642" y="1413488"/>
            <a:ext cx="133425" cy="4083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2011" name="Google Shape;2011;p41"/>
          <p:cNvCxnSpPr>
            <a:stCxn id="2000" idx="0"/>
            <a:endCxn id="2008" idx="3"/>
          </p:cNvCxnSpPr>
          <p:nvPr/>
        </p:nvCxnSpPr>
        <p:spPr>
          <a:xfrm rot="10800000">
            <a:off x="2761554" y="1413488"/>
            <a:ext cx="586575" cy="4083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grpSp>
        <p:nvGrpSpPr>
          <p:cNvPr id="2012" name="Google Shape;2012;p41"/>
          <p:cNvGrpSpPr/>
          <p:nvPr/>
        </p:nvGrpSpPr>
        <p:grpSpPr>
          <a:xfrm rot="5400000">
            <a:off x="2469334" y="1021499"/>
            <a:ext cx="584634" cy="199296"/>
            <a:chOff x="6223414" y="4018641"/>
            <a:chExt cx="776477" cy="280329"/>
          </a:xfrm>
        </p:grpSpPr>
        <p:grpSp>
          <p:nvGrpSpPr>
            <p:cNvPr id="2013" name="Google Shape;2013;p41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014" name="Google Shape;2014;p41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2015;p41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6" name="Google Shape;2016;p41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7" name="Google Shape;2017;p41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08" name="Google Shape;2008;p41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3A87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8" name="Google Shape;2018;p41"/>
          <p:cNvSpPr txBox="1"/>
          <p:nvPr/>
        </p:nvSpPr>
        <p:spPr>
          <a:xfrm>
            <a:off x="2776296" y="866589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output</a:t>
            </a:r>
            <a:endParaRPr sz="1800"/>
          </a:p>
        </p:txBody>
      </p:sp>
      <p:cxnSp>
        <p:nvCxnSpPr>
          <p:cNvPr id="2019" name="Google Shape;2019;p41"/>
          <p:cNvCxnSpPr>
            <a:endCxn id="2020" idx="1"/>
          </p:cNvCxnSpPr>
          <p:nvPr/>
        </p:nvCxnSpPr>
        <p:spPr>
          <a:xfrm>
            <a:off x="2867333" y="1341196"/>
            <a:ext cx="2191275" cy="214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021" name="Google Shape;2021;p41"/>
          <p:cNvGrpSpPr/>
          <p:nvPr/>
        </p:nvGrpSpPr>
        <p:grpSpPr>
          <a:xfrm>
            <a:off x="4430514" y="3220139"/>
            <a:ext cx="701287" cy="1303699"/>
            <a:chOff x="4383340" y="4293507"/>
            <a:chExt cx="935049" cy="1738265"/>
          </a:xfrm>
        </p:grpSpPr>
        <p:sp>
          <p:nvSpPr>
            <p:cNvPr id="2022" name="Google Shape;2022;p41"/>
            <p:cNvSpPr txBox="1"/>
            <p:nvPr/>
          </p:nvSpPr>
          <p:spPr>
            <a:xfrm>
              <a:off x="4383340" y="5693218"/>
              <a:ext cx="9350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endParaRPr sz="1800"/>
            </a:p>
          </p:txBody>
        </p:sp>
        <p:grpSp>
          <p:nvGrpSpPr>
            <p:cNvPr id="2023" name="Google Shape;2023;p41"/>
            <p:cNvGrpSpPr/>
            <p:nvPr/>
          </p:nvGrpSpPr>
          <p:grpSpPr>
            <a:xfrm>
              <a:off x="4707961" y="4293507"/>
              <a:ext cx="610428" cy="1389112"/>
              <a:chOff x="4707961" y="4293507"/>
              <a:chExt cx="610428" cy="1389112"/>
            </a:xfrm>
          </p:grpSpPr>
          <p:grpSp>
            <p:nvGrpSpPr>
              <p:cNvPr id="2024" name="Google Shape;2024;p41"/>
              <p:cNvGrpSpPr/>
              <p:nvPr/>
            </p:nvGrpSpPr>
            <p:grpSpPr>
              <a:xfrm rot="5400000">
                <a:off x="4451069" y="4550399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2025" name="Google Shape;2025;p41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2026" name="Google Shape;2026;p41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27" name="Google Shape;2027;p41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28" name="Google Shape;2028;p41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29" name="Google Shape;2029;p41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30" name="Google Shape;2030;p41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031" name="Google Shape;2031;p41"/>
              <p:cNvCxnSpPr>
                <a:endCxn id="2030" idx="3"/>
              </p:cNvCxnSpPr>
              <p:nvPr/>
            </p:nvCxnSpPr>
            <p:spPr>
              <a:xfrm rot="10800000">
                <a:off x="4840825" y="5073019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2032" name="Google Shape;2032;p41"/>
              <p:cNvCxnSpPr>
                <a:stCxn id="2030" idx="0"/>
              </p:cNvCxnSpPr>
              <p:nvPr/>
            </p:nvCxnSpPr>
            <p:spPr>
              <a:xfrm>
                <a:off x="4973689" y="4683263"/>
                <a:ext cx="34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</p:grpSp>
      <p:grpSp>
        <p:nvGrpSpPr>
          <p:cNvPr id="2033" name="Google Shape;2033;p41"/>
          <p:cNvGrpSpPr/>
          <p:nvPr/>
        </p:nvGrpSpPr>
        <p:grpSpPr>
          <a:xfrm>
            <a:off x="4889459" y="914103"/>
            <a:ext cx="701283" cy="3606656"/>
            <a:chOff x="4383340" y="1222898"/>
            <a:chExt cx="935044" cy="4808874"/>
          </a:xfrm>
        </p:grpSpPr>
        <p:sp>
          <p:nvSpPr>
            <p:cNvPr id="2034" name="Google Shape;2034;p41"/>
            <p:cNvSpPr txBox="1"/>
            <p:nvPr/>
          </p:nvSpPr>
          <p:spPr>
            <a:xfrm>
              <a:off x="4383340" y="5693218"/>
              <a:ext cx="9350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grpSp>
          <p:nvGrpSpPr>
            <p:cNvPr id="2035" name="Google Shape;2035;p41"/>
            <p:cNvGrpSpPr/>
            <p:nvPr/>
          </p:nvGrpSpPr>
          <p:grpSpPr>
            <a:xfrm>
              <a:off x="4457166" y="1222898"/>
              <a:ext cx="754212" cy="4459721"/>
              <a:chOff x="4457166" y="1222898"/>
              <a:chExt cx="754212" cy="4459721"/>
            </a:xfrm>
          </p:grpSpPr>
          <p:grpSp>
            <p:nvGrpSpPr>
              <p:cNvPr id="2036" name="Google Shape;2036;p41"/>
              <p:cNvGrpSpPr/>
              <p:nvPr/>
            </p:nvGrpSpPr>
            <p:grpSpPr>
              <a:xfrm rot="5400000">
                <a:off x="4451069" y="4550399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2037" name="Google Shape;2037;p41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2038" name="Google Shape;2038;p41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39" name="Google Shape;2039;p41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0" name="Google Shape;2040;p41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1" name="Google Shape;2041;p41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990" name="Google Shape;1990;p41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042" name="Google Shape;2042;p41"/>
              <p:cNvCxnSpPr>
                <a:endCxn id="1990" idx="3"/>
              </p:cNvCxnSpPr>
              <p:nvPr/>
            </p:nvCxnSpPr>
            <p:spPr>
              <a:xfrm rot="10800000">
                <a:off x="4840825" y="5073019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2043" name="Google Shape;2043;p41"/>
              <p:cNvCxnSpPr>
                <a:stCxn id="1990" idx="1"/>
                <a:endCxn id="2020" idx="2"/>
              </p:cNvCxnSpPr>
              <p:nvPr/>
            </p:nvCxnSpPr>
            <p:spPr>
              <a:xfrm rot="10800000">
                <a:off x="4839025" y="2247207"/>
                <a:ext cx="1800" cy="2046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2020" name="Google Shape;2020;p41"/>
              <p:cNvSpPr txBox="1"/>
              <p:nvPr/>
            </p:nvSpPr>
            <p:spPr>
              <a:xfrm>
                <a:off x="4608871" y="1908680"/>
                <a:ext cx="460230" cy="338554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10711"/>
                </a:stretch>
              </a:blipFill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r>
                  <a:rPr lang="en-US" sz="135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800"/>
              </a:p>
            </p:txBody>
          </p:sp>
          <p:cxnSp>
            <p:nvCxnSpPr>
              <p:cNvPr id="2044" name="Google Shape;2044;p41"/>
              <p:cNvCxnSpPr>
                <a:stCxn id="2020" idx="0"/>
                <a:endCxn id="2045" idx="2"/>
              </p:cNvCxnSpPr>
              <p:nvPr/>
            </p:nvCxnSpPr>
            <p:spPr>
              <a:xfrm rot="10800000">
                <a:off x="4834186" y="1561580"/>
                <a:ext cx="4800" cy="347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2045" name="Google Shape;2045;p41"/>
              <p:cNvSpPr txBox="1"/>
              <p:nvPr/>
            </p:nvSpPr>
            <p:spPr>
              <a:xfrm>
                <a:off x="4457166" y="1222898"/>
                <a:ext cx="75421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pPr algn="ctr"/>
                <a:r>
                  <a:rPr lang="en-US" sz="1200" i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don’t</a:t>
                </a:r>
                <a:endParaRPr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46" name="Google Shape;2046;p41"/>
          <p:cNvSpPr/>
          <p:nvPr/>
        </p:nvSpPr>
        <p:spPr>
          <a:xfrm rot="10800000">
            <a:off x="7602318" y="3243816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1465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42"/>
          <p:cNvSpPr txBox="1">
            <a:spLocks noGrp="1"/>
          </p:cNvSpPr>
          <p:nvPr>
            <p:ph type="title"/>
          </p:nvPr>
        </p:nvSpPr>
        <p:spPr>
          <a:xfrm>
            <a:off x="613611" y="0"/>
            <a:ext cx="4544268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Sequence-to-sequence with attention</a:t>
            </a:r>
            <a:endParaRPr dirty="0"/>
          </a:p>
        </p:txBody>
      </p:sp>
      <p:sp>
        <p:nvSpPr>
          <p:cNvPr id="2053" name="Google Shape;2053;p42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41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4" name="Google Shape;2054;p42"/>
          <p:cNvGrpSpPr/>
          <p:nvPr/>
        </p:nvGrpSpPr>
        <p:grpSpPr>
          <a:xfrm rot="5400000">
            <a:off x="1694952" y="3419376"/>
            <a:ext cx="584634" cy="199296"/>
            <a:chOff x="6223414" y="4018641"/>
            <a:chExt cx="776477" cy="280329"/>
          </a:xfrm>
        </p:grpSpPr>
        <p:grpSp>
          <p:nvGrpSpPr>
            <p:cNvPr id="2055" name="Google Shape;2055;p42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056" name="Google Shape;2056;p42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7" name="Google Shape;2057;p42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8" name="Google Shape;2058;p42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9" name="Google Shape;2059;p42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60" name="Google Shape;2060;p42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61" name="Google Shape;2061;p42"/>
          <p:cNvCxnSpPr>
            <a:endCxn id="2060" idx="3"/>
          </p:cNvCxnSpPr>
          <p:nvPr/>
        </p:nvCxnSpPr>
        <p:spPr>
          <a:xfrm rot="10800000">
            <a:off x="1987269" y="381134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62" name="Google Shape;2062;p42"/>
          <p:cNvCxnSpPr>
            <a:stCxn id="2060" idx="0"/>
          </p:cNvCxnSpPr>
          <p:nvPr/>
        </p:nvCxnSpPr>
        <p:spPr>
          <a:xfrm>
            <a:off x="2086917" y="351902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063" name="Google Shape;2063;p42"/>
          <p:cNvSpPr txBox="1"/>
          <p:nvPr/>
        </p:nvSpPr>
        <p:spPr>
          <a:xfrm rot="-5400000">
            <a:off x="1006280" y="3270078"/>
            <a:ext cx="71664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</a:t>
            </a:r>
            <a:b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endParaRPr sz="1800"/>
          </a:p>
        </p:txBody>
      </p:sp>
      <p:sp>
        <p:nvSpPr>
          <p:cNvPr id="2064" name="Google Shape;2064;p42"/>
          <p:cNvSpPr txBox="1"/>
          <p:nvPr/>
        </p:nvSpPr>
        <p:spPr>
          <a:xfrm>
            <a:off x="1828381" y="4751486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2065" name="Google Shape;2065;p42"/>
          <p:cNvSpPr/>
          <p:nvPr/>
        </p:nvSpPr>
        <p:spPr>
          <a:xfrm rot="-5400000">
            <a:off x="2690565" y="3759524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066" name="Google Shape;2066;p42"/>
          <p:cNvSpPr/>
          <p:nvPr/>
        </p:nvSpPr>
        <p:spPr>
          <a:xfrm>
            <a:off x="1605396" y="3226707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067" name="Google Shape;2067;p42"/>
          <p:cNvSpPr txBox="1"/>
          <p:nvPr/>
        </p:nvSpPr>
        <p:spPr>
          <a:xfrm>
            <a:off x="3982754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42"/>
          <p:cNvSpPr txBox="1"/>
          <p:nvPr/>
        </p:nvSpPr>
        <p:spPr>
          <a:xfrm>
            <a:off x="1838404" y="4276680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9" name="Google Shape;2069;p42"/>
          <p:cNvGrpSpPr/>
          <p:nvPr/>
        </p:nvGrpSpPr>
        <p:grpSpPr>
          <a:xfrm rot="5400000">
            <a:off x="2150661" y="3414952"/>
            <a:ext cx="584634" cy="199296"/>
            <a:chOff x="6223414" y="4018641"/>
            <a:chExt cx="776477" cy="280329"/>
          </a:xfrm>
        </p:grpSpPr>
        <p:grpSp>
          <p:nvGrpSpPr>
            <p:cNvPr id="2070" name="Google Shape;2070;p42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071" name="Google Shape;2071;p42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2" name="Google Shape;2072;p42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3" name="Google Shape;2073;p42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4" name="Google Shape;2074;p42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75" name="Google Shape;2075;p42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76" name="Google Shape;2076;p42"/>
          <p:cNvCxnSpPr>
            <a:endCxn id="2075" idx="3"/>
          </p:cNvCxnSpPr>
          <p:nvPr/>
        </p:nvCxnSpPr>
        <p:spPr>
          <a:xfrm rot="10800000">
            <a:off x="2442978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77" name="Google Shape;2077;p42"/>
          <p:cNvCxnSpPr>
            <a:stCxn id="2075" idx="0"/>
          </p:cNvCxnSpPr>
          <p:nvPr/>
        </p:nvCxnSpPr>
        <p:spPr>
          <a:xfrm>
            <a:off x="2542626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078" name="Google Shape;2078;p42"/>
          <p:cNvGrpSpPr/>
          <p:nvPr/>
        </p:nvGrpSpPr>
        <p:grpSpPr>
          <a:xfrm rot="5400000">
            <a:off x="2596847" y="3414952"/>
            <a:ext cx="584634" cy="199296"/>
            <a:chOff x="6223414" y="4018641"/>
            <a:chExt cx="776477" cy="280329"/>
          </a:xfrm>
        </p:grpSpPr>
        <p:grpSp>
          <p:nvGrpSpPr>
            <p:cNvPr id="2079" name="Google Shape;2079;p42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080" name="Google Shape;2080;p42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1" name="Google Shape;2081;p42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2" name="Google Shape;2082;p42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3" name="Google Shape;2083;p42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84" name="Google Shape;2084;p42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85" name="Google Shape;2085;p42"/>
          <p:cNvCxnSpPr>
            <a:endCxn id="2084" idx="3"/>
          </p:cNvCxnSpPr>
          <p:nvPr/>
        </p:nvCxnSpPr>
        <p:spPr>
          <a:xfrm rot="10800000">
            <a:off x="2889164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86" name="Google Shape;2086;p42"/>
          <p:cNvCxnSpPr>
            <a:stCxn id="2084" idx="0"/>
          </p:cNvCxnSpPr>
          <p:nvPr/>
        </p:nvCxnSpPr>
        <p:spPr>
          <a:xfrm>
            <a:off x="2988812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087" name="Google Shape;2087;p42"/>
          <p:cNvGrpSpPr/>
          <p:nvPr/>
        </p:nvGrpSpPr>
        <p:grpSpPr>
          <a:xfrm rot="5400000">
            <a:off x="3054662" y="3412799"/>
            <a:ext cx="584634" cy="199296"/>
            <a:chOff x="6223414" y="4018641"/>
            <a:chExt cx="776477" cy="280329"/>
          </a:xfrm>
        </p:grpSpPr>
        <p:grpSp>
          <p:nvGrpSpPr>
            <p:cNvPr id="2088" name="Google Shape;2088;p42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089" name="Google Shape;2089;p42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0" name="Google Shape;2090;p42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1" name="Google Shape;2091;p42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2" name="Google Shape;2092;p42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93" name="Google Shape;2093;p42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94" name="Google Shape;2094;p42"/>
          <p:cNvCxnSpPr>
            <a:endCxn id="2093" idx="3"/>
          </p:cNvCxnSpPr>
          <p:nvPr/>
        </p:nvCxnSpPr>
        <p:spPr>
          <a:xfrm rot="10800000">
            <a:off x="334697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95" name="Google Shape;2095;p42"/>
          <p:cNvCxnSpPr>
            <a:stCxn id="2093" idx="0"/>
            <a:endCxn id="2096" idx="2"/>
          </p:cNvCxnSpPr>
          <p:nvPr/>
        </p:nvCxnSpPr>
        <p:spPr>
          <a:xfrm>
            <a:off x="3446627" y="3512447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097" name="Google Shape;2097;p42"/>
          <p:cNvGrpSpPr/>
          <p:nvPr/>
        </p:nvGrpSpPr>
        <p:grpSpPr>
          <a:xfrm rot="5400000">
            <a:off x="4033550" y="3412799"/>
            <a:ext cx="584634" cy="199296"/>
            <a:chOff x="6223414" y="4018641"/>
            <a:chExt cx="776477" cy="280329"/>
          </a:xfrm>
        </p:grpSpPr>
        <p:grpSp>
          <p:nvGrpSpPr>
            <p:cNvPr id="2098" name="Google Shape;2098;p42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099" name="Google Shape;2099;p42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0" name="Google Shape;2100;p42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1" name="Google Shape;2101;p42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2" name="Google Shape;2102;p42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96" name="Google Shape;2096;p42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03" name="Google Shape;2103;p42"/>
          <p:cNvCxnSpPr>
            <a:endCxn id="2096" idx="3"/>
          </p:cNvCxnSpPr>
          <p:nvPr/>
        </p:nvCxnSpPr>
        <p:spPr>
          <a:xfrm rot="10800000">
            <a:off x="4325867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04" name="Google Shape;2104;p42"/>
          <p:cNvCxnSpPr>
            <a:stCxn id="2096" idx="0"/>
          </p:cNvCxnSpPr>
          <p:nvPr/>
        </p:nvCxnSpPr>
        <p:spPr>
          <a:xfrm>
            <a:off x="4425515" y="3512447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105" name="Google Shape;2105;p42"/>
          <p:cNvSpPr txBox="1"/>
          <p:nvPr/>
        </p:nvSpPr>
        <p:spPr>
          <a:xfrm rot="5400000">
            <a:off x="7302216" y="3397634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cxnSp>
        <p:nvCxnSpPr>
          <p:cNvPr id="2106" name="Google Shape;2106;p42"/>
          <p:cNvCxnSpPr>
            <a:stCxn id="2060" idx="1"/>
            <a:endCxn id="2107" idx="2"/>
          </p:cNvCxnSpPr>
          <p:nvPr/>
        </p:nvCxnSpPr>
        <p:spPr>
          <a:xfrm rot="10800000" flipH="1">
            <a:off x="1987269" y="2720457"/>
            <a:ext cx="5175" cy="506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08" name="Google Shape;2108;p42"/>
          <p:cNvCxnSpPr>
            <a:stCxn id="2075" idx="1"/>
            <a:endCxn id="2109" idx="2"/>
          </p:cNvCxnSpPr>
          <p:nvPr/>
        </p:nvCxnSpPr>
        <p:spPr>
          <a:xfrm rot="10800000" flipH="1">
            <a:off x="2442978" y="2720533"/>
            <a:ext cx="2925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10" name="Google Shape;2110;p42"/>
          <p:cNvCxnSpPr>
            <a:stCxn id="2084" idx="1"/>
            <a:endCxn id="2111" idx="2"/>
          </p:cNvCxnSpPr>
          <p:nvPr/>
        </p:nvCxnSpPr>
        <p:spPr>
          <a:xfrm rot="10800000" flipH="1">
            <a:off x="2889164" y="2720533"/>
            <a:ext cx="9900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12" name="Google Shape;2112;p42"/>
          <p:cNvCxnSpPr>
            <a:stCxn id="2093" idx="1"/>
            <a:endCxn id="2113" idx="2"/>
          </p:cNvCxnSpPr>
          <p:nvPr/>
        </p:nvCxnSpPr>
        <p:spPr>
          <a:xfrm rot="10800000" flipH="1">
            <a:off x="3346979" y="2720630"/>
            <a:ext cx="5400" cy="499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107" name="Google Shape;2107;p42"/>
          <p:cNvSpPr/>
          <p:nvPr/>
        </p:nvSpPr>
        <p:spPr>
          <a:xfrm rot="-5400000">
            <a:off x="1952676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42"/>
          <p:cNvSpPr/>
          <p:nvPr/>
        </p:nvSpPr>
        <p:spPr>
          <a:xfrm rot="-5400000">
            <a:off x="2405943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42"/>
          <p:cNvSpPr/>
          <p:nvPr/>
        </p:nvSpPr>
        <p:spPr>
          <a:xfrm rot="-5400000">
            <a:off x="2859207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42"/>
          <p:cNvSpPr/>
          <p:nvPr/>
        </p:nvSpPr>
        <p:spPr>
          <a:xfrm rot="-5400000">
            <a:off x="3312474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4" name="Google Shape;2114;p42"/>
          <p:cNvCxnSpPr>
            <a:stCxn id="2115" idx="1"/>
            <a:endCxn id="2113" idx="4"/>
          </p:cNvCxnSpPr>
          <p:nvPr/>
        </p:nvCxnSpPr>
        <p:spPr>
          <a:xfrm rot="10800000">
            <a:off x="3394626" y="2680733"/>
            <a:ext cx="2289825" cy="533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16" name="Google Shape;2116;p42"/>
          <p:cNvCxnSpPr>
            <a:stCxn id="2115" idx="1"/>
            <a:endCxn id="2111" idx="4"/>
          </p:cNvCxnSpPr>
          <p:nvPr/>
        </p:nvCxnSpPr>
        <p:spPr>
          <a:xfrm rot="10800000">
            <a:off x="2941251" y="2680733"/>
            <a:ext cx="2743200" cy="533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17" name="Google Shape;2117;p42"/>
          <p:cNvCxnSpPr>
            <a:stCxn id="2115" idx="1"/>
            <a:endCxn id="2109" idx="3"/>
          </p:cNvCxnSpPr>
          <p:nvPr/>
        </p:nvCxnSpPr>
        <p:spPr>
          <a:xfrm rot="10800000">
            <a:off x="2475726" y="2708858"/>
            <a:ext cx="3208725" cy="5051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18" name="Google Shape;2118;p42"/>
          <p:cNvCxnSpPr>
            <a:stCxn id="2115" idx="1"/>
            <a:endCxn id="2107" idx="3"/>
          </p:cNvCxnSpPr>
          <p:nvPr/>
        </p:nvCxnSpPr>
        <p:spPr>
          <a:xfrm rot="10800000">
            <a:off x="2022351" y="2708858"/>
            <a:ext cx="3662100" cy="5051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119" name="Google Shape;2119;p42"/>
          <p:cNvSpPr txBox="1"/>
          <p:nvPr/>
        </p:nvSpPr>
        <p:spPr>
          <a:xfrm rot="-5400000">
            <a:off x="902693" y="2470449"/>
            <a:ext cx="92381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scores</a:t>
            </a:r>
            <a:endParaRPr sz="1800"/>
          </a:p>
        </p:txBody>
      </p:sp>
      <p:sp>
        <p:nvSpPr>
          <p:cNvPr id="2120" name="Google Shape;2120;p42"/>
          <p:cNvSpPr/>
          <p:nvPr/>
        </p:nvSpPr>
        <p:spPr>
          <a:xfrm>
            <a:off x="1602579" y="2456535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2121" name="Google Shape;2121;p42"/>
          <p:cNvCxnSpPr/>
          <p:nvPr/>
        </p:nvCxnSpPr>
        <p:spPr>
          <a:xfrm>
            <a:off x="1880570" y="2076230"/>
            <a:ext cx="1731363" cy="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22" name="Google Shape;2122;p42"/>
          <p:cNvSpPr/>
          <p:nvPr/>
        </p:nvSpPr>
        <p:spPr>
          <a:xfrm>
            <a:off x="1943172" y="2035014"/>
            <a:ext cx="102122" cy="41225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42"/>
          <p:cNvSpPr/>
          <p:nvPr/>
        </p:nvSpPr>
        <p:spPr>
          <a:xfrm>
            <a:off x="2396018" y="2035015"/>
            <a:ext cx="106474" cy="3428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42"/>
          <p:cNvSpPr/>
          <p:nvPr/>
        </p:nvSpPr>
        <p:spPr>
          <a:xfrm>
            <a:off x="2848859" y="1821865"/>
            <a:ext cx="92415" cy="24743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42"/>
          <p:cNvSpPr/>
          <p:nvPr/>
        </p:nvSpPr>
        <p:spPr>
          <a:xfrm>
            <a:off x="3301713" y="1821865"/>
            <a:ext cx="92834" cy="24743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42"/>
          <p:cNvSpPr txBox="1"/>
          <p:nvPr/>
        </p:nvSpPr>
        <p:spPr>
          <a:xfrm rot="-5400000">
            <a:off x="874151" y="1599411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distribution</a:t>
            </a:r>
            <a:endParaRPr sz="1800"/>
          </a:p>
        </p:txBody>
      </p:sp>
      <p:sp>
        <p:nvSpPr>
          <p:cNvPr id="2127" name="Google Shape;2127;p42"/>
          <p:cNvSpPr/>
          <p:nvPr/>
        </p:nvSpPr>
        <p:spPr>
          <a:xfrm>
            <a:off x="1611978" y="1607340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2128" name="Google Shape;2128;p42"/>
          <p:cNvCxnSpPr>
            <a:endCxn id="2122" idx="2"/>
          </p:cNvCxnSpPr>
          <p:nvPr/>
        </p:nvCxnSpPr>
        <p:spPr>
          <a:xfrm rot="10800000" flipH="1">
            <a:off x="1992432" y="2076238"/>
            <a:ext cx="1800" cy="5645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29" name="Google Shape;2129;p42"/>
          <p:cNvCxnSpPr>
            <a:endCxn id="2123" idx="2"/>
          </p:cNvCxnSpPr>
          <p:nvPr/>
        </p:nvCxnSpPr>
        <p:spPr>
          <a:xfrm rot="10800000" flipH="1">
            <a:off x="2445879" y="2069303"/>
            <a:ext cx="3375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30" name="Google Shape;2130;p42"/>
          <p:cNvCxnSpPr>
            <a:endCxn id="2124" idx="2"/>
          </p:cNvCxnSpPr>
          <p:nvPr/>
        </p:nvCxnSpPr>
        <p:spPr>
          <a:xfrm rot="10800000">
            <a:off x="2895067" y="2069303"/>
            <a:ext cx="4050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31" name="Google Shape;2131;p42"/>
          <p:cNvCxnSpPr>
            <a:endCxn id="2125" idx="2"/>
          </p:cNvCxnSpPr>
          <p:nvPr/>
        </p:nvCxnSpPr>
        <p:spPr>
          <a:xfrm rot="10800000">
            <a:off x="3348129" y="2069303"/>
            <a:ext cx="4275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32" name="Google Shape;2132;p42"/>
          <p:cNvCxnSpPr>
            <a:stCxn id="2122" idx="0"/>
            <a:endCxn id="2133" idx="3"/>
          </p:cNvCxnSpPr>
          <p:nvPr/>
        </p:nvCxnSpPr>
        <p:spPr>
          <a:xfrm rot="10800000" flipH="1">
            <a:off x="1994232" y="1413563"/>
            <a:ext cx="767475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2134" name="Google Shape;2134;p42"/>
          <p:cNvCxnSpPr>
            <a:stCxn id="2123" idx="0"/>
            <a:endCxn id="2133" idx="3"/>
          </p:cNvCxnSpPr>
          <p:nvPr/>
        </p:nvCxnSpPr>
        <p:spPr>
          <a:xfrm rot="10800000" flipH="1">
            <a:off x="2449254" y="1413563"/>
            <a:ext cx="312300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2135" name="Google Shape;2135;p42"/>
          <p:cNvCxnSpPr>
            <a:stCxn id="2124" idx="0"/>
            <a:endCxn id="2133" idx="3"/>
          </p:cNvCxnSpPr>
          <p:nvPr/>
        </p:nvCxnSpPr>
        <p:spPr>
          <a:xfrm rot="10800000">
            <a:off x="2761642" y="1413488"/>
            <a:ext cx="133425" cy="4083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2136" name="Google Shape;2136;p42"/>
          <p:cNvCxnSpPr>
            <a:stCxn id="2125" idx="0"/>
            <a:endCxn id="2133" idx="3"/>
          </p:cNvCxnSpPr>
          <p:nvPr/>
        </p:nvCxnSpPr>
        <p:spPr>
          <a:xfrm rot="10800000">
            <a:off x="2761554" y="1413488"/>
            <a:ext cx="586575" cy="4083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grpSp>
        <p:nvGrpSpPr>
          <p:cNvPr id="2137" name="Google Shape;2137;p42"/>
          <p:cNvGrpSpPr/>
          <p:nvPr/>
        </p:nvGrpSpPr>
        <p:grpSpPr>
          <a:xfrm rot="5400000">
            <a:off x="2469334" y="1021499"/>
            <a:ext cx="584634" cy="199296"/>
            <a:chOff x="6223414" y="4018641"/>
            <a:chExt cx="776477" cy="280329"/>
          </a:xfrm>
        </p:grpSpPr>
        <p:grpSp>
          <p:nvGrpSpPr>
            <p:cNvPr id="2138" name="Google Shape;2138;p42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139" name="Google Shape;2139;p42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0" name="Google Shape;2140;p42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1" name="Google Shape;2141;p42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2" name="Google Shape;2142;p42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33" name="Google Shape;2133;p42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3A87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3" name="Google Shape;2143;p42"/>
          <p:cNvSpPr txBox="1"/>
          <p:nvPr/>
        </p:nvSpPr>
        <p:spPr>
          <a:xfrm>
            <a:off x="2776296" y="866589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output</a:t>
            </a:r>
            <a:endParaRPr sz="1800"/>
          </a:p>
        </p:txBody>
      </p:sp>
      <p:cxnSp>
        <p:nvCxnSpPr>
          <p:cNvPr id="2144" name="Google Shape;2144;p42"/>
          <p:cNvCxnSpPr>
            <a:endCxn id="2145" idx="1"/>
          </p:cNvCxnSpPr>
          <p:nvPr/>
        </p:nvCxnSpPr>
        <p:spPr>
          <a:xfrm>
            <a:off x="2867186" y="1341271"/>
            <a:ext cx="2643300" cy="2110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146" name="Google Shape;2146;p42"/>
          <p:cNvGrpSpPr/>
          <p:nvPr/>
        </p:nvGrpSpPr>
        <p:grpSpPr>
          <a:xfrm>
            <a:off x="4430514" y="3220139"/>
            <a:ext cx="701287" cy="1303699"/>
            <a:chOff x="4383340" y="4293507"/>
            <a:chExt cx="935049" cy="1738265"/>
          </a:xfrm>
        </p:grpSpPr>
        <p:sp>
          <p:nvSpPr>
            <p:cNvPr id="2147" name="Google Shape;2147;p42"/>
            <p:cNvSpPr txBox="1"/>
            <p:nvPr/>
          </p:nvSpPr>
          <p:spPr>
            <a:xfrm>
              <a:off x="4383340" y="5693218"/>
              <a:ext cx="9350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endParaRPr sz="1800"/>
            </a:p>
          </p:txBody>
        </p:sp>
        <p:grpSp>
          <p:nvGrpSpPr>
            <p:cNvPr id="2148" name="Google Shape;2148;p42"/>
            <p:cNvGrpSpPr/>
            <p:nvPr/>
          </p:nvGrpSpPr>
          <p:grpSpPr>
            <a:xfrm>
              <a:off x="4707961" y="4293507"/>
              <a:ext cx="610428" cy="1389112"/>
              <a:chOff x="4707961" y="4293507"/>
              <a:chExt cx="610428" cy="1389112"/>
            </a:xfrm>
          </p:grpSpPr>
          <p:grpSp>
            <p:nvGrpSpPr>
              <p:cNvPr id="2149" name="Google Shape;2149;p42"/>
              <p:cNvGrpSpPr/>
              <p:nvPr/>
            </p:nvGrpSpPr>
            <p:grpSpPr>
              <a:xfrm rot="5400000">
                <a:off x="4451069" y="4550399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2150" name="Google Shape;2150;p42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2151" name="Google Shape;2151;p42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2" name="Google Shape;2152;p42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3" name="Google Shape;2153;p42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4" name="Google Shape;2154;p42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155" name="Google Shape;2155;p42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156" name="Google Shape;2156;p42"/>
              <p:cNvCxnSpPr>
                <a:endCxn id="2155" idx="3"/>
              </p:cNvCxnSpPr>
              <p:nvPr/>
            </p:nvCxnSpPr>
            <p:spPr>
              <a:xfrm rot="10800000">
                <a:off x="4840825" y="5073019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2157" name="Google Shape;2157;p42"/>
              <p:cNvCxnSpPr>
                <a:stCxn id="2155" idx="0"/>
              </p:cNvCxnSpPr>
              <p:nvPr/>
            </p:nvCxnSpPr>
            <p:spPr>
              <a:xfrm>
                <a:off x="4973689" y="4683263"/>
                <a:ext cx="34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</p:grpSp>
      <p:grpSp>
        <p:nvGrpSpPr>
          <p:cNvPr id="2158" name="Google Shape;2158;p42"/>
          <p:cNvGrpSpPr/>
          <p:nvPr/>
        </p:nvGrpSpPr>
        <p:grpSpPr>
          <a:xfrm>
            <a:off x="4889466" y="3217064"/>
            <a:ext cx="701287" cy="1303699"/>
            <a:chOff x="4383340" y="4293507"/>
            <a:chExt cx="935049" cy="1738265"/>
          </a:xfrm>
        </p:grpSpPr>
        <p:sp>
          <p:nvSpPr>
            <p:cNvPr id="2159" name="Google Shape;2159;p42"/>
            <p:cNvSpPr txBox="1"/>
            <p:nvPr/>
          </p:nvSpPr>
          <p:spPr>
            <a:xfrm>
              <a:off x="4383340" y="5693218"/>
              <a:ext cx="9350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grpSp>
          <p:nvGrpSpPr>
            <p:cNvPr id="2160" name="Google Shape;2160;p42"/>
            <p:cNvGrpSpPr/>
            <p:nvPr/>
          </p:nvGrpSpPr>
          <p:grpSpPr>
            <a:xfrm>
              <a:off x="4707961" y="4293507"/>
              <a:ext cx="610428" cy="1389112"/>
              <a:chOff x="4707961" y="4293507"/>
              <a:chExt cx="610428" cy="1389112"/>
            </a:xfrm>
          </p:grpSpPr>
          <p:grpSp>
            <p:nvGrpSpPr>
              <p:cNvPr id="2161" name="Google Shape;2161;p42"/>
              <p:cNvGrpSpPr/>
              <p:nvPr/>
            </p:nvGrpSpPr>
            <p:grpSpPr>
              <a:xfrm rot="5400000">
                <a:off x="4451069" y="4550399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2162" name="Google Shape;2162;p42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2163" name="Google Shape;2163;p42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4" name="Google Shape;2164;p42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5" name="Google Shape;2165;p42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6" name="Google Shape;2166;p42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167" name="Google Shape;2167;p42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168" name="Google Shape;2168;p42"/>
              <p:cNvCxnSpPr>
                <a:endCxn id="2167" idx="3"/>
              </p:cNvCxnSpPr>
              <p:nvPr/>
            </p:nvCxnSpPr>
            <p:spPr>
              <a:xfrm rot="10800000">
                <a:off x="4840825" y="5073019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2169" name="Google Shape;2169;p42"/>
              <p:cNvCxnSpPr>
                <a:stCxn id="2167" idx="0"/>
              </p:cNvCxnSpPr>
              <p:nvPr/>
            </p:nvCxnSpPr>
            <p:spPr>
              <a:xfrm>
                <a:off x="4973689" y="4683263"/>
                <a:ext cx="34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</p:grpSp>
      <p:grpSp>
        <p:nvGrpSpPr>
          <p:cNvPr id="2170" name="Google Shape;2170;p42"/>
          <p:cNvGrpSpPr/>
          <p:nvPr/>
        </p:nvGrpSpPr>
        <p:grpSpPr>
          <a:xfrm>
            <a:off x="5341337" y="911028"/>
            <a:ext cx="701283" cy="3606656"/>
            <a:chOff x="4383340" y="1222898"/>
            <a:chExt cx="935044" cy="4808874"/>
          </a:xfrm>
        </p:grpSpPr>
        <p:sp>
          <p:nvSpPr>
            <p:cNvPr id="2171" name="Google Shape;2171;p42"/>
            <p:cNvSpPr txBox="1"/>
            <p:nvPr/>
          </p:nvSpPr>
          <p:spPr>
            <a:xfrm>
              <a:off x="4383340" y="5693218"/>
              <a:ext cx="9350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don’t</a:t>
              </a:r>
              <a:endParaRPr sz="1800"/>
            </a:p>
          </p:txBody>
        </p:sp>
        <p:grpSp>
          <p:nvGrpSpPr>
            <p:cNvPr id="2172" name="Google Shape;2172;p42"/>
            <p:cNvGrpSpPr/>
            <p:nvPr/>
          </p:nvGrpSpPr>
          <p:grpSpPr>
            <a:xfrm>
              <a:off x="4537624" y="1222898"/>
              <a:ext cx="610637" cy="4459721"/>
              <a:chOff x="4537624" y="1222898"/>
              <a:chExt cx="610637" cy="4459721"/>
            </a:xfrm>
          </p:grpSpPr>
          <p:grpSp>
            <p:nvGrpSpPr>
              <p:cNvPr id="2173" name="Google Shape;2173;p42"/>
              <p:cNvGrpSpPr/>
              <p:nvPr/>
            </p:nvGrpSpPr>
            <p:grpSpPr>
              <a:xfrm rot="5400000">
                <a:off x="4451069" y="4550399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2174" name="Google Shape;2174;p42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2175" name="Google Shape;2175;p42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76" name="Google Shape;2176;p42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77" name="Google Shape;2177;p42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78" name="Google Shape;2178;p42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115" name="Google Shape;2115;p42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179" name="Google Shape;2179;p42"/>
              <p:cNvCxnSpPr>
                <a:endCxn id="2115" idx="3"/>
              </p:cNvCxnSpPr>
              <p:nvPr/>
            </p:nvCxnSpPr>
            <p:spPr>
              <a:xfrm rot="10800000">
                <a:off x="4840825" y="5073019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2180" name="Google Shape;2180;p42"/>
              <p:cNvCxnSpPr>
                <a:stCxn id="2115" idx="1"/>
                <a:endCxn id="2145" idx="2"/>
              </p:cNvCxnSpPr>
              <p:nvPr/>
            </p:nvCxnSpPr>
            <p:spPr>
              <a:xfrm rot="10800000">
                <a:off x="4839025" y="2247207"/>
                <a:ext cx="1800" cy="2046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2145" name="Google Shape;2145;p42"/>
              <p:cNvSpPr txBox="1"/>
              <p:nvPr/>
            </p:nvSpPr>
            <p:spPr>
              <a:xfrm>
                <a:off x="4608871" y="1908680"/>
                <a:ext cx="460230" cy="338554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14811"/>
                </a:stretch>
              </a:blipFill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r>
                  <a:rPr lang="en-US" sz="135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800"/>
              </a:p>
            </p:txBody>
          </p:sp>
          <p:cxnSp>
            <p:nvCxnSpPr>
              <p:cNvPr id="2181" name="Google Shape;2181;p42"/>
              <p:cNvCxnSpPr>
                <a:stCxn id="2145" idx="0"/>
                <a:endCxn id="2182" idx="2"/>
              </p:cNvCxnSpPr>
              <p:nvPr/>
            </p:nvCxnSpPr>
            <p:spPr>
              <a:xfrm rot="10800000" flipH="1">
                <a:off x="4838986" y="1561580"/>
                <a:ext cx="3900" cy="347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2182" name="Google Shape;2182;p42"/>
              <p:cNvSpPr txBox="1"/>
              <p:nvPr/>
            </p:nvSpPr>
            <p:spPr>
              <a:xfrm>
                <a:off x="4537624" y="1222898"/>
                <a:ext cx="61063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pPr algn="ctr"/>
                <a:r>
                  <a:rPr lang="en-US" sz="1200" i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have</a:t>
                </a:r>
                <a:endParaRPr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83" name="Google Shape;2183;p42"/>
          <p:cNvSpPr/>
          <p:nvPr/>
        </p:nvSpPr>
        <p:spPr>
          <a:xfrm rot="10800000">
            <a:off x="7602318" y="3243816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62836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p43"/>
          <p:cNvSpPr txBox="1">
            <a:spLocks noGrp="1"/>
          </p:cNvSpPr>
          <p:nvPr>
            <p:ph type="title"/>
          </p:nvPr>
        </p:nvSpPr>
        <p:spPr>
          <a:xfrm>
            <a:off x="613611" y="0"/>
            <a:ext cx="4544268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Sequence-to-sequence with attention</a:t>
            </a:r>
            <a:endParaRPr dirty="0"/>
          </a:p>
        </p:txBody>
      </p:sp>
      <p:sp>
        <p:nvSpPr>
          <p:cNvPr id="2190" name="Google Shape;2190;p43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42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1" name="Google Shape;2191;p43"/>
          <p:cNvGrpSpPr/>
          <p:nvPr/>
        </p:nvGrpSpPr>
        <p:grpSpPr>
          <a:xfrm rot="5400000">
            <a:off x="1694952" y="3419376"/>
            <a:ext cx="584634" cy="199296"/>
            <a:chOff x="6223414" y="4018641"/>
            <a:chExt cx="776477" cy="280329"/>
          </a:xfrm>
        </p:grpSpPr>
        <p:grpSp>
          <p:nvGrpSpPr>
            <p:cNvPr id="2192" name="Google Shape;2192;p43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193" name="Google Shape;2193;p43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4" name="Google Shape;2194;p43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5" name="Google Shape;2195;p43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6" name="Google Shape;2196;p43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97" name="Google Shape;2197;p43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98" name="Google Shape;2198;p43"/>
          <p:cNvCxnSpPr>
            <a:endCxn id="2197" idx="3"/>
          </p:cNvCxnSpPr>
          <p:nvPr/>
        </p:nvCxnSpPr>
        <p:spPr>
          <a:xfrm rot="10800000">
            <a:off x="1987269" y="381134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99" name="Google Shape;2199;p43"/>
          <p:cNvCxnSpPr>
            <a:stCxn id="2197" idx="0"/>
          </p:cNvCxnSpPr>
          <p:nvPr/>
        </p:nvCxnSpPr>
        <p:spPr>
          <a:xfrm>
            <a:off x="2086917" y="351902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200" name="Google Shape;2200;p43"/>
          <p:cNvSpPr txBox="1"/>
          <p:nvPr/>
        </p:nvSpPr>
        <p:spPr>
          <a:xfrm rot="-5400000">
            <a:off x="1006280" y="3270078"/>
            <a:ext cx="71664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</a:t>
            </a:r>
            <a:b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endParaRPr sz="1800"/>
          </a:p>
        </p:txBody>
      </p:sp>
      <p:sp>
        <p:nvSpPr>
          <p:cNvPr id="2201" name="Google Shape;2201;p43"/>
          <p:cNvSpPr txBox="1"/>
          <p:nvPr/>
        </p:nvSpPr>
        <p:spPr>
          <a:xfrm>
            <a:off x="1828381" y="4751486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2202" name="Google Shape;2202;p43"/>
          <p:cNvSpPr/>
          <p:nvPr/>
        </p:nvSpPr>
        <p:spPr>
          <a:xfrm rot="-5400000">
            <a:off x="2690565" y="3759524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03" name="Google Shape;2203;p43"/>
          <p:cNvSpPr/>
          <p:nvPr/>
        </p:nvSpPr>
        <p:spPr>
          <a:xfrm>
            <a:off x="1605396" y="3226707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04" name="Google Shape;2204;p43"/>
          <p:cNvSpPr txBox="1"/>
          <p:nvPr/>
        </p:nvSpPr>
        <p:spPr>
          <a:xfrm>
            <a:off x="3982754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5" name="Google Shape;2205;p43"/>
          <p:cNvSpPr txBox="1"/>
          <p:nvPr/>
        </p:nvSpPr>
        <p:spPr>
          <a:xfrm>
            <a:off x="1838404" y="4276680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6" name="Google Shape;2206;p43"/>
          <p:cNvGrpSpPr/>
          <p:nvPr/>
        </p:nvGrpSpPr>
        <p:grpSpPr>
          <a:xfrm rot="5400000">
            <a:off x="2150661" y="3414952"/>
            <a:ext cx="584634" cy="199296"/>
            <a:chOff x="6223414" y="4018641"/>
            <a:chExt cx="776477" cy="280329"/>
          </a:xfrm>
        </p:grpSpPr>
        <p:grpSp>
          <p:nvGrpSpPr>
            <p:cNvPr id="2207" name="Google Shape;2207;p43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208" name="Google Shape;2208;p43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9" name="Google Shape;2209;p43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0" name="Google Shape;2210;p43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1" name="Google Shape;2211;p43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12" name="Google Shape;2212;p43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13" name="Google Shape;2213;p43"/>
          <p:cNvCxnSpPr>
            <a:endCxn id="2212" idx="3"/>
          </p:cNvCxnSpPr>
          <p:nvPr/>
        </p:nvCxnSpPr>
        <p:spPr>
          <a:xfrm rot="10800000">
            <a:off x="2442978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14" name="Google Shape;2214;p43"/>
          <p:cNvCxnSpPr>
            <a:stCxn id="2212" idx="0"/>
          </p:cNvCxnSpPr>
          <p:nvPr/>
        </p:nvCxnSpPr>
        <p:spPr>
          <a:xfrm>
            <a:off x="2542626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215" name="Google Shape;2215;p43"/>
          <p:cNvGrpSpPr/>
          <p:nvPr/>
        </p:nvGrpSpPr>
        <p:grpSpPr>
          <a:xfrm rot="5400000">
            <a:off x="2596847" y="3414952"/>
            <a:ext cx="584634" cy="199296"/>
            <a:chOff x="6223414" y="4018641"/>
            <a:chExt cx="776477" cy="280329"/>
          </a:xfrm>
        </p:grpSpPr>
        <p:grpSp>
          <p:nvGrpSpPr>
            <p:cNvPr id="2216" name="Google Shape;2216;p43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217" name="Google Shape;2217;p43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8" name="Google Shape;2218;p43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9" name="Google Shape;2219;p43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0" name="Google Shape;2220;p43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21" name="Google Shape;2221;p43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22" name="Google Shape;2222;p43"/>
          <p:cNvCxnSpPr>
            <a:endCxn id="2221" idx="3"/>
          </p:cNvCxnSpPr>
          <p:nvPr/>
        </p:nvCxnSpPr>
        <p:spPr>
          <a:xfrm rot="10800000">
            <a:off x="2889164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23" name="Google Shape;2223;p43"/>
          <p:cNvCxnSpPr>
            <a:stCxn id="2221" idx="0"/>
          </p:cNvCxnSpPr>
          <p:nvPr/>
        </p:nvCxnSpPr>
        <p:spPr>
          <a:xfrm>
            <a:off x="2988812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224" name="Google Shape;2224;p43"/>
          <p:cNvGrpSpPr/>
          <p:nvPr/>
        </p:nvGrpSpPr>
        <p:grpSpPr>
          <a:xfrm rot="5400000">
            <a:off x="3054662" y="3412799"/>
            <a:ext cx="584634" cy="199296"/>
            <a:chOff x="6223414" y="4018641"/>
            <a:chExt cx="776477" cy="280329"/>
          </a:xfrm>
        </p:grpSpPr>
        <p:grpSp>
          <p:nvGrpSpPr>
            <p:cNvPr id="2225" name="Google Shape;2225;p43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226" name="Google Shape;2226;p43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7" name="Google Shape;2227;p43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8" name="Google Shape;2228;p43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9" name="Google Shape;2229;p43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30" name="Google Shape;2230;p43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31" name="Google Shape;2231;p43"/>
          <p:cNvCxnSpPr>
            <a:endCxn id="2230" idx="3"/>
          </p:cNvCxnSpPr>
          <p:nvPr/>
        </p:nvCxnSpPr>
        <p:spPr>
          <a:xfrm rot="10800000">
            <a:off x="334697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32" name="Google Shape;2232;p43"/>
          <p:cNvCxnSpPr>
            <a:stCxn id="2230" idx="0"/>
            <a:endCxn id="2233" idx="2"/>
          </p:cNvCxnSpPr>
          <p:nvPr/>
        </p:nvCxnSpPr>
        <p:spPr>
          <a:xfrm>
            <a:off x="3446627" y="3512447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234" name="Google Shape;2234;p43"/>
          <p:cNvGrpSpPr/>
          <p:nvPr/>
        </p:nvGrpSpPr>
        <p:grpSpPr>
          <a:xfrm rot="5400000">
            <a:off x="4033550" y="3412799"/>
            <a:ext cx="584634" cy="199296"/>
            <a:chOff x="6223414" y="4018641"/>
            <a:chExt cx="776477" cy="280329"/>
          </a:xfrm>
        </p:grpSpPr>
        <p:grpSp>
          <p:nvGrpSpPr>
            <p:cNvPr id="2235" name="Google Shape;2235;p43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236" name="Google Shape;2236;p43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7" name="Google Shape;2237;p43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8" name="Google Shape;2238;p43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9" name="Google Shape;2239;p43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33" name="Google Shape;2233;p43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40" name="Google Shape;2240;p43"/>
          <p:cNvCxnSpPr>
            <a:endCxn id="2233" idx="3"/>
          </p:cNvCxnSpPr>
          <p:nvPr/>
        </p:nvCxnSpPr>
        <p:spPr>
          <a:xfrm rot="10800000">
            <a:off x="4325867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41" name="Google Shape;2241;p43"/>
          <p:cNvCxnSpPr>
            <a:stCxn id="2233" idx="0"/>
          </p:cNvCxnSpPr>
          <p:nvPr/>
        </p:nvCxnSpPr>
        <p:spPr>
          <a:xfrm>
            <a:off x="4425515" y="3512447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242" name="Google Shape;2242;p43"/>
          <p:cNvSpPr txBox="1"/>
          <p:nvPr/>
        </p:nvSpPr>
        <p:spPr>
          <a:xfrm rot="5400000">
            <a:off x="7302216" y="3397634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cxnSp>
        <p:nvCxnSpPr>
          <p:cNvPr id="2243" name="Google Shape;2243;p43"/>
          <p:cNvCxnSpPr>
            <a:stCxn id="2197" idx="1"/>
            <a:endCxn id="2244" idx="2"/>
          </p:cNvCxnSpPr>
          <p:nvPr/>
        </p:nvCxnSpPr>
        <p:spPr>
          <a:xfrm rot="10800000" flipH="1">
            <a:off x="1987269" y="2720457"/>
            <a:ext cx="5175" cy="506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45" name="Google Shape;2245;p43"/>
          <p:cNvCxnSpPr>
            <a:stCxn id="2212" idx="1"/>
            <a:endCxn id="2246" idx="2"/>
          </p:cNvCxnSpPr>
          <p:nvPr/>
        </p:nvCxnSpPr>
        <p:spPr>
          <a:xfrm rot="10800000" flipH="1">
            <a:off x="2442978" y="2720533"/>
            <a:ext cx="2925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47" name="Google Shape;2247;p43"/>
          <p:cNvCxnSpPr>
            <a:stCxn id="2221" idx="1"/>
            <a:endCxn id="2248" idx="2"/>
          </p:cNvCxnSpPr>
          <p:nvPr/>
        </p:nvCxnSpPr>
        <p:spPr>
          <a:xfrm rot="10800000" flipH="1">
            <a:off x="2889164" y="2720533"/>
            <a:ext cx="9900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49" name="Google Shape;2249;p43"/>
          <p:cNvCxnSpPr>
            <a:stCxn id="2230" idx="1"/>
            <a:endCxn id="2250" idx="2"/>
          </p:cNvCxnSpPr>
          <p:nvPr/>
        </p:nvCxnSpPr>
        <p:spPr>
          <a:xfrm rot="10800000" flipH="1">
            <a:off x="3346979" y="2720630"/>
            <a:ext cx="5400" cy="499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244" name="Google Shape;2244;p43"/>
          <p:cNvSpPr/>
          <p:nvPr/>
        </p:nvSpPr>
        <p:spPr>
          <a:xfrm rot="-5400000">
            <a:off x="1952676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43"/>
          <p:cNvSpPr/>
          <p:nvPr/>
        </p:nvSpPr>
        <p:spPr>
          <a:xfrm rot="-5400000">
            <a:off x="2405943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43"/>
          <p:cNvSpPr/>
          <p:nvPr/>
        </p:nvSpPr>
        <p:spPr>
          <a:xfrm rot="-5400000">
            <a:off x="2859207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43"/>
          <p:cNvSpPr/>
          <p:nvPr/>
        </p:nvSpPr>
        <p:spPr>
          <a:xfrm rot="-5400000">
            <a:off x="3312474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1" name="Google Shape;2251;p43"/>
          <p:cNvCxnSpPr>
            <a:stCxn id="2252" idx="1"/>
            <a:endCxn id="2250" idx="4"/>
          </p:cNvCxnSpPr>
          <p:nvPr/>
        </p:nvCxnSpPr>
        <p:spPr>
          <a:xfrm rot="10800000">
            <a:off x="3394482" y="2680733"/>
            <a:ext cx="2752650" cy="533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53" name="Google Shape;2253;p43"/>
          <p:cNvCxnSpPr>
            <a:stCxn id="2252" idx="1"/>
            <a:endCxn id="2248" idx="4"/>
          </p:cNvCxnSpPr>
          <p:nvPr/>
        </p:nvCxnSpPr>
        <p:spPr>
          <a:xfrm rot="10800000">
            <a:off x="2941332" y="2680733"/>
            <a:ext cx="3205800" cy="533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54" name="Google Shape;2254;p43"/>
          <p:cNvCxnSpPr>
            <a:stCxn id="2252" idx="1"/>
            <a:endCxn id="2246" idx="3"/>
          </p:cNvCxnSpPr>
          <p:nvPr/>
        </p:nvCxnSpPr>
        <p:spPr>
          <a:xfrm rot="10800000">
            <a:off x="2475582" y="2708858"/>
            <a:ext cx="3671550" cy="5051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55" name="Google Shape;2255;p43"/>
          <p:cNvCxnSpPr>
            <a:stCxn id="2252" idx="1"/>
            <a:endCxn id="2244" idx="3"/>
          </p:cNvCxnSpPr>
          <p:nvPr/>
        </p:nvCxnSpPr>
        <p:spPr>
          <a:xfrm rot="10800000">
            <a:off x="2022432" y="2708858"/>
            <a:ext cx="4124700" cy="5051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256" name="Google Shape;2256;p43"/>
          <p:cNvSpPr txBox="1"/>
          <p:nvPr/>
        </p:nvSpPr>
        <p:spPr>
          <a:xfrm rot="-5400000">
            <a:off x="902693" y="2470449"/>
            <a:ext cx="92381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scores</a:t>
            </a:r>
            <a:endParaRPr sz="1800"/>
          </a:p>
        </p:txBody>
      </p:sp>
      <p:sp>
        <p:nvSpPr>
          <p:cNvPr id="2257" name="Google Shape;2257;p43"/>
          <p:cNvSpPr/>
          <p:nvPr/>
        </p:nvSpPr>
        <p:spPr>
          <a:xfrm>
            <a:off x="1602579" y="2456535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2258" name="Google Shape;2258;p43"/>
          <p:cNvCxnSpPr/>
          <p:nvPr/>
        </p:nvCxnSpPr>
        <p:spPr>
          <a:xfrm>
            <a:off x="1880570" y="2076230"/>
            <a:ext cx="1731363" cy="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9" name="Google Shape;2259;p43"/>
          <p:cNvSpPr/>
          <p:nvPr/>
        </p:nvSpPr>
        <p:spPr>
          <a:xfrm>
            <a:off x="1943172" y="2035014"/>
            <a:ext cx="102122" cy="41225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43"/>
          <p:cNvSpPr/>
          <p:nvPr/>
        </p:nvSpPr>
        <p:spPr>
          <a:xfrm>
            <a:off x="2396018" y="2035015"/>
            <a:ext cx="106474" cy="3428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43"/>
          <p:cNvSpPr/>
          <p:nvPr/>
        </p:nvSpPr>
        <p:spPr>
          <a:xfrm>
            <a:off x="2848859" y="1821865"/>
            <a:ext cx="92415" cy="24743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43"/>
          <p:cNvSpPr/>
          <p:nvPr/>
        </p:nvSpPr>
        <p:spPr>
          <a:xfrm>
            <a:off x="3301713" y="1821865"/>
            <a:ext cx="92834" cy="24743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43"/>
          <p:cNvSpPr txBox="1"/>
          <p:nvPr/>
        </p:nvSpPr>
        <p:spPr>
          <a:xfrm rot="-5400000">
            <a:off x="874151" y="1599411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distribution</a:t>
            </a:r>
            <a:endParaRPr sz="1800"/>
          </a:p>
        </p:txBody>
      </p:sp>
      <p:sp>
        <p:nvSpPr>
          <p:cNvPr id="2264" name="Google Shape;2264;p43"/>
          <p:cNvSpPr/>
          <p:nvPr/>
        </p:nvSpPr>
        <p:spPr>
          <a:xfrm>
            <a:off x="1611978" y="1607340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2265" name="Google Shape;2265;p43"/>
          <p:cNvCxnSpPr>
            <a:endCxn id="2259" idx="2"/>
          </p:cNvCxnSpPr>
          <p:nvPr/>
        </p:nvCxnSpPr>
        <p:spPr>
          <a:xfrm rot="10800000" flipH="1">
            <a:off x="1992432" y="2076238"/>
            <a:ext cx="1800" cy="5645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66" name="Google Shape;2266;p43"/>
          <p:cNvCxnSpPr>
            <a:endCxn id="2260" idx="2"/>
          </p:cNvCxnSpPr>
          <p:nvPr/>
        </p:nvCxnSpPr>
        <p:spPr>
          <a:xfrm rot="10800000" flipH="1">
            <a:off x="2445879" y="2069303"/>
            <a:ext cx="3375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67" name="Google Shape;2267;p43"/>
          <p:cNvCxnSpPr>
            <a:endCxn id="2261" idx="2"/>
          </p:cNvCxnSpPr>
          <p:nvPr/>
        </p:nvCxnSpPr>
        <p:spPr>
          <a:xfrm rot="10800000">
            <a:off x="2895067" y="2069303"/>
            <a:ext cx="4050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68" name="Google Shape;2268;p43"/>
          <p:cNvCxnSpPr>
            <a:endCxn id="2262" idx="2"/>
          </p:cNvCxnSpPr>
          <p:nvPr/>
        </p:nvCxnSpPr>
        <p:spPr>
          <a:xfrm rot="10800000">
            <a:off x="3348129" y="2069303"/>
            <a:ext cx="4275" cy="571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69" name="Google Shape;2269;p43"/>
          <p:cNvCxnSpPr>
            <a:stCxn id="2259" idx="0"/>
            <a:endCxn id="2270" idx="3"/>
          </p:cNvCxnSpPr>
          <p:nvPr/>
        </p:nvCxnSpPr>
        <p:spPr>
          <a:xfrm rot="10800000" flipH="1">
            <a:off x="1994232" y="1413563"/>
            <a:ext cx="767475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2271" name="Google Shape;2271;p43"/>
          <p:cNvCxnSpPr>
            <a:stCxn id="2260" idx="0"/>
            <a:endCxn id="2270" idx="3"/>
          </p:cNvCxnSpPr>
          <p:nvPr/>
        </p:nvCxnSpPr>
        <p:spPr>
          <a:xfrm rot="10800000" flipH="1">
            <a:off x="2449254" y="1413563"/>
            <a:ext cx="312300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2272" name="Google Shape;2272;p43"/>
          <p:cNvCxnSpPr>
            <a:stCxn id="2261" idx="0"/>
            <a:endCxn id="2270" idx="3"/>
          </p:cNvCxnSpPr>
          <p:nvPr/>
        </p:nvCxnSpPr>
        <p:spPr>
          <a:xfrm rot="10800000">
            <a:off x="2761642" y="1413488"/>
            <a:ext cx="133425" cy="4083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2273" name="Google Shape;2273;p43"/>
          <p:cNvCxnSpPr>
            <a:stCxn id="2262" idx="0"/>
            <a:endCxn id="2270" idx="3"/>
          </p:cNvCxnSpPr>
          <p:nvPr/>
        </p:nvCxnSpPr>
        <p:spPr>
          <a:xfrm rot="10800000">
            <a:off x="2761554" y="1413488"/>
            <a:ext cx="586575" cy="4083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grpSp>
        <p:nvGrpSpPr>
          <p:cNvPr id="2274" name="Google Shape;2274;p43"/>
          <p:cNvGrpSpPr/>
          <p:nvPr/>
        </p:nvGrpSpPr>
        <p:grpSpPr>
          <a:xfrm rot="5400000">
            <a:off x="2469334" y="1021499"/>
            <a:ext cx="584634" cy="199296"/>
            <a:chOff x="6223414" y="4018641"/>
            <a:chExt cx="776477" cy="280329"/>
          </a:xfrm>
        </p:grpSpPr>
        <p:grpSp>
          <p:nvGrpSpPr>
            <p:cNvPr id="2275" name="Google Shape;2275;p43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276" name="Google Shape;2276;p43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7" name="Google Shape;2277;p43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8" name="Google Shape;2278;p43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9" name="Google Shape;2279;p43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70" name="Google Shape;2270;p43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3A87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0" name="Google Shape;2280;p43"/>
          <p:cNvSpPr txBox="1"/>
          <p:nvPr/>
        </p:nvSpPr>
        <p:spPr>
          <a:xfrm>
            <a:off x="2776296" y="866589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output</a:t>
            </a:r>
            <a:endParaRPr sz="1800"/>
          </a:p>
        </p:txBody>
      </p:sp>
      <p:cxnSp>
        <p:nvCxnSpPr>
          <p:cNvPr id="2281" name="Google Shape;2281;p43"/>
          <p:cNvCxnSpPr>
            <a:endCxn id="2282" idx="1"/>
          </p:cNvCxnSpPr>
          <p:nvPr/>
        </p:nvCxnSpPr>
        <p:spPr>
          <a:xfrm>
            <a:off x="2867267" y="1341271"/>
            <a:ext cx="3105900" cy="2110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283" name="Google Shape;2283;p43"/>
          <p:cNvGrpSpPr/>
          <p:nvPr/>
        </p:nvGrpSpPr>
        <p:grpSpPr>
          <a:xfrm>
            <a:off x="4430514" y="3220139"/>
            <a:ext cx="701287" cy="1303699"/>
            <a:chOff x="4383340" y="4293507"/>
            <a:chExt cx="935049" cy="1738265"/>
          </a:xfrm>
        </p:grpSpPr>
        <p:sp>
          <p:nvSpPr>
            <p:cNvPr id="2284" name="Google Shape;2284;p43"/>
            <p:cNvSpPr txBox="1"/>
            <p:nvPr/>
          </p:nvSpPr>
          <p:spPr>
            <a:xfrm>
              <a:off x="4383340" y="5693218"/>
              <a:ext cx="9350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endParaRPr sz="1800"/>
            </a:p>
          </p:txBody>
        </p:sp>
        <p:grpSp>
          <p:nvGrpSpPr>
            <p:cNvPr id="2285" name="Google Shape;2285;p43"/>
            <p:cNvGrpSpPr/>
            <p:nvPr/>
          </p:nvGrpSpPr>
          <p:grpSpPr>
            <a:xfrm>
              <a:off x="4707961" y="4293507"/>
              <a:ext cx="610428" cy="1389112"/>
              <a:chOff x="4707961" y="4293507"/>
              <a:chExt cx="610428" cy="1389112"/>
            </a:xfrm>
          </p:grpSpPr>
          <p:grpSp>
            <p:nvGrpSpPr>
              <p:cNvPr id="2286" name="Google Shape;2286;p43"/>
              <p:cNvGrpSpPr/>
              <p:nvPr/>
            </p:nvGrpSpPr>
            <p:grpSpPr>
              <a:xfrm rot="5400000">
                <a:off x="4451069" y="4550399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2287" name="Google Shape;2287;p43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2288" name="Google Shape;2288;p43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9" name="Google Shape;2289;p43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0" name="Google Shape;2290;p43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1" name="Google Shape;2291;p43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292" name="Google Shape;2292;p43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93" name="Google Shape;2293;p43"/>
              <p:cNvCxnSpPr>
                <a:endCxn id="2292" idx="3"/>
              </p:cNvCxnSpPr>
              <p:nvPr/>
            </p:nvCxnSpPr>
            <p:spPr>
              <a:xfrm rot="10800000">
                <a:off x="4840825" y="5073019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2294" name="Google Shape;2294;p43"/>
              <p:cNvCxnSpPr>
                <a:stCxn id="2292" idx="0"/>
              </p:cNvCxnSpPr>
              <p:nvPr/>
            </p:nvCxnSpPr>
            <p:spPr>
              <a:xfrm>
                <a:off x="4973689" y="4683263"/>
                <a:ext cx="34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</p:grpSp>
      <p:grpSp>
        <p:nvGrpSpPr>
          <p:cNvPr id="2295" name="Google Shape;2295;p43"/>
          <p:cNvGrpSpPr/>
          <p:nvPr/>
        </p:nvGrpSpPr>
        <p:grpSpPr>
          <a:xfrm>
            <a:off x="4889466" y="3217064"/>
            <a:ext cx="701287" cy="1303699"/>
            <a:chOff x="4383340" y="4293507"/>
            <a:chExt cx="935049" cy="1738265"/>
          </a:xfrm>
        </p:grpSpPr>
        <p:sp>
          <p:nvSpPr>
            <p:cNvPr id="2296" name="Google Shape;2296;p43"/>
            <p:cNvSpPr txBox="1"/>
            <p:nvPr/>
          </p:nvSpPr>
          <p:spPr>
            <a:xfrm>
              <a:off x="4383340" y="5693218"/>
              <a:ext cx="9350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poor</a:t>
              </a:r>
              <a:endParaRPr sz="1800"/>
            </a:p>
          </p:txBody>
        </p:sp>
        <p:grpSp>
          <p:nvGrpSpPr>
            <p:cNvPr id="2297" name="Google Shape;2297;p43"/>
            <p:cNvGrpSpPr/>
            <p:nvPr/>
          </p:nvGrpSpPr>
          <p:grpSpPr>
            <a:xfrm>
              <a:off x="4707961" y="4293507"/>
              <a:ext cx="610428" cy="1389112"/>
              <a:chOff x="4707961" y="4293507"/>
              <a:chExt cx="610428" cy="1389112"/>
            </a:xfrm>
          </p:grpSpPr>
          <p:grpSp>
            <p:nvGrpSpPr>
              <p:cNvPr id="2298" name="Google Shape;2298;p43"/>
              <p:cNvGrpSpPr/>
              <p:nvPr/>
            </p:nvGrpSpPr>
            <p:grpSpPr>
              <a:xfrm rot="5400000">
                <a:off x="4451069" y="4550399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2299" name="Google Shape;2299;p43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2300" name="Google Shape;2300;p43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1" name="Google Shape;2301;p43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2" name="Google Shape;2302;p43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3" name="Google Shape;2303;p43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304" name="Google Shape;2304;p43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305" name="Google Shape;2305;p43"/>
              <p:cNvCxnSpPr>
                <a:endCxn id="2304" idx="3"/>
              </p:cNvCxnSpPr>
              <p:nvPr/>
            </p:nvCxnSpPr>
            <p:spPr>
              <a:xfrm rot="10800000">
                <a:off x="4840825" y="5073019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2306" name="Google Shape;2306;p43"/>
              <p:cNvCxnSpPr>
                <a:stCxn id="2304" idx="0"/>
              </p:cNvCxnSpPr>
              <p:nvPr/>
            </p:nvCxnSpPr>
            <p:spPr>
              <a:xfrm>
                <a:off x="4973689" y="4683263"/>
                <a:ext cx="34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</p:grpSp>
      <p:grpSp>
        <p:nvGrpSpPr>
          <p:cNvPr id="2307" name="Google Shape;2307;p43"/>
          <p:cNvGrpSpPr/>
          <p:nvPr/>
        </p:nvGrpSpPr>
        <p:grpSpPr>
          <a:xfrm>
            <a:off x="5804018" y="911028"/>
            <a:ext cx="701283" cy="3606656"/>
            <a:chOff x="4383340" y="1222898"/>
            <a:chExt cx="935044" cy="4808874"/>
          </a:xfrm>
        </p:grpSpPr>
        <p:sp>
          <p:nvSpPr>
            <p:cNvPr id="2308" name="Google Shape;2308;p43"/>
            <p:cNvSpPr txBox="1"/>
            <p:nvPr/>
          </p:nvSpPr>
          <p:spPr>
            <a:xfrm>
              <a:off x="4383340" y="5693218"/>
              <a:ext cx="9350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have</a:t>
              </a:r>
              <a:endParaRPr sz="1800"/>
            </a:p>
          </p:txBody>
        </p:sp>
        <p:grpSp>
          <p:nvGrpSpPr>
            <p:cNvPr id="2309" name="Google Shape;2309;p43"/>
            <p:cNvGrpSpPr/>
            <p:nvPr/>
          </p:nvGrpSpPr>
          <p:grpSpPr>
            <a:xfrm>
              <a:off x="4537624" y="1222898"/>
              <a:ext cx="610637" cy="4459721"/>
              <a:chOff x="4537624" y="1222898"/>
              <a:chExt cx="610637" cy="4459721"/>
            </a:xfrm>
          </p:grpSpPr>
          <p:grpSp>
            <p:nvGrpSpPr>
              <p:cNvPr id="2310" name="Google Shape;2310;p43"/>
              <p:cNvGrpSpPr/>
              <p:nvPr/>
            </p:nvGrpSpPr>
            <p:grpSpPr>
              <a:xfrm rot="5400000">
                <a:off x="4451069" y="4550399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2311" name="Google Shape;2311;p43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2312" name="Google Shape;2312;p43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13" name="Google Shape;2313;p43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14" name="Google Shape;2314;p43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15" name="Google Shape;2315;p43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252" name="Google Shape;2252;p43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316" name="Google Shape;2316;p43"/>
              <p:cNvCxnSpPr>
                <a:endCxn id="2252" idx="3"/>
              </p:cNvCxnSpPr>
              <p:nvPr/>
            </p:nvCxnSpPr>
            <p:spPr>
              <a:xfrm rot="10800000">
                <a:off x="4840825" y="5073019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2317" name="Google Shape;2317;p43"/>
              <p:cNvCxnSpPr>
                <a:stCxn id="2252" idx="1"/>
                <a:endCxn id="2282" idx="2"/>
              </p:cNvCxnSpPr>
              <p:nvPr/>
            </p:nvCxnSpPr>
            <p:spPr>
              <a:xfrm rot="10800000">
                <a:off x="4839025" y="2247207"/>
                <a:ext cx="1800" cy="2046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2282" name="Google Shape;2282;p43"/>
              <p:cNvSpPr txBox="1"/>
              <p:nvPr/>
            </p:nvSpPr>
            <p:spPr>
              <a:xfrm>
                <a:off x="4608871" y="1908680"/>
                <a:ext cx="460230" cy="338554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14811"/>
                </a:stretch>
              </a:blipFill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r>
                  <a:rPr lang="en-US" sz="135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800"/>
              </a:p>
            </p:txBody>
          </p:sp>
          <p:cxnSp>
            <p:nvCxnSpPr>
              <p:cNvPr id="2318" name="Google Shape;2318;p43"/>
              <p:cNvCxnSpPr>
                <a:stCxn id="2282" idx="0"/>
                <a:endCxn id="2319" idx="2"/>
              </p:cNvCxnSpPr>
              <p:nvPr/>
            </p:nvCxnSpPr>
            <p:spPr>
              <a:xfrm rot="10800000" flipH="1">
                <a:off x="4838986" y="1561580"/>
                <a:ext cx="3900" cy="347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2319" name="Google Shape;2319;p43"/>
              <p:cNvSpPr txBox="1"/>
              <p:nvPr/>
            </p:nvSpPr>
            <p:spPr>
              <a:xfrm>
                <a:off x="4537624" y="1222898"/>
                <a:ext cx="61063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pPr algn="ctr"/>
                <a:r>
                  <a:rPr lang="en-US" sz="1200" i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any</a:t>
                </a:r>
                <a:endParaRPr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0" name="Google Shape;2320;p43"/>
          <p:cNvGrpSpPr/>
          <p:nvPr/>
        </p:nvGrpSpPr>
        <p:grpSpPr>
          <a:xfrm>
            <a:off x="5341346" y="3213989"/>
            <a:ext cx="701287" cy="1303699"/>
            <a:chOff x="4383340" y="4293507"/>
            <a:chExt cx="935049" cy="1738265"/>
          </a:xfrm>
        </p:grpSpPr>
        <p:sp>
          <p:nvSpPr>
            <p:cNvPr id="2321" name="Google Shape;2321;p43"/>
            <p:cNvSpPr txBox="1"/>
            <p:nvPr/>
          </p:nvSpPr>
          <p:spPr>
            <a:xfrm>
              <a:off x="4383340" y="5693218"/>
              <a:ext cx="9350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don’t</a:t>
              </a:r>
              <a:endParaRPr sz="1800"/>
            </a:p>
          </p:txBody>
        </p:sp>
        <p:grpSp>
          <p:nvGrpSpPr>
            <p:cNvPr id="2322" name="Google Shape;2322;p43"/>
            <p:cNvGrpSpPr/>
            <p:nvPr/>
          </p:nvGrpSpPr>
          <p:grpSpPr>
            <a:xfrm>
              <a:off x="4707961" y="4293507"/>
              <a:ext cx="610428" cy="1389112"/>
              <a:chOff x="4707961" y="4293507"/>
              <a:chExt cx="610428" cy="1389112"/>
            </a:xfrm>
          </p:grpSpPr>
          <p:grpSp>
            <p:nvGrpSpPr>
              <p:cNvPr id="2323" name="Google Shape;2323;p43"/>
              <p:cNvGrpSpPr/>
              <p:nvPr/>
            </p:nvGrpSpPr>
            <p:grpSpPr>
              <a:xfrm rot="5400000">
                <a:off x="4451069" y="4550399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2324" name="Google Shape;2324;p43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2325" name="Google Shape;2325;p43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26" name="Google Shape;2326;p43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27" name="Google Shape;2327;p43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28" name="Google Shape;2328;p43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329" name="Google Shape;2329;p43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330" name="Google Shape;2330;p43"/>
              <p:cNvCxnSpPr>
                <a:endCxn id="2329" idx="3"/>
              </p:cNvCxnSpPr>
              <p:nvPr/>
            </p:nvCxnSpPr>
            <p:spPr>
              <a:xfrm rot="10800000">
                <a:off x="4840825" y="5073019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2331" name="Google Shape;2331;p43"/>
              <p:cNvCxnSpPr>
                <a:stCxn id="2329" idx="0"/>
              </p:cNvCxnSpPr>
              <p:nvPr/>
            </p:nvCxnSpPr>
            <p:spPr>
              <a:xfrm>
                <a:off x="4973689" y="4683263"/>
                <a:ext cx="34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</p:grpSp>
      <p:sp>
        <p:nvSpPr>
          <p:cNvPr id="2332" name="Google Shape;2332;p43"/>
          <p:cNvSpPr/>
          <p:nvPr/>
        </p:nvSpPr>
        <p:spPr>
          <a:xfrm rot="10800000">
            <a:off x="7602318" y="3243816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31548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44"/>
          <p:cNvSpPr txBox="1">
            <a:spLocks noGrp="1"/>
          </p:cNvSpPr>
          <p:nvPr>
            <p:ph type="title"/>
          </p:nvPr>
        </p:nvSpPr>
        <p:spPr>
          <a:xfrm>
            <a:off x="606392" y="0"/>
            <a:ext cx="4551487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Sequence-to-sequence with attention</a:t>
            </a:r>
            <a:endParaRPr/>
          </a:p>
        </p:txBody>
      </p:sp>
      <p:sp>
        <p:nvSpPr>
          <p:cNvPr id="2339" name="Google Shape;2339;p44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43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0" name="Google Shape;2340;p44"/>
          <p:cNvGrpSpPr/>
          <p:nvPr/>
        </p:nvGrpSpPr>
        <p:grpSpPr>
          <a:xfrm rot="5400000">
            <a:off x="1694952" y="3419376"/>
            <a:ext cx="584634" cy="199296"/>
            <a:chOff x="6223414" y="4018641"/>
            <a:chExt cx="776477" cy="280329"/>
          </a:xfrm>
        </p:grpSpPr>
        <p:grpSp>
          <p:nvGrpSpPr>
            <p:cNvPr id="2341" name="Google Shape;2341;p4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342" name="Google Shape;2342;p4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3" name="Google Shape;2343;p4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4" name="Google Shape;2344;p4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5" name="Google Shape;2345;p4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6" name="Google Shape;2346;p4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47" name="Google Shape;2347;p44"/>
          <p:cNvCxnSpPr>
            <a:endCxn id="2346" idx="3"/>
          </p:cNvCxnSpPr>
          <p:nvPr/>
        </p:nvCxnSpPr>
        <p:spPr>
          <a:xfrm rot="10800000">
            <a:off x="1987269" y="3811341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48" name="Google Shape;2348;p44"/>
          <p:cNvCxnSpPr>
            <a:stCxn id="2346" idx="0"/>
          </p:cNvCxnSpPr>
          <p:nvPr/>
        </p:nvCxnSpPr>
        <p:spPr>
          <a:xfrm>
            <a:off x="2086917" y="3519024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49" name="Google Shape;2349;p44"/>
          <p:cNvSpPr txBox="1"/>
          <p:nvPr/>
        </p:nvSpPr>
        <p:spPr>
          <a:xfrm rot="-5400000">
            <a:off x="1006280" y="3270078"/>
            <a:ext cx="71664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Encoder </a:t>
            </a:r>
            <a:b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endParaRPr sz="1800"/>
          </a:p>
        </p:txBody>
      </p:sp>
      <p:sp>
        <p:nvSpPr>
          <p:cNvPr id="2350" name="Google Shape;2350;p44"/>
          <p:cNvSpPr txBox="1"/>
          <p:nvPr/>
        </p:nvSpPr>
        <p:spPr>
          <a:xfrm>
            <a:off x="1828381" y="4751486"/>
            <a:ext cx="1945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sentence (input)</a:t>
            </a:r>
            <a:endParaRPr sz="1800"/>
          </a:p>
        </p:txBody>
      </p:sp>
      <p:sp>
        <p:nvSpPr>
          <p:cNvPr id="2351" name="Google Shape;2351;p44"/>
          <p:cNvSpPr/>
          <p:nvPr/>
        </p:nvSpPr>
        <p:spPr>
          <a:xfrm rot="-5400000">
            <a:off x="2690565" y="3759524"/>
            <a:ext cx="203273" cy="1825912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accent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352" name="Google Shape;2352;p44"/>
          <p:cNvSpPr/>
          <p:nvPr/>
        </p:nvSpPr>
        <p:spPr>
          <a:xfrm>
            <a:off x="1605396" y="3226707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353" name="Google Shape;2353;p44"/>
          <p:cNvSpPr txBox="1"/>
          <p:nvPr/>
        </p:nvSpPr>
        <p:spPr>
          <a:xfrm>
            <a:off x="3982754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&lt;START&gt;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p44"/>
          <p:cNvSpPr txBox="1"/>
          <p:nvPr/>
        </p:nvSpPr>
        <p:spPr>
          <a:xfrm>
            <a:off x="1838404" y="4276680"/>
            <a:ext cx="193551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   pauvres  sont   démunis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55" name="Google Shape;2355;p44"/>
          <p:cNvGrpSpPr/>
          <p:nvPr/>
        </p:nvGrpSpPr>
        <p:grpSpPr>
          <a:xfrm rot="5400000">
            <a:off x="2150661" y="3414952"/>
            <a:ext cx="584634" cy="199296"/>
            <a:chOff x="6223414" y="4018641"/>
            <a:chExt cx="776477" cy="280329"/>
          </a:xfrm>
        </p:grpSpPr>
        <p:grpSp>
          <p:nvGrpSpPr>
            <p:cNvPr id="2356" name="Google Shape;2356;p4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357" name="Google Shape;2357;p4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8" name="Google Shape;2358;p4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9" name="Google Shape;2359;p4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0" name="Google Shape;2360;p4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61" name="Google Shape;2361;p4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62" name="Google Shape;2362;p44"/>
          <p:cNvCxnSpPr>
            <a:endCxn id="2361" idx="3"/>
          </p:cNvCxnSpPr>
          <p:nvPr/>
        </p:nvCxnSpPr>
        <p:spPr>
          <a:xfrm rot="10800000">
            <a:off x="2442978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63" name="Google Shape;2363;p44"/>
          <p:cNvCxnSpPr>
            <a:stCxn id="2361" idx="0"/>
          </p:cNvCxnSpPr>
          <p:nvPr/>
        </p:nvCxnSpPr>
        <p:spPr>
          <a:xfrm>
            <a:off x="2542626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364" name="Google Shape;2364;p44"/>
          <p:cNvGrpSpPr/>
          <p:nvPr/>
        </p:nvGrpSpPr>
        <p:grpSpPr>
          <a:xfrm rot="5400000">
            <a:off x="2596847" y="3414952"/>
            <a:ext cx="584634" cy="199296"/>
            <a:chOff x="6223414" y="4018641"/>
            <a:chExt cx="776477" cy="280329"/>
          </a:xfrm>
        </p:grpSpPr>
        <p:grpSp>
          <p:nvGrpSpPr>
            <p:cNvPr id="2365" name="Google Shape;2365;p4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366" name="Google Shape;2366;p4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7" name="Google Shape;2367;p4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8" name="Google Shape;2368;p4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9" name="Google Shape;2369;p4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70" name="Google Shape;2370;p4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71" name="Google Shape;2371;p44"/>
          <p:cNvCxnSpPr>
            <a:endCxn id="2370" idx="3"/>
          </p:cNvCxnSpPr>
          <p:nvPr/>
        </p:nvCxnSpPr>
        <p:spPr>
          <a:xfrm rot="10800000">
            <a:off x="2889164" y="3806917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72" name="Google Shape;2372;p44"/>
          <p:cNvCxnSpPr>
            <a:stCxn id="2370" idx="0"/>
          </p:cNvCxnSpPr>
          <p:nvPr/>
        </p:nvCxnSpPr>
        <p:spPr>
          <a:xfrm>
            <a:off x="2988812" y="3514600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373" name="Google Shape;2373;p44"/>
          <p:cNvGrpSpPr/>
          <p:nvPr/>
        </p:nvGrpSpPr>
        <p:grpSpPr>
          <a:xfrm rot="5400000">
            <a:off x="3054662" y="3412799"/>
            <a:ext cx="584634" cy="199296"/>
            <a:chOff x="6223414" y="4018641"/>
            <a:chExt cx="776477" cy="280329"/>
          </a:xfrm>
        </p:grpSpPr>
        <p:grpSp>
          <p:nvGrpSpPr>
            <p:cNvPr id="2374" name="Google Shape;2374;p4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375" name="Google Shape;2375;p4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6" name="Google Shape;2376;p4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7" name="Google Shape;2377;p4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8" name="Google Shape;2378;p4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79" name="Google Shape;2379;p4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80" name="Google Shape;2380;p44"/>
          <p:cNvCxnSpPr>
            <a:endCxn id="2379" idx="3"/>
          </p:cNvCxnSpPr>
          <p:nvPr/>
        </p:nvCxnSpPr>
        <p:spPr>
          <a:xfrm rot="10800000">
            <a:off x="334697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81" name="Google Shape;2381;p44"/>
          <p:cNvCxnSpPr>
            <a:stCxn id="2379" idx="0"/>
            <a:endCxn id="2382" idx="2"/>
          </p:cNvCxnSpPr>
          <p:nvPr/>
        </p:nvCxnSpPr>
        <p:spPr>
          <a:xfrm>
            <a:off x="3446627" y="3512447"/>
            <a:ext cx="7796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383" name="Google Shape;2383;p44"/>
          <p:cNvGrpSpPr/>
          <p:nvPr/>
        </p:nvGrpSpPr>
        <p:grpSpPr>
          <a:xfrm rot="5400000">
            <a:off x="4033550" y="3412799"/>
            <a:ext cx="584634" cy="199296"/>
            <a:chOff x="6223414" y="4018641"/>
            <a:chExt cx="776477" cy="280329"/>
          </a:xfrm>
        </p:grpSpPr>
        <p:grpSp>
          <p:nvGrpSpPr>
            <p:cNvPr id="2384" name="Google Shape;2384;p4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385" name="Google Shape;2385;p4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6" name="Google Shape;2386;p4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7" name="Google Shape;2387;p4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8" name="Google Shape;2388;p4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82" name="Google Shape;2382;p4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89" name="Google Shape;2389;p44"/>
          <p:cNvCxnSpPr>
            <a:endCxn id="2382" idx="3"/>
          </p:cNvCxnSpPr>
          <p:nvPr/>
        </p:nvCxnSpPr>
        <p:spPr>
          <a:xfrm rot="10800000">
            <a:off x="4325867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90" name="Google Shape;2390;p44"/>
          <p:cNvCxnSpPr>
            <a:stCxn id="2382" idx="0"/>
          </p:cNvCxnSpPr>
          <p:nvPr/>
        </p:nvCxnSpPr>
        <p:spPr>
          <a:xfrm>
            <a:off x="4425515" y="3512447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91" name="Google Shape;2391;p44"/>
          <p:cNvSpPr txBox="1"/>
          <p:nvPr/>
        </p:nvSpPr>
        <p:spPr>
          <a:xfrm rot="5400000">
            <a:off x="7302216" y="3397634"/>
            <a:ext cx="11798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Decoder RNN</a:t>
            </a:r>
            <a:endParaRPr sz="1800"/>
          </a:p>
        </p:txBody>
      </p:sp>
      <p:sp>
        <p:nvSpPr>
          <p:cNvPr id="2392" name="Google Shape;2392;p44"/>
          <p:cNvSpPr/>
          <p:nvPr/>
        </p:nvSpPr>
        <p:spPr>
          <a:xfrm rot="10800000">
            <a:off x="7602318" y="3243816"/>
            <a:ext cx="141320" cy="584634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2393" name="Google Shape;2393;p44"/>
          <p:cNvCxnSpPr>
            <a:stCxn id="2346" idx="1"/>
            <a:endCxn id="2394" idx="2"/>
          </p:cNvCxnSpPr>
          <p:nvPr/>
        </p:nvCxnSpPr>
        <p:spPr>
          <a:xfrm rot="10800000" flipH="1">
            <a:off x="1987269" y="2720457"/>
            <a:ext cx="5175" cy="5062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95" name="Google Shape;2395;p44"/>
          <p:cNvCxnSpPr>
            <a:stCxn id="2361" idx="1"/>
            <a:endCxn id="2396" idx="2"/>
          </p:cNvCxnSpPr>
          <p:nvPr/>
        </p:nvCxnSpPr>
        <p:spPr>
          <a:xfrm rot="10800000" flipH="1">
            <a:off x="2442978" y="2720533"/>
            <a:ext cx="2925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97" name="Google Shape;2397;p44"/>
          <p:cNvCxnSpPr>
            <a:stCxn id="2370" idx="1"/>
            <a:endCxn id="2398" idx="2"/>
          </p:cNvCxnSpPr>
          <p:nvPr/>
        </p:nvCxnSpPr>
        <p:spPr>
          <a:xfrm rot="10800000" flipH="1">
            <a:off x="2889164" y="2720533"/>
            <a:ext cx="9900" cy="5017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99" name="Google Shape;2399;p44"/>
          <p:cNvCxnSpPr>
            <a:stCxn id="2379" idx="1"/>
            <a:endCxn id="2400" idx="2"/>
          </p:cNvCxnSpPr>
          <p:nvPr/>
        </p:nvCxnSpPr>
        <p:spPr>
          <a:xfrm rot="10800000" flipH="1">
            <a:off x="3346979" y="2720630"/>
            <a:ext cx="5400" cy="499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94" name="Google Shape;2394;p44"/>
          <p:cNvSpPr/>
          <p:nvPr/>
        </p:nvSpPr>
        <p:spPr>
          <a:xfrm rot="-5400000">
            <a:off x="1952676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44"/>
          <p:cNvSpPr/>
          <p:nvPr/>
        </p:nvSpPr>
        <p:spPr>
          <a:xfrm rot="-5400000">
            <a:off x="2405943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8" name="Google Shape;2398;p44"/>
          <p:cNvSpPr/>
          <p:nvPr/>
        </p:nvSpPr>
        <p:spPr>
          <a:xfrm rot="-5400000">
            <a:off x="2859207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44"/>
          <p:cNvSpPr/>
          <p:nvPr/>
        </p:nvSpPr>
        <p:spPr>
          <a:xfrm rot="-5400000">
            <a:off x="3312474" y="2638491"/>
            <a:ext cx="79718" cy="84428"/>
          </a:xfrm>
          <a:prstGeom prst="ellipse">
            <a:avLst/>
          </a:prstGeom>
          <a:solidFill>
            <a:srgbClr val="BDD7FF">
              <a:alpha val="80000"/>
            </a:srgbClr>
          </a:solidFill>
          <a:ln w="19050" cap="flat" cmpd="sng">
            <a:solidFill>
              <a:srgbClr val="3A8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1" name="Google Shape;2401;p44"/>
          <p:cNvCxnSpPr>
            <a:stCxn id="2402" idx="1"/>
            <a:endCxn id="2400" idx="4"/>
          </p:cNvCxnSpPr>
          <p:nvPr/>
        </p:nvCxnSpPr>
        <p:spPr>
          <a:xfrm rot="10800000">
            <a:off x="3394458" y="2680601"/>
            <a:ext cx="3207825" cy="530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03" name="Google Shape;2403;p44"/>
          <p:cNvCxnSpPr>
            <a:stCxn id="2402" idx="1"/>
            <a:endCxn id="2398" idx="4"/>
          </p:cNvCxnSpPr>
          <p:nvPr/>
        </p:nvCxnSpPr>
        <p:spPr>
          <a:xfrm rot="10800000">
            <a:off x="2941308" y="2680601"/>
            <a:ext cx="3660975" cy="5303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04" name="Google Shape;2404;p44"/>
          <p:cNvCxnSpPr>
            <a:stCxn id="2402" idx="1"/>
            <a:endCxn id="2396" idx="3"/>
          </p:cNvCxnSpPr>
          <p:nvPr/>
        </p:nvCxnSpPr>
        <p:spPr>
          <a:xfrm rot="10800000">
            <a:off x="2475558" y="2708951"/>
            <a:ext cx="4126725" cy="5019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05" name="Google Shape;2405;p44"/>
          <p:cNvCxnSpPr>
            <a:stCxn id="2402" idx="1"/>
            <a:endCxn id="2394" idx="3"/>
          </p:cNvCxnSpPr>
          <p:nvPr/>
        </p:nvCxnSpPr>
        <p:spPr>
          <a:xfrm rot="10800000">
            <a:off x="2022408" y="2708951"/>
            <a:ext cx="4579875" cy="5019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406" name="Google Shape;2406;p44"/>
          <p:cNvSpPr txBox="1"/>
          <p:nvPr/>
        </p:nvSpPr>
        <p:spPr>
          <a:xfrm rot="-5400000">
            <a:off x="902693" y="2470449"/>
            <a:ext cx="92381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scores</a:t>
            </a:r>
            <a:endParaRPr sz="1800"/>
          </a:p>
        </p:txBody>
      </p:sp>
      <p:sp>
        <p:nvSpPr>
          <p:cNvPr id="2407" name="Google Shape;2407;p44"/>
          <p:cNvSpPr/>
          <p:nvPr/>
        </p:nvSpPr>
        <p:spPr>
          <a:xfrm>
            <a:off x="1602579" y="2456535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408" name="Google Shape;2408;p44"/>
          <p:cNvSpPr txBox="1"/>
          <p:nvPr/>
        </p:nvSpPr>
        <p:spPr>
          <a:xfrm rot="-5400000">
            <a:off x="874151" y="1599411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distribution</a:t>
            </a:r>
            <a:endParaRPr sz="1800"/>
          </a:p>
        </p:txBody>
      </p:sp>
      <p:sp>
        <p:nvSpPr>
          <p:cNvPr id="2409" name="Google Shape;2409;p44"/>
          <p:cNvSpPr/>
          <p:nvPr/>
        </p:nvSpPr>
        <p:spPr>
          <a:xfrm>
            <a:off x="1611978" y="1607340"/>
            <a:ext cx="141320" cy="468896"/>
          </a:xfrm>
          <a:prstGeom prst="leftBrace">
            <a:avLst>
              <a:gd name="adj1" fmla="val 39130"/>
              <a:gd name="adj2" fmla="val 50000"/>
            </a:avLst>
          </a:prstGeom>
          <a:noFill/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2410" name="Google Shape;2410;p44"/>
          <p:cNvCxnSpPr/>
          <p:nvPr/>
        </p:nvCxnSpPr>
        <p:spPr>
          <a:xfrm rot="10800000" flipH="1">
            <a:off x="1992538" y="2076230"/>
            <a:ext cx="1697" cy="564612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11" name="Google Shape;2411;p44"/>
          <p:cNvCxnSpPr/>
          <p:nvPr/>
        </p:nvCxnSpPr>
        <p:spPr>
          <a:xfrm rot="10800000" flipH="1">
            <a:off x="2445803" y="2069302"/>
            <a:ext cx="1279" cy="571547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12" name="Google Shape;2412;p44"/>
          <p:cNvCxnSpPr/>
          <p:nvPr/>
        </p:nvCxnSpPr>
        <p:spPr>
          <a:xfrm rot="10800000" flipH="1">
            <a:off x="2899068" y="2069302"/>
            <a:ext cx="860" cy="571547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13" name="Google Shape;2413;p44"/>
          <p:cNvCxnSpPr/>
          <p:nvPr/>
        </p:nvCxnSpPr>
        <p:spPr>
          <a:xfrm rot="10800000" flipH="1">
            <a:off x="3352331" y="2069302"/>
            <a:ext cx="442" cy="571547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414" name="Google Shape;2414;p44"/>
          <p:cNvGrpSpPr/>
          <p:nvPr/>
        </p:nvGrpSpPr>
        <p:grpSpPr>
          <a:xfrm rot="5400000">
            <a:off x="2469334" y="1021499"/>
            <a:ext cx="584634" cy="199296"/>
            <a:chOff x="6223414" y="4018641"/>
            <a:chExt cx="776477" cy="280329"/>
          </a:xfrm>
        </p:grpSpPr>
        <p:grpSp>
          <p:nvGrpSpPr>
            <p:cNvPr id="2415" name="Google Shape;2415;p4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416" name="Google Shape;2416;p4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7" name="Google Shape;2417;p4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8" name="Google Shape;2418;p4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9" name="Google Shape;2419;p4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 w="19050" cap="flat" cmpd="sng">
                <a:solidFill>
                  <a:srgbClr val="7700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20" name="Google Shape;2420;p4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3A87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1" name="Google Shape;2421;p44"/>
          <p:cNvSpPr txBox="1"/>
          <p:nvPr/>
        </p:nvSpPr>
        <p:spPr>
          <a:xfrm>
            <a:off x="2776296" y="866589"/>
            <a:ext cx="980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Attention output</a:t>
            </a:r>
            <a:endParaRPr sz="1800"/>
          </a:p>
        </p:txBody>
      </p:sp>
      <p:cxnSp>
        <p:nvCxnSpPr>
          <p:cNvPr id="2422" name="Google Shape;2422;p44"/>
          <p:cNvCxnSpPr>
            <a:endCxn id="2423" idx="1"/>
          </p:cNvCxnSpPr>
          <p:nvPr/>
        </p:nvCxnSpPr>
        <p:spPr>
          <a:xfrm>
            <a:off x="2867243" y="1341139"/>
            <a:ext cx="3561075" cy="20812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424" name="Google Shape;2424;p44"/>
          <p:cNvSpPr txBox="1"/>
          <p:nvPr/>
        </p:nvSpPr>
        <p:spPr>
          <a:xfrm>
            <a:off x="4430507" y="426991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endParaRPr sz="1800"/>
          </a:p>
        </p:txBody>
      </p:sp>
      <p:grpSp>
        <p:nvGrpSpPr>
          <p:cNvPr id="2425" name="Google Shape;2425;p44"/>
          <p:cNvGrpSpPr/>
          <p:nvPr/>
        </p:nvGrpSpPr>
        <p:grpSpPr>
          <a:xfrm rot="5400000">
            <a:off x="4481302" y="3412799"/>
            <a:ext cx="584634" cy="199296"/>
            <a:chOff x="6223414" y="4018641"/>
            <a:chExt cx="776477" cy="280329"/>
          </a:xfrm>
        </p:grpSpPr>
        <p:grpSp>
          <p:nvGrpSpPr>
            <p:cNvPr id="2426" name="Google Shape;2426;p4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427" name="Google Shape;2427;p4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8" name="Google Shape;2428;p4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9" name="Google Shape;2429;p4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0" name="Google Shape;2430;p4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31" name="Google Shape;2431;p4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32" name="Google Shape;2432;p44"/>
          <p:cNvCxnSpPr>
            <a:endCxn id="2431" idx="3"/>
          </p:cNvCxnSpPr>
          <p:nvPr/>
        </p:nvCxnSpPr>
        <p:spPr>
          <a:xfrm rot="10800000">
            <a:off x="4773619" y="380476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33" name="Google Shape;2433;p44"/>
          <p:cNvCxnSpPr>
            <a:stCxn id="2431" idx="0"/>
          </p:cNvCxnSpPr>
          <p:nvPr/>
        </p:nvCxnSpPr>
        <p:spPr>
          <a:xfrm>
            <a:off x="4873267" y="3512447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434" name="Google Shape;2434;p44"/>
          <p:cNvSpPr txBox="1"/>
          <p:nvPr/>
        </p:nvSpPr>
        <p:spPr>
          <a:xfrm>
            <a:off x="4889459" y="4266843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poor</a:t>
            </a:r>
            <a:endParaRPr sz="1800"/>
          </a:p>
        </p:txBody>
      </p:sp>
      <p:grpSp>
        <p:nvGrpSpPr>
          <p:cNvPr id="2435" name="Google Shape;2435;p44"/>
          <p:cNvGrpSpPr/>
          <p:nvPr/>
        </p:nvGrpSpPr>
        <p:grpSpPr>
          <a:xfrm rot="5400000">
            <a:off x="4940254" y="3409724"/>
            <a:ext cx="584634" cy="199296"/>
            <a:chOff x="6223414" y="4018641"/>
            <a:chExt cx="776477" cy="280329"/>
          </a:xfrm>
        </p:grpSpPr>
        <p:grpSp>
          <p:nvGrpSpPr>
            <p:cNvPr id="2436" name="Google Shape;2436;p4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437" name="Google Shape;2437;p4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8" name="Google Shape;2438;p4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9" name="Google Shape;2439;p4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0" name="Google Shape;2440;p4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41" name="Google Shape;2441;p4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42" name="Google Shape;2442;p44"/>
          <p:cNvCxnSpPr>
            <a:endCxn id="2441" idx="3"/>
          </p:cNvCxnSpPr>
          <p:nvPr/>
        </p:nvCxnSpPr>
        <p:spPr>
          <a:xfrm rot="10800000">
            <a:off x="5232571" y="3801689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43" name="Google Shape;2443;p44"/>
          <p:cNvCxnSpPr>
            <a:stCxn id="2441" idx="0"/>
          </p:cNvCxnSpPr>
          <p:nvPr/>
        </p:nvCxnSpPr>
        <p:spPr>
          <a:xfrm>
            <a:off x="5332219" y="3509372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444" name="Google Shape;2444;p44"/>
          <p:cNvSpPr txBox="1"/>
          <p:nvPr/>
        </p:nvSpPr>
        <p:spPr>
          <a:xfrm>
            <a:off x="5341337" y="426376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</a:t>
            </a:r>
            <a:endParaRPr sz="1800"/>
          </a:p>
        </p:txBody>
      </p:sp>
      <p:grpSp>
        <p:nvGrpSpPr>
          <p:cNvPr id="2445" name="Google Shape;2445;p44"/>
          <p:cNvGrpSpPr/>
          <p:nvPr/>
        </p:nvGrpSpPr>
        <p:grpSpPr>
          <a:xfrm rot="5400000">
            <a:off x="5392134" y="3406649"/>
            <a:ext cx="584634" cy="199296"/>
            <a:chOff x="6223414" y="4018641"/>
            <a:chExt cx="776477" cy="280329"/>
          </a:xfrm>
        </p:grpSpPr>
        <p:grpSp>
          <p:nvGrpSpPr>
            <p:cNvPr id="2446" name="Google Shape;2446;p4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447" name="Google Shape;2447;p4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8" name="Google Shape;2448;p4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9" name="Google Shape;2449;p4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0" name="Google Shape;2450;p4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51" name="Google Shape;2451;p4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52" name="Google Shape;2452;p44"/>
          <p:cNvCxnSpPr>
            <a:endCxn id="2451" idx="3"/>
          </p:cNvCxnSpPr>
          <p:nvPr/>
        </p:nvCxnSpPr>
        <p:spPr>
          <a:xfrm rot="10800000">
            <a:off x="5684451" y="379861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53" name="Google Shape;2453;p44"/>
          <p:cNvCxnSpPr>
            <a:stCxn id="2451" idx="0"/>
          </p:cNvCxnSpPr>
          <p:nvPr/>
        </p:nvCxnSpPr>
        <p:spPr>
          <a:xfrm>
            <a:off x="5784099" y="3506297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454" name="Google Shape;2454;p44"/>
          <p:cNvSpPr txBox="1"/>
          <p:nvPr/>
        </p:nvSpPr>
        <p:spPr>
          <a:xfrm>
            <a:off x="5804018" y="4263768"/>
            <a:ext cx="7012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</a:t>
            </a:r>
            <a:endParaRPr sz="1800"/>
          </a:p>
        </p:txBody>
      </p:sp>
      <p:grpSp>
        <p:nvGrpSpPr>
          <p:cNvPr id="2455" name="Google Shape;2455;p44"/>
          <p:cNvGrpSpPr/>
          <p:nvPr/>
        </p:nvGrpSpPr>
        <p:grpSpPr>
          <a:xfrm rot="5400000">
            <a:off x="5854814" y="3406649"/>
            <a:ext cx="584634" cy="199296"/>
            <a:chOff x="6223414" y="4018641"/>
            <a:chExt cx="776477" cy="280329"/>
          </a:xfrm>
        </p:grpSpPr>
        <p:grpSp>
          <p:nvGrpSpPr>
            <p:cNvPr id="2456" name="Google Shape;2456;p44"/>
            <p:cNvGrpSpPr/>
            <p:nvPr/>
          </p:nvGrpSpPr>
          <p:grpSpPr>
            <a:xfrm rot="-5400000">
              <a:off x="6550278" y="3846238"/>
              <a:ext cx="112131" cy="616723"/>
              <a:chOff x="1883650" y="2468875"/>
              <a:chExt cx="153620" cy="844910"/>
            </a:xfrm>
          </p:grpSpPr>
          <p:sp>
            <p:nvSpPr>
              <p:cNvPr id="2457" name="Google Shape;2457;p44"/>
              <p:cNvSpPr/>
              <p:nvPr/>
            </p:nvSpPr>
            <p:spPr>
              <a:xfrm>
                <a:off x="1883650" y="246887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8" name="Google Shape;2458;p44"/>
              <p:cNvSpPr/>
              <p:nvPr/>
            </p:nvSpPr>
            <p:spPr>
              <a:xfrm>
                <a:off x="1883650" y="269930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9" name="Google Shape;2459;p44"/>
              <p:cNvSpPr/>
              <p:nvPr/>
            </p:nvSpPr>
            <p:spPr>
              <a:xfrm>
                <a:off x="1883650" y="292973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0" name="Google Shape;2460;p44"/>
              <p:cNvSpPr/>
              <p:nvPr/>
            </p:nvSpPr>
            <p:spPr>
              <a:xfrm>
                <a:off x="1883650" y="3160165"/>
                <a:ext cx="153620" cy="153620"/>
              </a:xfrm>
              <a:prstGeom prst="ellipse">
                <a:avLst/>
              </a:prstGeom>
              <a:solidFill>
                <a:srgbClr val="42DA8F">
                  <a:alpha val="80000"/>
                </a:srgbClr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1" name="Google Shape;2461;p44"/>
            <p:cNvSpPr/>
            <p:nvPr/>
          </p:nvSpPr>
          <p:spPr>
            <a:xfrm>
              <a:off x="6223414" y="4018641"/>
              <a:ext cx="776477" cy="28032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62" name="Google Shape;2462;p44"/>
          <p:cNvCxnSpPr>
            <a:endCxn id="2461" idx="3"/>
          </p:cNvCxnSpPr>
          <p:nvPr/>
        </p:nvCxnSpPr>
        <p:spPr>
          <a:xfrm rot="10800000">
            <a:off x="6147131" y="3798614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63" name="Google Shape;2463;p44"/>
          <p:cNvCxnSpPr>
            <a:stCxn id="2461" idx="0"/>
          </p:cNvCxnSpPr>
          <p:nvPr/>
        </p:nvCxnSpPr>
        <p:spPr>
          <a:xfrm>
            <a:off x="6246779" y="3506297"/>
            <a:ext cx="25852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464" name="Google Shape;2464;p44"/>
          <p:cNvGrpSpPr/>
          <p:nvPr/>
        </p:nvGrpSpPr>
        <p:grpSpPr>
          <a:xfrm>
            <a:off x="6259169" y="907971"/>
            <a:ext cx="701283" cy="3606656"/>
            <a:chOff x="4383340" y="1222898"/>
            <a:chExt cx="935044" cy="4808874"/>
          </a:xfrm>
        </p:grpSpPr>
        <p:sp>
          <p:nvSpPr>
            <p:cNvPr id="2465" name="Google Shape;2465;p44"/>
            <p:cNvSpPr txBox="1"/>
            <p:nvPr/>
          </p:nvSpPr>
          <p:spPr>
            <a:xfrm>
              <a:off x="4383340" y="5693218"/>
              <a:ext cx="9350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/>
            <a:p>
              <a:pPr algn="ctr"/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any</a:t>
              </a:r>
              <a:endParaRPr sz="1800"/>
            </a:p>
          </p:txBody>
        </p:sp>
        <p:grpSp>
          <p:nvGrpSpPr>
            <p:cNvPr id="2466" name="Google Shape;2466;p44"/>
            <p:cNvGrpSpPr/>
            <p:nvPr/>
          </p:nvGrpSpPr>
          <p:grpSpPr>
            <a:xfrm>
              <a:off x="4407425" y="1222898"/>
              <a:ext cx="859404" cy="4459721"/>
              <a:chOff x="4407425" y="1222898"/>
              <a:chExt cx="859404" cy="4459721"/>
            </a:xfrm>
          </p:grpSpPr>
          <p:grpSp>
            <p:nvGrpSpPr>
              <p:cNvPr id="2467" name="Google Shape;2467;p44"/>
              <p:cNvGrpSpPr/>
              <p:nvPr/>
            </p:nvGrpSpPr>
            <p:grpSpPr>
              <a:xfrm rot="5400000">
                <a:off x="4451069" y="4550399"/>
                <a:ext cx="779512" cy="265728"/>
                <a:chOff x="6223414" y="4018641"/>
                <a:chExt cx="776477" cy="280329"/>
              </a:xfrm>
            </p:grpSpPr>
            <p:grpSp>
              <p:nvGrpSpPr>
                <p:cNvPr id="2468" name="Google Shape;2468;p44"/>
                <p:cNvGrpSpPr/>
                <p:nvPr/>
              </p:nvGrpSpPr>
              <p:grpSpPr>
                <a:xfrm rot="-5400000">
                  <a:off x="6550278" y="3846238"/>
                  <a:ext cx="112131" cy="616723"/>
                  <a:chOff x="1883650" y="2468875"/>
                  <a:chExt cx="153620" cy="844910"/>
                </a:xfrm>
              </p:grpSpPr>
              <p:sp>
                <p:nvSpPr>
                  <p:cNvPr id="2469" name="Google Shape;2469;p44"/>
                  <p:cNvSpPr/>
                  <p:nvPr/>
                </p:nvSpPr>
                <p:spPr>
                  <a:xfrm>
                    <a:off x="1883650" y="246887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0" name="Google Shape;2470;p44"/>
                  <p:cNvSpPr/>
                  <p:nvPr/>
                </p:nvSpPr>
                <p:spPr>
                  <a:xfrm>
                    <a:off x="1883650" y="269930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1" name="Google Shape;2471;p44"/>
                  <p:cNvSpPr/>
                  <p:nvPr/>
                </p:nvSpPr>
                <p:spPr>
                  <a:xfrm>
                    <a:off x="1883650" y="292973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2" name="Google Shape;2472;p44"/>
                  <p:cNvSpPr/>
                  <p:nvPr/>
                </p:nvSpPr>
                <p:spPr>
                  <a:xfrm>
                    <a:off x="1883650" y="3160165"/>
                    <a:ext cx="153620" cy="153620"/>
                  </a:xfrm>
                  <a:prstGeom prst="ellipse">
                    <a:avLst/>
                  </a:prstGeom>
                  <a:solidFill>
                    <a:srgbClr val="42DA8F">
                      <a:alpha val="80000"/>
                    </a:srgbClr>
                  </a:solidFill>
                  <a:ln w="19050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68569" tIns="34275" rIns="68569" bIns="34275" anchor="ctr" anchorCtr="0">
                    <a:noAutofit/>
                  </a:bodyPr>
                  <a:lstStyle/>
                  <a:p>
                    <a:pPr algn="ctr"/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402" name="Google Shape;2402;p44"/>
                <p:cNvSpPr/>
                <p:nvPr/>
              </p:nvSpPr>
              <p:spPr>
                <a:xfrm>
                  <a:off x="6223414" y="4018641"/>
                  <a:ext cx="776477" cy="28032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69" tIns="34275" rIns="68569" bIns="34275" anchor="ctr" anchorCtr="0">
                  <a:noAutofit/>
                </a:bodyPr>
                <a:lstStyle/>
                <a:p>
                  <a:pPr algn="ctr"/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473" name="Google Shape;2473;p44"/>
              <p:cNvCxnSpPr>
                <a:endCxn id="2402" idx="3"/>
              </p:cNvCxnSpPr>
              <p:nvPr/>
            </p:nvCxnSpPr>
            <p:spPr>
              <a:xfrm rot="10800000">
                <a:off x="4840825" y="5073019"/>
                <a:ext cx="0" cy="60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2474" name="Google Shape;2474;p44"/>
              <p:cNvCxnSpPr>
                <a:stCxn id="2402" idx="1"/>
                <a:endCxn id="2423" idx="2"/>
              </p:cNvCxnSpPr>
              <p:nvPr/>
            </p:nvCxnSpPr>
            <p:spPr>
              <a:xfrm rot="10800000">
                <a:off x="4839025" y="2247207"/>
                <a:ext cx="1800" cy="2046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2423" name="Google Shape;2423;p44"/>
              <p:cNvSpPr txBox="1"/>
              <p:nvPr/>
            </p:nvSpPr>
            <p:spPr>
              <a:xfrm>
                <a:off x="4608871" y="1908680"/>
                <a:ext cx="460230" cy="338554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14284"/>
                </a:stretch>
              </a:blipFill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r>
                  <a:rPr lang="en-US" sz="135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800"/>
              </a:p>
            </p:txBody>
          </p:sp>
          <p:cxnSp>
            <p:nvCxnSpPr>
              <p:cNvPr id="2475" name="Google Shape;2475;p44"/>
              <p:cNvCxnSpPr>
                <a:stCxn id="2423" idx="0"/>
                <a:endCxn id="2476" idx="2"/>
              </p:cNvCxnSpPr>
              <p:nvPr/>
            </p:nvCxnSpPr>
            <p:spPr>
              <a:xfrm rot="10800000">
                <a:off x="4837186" y="1561580"/>
                <a:ext cx="1800" cy="347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2476" name="Google Shape;2476;p44"/>
              <p:cNvSpPr txBox="1"/>
              <p:nvPr/>
            </p:nvSpPr>
            <p:spPr>
              <a:xfrm>
                <a:off x="4407425" y="1222898"/>
                <a:ext cx="85940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noAutofit/>
              </a:bodyPr>
              <a:lstStyle/>
              <a:p>
                <a:pPr algn="ctr"/>
                <a:r>
                  <a:rPr lang="en-US" sz="1200" i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money</a:t>
                </a:r>
                <a:endParaRPr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477" name="Google Shape;2477;p44"/>
          <p:cNvCxnSpPr/>
          <p:nvPr/>
        </p:nvCxnSpPr>
        <p:spPr>
          <a:xfrm>
            <a:off x="1880570" y="2076230"/>
            <a:ext cx="1731363" cy="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78" name="Google Shape;2478;p44"/>
          <p:cNvSpPr/>
          <p:nvPr/>
        </p:nvSpPr>
        <p:spPr>
          <a:xfrm>
            <a:off x="1943172" y="2035014"/>
            <a:ext cx="102122" cy="41225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44"/>
          <p:cNvSpPr/>
          <p:nvPr/>
        </p:nvSpPr>
        <p:spPr>
          <a:xfrm>
            <a:off x="2396018" y="2035015"/>
            <a:ext cx="106474" cy="3428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44"/>
          <p:cNvSpPr/>
          <p:nvPr/>
        </p:nvSpPr>
        <p:spPr>
          <a:xfrm>
            <a:off x="2848859" y="1821865"/>
            <a:ext cx="92415" cy="24743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1" name="Google Shape;2481;p44"/>
          <p:cNvSpPr/>
          <p:nvPr/>
        </p:nvSpPr>
        <p:spPr>
          <a:xfrm>
            <a:off x="3301713" y="1821865"/>
            <a:ext cx="92834" cy="247439"/>
          </a:xfrm>
          <a:prstGeom prst="rect">
            <a:avLst/>
          </a:prstGeom>
          <a:solidFill>
            <a:srgbClr val="BDD6FF"/>
          </a:solidFill>
          <a:ln w="19050" cap="flat" cmpd="sng">
            <a:solidFill>
              <a:srgbClr val="3A8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2" name="Google Shape;2482;p44"/>
          <p:cNvCxnSpPr>
            <a:stCxn id="2478" idx="0"/>
          </p:cNvCxnSpPr>
          <p:nvPr/>
        </p:nvCxnSpPr>
        <p:spPr>
          <a:xfrm rot="10800000" flipH="1">
            <a:off x="1994232" y="1413563"/>
            <a:ext cx="767475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2483" name="Google Shape;2483;p44"/>
          <p:cNvCxnSpPr>
            <a:stCxn id="2479" idx="0"/>
          </p:cNvCxnSpPr>
          <p:nvPr/>
        </p:nvCxnSpPr>
        <p:spPr>
          <a:xfrm rot="10800000" flipH="1">
            <a:off x="2449254" y="1413563"/>
            <a:ext cx="312300" cy="62145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2484" name="Google Shape;2484;p44"/>
          <p:cNvCxnSpPr>
            <a:stCxn id="2480" idx="0"/>
          </p:cNvCxnSpPr>
          <p:nvPr/>
        </p:nvCxnSpPr>
        <p:spPr>
          <a:xfrm rot="10800000">
            <a:off x="2761642" y="1413488"/>
            <a:ext cx="133425" cy="4083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  <p:cxnSp>
        <p:nvCxnSpPr>
          <p:cNvPr id="2485" name="Google Shape;2485;p44"/>
          <p:cNvCxnSpPr>
            <a:stCxn id="2481" idx="0"/>
          </p:cNvCxnSpPr>
          <p:nvPr/>
        </p:nvCxnSpPr>
        <p:spPr>
          <a:xfrm rot="10800000">
            <a:off x="2761554" y="1413488"/>
            <a:ext cx="586575" cy="40837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ot"/>
            <a:round/>
            <a:headEnd type="none" w="sm" len="sm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99842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305800" cy="4381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66FF"/>
                </a:solidFill>
              </a:rPr>
              <a:t>Neural Machine Translation by Jointly Learn to Align and Translate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2" y="1017421"/>
            <a:ext cx="7972425" cy="3686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97995" y="4800601"/>
            <a:ext cx="532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Source: </a:t>
            </a:r>
            <a:r>
              <a:rPr lang="en-US" sz="1200" dirty="0" err="1"/>
              <a:t>Bahdanau</a:t>
            </a:r>
            <a:r>
              <a:rPr lang="en-US" sz="1200" dirty="0"/>
              <a:t> et al., ICLR 2015, https://arxiv.org/abs/1409.0473 </a:t>
            </a:r>
          </a:p>
        </p:txBody>
      </p:sp>
    </p:spTree>
    <p:extLst>
      <p:ext uri="{BB962C8B-B14F-4D97-AF65-F5344CB8AC3E}">
        <p14:creationId xmlns:p14="http://schemas.microsoft.com/office/powerpoint/2010/main" val="207807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825" y="57150"/>
            <a:ext cx="8315375" cy="9144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66FF"/>
                </a:solidFill>
              </a:rPr>
              <a:t>Neural Machine Translation by Jointly Learn to Align and Translate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25" y="1127246"/>
            <a:ext cx="8543925" cy="32932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61900" y="4706755"/>
            <a:ext cx="532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 err="1"/>
              <a:t>Bahdanau</a:t>
            </a:r>
            <a:r>
              <a:rPr lang="en-US" sz="1200" dirty="0"/>
              <a:t> et al., ICLR 2015, https://arxiv.org/abs/1409.0473 </a:t>
            </a:r>
          </a:p>
        </p:txBody>
      </p:sp>
    </p:spTree>
    <p:extLst>
      <p:ext uri="{BB962C8B-B14F-4D97-AF65-F5344CB8AC3E}">
        <p14:creationId xmlns:p14="http://schemas.microsoft.com/office/powerpoint/2010/main" val="362866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45"/>
          <p:cNvSpPr txBox="1">
            <a:spLocks noGrp="1"/>
          </p:cNvSpPr>
          <p:nvPr>
            <p:ph type="title"/>
          </p:nvPr>
        </p:nvSpPr>
        <p:spPr>
          <a:xfrm>
            <a:off x="649706" y="0"/>
            <a:ext cx="4508173" cy="7782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Attention</a:t>
            </a:r>
            <a:r>
              <a:rPr lang="en-US" sz="2400" dirty="0" smtClean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Formula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491" name="Google Shape;2491;p45"/>
          <p:cNvSpPr txBox="1">
            <a:spLocks noGrp="1"/>
          </p:cNvSpPr>
          <p:nvPr>
            <p:ph type="body" idx="1"/>
          </p:nvPr>
        </p:nvSpPr>
        <p:spPr>
          <a:xfrm>
            <a:off x="757990" y="1150228"/>
            <a:ext cx="6785810" cy="379915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257156" indent="-257156">
              <a:spcBef>
                <a:spcPts val="0"/>
              </a:spcBef>
              <a:buSzPts val="2000"/>
              <a:buFont typeface="Times"/>
              <a:buChar char="•"/>
            </a:pP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We </a:t>
            </a:r>
            <a:r>
              <a:rPr lang="en-US" sz="1500" dirty="0" smtClean="0">
                <a:latin typeface="Calibri"/>
                <a:ea typeface="Calibri"/>
                <a:cs typeface="Calibri"/>
                <a:sym typeface="Calibri"/>
              </a:rPr>
              <a:t>have encoder </a:t>
            </a: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hidden states </a:t>
            </a:r>
            <a:r>
              <a:rPr lang="en-US" sz="1500" dirty="0" smtClean="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500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US" sz="1500" dirty="0" smtClean="0"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257156" indent="-257156">
              <a:spcBef>
                <a:spcPts val="300"/>
              </a:spcBef>
              <a:buSzPts val="2000"/>
              <a:buFont typeface="Times"/>
              <a:buChar char="•"/>
            </a:pP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1500" dirty="0" err="1">
                <a:latin typeface="Calibri"/>
                <a:ea typeface="Calibri"/>
                <a:cs typeface="Calibri"/>
                <a:sym typeface="Calibri"/>
              </a:rPr>
              <a:t>timestep</a:t>
            </a: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i="1" dirty="0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, we have </a:t>
            </a:r>
            <a:r>
              <a:rPr lang="en-US" sz="1500" dirty="0" smtClean="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500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query s</a:t>
            </a:r>
            <a:r>
              <a:rPr lang="en-US" sz="1500" dirty="0" smtClean="0">
                <a:latin typeface="Calibri"/>
                <a:ea typeface="Calibri"/>
                <a:cs typeface="Calibri"/>
                <a:sym typeface="Calibri"/>
              </a:rPr>
              <a:t>) decoder </a:t>
            </a: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hidden </a:t>
            </a:r>
            <a:r>
              <a:rPr lang="en-US" sz="1500" dirty="0" smtClean="0">
                <a:latin typeface="Calibri"/>
                <a:ea typeface="Calibri"/>
                <a:cs typeface="Calibri"/>
                <a:sym typeface="Calibri"/>
              </a:rPr>
              <a:t>         state </a:t>
            </a:r>
            <a:endParaRPr dirty="0"/>
          </a:p>
          <a:p>
            <a:pPr marL="257156" indent="-257156">
              <a:spcBef>
                <a:spcPts val="300"/>
              </a:spcBef>
              <a:buSzPts val="2000"/>
              <a:buFont typeface="Times"/>
              <a:buChar char="•"/>
            </a:pP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We get the attention scores         for this step:</a:t>
            </a:r>
            <a:br>
              <a:rPr lang="en-US" sz="15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500" dirty="0">
                <a:latin typeface="Calibri"/>
                <a:ea typeface="Calibri"/>
                <a:cs typeface="Calibri"/>
                <a:sym typeface="Calibri"/>
              </a:rPr>
            </a:br>
            <a:endParaRPr sz="1500" dirty="0"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00"/>
              </a:spcBef>
              <a:buSzPts val="2000"/>
              <a:buFont typeface="Times"/>
              <a:buChar char="•"/>
            </a:pP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We take </a:t>
            </a:r>
            <a:r>
              <a:rPr lang="en-US" sz="1500" dirty="0" err="1">
                <a:latin typeface="Calibri"/>
                <a:ea typeface="Calibri"/>
                <a:cs typeface="Calibri"/>
                <a:sym typeface="Calibri"/>
              </a:rPr>
              <a:t>softmax</a:t>
            </a: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 to get the attention distribution        for this step (this is a probability distribution and sums to 1)</a:t>
            </a:r>
            <a:br>
              <a:rPr lang="en-US" sz="1500" dirty="0">
                <a:latin typeface="Calibri"/>
                <a:ea typeface="Calibri"/>
                <a:cs typeface="Calibri"/>
                <a:sym typeface="Calibri"/>
              </a:rPr>
            </a:br>
            <a:endParaRPr sz="1500" dirty="0">
              <a:latin typeface="Calibri"/>
              <a:ea typeface="Calibri"/>
              <a:cs typeface="Calibri"/>
              <a:sym typeface="Calibri"/>
            </a:endParaRPr>
          </a:p>
          <a:p>
            <a:pPr marL="257156" indent="-161913">
              <a:spcBef>
                <a:spcPts val="300"/>
              </a:spcBef>
              <a:buSzPts val="2000"/>
              <a:buNone/>
            </a:pPr>
            <a:endParaRPr sz="1500" dirty="0"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00"/>
              </a:spcBef>
              <a:buSzPts val="2000"/>
              <a:buFont typeface="Times"/>
              <a:buChar char="•"/>
            </a:pP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We use        to take a weighted sum of the encoder hidden states to get the attention output </a:t>
            </a:r>
            <a:endParaRPr dirty="0"/>
          </a:p>
          <a:p>
            <a:pPr marL="0" indent="0">
              <a:spcBef>
                <a:spcPts val="300"/>
              </a:spcBef>
              <a:buSzPts val="2000"/>
              <a:buNone/>
            </a:pP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500" dirty="0">
                <a:latin typeface="Calibri"/>
                <a:ea typeface="Calibri"/>
                <a:cs typeface="Calibri"/>
                <a:sym typeface="Calibri"/>
              </a:rPr>
            </a:br>
            <a:endParaRPr sz="1500" dirty="0"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00"/>
              </a:spcBef>
              <a:buSzPts val="2000"/>
              <a:buFont typeface="Times"/>
              <a:buChar char="•"/>
            </a:pP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Finally we concatenate the attention output        with the decoder hidden state      and proceed as in the non-attention seq2seq model</a:t>
            </a:r>
            <a:endParaRPr dirty="0"/>
          </a:p>
          <a:p>
            <a:pPr marL="385763" lvl="1" indent="-76194">
              <a:spcBef>
                <a:spcPts val="300"/>
              </a:spcBef>
              <a:buClr>
                <a:srgbClr val="3A85FE"/>
              </a:buClr>
              <a:buSzPts val="2000"/>
              <a:buNone/>
            </a:pPr>
            <a:endParaRPr sz="15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p45"/>
          <p:cNvSpPr txBox="1">
            <a:spLocks noGrp="1"/>
          </p:cNvSpPr>
          <p:nvPr>
            <p:ph type="sldNum" idx="12"/>
          </p:nvPr>
        </p:nvSpPr>
        <p:spPr>
          <a:xfrm>
            <a:off x="7264217" y="4799411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46</a:t>
            </a:fld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3" name="Google Shape;249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5040" y="4608820"/>
            <a:ext cx="1211523" cy="34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4" name="Google Shape;2494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95929" y="3797963"/>
            <a:ext cx="1832532" cy="693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5" name="Google Shape;2495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05579" y="2957728"/>
            <a:ext cx="2476343" cy="364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6" name="Google Shape;2496;p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65195" y="2032210"/>
            <a:ext cx="3012155" cy="4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7" name="Google Shape;2497;p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15072" y="1455378"/>
            <a:ext cx="682627" cy="238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8" name="Google Shape;2498;p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04559" y="1143798"/>
            <a:ext cx="1441980" cy="282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9" name="Google Shape;2499;p45"/>
          <p:cNvPicPr preferRelativeResize="0"/>
          <p:nvPr/>
        </p:nvPicPr>
        <p:blipFill rotWithShape="1">
          <a:blip r:embed="rId6">
            <a:alphaModFix/>
          </a:blip>
          <a:srcRect r="88996" b="18816"/>
          <a:stretch/>
        </p:blipFill>
        <p:spPr>
          <a:xfrm>
            <a:off x="3289657" y="1694020"/>
            <a:ext cx="263288" cy="258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0" name="Google Shape;2500;p45"/>
          <p:cNvPicPr preferRelativeResize="0"/>
          <p:nvPr/>
        </p:nvPicPr>
        <p:blipFill rotWithShape="1">
          <a:blip r:embed="rId5">
            <a:alphaModFix/>
          </a:blip>
          <a:srcRect r="87834"/>
          <a:stretch/>
        </p:blipFill>
        <p:spPr>
          <a:xfrm>
            <a:off x="4961299" y="2343150"/>
            <a:ext cx="296501" cy="358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1" name="Google Shape;2501;p45"/>
          <p:cNvPicPr preferRelativeResize="0"/>
          <p:nvPr/>
        </p:nvPicPr>
        <p:blipFill rotWithShape="1">
          <a:blip r:embed="rId5">
            <a:alphaModFix/>
          </a:blip>
          <a:srcRect r="87834"/>
          <a:stretch/>
        </p:blipFill>
        <p:spPr>
          <a:xfrm>
            <a:off x="1678598" y="3358235"/>
            <a:ext cx="296501" cy="358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2" name="Google Shape;2502;p45"/>
          <p:cNvPicPr preferRelativeResize="0"/>
          <p:nvPr/>
        </p:nvPicPr>
        <p:blipFill rotWithShape="1">
          <a:blip r:embed="rId4">
            <a:alphaModFix/>
          </a:blip>
          <a:srcRect l="4400" t="34192" r="82751" b="35269"/>
          <a:stretch/>
        </p:blipFill>
        <p:spPr>
          <a:xfrm>
            <a:off x="2472914" y="3698609"/>
            <a:ext cx="246031" cy="221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3" name="Google Shape;2503;p45"/>
          <p:cNvPicPr preferRelativeResize="0"/>
          <p:nvPr/>
        </p:nvPicPr>
        <p:blipFill rotWithShape="1">
          <a:blip r:embed="rId4">
            <a:alphaModFix/>
          </a:blip>
          <a:srcRect l="4400" t="34192" r="82751" b="35269"/>
          <a:stretch/>
        </p:blipFill>
        <p:spPr>
          <a:xfrm>
            <a:off x="4574655" y="4444973"/>
            <a:ext cx="246031" cy="221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4" name="Google Shape;2504;p45"/>
          <p:cNvPicPr preferRelativeResize="0"/>
          <p:nvPr/>
        </p:nvPicPr>
        <p:blipFill rotWithShape="1">
          <a:blip r:embed="rId7">
            <a:alphaModFix/>
          </a:blip>
          <a:srcRect t="1" r="68093" b="-5137"/>
          <a:stretch/>
        </p:blipFill>
        <p:spPr>
          <a:xfrm>
            <a:off x="4751164" y="1668148"/>
            <a:ext cx="217807" cy="2508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7086600" y="1386421"/>
            <a:ext cx="1456937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99FF"/>
                </a:solidFill>
              </a:rPr>
              <a:t>There are</a:t>
            </a:r>
          </a:p>
          <a:p>
            <a:r>
              <a:rPr lang="en-US" sz="1600" dirty="0">
                <a:solidFill>
                  <a:srgbClr val="0099FF"/>
                </a:solidFill>
              </a:rPr>
              <a:t>multiple ways</a:t>
            </a:r>
          </a:p>
          <a:p>
            <a:r>
              <a:rPr lang="en-US" sz="1600" dirty="0">
                <a:solidFill>
                  <a:srgbClr val="0099FF"/>
                </a:solidFill>
              </a:rPr>
              <a:t>to do this</a:t>
            </a:r>
            <a:endParaRPr lang="en-US" sz="1600" dirty="0">
              <a:solidFill>
                <a:srgbClr val="0099FF"/>
              </a:solidFill>
              <a:latin typeface="+mn-lt"/>
            </a:endParaRPr>
          </a:p>
        </p:txBody>
      </p:sp>
      <p:cxnSp>
        <p:nvCxnSpPr>
          <p:cNvPr id="7" name="Straight Arrow Connector 6"/>
          <p:cNvCxnSpPr>
            <a:stCxn id="2" idx="1"/>
          </p:cNvCxnSpPr>
          <p:nvPr/>
        </p:nvCxnSpPr>
        <p:spPr bwMode="auto">
          <a:xfrm flipH="1">
            <a:off x="5714818" y="1801920"/>
            <a:ext cx="1371782" cy="320953"/>
          </a:xfrm>
          <a:prstGeom prst="straightConnector1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1716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0"/>
            <a:ext cx="7223760" cy="734721"/>
          </a:xfrm>
        </p:spPr>
        <p:txBody>
          <a:bodyPr/>
          <a:lstStyle/>
          <a:p>
            <a:r>
              <a:rPr lang="en-US" b="1" dirty="0" smtClean="0">
                <a:solidFill>
                  <a:srgbClr val="0066FF"/>
                </a:solidFill>
              </a:rPr>
              <a:t>Attention scoring function</a:t>
            </a:r>
            <a:endParaRPr lang="en-US" b="1" dirty="0">
              <a:solidFill>
                <a:srgbClr val="0066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973486"/>
            <a:ext cx="8534400" cy="3333750"/>
          </a:xfrm>
        </p:spPr>
        <p:txBody>
          <a:bodyPr/>
          <a:lstStyle/>
          <a:p>
            <a:r>
              <a:rPr lang="en-US" b="1" i="1" dirty="0"/>
              <a:t>q </a:t>
            </a:r>
            <a:r>
              <a:rPr lang="en-US" dirty="0"/>
              <a:t>is the query and </a:t>
            </a:r>
            <a:r>
              <a:rPr lang="en-US" b="1" i="1" dirty="0"/>
              <a:t>k </a:t>
            </a:r>
            <a:r>
              <a:rPr lang="en-US" dirty="0"/>
              <a:t>is the </a:t>
            </a:r>
            <a:r>
              <a:rPr lang="en-US" dirty="0" smtClean="0"/>
              <a:t>key</a:t>
            </a:r>
          </a:p>
          <a:p>
            <a:r>
              <a:rPr lang="fr-FR" b="1" dirty="0"/>
              <a:t>Multi-layer Perceptron </a:t>
            </a:r>
            <a:r>
              <a:rPr lang="fr-FR" dirty="0"/>
              <a:t>(</a:t>
            </a:r>
            <a:r>
              <a:rPr lang="fr-FR" dirty="0" err="1"/>
              <a:t>Bahdanau</a:t>
            </a:r>
            <a:r>
              <a:rPr lang="fr-FR" dirty="0"/>
              <a:t> et al. 2015</a:t>
            </a:r>
            <a:r>
              <a:rPr lang="fr-FR" dirty="0" smtClean="0"/>
              <a:t>)</a:t>
            </a:r>
          </a:p>
          <a:p>
            <a:pPr lvl="1"/>
            <a:r>
              <a:rPr lang="en-US" dirty="0" smtClean="0"/>
              <a:t>Flexible</a:t>
            </a:r>
            <a:r>
              <a:rPr lang="en-US" dirty="0"/>
              <a:t>, often very good with large </a:t>
            </a:r>
            <a:r>
              <a:rPr lang="en-US" dirty="0" smtClean="0"/>
              <a:t>data</a:t>
            </a:r>
          </a:p>
          <a:p>
            <a:pPr lvl="1"/>
            <a:endParaRPr lang="en-US" dirty="0" smtClean="0"/>
          </a:p>
          <a:p>
            <a:r>
              <a:rPr lang="da-DK" b="1" dirty="0"/>
              <a:t>Bilinear </a:t>
            </a:r>
            <a:r>
              <a:rPr lang="da-DK" dirty="0"/>
              <a:t>(Luong et al. 2015</a:t>
            </a:r>
            <a:r>
              <a:rPr lang="da-DK" dirty="0" smtClean="0"/>
              <a:t>)</a:t>
            </a:r>
          </a:p>
          <a:p>
            <a:endParaRPr lang="da-DK" dirty="0"/>
          </a:p>
          <a:p>
            <a:r>
              <a:rPr lang="en-US" b="1" dirty="0" smtClean="0"/>
              <a:t>Dot </a:t>
            </a:r>
            <a:r>
              <a:rPr lang="en-US" b="1" dirty="0"/>
              <a:t>Product </a:t>
            </a:r>
            <a:r>
              <a:rPr lang="en-US" dirty="0"/>
              <a:t>(Luong et al. 2015</a:t>
            </a:r>
            <a:r>
              <a:rPr lang="en-US" dirty="0" smtClean="0"/>
              <a:t>)	</a:t>
            </a:r>
          </a:p>
          <a:p>
            <a:pPr lvl="1"/>
            <a:endParaRPr lang="da-DK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207636"/>
            <a:ext cx="2905439" cy="432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199" y="3117400"/>
            <a:ext cx="1735968" cy="3732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199" y="4003375"/>
            <a:ext cx="1630081" cy="31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4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Google Shape;2509;p46"/>
          <p:cNvSpPr txBox="1">
            <a:spLocks noGrp="1"/>
          </p:cNvSpPr>
          <p:nvPr>
            <p:ph type="title"/>
          </p:nvPr>
        </p:nvSpPr>
        <p:spPr>
          <a:xfrm>
            <a:off x="664144" y="0"/>
            <a:ext cx="7032056" cy="928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300"/>
            </a:pPr>
            <a:r>
              <a:rPr lang="en-US" b="1" i="0" u="none" strike="noStrike" cap="none" dirty="0">
                <a:solidFill>
                  <a:srgbClr val="3A85FE"/>
                </a:solidFill>
              </a:rPr>
              <a:t>Attention</a:t>
            </a:r>
            <a:r>
              <a:rPr lang="en-US" i="0" u="none" strike="noStrike" cap="none" dirty="0">
                <a:solidFill>
                  <a:srgbClr val="3A85FE"/>
                </a:solidFill>
              </a:rPr>
              <a:t> </a:t>
            </a:r>
            <a:r>
              <a:rPr lang="en-US" dirty="0" smtClean="0">
                <a:solidFill>
                  <a:srgbClr val="3A85FE"/>
                </a:solidFill>
              </a:rPr>
              <a:t>is so great </a:t>
            </a:r>
            <a:r>
              <a:rPr lang="en-US" sz="2100" dirty="0" smtClean="0">
                <a:solidFill>
                  <a:srgbClr val="00B050"/>
                </a:solidFill>
              </a:rPr>
              <a:t>(</a:t>
            </a:r>
            <a:r>
              <a:rPr lang="en-US" sz="2100" dirty="0" err="1" smtClean="0"/>
              <a:t>Bahdanau</a:t>
            </a:r>
            <a:r>
              <a:rPr lang="en-US" sz="2100" dirty="0" smtClean="0"/>
              <a:t> </a:t>
            </a:r>
            <a:r>
              <a:rPr lang="en-US" sz="2100" dirty="0"/>
              <a:t>at al., 16054 </a:t>
            </a:r>
            <a:r>
              <a:rPr lang="en-US" sz="2100" dirty="0" smtClean="0"/>
              <a:t>Citations)</a:t>
            </a:r>
            <a:endParaRPr sz="2100" dirty="0"/>
          </a:p>
        </p:txBody>
      </p:sp>
      <p:sp>
        <p:nvSpPr>
          <p:cNvPr id="2510" name="Google Shape;2510;p46"/>
          <p:cNvSpPr txBox="1">
            <a:spLocks noGrp="1"/>
          </p:cNvSpPr>
          <p:nvPr>
            <p:ph type="body" idx="1"/>
          </p:nvPr>
        </p:nvSpPr>
        <p:spPr>
          <a:xfrm>
            <a:off x="228600" y="895350"/>
            <a:ext cx="8458200" cy="373737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257156" indent="-257156">
              <a:spcBef>
                <a:spcPts val="0"/>
              </a:spcBef>
              <a:buSzPts val="2400"/>
              <a:buFont typeface="Times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Attention significantly </a:t>
            </a:r>
            <a:r>
              <a:rPr lang="en-US" sz="1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improves NMT performance</a:t>
            </a:r>
            <a:endParaRPr dirty="0"/>
          </a:p>
          <a:p>
            <a:pPr marL="385763" lvl="1" indent="-128588">
              <a:spcBef>
                <a:spcPts val="300"/>
              </a:spcBef>
              <a:buClr>
                <a:srgbClr val="3A85FE"/>
              </a:buClr>
              <a:buSzPts val="2000"/>
              <a:buFont typeface="Times"/>
              <a:buChar char="•"/>
            </a:pP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It’s very useful to allow decoder to focus on certain parts of the </a:t>
            </a:r>
            <a:r>
              <a:rPr lang="en-US" sz="1500" dirty="0" smtClean="0">
                <a:latin typeface="Calibri"/>
                <a:ea typeface="Calibri"/>
                <a:cs typeface="Calibri"/>
                <a:sym typeface="Calibri"/>
              </a:rPr>
              <a:t>source</a:t>
            </a:r>
          </a:p>
          <a:p>
            <a:pPr marL="42863" indent="-128588">
              <a:spcBef>
                <a:spcPts val="300"/>
              </a:spcBef>
              <a:buClr>
                <a:srgbClr val="3A85FE"/>
              </a:buClr>
              <a:buSzPts val="2000"/>
              <a:buFont typeface="Times"/>
              <a:buChar char="•"/>
            </a:pPr>
            <a:r>
              <a:rPr lang="en-US" sz="1800" dirty="0" smtClean="0">
                <a:ea typeface="Calibri"/>
                <a:cs typeface="Calibri"/>
                <a:sym typeface="Calibri"/>
              </a:rPr>
              <a:t>Attention </a:t>
            </a:r>
            <a:r>
              <a:rPr lang="en-US" sz="1800" dirty="0">
                <a:ea typeface="Calibri"/>
                <a:cs typeface="Calibri"/>
                <a:sym typeface="Calibri"/>
              </a:rPr>
              <a:t>provides a </a:t>
            </a:r>
            <a:r>
              <a:rPr lang="en-US" sz="18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more “human-like” model </a:t>
            </a:r>
            <a:r>
              <a:rPr lang="en-US" sz="1800" dirty="0">
                <a:ea typeface="Calibri"/>
                <a:cs typeface="Calibri"/>
                <a:sym typeface="Calibri"/>
              </a:rPr>
              <a:t>of the MT process</a:t>
            </a:r>
            <a:endParaRPr lang="en-US" sz="1800" dirty="0" smtClean="0">
              <a:latin typeface="Calibri"/>
              <a:ea typeface="Calibri"/>
              <a:cs typeface="Calibri"/>
              <a:sym typeface="Calibri"/>
            </a:endParaRPr>
          </a:p>
          <a:p>
            <a:pPr marL="385763" lvl="1" indent="-128588">
              <a:spcBef>
                <a:spcPts val="300"/>
              </a:spcBef>
              <a:buClr>
                <a:srgbClr val="3A85FE"/>
              </a:buClr>
              <a:buSzPts val="2000"/>
              <a:buFont typeface="Times"/>
              <a:buChar char="•"/>
            </a:pPr>
            <a:r>
              <a:rPr lang="en-US" sz="1600" dirty="0"/>
              <a:t>You can look back at the source sentence while translating, rather than needing to remember it all</a:t>
            </a:r>
            <a:endParaRPr sz="1600" dirty="0"/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Attention </a:t>
            </a:r>
            <a:r>
              <a:rPr lang="en-US" sz="1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solves the bottleneck problem</a:t>
            </a:r>
            <a:endParaRPr dirty="0"/>
          </a:p>
          <a:p>
            <a:pPr marL="385763" lvl="1" indent="-128588">
              <a:spcBef>
                <a:spcPts val="300"/>
              </a:spcBef>
              <a:buClr>
                <a:srgbClr val="3A85FE"/>
              </a:buClr>
              <a:buSzPts val="2000"/>
              <a:buFont typeface="Times"/>
              <a:buChar char="•"/>
            </a:pP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Attention allows decoder to look directly at source; bypass bottleneck</a:t>
            </a:r>
            <a:endParaRPr dirty="0"/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1800" dirty="0"/>
              <a:t>Attention helps with </a:t>
            </a:r>
            <a:r>
              <a:rPr lang="en-US" sz="1800" dirty="0">
                <a:solidFill>
                  <a:srgbClr val="00B050"/>
                </a:solidFill>
              </a:rPr>
              <a:t>the vanishing gradient problem </a:t>
            </a:r>
            <a:endParaRPr lang="en-US" sz="1800" dirty="0" smtClean="0">
              <a:solidFill>
                <a:srgbClr val="00B050"/>
              </a:solidFill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1800" dirty="0" smtClean="0">
                <a:latin typeface="Calibri"/>
                <a:ea typeface="Calibri"/>
                <a:cs typeface="Calibri"/>
                <a:sym typeface="Calibri"/>
              </a:rPr>
              <a:t>Attention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provides </a:t>
            </a:r>
            <a:r>
              <a:rPr lang="en-US" sz="1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some interpretability</a:t>
            </a:r>
            <a:endParaRPr dirty="0"/>
          </a:p>
          <a:p>
            <a:pPr marL="385763" lvl="1" indent="-128588">
              <a:spcBef>
                <a:spcPts val="300"/>
              </a:spcBef>
              <a:buClr>
                <a:srgbClr val="3A85FE"/>
              </a:buClr>
              <a:buSzPts val="2000"/>
              <a:buFont typeface="Times"/>
              <a:buChar char="•"/>
            </a:pP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By inspecting attention distribution, we can see </a:t>
            </a:r>
            <a:br>
              <a:rPr lang="en-US" sz="15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what the decoder was focusing on</a:t>
            </a:r>
            <a:endParaRPr dirty="0"/>
          </a:p>
          <a:p>
            <a:pPr marL="385763" lvl="1" indent="-128588">
              <a:spcBef>
                <a:spcPts val="300"/>
              </a:spcBef>
              <a:buClr>
                <a:srgbClr val="3A85FE"/>
              </a:buClr>
              <a:buSzPts val="2000"/>
              <a:buFont typeface="Times"/>
              <a:buChar char="•"/>
            </a:pP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We get </a:t>
            </a:r>
            <a:r>
              <a:rPr lang="en-US" sz="15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alignment for free</a:t>
            </a: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!</a:t>
            </a:r>
            <a:endParaRPr dirty="0"/>
          </a:p>
          <a:p>
            <a:pPr marL="385763" lvl="1" indent="-128588">
              <a:spcBef>
                <a:spcPts val="300"/>
              </a:spcBef>
              <a:buClr>
                <a:srgbClr val="3A85FE"/>
              </a:buClr>
              <a:buSzPts val="2000"/>
              <a:buFont typeface="Times"/>
              <a:buChar char="•"/>
            </a:pP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This is cool because we never explicitly trained</a:t>
            </a:r>
            <a:br>
              <a:rPr lang="en-US" sz="15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an alignment system</a:t>
            </a:r>
            <a:endParaRPr dirty="0"/>
          </a:p>
          <a:p>
            <a:pPr marL="385763" lvl="1" indent="-128588">
              <a:spcBef>
                <a:spcPts val="300"/>
              </a:spcBef>
              <a:buClr>
                <a:srgbClr val="3A85FE"/>
              </a:buClr>
              <a:buSzPts val="2000"/>
              <a:buFont typeface="Times"/>
              <a:buChar char="•"/>
            </a:pPr>
            <a:r>
              <a:rPr lang="en-US" sz="1500" dirty="0">
                <a:latin typeface="Calibri"/>
                <a:ea typeface="Calibri"/>
                <a:cs typeface="Calibri"/>
                <a:sym typeface="Calibri"/>
              </a:rPr>
              <a:t>The network just learned alignment by itself</a:t>
            </a:r>
            <a:endParaRPr dirty="0"/>
          </a:p>
        </p:txBody>
      </p:sp>
      <p:sp>
        <p:nvSpPr>
          <p:cNvPr id="2511" name="Google Shape;2511;p46"/>
          <p:cNvSpPr txBox="1">
            <a:spLocks noGrp="1"/>
          </p:cNvSpPr>
          <p:nvPr>
            <p:ph type="sldNum" idx="12"/>
          </p:nvPr>
        </p:nvSpPr>
        <p:spPr>
          <a:xfrm>
            <a:off x="7329187" y="4782591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48</a:t>
            </a:fld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12" name="Google Shape;2512;p46"/>
          <p:cNvGrpSpPr/>
          <p:nvPr/>
        </p:nvGrpSpPr>
        <p:grpSpPr>
          <a:xfrm>
            <a:off x="5490450" y="2756696"/>
            <a:ext cx="2812489" cy="2162818"/>
            <a:chOff x="4757058" y="3364643"/>
            <a:chExt cx="3749985" cy="2883757"/>
          </a:xfrm>
        </p:grpSpPr>
        <p:pic>
          <p:nvPicPr>
            <p:cNvPr id="2513" name="Google Shape;2513;p46"/>
            <p:cNvPicPr preferRelativeResize="0"/>
            <p:nvPr/>
          </p:nvPicPr>
          <p:blipFill rotWithShape="1">
            <a:blip r:embed="rId3">
              <a:alphaModFix/>
            </a:blip>
            <a:srcRect l="60445" t="3048" r="4085" b="26600"/>
            <a:stretch/>
          </p:blipFill>
          <p:spPr>
            <a:xfrm>
              <a:off x="6379029" y="3364643"/>
              <a:ext cx="2128014" cy="288375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14" name="Google Shape;2514;p46"/>
            <p:cNvCxnSpPr/>
            <p:nvPr/>
          </p:nvCxnSpPr>
          <p:spPr>
            <a:xfrm>
              <a:off x="4757058" y="4453164"/>
              <a:ext cx="1839685" cy="0"/>
            </a:xfrm>
            <a:prstGeom prst="straightConnector1">
              <a:avLst/>
            </a:prstGeom>
            <a:gradFill>
              <a:gsLst>
                <a:gs pos="0">
                  <a:srgbClr val="A50021"/>
                </a:gs>
                <a:gs pos="100000">
                  <a:schemeClr val="dk1"/>
                </a:gs>
              </a:gsLst>
              <a:lin ang="0" scaled="0"/>
            </a:gradFill>
            <a:ln w="28575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71707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562" y="104361"/>
            <a:ext cx="4724519" cy="92894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66FF"/>
                </a:solidFill>
              </a:rPr>
              <a:t>Key developments in attention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s://buomsoo-kim.github.io/data/images/2020-01-01/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02" y="1411202"/>
            <a:ext cx="8501935" cy="340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924800" y="4171950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GPT3</a:t>
            </a:r>
            <a:endParaRPr lang="en-US" sz="1400" dirty="0"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53400" y="2453022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latin typeface="+mn-lt"/>
              </a:rPr>
              <a:t>ChatGpt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141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0060"/>
            <a:ext cx="8763000" cy="522890"/>
          </a:xfrm>
        </p:spPr>
        <p:txBody>
          <a:bodyPr/>
          <a:lstStyle/>
          <a:p>
            <a:r>
              <a:rPr lang="en-US" dirty="0"/>
              <a:t>Attention is a </a:t>
            </a:r>
            <a:r>
              <a:rPr lang="en-US" i="1" dirty="0"/>
              <a:t>general </a:t>
            </a:r>
            <a:r>
              <a:rPr lang="en-US" dirty="0"/>
              <a:t>Deep Learning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71550"/>
            <a:ext cx="8534400" cy="371475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57250"/>
            <a:ext cx="819509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4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p47"/>
          <p:cNvSpPr txBox="1">
            <a:spLocks noGrp="1"/>
          </p:cNvSpPr>
          <p:nvPr>
            <p:ph type="title"/>
          </p:nvPr>
        </p:nvSpPr>
        <p:spPr>
          <a:xfrm>
            <a:off x="609600" y="187936"/>
            <a:ext cx="6858000" cy="568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sz="2400" dirty="0">
                <a:solidFill>
                  <a:srgbClr val="3A85FE"/>
                </a:solidFill>
                <a:ea typeface="Calibri"/>
                <a:cs typeface="Calibri"/>
                <a:sym typeface="Calibri"/>
              </a:rPr>
              <a:t>Evolution of the MT system over time</a:t>
            </a:r>
            <a:endParaRPr dirty="0"/>
          </a:p>
        </p:txBody>
      </p:sp>
      <p:sp>
        <p:nvSpPr>
          <p:cNvPr id="2520" name="Google Shape;2520;p47"/>
          <p:cNvSpPr txBox="1">
            <a:spLocks noGrp="1"/>
          </p:cNvSpPr>
          <p:nvPr>
            <p:ph type="sldNum" idx="12"/>
          </p:nvPr>
        </p:nvSpPr>
        <p:spPr>
          <a:xfrm>
            <a:off x="6032189" y="4869657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51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1" name="Google Shape;2521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6" y="1220018"/>
            <a:ext cx="64008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2" name="Google Shape;2522;p47"/>
          <p:cNvSpPr txBox="1"/>
          <p:nvPr/>
        </p:nvSpPr>
        <p:spPr>
          <a:xfrm>
            <a:off x="2432212" y="4630094"/>
            <a:ext cx="531448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r"/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http://www.meta-net.eu/events/meta-forum-2016/slides/09_sennrich.pdf</a:t>
            </a:r>
            <a:endParaRPr sz="1800"/>
          </a:p>
        </p:txBody>
      </p:sp>
      <p:sp>
        <p:nvSpPr>
          <p:cNvPr id="2523" name="Google Shape;2523;p47"/>
          <p:cNvSpPr/>
          <p:nvPr/>
        </p:nvSpPr>
        <p:spPr>
          <a:xfrm>
            <a:off x="1604290" y="1016236"/>
            <a:ext cx="65232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1350">
                <a:solidFill>
                  <a:srgbClr val="3A87FF"/>
                </a:solidFill>
                <a:latin typeface="Calibri"/>
                <a:ea typeface="Calibri"/>
                <a:cs typeface="Calibri"/>
                <a:sym typeface="Calibri"/>
              </a:rPr>
              <a:t>[Edinburgh En-De WMT newstest2013 Cased BLEU; NMT 2015 from U. Montréal]</a:t>
            </a:r>
            <a:endParaRPr sz="1800"/>
          </a:p>
        </p:txBody>
      </p:sp>
      <p:cxnSp>
        <p:nvCxnSpPr>
          <p:cNvPr id="2524" name="Google Shape;2524;p47"/>
          <p:cNvCxnSpPr/>
          <p:nvPr/>
        </p:nvCxnSpPr>
        <p:spPr>
          <a:xfrm flipH="1">
            <a:off x="4580171" y="1482807"/>
            <a:ext cx="3314700" cy="125730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76200" cap="flat" cmpd="sng">
            <a:solidFill>
              <a:schemeClr val="accent5"/>
            </a:solidFill>
            <a:prstDash val="solid"/>
            <a:miter lim="800000"/>
            <a:headEnd type="stealth" w="med" len="med"/>
            <a:tailEnd type="none" w="sm" len="sm"/>
          </a:ln>
        </p:spPr>
      </p:cxnSp>
      <p:cxnSp>
        <p:nvCxnSpPr>
          <p:cNvPr id="2525" name="Google Shape;2525;p47"/>
          <p:cNvCxnSpPr/>
          <p:nvPr/>
        </p:nvCxnSpPr>
        <p:spPr>
          <a:xfrm flipH="1">
            <a:off x="1894122" y="1940007"/>
            <a:ext cx="5943600" cy="17145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57150" cap="flat" cmpd="sng">
            <a:solidFill>
              <a:schemeClr val="accent1"/>
            </a:solidFill>
            <a:prstDash val="solid"/>
            <a:miter lim="800000"/>
            <a:headEnd type="stealth" w="med" len="med"/>
            <a:tailEnd type="none" w="sm" len="sm"/>
          </a:ln>
        </p:spPr>
      </p:cxnSp>
      <p:cxnSp>
        <p:nvCxnSpPr>
          <p:cNvPr id="2526" name="Google Shape;2526;p47"/>
          <p:cNvCxnSpPr/>
          <p:nvPr/>
        </p:nvCxnSpPr>
        <p:spPr>
          <a:xfrm flipH="1">
            <a:off x="1894122" y="1768557"/>
            <a:ext cx="5943600" cy="51435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57150" cap="flat" cmpd="sng">
            <a:solidFill>
              <a:schemeClr val="accent2"/>
            </a:solidFill>
            <a:prstDash val="solid"/>
            <a:miter lim="800000"/>
            <a:headEnd type="stealth" w="med" len="med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86079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p49"/>
          <p:cNvSpPr txBox="1">
            <a:spLocks noGrp="1"/>
          </p:cNvSpPr>
          <p:nvPr>
            <p:ph type="title"/>
          </p:nvPr>
        </p:nvSpPr>
        <p:spPr>
          <a:xfrm>
            <a:off x="498107" y="145734"/>
            <a:ext cx="7976938" cy="52101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2700"/>
            </a:pPr>
            <a:r>
              <a:rPr lang="en-US" sz="2800" dirty="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NMT: </a:t>
            </a:r>
            <a:r>
              <a:rPr lang="en-US" sz="2800" dirty="0" smtClean="0">
                <a:solidFill>
                  <a:srgbClr val="0066FF"/>
                </a:solidFill>
                <a:ea typeface="Calibri"/>
                <a:cs typeface="Calibri"/>
                <a:sym typeface="Calibri"/>
              </a:rPr>
              <a:t>the first big </a:t>
            </a:r>
            <a:r>
              <a:rPr lang="en-US" sz="2800" dirty="0">
                <a:solidFill>
                  <a:srgbClr val="0066FF"/>
                </a:solidFill>
                <a:ea typeface="Calibri"/>
                <a:cs typeface="Calibri"/>
                <a:sym typeface="Calibri"/>
              </a:rPr>
              <a:t>story </a:t>
            </a:r>
            <a:r>
              <a:rPr lang="en-US" sz="2800" dirty="0" smtClean="0">
                <a:solidFill>
                  <a:srgbClr val="0066FF"/>
                </a:solidFill>
                <a:ea typeface="Calibri"/>
                <a:cs typeface="Calibri"/>
                <a:sym typeface="Calibri"/>
              </a:rPr>
              <a:t>of </a:t>
            </a:r>
            <a:r>
              <a:rPr lang="en-US" sz="2800" dirty="0" smtClean="0">
                <a:solidFill>
                  <a:srgbClr val="0066FF"/>
                </a:solidFill>
              </a:rPr>
              <a:t>NLP </a:t>
            </a:r>
            <a:r>
              <a:rPr lang="en-US" sz="2800" dirty="0">
                <a:solidFill>
                  <a:srgbClr val="0066FF"/>
                </a:solidFill>
              </a:rPr>
              <a:t>Deep </a:t>
            </a:r>
            <a:r>
              <a:rPr lang="en-US" sz="2800" dirty="0" smtClean="0">
                <a:solidFill>
                  <a:srgbClr val="0066FF"/>
                </a:solidFill>
              </a:rPr>
              <a:t>Learning</a:t>
            </a:r>
            <a:endParaRPr sz="2800" dirty="0">
              <a:solidFill>
                <a:srgbClr val="0066FF"/>
              </a:solidFill>
            </a:endParaRPr>
          </a:p>
        </p:txBody>
      </p:sp>
      <p:sp>
        <p:nvSpPr>
          <p:cNvPr id="2541" name="Google Shape;2541;p49"/>
          <p:cNvSpPr txBox="1">
            <a:spLocks noGrp="1"/>
          </p:cNvSpPr>
          <p:nvPr>
            <p:ph type="body" idx="1"/>
          </p:nvPr>
        </p:nvSpPr>
        <p:spPr>
          <a:xfrm>
            <a:off x="381000" y="666750"/>
            <a:ext cx="8397390" cy="426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SzPts val="2400"/>
              <a:buNone/>
            </a:pP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Neural Machine Translation went from a </a:t>
            </a:r>
            <a:r>
              <a:rPr lang="en-US" sz="21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fringe research activity </a:t>
            </a: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US" sz="2100" b="1" dirty="0">
                <a:latin typeface="Calibri"/>
                <a:ea typeface="Calibri"/>
                <a:cs typeface="Calibri"/>
                <a:sym typeface="Calibri"/>
              </a:rPr>
              <a:t>2014 </a:t>
            </a: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to the </a:t>
            </a:r>
            <a:r>
              <a:rPr lang="en-US" sz="21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leading standard method </a:t>
            </a: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US" sz="2100" b="1" dirty="0">
                <a:latin typeface="Calibri"/>
                <a:ea typeface="Calibri"/>
                <a:cs typeface="Calibri"/>
                <a:sym typeface="Calibri"/>
              </a:rPr>
              <a:t>2016</a:t>
            </a: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100" dirty="0">
                <a:latin typeface="Calibri"/>
                <a:ea typeface="Calibri"/>
                <a:cs typeface="Calibri"/>
                <a:sym typeface="Calibri"/>
              </a:rPr>
            </a:br>
            <a:endParaRPr sz="2100" dirty="0"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2100" b="1" dirty="0">
                <a:latin typeface="Calibri"/>
                <a:ea typeface="Calibri"/>
                <a:cs typeface="Calibri"/>
                <a:sym typeface="Calibri"/>
              </a:rPr>
              <a:t>2014</a:t>
            </a: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: First seq2seq paper </a:t>
            </a:r>
            <a:r>
              <a:rPr lang="en-US" sz="2100" dirty="0" smtClean="0">
                <a:latin typeface="Calibri"/>
                <a:ea typeface="Calibri"/>
                <a:cs typeface="Calibri"/>
                <a:sym typeface="Calibri"/>
              </a:rPr>
              <a:t>published [</a:t>
            </a:r>
            <a:r>
              <a:rPr lang="en-US" sz="2000" dirty="0" err="1">
                <a:solidFill>
                  <a:srgbClr val="0000FF"/>
                </a:solidFill>
              </a:rPr>
              <a:t>Sutskever</a:t>
            </a:r>
            <a:r>
              <a:rPr lang="en-US" sz="2000" dirty="0">
                <a:solidFill>
                  <a:srgbClr val="0000FF"/>
                </a:solidFill>
              </a:rPr>
              <a:t> et al</a:t>
            </a:r>
            <a:r>
              <a:rPr lang="en-US" sz="2000" dirty="0" smtClean="0">
                <a:solidFill>
                  <a:srgbClr val="0000FF"/>
                </a:solidFill>
              </a:rPr>
              <a:t>., 2014</a:t>
            </a:r>
            <a:r>
              <a:rPr lang="en-US" sz="2000" dirty="0" smtClean="0"/>
              <a:t>]</a:t>
            </a: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100" dirty="0">
                <a:latin typeface="Calibri"/>
                <a:ea typeface="Calibri"/>
                <a:cs typeface="Calibri"/>
                <a:sym typeface="Calibri"/>
              </a:rPr>
            </a:br>
            <a:endParaRPr sz="2100" dirty="0"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2100" b="1" dirty="0">
                <a:latin typeface="Calibri"/>
                <a:ea typeface="Calibri"/>
                <a:cs typeface="Calibri"/>
                <a:sym typeface="Calibri"/>
              </a:rPr>
              <a:t>2016</a:t>
            </a: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: Google Translate switches from SMT to </a:t>
            </a:r>
            <a:r>
              <a:rPr lang="en-US" sz="2100" dirty="0" smtClean="0">
                <a:latin typeface="Calibri"/>
                <a:ea typeface="Calibri"/>
                <a:cs typeface="Calibri"/>
                <a:sym typeface="Calibri"/>
              </a:rPr>
              <a:t>NMT and </a:t>
            </a:r>
            <a:r>
              <a:rPr lang="en-US" sz="2100" dirty="0" smtClean="0"/>
              <a:t>by </a:t>
            </a:r>
            <a:r>
              <a:rPr lang="en-US" sz="2100" dirty="0"/>
              <a:t>2018 everyone has</a:t>
            </a:r>
            <a:endParaRPr sz="2100" dirty="0"/>
          </a:p>
          <a:p>
            <a:pPr marL="257156" indent="-142865">
              <a:spcBef>
                <a:spcPts val="360"/>
              </a:spcBef>
              <a:buSzPts val="2400"/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endParaRPr lang="en-US" sz="2700" dirty="0" smtClean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27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</a:t>
            </a:r>
            <a:r>
              <a:rPr lang="en-US" sz="27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 amazing!</a:t>
            </a:r>
            <a:endParaRPr dirty="0">
              <a:solidFill>
                <a:srgbClr val="FF0000"/>
              </a:solidFill>
            </a:endParaRPr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SMT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systems, built by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hundreds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engineers over many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years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outperformed by NMT systems trained by a </a:t>
            </a:r>
            <a:r>
              <a:rPr lang="en-US" sz="1800" dirty="0">
                <a:solidFill>
                  <a:srgbClr val="FF0000"/>
                </a:solidFill>
              </a:rPr>
              <a:t>small groups</a:t>
            </a:r>
            <a:r>
              <a:rPr lang="en-US" sz="18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engineers in a few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months</a:t>
            </a:r>
            <a:endParaRPr sz="1800" dirty="0">
              <a:solidFill>
                <a:srgbClr val="FF0000"/>
              </a:solidFill>
            </a:endParaRPr>
          </a:p>
        </p:txBody>
      </p:sp>
      <p:sp>
        <p:nvSpPr>
          <p:cNvPr id="2542" name="Google Shape;2542;p49"/>
          <p:cNvSpPr txBox="1">
            <a:spLocks noGrp="1"/>
          </p:cNvSpPr>
          <p:nvPr>
            <p:ph type="sldNum" idx="12"/>
          </p:nvPr>
        </p:nvSpPr>
        <p:spPr>
          <a:xfrm>
            <a:off x="7235340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52</a:t>
            </a:fld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52750"/>
            <a:ext cx="6172200" cy="90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9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p50"/>
          <p:cNvSpPr txBox="1">
            <a:spLocks noGrp="1"/>
          </p:cNvSpPr>
          <p:nvPr>
            <p:ph type="title"/>
          </p:nvPr>
        </p:nvSpPr>
        <p:spPr>
          <a:xfrm>
            <a:off x="563078" y="1"/>
            <a:ext cx="7285521" cy="6667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dirty="0" smtClean="0">
                <a:solidFill>
                  <a:srgbClr val="0066FF"/>
                </a:solidFill>
              </a:rPr>
              <a:t>MT solved?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2548" name="Google Shape;2548;p50"/>
          <p:cNvSpPr txBox="1">
            <a:spLocks noGrp="1"/>
          </p:cNvSpPr>
          <p:nvPr>
            <p:ph type="body" idx="1"/>
          </p:nvPr>
        </p:nvSpPr>
        <p:spPr>
          <a:xfrm>
            <a:off x="664143" y="1215738"/>
            <a:ext cx="6865370" cy="34169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257156" indent="-257156">
              <a:spcBef>
                <a:spcPts val="0"/>
              </a:spcBef>
              <a:buSzPts val="2400"/>
              <a:buFont typeface="Times"/>
              <a:buChar char="•"/>
            </a:pPr>
            <a:r>
              <a:rPr lang="en-US" sz="27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Nope!</a:t>
            </a:r>
            <a:endParaRPr dirty="0"/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2700" dirty="0">
                <a:latin typeface="Calibri"/>
                <a:ea typeface="Calibri"/>
                <a:cs typeface="Calibri"/>
                <a:sym typeface="Calibri"/>
              </a:rPr>
              <a:t>Many difficulties remain:</a:t>
            </a:r>
            <a:endParaRPr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21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Out-of-vocabulary</a:t>
            </a: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words (</a:t>
            </a:r>
            <a:r>
              <a:rPr lang="en-US" sz="2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unknow</a:t>
            </a: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words)</a:t>
            </a:r>
            <a:endParaRPr sz="2100"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21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Domain mismatch </a:t>
            </a: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train and test data</a:t>
            </a:r>
            <a:endParaRPr sz="2100"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Maintaining </a:t>
            </a:r>
            <a:r>
              <a:rPr lang="en-US" sz="21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context </a:t>
            </a: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longer text</a:t>
            </a:r>
            <a:endParaRPr sz="2100"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21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Low-resource</a:t>
            </a: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language </a:t>
            </a:r>
            <a:r>
              <a:rPr lang="en-US" sz="21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pairs (</a:t>
            </a:r>
            <a:r>
              <a:rPr lang="en-US" sz="2100" dirty="0" smtClean="0"/>
              <a:t>Hallucinations)</a:t>
            </a:r>
            <a:endParaRPr sz="2100" dirty="0"/>
          </a:p>
        </p:txBody>
      </p:sp>
      <p:sp>
        <p:nvSpPr>
          <p:cNvPr id="2549" name="Google Shape;2549;p50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53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579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4" name="Google Shape;2554;p51"/>
          <p:cNvSpPr txBox="1">
            <a:spLocks noGrp="1"/>
          </p:cNvSpPr>
          <p:nvPr>
            <p:ph type="title"/>
          </p:nvPr>
        </p:nvSpPr>
        <p:spPr>
          <a:xfrm>
            <a:off x="541422" y="106592"/>
            <a:ext cx="7383378" cy="67574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dirty="0">
                <a:solidFill>
                  <a:srgbClr val="0066FF"/>
                </a:solidFill>
              </a:rPr>
              <a:t>MT solved?</a:t>
            </a:r>
            <a:endParaRPr dirty="0">
              <a:solidFill>
                <a:srgbClr val="0066FF"/>
              </a:solidFill>
            </a:endParaRPr>
          </a:p>
        </p:txBody>
      </p:sp>
      <p:sp>
        <p:nvSpPr>
          <p:cNvPr id="2555" name="Google Shape;2555;p51"/>
          <p:cNvSpPr txBox="1">
            <a:spLocks noGrp="1"/>
          </p:cNvSpPr>
          <p:nvPr>
            <p:ph type="body" idx="1"/>
          </p:nvPr>
        </p:nvSpPr>
        <p:spPr>
          <a:xfrm>
            <a:off x="721895" y="1215738"/>
            <a:ext cx="6807618" cy="34169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257156" indent="-257156">
              <a:spcBef>
                <a:spcPts val="0"/>
              </a:spcBef>
              <a:buSzPts val="2400"/>
              <a:buFont typeface="Times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Nope!</a:t>
            </a:r>
            <a:endParaRPr dirty="0"/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common sense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is still hard</a:t>
            </a:r>
            <a:endParaRPr dirty="0"/>
          </a:p>
        </p:txBody>
      </p:sp>
      <p:sp>
        <p:nvSpPr>
          <p:cNvPr id="2556" name="Google Shape;2556;p51"/>
          <p:cNvSpPr txBox="1">
            <a:spLocks noGrp="1"/>
          </p:cNvSpPr>
          <p:nvPr>
            <p:ph type="sldNum" idx="12"/>
          </p:nvPr>
        </p:nvSpPr>
        <p:spPr>
          <a:xfrm>
            <a:off x="7199246" y="4685373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54</a:t>
            </a:fld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7" name="Google Shape;255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2658" y="1958214"/>
            <a:ext cx="5163623" cy="158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8" name="Google Shape;2558;p51"/>
          <p:cNvPicPr preferRelativeResize="0"/>
          <p:nvPr/>
        </p:nvPicPr>
        <p:blipFill rotWithShape="1">
          <a:blip r:embed="rId4">
            <a:alphaModFix/>
          </a:blip>
          <a:srcRect t="9238" b="10475"/>
          <a:stretch/>
        </p:blipFill>
        <p:spPr>
          <a:xfrm>
            <a:off x="4891963" y="3386445"/>
            <a:ext cx="1260284" cy="151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9" name="Google Shape;2559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6086" y="3435010"/>
            <a:ext cx="1477338" cy="1469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60" name="Google Shape;2560;p51"/>
          <p:cNvSpPr txBox="1"/>
          <p:nvPr/>
        </p:nvSpPr>
        <p:spPr>
          <a:xfrm>
            <a:off x="6217016" y="3437580"/>
            <a:ext cx="4054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4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15893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p53"/>
          <p:cNvSpPr txBox="1">
            <a:spLocks noGrp="1"/>
          </p:cNvSpPr>
          <p:nvPr>
            <p:ph type="title"/>
          </p:nvPr>
        </p:nvSpPr>
        <p:spPr>
          <a:xfrm>
            <a:off x="606392" y="86626"/>
            <a:ext cx="6175408" cy="75799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3A85FE"/>
              </a:buClr>
              <a:buSzPts val="3200"/>
            </a:pPr>
            <a:r>
              <a:rPr lang="en-US" dirty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Seq2seq </a:t>
            </a:r>
            <a:r>
              <a:rPr lang="en-US" dirty="0" smtClean="0">
                <a:solidFill>
                  <a:srgbClr val="3A85FE"/>
                </a:solidFill>
                <a:latin typeface="Calibri"/>
                <a:ea typeface="Calibri"/>
                <a:cs typeface="Calibri"/>
                <a:sym typeface="Calibri"/>
              </a:rPr>
              <a:t>is flexible and efficient!</a:t>
            </a:r>
            <a:endParaRPr dirty="0"/>
          </a:p>
        </p:txBody>
      </p:sp>
      <p:sp>
        <p:nvSpPr>
          <p:cNvPr id="2576" name="Google Shape;2576;p53"/>
          <p:cNvSpPr txBox="1">
            <a:spLocks noGrp="1"/>
          </p:cNvSpPr>
          <p:nvPr>
            <p:ph type="body" idx="1"/>
          </p:nvPr>
        </p:nvSpPr>
        <p:spPr>
          <a:xfrm>
            <a:off x="606392" y="1215738"/>
            <a:ext cx="6923121" cy="34169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257156" indent="-257156">
              <a:spcBef>
                <a:spcPts val="0"/>
              </a:spcBef>
              <a:buSzPts val="2400"/>
              <a:buFont typeface="Times"/>
              <a:buChar char="•"/>
            </a:pPr>
            <a:r>
              <a:rPr lang="en-US" sz="2100" dirty="0" smtClean="0">
                <a:ea typeface="Calibri"/>
                <a:cs typeface="Calibri"/>
                <a:sym typeface="Calibri"/>
              </a:rPr>
              <a:t>Seq2Seq </a:t>
            </a:r>
            <a:r>
              <a:rPr lang="en-US" sz="2100" dirty="0">
                <a:ea typeface="Calibri"/>
                <a:cs typeface="Calibri"/>
                <a:sym typeface="Calibri"/>
              </a:rPr>
              <a:t>is useful not only in the Machine Translation </a:t>
            </a:r>
            <a:endParaRPr lang="en-US" sz="2100" dirty="0" smtClean="0"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0"/>
              </a:spcBef>
              <a:buSzPts val="2400"/>
              <a:buFont typeface="Times"/>
              <a:buChar char="•"/>
            </a:pPr>
            <a:r>
              <a:rPr lang="en-US" sz="2100" dirty="0" smtClean="0">
                <a:ea typeface="Calibri"/>
                <a:cs typeface="Calibri"/>
                <a:sym typeface="Calibri"/>
              </a:rPr>
              <a:t>Many </a:t>
            </a: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NLP tasks can be phrased as sequence-to-sequence:</a:t>
            </a:r>
            <a:endParaRPr sz="1800"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Summarization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(long text → short text)</a:t>
            </a:r>
            <a:endParaRPr sz="1800"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Dialogue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(previous utterances → next utterance)</a:t>
            </a:r>
            <a:endParaRPr sz="1800"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Parsing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(input text → output parse as sequence)</a:t>
            </a:r>
            <a:endParaRPr sz="1800" dirty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Code generation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(natural language → Python code)</a:t>
            </a:r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OCR</a:t>
            </a:r>
            <a:r>
              <a:rPr lang="en-US" sz="1800" dirty="0">
                <a:latin typeface="Calibri"/>
                <a:cs typeface="Calibri"/>
                <a:sym typeface="Calibri"/>
              </a:rPr>
              <a:t> (image of character </a:t>
            </a:r>
            <a:r>
              <a:rPr lang="en-US" sz="1800" dirty="0">
                <a:latin typeface="Calibri"/>
                <a:cs typeface="Calibri"/>
                <a:sym typeface="Wingdings" panose="05000000000000000000" pitchFamily="2" charset="2"/>
              </a:rPr>
              <a:t> text </a:t>
            </a:r>
            <a:r>
              <a:rPr lang="en-US" sz="1800" dirty="0" err="1">
                <a:latin typeface="Calibri"/>
                <a:cs typeface="Calibri"/>
                <a:sym typeface="Wingdings" panose="05000000000000000000" pitchFamily="2" charset="2"/>
              </a:rPr>
              <a:t>sequcence</a:t>
            </a:r>
            <a:r>
              <a:rPr lang="en-US" sz="1800" dirty="0">
                <a:latin typeface="Calibri"/>
                <a:cs typeface="Calibri"/>
                <a:sym typeface="Wingdings" panose="05000000000000000000" pitchFamily="2" charset="2"/>
              </a:rPr>
              <a:t>)</a:t>
            </a:r>
            <a:endParaRPr lang="en-US" sz="1800" dirty="0">
              <a:latin typeface="Calibri"/>
              <a:cs typeface="Calibri"/>
              <a:sym typeface="Calibri"/>
            </a:endParaRPr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ASR</a:t>
            </a:r>
            <a:r>
              <a:rPr lang="en-US" sz="1800" dirty="0">
                <a:latin typeface="Calibri"/>
                <a:cs typeface="Calibri"/>
                <a:sym typeface="Calibri"/>
              </a:rPr>
              <a:t> (sequence of Acoustic </a:t>
            </a:r>
            <a:r>
              <a:rPr lang="en-US" sz="1800" dirty="0">
                <a:latin typeface="Calibri"/>
                <a:cs typeface="Calibri"/>
                <a:sym typeface="Wingdings" panose="05000000000000000000" pitchFamily="2" charset="2"/>
              </a:rPr>
              <a:t> text sequence)</a:t>
            </a:r>
            <a:endParaRPr sz="1800" dirty="0"/>
          </a:p>
        </p:txBody>
      </p:sp>
      <p:sp>
        <p:nvSpPr>
          <p:cNvPr id="2577" name="Google Shape;2577;p53"/>
          <p:cNvSpPr txBox="1">
            <a:spLocks noGrp="1"/>
          </p:cNvSpPr>
          <p:nvPr>
            <p:ph type="sldNum" idx="12"/>
          </p:nvPr>
        </p:nvSpPr>
        <p:spPr>
          <a:xfrm>
            <a:off x="5986463" y="4767264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l"/>
              <a:t>55</a:t>
            </a:fld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852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09550"/>
            <a:ext cx="8458200" cy="514350"/>
          </a:xfrm>
        </p:spPr>
        <p:txBody>
          <a:bodyPr>
            <a:normAutofit/>
          </a:bodyPr>
          <a:lstStyle/>
          <a:p>
            <a:r>
              <a:rPr lang="en-US" sz="2700" dirty="0" smtClean="0">
                <a:solidFill>
                  <a:srgbClr val="0066FF"/>
                </a:solidFill>
              </a:rPr>
              <a:t>Machine Translation Problem</a:t>
            </a:r>
            <a:endParaRPr lang="en-US" sz="2700" dirty="0">
              <a:solidFill>
                <a:srgbClr val="0066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534400" cy="386715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Automatic translation from English sentence to Vietnamese sentence</a:t>
            </a:r>
            <a:endParaRPr lang="en-US" sz="1800" dirty="0"/>
          </a:p>
          <a:p>
            <a:r>
              <a:rPr lang="en-US" sz="1800" dirty="0"/>
              <a:t>T</a:t>
            </a:r>
            <a:r>
              <a:rPr lang="en-US" sz="1800" dirty="0" smtClean="0"/>
              <a:t>raining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smtClean="0"/>
              <a:t>testing data: </a:t>
            </a:r>
            <a:r>
              <a:rPr lang="en-US" sz="1800" dirty="0"/>
              <a:t>IWSLT 2015</a:t>
            </a:r>
          </a:p>
          <a:p>
            <a:pPr marL="71438" indent="0">
              <a:buNone/>
            </a:pPr>
            <a:r>
              <a:rPr lang="en-US" sz="1800" dirty="0" smtClean="0"/>
              <a:t>Example:</a:t>
            </a:r>
            <a:endParaRPr lang="en-US" sz="1800" dirty="0"/>
          </a:p>
          <a:p>
            <a:pPr marL="71438" indent="0">
              <a:buNone/>
            </a:pPr>
            <a:r>
              <a:rPr lang="en-US" sz="1800" b="1" dirty="0" smtClean="0"/>
              <a:t>Input: </a:t>
            </a:r>
            <a:r>
              <a:rPr lang="en-US" sz="1800" dirty="0"/>
              <a:t>I like a blue book </a:t>
            </a:r>
            <a:endParaRPr lang="en-US" sz="1800" dirty="0" smtClean="0">
              <a:sym typeface="Wingdings" panose="05000000000000000000" pitchFamily="2" charset="2"/>
            </a:endParaRPr>
          </a:p>
          <a:p>
            <a:pPr marL="71438" indent="0">
              <a:buNone/>
            </a:pPr>
            <a:r>
              <a:rPr lang="en-US" sz="1800" b="1" dirty="0" err="1" smtClean="0">
                <a:sym typeface="Wingdings" panose="05000000000000000000" pitchFamily="2" charset="2"/>
              </a:rPr>
              <a:t>Oputput</a:t>
            </a:r>
            <a:r>
              <a:rPr lang="en-US" sz="1800" b="1" dirty="0" smtClean="0">
                <a:sym typeface="Wingdings" panose="05000000000000000000" pitchFamily="2" charset="2"/>
              </a:rPr>
              <a:t>: </a:t>
            </a:r>
            <a:r>
              <a:rPr lang="en-US" sz="1800" dirty="0" err="1" smtClean="0">
                <a:sym typeface="Wingdings" panose="05000000000000000000" pitchFamily="2" charset="2"/>
              </a:rPr>
              <a:t>Tôi</a:t>
            </a:r>
            <a:r>
              <a:rPr lang="en-US" sz="1800" dirty="0" smtClean="0">
                <a:sym typeface="Wingdings" panose="05000000000000000000" pitchFamily="2" charset="2"/>
              </a:rPr>
              <a:t> </a:t>
            </a:r>
            <a:r>
              <a:rPr lang="en-US" sz="1800" dirty="0" err="1" smtClean="0">
                <a:sym typeface="Wingdings" panose="05000000000000000000" pitchFamily="2" charset="2"/>
              </a:rPr>
              <a:t>thích</a:t>
            </a:r>
            <a:r>
              <a:rPr lang="en-US" sz="1800" dirty="0" smtClean="0">
                <a:sym typeface="Wingdings" panose="05000000000000000000" pitchFamily="2" charset="2"/>
              </a:rPr>
              <a:t> </a:t>
            </a:r>
            <a:r>
              <a:rPr lang="en-US" sz="1800" dirty="0" err="1" smtClean="0">
                <a:sym typeface="Wingdings" panose="05000000000000000000" pitchFamily="2" charset="2"/>
              </a:rPr>
              <a:t>quyển</a:t>
            </a:r>
            <a:r>
              <a:rPr lang="en-US" sz="1800" dirty="0" smtClean="0">
                <a:sym typeface="Wingdings" panose="05000000000000000000" pitchFamily="2" charset="2"/>
              </a:rPr>
              <a:t> </a:t>
            </a:r>
            <a:r>
              <a:rPr lang="en-US" sz="1800" dirty="0" err="1" smtClean="0">
                <a:sym typeface="Wingdings" panose="05000000000000000000" pitchFamily="2" charset="2"/>
              </a:rPr>
              <a:t>sách</a:t>
            </a:r>
            <a:r>
              <a:rPr lang="en-US" sz="1800" dirty="0" smtClean="0">
                <a:sym typeface="Wingdings" panose="05000000000000000000" pitchFamily="2" charset="2"/>
              </a:rPr>
              <a:t> </a:t>
            </a:r>
            <a:r>
              <a:rPr lang="en-US" sz="1800" dirty="0" err="1" smtClean="0">
                <a:sym typeface="Wingdings" panose="05000000000000000000" pitchFamily="2" charset="2"/>
              </a:rPr>
              <a:t>màu</a:t>
            </a:r>
            <a:r>
              <a:rPr lang="en-US" sz="1800" dirty="0" smtClean="0">
                <a:sym typeface="Wingdings" panose="05000000000000000000" pitchFamily="2" charset="2"/>
              </a:rPr>
              <a:t> </a:t>
            </a:r>
            <a:r>
              <a:rPr lang="en-US" sz="1800" dirty="0" err="1" smtClean="0">
                <a:sym typeface="Wingdings" panose="05000000000000000000" pitchFamily="2" charset="2"/>
              </a:rPr>
              <a:t>xanh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3174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"/>
            <a:ext cx="5402179" cy="666750"/>
          </a:xfrm>
        </p:spPr>
        <p:txBody>
          <a:bodyPr>
            <a:normAutofit/>
          </a:bodyPr>
          <a:lstStyle/>
          <a:p>
            <a:r>
              <a:rPr lang="en-US" sz="2700" dirty="0" smtClean="0">
                <a:solidFill>
                  <a:srgbClr val="0066FF"/>
                </a:solidFill>
              </a:rPr>
              <a:t>Apply seq2seq + attention for NMT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25090"/>
            <a:ext cx="7886700" cy="3826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Goals to be </a:t>
            </a:r>
            <a:r>
              <a:rPr lang="en-US" sz="1800" b="1" dirty="0" smtClean="0"/>
              <a:t>achieved: </a:t>
            </a:r>
            <a:endParaRPr lang="en-US" sz="1800" b="1" dirty="0"/>
          </a:p>
          <a:p>
            <a:pPr>
              <a:buFont typeface="+mj-lt"/>
              <a:buAutoNum type="arabicPeriod"/>
            </a:pPr>
            <a:r>
              <a:rPr lang="en-US" sz="1800" dirty="0"/>
              <a:t>Training seq2seq model for English-Vietnamese translation problem</a:t>
            </a:r>
            <a:r>
              <a:rPr lang="en-US" sz="1800" dirty="0" smtClean="0"/>
              <a:t>. </a:t>
            </a: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1800" dirty="0" smtClean="0"/>
              <a:t>Evaluating </a:t>
            </a:r>
            <a:r>
              <a:rPr lang="en-US" sz="1800" dirty="0"/>
              <a:t>the translation system by BLEU score</a:t>
            </a:r>
            <a:r>
              <a:rPr lang="en-US" sz="1800" dirty="0" smtClean="0"/>
              <a:t>.</a:t>
            </a: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1800" dirty="0" err="1" smtClean="0"/>
              <a:t>Seing</a:t>
            </a:r>
            <a:r>
              <a:rPr lang="en-US" sz="1800" dirty="0" smtClean="0"/>
              <a:t> </a:t>
            </a:r>
            <a:r>
              <a:rPr lang="en-US" sz="1800" dirty="0"/>
              <a:t>Attention score matrix to better understand the model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b="1" dirty="0" smtClean="0"/>
              <a:t>The tasks to be implemented: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Data preprocessing</a:t>
            </a:r>
            <a:endParaRPr lang="en-US" sz="1800" dirty="0" smtClean="0"/>
          </a:p>
          <a:p>
            <a:pPr>
              <a:buFont typeface="+mj-lt"/>
              <a:buAutoNum type="arabicPeriod"/>
            </a:pPr>
            <a:r>
              <a:rPr lang="en-US" sz="1800" dirty="0" smtClean="0"/>
              <a:t>Create </a:t>
            </a:r>
            <a:r>
              <a:rPr lang="en-US" sz="1800" dirty="0"/>
              <a:t>training data</a:t>
            </a:r>
            <a:endParaRPr lang="en-US" sz="1800" dirty="0" smtClean="0"/>
          </a:p>
          <a:p>
            <a:pPr>
              <a:buFont typeface="+mj-lt"/>
              <a:buAutoNum type="arabicPeriod"/>
            </a:pPr>
            <a:r>
              <a:rPr lang="fr-FR" sz="1800" dirty="0"/>
              <a:t>Write </a:t>
            </a:r>
            <a:r>
              <a:rPr lang="fr-FR" sz="1800" b="1" dirty="0">
                <a:solidFill>
                  <a:srgbClr val="FF0000"/>
                </a:solidFill>
              </a:rPr>
              <a:t>encoder, </a:t>
            </a:r>
            <a:r>
              <a:rPr lang="fr-FR" sz="1800" b="1" dirty="0" err="1">
                <a:solidFill>
                  <a:srgbClr val="FF0000"/>
                </a:solidFill>
              </a:rPr>
              <a:t>decoder</a:t>
            </a:r>
            <a:r>
              <a:rPr lang="fr-FR" sz="1800" b="1" dirty="0">
                <a:solidFill>
                  <a:srgbClr val="FF0000"/>
                </a:solidFill>
              </a:rPr>
              <a:t>, </a:t>
            </a:r>
            <a:r>
              <a:rPr lang="fr-FR" sz="1800" b="1" dirty="0" smtClean="0">
                <a:solidFill>
                  <a:srgbClr val="FF0000"/>
                </a:solidFill>
              </a:rPr>
              <a:t>attention </a:t>
            </a:r>
            <a:r>
              <a:rPr lang="fr-FR" sz="1800" dirty="0" err="1" smtClean="0"/>
              <a:t>modul</a:t>
            </a: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1800" dirty="0" smtClean="0"/>
              <a:t>Training model</a:t>
            </a: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1800" dirty="0"/>
              <a:t>Translate new source sentence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Show Attention, BLEU score.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667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54"/>
          <p:cNvSpPr txBox="1">
            <a:spLocks noGrp="1"/>
          </p:cNvSpPr>
          <p:nvPr>
            <p:ph type="title"/>
          </p:nvPr>
        </p:nvSpPr>
        <p:spPr>
          <a:xfrm>
            <a:off x="577516" y="0"/>
            <a:ext cx="4580363" cy="74355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buSzPts val="3300"/>
            </a:pPr>
            <a:r>
              <a:rPr lang="en-US" sz="2700" dirty="0" smtClean="0">
                <a:solidFill>
                  <a:srgbClr val="0066FF"/>
                </a:solidFill>
              </a:rPr>
              <a:t>Conclusion</a:t>
            </a:r>
            <a:endParaRPr sz="2700" dirty="0">
              <a:solidFill>
                <a:srgbClr val="0066FF"/>
              </a:solidFill>
            </a:endParaRPr>
          </a:p>
        </p:txBody>
      </p:sp>
      <p:sp>
        <p:nvSpPr>
          <p:cNvPr id="2583" name="Google Shape;2583;p54"/>
          <p:cNvSpPr txBox="1">
            <a:spLocks noGrp="1"/>
          </p:cNvSpPr>
          <p:nvPr>
            <p:ph type="body" idx="1"/>
          </p:nvPr>
        </p:nvSpPr>
        <p:spPr>
          <a:xfrm>
            <a:off x="577517" y="1037035"/>
            <a:ext cx="7295373" cy="38671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Sequence-to-sequence </a:t>
            </a:r>
            <a:r>
              <a:rPr lang="en-US" dirty="0">
                <a:ea typeface="Calibri"/>
                <a:cs typeface="Calibri"/>
                <a:sym typeface="Calibri"/>
              </a:rPr>
              <a:t>is the architecture of most current NLP problems such as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NMT,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text generation, ... </a:t>
            </a:r>
            <a:br>
              <a:rPr lang="en-US" dirty="0">
                <a:latin typeface="Calibri"/>
                <a:ea typeface="Calibri"/>
                <a:cs typeface="Calibri"/>
                <a:sym typeface="Calibri"/>
              </a:rPr>
            </a:br>
            <a:endParaRPr dirty="0" smtClean="0">
              <a:latin typeface="Calibri"/>
              <a:ea typeface="Calibri"/>
              <a:cs typeface="Calibri"/>
              <a:sym typeface="Calibri"/>
            </a:endParaRPr>
          </a:p>
          <a:p>
            <a:pPr marL="257156" indent="-257156">
              <a:spcBef>
                <a:spcPts val="360"/>
              </a:spcBef>
              <a:buSzPts val="2400"/>
              <a:buFont typeface="Times"/>
              <a:buChar char="•"/>
            </a:pPr>
            <a:r>
              <a:rPr lang="en-US" b="1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Attention great </a:t>
            </a:r>
            <a:r>
              <a:rPr lang="en-US" smtClean="0">
                <a:latin typeface="Calibri"/>
                <a:ea typeface="Calibri"/>
                <a:cs typeface="Calibri"/>
                <a:sym typeface="Calibri"/>
              </a:rPr>
              <a:t>is 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a way to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focus on </a:t>
            </a:r>
            <a:br>
              <a:rPr lang="en-US" i="1" dirty="0" smtClean="0">
                <a:latin typeface="Calibri"/>
                <a:ea typeface="Calibri"/>
                <a:cs typeface="Calibri"/>
                <a:sym typeface="Calibri"/>
              </a:rPr>
            </a:b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particular parts 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of the input</a:t>
            </a:r>
            <a:endParaRPr sz="2100" dirty="0" smtClean="0"/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21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Improved Seq2Seq model </a:t>
            </a:r>
            <a:r>
              <a:rPr lang="en-US" sz="21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a lot</a:t>
            </a:r>
            <a:r>
              <a:rPr lang="en-US" sz="2100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!</a:t>
            </a:r>
            <a:endParaRPr lang="en-US"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5763" lvl="1" indent="-128588">
              <a:spcBef>
                <a:spcPts val="360"/>
              </a:spcBef>
              <a:buClr>
                <a:srgbClr val="3A85FE"/>
              </a:buClr>
              <a:buSzPts val="2400"/>
              <a:buFont typeface="Times"/>
              <a:buChar char="•"/>
            </a:pPr>
            <a:r>
              <a:rPr lang="en-US" sz="2100" dirty="0">
                <a:cs typeface="Calibri"/>
                <a:sym typeface="Calibri"/>
              </a:rPr>
              <a:t>As </a:t>
            </a:r>
            <a:r>
              <a:rPr lang="en-US" sz="2100" b="1" dirty="0">
                <a:solidFill>
                  <a:srgbClr val="FF0000"/>
                </a:solidFill>
                <a:cs typeface="Calibri"/>
                <a:sym typeface="Calibri"/>
              </a:rPr>
              <a:t>the foundation </a:t>
            </a:r>
            <a:r>
              <a:rPr lang="en-US" sz="2100" dirty="0">
                <a:cs typeface="Calibri"/>
                <a:sym typeface="Calibri"/>
              </a:rPr>
              <a:t>of the Transformer </a:t>
            </a:r>
            <a:r>
              <a:rPr lang="en-US" sz="2100" dirty="0" smtClean="0">
                <a:cs typeface="Calibri"/>
                <a:sym typeface="Calibri"/>
              </a:rPr>
              <a:t>model (</a:t>
            </a:r>
            <a:r>
              <a:rPr lang="en-US" sz="2100" dirty="0">
                <a:cs typeface="Calibri"/>
                <a:sym typeface="Calibri"/>
              </a:rPr>
              <a:t>now </a:t>
            </a:r>
            <a:r>
              <a:rPr lang="en-US" sz="2100" dirty="0" smtClean="0">
                <a:latin typeface="Calibri"/>
                <a:cs typeface="Calibri"/>
                <a:sym typeface="Calibri"/>
              </a:rPr>
              <a:t>dominated!)</a:t>
            </a:r>
            <a:endParaRPr sz="2100" dirty="0"/>
          </a:p>
        </p:txBody>
      </p:sp>
      <p:sp>
        <p:nvSpPr>
          <p:cNvPr id="2584" name="Google Shape;2584;p54"/>
          <p:cNvSpPr txBox="1">
            <a:spLocks noGrp="1"/>
          </p:cNvSpPr>
          <p:nvPr>
            <p:ph type="sldNum" idx="12"/>
          </p:nvPr>
        </p:nvSpPr>
        <p:spPr>
          <a:xfrm>
            <a:off x="7350844" y="4767263"/>
            <a:ext cx="1543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58</a:t>
            </a:fld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026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350"/>
            <a:ext cx="8382000" cy="742950"/>
          </a:xfrm>
        </p:spPr>
        <p:txBody>
          <a:bodyPr/>
          <a:lstStyle/>
          <a:p>
            <a:r>
              <a:rPr lang="en-US" dirty="0" smtClean="0">
                <a:solidFill>
                  <a:srgbClr val="0066FF"/>
                </a:solidFill>
              </a:rPr>
              <a:t>References</a:t>
            </a:r>
            <a:endParaRPr lang="en-US" b="1" dirty="0">
              <a:solidFill>
                <a:srgbClr val="0066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Speech and Language Processing 2023 (https</a:t>
            </a:r>
            <a:r>
              <a:rPr lang="en-US" dirty="0"/>
              <a:t>://web.stanford.edu/~jurafsky/slp3</a:t>
            </a:r>
            <a:r>
              <a:rPr lang="en-US" dirty="0" smtClean="0"/>
              <a:t>/)</a:t>
            </a:r>
            <a:endParaRPr lang="en-US" dirty="0"/>
          </a:p>
          <a:p>
            <a:r>
              <a:rPr lang="en-US" dirty="0" smtClean="0"/>
              <a:t>Machine </a:t>
            </a:r>
            <a:r>
              <a:rPr lang="en-US" dirty="0"/>
              <a:t>Translation </a:t>
            </a:r>
            <a:r>
              <a:rPr lang="en-US" dirty="0" smtClean="0"/>
              <a:t>and Sequence-to-Sequence Models, </a:t>
            </a:r>
            <a:r>
              <a:rPr lang="en-US" dirty="0" err="1" smtClean="0"/>
              <a:t>Neubig</a:t>
            </a:r>
            <a:r>
              <a:rPr lang="en-US" dirty="0" smtClean="0"/>
              <a:t>, 2019, CMU</a:t>
            </a:r>
          </a:p>
          <a:p>
            <a:r>
              <a:rPr lang="en-US" dirty="0" smtClean="0"/>
              <a:t>Some slides for Universities of Stanford 2023, MIT,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57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LP-jurafsky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>
            <a:latin typeface="+mn-lt"/>
          </a:defRPr>
        </a:defPPr>
      </a:lstStyle>
    </a:tx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NLP-jurafsky.potx</Template>
  <TotalTime>14581</TotalTime>
  <Words>2204</Words>
  <Application>Microsoft Office PowerPoint</Application>
  <PresentationFormat>On-screen Show (16:9)</PresentationFormat>
  <Paragraphs>610</Paragraphs>
  <Slides>59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ＭＳ Ｐゴシック</vt:lpstr>
      <vt:lpstr>Arial</vt:lpstr>
      <vt:lpstr>Calibri</vt:lpstr>
      <vt:lpstr>Lucida Sans</vt:lpstr>
      <vt:lpstr>Tahoma</vt:lpstr>
      <vt:lpstr>Times</vt:lpstr>
      <vt:lpstr>Wingdings</vt:lpstr>
      <vt:lpstr>NLP-jurafsky</vt:lpstr>
      <vt:lpstr>      Seq2seq model  and application for machine translation</vt:lpstr>
      <vt:lpstr>Content</vt:lpstr>
      <vt:lpstr>Machine Translation (Dịch máy)</vt:lpstr>
      <vt:lpstr>What is Neural Machine Translation?</vt:lpstr>
      <vt:lpstr>Encoder-decoder Framework</vt:lpstr>
      <vt:lpstr>Encoder-decoder Framework</vt:lpstr>
      <vt:lpstr>Encoder-decoder Framework</vt:lpstr>
      <vt:lpstr>Encoder-decoder Framework</vt:lpstr>
      <vt:lpstr>Neural Machine Translation</vt:lpstr>
      <vt:lpstr>Training of NMT system</vt:lpstr>
      <vt:lpstr>Training of NMT system</vt:lpstr>
      <vt:lpstr>PowerPoint Presentation</vt:lpstr>
      <vt:lpstr>Training of NMT system</vt:lpstr>
      <vt:lpstr>Better-than-greedy decoding?</vt:lpstr>
      <vt:lpstr>Decoder based on Beam search</vt:lpstr>
      <vt:lpstr>Decoder based on Beam search: Example</vt:lpstr>
      <vt:lpstr>Decoder based on Beam search: Example</vt:lpstr>
      <vt:lpstr>Decoder based on Beam search: Example</vt:lpstr>
      <vt:lpstr>Decoder based on Beam search: Example</vt:lpstr>
      <vt:lpstr>Decoder based on Beam search: Example</vt:lpstr>
      <vt:lpstr>Decoder based on Beam search: Example</vt:lpstr>
      <vt:lpstr>Decoder based on Beam search: Example</vt:lpstr>
      <vt:lpstr>Decoder based on Beam search: Example</vt:lpstr>
      <vt:lpstr>Beam search: stopping criterion</vt:lpstr>
      <vt:lpstr>Advantage of NMT</vt:lpstr>
      <vt:lpstr>Weakness of NMT?</vt:lpstr>
      <vt:lpstr>How to evaluation MT system?</vt:lpstr>
      <vt:lpstr>Sequence-to-sequence: the bottleneck problem</vt:lpstr>
      <vt:lpstr>Sequence-to-sequence: the bottleneck problem</vt:lpstr>
      <vt:lpstr>Watching sentence embedding</vt:lpstr>
      <vt:lpstr>Attention (Chú ý)</vt:lpstr>
      <vt:lpstr>Encoder-Decoder với Attention</vt:lpstr>
      <vt:lpstr>Seq2Seq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Neural Machine Translation by Jointly Learn to Align and Translate</vt:lpstr>
      <vt:lpstr>Neural Machine Translation by Jointly Learn to Align and Translate</vt:lpstr>
      <vt:lpstr>Attention: Formula</vt:lpstr>
      <vt:lpstr>Attention scoring function</vt:lpstr>
      <vt:lpstr>Attention is so great (Bahdanau at al., 16054 Citations)</vt:lpstr>
      <vt:lpstr>Key developments in attention</vt:lpstr>
      <vt:lpstr>Attention is a general Deep Learning technique</vt:lpstr>
      <vt:lpstr>Evolution of the MT system over time</vt:lpstr>
      <vt:lpstr>NMT: the first big story of NLP Deep Learning</vt:lpstr>
      <vt:lpstr>MT solved?</vt:lpstr>
      <vt:lpstr>MT solved?</vt:lpstr>
      <vt:lpstr>Seq2seq is flexible and efficient!</vt:lpstr>
      <vt:lpstr>Machine Translation Problem</vt:lpstr>
      <vt:lpstr>Apply seq2seq + attention for NMT</vt:lpstr>
      <vt:lpstr>Conclusion</vt:lpstr>
      <vt:lpstr>References</vt:lpstr>
    </vt:vector>
  </TitlesOfParts>
  <Company>Stanford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Admin</cp:lastModifiedBy>
  <cp:revision>549</cp:revision>
  <cp:lastPrinted>2012-03-27T19:39:52Z</cp:lastPrinted>
  <dcterms:created xsi:type="dcterms:W3CDTF">2010-04-19T15:31:24Z</dcterms:created>
  <dcterms:modified xsi:type="dcterms:W3CDTF">2024-07-23T02:05:36Z</dcterms:modified>
</cp:coreProperties>
</file>