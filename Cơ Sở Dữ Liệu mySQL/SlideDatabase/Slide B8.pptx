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y="5143500" cx="9144000"/>
  <p:notesSz cx="6858000" cy="9144000"/>
  <p:embeddedFontLst>
    <p:embeddedFont>
      <p:font typeface="Raleway"/>
      <p:regular r:id="rId40"/>
      <p:bold r:id="rId41"/>
      <p:italic r:id="rId42"/>
      <p:boldItalic r:id="rId43"/>
    </p:embeddedFont>
    <p:embeddedFont>
      <p:font typeface="Lato"/>
      <p:regular r:id="rId44"/>
      <p:bold r:id="rId45"/>
      <p:italic r:id="rId46"/>
      <p:boldItalic r:id="rId47"/>
    </p:embeddedFont>
    <p:embeddedFont>
      <p:font typeface="Sarabun Medium"/>
      <p:regular r:id="rId48"/>
      <p:bold r:id="rId49"/>
      <p:italic r:id="rId50"/>
      <p:boldItalic r:id="rId51"/>
    </p:embeddedFont>
    <p:embeddedFont>
      <p:font typeface="Jura"/>
      <p:regular r:id="rId52"/>
      <p:bold r:id="rId53"/>
    </p:embeddedFont>
    <p:embeddedFont>
      <p:font typeface="Roboto Mono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02C5DCF-7D01-4C16-9CCE-2C979FF4A114}">
  <a:tblStyle styleId="{002C5DCF-7D01-4C16-9CCE-2C979FF4A11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00899AF-64FC-4C82-9544-737B1987EF51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-regular.fntdata"/><Relationship Id="rId42" Type="http://schemas.openxmlformats.org/officeDocument/2006/relationships/font" Target="fonts/Raleway-italic.fntdata"/><Relationship Id="rId41" Type="http://schemas.openxmlformats.org/officeDocument/2006/relationships/font" Target="fonts/Raleway-bold.fntdata"/><Relationship Id="rId44" Type="http://schemas.openxmlformats.org/officeDocument/2006/relationships/font" Target="fonts/Lato-regular.fntdata"/><Relationship Id="rId43" Type="http://schemas.openxmlformats.org/officeDocument/2006/relationships/font" Target="fonts/Raleway-boldItalic.fntdata"/><Relationship Id="rId46" Type="http://schemas.openxmlformats.org/officeDocument/2006/relationships/font" Target="fonts/Lato-italic.fntdata"/><Relationship Id="rId45" Type="http://schemas.openxmlformats.org/officeDocument/2006/relationships/font" Target="fonts/Lato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SarabunMedium-regular.fntdata"/><Relationship Id="rId47" Type="http://schemas.openxmlformats.org/officeDocument/2006/relationships/font" Target="fonts/Lato-boldItalic.fntdata"/><Relationship Id="rId49" Type="http://schemas.openxmlformats.org/officeDocument/2006/relationships/font" Target="fonts/SarabunMedium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SarabunMedium-boldItalic.fntdata"/><Relationship Id="rId50" Type="http://schemas.openxmlformats.org/officeDocument/2006/relationships/font" Target="fonts/SarabunMedium-italic.fntdata"/><Relationship Id="rId53" Type="http://schemas.openxmlformats.org/officeDocument/2006/relationships/font" Target="fonts/Jura-bold.fntdata"/><Relationship Id="rId52" Type="http://schemas.openxmlformats.org/officeDocument/2006/relationships/font" Target="fonts/Jura-regular.fntdata"/><Relationship Id="rId11" Type="http://schemas.openxmlformats.org/officeDocument/2006/relationships/slide" Target="slides/slide4.xml"/><Relationship Id="rId55" Type="http://schemas.openxmlformats.org/officeDocument/2006/relationships/font" Target="fonts/RobotoMono-bold.fntdata"/><Relationship Id="rId10" Type="http://schemas.openxmlformats.org/officeDocument/2006/relationships/slide" Target="slides/slide3.xml"/><Relationship Id="rId54" Type="http://schemas.openxmlformats.org/officeDocument/2006/relationships/font" Target="fonts/RobotoMono-regular.fntdata"/><Relationship Id="rId13" Type="http://schemas.openxmlformats.org/officeDocument/2006/relationships/slide" Target="slides/slide6.xml"/><Relationship Id="rId57" Type="http://schemas.openxmlformats.org/officeDocument/2006/relationships/font" Target="fonts/RobotoMono-boldItalic.fntdata"/><Relationship Id="rId12" Type="http://schemas.openxmlformats.org/officeDocument/2006/relationships/slide" Target="slides/slide5.xml"/><Relationship Id="rId56" Type="http://schemas.openxmlformats.org/officeDocument/2006/relationships/font" Target="fonts/RobotoMono-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059beba56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g36059beba56_0_0:notes"/>
          <p:cNvSpPr txBox="1"/>
          <p:nvPr>
            <p:ph idx="1" type="body"/>
          </p:nvPr>
        </p:nvSpPr>
        <p:spPr>
          <a:xfrm>
            <a:off x="685800" y="4343400"/>
            <a:ext cx="54861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6059beba56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6059beba5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059beba56_0_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6059beba5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059beba56_0_1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6059beba5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059beba56_0_2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6059beba5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6059beba56_0_3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6059beba5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404b106d3b_0_8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g3404b106d3b_0_864:notes"/>
          <p:cNvSpPr txBox="1"/>
          <p:nvPr>
            <p:ph idx="1" type="body"/>
          </p:nvPr>
        </p:nvSpPr>
        <p:spPr>
          <a:xfrm>
            <a:off x="685800" y="4343400"/>
            <a:ext cx="54861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404b106d3b_0_86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404b106d3b_0_8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404b106d3b_0_87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404b106d3b_0_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04b106d3b_0_88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04b106d3b_0_8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404b106d3b_0_88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404b106d3b_0_8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404b106d3b_0_89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404b106d3b_0_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404b106d3b_0_90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404b106d3b_0_9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404b106d3b_0_91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404b106d3b_0_9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404b106d3b_0_9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404b106d3b_0_9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404b106d3b_0_9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404b106d3b_0_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404b106d3b_0_93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404b106d3b_0_9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404b106d3b_0_93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404b106d3b_0_9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404b106d3b_0_94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404b106d3b_0_9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404b106d3b_0_95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404b106d3b_0_9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404b106d3b_0_95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404b106d3b_0_9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404b106d3b_0_10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3" name="Google Shape;293;g3404b106d3b_0_1097:notes"/>
          <p:cNvSpPr txBox="1"/>
          <p:nvPr>
            <p:ph idx="1" type="body"/>
          </p:nvPr>
        </p:nvSpPr>
        <p:spPr>
          <a:xfrm>
            <a:off x="685800" y="4343400"/>
            <a:ext cx="54861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404b106d3b_0_110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404b106d3b_0_1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404b106d3b_0_110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404b106d3b_0_1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404b106d3b_0_11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404b106d3b_0_1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404b106d3b_0_113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404b106d3b_0_1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404b106d3b_0_115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404b106d3b_0_1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404b106d3b_0_116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404b106d3b_0_1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404b106d3b_0_117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404b106d3b_0_1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404b106d3b_0_118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404b106d3b_0_1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404b106d3b_0_119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404b106d3b_0_1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404b106d3b_0_120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404b106d3b_0_1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" name="Google Shape;56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" name="Google Shape;78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9" name="Google Shape;79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" name="Google Shape;87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8" name="Google Shape;88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" name="Google Shape;94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5" name="Google Shape;95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1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2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02" name="Google Shape;102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2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" name="Google Shape;108;p2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9" name="Google Shape;109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" name="Google Shape;111;p2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12" name="Google Shape;112;p2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13" name="Google Shape;113;p2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17" name="Google Shape;117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p2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20" name="Google Shape;120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23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idx="4294967295" type="body"/>
          </p:nvPr>
        </p:nvSpPr>
        <p:spPr>
          <a:xfrm>
            <a:off x="0" y="1773000"/>
            <a:ext cx="9143700" cy="798600"/>
          </a:xfrm>
          <a:prstGeom prst="rect">
            <a:avLst/>
          </a:prstGeom>
          <a:solidFill>
            <a:srgbClr val="666666"/>
          </a:solidFill>
          <a:ln>
            <a:noFill/>
          </a:ln>
          <a:effectLst>
            <a:outerShdw blurRad="57240" rotWithShape="0" dir="5400000" dist="19080">
              <a:srgbClr val="000000">
                <a:alpha val="498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28600" marR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lang="vi" sz="3800">
                <a:solidFill>
                  <a:srgbClr val="FFFFFF"/>
                </a:solidFill>
                <a:latin typeface="Jura"/>
                <a:ea typeface="Jura"/>
                <a:cs typeface="Jura"/>
                <a:sym typeface="Jura"/>
              </a:rPr>
              <a:t>Điều kiện rẽ nhánh</a:t>
            </a:r>
            <a:endParaRPr b="1" sz="3800">
              <a:solidFill>
                <a:srgbClr val="FFFFFF"/>
              </a:solidFill>
              <a:latin typeface="Jura"/>
              <a:ea typeface="Jura"/>
              <a:cs typeface="Jura"/>
              <a:sym typeface="Ju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137" name="Google Shape;137;p26"/>
          <p:cNvSpPr txBox="1"/>
          <p:nvPr>
            <p:ph type="title"/>
          </p:nvPr>
        </p:nvSpPr>
        <p:spPr>
          <a:xfrm>
            <a:off x="727650" y="643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2800">
                <a:latin typeface="Sarabun Medium"/>
                <a:ea typeface="Sarabun Medium"/>
                <a:cs typeface="Sarabun Medium"/>
                <a:sym typeface="Sarabun Medium"/>
              </a:rPr>
              <a:t>CASE</a:t>
            </a:r>
            <a:endParaRPr sz="2800">
              <a:latin typeface="Sarabun Medium"/>
              <a:ea typeface="Sarabun Medium"/>
              <a:cs typeface="Sarabun Medium"/>
              <a:sym typeface="Sarabun Medium"/>
            </a:endParaRPr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727550" y="1483925"/>
            <a:ext cx="8125500" cy="37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❖"/>
            </a:pPr>
            <a:r>
              <a:rPr b="1"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CASE </a:t>
            </a:r>
            <a:r>
              <a:rPr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đi qua các điều kiện và trả về giá trị </a:t>
            </a:r>
            <a:r>
              <a:rPr b="1"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khi điều kiện đầu tiên</a:t>
            </a:r>
            <a:r>
              <a:rPr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thỏa mãn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❖"/>
            </a:pPr>
            <a:r>
              <a:rPr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Nếu không có điều kiện nào thỏa mãn, sẽ chạy vào </a:t>
            </a:r>
            <a:r>
              <a:rPr b="1"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6"/>
          <p:cNvSpPr/>
          <p:nvPr/>
        </p:nvSpPr>
        <p:spPr>
          <a:xfrm>
            <a:off x="2851650" y="2613275"/>
            <a:ext cx="3440700" cy="1504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4D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0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endParaRPr b="1" sz="1200">
              <a:solidFill>
                <a:srgbClr val="005CC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vi" sz="120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WHEN</a:t>
            </a:r>
            <a:r>
              <a:rPr b="1" lang="vi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1" lang="vi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condition1</a:t>
            </a:r>
            <a:r>
              <a:rPr b="1" lang="vi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vi" sz="120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r>
              <a:rPr b="1" lang="vi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1" lang="vi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result1</a:t>
            </a:r>
            <a:endParaRPr b="1" i="1" sz="12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vi" sz="120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WHEN</a:t>
            </a:r>
            <a:r>
              <a:rPr b="1" lang="vi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1" lang="vi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condition2</a:t>
            </a:r>
            <a:r>
              <a:rPr b="1" lang="vi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vi" sz="120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r>
              <a:rPr b="1" lang="vi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1" lang="vi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result2</a:t>
            </a:r>
            <a:endParaRPr b="1" i="1" sz="12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vi" sz="120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WHEN</a:t>
            </a:r>
            <a:r>
              <a:rPr b="1" lang="vi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1" lang="vi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conditionN</a:t>
            </a:r>
            <a:r>
              <a:rPr b="1" lang="vi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vi" sz="120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r>
              <a:rPr b="1" lang="vi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1" lang="vi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resultN</a:t>
            </a:r>
            <a:endParaRPr b="1" i="1" sz="12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vi" sz="120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1" lang="vi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1" lang="vi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endParaRPr b="1" i="1" sz="12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0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b="1" lang="vi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200">
              <a:solidFill>
                <a:srgbClr val="005CC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145" name="Google Shape;145;p27"/>
          <p:cNvSpPr txBox="1"/>
          <p:nvPr>
            <p:ph type="title"/>
          </p:nvPr>
        </p:nvSpPr>
        <p:spPr>
          <a:xfrm>
            <a:off x="727650" y="643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2800">
                <a:latin typeface="Sarabun Medium"/>
                <a:ea typeface="Sarabun Medium"/>
                <a:cs typeface="Sarabun Medium"/>
                <a:sym typeface="Sarabun Medium"/>
              </a:rPr>
              <a:t>CASE - Ví dụ</a:t>
            </a:r>
            <a:endParaRPr sz="2800">
              <a:latin typeface="Sarabun Medium"/>
              <a:ea typeface="Sarabun Medium"/>
              <a:cs typeface="Sarabun Medium"/>
              <a:sym typeface="Sarabun Medium"/>
            </a:endParaRPr>
          </a:p>
        </p:txBody>
      </p:sp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727550" y="1483925"/>
            <a:ext cx="8125500" cy="37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❖"/>
            </a:pPr>
            <a:r>
              <a:rPr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Phân loại nhân viên theo số năm làm việc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➢"/>
            </a:pPr>
            <a:r>
              <a:rPr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Nếu nhân viên có ≥ 10 năm kinh nghiệm thì là "Lâu năm" 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➢"/>
            </a:pPr>
            <a:r>
              <a:rPr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5-9 năm là "Trung bình". Còn lại là "Mới".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7"/>
          <p:cNvSpPr/>
          <p:nvPr/>
        </p:nvSpPr>
        <p:spPr>
          <a:xfrm>
            <a:off x="214800" y="2645375"/>
            <a:ext cx="8714400" cy="2390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4D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hire_date,</a:t>
            </a:r>
            <a:endParaRPr b="1" sz="12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endParaRPr b="1"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WHEN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TIMESTAMPDIFF(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YEAR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hire_date, CURDATE()) &gt;= </a:t>
            </a:r>
            <a:r>
              <a:rPr b="1" lang="vi" sz="12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vi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'Lâu năm'</a:t>
            </a:r>
            <a:endParaRPr b="1" sz="12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WHEN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TIMESTAMPDIFF(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YEAR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hire_date, CURDATE())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BETWEEN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vi" sz="12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vi" sz="12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vi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'Trung bình'</a:t>
            </a:r>
            <a:endParaRPr b="1" sz="12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vi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'Mới'</a:t>
            </a:r>
            <a:endParaRPr b="1" sz="12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work_experience</a:t>
            </a:r>
            <a:endParaRPr b="1" sz="12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employees;</a:t>
            </a:r>
            <a:endParaRPr b="1" sz="1200">
              <a:solidFill>
                <a:srgbClr val="005CC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153" name="Google Shape;153;p28"/>
          <p:cNvSpPr txBox="1"/>
          <p:nvPr>
            <p:ph type="title"/>
          </p:nvPr>
        </p:nvSpPr>
        <p:spPr>
          <a:xfrm>
            <a:off x="727650" y="643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2800">
                <a:latin typeface="Sarabun Medium"/>
                <a:ea typeface="Sarabun Medium"/>
                <a:cs typeface="Sarabun Medium"/>
                <a:sym typeface="Sarabun Medium"/>
              </a:rPr>
              <a:t>IF</a:t>
            </a:r>
            <a:endParaRPr sz="2800">
              <a:latin typeface="Sarabun Medium"/>
              <a:ea typeface="Sarabun Medium"/>
              <a:cs typeface="Sarabun Medium"/>
              <a:sym typeface="Sarabun Medium"/>
            </a:endParaRPr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727550" y="1483925"/>
            <a:ext cx="8125500" cy="37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❖"/>
            </a:pPr>
            <a:r>
              <a:rPr b="1"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dùng để kiểm tra một điều kiện và trả về một trong hai giá trị.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❖"/>
            </a:pPr>
            <a:r>
              <a:rPr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Ví dụ: Xác định nhân viên có trên 5 năm kinh nghiệm hay không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8"/>
          <p:cNvSpPr/>
          <p:nvPr/>
        </p:nvSpPr>
        <p:spPr>
          <a:xfrm>
            <a:off x="2201700" y="1966350"/>
            <a:ext cx="4740600" cy="605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4D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(condition, value_if_true, value_if_false)</a:t>
            </a:r>
            <a:endParaRPr b="1" sz="1200">
              <a:solidFill>
                <a:srgbClr val="005CC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6" name="Google Shape;156;p28"/>
          <p:cNvSpPr/>
          <p:nvPr/>
        </p:nvSpPr>
        <p:spPr>
          <a:xfrm>
            <a:off x="2201700" y="2571750"/>
            <a:ext cx="4740600" cy="605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4D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vi" sz="12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500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vi" sz="12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1000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vi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"YES"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vi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"NO"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7" name="Google Shape;157;p28"/>
          <p:cNvSpPr/>
          <p:nvPr/>
        </p:nvSpPr>
        <p:spPr>
          <a:xfrm>
            <a:off x="234300" y="3716625"/>
            <a:ext cx="8675400" cy="1113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4D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hire_date,</a:t>
            </a:r>
            <a:endParaRPr b="1" sz="12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(TIMESTAMPDIFF(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YEAR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hire_date, CURDATE()) &gt; </a:t>
            </a:r>
            <a:r>
              <a:rPr b="1" lang="vi" sz="12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vi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'Kinh nghiệm'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vi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'Mới'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experience</a:t>
            </a:r>
            <a:endParaRPr b="1" sz="12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employees;</a:t>
            </a:r>
            <a:endParaRPr b="1"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163" name="Google Shape;163;p29"/>
          <p:cNvSpPr txBox="1"/>
          <p:nvPr>
            <p:ph type="title"/>
          </p:nvPr>
        </p:nvSpPr>
        <p:spPr>
          <a:xfrm>
            <a:off x="727650" y="643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2800">
                <a:latin typeface="Sarabun Medium"/>
                <a:ea typeface="Sarabun Medium"/>
                <a:cs typeface="Sarabun Medium"/>
                <a:sym typeface="Sarabun Medium"/>
              </a:rPr>
              <a:t>IF</a:t>
            </a:r>
            <a:r>
              <a:rPr lang="vi" sz="2800">
                <a:solidFill>
                  <a:schemeClr val="dk1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NULL</a:t>
            </a:r>
            <a:r>
              <a:rPr lang="vi" sz="2800">
                <a:latin typeface="Sarabun Medium"/>
                <a:ea typeface="Sarabun Medium"/>
                <a:cs typeface="Sarabun Medium"/>
                <a:sym typeface="Sarabun Medium"/>
              </a:rPr>
              <a:t> &amp; </a:t>
            </a:r>
            <a:r>
              <a:rPr lang="vi" sz="2800">
                <a:solidFill>
                  <a:schemeClr val="dk1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NULL</a:t>
            </a:r>
            <a:r>
              <a:rPr lang="vi" sz="2800">
                <a:latin typeface="Sarabun Medium"/>
                <a:ea typeface="Sarabun Medium"/>
                <a:cs typeface="Sarabun Medium"/>
                <a:sym typeface="Sarabun Medium"/>
              </a:rPr>
              <a:t>IF</a:t>
            </a:r>
            <a:endParaRPr sz="2800">
              <a:latin typeface="Sarabun Medium"/>
              <a:ea typeface="Sarabun Medium"/>
              <a:cs typeface="Sarabun Medium"/>
              <a:sym typeface="Sarabun Medium"/>
            </a:endParaRPr>
          </a:p>
        </p:txBody>
      </p:sp>
      <p:sp>
        <p:nvSpPr>
          <p:cNvPr id="164" name="Google Shape;164;p29"/>
          <p:cNvSpPr txBox="1"/>
          <p:nvPr>
            <p:ph idx="1" type="body"/>
          </p:nvPr>
        </p:nvSpPr>
        <p:spPr>
          <a:xfrm>
            <a:off x="727550" y="1483925"/>
            <a:ext cx="8125500" cy="37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❖"/>
            </a:pPr>
            <a:r>
              <a:rPr b="1"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1" lang="vi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1"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dùng để thay thế giá trị </a:t>
            </a:r>
            <a:r>
              <a:rPr b="1"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bằng một giá trị khác.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❖"/>
            </a:pPr>
            <a:r>
              <a:rPr b="1" lang="vi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1"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(Trả về </a:t>
            </a:r>
            <a:r>
              <a:rPr b="1"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nếu thỏa mãn điều kiện).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➢"/>
            </a:pPr>
            <a:r>
              <a:rPr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Ví dụ: tính tỷ lệ thưởng bằng cách lấy lương chia cho thưởng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➢"/>
            </a:pPr>
            <a:r>
              <a:rPr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Nếu bonus = 0 ⇒ chuyển bonus thành NULL để tránh chia cho 0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➢"/>
            </a:pPr>
            <a:r>
              <a:rPr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salary / NULL = NULL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9"/>
          <p:cNvSpPr/>
          <p:nvPr/>
        </p:nvSpPr>
        <p:spPr>
          <a:xfrm>
            <a:off x="2340150" y="2013813"/>
            <a:ext cx="4463700" cy="670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4D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IFNULL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(salary, </a:t>
            </a:r>
            <a:r>
              <a:rPr b="1" lang="vi" sz="12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salary</a:t>
            </a:r>
            <a:endParaRPr b="1" sz="12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employees;</a:t>
            </a:r>
            <a:endParaRPr b="1"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6" name="Google Shape;166;p29"/>
          <p:cNvSpPr/>
          <p:nvPr/>
        </p:nvSpPr>
        <p:spPr>
          <a:xfrm>
            <a:off x="1972850" y="4167850"/>
            <a:ext cx="5064000" cy="783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4D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salary, bonus,</a:t>
            </a:r>
            <a:endParaRPr b="1" sz="12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salary / </a:t>
            </a:r>
            <a:r>
              <a:rPr b="1" lang="vi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NULLIF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(bonus, </a:t>
            </a:r>
            <a:r>
              <a:rPr b="1" lang="vi" sz="12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salary_bonus_ratio</a:t>
            </a:r>
            <a:endParaRPr b="1" sz="12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employees;</a:t>
            </a:r>
            <a:endParaRPr b="1"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172" name="Google Shape;172;p30"/>
          <p:cNvSpPr txBox="1"/>
          <p:nvPr>
            <p:ph type="title"/>
          </p:nvPr>
        </p:nvSpPr>
        <p:spPr>
          <a:xfrm>
            <a:off x="727650" y="643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2800">
                <a:latin typeface="Sarabun Medium"/>
                <a:ea typeface="Sarabun Medium"/>
                <a:cs typeface="Sarabun Medium"/>
                <a:sym typeface="Sarabun Medium"/>
              </a:rPr>
              <a:t>Ghi chú Điều kiện rẽ nhánh</a:t>
            </a:r>
            <a:endParaRPr sz="2800">
              <a:latin typeface="Sarabun Medium"/>
              <a:ea typeface="Sarabun Medium"/>
              <a:cs typeface="Sarabun Medium"/>
              <a:sym typeface="Sarabun Medium"/>
            </a:endParaRPr>
          </a:p>
        </p:txBody>
      </p:sp>
      <p:sp>
        <p:nvSpPr>
          <p:cNvPr id="173" name="Google Shape;173;p30"/>
          <p:cNvSpPr txBox="1"/>
          <p:nvPr>
            <p:ph idx="1" type="body"/>
          </p:nvPr>
        </p:nvSpPr>
        <p:spPr>
          <a:xfrm>
            <a:off x="727550" y="1483925"/>
            <a:ext cx="8125500" cy="37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❖"/>
            </a:pPr>
            <a:r>
              <a:rPr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Dùng </a:t>
            </a:r>
            <a:r>
              <a:rPr b="1"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CASE</a:t>
            </a:r>
            <a:r>
              <a:rPr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khi có nhiều điều kiện cần xử lý.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❖"/>
            </a:pPr>
            <a:r>
              <a:rPr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Dùng </a:t>
            </a:r>
            <a:r>
              <a:rPr b="1"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nếu chỉ có 1 điều kiện đơn giản.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❖"/>
            </a:pPr>
            <a:r>
              <a:rPr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Dùng </a:t>
            </a:r>
            <a:r>
              <a:rPr b="1"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IFNULL</a:t>
            </a:r>
            <a:r>
              <a:rPr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để thay thế NULL.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❖"/>
            </a:pPr>
            <a:r>
              <a:rPr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Dùng </a:t>
            </a:r>
            <a:r>
              <a:rPr b="1"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NULLIF</a:t>
            </a:r>
            <a:r>
              <a:rPr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để tránh lỗi chia cho 0 hoặc lọc dữ liệu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idx="4294967295" type="body"/>
          </p:nvPr>
        </p:nvSpPr>
        <p:spPr>
          <a:xfrm>
            <a:off x="0" y="1773000"/>
            <a:ext cx="9143700" cy="798600"/>
          </a:xfrm>
          <a:prstGeom prst="rect">
            <a:avLst/>
          </a:prstGeom>
          <a:solidFill>
            <a:srgbClr val="666666"/>
          </a:solidFill>
          <a:ln>
            <a:noFill/>
          </a:ln>
          <a:effectLst>
            <a:outerShdw blurRad="57240" rotWithShape="0" dir="5400000" dist="19080">
              <a:srgbClr val="000000">
                <a:alpha val="498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28600" marR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lang="vi" sz="3800">
                <a:solidFill>
                  <a:srgbClr val="FFFFFF"/>
                </a:solidFill>
                <a:latin typeface="Jura"/>
                <a:ea typeface="Jura"/>
                <a:cs typeface="Jura"/>
                <a:sym typeface="Jura"/>
              </a:rPr>
              <a:t>Functions</a:t>
            </a:r>
            <a:endParaRPr b="1" sz="3800">
              <a:solidFill>
                <a:srgbClr val="FFFFFF"/>
              </a:solidFill>
              <a:latin typeface="Jura"/>
              <a:ea typeface="Jura"/>
              <a:cs typeface="Jura"/>
              <a:sym typeface="Jur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184" name="Google Shape;184;p32"/>
          <p:cNvSpPr txBox="1"/>
          <p:nvPr>
            <p:ph type="title"/>
          </p:nvPr>
        </p:nvSpPr>
        <p:spPr>
          <a:xfrm>
            <a:off x="727650" y="643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2800">
                <a:latin typeface="Sarabun Medium"/>
                <a:ea typeface="Sarabun Medium"/>
                <a:cs typeface="Sarabun Medium"/>
                <a:sym typeface="Sarabun Medium"/>
              </a:rPr>
              <a:t>DATE Functions (1)</a:t>
            </a:r>
            <a:endParaRPr sz="2800">
              <a:latin typeface="Sarabun Medium"/>
              <a:ea typeface="Sarabun Medium"/>
              <a:cs typeface="Sarabun Medium"/>
              <a:sym typeface="Sarabun Medium"/>
            </a:endParaRPr>
          </a:p>
        </p:txBody>
      </p:sp>
      <p:graphicFrame>
        <p:nvGraphicFramePr>
          <p:cNvPr id="185" name="Google Shape;185;p32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{002C5DCF-7D01-4C16-9CCE-2C979FF4A114}</a:tableStyleId>
              </a:tblPr>
              <a:tblGrid>
                <a:gridCol w="1809750"/>
                <a:gridCol w="1487425"/>
                <a:gridCol w="2400675"/>
                <a:gridCol w="1541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100"/>
                        <a:t>Hàm</a:t>
                      </a:r>
                      <a:endParaRPr b="1" sz="1100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100"/>
                        <a:t>Ý nghĩa</a:t>
                      </a:r>
                      <a:endParaRPr b="1" sz="1100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100"/>
                        <a:t>Ví dụ</a:t>
                      </a:r>
                      <a:endParaRPr b="1" sz="1100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100"/>
                        <a:t>Kết quả</a:t>
                      </a:r>
                      <a:endParaRPr b="1" sz="1100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NOW()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Lấy thời gian hiện tại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5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</a:t>
                      </a:r>
                      <a:r>
                        <a:rPr lang="vi" sz="105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vi" sz="105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NOW</a:t>
                      </a:r>
                      <a:r>
                        <a:rPr lang="vi" sz="105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();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2025-03-15 14:30:00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CURDATE()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Lấy ngày hiện tại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5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</a:t>
                      </a:r>
                      <a:r>
                        <a:rPr lang="vi" sz="105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CURDATE();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2025-03-15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CURTIME()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Lấy giờ hiện tại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5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</a:t>
                      </a:r>
                      <a:r>
                        <a:rPr lang="vi" sz="105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CURTIME();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14:30:00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YEAR(date)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Lấy năm từ ngày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5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</a:t>
                      </a:r>
                      <a:r>
                        <a:rPr lang="vi" sz="105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vi" sz="1050">
                          <a:solidFill>
                            <a:srgbClr val="795E26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YEAR</a:t>
                      </a:r>
                      <a:r>
                        <a:rPr lang="vi" sz="105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vi" sz="1050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'2024-07-03'</a:t>
                      </a:r>
                      <a:r>
                        <a:rPr lang="vi" sz="105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);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2024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MONTH(date)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Lấy tháng từ ngày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5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</a:t>
                      </a:r>
                      <a:r>
                        <a:rPr lang="vi" sz="105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vi" sz="1050">
                          <a:solidFill>
                            <a:srgbClr val="795E26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MONTH</a:t>
                      </a:r>
                      <a:r>
                        <a:rPr lang="vi" sz="105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vi" sz="1050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'2024-07-03'</a:t>
                      </a:r>
                      <a:r>
                        <a:rPr lang="vi" sz="105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);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DAY(date)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Lấy ngày từ ngày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5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</a:t>
                      </a:r>
                      <a:r>
                        <a:rPr lang="vi" sz="105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vi" sz="1050">
                          <a:solidFill>
                            <a:srgbClr val="795E26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DAY</a:t>
                      </a:r>
                      <a:r>
                        <a:rPr lang="vi" sz="105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vi" sz="1050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'2024-07-03'</a:t>
                      </a:r>
                      <a:r>
                        <a:rPr lang="vi" sz="105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);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3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191" name="Google Shape;191;p33"/>
          <p:cNvSpPr txBox="1"/>
          <p:nvPr>
            <p:ph type="title"/>
          </p:nvPr>
        </p:nvSpPr>
        <p:spPr>
          <a:xfrm>
            <a:off x="727650" y="643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2800">
                <a:latin typeface="Sarabun Medium"/>
                <a:ea typeface="Sarabun Medium"/>
                <a:cs typeface="Sarabun Medium"/>
                <a:sym typeface="Sarabun Medium"/>
              </a:rPr>
              <a:t>DATE Functions (2)</a:t>
            </a:r>
            <a:endParaRPr sz="2800">
              <a:latin typeface="Sarabun Medium"/>
              <a:ea typeface="Sarabun Medium"/>
              <a:cs typeface="Sarabun Medium"/>
              <a:sym typeface="Sarabun Medium"/>
            </a:endParaRPr>
          </a:p>
        </p:txBody>
      </p:sp>
      <p:graphicFrame>
        <p:nvGraphicFramePr>
          <p:cNvPr id="192" name="Google Shape;192;p33"/>
          <p:cNvGraphicFramePr/>
          <p:nvPr/>
        </p:nvGraphicFramePr>
        <p:xfrm>
          <a:off x="952500" y="1444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{002C5DCF-7D01-4C16-9CCE-2C979FF4A114}</a:tableStyleId>
              </a:tblPr>
              <a:tblGrid>
                <a:gridCol w="1675450"/>
                <a:gridCol w="1541175"/>
                <a:gridCol w="2937800"/>
                <a:gridCol w="1084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100"/>
                        <a:t>Hàm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100"/>
                        <a:t>Ý nghĩa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100"/>
                        <a:t>Ví dụ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100"/>
                        <a:t>Kết quả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DATE_FORMAT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(date, format)</a:t>
                      </a:r>
                      <a:endParaRPr sz="10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Định dạng ngày</a:t>
                      </a:r>
                      <a:endParaRPr sz="10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5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</a:t>
                      </a:r>
                      <a:r>
                        <a:rPr lang="vi" sz="105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vi" sz="105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DATE_FORMAT</a:t>
                      </a:r>
                      <a:endParaRPr sz="1050">
                        <a:solidFill>
                          <a:srgbClr val="0000FF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5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vi" sz="1050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'2024-07-03'</a:t>
                      </a:r>
                      <a:r>
                        <a:rPr lang="vi" sz="105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vi" sz="1050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'%d/%m/%Y'</a:t>
                      </a:r>
                      <a:r>
                        <a:rPr lang="vi" sz="105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);</a:t>
                      </a:r>
                      <a:endParaRPr sz="10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03/07/2024</a:t>
                      </a:r>
                      <a:endParaRPr sz="10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TIMESTAMPDIFF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(unit, start, end)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Tính khoảng cách giữa hai [ngày, tháng, …]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5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</a:t>
                      </a:r>
                      <a:r>
                        <a:rPr lang="vi" sz="105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TIMESTAMPDIFF</a:t>
                      </a:r>
                      <a:endParaRPr sz="1050"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5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vi" sz="105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DAY</a:t>
                      </a:r>
                      <a:r>
                        <a:rPr lang="vi" sz="105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vi" sz="1050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'2024-07-01'</a:t>
                      </a:r>
                      <a:r>
                        <a:rPr lang="vi" sz="105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vi" sz="1050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'2024-07-03'</a:t>
                      </a:r>
                      <a:r>
                        <a:rPr lang="vi" sz="105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);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2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DATE_ADD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(date, INTERVAL n unit)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Cộng thêm thời gian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5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</a:t>
                      </a:r>
                      <a:r>
                        <a:rPr lang="vi" sz="105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DATE_ADD</a:t>
                      </a:r>
                      <a:endParaRPr sz="1050"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5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vi" sz="1050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'2024-07-03'</a:t>
                      </a:r>
                      <a:r>
                        <a:rPr lang="vi" sz="105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INTERVAL </a:t>
                      </a:r>
                      <a:r>
                        <a:rPr lang="vi" sz="1050">
                          <a:solidFill>
                            <a:srgbClr val="098658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r>
                        <a:rPr lang="vi" sz="105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vi" sz="105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DAY</a:t>
                      </a:r>
                      <a:r>
                        <a:rPr lang="vi" sz="105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);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2024-07-10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DATE_SUB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(date, INTERVAL n unit)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Trừ đi thời gian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5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</a:t>
                      </a:r>
                      <a:r>
                        <a:rPr lang="vi" sz="105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DATE_SUB(</a:t>
                      </a:r>
                      <a:r>
                        <a:rPr lang="vi" sz="1050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'2024-07-03'</a:t>
                      </a:r>
                      <a:r>
                        <a:rPr lang="vi" sz="105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INTERVAL </a:t>
                      </a:r>
                      <a:r>
                        <a:rPr lang="vi" sz="1050">
                          <a:solidFill>
                            <a:srgbClr val="098658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r>
                        <a:rPr lang="vi" sz="105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vi" sz="105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MONTH</a:t>
                      </a:r>
                      <a:r>
                        <a:rPr lang="vi" sz="105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);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2024-06-03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193" name="Google Shape;193;p33"/>
          <p:cNvSpPr txBox="1"/>
          <p:nvPr/>
        </p:nvSpPr>
        <p:spPr>
          <a:xfrm>
            <a:off x="807300" y="4131800"/>
            <a:ext cx="7529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>
                <a:solidFill>
                  <a:schemeClr val="accent1"/>
                </a:solidFill>
              </a:rPr>
              <a:t>Các đơn vị thời gian sử dụng: </a:t>
            </a:r>
            <a:r>
              <a:rPr b="1" lang="vi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SECOND</a:t>
            </a:r>
            <a:r>
              <a:rPr b="1" lang="vi" sz="1500"/>
              <a:t>, </a:t>
            </a:r>
            <a:r>
              <a:rPr b="1" lang="vi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MINUTE</a:t>
            </a:r>
            <a:r>
              <a:rPr b="1" lang="vi" sz="1500"/>
              <a:t>, </a:t>
            </a:r>
            <a:r>
              <a:rPr b="1" lang="vi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HOUR</a:t>
            </a:r>
            <a:r>
              <a:rPr b="1" lang="vi" sz="1500"/>
              <a:t>, </a:t>
            </a:r>
            <a:r>
              <a:rPr b="1" lang="vi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DAY</a:t>
            </a:r>
            <a:r>
              <a:rPr b="1" lang="vi" sz="1500"/>
              <a:t>, </a:t>
            </a:r>
            <a:r>
              <a:rPr b="1" lang="vi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WEEK</a:t>
            </a:r>
            <a:r>
              <a:rPr b="1" lang="vi" sz="1500"/>
              <a:t>, </a:t>
            </a:r>
            <a:r>
              <a:rPr b="1" lang="vi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MONTH</a:t>
            </a:r>
            <a:r>
              <a:rPr b="1" lang="vi" sz="1500"/>
              <a:t>, </a:t>
            </a:r>
            <a:r>
              <a:rPr b="1" lang="vi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YEAR</a:t>
            </a:r>
            <a:endParaRPr b="1" sz="15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199" name="Google Shape;199;p34"/>
          <p:cNvSpPr txBox="1"/>
          <p:nvPr>
            <p:ph type="title"/>
          </p:nvPr>
        </p:nvSpPr>
        <p:spPr>
          <a:xfrm>
            <a:off x="727650" y="643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2800">
                <a:latin typeface="Sarabun Medium"/>
                <a:ea typeface="Sarabun Medium"/>
                <a:cs typeface="Sarabun Medium"/>
                <a:sym typeface="Sarabun Medium"/>
              </a:rPr>
              <a:t>Functions - Ví dụ </a:t>
            </a:r>
            <a:endParaRPr sz="2800">
              <a:latin typeface="Sarabun Medium"/>
              <a:ea typeface="Sarabun Medium"/>
              <a:cs typeface="Sarabun Medium"/>
              <a:sym typeface="Sarabun Medium"/>
            </a:endParaRPr>
          </a:p>
        </p:txBody>
      </p:sp>
      <p:sp>
        <p:nvSpPr>
          <p:cNvPr id="200" name="Google Shape;200;p34"/>
          <p:cNvSpPr txBox="1"/>
          <p:nvPr>
            <p:ph idx="1" type="body"/>
          </p:nvPr>
        </p:nvSpPr>
        <p:spPr>
          <a:xfrm>
            <a:off x="727550" y="1483925"/>
            <a:ext cx="8125500" cy="37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❖"/>
            </a:pPr>
            <a:r>
              <a:rPr b="1"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Tính ngày giao hàng dự kiến sau 5 ngày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❖"/>
            </a:pPr>
            <a:r>
              <a:rPr b="1"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Lấy ngày (ngày trong tháng) từ OrderDate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4"/>
          <p:cNvSpPr/>
          <p:nvPr/>
        </p:nvSpPr>
        <p:spPr>
          <a:xfrm>
            <a:off x="1333275" y="2014050"/>
            <a:ext cx="7203000" cy="921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4D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1" lang="vi" sz="1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OrderID, OrderDate, DATE_ADD(OrderDate, INTERVAL </a:t>
            </a:r>
            <a:r>
              <a:rPr b="1" lang="vi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1" lang="vi" sz="1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vi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DAY</a:t>
            </a:r>
            <a:r>
              <a:rPr b="1" lang="vi" sz="1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1" lang="vi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1" lang="vi" sz="1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EstimatedDelivery </a:t>
            </a:r>
            <a:endParaRPr b="1" sz="10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1" lang="vi" sz="1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SalesOrder;</a:t>
            </a:r>
            <a:endParaRPr b="1" sz="10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2" name="Google Shape;202;p34"/>
          <p:cNvSpPr/>
          <p:nvPr/>
        </p:nvSpPr>
        <p:spPr>
          <a:xfrm>
            <a:off x="1480700" y="3770000"/>
            <a:ext cx="6619200" cy="682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4D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1" lang="vi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OrderID, </a:t>
            </a:r>
            <a:r>
              <a:rPr b="1" lang="vi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DAY</a:t>
            </a:r>
            <a:r>
              <a:rPr b="1" lang="vi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(OrderDate) </a:t>
            </a:r>
            <a:r>
              <a:rPr b="1" lang="vi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1" lang="vi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OrderDay </a:t>
            </a:r>
            <a:r>
              <a:rPr b="1" lang="vi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1" lang="vi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SalesOrder;</a:t>
            </a:r>
            <a:endParaRPr b="1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208" name="Google Shape;208;p35"/>
          <p:cNvSpPr txBox="1"/>
          <p:nvPr>
            <p:ph type="title"/>
          </p:nvPr>
        </p:nvSpPr>
        <p:spPr>
          <a:xfrm>
            <a:off x="727650" y="643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2800">
                <a:latin typeface="Sarabun Medium"/>
                <a:ea typeface="Sarabun Medium"/>
                <a:cs typeface="Sarabun Medium"/>
                <a:sym typeface="Sarabun Medium"/>
              </a:rPr>
              <a:t>Functions - Ví dụ </a:t>
            </a:r>
            <a:endParaRPr sz="2800">
              <a:latin typeface="Sarabun Medium"/>
              <a:ea typeface="Sarabun Medium"/>
              <a:cs typeface="Sarabun Medium"/>
              <a:sym typeface="Sarabun Medium"/>
            </a:endParaRPr>
          </a:p>
        </p:txBody>
      </p:sp>
      <p:sp>
        <p:nvSpPr>
          <p:cNvPr id="209" name="Google Shape;209;p35"/>
          <p:cNvSpPr txBox="1"/>
          <p:nvPr>
            <p:ph idx="1" type="body"/>
          </p:nvPr>
        </p:nvSpPr>
        <p:spPr>
          <a:xfrm>
            <a:off x="727550" y="1483925"/>
            <a:ext cx="8125500" cy="37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❖"/>
            </a:pPr>
            <a:r>
              <a:rPr b="1"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Tìm số nhân viên đã làm việc hơn 5 năm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❖"/>
            </a:pPr>
            <a:r>
              <a:rPr b="1"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Tìm những nhân viên sinh nhật trong tháng 2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5"/>
          <p:cNvSpPr/>
          <p:nvPr/>
        </p:nvSpPr>
        <p:spPr>
          <a:xfrm>
            <a:off x="2029700" y="2014046"/>
            <a:ext cx="5521200" cy="1115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4D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1" lang="vi" sz="1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vi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1" lang="vi" sz="1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hire_date, TIMESTAMPDIFF(</a:t>
            </a:r>
            <a:r>
              <a:rPr b="1" lang="vi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YEAR</a:t>
            </a:r>
            <a:r>
              <a:rPr b="1" lang="vi" sz="1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hire_date, CURDATE()) </a:t>
            </a:r>
            <a:r>
              <a:rPr b="1" lang="vi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1" lang="vi" sz="1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years_worked</a:t>
            </a:r>
            <a:endParaRPr b="1" sz="10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1" lang="vi" sz="1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employees</a:t>
            </a:r>
            <a:endParaRPr b="1" sz="10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b="1" lang="vi" sz="1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TIMESTAMPDIFF(</a:t>
            </a:r>
            <a:r>
              <a:rPr b="1" lang="vi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YEAR</a:t>
            </a:r>
            <a:r>
              <a:rPr b="1" lang="vi" sz="1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hire_date, CURDATE()) &gt; </a:t>
            </a:r>
            <a:r>
              <a:rPr b="1" lang="vi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1" lang="vi" sz="1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250">
              <a:solidFill>
                <a:srgbClr val="005CC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1" name="Google Shape;211;p35"/>
          <p:cNvSpPr/>
          <p:nvPr/>
        </p:nvSpPr>
        <p:spPr>
          <a:xfrm>
            <a:off x="2029700" y="3741049"/>
            <a:ext cx="5521200" cy="655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4D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1" lang="vi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 </a:t>
            </a:r>
            <a:r>
              <a:rPr b="1" lang="vi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1" lang="vi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Employee </a:t>
            </a:r>
            <a:r>
              <a:rPr b="1" lang="vi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b="1" lang="vi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vi" sz="13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MONTH</a:t>
            </a:r>
            <a:r>
              <a:rPr b="1" lang="vi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(birthDate) = </a:t>
            </a:r>
            <a:r>
              <a:rPr b="1" lang="vi" sz="13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vi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3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217" name="Google Shape;217;p36"/>
          <p:cNvSpPr txBox="1"/>
          <p:nvPr>
            <p:ph type="title"/>
          </p:nvPr>
        </p:nvSpPr>
        <p:spPr>
          <a:xfrm>
            <a:off x="727650" y="643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2800">
                <a:latin typeface="Sarabun Medium"/>
                <a:ea typeface="Sarabun Medium"/>
                <a:cs typeface="Sarabun Medium"/>
                <a:sym typeface="Sarabun Medium"/>
              </a:rPr>
              <a:t>Functions - Ví dụ </a:t>
            </a:r>
            <a:endParaRPr sz="2800">
              <a:latin typeface="Sarabun Medium"/>
              <a:ea typeface="Sarabun Medium"/>
              <a:cs typeface="Sarabun Medium"/>
              <a:sym typeface="Sarabun Medium"/>
            </a:endParaRPr>
          </a:p>
        </p:txBody>
      </p:sp>
      <p:sp>
        <p:nvSpPr>
          <p:cNvPr id="218" name="Google Shape;218;p36"/>
          <p:cNvSpPr txBox="1"/>
          <p:nvPr>
            <p:ph idx="1" type="body"/>
          </p:nvPr>
        </p:nvSpPr>
        <p:spPr>
          <a:xfrm>
            <a:off x="727550" y="1483925"/>
            <a:ext cx="8125500" cy="37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❖"/>
            </a:pPr>
            <a:r>
              <a:rPr b="1"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Dùng NOW() để Insert thời gian order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6"/>
          <p:cNvSpPr/>
          <p:nvPr/>
        </p:nvSpPr>
        <p:spPr>
          <a:xfrm>
            <a:off x="909600" y="2111850"/>
            <a:ext cx="7324800" cy="2349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4D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INSERT INTO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SalesOrder (CustomerID, EmployeeID, OrderDate, RequiredDate)</a:t>
            </a:r>
            <a:endParaRPr b="1" sz="12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b="1" sz="12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vi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'ALFKI'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         </a:t>
            </a:r>
            <a:r>
              <a:rPr b="1" lang="vi" sz="12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-- Mã khách hàng</a:t>
            </a:r>
            <a:endParaRPr b="1" sz="12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vi" sz="12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               </a:t>
            </a:r>
            <a:r>
              <a:rPr b="1" lang="vi" sz="12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-- Nhân viên xử lý</a:t>
            </a:r>
            <a:endParaRPr b="1" sz="12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NOW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(),            </a:t>
            </a:r>
            <a:r>
              <a:rPr b="1" lang="vi" sz="12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-- Thời gian đặt hàng: hiện tại</a:t>
            </a:r>
            <a:endParaRPr b="1" sz="12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DATE_ADD(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NOW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(), INTERVAL </a:t>
            </a:r>
            <a:r>
              <a:rPr b="1" lang="vi" sz="12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DAY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),  </a:t>
            </a:r>
            <a:r>
              <a:rPr b="1" lang="vi" sz="12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-- Yêu cầu giao sau 7 ngày</a:t>
            </a:r>
            <a:endParaRPr b="1" sz="12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225" name="Google Shape;225;p37"/>
          <p:cNvSpPr txBox="1"/>
          <p:nvPr>
            <p:ph type="title"/>
          </p:nvPr>
        </p:nvSpPr>
        <p:spPr>
          <a:xfrm>
            <a:off x="727650" y="643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2800">
                <a:latin typeface="Sarabun Medium"/>
                <a:ea typeface="Sarabun Medium"/>
                <a:cs typeface="Sarabun Medium"/>
                <a:sym typeface="Sarabun Medium"/>
              </a:rPr>
              <a:t>STRING Functions (1)</a:t>
            </a:r>
            <a:endParaRPr sz="2800">
              <a:latin typeface="Sarabun Medium"/>
              <a:ea typeface="Sarabun Medium"/>
              <a:cs typeface="Sarabun Medium"/>
              <a:sym typeface="Sarabun Medium"/>
            </a:endParaRPr>
          </a:p>
        </p:txBody>
      </p:sp>
      <p:graphicFrame>
        <p:nvGraphicFramePr>
          <p:cNvPr id="226" name="Google Shape;226;p37"/>
          <p:cNvGraphicFramePr/>
          <p:nvPr/>
        </p:nvGraphicFramePr>
        <p:xfrm>
          <a:off x="952500" y="1444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{002C5DCF-7D01-4C16-9CCE-2C979FF4A114}</a:tableStyleId>
              </a:tblPr>
              <a:tblGrid>
                <a:gridCol w="1675450"/>
                <a:gridCol w="1541175"/>
                <a:gridCol w="2937800"/>
                <a:gridCol w="1084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100"/>
                        <a:t>Hàm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100"/>
                        <a:t>Ý nghĩa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100"/>
                        <a:t>Ví dụ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100"/>
                        <a:t>Kết quả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LENGTH(string)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Độ dài chuỗi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vi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LENGTH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vi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'Hello'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500"/>
                        <a:t>5</a:t>
                      </a:r>
                      <a:endParaRPr sz="15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LOWER(string)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Chuyển thành chữ thường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vi">
                          <a:solidFill>
                            <a:srgbClr val="795E26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LOWER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vi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'HELLO'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);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500"/>
                        <a:t>hello</a:t>
                      </a:r>
                      <a:endParaRPr sz="1500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UPPER(string)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Chuyển thành chữ hoa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vi">
                          <a:solidFill>
                            <a:srgbClr val="795E26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UPPER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vi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'hello'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500"/>
                        <a:t>HELLO</a:t>
                      </a:r>
                      <a:endParaRPr sz="15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LEFT(string, n)</a:t>
                      </a:r>
                      <a:endParaRPr sz="1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Lấy n ký tự từ trái</a:t>
                      </a:r>
                      <a:endParaRPr sz="1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vi">
                          <a:solidFill>
                            <a:srgbClr val="795E26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LEFT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vi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'Hello'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vi">
                          <a:solidFill>
                            <a:srgbClr val="098658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);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500"/>
                        <a:t>He</a:t>
                      </a:r>
                      <a:endParaRPr sz="15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RIGHT(string, n)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Lấy n ký tự từ phải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vi">
                          <a:solidFill>
                            <a:srgbClr val="795E26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RIGHT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vi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'Hello'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vi">
                          <a:solidFill>
                            <a:srgbClr val="098658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);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500"/>
                        <a:t>lo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SUBSTRING()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SUBSTR(string, start, len)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Cắt chuỗi con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/>
                        <a:t>Bắt đầu từ 1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450">
                          <a:solidFill>
                            <a:srgbClr val="795E26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SUBSTRING</a:t>
                      </a:r>
                      <a:r>
                        <a:rPr lang="vi" sz="145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vi" sz="1450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'Hello'</a:t>
                      </a:r>
                      <a:r>
                        <a:rPr lang="vi" sz="145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vi" sz="1450">
                          <a:solidFill>
                            <a:srgbClr val="098658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r>
                        <a:rPr lang="vi" sz="145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vi" sz="1450">
                          <a:solidFill>
                            <a:srgbClr val="098658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r>
                        <a:rPr lang="vi" sz="145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800">
                        <a:solidFill>
                          <a:srgbClr val="0000FF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500"/>
                        <a:t>ell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232" name="Google Shape;232;p38"/>
          <p:cNvSpPr txBox="1"/>
          <p:nvPr>
            <p:ph type="title"/>
          </p:nvPr>
        </p:nvSpPr>
        <p:spPr>
          <a:xfrm>
            <a:off x="727650" y="643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2800">
                <a:latin typeface="Sarabun Medium"/>
                <a:ea typeface="Sarabun Medium"/>
                <a:cs typeface="Sarabun Medium"/>
                <a:sym typeface="Sarabun Medium"/>
              </a:rPr>
              <a:t>STRING Functions (2)</a:t>
            </a:r>
            <a:endParaRPr sz="2800">
              <a:latin typeface="Sarabun Medium"/>
              <a:ea typeface="Sarabun Medium"/>
              <a:cs typeface="Sarabun Medium"/>
              <a:sym typeface="Sarabun Medium"/>
            </a:endParaRPr>
          </a:p>
        </p:txBody>
      </p:sp>
      <p:graphicFrame>
        <p:nvGraphicFramePr>
          <p:cNvPr id="233" name="Google Shape;233;p38"/>
          <p:cNvGraphicFramePr/>
          <p:nvPr/>
        </p:nvGraphicFramePr>
        <p:xfrm>
          <a:off x="952500" y="1444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{002C5DCF-7D01-4C16-9CCE-2C979FF4A114}</a:tableStyleId>
              </a:tblPr>
              <a:tblGrid>
                <a:gridCol w="1474000"/>
                <a:gridCol w="1366600"/>
                <a:gridCol w="3501825"/>
                <a:gridCol w="896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100"/>
                        <a:t>Hàm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100"/>
                        <a:t>Ý nghĩa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100"/>
                        <a:t>Ví dụ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100"/>
                        <a:t>Kết quả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TRIM(string)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Xóa khoảng trắng đầu &amp; cuối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vi">
                          <a:solidFill>
                            <a:srgbClr val="795E26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TRIM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vi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 Hello '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200"/>
                        <a:t>Hello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REPLACE(string, old, new)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Thay thế chuỗi con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vi">
                          <a:solidFill>
                            <a:srgbClr val="795E26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REPLACE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vi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'Hello World'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vi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'World'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vi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'SQL'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);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200"/>
                        <a:t>Hello SQL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73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CONCAT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(string1, string2, ...)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Nối chuỗi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vi">
                          <a:solidFill>
                            <a:srgbClr val="795E26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CONCAT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vi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'Hello'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vi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 '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vi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'SQL'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200"/>
                        <a:t>Hello SQL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INSTR(string, substring)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Tìm vị trí chuỗi con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INSTR(</a:t>
                      </a:r>
                      <a:r>
                        <a:rPr lang="vi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'Hello SQL'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vi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'SQL'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);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200"/>
                        <a:t>7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REVERSE(string)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Đảo ngược chuỗi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vi">
                          <a:solidFill>
                            <a:srgbClr val="795E26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REVERSE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vi">
                          <a:solidFill>
                            <a:srgbClr val="A31515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'Hello'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200"/>
                        <a:t>olleH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239" name="Google Shape;239;p39"/>
          <p:cNvSpPr txBox="1"/>
          <p:nvPr>
            <p:ph type="title"/>
          </p:nvPr>
        </p:nvSpPr>
        <p:spPr>
          <a:xfrm>
            <a:off x="727650" y="643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2800">
                <a:latin typeface="Sarabun Medium"/>
                <a:ea typeface="Sarabun Medium"/>
                <a:cs typeface="Sarabun Medium"/>
                <a:sym typeface="Sarabun Medium"/>
              </a:rPr>
              <a:t>Functions - Ví dụ </a:t>
            </a:r>
            <a:endParaRPr sz="2800">
              <a:latin typeface="Sarabun Medium"/>
              <a:ea typeface="Sarabun Medium"/>
              <a:cs typeface="Sarabun Medium"/>
              <a:sym typeface="Sarabun Medium"/>
            </a:endParaRPr>
          </a:p>
        </p:txBody>
      </p:sp>
      <p:sp>
        <p:nvSpPr>
          <p:cNvPr id="240" name="Google Shape;240;p39"/>
          <p:cNvSpPr txBox="1"/>
          <p:nvPr>
            <p:ph idx="1" type="body"/>
          </p:nvPr>
        </p:nvSpPr>
        <p:spPr>
          <a:xfrm>
            <a:off x="727550" y="1483925"/>
            <a:ext cx="8125500" cy="37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❖"/>
            </a:pPr>
            <a:r>
              <a:rPr b="1"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Lấy 5 ký tự đầu tên sản phẩm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❖"/>
            </a:pPr>
            <a:r>
              <a:rPr b="1"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Cắt từ vị trí 2, lấy 4 ký tự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9"/>
          <p:cNvSpPr/>
          <p:nvPr/>
        </p:nvSpPr>
        <p:spPr>
          <a:xfrm>
            <a:off x="2029700" y="2014046"/>
            <a:ext cx="5521200" cy="1115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4D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1" lang="vi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ProductName, </a:t>
            </a:r>
            <a:r>
              <a:rPr b="1" lang="vi" sz="13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LEFT</a:t>
            </a:r>
            <a:r>
              <a:rPr b="1" lang="vi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(ProductName, </a:t>
            </a:r>
            <a:r>
              <a:rPr b="1" lang="vi" sz="13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1" lang="vi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1" lang="vi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1" lang="vi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First5 </a:t>
            </a:r>
            <a:r>
              <a:rPr b="1" lang="vi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1" lang="vi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Products;</a:t>
            </a:r>
            <a:endParaRPr b="1" sz="1550">
              <a:solidFill>
                <a:srgbClr val="005CC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2" name="Google Shape;242;p39"/>
          <p:cNvSpPr/>
          <p:nvPr/>
        </p:nvSpPr>
        <p:spPr>
          <a:xfrm>
            <a:off x="1693250" y="3736075"/>
            <a:ext cx="6194100" cy="682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4D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ContactName, </a:t>
            </a:r>
            <a:r>
              <a:rPr b="1" lang="vi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SUBSTRING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(ContactName, </a:t>
            </a:r>
            <a:r>
              <a:rPr b="1" lang="vi" sz="12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vi" sz="12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SubName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Customers;</a:t>
            </a:r>
            <a:endParaRPr b="1" sz="14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248" name="Google Shape;248;p40"/>
          <p:cNvSpPr txBox="1"/>
          <p:nvPr>
            <p:ph type="title"/>
          </p:nvPr>
        </p:nvSpPr>
        <p:spPr>
          <a:xfrm>
            <a:off x="727650" y="643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2800">
                <a:latin typeface="Sarabun Medium"/>
                <a:ea typeface="Sarabun Medium"/>
                <a:cs typeface="Sarabun Medium"/>
                <a:sym typeface="Sarabun Medium"/>
              </a:rPr>
              <a:t>Functions - Ví dụ </a:t>
            </a:r>
            <a:endParaRPr sz="2800">
              <a:latin typeface="Sarabun Medium"/>
              <a:ea typeface="Sarabun Medium"/>
              <a:cs typeface="Sarabun Medium"/>
              <a:sym typeface="Sarabun Medium"/>
            </a:endParaRPr>
          </a:p>
        </p:txBody>
      </p:sp>
      <p:sp>
        <p:nvSpPr>
          <p:cNvPr id="249" name="Google Shape;249;p40"/>
          <p:cNvSpPr txBox="1"/>
          <p:nvPr>
            <p:ph idx="1" type="body"/>
          </p:nvPr>
        </p:nvSpPr>
        <p:spPr>
          <a:xfrm>
            <a:off x="727550" y="1483925"/>
            <a:ext cx="8125500" cy="37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❖"/>
            </a:pPr>
            <a:r>
              <a:rPr b="1"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Nối chuỗi tên đầy đủ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❖"/>
            </a:pPr>
            <a:r>
              <a:rPr b="1"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Lọc khách hàng có tên nhiều hơn 10 ký tự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40"/>
          <p:cNvSpPr/>
          <p:nvPr/>
        </p:nvSpPr>
        <p:spPr>
          <a:xfrm>
            <a:off x="2029700" y="2014046"/>
            <a:ext cx="5521200" cy="1115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4D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vi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CONCAT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(FirstName, </a:t>
            </a:r>
            <a:r>
              <a:rPr b="1" lang="vi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 '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LastName)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FullName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Employees;</a:t>
            </a:r>
            <a:endParaRPr b="1" sz="15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1" name="Google Shape;251;p40"/>
          <p:cNvSpPr/>
          <p:nvPr/>
        </p:nvSpPr>
        <p:spPr>
          <a:xfrm>
            <a:off x="1693250" y="3736075"/>
            <a:ext cx="6194100" cy="682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4D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1" lang="vi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 </a:t>
            </a:r>
            <a:r>
              <a:rPr b="1" lang="vi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1" lang="vi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Customer </a:t>
            </a:r>
            <a:r>
              <a:rPr b="1" lang="vi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b="1" lang="vi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vi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LENGTH</a:t>
            </a:r>
            <a:r>
              <a:rPr b="1" lang="vi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(contactName) &gt;= </a:t>
            </a:r>
            <a:r>
              <a:rPr b="1" lang="vi" sz="13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1" lang="vi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5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257" name="Google Shape;257;p41"/>
          <p:cNvSpPr txBox="1"/>
          <p:nvPr>
            <p:ph type="title"/>
          </p:nvPr>
        </p:nvSpPr>
        <p:spPr>
          <a:xfrm>
            <a:off x="727650" y="643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2800">
                <a:latin typeface="Sarabun Medium"/>
                <a:ea typeface="Sarabun Medium"/>
                <a:cs typeface="Sarabun Medium"/>
                <a:sym typeface="Sarabun Medium"/>
              </a:rPr>
              <a:t>Functions - Ví dụ </a:t>
            </a:r>
            <a:endParaRPr sz="2800">
              <a:latin typeface="Sarabun Medium"/>
              <a:ea typeface="Sarabun Medium"/>
              <a:cs typeface="Sarabun Medium"/>
              <a:sym typeface="Sarabun Medium"/>
            </a:endParaRPr>
          </a:p>
        </p:txBody>
      </p:sp>
      <p:sp>
        <p:nvSpPr>
          <p:cNvPr id="258" name="Google Shape;258;p41"/>
          <p:cNvSpPr txBox="1"/>
          <p:nvPr>
            <p:ph idx="1" type="body"/>
          </p:nvPr>
        </p:nvSpPr>
        <p:spPr>
          <a:xfrm>
            <a:off x="727550" y="1483925"/>
            <a:ext cx="8125500" cy="37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❖"/>
            </a:pPr>
            <a:r>
              <a:rPr b="1"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SUBSTRING_INDEX (str, delim, count)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➢"/>
            </a:pPr>
            <a:r>
              <a:rPr lang="vi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</a:t>
            </a:r>
            <a:r>
              <a:rPr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        Chuỗi gốc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➢"/>
            </a:pPr>
            <a:r>
              <a:rPr lang="vi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delim</a:t>
            </a:r>
            <a:r>
              <a:rPr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Ký tự phân tách (ví dụ: ' ', ',', '@')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➢"/>
            </a:pPr>
            <a:r>
              <a:rPr lang="vi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count</a:t>
            </a:r>
            <a:r>
              <a:rPr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Số lượng phần cần lấy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➢"/>
            </a:pPr>
            <a:r>
              <a:rPr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Dương → lấy từ trái qua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➢"/>
            </a:pPr>
            <a:r>
              <a:rPr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Âm → lấy từ phải qua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41"/>
          <p:cNvSpPr/>
          <p:nvPr/>
        </p:nvSpPr>
        <p:spPr>
          <a:xfrm>
            <a:off x="1434125" y="3395725"/>
            <a:ext cx="6126900" cy="1115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4D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vi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SUBSTRING_INDEX(</a:t>
            </a:r>
            <a:r>
              <a:rPr lang="vi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'john.doe@example.com'</a:t>
            </a:r>
            <a:r>
              <a:rPr lang="vi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vi" sz="13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'@'</a:t>
            </a:r>
            <a:r>
              <a:rPr lang="vi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vi" sz="13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vi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vi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vi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Username;</a:t>
            </a:r>
            <a:endParaRPr sz="13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3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-- Kết quả: "john.doe"</a:t>
            </a:r>
            <a:endParaRPr b="1" sz="15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265" name="Google Shape;265;p42"/>
          <p:cNvSpPr txBox="1"/>
          <p:nvPr>
            <p:ph type="title"/>
          </p:nvPr>
        </p:nvSpPr>
        <p:spPr>
          <a:xfrm>
            <a:off x="727650" y="643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2800">
                <a:latin typeface="Sarabun Medium"/>
                <a:ea typeface="Sarabun Medium"/>
                <a:cs typeface="Sarabun Medium"/>
                <a:sym typeface="Sarabun Medium"/>
              </a:rPr>
              <a:t>MATH Functions (1)</a:t>
            </a:r>
            <a:endParaRPr sz="2800">
              <a:latin typeface="Sarabun Medium"/>
              <a:ea typeface="Sarabun Medium"/>
              <a:cs typeface="Sarabun Medium"/>
              <a:sym typeface="Sarabun Medium"/>
            </a:endParaRPr>
          </a:p>
        </p:txBody>
      </p:sp>
      <p:graphicFrame>
        <p:nvGraphicFramePr>
          <p:cNvPr id="266" name="Google Shape;266;p42"/>
          <p:cNvGraphicFramePr/>
          <p:nvPr/>
        </p:nvGraphicFramePr>
        <p:xfrm>
          <a:off x="952500" y="1444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{002C5DCF-7D01-4C16-9CCE-2C979FF4A114}</a:tableStyleId>
              </a:tblPr>
              <a:tblGrid>
                <a:gridCol w="1380000"/>
                <a:gridCol w="1836625"/>
                <a:gridCol w="2937800"/>
                <a:gridCol w="1084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100"/>
                        <a:t>Hàm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100"/>
                        <a:t>Ý nghĩa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100"/>
                        <a:t>Ví dụ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100"/>
                        <a:t>Kết quả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ABS(number)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Giá trị tuyệt đối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vi">
                          <a:solidFill>
                            <a:srgbClr val="795E26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ABS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(-</a:t>
                      </a:r>
                      <a:r>
                        <a:rPr lang="vi">
                          <a:solidFill>
                            <a:srgbClr val="098658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10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CEIL(number)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Làm tròn lên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CEIL(</a:t>
                      </a:r>
                      <a:r>
                        <a:rPr lang="vi">
                          <a:solidFill>
                            <a:srgbClr val="098658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vi">
                          <a:solidFill>
                            <a:srgbClr val="098658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);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5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FLOOR(number)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Làm tròn xuống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vi">
                          <a:solidFill>
                            <a:srgbClr val="795E26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FLOOR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vi">
                          <a:solidFill>
                            <a:srgbClr val="098658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vi">
                          <a:solidFill>
                            <a:srgbClr val="098658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4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ROUND(number, n)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Làm tròn đến n chữ số thập phân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vi">
                          <a:solidFill>
                            <a:srgbClr val="795E26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ROUND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vi">
                          <a:solidFill>
                            <a:srgbClr val="098658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vi">
                          <a:solidFill>
                            <a:srgbClr val="098658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14159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vi">
                          <a:solidFill>
                            <a:srgbClr val="098658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);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3.14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RAND()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Số ngẫu nhiên từ 0 đến 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vi">
                          <a:solidFill>
                            <a:srgbClr val="795E26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RAND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();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0.8734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272" name="Google Shape;272;p43"/>
          <p:cNvSpPr txBox="1"/>
          <p:nvPr>
            <p:ph type="title"/>
          </p:nvPr>
        </p:nvSpPr>
        <p:spPr>
          <a:xfrm>
            <a:off x="727650" y="643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2800">
                <a:latin typeface="Sarabun Medium"/>
                <a:ea typeface="Sarabun Medium"/>
                <a:cs typeface="Sarabun Medium"/>
                <a:sym typeface="Sarabun Medium"/>
              </a:rPr>
              <a:t>MATH Functions (2)</a:t>
            </a:r>
            <a:endParaRPr sz="2800">
              <a:latin typeface="Sarabun Medium"/>
              <a:ea typeface="Sarabun Medium"/>
              <a:cs typeface="Sarabun Medium"/>
              <a:sym typeface="Sarabun Medium"/>
            </a:endParaRPr>
          </a:p>
        </p:txBody>
      </p:sp>
      <p:graphicFrame>
        <p:nvGraphicFramePr>
          <p:cNvPr id="273" name="Google Shape;273;p43"/>
          <p:cNvGraphicFramePr/>
          <p:nvPr/>
        </p:nvGraphicFramePr>
        <p:xfrm>
          <a:off x="952500" y="1444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{002C5DCF-7D01-4C16-9CCE-2C979FF4A114}</a:tableStyleId>
              </a:tblPr>
              <a:tblGrid>
                <a:gridCol w="1474000"/>
                <a:gridCol w="1366600"/>
                <a:gridCol w="3501825"/>
                <a:gridCol w="896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100"/>
                        <a:t>Hàm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100"/>
                        <a:t>Ý nghĩa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100"/>
                        <a:t>Ví dụ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100"/>
                        <a:t>Kết quả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POWER(x, y)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Lũy thừa x^y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vi">
                          <a:solidFill>
                            <a:srgbClr val="795E26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POWER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vi">
                          <a:solidFill>
                            <a:srgbClr val="098658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vi">
                          <a:solidFill>
                            <a:srgbClr val="098658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8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SQRT(number)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Căn bậc hai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vi">
                          <a:solidFill>
                            <a:srgbClr val="795E26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SQRT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vi">
                          <a:solidFill>
                            <a:srgbClr val="098658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);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4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  <a:tr h="397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MOD(a, b)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Lấy phần dư a % b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MOD(</a:t>
                      </a:r>
                      <a:r>
                        <a:rPr lang="vi">
                          <a:solidFill>
                            <a:srgbClr val="098658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vi">
                          <a:solidFill>
                            <a:srgbClr val="098658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1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PI()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Trả về số Pi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vi">
                          <a:solidFill>
                            <a:srgbClr val="795E26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PI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();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3.1415926535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SIN(angle), COS(angle), TAN(angle)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Hàm lượng giác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vi">
                          <a:solidFill>
                            <a:srgbClr val="795E26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SIN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vi">
                          <a:solidFill>
                            <a:srgbClr val="795E26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PI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()/</a:t>
                      </a:r>
                      <a:r>
                        <a:rPr lang="vi">
                          <a:solidFill>
                            <a:srgbClr val="098658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r>
                        <a:rPr lang="vi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);</a:t>
                      </a:r>
                      <a:endParaRPr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1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279" name="Google Shape;279;p44"/>
          <p:cNvSpPr txBox="1"/>
          <p:nvPr>
            <p:ph type="title"/>
          </p:nvPr>
        </p:nvSpPr>
        <p:spPr>
          <a:xfrm>
            <a:off x="727650" y="643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2800">
                <a:latin typeface="Sarabun Medium"/>
                <a:ea typeface="Sarabun Medium"/>
                <a:cs typeface="Sarabun Medium"/>
                <a:sym typeface="Sarabun Medium"/>
              </a:rPr>
              <a:t>Functions - Ví dụ </a:t>
            </a:r>
            <a:endParaRPr sz="2800">
              <a:latin typeface="Sarabun Medium"/>
              <a:ea typeface="Sarabun Medium"/>
              <a:cs typeface="Sarabun Medium"/>
              <a:sym typeface="Sarabun Medium"/>
            </a:endParaRPr>
          </a:p>
        </p:txBody>
      </p:sp>
      <p:sp>
        <p:nvSpPr>
          <p:cNvPr id="280" name="Google Shape;280;p44"/>
          <p:cNvSpPr txBox="1"/>
          <p:nvPr>
            <p:ph idx="1" type="body"/>
          </p:nvPr>
        </p:nvSpPr>
        <p:spPr>
          <a:xfrm>
            <a:off x="727550" y="1483925"/>
            <a:ext cx="8125500" cy="37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❖"/>
            </a:pPr>
            <a:r>
              <a:rPr b="1"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Tìm số nhân viên đã làm việc hơn 5 năm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❖"/>
            </a:pPr>
            <a:r>
              <a:rPr b="1"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Kiểm tra xem một số có phải số chẵn hay không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44"/>
          <p:cNvSpPr/>
          <p:nvPr/>
        </p:nvSpPr>
        <p:spPr>
          <a:xfrm>
            <a:off x="2029700" y="2014046"/>
            <a:ext cx="5521200" cy="1115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4D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1" lang="vi" sz="1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vi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1" lang="vi" sz="1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hire_date, TIMESTAMPDIFF(</a:t>
            </a:r>
            <a:r>
              <a:rPr b="1" lang="vi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YEAR</a:t>
            </a:r>
            <a:r>
              <a:rPr b="1" lang="vi" sz="1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hire_date, CURDATE()) </a:t>
            </a:r>
            <a:r>
              <a:rPr b="1" lang="vi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1" lang="vi" sz="1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years_worked</a:t>
            </a:r>
            <a:endParaRPr b="1" sz="10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1" lang="vi" sz="1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employees</a:t>
            </a:r>
            <a:endParaRPr b="1" sz="10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b="1" lang="vi" sz="1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TIMESTAMPDIFF(</a:t>
            </a:r>
            <a:r>
              <a:rPr b="1" lang="vi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YEAR</a:t>
            </a:r>
            <a:r>
              <a:rPr b="1" lang="vi" sz="1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hire_date, CURDATE()) &gt; </a:t>
            </a:r>
            <a:r>
              <a:rPr b="1" lang="vi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1" lang="vi" sz="1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250">
              <a:solidFill>
                <a:srgbClr val="005CC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2" name="Google Shape;282;p44"/>
          <p:cNvSpPr/>
          <p:nvPr/>
        </p:nvSpPr>
        <p:spPr>
          <a:xfrm>
            <a:off x="1693250" y="3736075"/>
            <a:ext cx="6194100" cy="682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4D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(MOD(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vi" sz="12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= </a:t>
            </a:r>
            <a:r>
              <a:rPr b="1" lang="vi" sz="12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vi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'Even'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vi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'Odd'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endParaRPr b="1"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numbers;</a:t>
            </a:r>
            <a:endParaRPr b="1"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288" name="Google Shape;288;p45"/>
          <p:cNvSpPr txBox="1"/>
          <p:nvPr>
            <p:ph type="title"/>
          </p:nvPr>
        </p:nvSpPr>
        <p:spPr>
          <a:xfrm>
            <a:off x="727650" y="643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2800">
                <a:latin typeface="Sarabun Medium"/>
                <a:ea typeface="Sarabun Medium"/>
                <a:cs typeface="Sarabun Medium"/>
                <a:sym typeface="Sarabun Medium"/>
              </a:rPr>
              <a:t>Functions - Ví dụ 2</a:t>
            </a:r>
            <a:endParaRPr sz="2800">
              <a:latin typeface="Sarabun Medium"/>
              <a:ea typeface="Sarabun Medium"/>
              <a:cs typeface="Sarabun Medium"/>
              <a:sym typeface="Sarabun Medium"/>
            </a:endParaRPr>
          </a:p>
        </p:txBody>
      </p:sp>
      <p:sp>
        <p:nvSpPr>
          <p:cNvPr id="289" name="Google Shape;289;p45"/>
          <p:cNvSpPr txBox="1"/>
          <p:nvPr>
            <p:ph idx="1" type="body"/>
          </p:nvPr>
        </p:nvSpPr>
        <p:spPr>
          <a:xfrm>
            <a:off x="727550" y="1483925"/>
            <a:ext cx="8125500" cy="37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❖"/>
            </a:pPr>
            <a:r>
              <a:rPr b="1"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Kiểm tra xem một số có phải số chẵn hay không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45"/>
          <p:cNvSpPr/>
          <p:nvPr/>
        </p:nvSpPr>
        <p:spPr>
          <a:xfrm>
            <a:off x="1693250" y="2101800"/>
            <a:ext cx="6194100" cy="939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4D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(MOD(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vi" sz="12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= </a:t>
            </a:r>
            <a:r>
              <a:rPr b="1" lang="vi" sz="12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vi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'Even'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vi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'Odd'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endParaRPr b="1"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numbers;</a:t>
            </a:r>
            <a:endParaRPr b="1"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6"/>
          <p:cNvSpPr txBox="1"/>
          <p:nvPr>
            <p:ph idx="4294967295" type="body"/>
          </p:nvPr>
        </p:nvSpPr>
        <p:spPr>
          <a:xfrm>
            <a:off x="0" y="1773000"/>
            <a:ext cx="9143700" cy="798600"/>
          </a:xfrm>
          <a:prstGeom prst="rect">
            <a:avLst/>
          </a:prstGeom>
          <a:solidFill>
            <a:srgbClr val="666666"/>
          </a:solidFill>
          <a:ln>
            <a:noFill/>
          </a:ln>
          <a:effectLst>
            <a:outerShdw blurRad="57240" rotWithShape="0" dir="5400000" dist="19080">
              <a:srgbClr val="000000">
                <a:alpha val="498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28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lang="vi" sz="3800">
                <a:solidFill>
                  <a:srgbClr val="FFFFFF"/>
                </a:solidFill>
                <a:latin typeface="Jura"/>
                <a:ea typeface="Jura"/>
                <a:cs typeface="Jura"/>
                <a:sym typeface="Jura"/>
              </a:rPr>
              <a:t>Tập hợp</a:t>
            </a:r>
            <a:endParaRPr b="1" sz="3800">
              <a:solidFill>
                <a:srgbClr val="FFFFFF"/>
              </a:solidFill>
              <a:latin typeface="Jura"/>
              <a:ea typeface="Jura"/>
              <a:cs typeface="Jura"/>
              <a:sym typeface="Jura"/>
            </a:endParaRPr>
          </a:p>
          <a:p>
            <a:pPr indent="0" lvl="0" marL="2286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t/>
            </a:r>
            <a:endParaRPr b="1" sz="3800">
              <a:solidFill>
                <a:srgbClr val="FFFFFF"/>
              </a:solidFill>
              <a:latin typeface="Jura"/>
              <a:ea typeface="Jura"/>
              <a:cs typeface="Jura"/>
              <a:sym typeface="Jura"/>
            </a:endParaRPr>
          </a:p>
          <a:p>
            <a:pPr indent="0" lvl="0" marL="2286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t/>
            </a:r>
            <a:endParaRPr b="1" sz="3800">
              <a:solidFill>
                <a:srgbClr val="FFFFFF"/>
              </a:solidFill>
              <a:latin typeface="Jura"/>
              <a:ea typeface="Jura"/>
              <a:cs typeface="Jura"/>
              <a:sym typeface="Jura"/>
            </a:endParaRPr>
          </a:p>
          <a:p>
            <a:pPr indent="0" lvl="0" marL="228600" marR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t/>
            </a:r>
            <a:endParaRPr b="1" sz="3800">
              <a:solidFill>
                <a:srgbClr val="FFFFFF"/>
              </a:solidFill>
              <a:latin typeface="Jura"/>
              <a:ea typeface="Jura"/>
              <a:cs typeface="Jura"/>
              <a:sym typeface="Jur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301" name="Google Shape;301;p47"/>
          <p:cNvSpPr txBox="1"/>
          <p:nvPr>
            <p:ph idx="1" type="body"/>
          </p:nvPr>
        </p:nvSpPr>
        <p:spPr>
          <a:xfrm>
            <a:off x="727550" y="1483925"/>
            <a:ext cx="8125500" cy="37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47"/>
          <p:cNvSpPr txBox="1"/>
          <p:nvPr>
            <p:ph type="title"/>
          </p:nvPr>
        </p:nvSpPr>
        <p:spPr>
          <a:xfrm>
            <a:off x="727650" y="643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2800">
                <a:latin typeface="Sarabun Medium"/>
                <a:ea typeface="Sarabun Medium"/>
                <a:cs typeface="Sarabun Medium"/>
                <a:sym typeface="Sarabun Medium"/>
              </a:rPr>
              <a:t>Chuẩn bị</a:t>
            </a:r>
            <a:endParaRPr sz="2800">
              <a:latin typeface="Sarabun Medium"/>
              <a:ea typeface="Sarabun Medium"/>
              <a:cs typeface="Sarabun Medium"/>
              <a:sym typeface="Sarabun Medium"/>
            </a:endParaRPr>
          </a:p>
        </p:txBody>
      </p:sp>
      <p:sp>
        <p:nvSpPr>
          <p:cNvPr id="303" name="Google Shape;303;p47"/>
          <p:cNvSpPr/>
          <p:nvPr/>
        </p:nvSpPr>
        <p:spPr>
          <a:xfrm>
            <a:off x="822650" y="1298175"/>
            <a:ext cx="3907200" cy="3572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4D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vi" sz="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TABLE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vi" sz="7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customers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7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customer_id </a:t>
            </a:r>
            <a:r>
              <a:rPr lang="vi" sz="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vi" sz="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PRIMARY KEY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AUTO_INCREMENT,</a:t>
            </a:r>
            <a:endParaRPr sz="7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customer_name </a:t>
            </a:r>
            <a:r>
              <a:rPr lang="vi" sz="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VARCHAR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vi" sz="7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7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country </a:t>
            </a:r>
            <a:r>
              <a:rPr lang="vi" sz="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VARCHAR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vi" sz="7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7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city </a:t>
            </a:r>
            <a:r>
              <a:rPr lang="vi" sz="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VARCHAR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vi" sz="7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7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vi" sz="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TABLE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vi" sz="7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suppliers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7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supplier_id </a:t>
            </a:r>
            <a:r>
              <a:rPr lang="vi" sz="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vi" sz="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PRIMARY KEY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AUTO_INCREMENT,</a:t>
            </a:r>
            <a:endParaRPr sz="7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supplier_name </a:t>
            </a:r>
            <a:r>
              <a:rPr lang="vi" sz="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VARCHAR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vi" sz="7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7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country </a:t>
            </a:r>
            <a:r>
              <a:rPr lang="vi" sz="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VARCHAR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vi" sz="7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7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city </a:t>
            </a:r>
            <a:r>
              <a:rPr lang="vi" sz="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VARCHAR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vi" sz="7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7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INSERT INTO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customers (customer_name, country, city) </a:t>
            </a:r>
            <a:r>
              <a:rPr lang="vi" sz="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endParaRPr sz="7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vi" sz="7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'Alice Corp'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vi" sz="7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'USA'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vi" sz="7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'New York'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7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vi" sz="7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'Bob Ltd'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vi" sz="7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'UK'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vi" sz="7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'London'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7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vi" sz="7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'Charlie Inc'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vi" sz="7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'USA'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vi" sz="7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'Chicago'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7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vi" sz="7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'David Co'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vi" sz="7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'Germany'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vi" sz="7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'Berlin'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INSERT INTO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suppliers (supplier_name, country, city) </a:t>
            </a:r>
            <a:r>
              <a:rPr lang="vi" sz="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endParaRPr sz="7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vi" sz="7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'X Supplier'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vi" sz="7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'USA'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vi" sz="7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'New York'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7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vi" sz="7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'Y Supplier'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vi" sz="7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'USA'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vi" sz="7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'Chicago'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7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vi" sz="7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'Z Supplier'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vi" sz="7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'Japan'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vi" sz="7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'Tokyo'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7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vi" sz="7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'W Supplier'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vi" sz="7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'UK'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vi" sz="7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'London'</a:t>
            </a:r>
            <a:r>
              <a:rPr lang="vi" sz="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4" name="Google Shape;304;p47"/>
          <p:cNvSpPr/>
          <p:nvPr/>
        </p:nvSpPr>
        <p:spPr>
          <a:xfrm>
            <a:off x="4945850" y="1392325"/>
            <a:ext cx="3907200" cy="3572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4D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CREATE TABLE instructor (</a:t>
            </a:r>
            <a:endParaRPr sz="7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id INT PRIMARY KEY,</a:t>
            </a:r>
            <a:endParaRPr sz="7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name VARCHAR(100),</a:t>
            </a:r>
            <a:endParaRPr sz="7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dept_name VARCHAR(100),</a:t>
            </a:r>
            <a:endParaRPr sz="7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salary INT</a:t>
            </a:r>
            <a:endParaRPr sz="7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INSERT INTO instructor (id, name, dept_name, salary) VALUES</a:t>
            </a:r>
            <a:endParaRPr sz="7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(1, 'Nguyen Van A', 'Biology', 500),</a:t>
            </a:r>
            <a:endParaRPr sz="7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(2, 'Tran Thi B', 'Biology', 600),</a:t>
            </a:r>
            <a:endParaRPr sz="7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(3, 'Le Van C', 'Physics', 700),</a:t>
            </a:r>
            <a:endParaRPr sz="7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(4, 'Pham Thi D', 'Math', 400),</a:t>
            </a:r>
            <a:endParaRPr sz="7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(5, 'Do Van E', 'Physics', 650),</a:t>
            </a:r>
            <a:endParaRPr sz="7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(6, 'Hoang Thi F', 'Biology', 550),</a:t>
            </a:r>
            <a:endParaRPr sz="7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(7, 'Nguyen Van G', 'Math', 800);</a:t>
            </a:r>
            <a:endParaRPr sz="7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310" name="Google Shape;310;p48"/>
          <p:cNvSpPr txBox="1"/>
          <p:nvPr>
            <p:ph idx="1" type="body"/>
          </p:nvPr>
        </p:nvSpPr>
        <p:spPr>
          <a:xfrm>
            <a:off x="727550" y="1483925"/>
            <a:ext cx="8125500" cy="37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❖"/>
            </a:pPr>
            <a:r>
              <a:rPr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UNION: Hợp hai tập kết quả và loại bỏ giá trị trùng lặp.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8"/>
          <p:cNvSpPr txBox="1"/>
          <p:nvPr>
            <p:ph type="title"/>
          </p:nvPr>
        </p:nvSpPr>
        <p:spPr>
          <a:xfrm>
            <a:off x="727650" y="643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2800">
                <a:latin typeface="Sarabun Medium"/>
                <a:ea typeface="Sarabun Medium"/>
                <a:cs typeface="Sarabun Medium"/>
                <a:sym typeface="Sarabun Medium"/>
              </a:rPr>
              <a:t>UNION</a:t>
            </a:r>
            <a:endParaRPr sz="2800">
              <a:latin typeface="Sarabun Medium"/>
              <a:ea typeface="Sarabun Medium"/>
              <a:cs typeface="Sarabun Medium"/>
              <a:sym typeface="Sarabun Medium"/>
            </a:endParaRPr>
          </a:p>
        </p:txBody>
      </p:sp>
      <p:sp>
        <p:nvSpPr>
          <p:cNvPr id="312" name="Google Shape;312;p48"/>
          <p:cNvSpPr/>
          <p:nvPr/>
        </p:nvSpPr>
        <p:spPr>
          <a:xfrm>
            <a:off x="5832300" y="2355900"/>
            <a:ext cx="3311700" cy="1040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4D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country </a:t>
            </a:r>
            <a:r>
              <a:rPr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customers</a:t>
            </a:r>
            <a:endParaRPr sz="12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UNION</a:t>
            </a:r>
            <a:endParaRPr b="1"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country </a:t>
            </a:r>
            <a:r>
              <a:rPr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suppliers;</a:t>
            </a:r>
            <a:endParaRPr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3" name="Google Shape;313;p48"/>
          <p:cNvSpPr/>
          <p:nvPr/>
        </p:nvSpPr>
        <p:spPr>
          <a:xfrm>
            <a:off x="861900" y="1944500"/>
            <a:ext cx="4309500" cy="1203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14" name="Google Shape;31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2113" y="2036550"/>
            <a:ext cx="4029075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48"/>
          <p:cNvSpPr/>
          <p:nvPr/>
        </p:nvSpPr>
        <p:spPr>
          <a:xfrm>
            <a:off x="861900" y="3147800"/>
            <a:ext cx="4309500" cy="1995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16" name="Google Shape;316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2113" y="3221675"/>
            <a:ext cx="4029075" cy="18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48"/>
          <p:cNvSpPr txBox="1"/>
          <p:nvPr/>
        </p:nvSpPr>
        <p:spPr>
          <a:xfrm>
            <a:off x="-43412" y="1971000"/>
            <a:ext cx="1092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Customers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8" name="Google Shape;318;p48"/>
          <p:cNvSpPr txBox="1"/>
          <p:nvPr/>
        </p:nvSpPr>
        <p:spPr>
          <a:xfrm>
            <a:off x="3052" y="3221675"/>
            <a:ext cx="1092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Suppliers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19" name="Google Shape;319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95838" y="3530150"/>
            <a:ext cx="1209675" cy="1085850"/>
          </a:xfrm>
          <a:prstGeom prst="rect">
            <a:avLst/>
          </a:prstGeom>
          <a:noFill/>
          <a:ln>
            <a:noFill/>
          </a:ln>
          <a:effectLst>
            <a:outerShdw blurRad="257175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325" name="Google Shape;325;p49"/>
          <p:cNvSpPr txBox="1"/>
          <p:nvPr>
            <p:ph idx="1" type="body"/>
          </p:nvPr>
        </p:nvSpPr>
        <p:spPr>
          <a:xfrm>
            <a:off x="727550" y="1483925"/>
            <a:ext cx="8125500" cy="37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❖"/>
            </a:pPr>
            <a:r>
              <a:rPr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UNION ALL: Hợp hai tập kết quả và </a:t>
            </a:r>
            <a:r>
              <a:rPr b="1"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không loại bỏ</a:t>
            </a:r>
            <a:r>
              <a:rPr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giá trị trùng lặp (nhanh hơn UNION)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49"/>
          <p:cNvSpPr txBox="1"/>
          <p:nvPr>
            <p:ph type="title"/>
          </p:nvPr>
        </p:nvSpPr>
        <p:spPr>
          <a:xfrm>
            <a:off x="727650" y="643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2800">
                <a:latin typeface="Sarabun Medium"/>
                <a:ea typeface="Sarabun Medium"/>
                <a:cs typeface="Sarabun Medium"/>
                <a:sym typeface="Sarabun Medium"/>
              </a:rPr>
              <a:t>UNION ALL</a:t>
            </a:r>
            <a:endParaRPr sz="2800">
              <a:latin typeface="Sarabun Medium"/>
              <a:ea typeface="Sarabun Medium"/>
              <a:cs typeface="Sarabun Medium"/>
              <a:sym typeface="Sarabun Medium"/>
            </a:endParaRPr>
          </a:p>
        </p:txBody>
      </p:sp>
      <p:sp>
        <p:nvSpPr>
          <p:cNvPr id="327" name="Google Shape;327;p49"/>
          <p:cNvSpPr/>
          <p:nvPr/>
        </p:nvSpPr>
        <p:spPr>
          <a:xfrm>
            <a:off x="5541350" y="1833200"/>
            <a:ext cx="3311700" cy="1019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4D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country </a:t>
            </a:r>
            <a:r>
              <a:rPr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customers</a:t>
            </a:r>
            <a:endParaRPr sz="12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UNION ALL</a:t>
            </a:r>
            <a:endParaRPr b="1"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country </a:t>
            </a:r>
            <a:r>
              <a:rPr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suppliers;</a:t>
            </a:r>
            <a:endParaRPr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8" name="Google Shape;328;p49"/>
          <p:cNvSpPr/>
          <p:nvPr/>
        </p:nvSpPr>
        <p:spPr>
          <a:xfrm>
            <a:off x="861900" y="1944500"/>
            <a:ext cx="4309500" cy="1203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29" name="Google Shape;32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2113" y="2036550"/>
            <a:ext cx="4029075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9"/>
          <p:cNvSpPr/>
          <p:nvPr/>
        </p:nvSpPr>
        <p:spPr>
          <a:xfrm>
            <a:off x="861900" y="3147800"/>
            <a:ext cx="4309500" cy="1995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31" name="Google Shape;331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2113" y="3221675"/>
            <a:ext cx="4029075" cy="18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49"/>
          <p:cNvSpPr txBox="1"/>
          <p:nvPr/>
        </p:nvSpPr>
        <p:spPr>
          <a:xfrm>
            <a:off x="-43412" y="1971000"/>
            <a:ext cx="1092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Customers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3" name="Google Shape;333;p49"/>
          <p:cNvSpPr txBox="1"/>
          <p:nvPr/>
        </p:nvSpPr>
        <p:spPr>
          <a:xfrm>
            <a:off x="3052" y="3221675"/>
            <a:ext cx="1092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Suppliers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34" name="Google Shape;334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15000" y="2852300"/>
            <a:ext cx="1190625" cy="2251150"/>
          </a:xfrm>
          <a:prstGeom prst="rect">
            <a:avLst/>
          </a:prstGeom>
          <a:noFill/>
          <a:ln>
            <a:noFill/>
          </a:ln>
          <a:effectLst>
            <a:outerShdw blurRad="257175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340" name="Google Shape;340;p50"/>
          <p:cNvSpPr txBox="1"/>
          <p:nvPr>
            <p:ph idx="1" type="body"/>
          </p:nvPr>
        </p:nvSpPr>
        <p:spPr>
          <a:xfrm>
            <a:off x="727550" y="1483925"/>
            <a:ext cx="8125500" cy="37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❖"/>
            </a:pPr>
            <a:r>
              <a:rPr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INTERSECT: Giao hai tập dữ liệu ⇒ Có thể sử dụng INNER JOIN thay thế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50"/>
          <p:cNvSpPr txBox="1"/>
          <p:nvPr>
            <p:ph type="title"/>
          </p:nvPr>
        </p:nvSpPr>
        <p:spPr>
          <a:xfrm>
            <a:off x="727650" y="643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2800">
                <a:latin typeface="Sarabun Medium"/>
                <a:ea typeface="Sarabun Medium"/>
                <a:cs typeface="Sarabun Medium"/>
                <a:sym typeface="Sarabun Medium"/>
              </a:rPr>
              <a:t>INTERSECT</a:t>
            </a:r>
            <a:endParaRPr sz="2800">
              <a:latin typeface="Sarabun Medium"/>
              <a:ea typeface="Sarabun Medium"/>
              <a:cs typeface="Sarabun Medium"/>
              <a:sym typeface="Sarabun Medium"/>
            </a:endParaRPr>
          </a:p>
        </p:txBody>
      </p:sp>
      <p:sp>
        <p:nvSpPr>
          <p:cNvPr id="342" name="Google Shape;342;p50"/>
          <p:cNvSpPr/>
          <p:nvPr/>
        </p:nvSpPr>
        <p:spPr>
          <a:xfrm>
            <a:off x="5541350" y="1944500"/>
            <a:ext cx="3311700" cy="1019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4D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country </a:t>
            </a:r>
            <a:r>
              <a:rPr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customers</a:t>
            </a:r>
            <a:endParaRPr sz="12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INTERSECT</a:t>
            </a:r>
            <a:endParaRPr b="1"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country </a:t>
            </a:r>
            <a:r>
              <a:rPr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suppliers;</a:t>
            </a:r>
            <a:endParaRPr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3" name="Google Shape;343;p50"/>
          <p:cNvSpPr/>
          <p:nvPr/>
        </p:nvSpPr>
        <p:spPr>
          <a:xfrm>
            <a:off x="861900" y="1944500"/>
            <a:ext cx="4309500" cy="1203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44" name="Google Shape;34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2113" y="2036550"/>
            <a:ext cx="4029075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50"/>
          <p:cNvSpPr/>
          <p:nvPr/>
        </p:nvSpPr>
        <p:spPr>
          <a:xfrm>
            <a:off x="861900" y="3147800"/>
            <a:ext cx="4309500" cy="1995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46" name="Google Shape;346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2113" y="3221675"/>
            <a:ext cx="4029075" cy="18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50"/>
          <p:cNvSpPr txBox="1"/>
          <p:nvPr/>
        </p:nvSpPr>
        <p:spPr>
          <a:xfrm>
            <a:off x="-43412" y="1971000"/>
            <a:ext cx="1092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Customers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8" name="Google Shape;348;p50"/>
          <p:cNvSpPr txBox="1"/>
          <p:nvPr/>
        </p:nvSpPr>
        <p:spPr>
          <a:xfrm>
            <a:off x="3052" y="3221675"/>
            <a:ext cx="1092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Suppliers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49" name="Google Shape;349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01913" y="3027238"/>
            <a:ext cx="1114425" cy="676275"/>
          </a:xfrm>
          <a:prstGeom prst="rect">
            <a:avLst/>
          </a:prstGeom>
          <a:noFill/>
          <a:ln>
            <a:noFill/>
          </a:ln>
          <a:effectLst>
            <a:outerShdw blurRad="257175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355" name="Google Shape;355;p51"/>
          <p:cNvSpPr txBox="1"/>
          <p:nvPr>
            <p:ph idx="1" type="body"/>
          </p:nvPr>
        </p:nvSpPr>
        <p:spPr>
          <a:xfrm>
            <a:off x="727550" y="1483925"/>
            <a:ext cx="8125500" cy="37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❖"/>
            </a:pPr>
            <a:r>
              <a:rPr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EXCEPT: có trong tập A nhưng không có trong tập B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51"/>
          <p:cNvSpPr txBox="1"/>
          <p:nvPr>
            <p:ph type="title"/>
          </p:nvPr>
        </p:nvSpPr>
        <p:spPr>
          <a:xfrm>
            <a:off x="727650" y="643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2800">
                <a:latin typeface="Sarabun Medium"/>
                <a:ea typeface="Sarabun Medium"/>
                <a:cs typeface="Sarabun Medium"/>
                <a:sym typeface="Sarabun Medium"/>
              </a:rPr>
              <a:t>EXCEPT - Lấy phần hiệu</a:t>
            </a:r>
            <a:endParaRPr sz="2800">
              <a:latin typeface="Sarabun Medium"/>
              <a:ea typeface="Sarabun Medium"/>
              <a:cs typeface="Sarabun Medium"/>
              <a:sym typeface="Sarabun Medium"/>
            </a:endParaRPr>
          </a:p>
        </p:txBody>
      </p:sp>
      <p:sp>
        <p:nvSpPr>
          <p:cNvPr id="357" name="Google Shape;357;p51"/>
          <p:cNvSpPr/>
          <p:nvPr/>
        </p:nvSpPr>
        <p:spPr>
          <a:xfrm>
            <a:off x="5541350" y="2870275"/>
            <a:ext cx="3311700" cy="1019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4D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country </a:t>
            </a:r>
            <a:r>
              <a:rPr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customers</a:t>
            </a:r>
            <a:endParaRPr sz="12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EXCEPT</a:t>
            </a:r>
            <a:endParaRPr b="1"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country </a:t>
            </a:r>
            <a:r>
              <a:rPr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suppliers;</a:t>
            </a:r>
            <a:endParaRPr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8" name="Google Shape;358;p51"/>
          <p:cNvSpPr/>
          <p:nvPr/>
        </p:nvSpPr>
        <p:spPr>
          <a:xfrm>
            <a:off x="861900" y="1944500"/>
            <a:ext cx="4309500" cy="1203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59" name="Google Shape;35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2113" y="2036550"/>
            <a:ext cx="4029075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51"/>
          <p:cNvSpPr/>
          <p:nvPr/>
        </p:nvSpPr>
        <p:spPr>
          <a:xfrm>
            <a:off x="861900" y="3147800"/>
            <a:ext cx="4309500" cy="1995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61" name="Google Shape;361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2113" y="3221675"/>
            <a:ext cx="4029075" cy="18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51"/>
          <p:cNvSpPr txBox="1"/>
          <p:nvPr/>
        </p:nvSpPr>
        <p:spPr>
          <a:xfrm>
            <a:off x="-43412" y="1971000"/>
            <a:ext cx="1092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Customers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3" name="Google Shape;363;p51"/>
          <p:cNvSpPr txBox="1"/>
          <p:nvPr/>
        </p:nvSpPr>
        <p:spPr>
          <a:xfrm>
            <a:off x="3052" y="3221675"/>
            <a:ext cx="1092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Suppliers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64" name="Google Shape;364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24163" y="3981475"/>
            <a:ext cx="1114425" cy="676275"/>
          </a:xfrm>
          <a:prstGeom prst="rect">
            <a:avLst/>
          </a:prstGeom>
          <a:noFill/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65" name="Google Shape;365;p51"/>
          <p:cNvSpPr txBox="1"/>
          <p:nvPr/>
        </p:nvSpPr>
        <p:spPr>
          <a:xfrm>
            <a:off x="5541350" y="2263950"/>
            <a:ext cx="3540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Lấy các quốc gia </a:t>
            </a:r>
            <a:r>
              <a:rPr b="1" lang="vi"/>
              <a:t>chỉ có khách hàng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/>
              <a:t>mà không có trong bảng nhà cung cấp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371" name="Google Shape;371;p52"/>
          <p:cNvSpPr txBox="1"/>
          <p:nvPr>
            <p:ph idx="1" type="body"/>
          </p:nvPr>
        </p:nvSpPr>
        <p:spPr>
          <a:xfrm>
            <a:off x="727550" y="1483925"/>
            <a:ext cx="8125500" cy="37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ANY và ALL cho phép thực hiện so sánh giữa một giá trị cột đơn và một phạm vi các giá trị khác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52"/>
          <p:cNvSpPr txBox="1"/>
          <p:nvPr>
            <p:ph type="title"/>
          </p:nvPr>
        </p:nvSpPr>
        <p:spPr>
          <a:xfrm>
            <a:off x="727650" y="643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2800">
                <a:latin typeface="Sarabun Medium"/>
                <a:ea typeface="Sarabun Medium"/>
                <a:cs typeface="Sarabun Medium"/>
                <a:sym typeface="Sarabun Medium"/>
              </a:rPr>
              <a:t>ANY</a:t>
            </a:r>
            <a:endParaRPr sz="2800">
              <a:latin typeface="Sarabun Medium"/>
              <a:ea typeface="Sarabun Medium"/>
              <a:cs typeface="Sarabun Medium"/>
              <a:sym typeface="Sarabun Medium"/>
            </a:endParaRPr>
          </a:p>
        </p:txBody>
      </p:sp>
      <p:pic>
        <p:nvPicPr>
          <p:cNvPr id="373" name="Google Shape;37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925" y="2101875"/>
            <a:ext cx="3141925" cy="30416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52"/>
          <p:cNvSpPr txBox="1"/>
          <p:nvPr/>
        </p:nvSpPr>
        <p:spPr>
          <a:xfrm>
            <a:off x="3817850" y="1967725"/>
            <a:ext cx="5134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>
                <a:solidFill>
                  <a:schemeClr val="accent1"/>
                </a:solidFill>
              </a:rPr>
              <a:t>VD: Tìm tên những giảng viên có mức lương cao hơn mức lương của </a:t>
            </a:r>
            <a:r>
              <a:rPr lang="vi" sz="1500">
                <a:solidFill>
                  <a:srgbClr val="DC143C"/>
                </a:solidFill>
              </a:rPr>
              <a:t>một số</a:t>
            </a:r>
            <a:r>
              <a:rPr lang="vi" sz="1500">
                <a:solidFill>
                  <a:schemeClr val="accent1"/>
                </a:solidFill>
              </a:rPr>
              <a:t> giảng viên (ít nhất một giảng viên) trong khoa </a:t>
            </a:r>
            <a:r>
              <a:rPr b="1" lang="vi" sz="1500">
                <a:solidFill>
                  <a:schemeClr val="accent1"/>
                </a:solidFill>
              </a:rPr>
              <a:t>Sinh học</a:t>
            </a:r>
            <a:r>
              <a:rPr lang="vi" sz="1500">
                <a:solidFill>
                  <a:schemeClr val="accent1"/>
                </a:solidFill>
              </a:rPr>
              <a:t>.</a:t>
            </a:r>
            <a:endParaRPr sz="1500">
              <a:solidFill>
                <a:schemeClr val="accent1"/>
              </a:solidFill>
            </a:endParaRPr>
          </a:p>
        </p:txBody>
      </p:sp>
      <p:sp>
        <p:nvSpPr>
          <p:cNvPr id="375" name="Google Shape;375;p52"/>
          <p:cNvSpPr/>
          <p:nvPr/>
        </p:nvSpPr>
        <p:spPr>
          <a:xfrm>
            <a:off x="3848556" y="2812325"/>
            <a:ext cx="5448000" cy="923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4D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 distinct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T.name</a:t>
            </a:r>
            <a:endParaRPr b="1" sz="12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instructor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T, instructor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</a:t>
            </a:r>
            <a:endParaRPr b="1" sz="12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T.salary &gt; S.salary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S.dept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vi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'Biology'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6" name="Google Shape;376;p52"/>
          <p:cNvSpPr/>
          <p:nvPr/>
        </p:nvSpPr>
        <p:spPr>
          <a:xfrm>
            <a:off x="3848556" y="3735725"/>
            <a:ext cx="5448000" cy="1362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4D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endParaRPr b="1"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instructor</a:t>
            </a:r>
            <a:endParaRPr b="1" sz="12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salary &gt; some (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salary</a:t>
            </a:r>
            <a:endParaRPr b="1" sz="12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instructor</a:t>
            </a:r>
            <a:endParaRPr b="1" sz="12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dept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vi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'Biology'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382" name="Google Shape;382;p53"/>
          <p:cNvSpPr txBox="1"/>
          <p:nvPr>
            <p:ph idx="1" type="body"/>
          </p:nvPr>
        </p:nvSpPr>
        <p:spPr>
          <a:xfrm>
            <a:off x="727550" y="1483925"/>
            <a:ext cx="8125500" cy="37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ANY và ALL cho phép thực hiện so sánh giữa một giá trị cột đơn và một phạm vi các giá trị khác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53"/>
          <p:cNvSpPr txBox="1"/>
          <p:nvPr>
            <p:ph type="title"/>
          </p:nvPr>
        </p:nvSpPr>
        <p:spPr>
          <a:xfrm>
            <a:off x="727650" y="643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2800">
                <a:latin typeface="Sarabun Medium"/>
                <a:ea typeface="Sarabun Medium"/>
                <a:cs typeface="Sarabun Medium"/>
                <a:sym typeface="Sarabun Medium"/>
              </a:rPr>
              <a:t>ALL</a:t>
            </a:r>
            <a:endParaRPr sz="2800">
              <a:latin typeface="Sarabun Medium"/>
              <a:ea typeface="Sarabun Medium"/>
              <a:cs typeface="Sarabun Medium"/>
              <a:sym typeface="Sarabun Medium"/>
            </a:endParaRPr>
          </a:p>
        </p:txBody>
      </p:sp>
      <p:sp>
        <p:nvSpPr>
          <p:cNvPr id="384" name="Google Shape;384;p53"/>
          <p:cNvSpPr txBox="1"/>
          <p:nvPr/>
        </p:nvSpPr>
        <p:spPr>
          <a:xfrm>
            <a:off x="3817850" y="1967725"/>
            <a:ext cx="5134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>
                <a:solidFill>
                  <a:schemeClr val="accent1"/>
                </a:solidFill>
              </a:rPr>
              <a:t>VD: Tìm tên những giảng viên có mức lương cao hơn mức lương của</a:t>
            </a:r>
            <a:r>
              <a:rPr lang="vi" sz="1500">
                <a:solidFill>
                  <a:srgbClr val="DC143C"/>
                </a:solidFill>
              </a:rPr>
              <a:t> tất cả</a:t>
            </a:r>
            <a:r>
              <a:rPr lang="vi" sz="1500">
                <a:solidFill>
                  <a:schemeClr val="accent1"/>
                </a:solidFill>
              </a:rPr>
              <a:t> giảng viên (ít nhất một giảng viên) trong khoa </a:t>
            </a:r>
            <a:r>
              <a:rPr b="1" lang="vi" sz="1500">
                <a:solidFill>
                  <a:schemeClr val="accent1"/>
                </a:solidFill>
              </a:rPr>
              <a:t>Sinh học</a:t>
            </a:r>
            <a:r>
              <a:rPr lang="vi" sz="1500">
                <a:solidFill>
                  <a:schemeClr val="accent1"/>
                </a:solidFill>
              </a:rPr>
              <a:t>.</a:t>
            </a:r>
            <a:endParaRPr sz="1500">
              <a:solidFill>
                <a:schemeClr val="accent1"/>
              </a:solidFill>
            </a:endParaRPr>
          </a:p>
        </p:txBody>
      </p:sp>
      <p:sp>
        <p:nvSpPr>
          <p:cNvPr id="385" name="Google Shape;385;p53"/>
          <p:cNvSpPr/>
          <p:nvPr/>
        </p:nvSpPr>
        <p:spPr>
          <a:xfrm>
            <a:off x="3848556" y="2812325"/>
            <a:ext cx="5448000" cy="923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4D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 distinct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T.name</a:t>
            </a:r>
            <a:endParaRPr b="1" sz="12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instructor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T</a:t>
            </a:r>
            <a:endParaRPr b="1" sz="12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T.salary &gt; (select MAX(salary) …)</a:t>
            </a:r>
            <a:endParaRPr b="1"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6" name="Google Shape;386;p53"/>
          <p:cNvSpPr/>
          <p:nvPr/>
        </p:nvSpPr>
        <p:spPr>
          <a:xfrm>
            <a:off x="3848556" y="3735725"/>
            <a:ext cx="5448000" cy="1362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4D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endParaRPr b="1"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instructor</a:t>
            </a:r>
            <a:endParaRPr b="1" sz="12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salary &gt; 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all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salary</a:t>
            </a:r>
            <a:endParaRPr b="1" sz="12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instructor</a:t>
            </a:r>
            <a:endParaRPr b="1" sz="12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dept </a:t>
            </a:r>
            <a:r>
              <a:rPr b="1"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vi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'Biology'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87" name="Google Shape;38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0600" y="2246500"/>
            <a:ext cx="2046300" cy="285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393" name="Google Shape;393;p54"/>
          <p:cNvSpPr txBox="1"/>
          <p:nvPr>
            <p:ph idx="1" type="body"/>
          </p:nvPr>
        </p:nvSpPr>
        <p:spPr>
          <a:xfrm>
            <a:off x="727550" y="1483925"/>
            <a:ext cx="8125500" cy="37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❖"/>
            </a:pPr>
            <a:r>
              <a:rPr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Được sử dụng để kiểm tra sự tồn tại của bất kỳ bản ghi nào trong truy vấn phụ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❖"/>
            </a:pPr>
            <a:r>
              <a:rPr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Trả về TRUE nếu truy vấn phụ trả về một hoặc nhiều bản ghi.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VD: Liệt kê các nhà cung cấp có bán sản phẩm có price = 22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54"/>
          <p:cNvSpPr txBox="1"/>
          <p:nvPr>
            <p:ph type="title"/>
          </p:nvPr>
        </p:nvSpPr>
        <p:spPr>
          <a:xfrm>
            <a:off x="727650" y="643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2800">
                <a:latin typeface="Sarabun Medium"/>
                <a:ea typeface="Sarabun Medium"/>
                <a:cs typeface="Sarabun Medium"/>
                <a:sym typeface="Sarabun Medium"/>
              </a:rPr>
              <a:t>EXISTS</a:t>
            </a:r>
            <a:endParaRPr sz="2800">
              <a:latin typeface="Sarabun Medium"/>
              <a:ea typeface="Sarabun Medium"/>
              <a:cs typeface="Sarabun Medium"/>
              <a:sym typeface="Sarabun Medium"/>
            </a:endParaRPr>
          </a:p>
        </p:txBody>
      </p:sp>
      <p:sp>
        <p:nvSpPr>
          <p:cNvPr id="395" name="Google Shape;395;p54"/>
          <p:cNvSpPr/>
          <p:nvPr/>
        </p:nvSpPr>
        <p:spPr>
          <a:xfrm>
            <a:off x="2066300" y="2301225"/>
            <a:ext cx="5448000" cy="1118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4D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1" lang="vi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1" lang="vi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column_name(s)</a:t>
            </a:r>
            <a:endParaRPr b="1" i="1"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1" lang="vi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1" lang="vi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table_name</a:t>
            </a:r>
            <a:endParaRPr b="1" i="1"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b="1" lang="vi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vi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EXISTS</a:t>
            </a:r>
            <a:endParaRPr b="1" sz="1150">
              <a:solidFill>
                <a:srgbClr val="005CC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vi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1" lang="vi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1" lang="vi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column_name </a:t>
            </a:r>
            <a:r>
              <a:rPr b="1" lang="vi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1" lang="vi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1" lang="vi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table_name</a:t>
            </a:r>
            <a:r>
              <a:rPr b="1" lang="vi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vi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b="1" lang="vi" sz="1150">
                <a:solidFill>
                  <a:srgbClr val="99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1" lang="vi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condition</a:t>
            </a:r>
            <a:r>
              <a:rPr b="1" lang="vi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96" name="Google Shape;396;p54"/>
          <p:cNvSpPr/>
          <p:nvPr/>
        </p:nvSpPr>
        <p:spPr>
          <a:xfrm>
            <a:off x="43350" y="3781150"/>
            <a:ext cx="9057300" cy="1362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4D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1" lang="vi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SupplierName</a:t>
            </a:r>
            <a:endParaRPr b="1"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1" lang="vi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Suppliers</a:t>
            </a:r>
            <a:endParaRPr b="1"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b="1" lang="vi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vi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EXISTS</a:t>
            </a:r>
            <a:r>
              <a:rPr b="1" lang="vi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vi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b="1" lang="vi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ProductName </a:t>
            </a:r>
            <a:r>
              <a:rPr b="1" lang="vi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1" lang="vi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Products </a:t>
            </a:r>
            <a:r>
              <a:rPr b="1" lang="vi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b="1" lang="vi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Products.SupplierID = Suppliers.supplierID </a:t>
            </a:r>
            <a:r>
              <a:rPr b="1" lang="vi" sz="115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b="1" lang="vi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Price = </a:t>
            </a:r>
            <a:r>
              <a:rPr b="1" lang="vi" sz="1150">
                <a:solidFill>
                  <a:srgbClr val="99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22</a:t>
            </a:r>
            <a:r>
              <a:rPr b="1" lang="vi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402" name="Google Shape;402;p55"/>
          <p:cNvSpPr txBox="1"/>
          <p:nvPr>
            <p:ph idx="1" type="body"/>
          </p:nvPr>
        </p:nvSpPr>
        <p:spPr>
          <a:xfrm>
            <a:off x="727550" y="1483925"/>
            <a:ext cx="8125500" cy="37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55"/>
          <p:cNvSpPr txBox="1"/>
          <p:nvPr>
            <p:ph type="title"/>
          </p:nvPr>
        </p:nvSpPr>
        <p:spPr>
          <a:xfrm>
            <a:off x="727650" y="643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2800">
                <a:latin typeface="Sarabun Medium"/>
                <a:ea typeface="Sarabun Medium"/>
                <a:cs typeface="Sarabun Medium"/>
                <a:sym typeface="Sarabun Medium"/>
              </a:rPr>
              <a:t>Ví dụ thực tế (1)</a:t>
            </a:r>
            <a:endParaRPr sz="2800">
              <a:latin typeface="Sarabun Medium"/>
              <a:ea typeface="Sarabun Medium"/>
              <a:cs typeface="Sarabun Medium"/>
              <a:sym typeface="Sarabun Medium"/>
            </a:endParaRPr>
          </a:p>
        </p:txBody>
      </p:sp>
      <p:sp>
        <p:nvSpPr>
          <p:cNvPr id="404" name="Google Shape;404;p55"/>
          <p:cNvSpPr txBox="1"/>
          <p:nvPr/>
        </p:nvSpPr>
        <p:spPr>
          <a:xfrm>
            <a:off x="3" y="1631525"/>
            <a:ext cx="141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Table Suppliers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5" name="Google Shape;405;p55"/>
          <p:cNvSpPr txBox="1"/>
          <p:nvPr/>
        </p:nvSpPr>
        <p:spPr>
          <a:xfrm>
            <a:off x="5923013" y="2246500"/>
            <a:ext cx="200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Table Sales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406" name="Google Shape;406;p55"/>
          <p:cNvGraphicFramePr/>
          <p:nvPr/>
        </p:nvGraphicFramePr>
        <p:xfrm>
          <a:off x="1327025" y="1631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{C00899AF-64FC-4C82-9544-737B1987EF51}</a:tableStyleId>
              </a:tblPr>
              <a:tblGrid>
                <a:gridCol w="1113425"/>
                <a:gridCol w="1440900"/>
              </a:tblGrid>
              <a:tr h="257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/>
                        <a:t>supplier_id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/>
                        <a:t>supplier_name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243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S1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ABC Corp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S2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XYZ Ltd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S3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DEF Inc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07" name="Google Shape;407;p55"/>
          <p:cNvGraphicFramePr/>
          <p:nvPr/>
        </p:nvGraphicFramePr>
        <p:xfrm>
          <a:off x="5923013" y="2631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{C00899AF-64FC-4C82-9544-737B1987EF51}</a:tableStyleId>
              </a:tblPr>
              <a:tblGrid>
                <a:gridCol w="1085950"/>
                <a:gridCol w="1085950"/>
              </a:tblGrid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/>
                        <a:t>product_id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/>
                        <a:t>supplier_id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P1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S1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P2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S1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P2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S2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P3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S3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P4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S1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P4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S2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8" name="Google Shape;408;p55"/>
          <p:cNvSpPr txBox="1"/>
          <p:nvPr/>
        </p:nvSpPr>
        <p:spPr>
          <a:xfrm>
            <a:off x="3" y="3733850"/>
            <a:ext cx="141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Table Products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409" name="Google Shape;409;p55"/>
          <p:cNvGraphicFramePr/>
          <p:nvPr/>
        </p:nvGraphicFramePr>
        <p:xfrm>
          <a:off x="1327025" y="332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{C00899AF-64FC-4C82-9544-737B1987EF51}</a:tableStyleId>
              </a:tblPr>
              <a:tblGrid>
                <a:gridCol w="1326075"/>
                <a:gridCol w="1716125"/>
              </a:tblGrid>
              <a:tr h="254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/>
                        <a:t>product_id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/>
                        <a:t>product_name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4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P1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Laptop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P2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Phone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P3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Tablet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P4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Monitor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0" name="Google Shape;410;p55"/>
          <p:cNvSpPr txBox="1"/>
          <p:nvPr/>
        </p:nvSpPr>
        <p:spPr>
          <a:xfrm>
            <a:off x="5687100" y="1389538"/>
            <a:ext cx="3115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>
                <a:solidFill>
                  <a:schemeClr val="accent1"/>
                </a:solidFill>
              </a:rPr>
              <a:t>Tìm những sản phẩm chỉ được bán bởi nhà cung cấp có mã </a:t>
            </a:r>
            <a:r>
              <a:rPr b="1" lang="vi" sz="1500">
                <a:solidFill>
                  <a:schemeClr val="accent1"/>
                </a:solidFill>
              </a:rPr>
              <a:t>S1</a:t>
            </a:r>
            <a:endParaRPr b="1" sz="1500">
              <a:solidFill>
                <a:schemeClr val="accent1"/>
              </a:solidFill>
            </a:endParaRPr>
          </a:p>
        </p:txBody>
      </p:sp>
      <p:cxnSp>
        <p:nvCxnSpPr>
          <p:cNvPr id="411" name="Google Shape;411;p55"/>
          <p:cNvCxnSpPr/>
          <p:nvPr/>
        </p:nvCxnSpPr>
        <p:spPr>
          <a:xfrm flipH="1">
            <a:off x="8144100" y="2966650"/>
            <a:ext cx="658500" cy="20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2" name="Google Shape;412;p55"/>
          <p:cNvCxnSpPr/>
          <p:nvPr/>
        </p:nvCxnSpPr>
        <p:spPr>
          <a:xfrm>
            <a:off x="3963325" y="2246500"/>
            <a:ext cx="1835400" cy="130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55"/>
          <p:cNvCxnSpPr/>
          <p:nvPr/>
        </p:nvCxnSpPr>
        <p:spPr>
          <a:xfrm flipH="1" rot="10800000">
            <a:off x="4404725" y="3593875"/>
            <a:ext cx="1405500" cy="75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419" name="Google Shape;419;p56"/>
          <p:cNvSpPr txBox="1"/>
          <p:nvPr>
            <p:ph idx="1" type="body"/>
          </p:nvPr>
        </p:nvSpPr>
        <p:spPr>
          <a:xfrm>
            <a:off x="727550" y="1483925"/>
            <a:ext cx="8125500" cy="37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vi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56"/>
          <p:cNvSpPr txBox="1"/>
          <p:nvPr>
            <p:ph type="title"/>
          </p:nvPr>
        </p:nvSpPr>
        <p:spPr>
          <a:xfrm>
            <a:off x="727650" y="643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2800">
                <a:latin typeface="Sarabun Medium"/>
                <a:ea typeface="Sarabun Medium"/>
                <a:cs typeface="Sarabun Medium"/>
                <a:sym typeface="Sarabun Medium"/>
              </a:rPr>
              <a:t>Ví dụ thực tế (2)</a:t>
            </a:r>
            <a:endParaRPr sz="2800">
              <a:latin typeface="Sarabun Medium"/>
              <a:ea typeface="Sarabun Medium"/>
              <a:cs typeface="Sarabun Medium"/>
              <a:sym typeface="Sarabun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Sarabun Medium"/>
              <a:ea typeface="Sarabun Medium"/>
              <a:cs typeface="Sarabun Medium"/>
              <a:sym typeface="Sarabun Medium"/>
            </a:endParaRPr>
          </a:p>
        </p:txBody>
      </p:sp>
      <p:sp>
        <p:nvSpPr>
          <p:cNvPr id="421" name="Google Shape;421;p56"/>
          <p:cNvSpPr/>
          <p:nvPr/>
        </p:nvSpPr>
        <p:spPr>
          <a:xfrm>
            <a:off x="822650" y="1565325"/>
            <a:ext cx="3024600" cy="2493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4D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product_id</a:t>
            </a:r>
            <a:endParaRPr sz="12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Sales</a:t>
            </a:r>
            <a:endParaRPr sz="12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supplier_id = </a:t>
            </a:r>
            <a:r>
              <a:rPr lang="vi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'S1'</a:t>
            </a:r>
            <a:endParaRPr sz="12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EXCEPT</a:t>
            </a:r>
            <a:endParaRPr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product_id</a:t>
            </a:r>
            <a:endParaRPr sz="12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Sales</a:t>
            </a:r>
            <a:endParaRPr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supplier_id &lt;&gt; </a:t>
            </a:r>
            <a:r>
              <a:rPr lang="vi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'S1'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7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2" name="Google Shape;422;p56"/>
          <p:cNvSpPr/>
          <p:nvPr/>
        </p:nvSpPr>
        <p:spPr>
          <a:xfrm>
            <a:off x="4829500" y="787075"/>
            <a:ext cx="3849300" cy="1494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4D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product_id</a:t>
            </a:r>
            <a:endParaRPr sz="12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Sales</a:t>
            </a:r>
            <a:endParaRPr sz="12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GROUP BY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product_id</a:t>
            </a:r>
            <a:endParaRPr sz="12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HAVING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vi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DISTINCT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*)) = </a:t>
            </a:r>
            <a:r>
              <a:rPr lang="vi" sz="12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2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vi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(supplier_id) = </a:t>
            </a:r>
            <a:r>
              <a:rPr lang="vi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'S1'</a:t>
            </a:r>
            <a:endParaRPr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3" name="Google Shape;423;p56"/>
          <p:cNvSpPr/>
          <p:nvPr/>
        </p:nvSpPr>
        <p:spPr>
          <a:xfrm>
            <a:off x="4346650" y="2461175"/>
            <a:ext cx="4427100" cy="2493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4D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 DISTINCT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p1.product_id, p1.product_name</a:t>
            </a:r>
            <a:endParaRPr sz="12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Products p1</a:t>
            </a:r>
            <a:endParaRPr sz="12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p1.supplier_id 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b="1" lang="vi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'S1'</a:t>
            </a:r>
            <a:endParaRPr b="1" sz="12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EXISTS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12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vi" sz="12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Products p2</a:t>
            </a:r>
            <a:endParaRPr sz="12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p2.product_id = p1.product_id</a:t>
            </a:r>
            <a:endParaRPr sz="12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vi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p2.supplier_id </a:t>
            </a:r>
            <a:r>
              <a:rPr b="1"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!= </a:t>
            </a:r>
            <a:r>
              <a:rPr b="1" lang="vi" sz="12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'S1'</a:t>
            </a:r>
            <a:endParaRPr b="1" sz="12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424" name="Google Shape;424;p56"/>
          <p:cNvGraphicFramePr/>
          <p:nvPr/>
        </p:nvGraphicFramePr>
        <p:xfrm>
          <a:off x="1532213" y="4211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{C00899AF-64FC-4C82-9544-737B1987EF51}</a:tableStyleId>
              </a:tblPr>
              <a:tblGrid>
                <a:gridCol w="1085950"/>
              </a:tblGrid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/>
                        <a:t>product_id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6A5A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P1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