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_rels/theme10.xml.rels" ContentType="application/vnd.openxmlformats-package.relationships+xml"/>
  <Override PartName="/ppt/theme/_rels/theme1.xml.rels" ContentType="application/vnd.openxmlformats-package.relationships+xml"/>
  <Override PartName="/ppt/theme/_rels/theme9.xml.rels" ContentType="application/vnd.openxmlformats-package.relationships+xml"/>
  <Override PartName="/ppt/theme/_rels/theme8.xml.rels" ContentType="application/vnd.openxmlformats-package.relationships+xml"/>
  <Override PartName="/ppt/theme/_rels/theme7.xml.rels" ContentType="application/vnd.openxmlformats-package.relationships+xml"/>
  <Override PartName="/ppt/theme/_rels/theme6.xml.rels" ContentType="application/vnd.openxmlformats-package.relationships+xml"/>
  <Override PartName="/ppt/theme/_rels/theme5.xml.rels" ContentType="application/vnd.openxmlformats-package.relationships+xml"/>
  <Override PartName="/ppt/theme/_rels/theme4.xml.rels" ContentType="application/vnd.openxmlformats-package.relationships+xml"/>
  <Override PartName="/ppt/theme/_rels/theme3.xml.rels" ContentType="application/vnd.openxmlformats-package.relationships+xml"/>
  <Override PartName="/ppt/theme/_rels/theme2.xml.rels" ContentType="application/vnd.openxmlformats-package.relationships+xml"/>
  <Override PartName="/ppt/theme/_rels/theme11.xml.rels" ContentType="application/vnd.openxmlformats-package.relationships+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2.xml.rels" ContentType="application/vnd.openxmlformats-package.relationships+xml"/>
  <Override PartName="/ppt/slides/_rels/slide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41.xml.rels" ContentType="application/vnd.openxmlformats-package.relationships+xml"/>
  <Override PartName="/ppt/slides/_rels/slide39.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7.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48.xml.rels" ContentType="application/vnd.openxmlformats-package.relationships+xml"/>
  <Override PartName="/ppt/notesSlides/_rels/notesSlide11.xml.rels" ContentType="application/vnd.openxmlformats-package.relationships+xml"/>
  <Override PartName="/ppt/notesSlides/_rels/notesSlide40.xml.rels" ContentType="application/vnd.openxmlformats-package.relationships+xml"/>
  <Override PartName="/ppt/notesSlides/_rels/notesSlide38.xml.rels" ContentType="application/vnd.openxmlformats-package.relationships+xml"/>
  <Override PartName="/ppt/notesSlides/_rels/notesSlide32.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33.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37.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43.xml.rels" ContentType="application/vnd.openxmlformats-package.relationships+xml"/>
  <Override PartName="/ppt/notesSlides/_rels/notesSlide34.xml.rels" ContentType="application/vnd.openxmlformats-package.relationships+xml"/>
  <Override PartName="/ppt/notesSlides/_rels/notesSlide46.xml.rels" ContentType="application/vnd.openxmlformats-package.relationships+xml"/>
  <Override PartName="/ppt/notesSlides/_rels/notesSlide35.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49.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47.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43.xml" ContentType="application/vnd.openxmlformats-officedocument.presentationml.notesSlide+xml"/>
  <Override PartName="/ppt/notesSlides/notesSlide34.xml" ContentType="application/vnd.openxmlformats-officedocument.presentationml.notesSlide+xml"/>
  <Override PartName="/ppt/notesSlides/notesSlide46.xml" ContentType="application/vnd.openxmlformats-officedocument.presentationml.notesSlide+xml"/>
  <Override PartName="/ppt/notesSlides/notesSlide35.xml" ContentType="application/vnd.openxmlformats-officedocument.presentationml.notesSlide+xml"/>
  <Override PartName="/ppt/notesSlides/notesSlide47.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vi-VN" sz="4400" spc="-1" strike="noStrike">
                <a:solidFill>
                  <a:srgbClr val="000000"/>
                </a:solidFill>
                <a:latin typeface="Arial"/>
              </a:rPr>
              <a:t>Cli</a:t>
            </a:r>
            <a:r>
              <a:rPr b="0" lang="vi-VN" sz="4400" spc="-1" strike="noStrike">
                <a:solidFill>
                  <a:srgbClr val="000000"/>
                </a:solidFill>
                <a:latin typeface="Arial"/>
              </a:rPr>
              <a:t>ck </a:t>
            </a:r>
            <a:r>
              <a:rPr b="0" lang="vi-VN" sz="4400" spc="-1" strike="noStrike">
                <a:solidFill>
                  <a:srgbClr val="000000"/>
                </a:solidFill>
                <a:latin typeface="Arial"/>
              </a:rPr>
              <a:t>to </a:t>
            </a:r>
            <a:r>
              <a:rPr b="0" lang="vi-VN" sz="4400" spc="-1" strike="noStrike">
                <a:solidFill>
                  <a:srgbClr val="000000"/>
                </a:solidFill>
                <a:latin typeface="Arial"/>
              </a:rPr>
              <a:t>m</a:t>
            </a:r>
            <a:r>
              <a:rPr b="0" lang="vi-VN" sz="4400" spc="-1" strike="noStrike">
                <a:solidFill>
                  <a:srgbClr val="000000"/>
                </a:solidFill>
                <a:latin typeface="Arial"/>
              </a:rPr>
              <a:t>ov</a:t>
            </a:r>
            <a:r>
              <a:rPr b="0" lang="vi-VN" sz="4400" spc="-1" strike="noStrike">
                <a:solidFill>
                  <a:srgbClr val="000000"/>
                </a:solidFill>
                <a:latin typeface="Arial"/>
              </a:rPr>
              <a:t>e </a:t>
            </a:r>
            <a:r>
              <a:rPr b="0" lang="vi-VN" sz="4400" spc="-1" strike="noStrike">
                <a:solidFill>
                  <a:srgbClr val="000000"/>
                </a:solidFill>
                <a:latin typeface="Arial"/>
              </a:rPr>
              <a:t>th</a:t>
            </a:r>
            <a:r>
              <a:rPr b="0" lang="vi-VN" sz="4400" spc="-1" strike="noStrike">
                <a:solidFill>
                  <a:srgbClr val="000000"/>
                </a:solidFill>
                <a:latin typeface="Arial"/>
              </a:rPr>
              <a:t>e </a:t>
            </a:r>
            <a:r>
              <a:rPr b="0" lang="vi-VN" sz="4400" spc="-1" strike="noStrike">
                <a:solidFill>
                  <a:srgbClr val="000000"/>
                </a:solidFill>
                <a:latin typeface="Arial"/>
              </a:rPr>
              <a:t>sli</a:t>
            </a:r>
            <a:r>
              <a:rPr b="0" lang="vi-VN" sz="4400" spc="-1" strike="noStrike">
                <a:solidFill>
                  <a:srgbClr val="000000"/>
                </a:solidFill>
                <a:latin typeface="Arial"/>
              </a:rPr>
              <a:t>de</a:t>
            </a:r>
            <a:endParaRPr b="0" lang="vi-VN" sz="4400" spc="-1" strike="noStrike">
              <a:solidFill>
                <a:srgbClr val="000000"/>
              </a:solidFill>
              <a:latin typeface="Arial"/>
            </a:endParaRPr>
          </a:p>
        </p:txBody>
      </p:sp>
      <p:sp>
        <p:nvSpPr>
          <p:cNvPr id="10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vi-VN" sz="2000" spc="-1" strike="noStrike">
                <a:solidFill>
                  <a:srgbClr val="000000"/>
                </a:solidFill>
                <a:latin typeface="Arial"/>
              </a:rPr>
              <a:t>Click to edit the notes format</a:t>
            </a:r>
            <a:endParaRPr b="0" lang="vi-VN" sz="2000" spc="-1" strike="noStrike">
              <a:solidFill>
                <a:srgbClr val="000000"/>
              </a:solidFill>
              <a:latin typeface="Arial"/>
            </a:endParaRPr>
          </a:p>
        </p:txBody>
      </p:sp>
      <p:sp>
        <p:nvSpPr>
          <p:cNvPr id="1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vi-VN" sz="1400" spc="-1" strike="noStrike">
                <a:solidFill>
                  <a:srgbClr val="000000"/>
                </a:solidFill>
                <a:latin typeface="Times New Roman"/>
              </a:rPr>
              <a:t>&lt;header&gt;</a:t>
            </a:r>
            <a:endParaRPr b="0" lang="vi-VN" sz="1400" spc="-1" strike="noStrike">
              <a:solidFill>
                <a:srgbClr val="000000"/>
              </a:solidFill>
              <a:latin typeface="Times New Roman"/>
            </a:endParaRPr>
          </a:p>
        </p:txBody>
      </p:sp>
      <p:sp>
        <p:nvSpPr>
          <p:cNvPr id="11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vi-VN" sz="1400" spc="-1" strike="noStrike">
                <a:solidFill>
                  <a:srgbClr val="000000"/>
                </a:solidFill>
                <a:latin typeface="Times New Roman"/>
              </a:defRPr>
            </a:lvl1pPr>
          </a:lstStyle>
          <a:p>
            <a:pPr indent="0" algn="r">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
        <p:nvSpPr>
          <p:cNvPr id="11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&lt;footer&gt;</a:t>
            </a:r>
            <a:endParaRPr b="0" lang="vi-VN" sz="1400" spc="-1" strike="noStrike">
              <a:solidFill>
                <a:srgbClr val="000000"/>
              </a:solidFill>
              <a:latin typeface="Times New Roman"/>
            </a:endParaRPr>
          </a:p>
        </p:txBody>
      </p:sp>
      <p:sp>
        <p:nvSpPr>
          <p:cNvPr id="11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vi-VN" sz="1400" spc="-1" strike="noStrike">
                <a:solidFill>
                  <a:srgbClr val="000000"/>
                </a:solidFill>
                <a:latin typeface="Times New Roman"/>
              </a:defRPr>
            </a:lvl1pPr>
          </a:lstStyle>
          <a:p>
            <a:pPr indent="0" algn="r">
              <a:buNone/>
            </a:pPr>
            <a:fld id="{1334FA75-A705-45C7-A0DB-136BE87E37D1}" type="slidenum">
              <a:rPr b="0" lang="vi-VN" sz="1400" spc="-1" strike="noStrike">
                <a:solidFill>
                  <a:srgbClr val="000000"/>
                </a:solidFill>
                <a:latin typeface="Times New Roman"/>
              </a:rPr>
              <a:t>&lt;number&gt;</a:t>
            </a:fld>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Img"/>
          </p:nvPr>
        </p:nvSpPr>
        <p:spPr>
          <a:xfrm>
            <a:off x="1143000" y="685800"/>
            <a:ext cx="4571280" cy="3428280"/>
          </a:xfrm>
          <a:prstGeom prst="rect">
            <a:avLst/>
          </a:prstGeom>
          <a:ln w="0">
            <a:noFill/>
          </a:ln>
        </p:spPr>
      </p:sp>
      <p:sp>
        <p:nvSpPr>
          <p:cNvPr id="1266" name="PlaceHolder 2"/>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rmAutofit/>
          </a:bodyPr>
          <a:p>
            <a:pPr marL="216000" indent="-216000">
              <a:buNone/>
            </a:pPr>
            <a:endParaRPr b="0" lang="vi-VN" sz="1800" spc="-1" strike="noStrike">
              <a:solidFill>
                <a:srgbClr val="000000"/>
              </a:solidFill>
              <a:latin typeface="Arial"/>
            </a:endParaRPr>
          </a:p>
        </p:txBody>
      </p:sp>
      <p:sp>
        <p:nvSpPr>
          <p:cNvPr id="1267" name="PlaceHolder 3"/>
          <p:cNvSpPr>
            <a:spLocks noGrp="1"/>
          </p:cNvSpPr>
          <p:nvPr>
            <p:ph type="sldNum" idx="190"/>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chemeClr val="dk1"/>
                </a:solidFill>
                <a:latin typeface="Arial"/>
                <a:ea typeface="+mn-ea"/>
              </a:defRPr>
            </a:lvl1pPr>
          </a:lstStyle>
          <a:p>
            <a:pPr indent="0" algn="r">
              <a:lnSpc>
                <a:spcPct val="100000"/>
              </a:lnSpc>
              <a:buNone/>
              <a:tabLst>
                <a:tab algn="l" pos="0"/>
              </a:tabLst>
            </a:pPr>
            <a:fld id="{0AF9D9A6-E8EB-4AAF-9E01-32D49A93E53B}" type="slidenum">
              <a:rPr b="0" lang="en-US" sz="1200" spc="-1" strike="noStrike">
                <a:solidFill>
                  <a:schemeClr val="dk1"/>
                </a:solidFill>
                <a:latin typeface="Arial"/>
                <a:ea typeface="+mn-ea"/>
              </a:rPr>
              <a:t>1</a:t>
            </a:fld>
            <a:endParaRPr b="0" lang="vi-VN"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Num" idx="191"/>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EA598993-160D-4B9A-82FE-E1E98D3670C2}"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69" name="PlaceHolder 2"/>
          <p:cNvSpPr>
            <a:spLocks noGrp="1"/>
          </p:cNvSpPr>
          <p:nvPr>
            <p:ph type="sldImg"/>
          </p:nvPr>
        </p:nvSpPr>
        <p:spPr>
          <a:xfrm>
            <a:off x="1143000" y="685800"/>
            <a:ext cx="4571280" cy="3428280"/>
          </a:xfrm>
          <a:prstGeom prst="rect">
            <a:avLst/>
          </a:prstGeom>
          <a:ln w="0">
            <a:noFill/>
          </a:ln>
        </p:spPr>
      </p:sp>
      <p:sp>
        <p:nvSpPr>
          <p:cNvPr id="1270"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Num" idx="192"/>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95BA377F-9E17-42FA-A250-406DBACBDAA3}"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72" name="PlaceHolder 2"/>
          <p:cNvSpPr>
            <a:spLocks noGrp="1"/>
          </p:cNvSpPr>
          <p:nvPr>
            <p:ph type="sldImg"/>
          </p:nvPr>
        </p:nvSpPr>
        <p:spPr>
          <a:xfrm>
            <a:off x="1143000" y="685800"/>
            <a:ext cx="4571280" cy="3428280"/>
          </a:xfrm>
          <a:prstGeom prst="rect">
            <a:avLst/>
          </a:prstGeom>
          <a:ln w="0">
            <a:noFill/>
          </a:ln>
        </p:spPr>
      </p:sp>
      <p:sp>
        <p:nvSpPr>
          <p:cNvPr id="1273"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PlaceHolder 1"/>
          <p:cNvSpPr>
            <a:spLocks noGrp="1"/>
          </p:cNvSpPr>
          <p:nvPr>
            <p:ph type="sldNum" idx="193"/>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209396AB-D8CB-47A9-8C7F-8C0801BD9D6E}"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75" name="PlaceHolder 2"/>
          <p:cNvSpPr>
            <a:spLocks noGrp="1"/>
          </p:cNvSpPr>
          <p:nvPr>
            <p:ph type="sldImg"/>
          </p:nvPr>
        </p:nvSpPr>
        <p:spPr>
          <a:xfrm>
            <a:off x="1143000" y="685800"/>
            <a:ext cx="4571280" cy="3428280"/>
          </a:xfrm>
          <a:prstGeom prst="rect">
            <a:avLst/>
          </a:prstGeom>
          <a:ln w="0">
            <a:noFill/>
          </a:ln>
        </p:spPr>
      </p:sp>
      <p:sp>
        <p:nvSpPr>
          <p:cNvPr id="1276"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PlaceHolder 1"/>
          <p:cNvSpPr>
            <a:spLocks noGrp="1"/>
          </p:cNvSpPr>
          <p:nvPr>
            <p:ph type="sldNum" idx="194"/>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6A122AF7-3483-418F-A1D3-A2202BF4A979}"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78" name="PlaceHolder 2"/>
          <p:cNvSpPr>
            <a:spLocks noGrp="1"/>
          </p:cNvSpPr>
          <p:nvPr>
            <p:ph type="sldImg"/>
          </p:nvPr>
        </p:nvSpPr>
        <p:spPr>
          <a:xfrm>
            <a:off x="1143000" y="685800"/>
            <a:ext cx="4571280" cy="3428280"/>
          </a:xfrm>
          <a:prstGeom prst="rect">
            <a:avLst/>
          </a:prstGeom>
          <a:ln w="0">
            <a:noFill/>
          </a:ln>
        </p:spPr>
      </p:sp>
      <p:sp>
        <p:nvSpPr>
          <p:cNvPr id="1279"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PlaceHolder 1"/>
          <p:cNvSpPr>
            <a:spLocks noGrp="1"/>
          </p:cNvSpPr>
          <p:nvPr>
            <p:ph type="sldNum" idx="195"/>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604BAA9C-B42C-483D-B0A2-9393DF75F85F}"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81" name="PlaceHolder 2"/>
          <p:cNvSpPr>
            <a:spLocks noGrp="1"/>
          </p:cNvSpPr>
          <p:nvPr>
            <p:ph type="sldImg"/>
          </p:nvPr>
        </p:nvSpPr>
        <p:spPr>
          <a:xfrm>
            <a:off x="1143000" y="685800"/>
            <a:ext cx="4571280" cy="3428280"/>
          </a:xfrm>
          <a:prstGeom prst="rect">
            <a:avLst/>
          </a:prstGeom>
          <a:ln w="0">
            <a:noFill/>
          </a:ln>
        </p:spPr>
      </p:sp>
      <p:sp>
        <p:nvSpPr>
          <p:cNvPr id="1282"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3" name="PlaceHolder 1"/>
          <p:cNvSpPr>
            <a:spLocks noGrp="1"/>
          </p:cNvSpPr>
          <p:nvPr>
            <p:ph type="sldNum" idx="196"/>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43EA3D78-1893-450C-A127-1A4006C852FA}"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84" name="PlaceHolder 2"/>
          <p:cNvSpPr>
            <a:spLocks noGrp="1"/>
          </p:cNvSpPr>
          <p:nvPr>
            <p:ph type="sldImg"/>
          </p:nvPr>
        </p:nvSpPr>
        <p:spPr>
          <a:xfrm>
            <a:off x="1143000" y="685800"/>
            <a:ext cx="4571280" cy="3428280"/>
          </a:xfrm>
          <a:prstGeom prst="rect">
            <a:avLst/>
          </a:prstGeom>
          <a:ln w="0">
            <a:noFill/>
          </a:ln>
        </p:spPr>
      </p:sp>
      <p:sp>
        <p:nvSpPr>
          <p:cNvPr id="1285"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6" name="PlaceHolder 1"/>
          <p:cNvSpPr>
            <a:spLocks noGrp="1"/>
          </p:cNvSpPr>
          <p:nvPr>
            <p:ph type="sldNum" idx="197"/>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02DECACE-8A79-4E38-871D-F8B960891E28}"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87" name="PlaceHolder 2"/>
          <p:cNvSpPr>
            <a:spLocks noGrp="1"/>
          </p:cNvSpPr>
          <p:nvPr>
            <p:ph type="sldImg"/>
          </p:nvPr>
        </p:nvSpPr>
        <p:spPr>
          <a:xfrm>
            <a:off x="1143000" y="685800"/>
            <a:ext cx="4571280" cy="3428280"/>
          </a:xfrm>
          <a:prstGeom prst="rect">
            <a:avLst/>
          </a:prstGeom>
          <a:ln w="0">
            <a:noFill/>
          </a:ln>
        </p:spPr>
      </p:sp>
      <p:sp>
        <p:nvSpPr>
          <p:cNvPr id="1288"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9" name="PlaceHolder 1"/>
          <p:cNvSpPr>
            <a:spLocks noGrp="1"/>
          </p:cNvSpPr>
          <p:nvPr>
            <p:ph type="sldNum" idx="198"/>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1631475E-B48C-4E2C-AD20-9DDC3C8E9E8A}" type="slidenum">
              <a:rPr b="0" lang="en-US" sz="1200" spc="-1" strike="noStrike">
                <a:solidFill>
                  <a:srgbClr val="000000"/>
                </a:solidFill>
                <a:latin typeface="Arial"/>
              </a:rPr>
              <a:t>1</a:t>
            </a:fld>
            <a:endParaRPr b="0" lang="vi-VN" sz="1200" spc="-1" strike="noStrike">
              <a:solidFill>
                <a:srgbClr val="000000"/>
              </a:solidFill>
              <a:latin typeface="Times New Roman"/>
            </a:endParaRPr>
          </a:p>
        </p:txBody>
      </p:sp>
      <p:sp>
        <p:nvSpPr>
          <p:cNvPr id="1290" name="PlaceHolder 2"/>
          <p:cNvSpPr>
            <a:spLocks noGrp="1"/>
          </p:cNvSpPr>
          <p:nvPr>
            <p:ph type="sldImg"/>
          </p:nvPr>
        </p:nvSpPr>
        <p:spPr>
          <a:xfrm>
            <a:off x="1143000" y="685800"/>
            <a:ext cx="4571280" cy="3428280"/>
          </a:xfrm>
          <a:prstGeom prst="rect">
            <a:avLst/>
          </a:prstGeom>
          <a:ln w="0">
            <a:noFill/>
          </a:ln>
        </p:spPr>
      </p:sp>
      <p:sp>
        <p:nvSpPr>
          <p:cNvPr id="1291"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2" name="PlaceHolder 1"/>
          <p:cNvSpPr>
            <a:spLocks noGrp="1"/>
          </p:cNvSpPr>
          <p:nvPr>
            <p:ph type="sldImg"/>
          </p:nvPr>
        </p:nvSpPr>
        <p:spPr>
          <a:xfrm>
            <a:off x="1143000" y="685800"/>
            <a:ext cx="4571280" cy="3428280"/>
          </a:xfrm>
          <a:prstGeom prst="rect">
            <a:avLst/>
          </a:prstGeom>
          <a:ln w="0">
            <a:noFill/>
          </a:ln>
        </p:spPr>
      </p:sp>
      <p:sp>
        <p:nvSpPr>
          <p:cNvPr id="1293" name="PlaceHolder 2"/>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rmAutofit/>
          </a:bodyPr>
          <a:p>
            <a:pPr marL="216000" indent="-216000">
              <a:buNone/>
            </a:pPr>
            <a:endParaRPr b="0" lang="vi-VN" sz="1800" spc="-1" strike="noStrike">
              <a:solidFill>
                <a:srgbClr val="000000"/>
              </a:solidFill>
              <a:latin typeface="Arial"/>
            </a:endParaRPr>
          </a:p>
        </p:txBody>
      </p:sp>
      <p:sp>
        <p:nvSpPr>
          <p:cNvPr id="1294" name="PlaceHolder 3"/>
          <p:cNvSpPr>
            <a:spLocks noGrp="1"/>
          </p:cNvSpPr>
          <p:nvPr>
            <p:ph type="sldNum" idx="199"/>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chemeClr val="dk1"/>
                </a:solidFill>
                <a:latin typeface="Arial"/>
                <a:ea typeface="+mn-ea"/>
              </a:defRPr>
            </a:lvl1pPr>
          </a:lstStyle>
          <a:p>
            <a:pPr indent="0" algn="r">
              <a:lnSpc>
                <a:spcPct val="100000"/>
              </a:lnSpc>
              <a:buNone/>
              <a:tabLst>
                <a:tab algn="l" pos="0"/>
              </a:tabLst>
            </a:pPr>
            <a:fld id="{21346F3F-E680-4357-839E-83DE842EDE27}" type="slidenum">
              <a:rPr b="0" lang="en-US" sz="1200" spc="-1" strike="noStrike">
                <a:solidFill>
                  <a:schemeClr val="dk1"/>
                </a:solidFill>
                <a:latin typeface="Arial"/>
                <a:ea typeface="+mn-ea"/>
              </a:rPr>
              <a:t>11</a:t>
            </a:fld>
            <a:endParaRPr b="0" lang="vi-VN"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5" name="PlaceHolder 1"/>
          <p:cNvSpPr>
            <a:spLocks noGrp="1"/>
          </p:cNvSpPr>
          <p:nvPr>
            <p:ph type="sldNum" idx="200"/>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4816CC38-9B27-4D88-8956-6E3CF1295900}"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296" name="PlaceHolder 2"/>
          <p:cNvSpPr>
            <a:spLocks noGrp="1"/>
          </p:cNvSpPr>
          <p:nvPr>
            <p:ph type="sldImg"/>
          </p:nvPr>
        </p:nvSpPr>
        <p:spPr>
          <a:xfrm>
            <a:off x="1143000" y="685800"/>
            <a:ext cx="4571280" cy="3428280"/>
          </a:xfrm>
          <a:prstGeom prst="rect">
            <a:avLst/>
          </a:prstGeom>
          <a:ln w="0">
            <a:noFill/>
          </a:ln>
        </p:spPr>
      </p:sp>
      <p:sp>
        <p:nvSpPr>
          <p:cNvPr id="1297"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8" name="PlaceHolder 1"/>
          <p:cNvSpPr>
            <a:spLocks noGrp="1"/>
          </p:cNvSpPr>
          <p:nvPr>
            <p:ph type="sldNum" idx="201"/>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814884E7-B2ED-49B1-9536-1F6348E26254}"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299" name="PlaceHolder 2"/>
          <p:cNvSpPr>
            <a:spLocks noGrp="1"/>
          </p:cNvSpPr>
          <p:nvPr>
            <p:ph type="sldImg"/>
          </p:nvPr>
        </p:nvSpPr>
        <p:spPr>
          <a:xfrm>
            <a:off x="1143000" y="685800"/>
            <a:ext cx="4571280" cy="3428280"/>
          </a:xfrm>
          <a:prstGeom prst="rect">
            <a:avLst/>
          </a:prstGeom>
          <a:ln w="0">
            <a:noFill/>
          </a:ln>
        </p:spPr>
      </p:sp>
      <p:sp>
        <p:nvSpPr>
          <p:cNvPr id="1300"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1" name="PlaceHolder 1"/>
          <p:cNvSpPr>
            <a:spLocks noGrp="1"/>
          </p:cNvSpPr>
          <p:nvPr>
            <p:ph type="sldNum" idx="202"/>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287ACE99-5BCE-4810-BDA5-DCCE6ADC4C42}"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02" name="PlaceHolder 2"/>
          <p:cNvSpPr>
            <a:spLocks noGrp="1"/>
          </p:cNvSpPr>
          <p:nvPr>
            <p:ph type="sldImg"/>
          </p:nvPr>
        </p:nvSpPr>
        <p:spPr>
          <a:xfrm>
            <a:off x="1143000" y="685800"/>
            <a:ext cx="4571280" cy="3428280"/>
          </a:xfrm>
          <a:prstGeom prst="rect">
            <a:avLst/>
          </a:prstGeom>
          <a:ln w="0">
            <a:noFill/>
          </a:ln>
        </p:spPr>
      </p:sp>
      <p:sp>
        <p:nvSpPr>
          <p:cNvPr id="1303"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4" name="PlaceHolder 1"/>
          <p:cNvSpPr>
            <a:spLocks noGrp="1"/>
          </p:cNvSpPr>
          <p:nvPr>
            <p:ph type="sldNum" idx="203"/>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D5BD268E-40D7-4BEB-AC28-E9C2BE78BD28}"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05" name="PlaceHolder 2"/>
          <p:cNvSpPr>
            <a:spLocks noGrp="1"/>
          </p:cNvSpPr>
          <p:nvPr>
            <p:ph type="sldImg"/>
          </p:nvPr>
        </p:nvSpPr>
        <p:spPr>
          <a:xfrm>
            <a:off x="1143000" y="685800"/>
            <a:ext cx="4571280" cy="3428280"/>
          </a:xfrm>
          <a:prstGeom prst="rect">
            <a:avLst/>
          </a:prstGeom>
          <a:ln w="0">
            <a:noFill/>
          </a:ln>
        </p:spPr>
      </p:sp>
      <p:sp>
        <p:nvSpPr>
          <p:cNvPr id="1306"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Mã NV: thuộc tính đơn, vùng giá trị: integer, loại gt: đơn trị</a:t>
            </a:r>
            <a:endParaRPr b="0" lang="vi-VN"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Num" idx="204"/>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DAF17DCF-1BD9-4794-95C7-6A905B369727}"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08" name="PlaceHolder 2"/>
          <p:cNvSpPr>
            <a:spLocks noGrp="1"/>
          </p:cNvSpPr>
          <p:nvPr>
            <p:ph type="sldImg"/>
          </p:nvPr>
        </p:nvSpPr>
        <p:spPr>
          <a:xfrm>
            <a:off x="1143000" y="685800"/>
            <a:ext cx="4571280" cy="3428280"/>
          </a:xfrm>
          <a:prstGeom prst="rect">
            <a:avLst/>
          </a:prstGeom>
          <a:ln w="0">
            <a:noFill/>
          </a:ln>
        </p:spPr>
      </p:sp>
      <p:sp>
        <p:nvSpPr>
          <p:cNvPr id="1309"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Mã NV: thuộc tính đơn, vùng giá trị: integer, loại gt: đơn trị</a:t>
            </a:r>
            <a:endParaRPr b="0" lang="vi-VN"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Num" idx="205"/>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743D72B0-2A89-4E47-9B44-8835871E4A32}"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11" name="PlaceHolder 2"/>
          <p:cNvSpPr>
            <a:spLocks noGrp="1"/>
          </p:cNvSpPr>
          <p:nvPr>
            <p:ph type="sldImg"/>
          </p:nvPr>
        </p:nvSpPr>
        <p:spPr>
          <a:xfrm>
            <a:off x="1143000" y="685800"/>
            <a:ext cx="4571280" cy="3428280"/>
          </a:xfrm>
          <a:prstGeom prst="rect">
            <a:avLst/>
          </a:prstGeom>
          <a:ln w="0">
            <a:noFill/>
          </a:ln>
        </p:spPr>
      </p:sp>
      <p:sp>
        <p:nvSpPr>
          <p:cNvPr id="1312"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Num" idx="206"/>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CD02409E-A402-4215-A8A2-2ECD9EC153B8}"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14" name="PlaceHolder 2"/>
          <p:cNvSpPr>
            <a:spLocks noGrp="1"/>
          </p:cNvSpPr>
          <p:nvPr>
            <p:ph type="sldImg"/>
          </p:nvPr>
        </p:nvSpPr>
        <p:spPr>
          <a:xfrm>
            <a:off x="1143000" y="685800"/>
            <a:ext cx="4571280" cy="3428280"/>
          </a:xfrm>
          <a:prstGeom prst="rect">
            <a:avLst/>
          </a:prstGeom>
          <a:ln w="0">
            <a:noFill/>
          </a:ln>
        </p:spPr>
      </p:sp>
      <p:sp>
        <p:nvSpPr>
          <p:cNvPr id="1315"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Num" idx="207"/>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5E83054C-13D2-4D21-AEA7-D94DF0C01E5D}"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17" name="PlaceHolder 2"/>
          <p:cNvSpPr>
            <a:spLocks noGrp="1"/>
          </p:cNvSpPr>
          <p:nvPr>
            <p:ph type="sldImg"/>
          </p:nvPr>
        </p:nvSpPr>
        <p:spPr>
          <a:xfrm>
            <a:off x="1143000" y="685800"/>
            <a:ext cx="4571280" cy="3428280"/>
          </a:xfrm>
          <a:prstGeom prst="rect">
            <a:avLst/>
          </a:prstGeom>
          <a:ln w="0">
            <a:noFill/>
          </a:ln>
        </p:spPr>
      </p:sp>
      <p:sp>
        <p:nvSpPr>
          <p:cNvPr id="1318"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Num" idx="208"/>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03EEFF8A-4452-4207-888D-4B9D623200D7}"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20" name="PlaceHolder 2"/>
          <p:cNvSpPr>
            <a:spLocks noGrp="1"/>
          </p:cNvSpPr>
          <p:nvPr>
            <p:ph type="sldImg"/>
          </p:nvPr>
        </p:nvSpPr>
        <p:spPr>
          <a:xfrm>
            <a:off x="1143000" y="685800"/>
            <a:ext cx="4571280" cy="3428280"/>
          </a:xfrm>
          <a:prstGeom prst="rect">
            <a:avLst/>
          </a:prstGeom>
          <a:ln w="0">
            <a:noFill/>
          </a:ln>
        </p:spPr>
      </p:sp>
      <p:sp>
        <p:nvSpPr>
          <p:cNvPr id="1321"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Num" idx="209"/>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A91E0554-5907-4FA9-ACAD-4F37B6FDE2B9}"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23" name="PlaceHolder 2"/>
          <p:cNvSpPr>
            <a:spLocks noGrp="1"/>
          </p:cNvSpPr>
          <p:nvPr>
            <p:ph type="sldImg"/>
          </p:nvPr>
        </p:nvSpPr>
        <p:spPr>
          <a:xfrm>
            <a:off x="1143000" y="685800"/>
            <a:ext cx="4571280" cy="3428280"/>
          </a:xfrm>
          <a:prstGeom prst="rect">
            <a:avLst/>
          </a:prstGeom>
          <a:ln w="0">
            <a:noFill/>
          </a:ln>
        </p:spPr>
      </p:sp>
      <p:sp>
        <p:nvSpPr>
          <p:cNvPr id="1324"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Num" idx="210"/>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36D23503-3A85-4D26-8D63-3AABAA4502D8}"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26" name="PlaceHolder 2"/>
          <p:cNvSpPr>
            <a:spLocks noGrp="1"/>
          </p:cNvSpPr>
          <p:nvPr>
            <p:ph type="sldImg"/>
          </p:nvPr>
        </p:nvSpPr>
        <p:spPr>
          <a:xfrm>
            <a:off x="1143000" y="685800"/>
            <a:ext cx="4571280" cy="3428280"/>
          </a:xfrm>
          <a:prstGeom prst="rect">
            <a:avLst/>
          </a:prstGeom>
          <a:ln w="0">
            <a:noFill/>
          </a:ln>
        </p:spPr>
      </p:sp>
      <p:sp>
        <p:nvSpPr>
          <p:cNvPr id="1327"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Num" idx="211"/>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0E437745-51D1-410B-B85A-FDD141991CBB}"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29" name="PlaceHolder 2"/>
          <p:cNvSpPr>
            <a:spLocks noGrp="1"/>
          </p:cNvSpPr>
          <p:nvPr>
            <p:ph type="sldImg"/>
          </p:nvPr>
        </p:nvSpPr>
        <p:spPr>
          <a:xfrm>
            <a:off x="1143000" y="685800"/>
            <a:ext cx="4571280" cy="3428280"/>
          </a:xfrm>
          <a:prstGeom prst="rect">
            <a:avLst/>
          </a:prstGeom>
          <a:ln w="0">
            <a:noFill/>
          </a:ln>
        </p:spPr>
      </p:sp>
      <p:sp>
        <p:nvSpPr>
          <p:cNvPr id="1330"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Num" idx="212"/>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31611F1A-0554-4E7B-8634-AF3299793C8A}"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32" name="PlaceHolder 2"/>
          <p:cNvSpPr>
            <a:spLocks noGrp="1"/>
          </p:cNvSpPr>
          <p:nvPr>
            <p:ph type="sldImg"/>
          </p:nvPr>
        </p:nvSpPr>
        <p:spPr>
          <a:xfrm>
            <a:off x="1143000" y="685800"/>
            <a:ext cx="4571280" cy="3428280"/>
          </a:xfrm>
          <a:prstGeom prst="rect">
            <a:avLst/>
          </a:prstGeom>
          <a:ln w="0">
            <a:noFill/>
          </a:ln>
        </p:spPr>
      </p:sp>
      <p:sp>
        <p:nvSpPr>
          <p:cNvPr id="1333"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Num" idx="213"/>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9205EF63-0EE9-4957-A3A5-BCCE67BF460F}"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35" name="PlaceHolder 2"/>
          <p:cNvSpPr>
            <a:spLocks noGrp="1"/>
          </p:cNvSpPr>
          <p:nvPr>
            <p:ph type="sldImg"/>
          </p:nvPr>
        </p:nvSpPr>
        <p:spPr>
          <a:xfrm>
            <a:off x="1143000" y="685800"/>
            <a:ext cx="4571280" cy="3428280"/>
          </a:xfrm>
          <a:prstGeom prst="rect">
            <a:avLst/>
          </a:prstGeom>
          <a:ln w="0">
            <a:noFill/>
          </a:ln>
        </p:spPr>
      </p:sp>
      <p:sp>
        <p:nvSpPr>
          <p:cNvPr id="1336"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sldNum" idx="214"/>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0C7C452B-9156-4ABA-969D-230CA7C88900}"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38" name="PlaceHolder 2"/>
          <p:cNvSpPr>
            <a:spLocks noGrp="1"/>
          </p:cNvSpPr>
          <p:nvPr>
            <p:ph type="sldImg"/>
          </p:nvPr>
        </p:nvSpPr>
        <p:spPr>
          <a:xfrm>
            <a:off x="1143000" y="685800"/>
            <a:ext cx="4571280" cy="3428280"/>
          </a:xfrm>
          <a:prstGeom prst="rect">
            <a:avLst/>
          </a:prstGeom>
          <a:ln w="0">
            <a:noFill/>
          </a:ln>
        </p:spPr>
      </p:sp>
      <p:sp>
        <p:nvSpPr>
          <p:cNvPr id="1339"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0" name="PlaceHolder 1"/>
          <p:cNvSpPr>
            <a:spLocks noGrp="1"/>
          </p:cNvSpPr>
          <p:nvPr>
            <p:ph type="sldNum" idx="215"/>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879329B6-CF67-438B-8D56-46C4A85848E7}"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41" name="PlaceHolder 2"/>
          <p:cNvSpPr>
            <a:spLocks noGrp="1"/>
          </p:cNvSpPr>
          <p:nvPr>
            <p:ph type="sldImg"/>
          </p:nvPr>
        </p:nvSpPr>
        <p:spPr>
          <a:xfrm>
            <a:off x="1143000" y="685800"/>
            <a:ext cx="4571280" cy="3428280"/>
          </a:xfrm>
          <a:prstGeom prst="rect">
            <a:avLst/>
          </a:prstGeom>
          <a:ln w="0">
            <a:noFill/>
          </a:ln>
        </p:spPr>
      </p:sp>
      <p:sp>
        <p:nvSpPr>
          <p:cNvPr id="1342"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3" name="PlaceHolder 1"/>
          <p:cNvSpPr>
            <a:spLocks noGrp="1"/>
          </p:cNvSpPr>
          <p:nvPr>
            <p:ph type="sldNum" idx="216"/>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B3FECF51-47C2-4124-B259-A2B0D478D6B4}"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44" name="PlaceHolder 2"/>
          <p:cNvSpPr>
            <a:spLocks noGrp="1"/>
          </p:cNvSpPr>
          <p:nvPr>
            <p:ph type="sldImg"/>
          </p:nvPr>
        </p:nvSpPr>
        <p:spPr>
          <a:xfrm>
            <a:off x="1143000" y="685800"/>
            <a:ext cx="4571280" cy="3428280"/>
          </a:xfrm>
          <a:prstGeom prst="rect">
            <a:avLst/>
          </a:prstGeom>
          <a:ln w="0">
            <a:noFill/>
          </a:ln>
        </p:spPr>
      </p:sp>
      <p:sp>
        <p:nvSpPr>
          <p:cNvPr id="1345"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sldNum" idx="217"/>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EF6DB580-7510-4E08-A006-F98C2A556714}"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47" name="PlaceHolder 2"/>
          <p:cNvSpPr>
            <a:spLocks noGrp="1"/>
          </p:cNvSpPr>
          <p:nvPr>
            <p:ph type="sldImg"/>
          </p:nvPr>
        </p:nvSpPr>
        <p:spPr>
          <a:xfrm>
            <a:off x="1143000" y="685800"/>
            <a:ext cx="4571280" cy="3428280"/>
          </a:xfrm>
          <a:prstGeom prst="rect">
            <a:avLst/>
          </a:prstGeom>
          <a:ln w="0">
            <a:noFill/>
          </a:ln>
        </p:spPr>
      </p:sp>
      <p:sp>
        <p:nvSpPr>
          <p:cNvPr id="1348"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9" name="PlaceHolder 1"/>
          <p:cNvSpPr>
            <a:spLocks noGrp="1"/>
          </p:cNvSpPr>
          <p:nvPr>
            <p:ph type="sldNum" idx="218"/>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BC28F9F9-2F91-42E0-9100-82750588EE63}"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50" name="PlaceHolder 2"/>
          <p:cNvSpPr>
            <a:spLocks noGrp="1"/>
          </p:cNvSpPr>
          <p:nvPr>
            <p:ph type="sldImg"/>
          </p:nvPr>
        </p:nvSpPr>
        <p:spPr>
          <a:xfrm>
            <a:off x="1143000" y="685800"/>
            <a:ext cx="4571280" cy="3428280"/>
          </a:xfrm>
          <a:prstGeom prst="rect">
            <a:avLst/>
          </a:prstGeom>
          <a:ln w="0">
            <a:noFill/>
          </a:ln>
        </p:spPr>
      </p:sp>
      <p:sp>
        <p:nvSpPr>
          <p:cNvPr id="1351"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PlaceHolder 1"/>
          <p:cNvSpPr>
            <a:spLocks noGrp="1"/>
          </p:cNvSpPr>
          <p:nvPr>
            <p:ph type="sldNum" idx="219"/>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4C55A933-72F7-423A-95D3-38C30A4E9F47}"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53" name="PlaceHolder 2"/>
          <p:cNvSpPr>
            <a:spLocks noGrp="1"/>
          </p:cNvSpPr>
          <p:nvPr>
            <p:ph type="sldImg"/>
          </p:nvPr>
        </p:nvSpPr>
        <p:spPr>
          <a:xfrm>
            <a:off x="1143000" y="685800"/>
            <a:ext cx="4571280" cy="3428280"/>
          </a:xfrm>
          <a:prstGeom prst="rect">
            <a:avLst/>
          </a:prstGeom>
          <a:ln w="0">
            <a:noFill/>
          </a:ln>
        </p:spPr>
      </p:sp>
      <p:sp>
        <p:nvSpPr>
          <p:cNvPr id="1354"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5" name="PlaceHolder 1"/>
          <p:cNvSpPr>
            <a:spLocks noGrp="1"/>
          </p:cNvSpPr>
          <p:nvPr>
            <p:ph type="sldNum" idx="220"/>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F0412820-741A-4C08-8F55-4FE1C2913738}"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56" name="PlaceHolder 2"/>
          <p:cNvSpPr>
            <a:spLocks noGrp="1"/>
          </p:cNvSpPr>
          <p:nvPr>
            <p:ph type="sldImg"/>
          </p:nvPr>
        </p:nvSpPr>
        <p:spPr>
          <a:xfrm>
            <a:off x="1143000" y="685800"/>
            <a:ext cx="4571280" cy="3428280"/>
          </a:xfrm>
          <a:prstGeom prst="rect">
            <a:avLst/>
          </a:prstGeom>
          <a:ln w="0">
            <a:noFill/>
          </a:ln>
        </p:spPr>
      </p:sp>
      <p:sp>
        <p:nvSpPr>
          <p:cNvPr id="1357"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Num" idx="221"/>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5B92E253-75A4-455D-A409-0BBA029F172E}"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59" name="PlaceHolder 2"/>
          <p:cNvSpPr>
            <a:spLocks noGrp="1"/>
          </p:cNvSpPr>
          <p:nvPr>
            <p:ph type="sldImg"/>
          </p:nvPr>
        </p:nvSpPr>
        <p:spPr>
          <a:xfrm>
            <a:off x="1143000" y="685800"/>
            <a:ext cx="4571280" cy="3428280"/>
          </a:xfrm>
          <a:prstGeom prst="rect">
            <a:avLst/>
          </a:prstGeom>
          <a:ln w="0">
            <a:noFill/>
          </a:ln>
        </p:spPr>
      </p:sp>
      <p:sp>
        <p:nvSpPr>
          <p:cNvPr id="1360"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1" name="PlaceHolder 1"/>
          <p:cNvSpPr>
            <a:spLocks noGrp="1"/>
          </p:cNvSpPr>
          <p:nvPr>
            <p:ph type="sldNum" idx="222"/>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EB4E6E18-EBB7-4499-88CA-D7F215B1F072}"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62" name="PlaceHolder 2"/>
          <p:cNvSpPr>
            <a:spLocks noGrp="1"/>
          </p:cNvSpPr>
          <p:nvPr>
            <p:ph type="sldImg"/>
          </p:nvPr>
        </p:nvSpPr>
        <p:spPr>
          <a:xfrm>
            <a:off x="1143000" y="685800"/>
            <a:ext cx="4571280" cy="3428280"/>
          </a:xfrm>
          <a:prstGeom prst="rect">
            <a:avLst/>
          </a:prstGeom>
          <a:ln w="0">
            <a:noFill/>
          </a:ln>
        </p:spPr>
      </p:sp>
      <p:sp>
        <p:nvSpPr>
          <p:cNvPr id="1363"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PlaceHolder 1"/>
          <p:cNvSpPr>
            <a:spLocks noGrp="1"/>
          </p:cNvSpPr>
          <p:nvPr>
            <p:ph type="sldNum" idx="223"/>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D61DF397-6082-4ED1-B7AF-67B09E58FBDE}"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65" name="PlaceHolder 2"/>
          <p:cNvSpPr>
            <a:spLocks noGrp="1"/>
          </p:cNvSpPr>
          <p:nvPr>
            <p:ph type="sldImg"/>
          </p:nvPr>
        </p:nvSpPr>
        <p:spPr>
          <a:xfrm>
            <a:off x="1143000" y="685800"/>
            <a:ext cx="4571280" cy="3428280"/>
          </a:xfrm>
          <a:prstGeom prst="rect">
            <a:avLst/>
          </a:prstGeom>
          <a:ln w="0">
            <a:noFill/>
          </a:ln>
        </p:spPr>
      </p:sp>
      <p:sp>
        <p:nvSpPr>
          <p:cNvPr id="1366"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7" name="PlaceHolder 1"/>
          <p:cNvSpPr>
            <a:spLocks noGrp="1"/>
          </p:cNvSpPr>
          <p:nvPr>
            <p:ph type="sldNum" idx="224"/>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6C63BD0A-42FE-46EF-B14A-4DF50635D9B3}"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68" name="PlaceHolder 2"/>
          <p:cNvSpPr>
            <a:spLocks noGrp="1"/>
          </p:cNvSpPr>
          <p:nvPr>
            <p:ph type="sldImg"/>
          </p:nvPr>
        </p:nvSpPr>
        <p:spPr>
          <a:xfrm>
            <a:off x="1143000" y="685800"/>
            <a:ext cx="4571280" cy="3428280"/>
          </a:xfrm>
          <a:prstGeom prst="rect">
            <a:avLst/>
          </a:prstGeom>
          <a:ln w="0">
            <a:noFill/>
          </a:ln>
        </p:spPr>
      </p:sp>
      <p:sp>
        <p:nvSpPr>
          <p:cNvPr id="1369"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PlaceHolder 1"/>
          <p:cNvSpPr>
            <a:spLocks noGrp="1"/>
          </p:cNvSpPr>
          <p:nvPr>
            <p:ph type="sldNum" idx="225"/>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28320E73-4AD1-4CE3-97D2-BDEC5A10C7B6}"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71" name="PlaceHolder 2"/>
          <p:cNvSpPr>
            <a:spLocks noGrp="1"/>
          </p:cNvSpPr>
          <p:nvPr>
            <p:ph type="sldImg"/>
          </p:nvPr>
        </p:nvSpPr>
        <p:spPr>
          <a:xfrm>
            <a:off x="1143000" y="685800"/>
            <a:ext cx="4571280" cy="3428280"/>
          </a:xfrm>
          <a:prstGeom prst="rect">
            <a:avLst/>
          </a:prstGeom>
          <a:ln w="0">
            <a:noFill/>
          </a:ln>
        </p:spPr>
      </p:sp>
      <p:sp>
        <p:nvSpPr>
          <p:cNvPr id="1372"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3" name="PlaceHolder 1"/>
          <p:cNvSpPr>
            <a:spLocks noGrp="1"/>
          </p:cNvSpPr>
          <p:nvPr>
            <p:ph type="sldNum" idx="226"/>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27C51325-013A-446B-8571-6C37515A9381}"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74" name="PlaceHolder 2"/>
          <p:cNvSpPr>
            <a:spLocks noGrp="1"/>
          </p:cNvSpPr>
          <p:nvPr>
            <p:ph type="sldImg"/>
          </p:nvPr>
        </p:nvSpPr>
        <p:spPr>
          <a:xfrm>
            <a:off x="1143000" y="685800"/>
            <a:ext cx="4571280" cy="3428280"/>
          </a:xfrm>
          <a:prstGeom prst="rect">
            <a:avLst/>
          </a:prstGeom>
          <a:ln w="0">
            <a:noFill/>
          </a:ln>
        </p:spPr>
      </p:sp>
      <p:sp>
        <p:nvSpPr>
          <p:cNvPr id="1375"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6" name="PlaceHolder 1"/>
          <p:cNvSpPr>
            <a:spLocks noGrp="1"/>
          </p:cNvSpPr>
          <p:nvPr>
            <p:ph type="sldNum" idx="227"/>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2A05874E-8895-4350-A82A-5B5B2AE484EA}"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77" name="PlaceHolder 2"/>
          <p:cNvSpPr>
            <a:spLocks noGrp="1"/>
          </p:cNvSpPr>
          <p:nvPr>
            <p:ph type="sldImg"/>
          </p:nvPr>
        </p:nvSpPr>
        <p:spPr>
          <a:xfrm>
            <a:off x="1143000" y="685800"/>
            <a:ext cx="4571280" cy="3428280"/>
          </a:xfrm>
          <a:prstGeom prst="rect">
            <a:avLst/>
          </a:prstGeom>
          <a:ln w="0">
            <a:noFill/>
          </a:ln>
        </p:spPr>
      </p:sp>
      <p:sp>
        <p:nvSpPr>
          <p:cNvPr id="1378"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9" name="PlaceHolder 1"/>
          <p:cNvSpPr>
            <a:spLocks noGrp="1"/>
          </p:cNvSpPr>
          <p:nvPr>
            <p:ph type="sldNum" idx="228"/>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46981479-8A60-4E62-A567-C1E86B31A0FD}"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80" name="PlaceHolder 2"/>
          <p:cNvSpPr>
            <a:spLocks noGrp="1"/>
          </p:cNvSpPr>
          <p:nvPr>
            <p:ph type="sldImg"/>
          </p:nvPr>
        </p:nvSpPr>
        <p:spPr>
          <a:xfrm>
            <a:off x="1143000" y="685800"/>
            <a:ext cx="4571280" cy="3428280"/>
          </a:xfrm>
          <a:prstGeom prst="rect">
            <a:avLst/>
          </a:prstGeom>
          <a:ln w="0">
            <a:noFill/>
          </a:ln>
        </p:spPr>
      </p:sp>
      <p:sp>
        <p:nvSpPr>
          <p:cNvPr id="1381"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2" name="PlaceHolder 1"/>
          <p:cNvSpPr>
            <a:spLocks noGrp="1"/>
          </p:cNvSpPr>
          <p:nvPr>
            <p:ph type="sldNum" idx="229"/>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6EF285F1-8DA9-4C4A-AB7F-DECB5CAC5D65}"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83" name="PlaceHolder 2"/>
          <p:cNvSpPr>
            <a:spLocks noGrp="1"/>
          </p:cNvSpPr>
          <p:nvPr>
            <p:ph type="sldImg"/>
          </p:nvPr>
        </p:nvSpPr>
        <p:spPr>
          <a:xfrm>
            <a:off x="1143000" y="685800"/>
            <a:ext cx="4571280" cy="3428280"/>
          </a:xfrm>
          <a:prstGeom prst="rect">
            <a:avLst/>
          </a:prstGeom>
          <a:ln w="0">
            <a:noFill/>
          </a:ln>
        </p:spPr>
      </p:sp>
      <p:sp>
        <p:nvSpPr>
          <p:cNvPr id="1384"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5" name="PlaceHolder 1"/>
          <p:cNvSpPr>
            <a:spLocks noGrp="1"/>
          </p:cNvSpPr>
          <p:nvPr>
            <p:ph type="sldNum" idx="230"/>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4D28048B-4618-4249-96A6-EDB9C433B3BA}"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86" name="PlaceHolder 2"/>
          <p:cNvSpPr>
            <a:spLocks noGrp="1"/>
          </p:cNvSpPr>
          <p:nvPr>
            <p:ph type="sldImg"/>
          </p:nvPr>
        </p:nvSpPr>
        <p:spPr>
          <a:xfrm>
            <a:off x="1143000" y="685800"/>
            <a:ext cx="4571280" cy="3428280"/>
          </a:xfrm>
          <a:prstGeom prst="rect">
            <a:avLst/>
          </a:prstGeom>
          <a:ln w="0">
            <a:noFill/>
          </a:ln>
        </p:spPr>
      </p:sp>
      <p:sp>
        <p:nvSpPr>
          <p:cNvPr id="1387"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PlaceHolder 1"/>
          <p:cNvSpPr>
            <a:spLocks noGrp="1"/>
          </p:cNvSpPr>
          <p:nvPr>
            <p:ph type="sldNum" idx="231"/>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636E55E5-4380-468C-98B1-7F9D7A13F331}"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89" name="PlaceHolder 2"/>
          <p:cNvSpPr>
            <a:spLocks noGrp="1"/>
          </p:cNvSpPr>
          <p:nvPr>
            <p:ph type="sldImg"/>
          </p:nvPr>
        </p:nvSpPr>
        <p:spPr>
          <a:xfrm>
            <a:off x="1143000" y="685800"/>
            <a:ext cx="4571280" cy="3428280"/>
          </a:xfrm>
          <a:prstGeom prst="rect">
            <a:avLst/>
          </a:prstGeom>
          <a:ln w="0">
            <a:noFill/>
          </a:ln>
        </p:spPr>
      </p:sp>
      <p:sp>
        <p:nvSpPr>
          <p:cNvPr id="1390"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1" name="PlaceHolder 1"/>
          <p:cNvSpPr>
            <a:spLocks noGrp="1"/>
          </p:cNvSpPr>
          <p:nvPr>
            <p:ph type="sldNum" idx="232"/>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E096014B-86B9-4AB8-BC34-2238B749A887}"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92" name="PlaceHolder 2"/>
          <p:cNvSpPr>
            <a:spLocks noGrp="1"/>
          </p:cNvSpPr>
          <p:nvPr>
            <p:ph type="sldImg"/>
          </p:nvPr>
        </p:nvSpPr>
        <p:spPr>
          <a:xfrm>
            <a:off x="1143000" y="685800"/>
            <a:ext cx="4571280" cy="3428280"/>
          </a:xfrm>
          <a:prstGeom prst="rect">
            <a:avLst/>
          </a:prstGeom>
          <a:ln w="0">
            <a:noFill/>
          </a:ln>
        </p:spPr>
      </p:sp>
      <p:sp>
        <p:nvSpPr>
          <p:cNvPr id="1393"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4" name="PlaceHolder 1"/>
          <p:cNvSpPr>
            <a:spLocks noGrp="1"/>
          </p:cNvSpPr>
          <p:nvPr>
            <p:ph type="sldNum" idx="233"/>
          </p:nvPr>
        </p:nvSpPr>
        <p:spPr>
          <a:xfrm>
            <a:off x="3884760" y="8685360"/>
            <a:ext cx="2971080" cy="456480"/>
          </a:xfrm>
          <a:prstGeom prst="rect">
            <a:avLst/>
          </a:prstGeom>
          <a:noFill/>
          <a:ln w="9360">
            <a:noFill/>
          </a:ln>
        </p:spPr>
        <p:txBody>
          <a:bodyPr numCol="1" spcCol="0" lIns="91440" rIns="91440" tIns="45720" bIns="45720" anchor="b">
            <a:noAutofit/>
          </a:bodyPr>
          <a:lstStyle>
            <a:lvl1pPr indent="0" algn="r">
              <a:lnSpc>
                <a:spcPct val="100000"/>
              </a:lnSpc>
              <a:buNone/>
              <a:tabLst>
                <a:tab algn="l" pos="0"/>
              </a:tabLst>
              <a:defRPr b="0" lang="en-US" sz="1200" spc="-1" strike="noStrike">
                <a:solidFill>
                  <a:srgbClr val="000000"/>
                </a:solidFill>
                <a:latin typeface="Arial"/>
              </a:defRPr>
            </a:lvl1pPr>
          </a:lstStyle>
          <a:p>
            <a:pPr indent="0" algn="r">
              <a:lnSpc>
                <a:spcPct val="100000"/>
              </a:lnSpc>
              <a:buNone/>
              <a:tabLst>
                <a:tab algn="l" pos="0"/>
              </a:tabLst>
            </a:pPr>
            <a:fld id="{BB1E893D-3064-46F8-81AB-E3EB5686B29F}" type="slidenum">
              <a:rPr b="0" lang="en-US" sz="1200" spc="-1" strike="noStrike">
                <a:solidFill>
                  <a:srgbClr val="000000"/>
                </a:solidFill>
                <a:latin typeface="Arial"/>
              </a:rPr>
              <a:t>11</a:t>
            </a:fld>
            <a:endParaRPr b="0" lang="vi-VN" sz="1200" spc="-1" strike="noStrike">
              <a:solidFill>
                <a:srgbClr val="000000"/>
              </a:solidFill>
              <a:latin typeface="Times New Roman"/>
            </a:endParaRPr>
          </a:p>
        </p:txBody>
      </p:sp>
      <p:sp>
        <p:nvSpPr>
          <p:cNvPr id="1395" name="PlaceHolder 2"/>
          <p:cNvSpPr>
            <a:spLocks noGrp="1"/>
          </p:cNvSpPr>
          <p:nvPr>
            <p:ph type="sldImg"/>
          </p:nvPr>
        </p:nvSpPr>
        <p:spPr>
          <a:xfrm>
            <a:off x="1143000" y="685800"/>
            <a:ext cx="4571280" cy="3428280"/>
          </a:xfrm>
          <a:prstGeom prst="rect">
            <a:avLst/>
          </a:prstGeom>
          <a:ln w="0">
            <a:noFill/>
          </a:ln>
        </p:spPr>
      </p:sp>
      <p:sp>
        <p:nvSpPr>
          <p:cNvPr id="1396" name="PlaceHolder 3"/>
          <p:cNvSpPr>
            <a:spLocks noGrp="1"/>
          </p:cNvSpPr>
          <p:nvPr>
            <p:ph type="body"/>
          </p:nvPr>
        </p:nvSpPr>
        <p:spPr>
          <a:xfrm>
            <a:off x="685800" y="4343400"/>
            <a:ext cx="5485680" cy="4114080"/>
          </a:xfrm>
          <a:prstGeom prst="rect">
            <a:avLst/>
          </a:prstGeom>
          <a:noFill/>
          <a:ln w="9360">
            <a:noFill/>
          </a:ln>
        </p:spPr>
        <p:txBody>
          <a:bodyPr numCol="1" spcCol="0" lIns="91440" rIns="91440" tIns="45720" bIns="45720" anchor="t">
            <a:noAutofit/>
          </a:bodyPr>
          <a:p>
            <a:pPr marL="216000" indent="-216000">
              <a:buNone/>
            </a:pPr>
            <a:endParaRPr b="0" lang="vi-VN" sz="18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704880"/>
            <a:ext cx="8228880" cy="1142280"/>
          </a:xfrm>
          <a:prstGeom prst="rect">
            <a:avLst/>
          </a:prstGeom>
          <a:noFill/>
          <a:ln w="0">
            <a:noFill/>
          </a:ln>
        </p:spPr>
        <p:txBody>
          <a:bodyPr lIns="0" rIns="0" tIns="0" bIns="0" anchor="ctr">
            <a:noAutofit/>
          </a:bodyPr>
          <a:p>
            <a:pPr indent="0" algn="ctr">
              <a:buNone/>
            </a:pPr>
            <a:endParaRPr b="0" lang="vi-VN" sz="4400" spc="-1" strike="noStrike">
              <a:solidFill>
                <a:srgbClr val="000000"/>
              </a:solidFill>
              <a:latin typeface="Arial"/>
            </a:endParaRPr>
          </a:p>
        </p:txBody>
      </p:sp>
      <p:sp>
        <p:nvSpPr>
          <p:cNvPr id="11" name="PlaceHolder 2"/>
          <p:cNvSpPr>
            <a:spLocks noGrp="1"/>
          </p:cNvSpPr>
          <p:nvPr>
            <p:ph type="subTitle"/>
          </p:nvPr>
        </p:nvSpPr>
        <p:spPr>
          <a:xfrm>
            <a:off x="457200" y="1935000"/>
            <a:ext cx="8228880" cy="4388760"/>
          </a:xfrm>
          <a:prstGeom prst="rect">
            <a:avLst/>
          </a:prstGeom>
          <a:noFill/>
          <a:ln w="0">
            <a:noFill/>
          </a:ln>
        </p:spPr>
        <p:txBody>
          <a:bodyPr lIns="0" rIns="0" tIns="0" bIns="0" anchor="ctr">
            <a:noAutofit/>
          </a:bodyPr>
          <a:p>
            <a:pPr indent="0" algn="ctr">
              <a:buNone/>
            </a:pPr>
            <a:endParaRPr b="0" lang="vi-VN"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308EC80-0CCE-420E-A38E-57C6BAB25E4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ED2C9E2-4B0B-4C2C-93B8-BCB99482F7E1}"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DBB2C02-D02F-4B88-B2A9-6567A17A784D}"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704880"/>
            <a:ext cx="8228880" cy="1142280"/>
          </a:xfrm>
          <a:prstGeom prst="rect">
            <a:avLst/>
          </a:prstGeom>
          <a:noFill/>
          <a:ln w="0">
            <a:noFill/>
          </a:ln>
        </p:spPr>
        <p:txBody>
          <a:bodyPr lIns="0" rIns="0" tIns="0" bIns="0" anchor="ctr">
            <a:noAutofit/>
          </a:bodyPr>
          <a:p>
            <a:pPr indent="0" algn="ctr">
              <a:buNone/>
            </a:pPr>
            <a:endParaRPr b="0" lang="vi-VN" sz="4400" spc="-1" strike="noStrike">
              <a:solidFill>
                <a:srgbClr val="000000"/>
              </a:solidFill>
              <a:latin typeface="Arial"/>
            </a:endParaRPr>
          </a:p>
        </p:txBody>
      </p:sp>
      <p:sp>
        <p:nvSpPr>
          <p:cNvPr id="39" name="PlaceHolder 2"/>
          <p:cNvSpPr>
            <a:spLocks noGrp="1"/>
          </p:cNvSpPr>
          <p:nvPr>
            <p:ph/>
          </p:nvPr>
        </p:nvSpPr>
        <p:spPr>
          <a:xfrm>
            <a:off x="457200" y="1935000"/>
            <a:ext cx="8228880" cy="4388760"/>
          </a:xfrm>
          <a:prstGeom prst="rect">
            <a:avLst/>
          </a:prstGeom>
          <a:noFill/>
          <a:ln w="0">
            <a:noFill/>
          </a:ln>
        </p:spPr>
        <p:txBody>
          <a:bodyPr lIns="0" rIns="0" tIns="0" bIns="0" anchor="t">
            <a:normAutofit/>
          </a:bodyPr>
          <a:p>
            <a:pPr indent="0">
              <a:spcBef>
                <a:spcPts val="1417"/>
              </a:spcBef>
              <a:buNone/>
            </a:pPr>
            <a:endParaRPr b="0" lang="vi-VN"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398AB96-70CD-41A8-B5D8-162C8122F09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A94CC7FF-6D2B-41F7-A1E8-A74AEA720C3D}"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704880"/>
            <a:ext cx="8228880" cy="1142280"/>
          </a:xfrm>
          <a:prstGeom prst="rect">
            <a:avLst/>
          </a:prstGeom>
          <a:noFill/>
          <a:ln w="0">
            <a:noFill/>
          </a:ln>
        </p:spPr>
        <p:txBody>
          <a:bodyPr lIns="0" rIns="0" tIns="0" bIns="0" anchor="ctr">
            <a:noAutofit/>
          </a:bodyPr>
          <a:p>
            <a:pPr indent="0" algn="ctr">
              <a:buNone/>
            </a:pPr>
            <a:endParaRPr b="0" lang="vi-VN" sz="4400" spc="-1" strike="noStrike">
              <a:solidFill>
                <a:srgbClr val="000000"/>
              </a:solidFill>
              <a:latin typeface="Arial"/>
            </a:endParaRPr>
          </a:p>
        </p:txBody>
      </p:sp>
      <p:sp>
        <p:nvSpPr>
          <p:cNvPr id="60" name="PlaceHolder 2"/>
          <p:cNvSpPr>
            <a:spLocks noGrp="1"/>
          </p:cNvSpPr>
          <p:nvPr>
            <p:ph/>
          </p:nvPr>
        </p:nvSpPr>
        <p:spPr>
          <a:xfrm>
            <a:off x="457200" y="1935000"/>
            <a:ext cx="4015440" cy="4388760"/>
          </a:xfrm>
          <a:prstGeom prst="rect">
            <a:avLst/>
          </a:prstGeom>
          <a:noFill/>
          <a:ln w="0">
            <a:noFill/>
          </a:ln>
        </p:spPr>
        <p:txBody>
          <a:bodyPr lIns="0" rIns="0" tIns="0" bIns="0" anchor="t">
            <a:normAutofit/>
          </a:bodyPr>
          <a:p>
            <a:pPr indent="0">
              <a:spcBef>
                <a:spcPts val="1417"/>
              </a:spcBef>
              <a:buNone/>
            </a:pPr>
            <a:endParaRPr b="0" lang="vi-VN" sz="3200" spc="-1" strike="noStrike">
              <a:solidFill>
                <a:srgbClr val="000000"/>
              </a:solidFill>
              <a:latin typeface="Arial"/>
            </a:endParaRPr>
          </a:p>
        </p:txBody>
      </p:sp>
      <p:sp>
        <p:nvSpPr>
          <p:cNvPr id="61" name="PlaceHolder 3"/>
          <p:cNvSpPr>
            <a:spLocks noGrp="1"/>
          </p:cNvSpPr>
          <p:nvPr>
            <p:ph/>
          </p:nvPr>
        </p:nvSpPr>
        <p:spPr>
          <a:xfrm>
            <a:off x="4673880" y="1935000"/>
            <a:ext cx="4015440" cy="4388760"/>
          </a:xfrm>
          <a:prstGeom prst="rect">
            <a:avLst/>
          </a:prstGeom>
          <a:noFill/>
          <a:ln w="0">
            <a:noFill/>
          </a:ln>
        </p:spPr>
        <p:txBody>
          <a:bodyPr lIns="0" rIns="0" tIns="0" bIns="0" anchor="t">
            <a:normAutofit/>
          </a:bodyPr>
          <a:p>
            <a:pPr indent="0">
              <a:spcBef>
                <a:spcPts val="1417"/>
              </a:spcBef>
              <a:buNone/>
            </a:pPr>
            <a:endParaRPr b="0" lang="vi-VN"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8F91F43B-A460-47BD-B132-4E4BB30696E6}"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71D25082-5EE3-4CD5-A3D8-A9554E564167}"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704880"/>
            <a:ext cx="8228880" cy="1142280"/>
          </a:xfrm>
          <a:prstGeom prst="rect">
            <a:avLst/>
          </a:prstGeom>
          <a:noFill/>
          <a:ln w="0">
            <a:noFill/>
          </a:ln>
        </p:spPr>
        <p:txBody>
          <a:bodyPr lIns="0" rIns="0" tIns="0" bIns="0" anchor="ctr">
            <a:noAutofit/>
          </a:bodyPr>
          <a:p>
            <a:pPr indent="0" algn="ctr">
              <a:buNone/>
            </a:pPr>
            <a:endParaRPr b="0" lang="vi-VN"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F686E930-A7C4-49D4-81E4-9F7B7E63258C}"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08D3000-B475-411B-A69F-1CDEC4C615E7}"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3B69D0A-D72A-4A6D-9EBC-D1729206D955}"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00D60DB2-5D15-4025-9C75-327A12E72777}"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2.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2.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2.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2.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2.png"/><Relationship Id="rId3"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0"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1"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2" name="Group 1"/>
          <p:cNvGrpSpPr/>
          <p:nvPr/>
        </p:nvGrpSpPr>
        <p:grpSpPr>
          <a:xfrm>
            <a:off x="-28800" y="-15840"/>
            <a:ext cx="9196920" cy="1084320"/>
            <a:chOff x="-28800" y="-15840"/>
            <a:chExt cx="9196920" cy="1084320"/>
          </a:xfrm>
        </p:grpSpPr>
        <p:sp>
          <p:nvSpPr>
            <p:cNvPr id="3"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4"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5" name="PlaceHolder 1"/>
          <p:cNvSpPr>
            <a:spLocks noGrp="1"/>
          </p:cNvSpPr>
          <p:nvPr>
            <p:ph type="title"/>
          </p:nvPr>
        </p:nvSpPr>
        <p:spPr>
          <a:xfrm>
            <a:off x="457200" y="704880"/>
            <a:ext cx="8228880" cy="1142280"/>
          </a:xfrm>
          <a:prstGeom prst="rect">
            <a:avLst/>
          </a:prstGeom>
          <a:noFill/>
          <a:ln w="0">
            <a:noFill/>
          </a:ln>
        </p:spPr>
        <p:txBody>
          <a:bodyPr numCol="1" spcCol="0" lIns="0" rIns="0" tIns="0" bIns="0" anchor="ctr">
            <a:noAutofit/>
          </a:bodyPr>
          <a:p>
            <a:pPr indent="0">
              <a:buNone/>
            </a:pPr>
            <a:r>
              <a:rPr b="0" lang="vi-VN" sz="1800" spc="-1" strike="noStrike">
                <a:solidFill>
                  <a:srgbClr val="000000"/>
                </a:solidFill>
                <a:latin typeface="Arial"/>
              </a:rPr>
              <a:t>Click to edit the title </a:t>
            </a:r>
            <a:r>
              <a:rPr b="0" lang="vi-VN" sz="1800" spc="-1" strike="noStrike">
                <a:solidFill>
                  <a:srgbClr val="000000"/>
                </a:solidFill>
                <a:latin typeface="Arial"/>
              </a:rPr>
              <a:t>text format</a:t>
            </a:r>
            <a:endParaRPr b="0" lang="vi-VN" sz="1800" spc="-1" strike="noStrike">
              <a:solidFill>
                <a:srgbClr val="000000"/>
              </a:solidFill>
              <a:latin typeface="Arial"/>
            </a:endParaRPr>
          </a:p>
        </p:txBody>
      </p:sp>
      <p:sp>
        <p:nvSpPr>
          <p:cNvPr id="6" name="PlaceHolder 2"/>
          <p:cNvSpPr>
            <a:spLocks noGrp="1"/>
          </p:cNvSpPr>
          <p:nvPr>
            <p:ph type="ftr" idx="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7" name="PlaceHolder 3"/>
          <p:cNvSpPr>
            <a:spLocks noGrp="1"/>
          </p:cNvSpPr>
          <p:nvPr>
            <p:ph type="sldNum" idx="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BA060592-9CCC-42AA-87C6-0574CCCDE878}"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8" name="PlaceHolder 4"/>
          <p:cNvSpPr>
            <a:spLocks noGrp="1"/>
          </p:cNvSpPr>
          <p:nvPr>
            <p:ph type="dt" idx="3"/>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vi-VN" sz="3200" spc="-1" strike="noStrike">
                <a:solidFill>
                  <a:srgbClr val="000000"/>
                </a:solidFill>
                <a:latin typeface="Arial"/>
              </a:rPr>
              <a:t>Click to edit the outline text format</a:t>
            </a:r>
            <a:endParaRPr b="0" lang="vi-VN"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vi-VN" sz="2800" spc="-1" strike="noStrike">
                <a:solidFill>
                  <a:srgbClr val="000000"/>
                </a:solidFill>
                <a:latin typeface="Arial"/>
              </a:rPr>
              <a:t>Second Outline Level</a:t>
            </a:r>
            <a:endParaRPr b="0" lang="vi-V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vi-VN" sz="2400" spc="-1" strike="noStrike">
                <a:solidFill>
                  <a:srgbClr val="000000"/>
                </a:solidFill>
                <a:latin typeface="Arial"/>
              </a:rPr>
              <a:t>Third Outline Level</a:t>
            </a:r>
            <a:endParaRPr b="0" lang="vi-VN"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vi-VN" sz="2000" spc="-1" strike="noStrike">
                <a:solidFill>
                  <a:srgbClr val="000000"/>
                </a:solidFill>
                <a:latin typeface="Arial"/>
              </a:rPr>
              <a:t>Fourth Outline Level</a:t>
            </a:r>
            <a:endParaRPr b="0" lang="vi-VN"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vi-VN" sz="2000" spc="-1" strike="noStrike">
                <a:solidFill>
                  <a:srgbClr val="000000"/>
                </a:solidFill>
                <a:latin typeface="Arial"/>
              </a:rPr>
              <a:t>Fifth Outline Level</a:t>
            </a:r>
            <a:endParaRPr b="0" lang="vi-V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vi-VN" sz="2000" spc="-1" strike="noStrike">
                <a:solidFill>
                  <a:srgbClr val="000000"/>
                </a:solidFill>
                <a:latin typeface="Arial"/>
              </a:rPr>
              <a:t>Sixth Outline Level</a:t>
            </a:r>
            <a:endParaRPr b="0" lang="vi-V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vi-VN" sz="2000" spc="-1" strike="noStrike">
                <a:solidFill>
                  <a:srgbClr val="000000"/>
                </a:solidFill>
                <a:latin typeface="Arial"/>
              </a:rPr>
              <a:t>Seventh Outline Level</a:t>
            </a:r>
            <a:endParaRPr b="0" lang="vi-V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12"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13"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14" name="Group 1"/>
          <p:cNvGrpSpPr/>
          <p:nvPr/>
        </p:nvGrpSpPr>
        <p:grpSpPr>
          <a:xfrm>
            <a:off x="-28800" y="-15840"/>
            <a:ext cx="9196920" cy="1084320"/>
            <a:chOff x="-28800" y="-15840"/>
            <a:chExt cx="9196920" cy="1084320"/>
          </a:xfrm>
        </p:grpSpPr>
        <p:sp>
          <p:nvSpPr>
            <p:cNvPr id="15"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16"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17" name="PlaceHolder 1"/>
          <p:cNvSpPr>
            <a:spLocks noGrp="1"/>
          </p:cNvSpPr>
          <p:nvPr>
            <p:ph type="ftr" idx="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18" name="PlaceHolder 2"/>
          <p:cNvSpPr>
            <a:spLocks noGrp="1"/>
          </p:cNvSpPr>
          <p:nvPr>
            <p:ph type="sldNum" idx="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BF642C2-316C-42B1-B78B-DDC9AFFF5D02}"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19" name="PlaceHolder 3"/>
          <p:cNvSpPr>
            <a:spLocks noGrp="1"/>
          </p:cNvSpPr>
          <p:nvPr>
            <p:ph type="dt" idx="6"/>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20"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21"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22" name="Group 1"/>
          <p:cNvGrpSpPr/>
          <p:nvPr/>
        </p:nvGrpSpPr>
        <p:grpSpPr>
          <a:xfrm>
            <a:off x="-28800" y="-15840"/>
            <a:ext cx="9196920" cy="1084320"/>
            <a:chOff x="-28800" y="-15840"/>
            <a:chExt cx="9196920" cy="1084320"/>
          </a:xfrm>
        </p:grpSpPr>
        <p:sp>
          <p:nvSpPr>
            <p:cNvPr id="23"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24"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25" name="PlaceHolder 1"/>
          <p:cNvSpPr>
            <a:spLocks noGrp="1"/>
          </p:cNvSpPr>
          <p:nvPr>
            <p:ph type="ftr" idx="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26" name="PlaceHolder 2"/>
          <p:cNvSpPr>
            <a:spLocks noGrp="1"/>
          </p:cNvSpPr>
          <p:nvPr>
            <p:ph type="sldNum" idx="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089482DF-0401-495E-9359-03F511C5242F}"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27" name="PlaceHolder 3"/>
          <p:cNvSpPr>
            <a:spLocks noGrp="1"/>
          </p:cNvSpPr>
          <p:nvPr>
            <p:ph type="dt" idx="9"/>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28"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29"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30" name="Group 1"/>
          <p:cNvGrpSpPr/>
          <p:nvPr/>
        </p:nvGrpSpPr>
        <p:grpSpPr>
          <a:xfrm>
            <a:off x="-28800" y="-15840"/>
            <a:ext cx="9196920" cy="1084320"/>
            <a:chOff x="-28800" y="-15840"/>
            <a:chExt cx="9196920" cy="1084320"/>
          </a:xfrm>
        </p:grpSpPr>
        <p:sp>
          <p:nvSpPr>
            <p:cNvPr id="31"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32"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33" name="PlaceHolder 1"/>
          <p:cNvSpPr>
            <a:spLocks noGrp="1"/>
          </p:cNvSpPr>
          <p:nvPr>
            <p:ph type="title"/>
          </p:nvPr>
        </p:nvSpPr>
        <p:spPr>
          <a:xfrm>
            <a:off x="457200" y="704880"/>
            <a:ext cx="8228880" cy="1142280"/>
          </a:xfrm>
          <a:prstGeom prst="rect">
            <a:avLst/>
          </a:prstGeom>
          <a:noFill/>
          <a:ln w="0">
            <a:noFill/>
          </a:ln>
        </p:spPr>
        <p:txBody>
          <a:bodyPr numCol="1" spcCol="0" lIns="0" rIns="0" tIns="0" bIns="0" anchor="ctr">
            <a:noAutofit/>
          </a:bodyPr>
          <a:p>
            <a:pPr indent="0">
              <a:buNone/>
            </a:pPr>
            <a:r>
              <a:rPr b="0" lang="vi-VN" sz="1800" spc="-1" strike="noStrike">
                <a:solidFill>
                  <a:srgbClr val="000000"/>
                </a:solidFill>
                <a:latin typeface="Arial"/>
              </a:rPr>
              <a:t>Cli</a:t>
            </a:r>
            <a:r>
              <a:rPr b="0" lang="vi-VN" sz="1800" spc="-1" strike="noStrike">
                <a:solidFill>
                  <a:srgbClr val="000000"/>
                </a:solidFill>
                <a:latin typeface="Arial"/>
              </a:rPr>
              <a:t>ck </a:t>
            </a:r>
            <a:r>
              <a:rPr b="0" lang="vi-VN" sz="1800" spc="-1" strike="noStrike">
                <a:solidFill>
                  <a:srgbClr val="000000"/>
                </a:solidFill>
                <a:latin typeface="Arial"/>
              </a:rPr>
              <a:t>to </a:t>
            </a:r>
            <a:r>
              <a:rPr b="0" lang="vi-VN" sz="1800" spc="-1" strike="noStrike">
                <a:solidFill>
                  <a:srgbClr val="000000"/>
                </a:solidFill>
                <a:latin typeface="Arial"/>
              </a:rPr>
              <a:t>edi</a:t>
            </a:r>
            <a:r>
              <a:rPr b="0" lang="vi-VN" sz="1800" spc="-1" strike="noStrike">
                <a:solidFill>
                  <a:srgbClr val="000000"/>
                </a:solidFill>
                <a:latin typeface="Arial"/>
              </a:rPr>
              <a:t>t </a:t>
            </a:r>
            <a:r>
              <a:rPr b="0" lang="vi-VN" sz="1800" spc="-1" strike="noStrike">
                <a:solidFill>
                  <a:srgbClr val="000000"/>
                </a:solidFill>
                <a:latin typeface="Arial"/>
              </a:rPr>
              <a:t>the </a:t>
            </a:r>
            <a:r>
              <a:rPr b="0" lang="vi-VN" sz="1800" spc="-1" strike="noStrike">
                <a:solidFill>
                  <a:srgbClr val="000000"/>
                </a:solidFill>
                <a:latin typeface="Arial"/>
              </a:rPr>
              <a:t>titl</a:t>
            </a:r>
            <a:r>
              <a:rPr b="0" lang="vi-VN" sz="1800" spc="-1" strike="noStrike">
                <a:solidFill>
                  <a:srgbClr val="000000"/>
                </a:solidFill>
                <a:latin typeface="Arial"/>
              </a:rPr>
              <a:t>e </a:t>
            </a:r>
            <a:r>
              <a:rPr b="0" lang="vi-VN" sz="1800" spc="-1" strike="noStrike">
                <a:solidFill>
                  <a:srgbClr val="000000"/>
                </a:solidFill>
                <a:latin typeface="Arial"/>
              </a:rPr>
              <a:t>tex</a:t>
            </a:r>
            <a:r>
              <a:rPr b="0" lang="vi-VN" sz="1800" spc="-1" strike="noStrike">
                <a:solidFill>
                  <a:srgbClr val="000000"/>
                </a:solidFill>
                <a:latin typeface="Arial"/>
              </a:rPr>
              <a:t>t </a:t>
            </a:r>
            <a:r>
              <a:rPr b="0" lang="vi-VN" sz="1800" spc="-1" strike="noStrike">
                <a:solidFill>
                  <a:srgbClr val="000000"/>
                </a:solidFill>
                <a:latin typeface="Arial"/>
              </a:rPr>
              <a:t>for</a:t>
            </a:r>
            <a:r>
              <a:rPr b="0" lang="vi-VN" sz="1800" spc="-1" strike="noStrike">
                <a:solidFill>
                  <a:srgbClr val="000000"/>
                </a:solidFill>
                <a:latin typeface="Arial"/>
              </a:rPr>
              <a:t>ma</a:t>
            </a:r>
            <a:r>
              <a:rPr b="0" lang="vi-VN" sz="1800" spc="-1" strike="noStrike">
                <a:solidFill>
                  <a:srgbClr val="000000"/>
                </a:solidFill>
                <a:latin typeface="Arial"/>
              </a:rPr>
              <a:t>t</a:t>
            </a:r>
            <a:endParaRPr b="0" lang="vi-VN" sz="1800" spc="-1" strike="noStrike">
              <a:solidFill>
                <a:srgbClr val="000000"/>
              </a:solidFill>
              <a:latin typeface="Arial"/>
            </a:endParaRPr>
          </a:p>
        </p:txBody>
      </p:sp>
      <p:sp>
        <p:nvSpPr>
          <p:cNvPr id="34" name="PlaceHolder 2"/>
          <p:cNvSpPr>
            <a:spLocks noGrp="1"/>
          </p:cNvSpPr>
          <p:nvPr>
            <p:ph type="body"/>
          </p:nvPr>
        </p:nvSpPr>
        <p:spPr>
          <a:xfrm>
            <a:off x="457200" y="1935000"/>
            <a:ext cx="8228880" cy="438876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vi-VN" sz="1800" spc="-1" strike="noStrike">
                <a:solidFill>
                  <a:srgbClr val="000000"/>
                </a:solidFill>
                <a:latin typeface="Arial"/>
              </a:rPr>
              <a:t>Click to edit the outline text format</a:t>
            </a:r>
            <a:endParaRPr b="0" lang="vi-V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vi-VN" sz="1800" spc="-1" strike="noStrike">
                <a:solidFill>
                  <a:srgbClr val="000000"/>
                </a:solidFill>
                <a:latin typeface="Arial"/>
              </a:rPr>
              <a:t>Second Outline Level</a:t>
            </a:r>
            <a:endParaRPr b="0" lang="vi-V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vi-VN" sz="1800" spc="-1" strike="noStrike">
                <a:solidFill>
                  <a:srgbClr val="000000"/>
                </a:solidFill>
                <a:latin typeface="Arial"/>
              </a:rPr>
              <a:t>Third Outline Level</a:t>
            </a:r>
            <a:endParaRPr b="0" lang="vi-V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vi-VN" sz="1800" spc="-1" strike="noStrike">
                <a:solidFill>
                  <a:srgbClr val="000000"/>
                </a:solidFill>
                <a:latin typeface="Arial"/>
              </a:rPr>
              <a:t>Fourth Outline Level</a:t>
            </a:r>
            <a:endParaRPr b="0" lang="vi-V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vi-VN" sz="1800" spc="-1" strike="noStrike">
                <a:solidFill>
                  <a:srgbClr val="000000"/>
                </a:solidFill>
                <a:latin typeface="Arial"/>
              </a:rPr>
              <a:t>Fifth Outline Level</a:t>
            </a:r>
            <a:endParaRPr b="0" lang="vi-V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vi-VN" sz="1800" spc="-1" strike="noStrike">
                <a:solidFill>
                  <a:srgbClr val="000000"/>
                </a:solidFill>
                <a:latin typeface="Arial"/>
              </a:rPr>
              <a:t>Sixth Outline Level</a:t>
            </a:r>
            <a:endParaRPr b="0" lang="vi-V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vi-VN" sz="1800" spc="-1" strike="noStrike">
                <a:solidFill>
                  <a:srgbClr val="000000"/>
                </a:solidFill>
                <a:latin typeface="Arial"/>
              </a:rPr>
              <a:t>Seventh Outline Level</a:t>
            </a:r>
            <a:endParaRPr b="0" lang="vi-VN" sz="1800" spc="-1" strike="noStrike">
              <a:solidFill>
                <a:srgbClr val="000000"/>
              </a:solidFill>
              <a:latin typeface="Arial"/>
            </a:endParaRPr>
          </a:p>
        </p:txBody>
      </p:sp>
      <p:sp>
        <p:nvSpPr>
          <p:cNvPr id="35" name="PlaceHolder 3"/>
          <p:cNvSpPr>
            <a:spLocks noGrp="1"/>
          </p:cNvSpPr>
          <p:nvPr>
            <p:ph type="ftr" idx="1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36" name="PlaceHolder 4"/>
          <p:cNvSpPr>
            <a:spLocks noGrp="1"/>
          </p:cNvSpPr>
          <p:nvPr>
            <p:ph type="sldNum" idx="1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27AAF80F-2C47-4CCE-A542-3D1353501972}"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37" name="PlaceHolder 5"/>
          <p:cNvSpPr>
            <a:spLocks noGrp="1"/>
          </p:cNvSpPr>
          <p:nvPr>
            <p:ph type="dt" idx="12"/>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40"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41"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42" name="Group 1"/>
          <p:cNvGrpSpPr/>
          <p:nvPr/>
        </p:nvGrpSpPr>
        <p:grpSpPr>
          <a:xfrm>
            <a:off x="-28800" y="-15840"/>
            <a:ext cx="9196920" cy="1084320"/>
            <a:chOff x="-28800" y="-15840"/>
            <a:chExt cx="9196920" cy="1084320"/>
          </a:xfrm>
        </p:grpSpPr>
        <p:sp>
          <p:nvSpPr>
            <p:cNvPr id="43"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44"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45" name="PlaceHolder 1"/>
          <p:cNvSpPr>
            <a:spLocks noGrp="1"/>
          </p:cNvSpPr>
          <p:nvPr>
            <p:ph type="ftr" idx="1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46" name="PlaceHolder 2"/>
          <p:cNvSpPr>
            <a:spLocks noGrp="1"/>
          </p:cNvSpPr>
          <p:nvPr>
            <p:ph type="sldNum" idx="1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15514917-A91B-4727-A5F5-535036048FAF}"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47" name="PlaceHolder 3"/>
          <p:cNvSpPr>
            <a:spLocks noGrp="1"/>
          </p:cNvSpPr>
          <p:nvPr>
            <p:ph type="dt" idx="15"/>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48"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49"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50" name="Group 1"/>
          <p:cNvGrpSpPr/>
          <p:nvPr/>
        </p:nvGrpSpPr>
        <p:grpSpPr>
          <a:xfrm>
            <a:off x="-28800" y="-15840"/>
            <a:ext cx="9196920" cy="1084320"/>
            <a:chOff x="-28800" y="-15840"/>
            <a:chExt cx="9196920" cy="1084320"/>
          </a:xfrm>
        </p:grpSpPr>
        <p:sp>
          <p:nvSpPr>
            <p:cNvPr id="51"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52"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53" name="PlaceHolder 1"/>
          <p:cNvSpPr>
            <a:spLocks noGrp="1"/>
          </p:cNvSpPr>
          <p:nvPr>
            <p:ph type="title"/>
          </p:nvPr>
        </p:nvSpPr>
        <p:spPr>
          <a:xfrm>
            <a:off x="457200" y="704880"/>
            <a:ext cx="8228880" cy="1142280"/>
          </a:xfrm>
          <a:prstGeom prst="rect">
            <a:avLst/>
          </a:prstGeom>
          <a:noFill/>
          <a:ln w="0">
            <a:noFill/>
          </a:ln>
        </p:spPr>
        <p:txBody>
          <a:bodyPr numCol="1" spcCol="0" lIns="0" rIns="0" tIns="0" bIns="0" anchor="ctr">
            <a:noAutofit/>
          </a:bodyPr>
          <a:p>
            <a:pPr indent="0">
              <a:buNone/>
            </a:pPr>
            <a:r>
              <a:rPr b="0" lang="vi-VN" sz="1800" spc="-1" strike="noStrike">
                <a:solidFill>
                  <a:srgbClr val="000000"/>
                </a:solidFill>
                <a:latin typeface="Arial"/>
              </a:rPr>
              <a:t>Click to </a:t>
            </a:r>
            <a:r>
              <a:rPr b="0" lang="vi-VN" sz="1800" spc="-1" strike="noStrike">
                <a:solidFill>
                  <a:srgbClr val="000000"/>
                </a:solidFill>
                <a:latin typeface="Arial"/>
              </a:rPr>
              <a:t>edit the </a:t>
            </a:r>
            <a:r>
              <a:rPr b="0" lang="vi-VN" sz="1800" spc="-1" strike="noStrike">
                <a:solidFill>
                  <a:srgbClr val="000000"/>
                </a:solidFill>
                <a:latin typeface="Arial"/>
              </a:rPr>
              <a:t>title text </a:t>
            </a:r>
            <a:r>
              <a:rPr b="0" lang="vi-VN" sz="1800" spc="-1" strike="noStrike">
                <a:solidFill>
                  <a:srgbClr val="000000"/>
                </a:solidFill>
                <a:latin typeface="Arial"/>
              </a:rPr>
              <a:t>format</a:t>
            </a:r>
            <a:endParaRPr b="0" lang="vi-VN" sz="1800" spc="-1" strike="noStrike">
              <a:solidFill>
                <a:srgbClr val="000000"/>
              </a:solidFill>
              <a:latin typeface="Arial"/>
            </a:endParaRPr>
          </a:p>
        </p:txBody>
      </p:sp>
      <p:sp>
        <p:nvSpPr>
          <p:cNvPr id="54" name="PlaceHolder 2"/>
          <p:cNvSpPr>
            <a:spLocks noGrp="1"/>
          </p:cNvSpPr>
          <p:nvPr>
            <p:ph type="body"/>
          </p:nvPr>
        </p:nvSpPr>
        <p:spPr>
          <a:xfrm>
            <a:off x="457200" y="1935000"/>
            <a:ext cx="4015440" cy="438876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vi-VN" sz="1800" spc="-1" strike="noStrike">
                <a:solidFill>
                  <a:srgbClr val="000000"/>
                </a:solidFill>
                <a:latin typeface="Arial"/>
              </a:rPr>
              <a:t>Click to edit the outline text format</a:t>
            </a:r>
            <a:endParaRPr b="0" lang="vi-V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vi-VN" sz="1800" spc="-1" strike="noStrike">
                <a:solidFill>
                  <a:srgbClr val="000000"/>
                </a:solidFill>
                <a:latin typeface="Arial"/>
              </a:rPr>
              <a:t>Second Outline Level</a:t>
            </a:r>
            <a:endParaRPr b="0" lang="vi-V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vi-VN" sz="1800" spc="-1" strike="noStrike">
                <a:solidFill>
                  <a:srgbClr val="000000"/>
                </a:solidFill>
                <a:latin typeface="Arial"/>
              </a:rPr>
              <a:t>Third Outline Level</a:t>
            </a:r>
            <a:endParaRPr b="0" lang="vi-V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vi-VN" sz="1800" spc="-1" strike="noStrike">
                <a:solidFill>
                  <a:srgbClr val="000000"/>
                </a:solidFill>
                <a:latin typeface="Arial"/>
              </a:rPr>
              <a:t>Fourth Outline Level</a:t>
            </a:r>
            <a:endParaRPr b="0" lang="vi-V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vi-VN" sz="1800" spc="-1" strike="noStrike">
                <a:solidFill>
                  <a:srgbClr val="000000"/>
                </a:solidFill>
                <a:latin typeface="Arial"/>
              </a:rPr>
              <a:t>Fifth Outline Level</a:t>
            </a:r>
            <a:endParaRPr b="0" lang="vi-V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vi-VN" sz="1800" spc="-1" strike="noStrike">
                <a:solidFill>
                  <a:srgbClr val="000000"/>
                </a:solidFill>
                <a:latin typeface="Arial"/>
              </a:rPr>
              <a:t>Sixth Outline Level</a:t>
            </a:r>
            <a:endParaRPr b="0" lang="vi-V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vi-VN" sz="1800" spc="-1" strike="noStrike">
                <a:solidFill>
                  <a:srgbClr val="000000"/>
                </a:solidFill>
                <a:latin typeface="Arial"/>
              </a:rPr>
              <a:t>Seventh Outline Level</a:t>
            </a:r>
            <a:endParaRPr b="0" lang="vi-VN" sz="1800" spc="-1" strike="noStrike">
              <a:solidFill>
                <a:srgbClr val="000000"/>
              </a:solidFill>
              <a:latin typeface="Arial"/>
            </a:endParaRPr>
          </a:p>
        </p:txBody>
      </p:sp>
      <p:sp>
        <p:nvSpPr>
          <p:cNvPr id="55" name="PlaceHolder 3"/>
          <p:cNvSpPr>
            <a:spLocks noGrp="1"/>
          </p:cNvSpPr>
          <p:nvPr>
            <p:ph type="body"/>
          </p:nvPr>
        </p:nvSpPr>
        <p:spPr>
          <a:xfrm>
            <a:off x="4674240" y="1935000"/>
            <a:ext cx="4015440" cy="438876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vi-VN" sz="1800" spc="-1" strike="noStrike">
                <a:solidFill>
                  <a:srgbClr val="000000"/>
                </a:solidFill>
                <a:latin typeface="Arial"/>
              </a:rPr>
              <a:t>Click to edit the outline text format</a:t>
            </a:r>
            <a:endParaRPr b="0" lang="vi-V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vi-VN" sz="1800" spc="-1" strike="noStrike">
                <a:solidFill>
                  <a:srgbClr val="000000"/>
                </a:solidFill>
                <a:latin typeface="Arial"/>
              </a:rPr>
              <a:t>Second Outline Level</a:t>
            </a:r>
            <a:endParaRPr b="0" lang="vi-V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vi-VN" sz="1800" spc="-1" strike="noStrike">
                <a:solidFill>
                  <a:srgbClr val="000000"/>
                </a:solidFill>
                <a:latin typeface="Arial"/>
              </a:rPr>
              <a:t>Third Outline Level</a:t>
            </a:r>
            <a:endParaRPr b="0" lang="vi-V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vi-VN" sz="1800" spc="-1" strike="noStrike">
                <a:solidFill>
                  <a:srgbClr val="000000"/>
                </a:solidFill>
                <a:latin typeface="Arial"/>
              </a:rPr>
              <a:t>Fourth Outline Level</a:t>
            </a:r>
            <a:endParaRPr b="0" lang="vi-V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vi-VN" sz="1800" spc="-1" strike="noStrike">
                <a:solidFill>
                  <a:srgbClr val="000000"/>
                </a:solidFill>
                <a:latin typeface="Arial"/>
              </a:rPr>
              <a:t>Fifth Outline Level</a:t>
            </a:r>
            <a:endParaRPr b="0" lang="vi-V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vi-VN" sz="1800" spc="-1" strike="noStrike">
                <a:solidFill>
                  <a:srgbClr val="000000"/>
                </a:solidFill>
                <a:latin typeface="Arial"/>
              </a:rPr>
              <a:t>Sixth Outline Level</a:t>
            </a:r>
            <a:endParaRPr b="0" lang="vi-V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vi-VN" sz="1800" spc="-1" strike="noStrike">
                <a:solidFill>
                  <a:srgbClr val="000000"/>
                </a:solidFill>
                <a:latin typeface="Arial"/>
              </a:rPr>
              <a:t>Seventh Outline Level</a:t>
            </a:r>
            <a:endParaRPr b="0" lang="vi-VN" sz="1800" spc="-1" strike="noStrike">
              <a:solidFill>
                <a:srgbClr val="000000"/>
              </a:solidFill>
              <a:latin typeface="Arial"/>
            </a:endParaRPr>
          </a:p>
        </p:txBody>
      </p:sp>
      <p:sp>
        <p:nvSpPr>
          <p:cNvPr id="56" name="PlaceHolder 4"/>
          <p:cNvSpPr>
            <a:spLocks noGrp="1"/>
          </p:cNvSpPr>
          <p:nvPr>
            <p:ph type="ftr" idx="16"/>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57" name="PlaceHolder 5"/>
          <p:cNvSpPr>
            <a:spLocks noGrp="1"/>
          </p:cNvSpPr>
          <p:nvPr>
            <p:ph type="sldNum" idx="1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2E6C75FE-5FC3-4A31-BBEF-7DD8E564EC09}"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58" name="PlaceHolder 6"/>
          <p:cNvSpPr>
            <a:spLocks noGrp="1"/>
          </p:cNvSpPr>
          <p:nvPr>
            <p:ph type="dt" idx="18"/>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62"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63"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64" name="Group 1"/>
          <p:cNvGrpSpPr/>
          <p:nvPr/>
        </p:nvGrpSpPr>
        <p:grpSpPr>
          <a:xfrm>
            <a:off x="-28800" y="-15840"/>
            <a:ext cx="9196920" cy="1084320"/>
            <a:chOff x="-28800" y="-15840"/>
            <a:chExt cx="9196920" cy="1084320"/>
          </a:xfrm>
        </p:grpSpPr>
        <p:sp>
          <p:nvSpPr>
            <p:cNvPr id="65"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66"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67" name="PlaceHolder 1"/>
          <p:cNvSpPr>
            <a:spLocks noGrp="1"/>
          </p:cNvSpPr>
          <p:nvPr>
            <p:ph type="ftr" idx="1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68" name="PlaceHolder 2"/>
          <p:cNvSpPr>
            <a:spLocks noGrp="1"/>
          </p:cNvSpPr>
          <p:nvPr>
            <p:ph type="sldNum" idx="2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AA420CEE-BAB6-40BD-9294-8442A7C38AC9}"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69" name="PlaceHolder 3"/>
          <p:cNvSpPr>
            <a:spLocks noGrp="1"/>
          </p:cNvSpPr>
          <p:nvPr>
            <p:ph type="dt" idx="21"/>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70"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71"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72" name="Group 1"/>
          <p:cNvGrpSpPr/>
          <p:nvPr/>
        </p:nvGrpSpPr>
        <p:grpSpPr>
          <a:xfrm>
            <a:off x="-28800" y="-15840"/>
            <a:ext cx="9196920" cy="1084320"/>
            <a:chOff x="-28800" y="-15840"/>
            <a:chExt cx="9196920" cy="1084320"/>
          </a:xfrm>
        </p:grpSpPr>
        <p:sp>
          <p:nvSpPr>
            <p:cNvPr id="73"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74"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75" name="PlaceHolder 1"/>
          <p:cNvSpPr>
            <a:spLocks noGrp="1"/>
          </p:cNvSpPr>
          <p:nvPr>
            <p:ph type="title"/>
          </p:nvPr>
        </p:nvSpPr>
        <p:spPr>
          <a:xfrm>
            <a:off x="457200" y="704880"/>
            <a:ext cx="8228880" cy="1142280"/>
          </a:xfrm>
          <a:prstGeom prst="rect">
            <a:avLst/>
          </a:prstGeom>
          <a:noFill/>
          <a:ln w="0">
            <a:noFill/>
          </a:ln>
        </p:spPr>
        <p:txBody>
          <a:bodyPr numCol="1" spcCol="0" lIns="0" rIns="0" tIns="0" bIns="0" anchor="ctr">
            <a:noAutofit/>
          </a:bodyPr>
          <a:p>
            <a:pPr indent="0">
              <a:buNone/>
            </a:pPr>
            <a:r>
              <a:rPr b="0" lang="vi-VN" sz="1800" spc="-1" strike="noStrike">
                <a:solidFill>
                  <a:srgbClr val="000000"/>
                </a:solidFill>
                <a:latin typeface="Arial"/>
              </a:rPr>
              <a:t>Clic</a:t>
            </a:r>
            <a:r>
              <a:rPr b="0" lang="vi-VN" sz="1800" spc="-1" strike="noStrike">
                <a:solidFill>
                  <a:srgbClr val="000000"/>
                </a:solidFill>
                <a:latin typeface="Arial"/>
              </a:rPr>
              <a:t>k to </a:t>
            </a:r>
            <a:r>
              <a:rPr b="0" lang="vi-VN" sz="1800" spc="-1" strike="noStrike">
                <a:solidFill>
                  <a:srgbClr val="000000"/>
                </a:solidFill>
                <a:latin typeface="Arial"/>
              </a:rPr>
              <a:t>edit </a:t>
            </a:r>
            <a:r>
              <a:rPr b="0" lang="vi-VN" sz="1800" spc="-1" strike="noStrike">
                <a:solidFill>
                  <a:srgbClr val="000000"/>
                </a:solidFill>
                <a:latin typeface="Arial"/>
              </a:rPr>
              <a:t>the </a:t>
            </a:r>
            <a:r>
              <a:rPr b="0" lang="vi-VN" sz="1800" spc="-1" strike="noStrike">
                <a:solidFill>
                  <a:srgbClr val="000000"/>
                </a:solidFill>
                <a:latin typeface="Arial"/>
              </a:rPr>
              <a:t>title </a:t>
            </a:r>
            <a:r>
              <a:rPr b="0" lang="vi-VN" sz="1800" spc="-1" strike="noStrike">
                <a:solidFill>
                  <a:srgbClr val="000000"/>
                </a:solidFill>
                <a:latin typeface="Arial"/>
              </a:rPr>
              <a:t>text </a:t>
            </a:r>
            <a:r>
              <a:rPr b="0" lang="vi-VN" sz="1800" spc="-1" strike="noStrike">
                <a:solidFill>
                  <a:srgbClr val="000000"/>
                </a:solidFill>
                <a:latin typeface="Arial"/>
              </a:rPr>
              <a:t>for</a:t>
            </a:r>
            <a:r>
              <a:rPr b="0" lang="vi-VN" sz="1800" spc="-1" strike="noStrike">
                <a:solidFill>
                  <a:srgbClr val="000000"/>
                </a:solidFill>
                <a:latin typeface="Arial"/>
              </a:rPr>
              <a:t>ma</a:t>
            </a:r>
            <a:r>
              <a:rPr b="0" lang="vi-VN" sz="1800" spc="-1" strike="noStrike">
                <a:solidFill>
                  <a:srgbClr val="000000"/>
                </a:solidFill>
                <a:latin typeface="Arial"/>
              </a:rPr>
              <a:t>t</a:t>
            </a:r>
            <a:endParaRPr b="0" lang="vi-VN" sz="1800" spc="-1" strike="noStrike">
              <a:solidFill>
                <a:srgbClr val="000000"/>
              </a:solidFill>
              <a:latin typeface="Arial"/>
            </a:endParaRPr>
          </a:p>
        </p:txBody>
      </p:sp>
      <p:sp>
        <p:nvSpPr>
          <p:cNvPr id="76" name="PlaceHolder 2"/>
          <p:cNvSpPr>
            <a:spLocks noGrp="1"/>
          </p:cNvSpPr>
          <p:nvPr>
            <p:ph type="ftr" idx="2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77" name="PlaceHolder 3"/>
          <p:cNvSpPr>
            <a:spLocks noGrp="1"/>
          </p:cNvSpPr>
          <p:nvPr>
            <p:ph type="sldNum" idx="2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F8087D72-947A-4EEF-9AF3-C641BE2A16A8}"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78" name="PlaceHolder 4"/>
          <p:cNvSpPr>
            <a:spLocks noGrp="1"/>
          </p:cNvSpPr>
          <p:nvPr>
            <p:ph type="dt" idx="24"/>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80"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81"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82" name="Group 1"/>
          <p:cNvGrpSpPr/>
          <p:nvPr/>
        </p:nvGrpSpPr>
        <p:grpSpPr>
          <a:xfrm>
            <a:off x="-28800" y="-15840"/>
            <a:ext cx="9196920" cy="1084320"/>
            <a:chOff x="-28800" y="-15840"/>
            <a:chExt cx="9196920" cy="1084320"/>
          </a:xfrm>
        </p:grpSpPr>
        <p:sp>
          <p:nvSpPr>
            <p:cNvPr id="83"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84"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85" name="PlaceHolder 1"/>
          <p:cNvSpPr>
            <a:spLocks noGrp="1"/>
          </p:cNvSpPr>
          <p:nvPr>
            <p:ph type="ftr" idx="2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86" name="PlaceHolder 2"/>
          <p:cNvSpPr>
            <a:spLocks noGrp="1"/>
          </p:cNvSpPr>
          <p:nvPr>
            <p:ph type="sldNum" idx="2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0725C2B8-C17D-4A66-9BC1-74B90214F810}"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87" name="PlaceHolder 3"/>
          <p:cNvSpPr>
            <a:spLocks noGrp="1"/>
          </p:cNvSpPr>
          <p:nvPr>
            <p:ph type="dt" idx="27"/>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88" name="Freeform 6"/>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89" name="Freeform 7"/>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90" name="Group 1"/>
          <p:cNvGrpSpPr/>
          <p:nvPr/>
        </p:nvGrpSpPr>
        <p:grpSpPr>
          <a:xfrm>
            <a:off x="-28800" y="-15840"/>
            <a:ext cx="9196920" cy="1084320"/>
            <a:chOff x="-28800" y="-15840"/>
            <a:chExt cx="9196920" cy="1084320"/>
          </a:xfrm>
        </p:grpSpPr>
        <p:sp>
          <p:nvSpPr>
            <p:cNvPr id="91"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92"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93" name="PlaceHolder 1"/>
          <p:cNvSpPr>
            <a:spLocks noGrp="1"/>
          </p:cNvSpPr>
          <p:nvPr>
            <p:ph type="ftr" idx="2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94" name="PlaceHolder 2"/>
          <p:cNvSpPr>
            <a:spLocks noGrp="1"/>
          </p:cNvSpPr>
          <p:nvPr>
            <p:ph type="sldNum" idx="2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76B07443-D7A8-42FC-861D-BECCCA930065}"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95" name="PlaceHolder 3"/>
          <p:cNvSpPr>
            <a:spLocks noGrp="1"/>
          </p:cNvSpPr>
          <p:nvPr>
            <p:ph type="dt" idx="30"/>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64571" sy="64571" algn="tl"/>
        </a:blipFill>
      </p:bgPr>
    </p:bg>
    <p:spTree>
      <p:nvGrpSpPr>
        <p:cNvPr id="1" name=""/>
        <p:cNvGrpSpPr/>
        <p:nvPr/>
      </p:nvGrpSpPr>
      <p:grpSpPr>
        <a:xfrm>
          <a:off x="0" y="0"/>
          <a:ext cx="0" cy="0"/>
          <a:chOff x="0" y="0"/>
          <a:chExt cx="0" cy="0"/>
        </a:xfrm>
      </p:grpSpPr>
      <p:sp>
        <p:nvSpPr>
          <p:cNvPr id="96" name="Freeform 6" hidden="1"/>
          <p:cNvSpPr/>
          <p:nvPr/>
        </p:nvSpPr>
        <p:spPr>
          <a:xfrm>
            <a:off x="-9360" y="-7920"/>
            <a:ext cx="9162360" cy="1040760"/>
          </a:xfrm>
          <a:custGeom>
            <a:avLst/>
            <a:gdLst>
              <a:gd name="textAreaLeft" fmla="*/ 0 w 9162360"/>
              <a:gd name="textAreaRight" fmla="*/ 9162720 w 9162360"/>
              <a:gd name="textAreaTop" fmla="*/ 0 h 1040760"/>
              <a:gd name="textAreaBottom" fmla="*/ 104112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97" name="Freeform 7" hidden="1"/>
          <p:cNvSpPr/>
          <p:nvPr/>
        </p:nvSpPr>
        <p:spPr>
          <a:xfrm>
            <a:off x="4381560" y="-7920"/>
            <a:ext cx="4761720" cy="637560"/>
          </a:xfrm>
          <a:custGeom>
            <a:avLst/>
            <a:gdLst>
              <a:gd name="textAreaLeft" fmla="*/ 0 w 4761720"/>
              <a:gd name="textAreaRight" fmla="*/ 4762080 w 4761720"/>
              <a:gd name="textAreaTop" fmla="*/ 0 h 637560"/>
              <a:gd name="textAreaBottom" fmla="*/ 63792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grpSp>
        <p:nvGrpSpPr>
          <p:cNvPr id="98" name="Group 1"/>
          <p:cNvGrpSpPr/>
          <p:nvPr/>
        </p:nvGrpSpPr>
        <p:grpSpPr>
          <a:xfrm>
            <a:off x="-28800" y="-15840"/>
            <a:ext cx="9196920" cy="1084320"/>
            <a:chOff x="-28800" y="-15840"/>
            <a:chExt cx="9196920" cy="1084320"/>
          </a:xfrm>
        </p:grpSpPr>
        <p:sp>
          <p:nvSpPr>
            <p:cNvPr id="99" name="Freeform 11"/>
            <p:cNvSpPr/>
            <p:nvPr/>
          </p:nvSpPr>
          <p:spPr>
            <a:xfrm rot="21435600">
              <a:off x="-18360" y="202680"/>
              <a:ext cx="9162360" cy="646920"/>
            </a:xfrm>
            <a:custGeom>
              <a:avLst/>
              <a:gdLst>
                <a:gd name="textAreaLeft" fmla="*/ 0 w 9162360"/>
                <a:gd name="textAreaRight" fmla="*/ 9162720 w 9162360"/>
                <a:gd name="textAreaTop" fmla="*/ 0 h 646920"/>
                <a:gd name="textAreaBottom" fmla="*/ 647280 h 646920"/>
              </a:gdLst>
              <a:ahLst/>
              <a:rect l="textAreaLeft" t="textAreaTop" r="textAreaRight" b="textAreaBottom"/>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sp>
          <p:nvSpPr>
            <p:cNvPr id="100" name="Freeform 12"/>
            <p:cNvSpPr/>
            <p:nvPr/>
          </p:nvSpPr>
          <p:spPr>
            <a:xfrm rot="21435600">
              <a:off x="-14040" y="275760"/>
              <a:ext cx="9174960" cy="528480"/>
            </a:xfrm>
            <a:custGeom>
              <a:avLst/>
              <a:gdLst>
                <a:gd name="textAreaLeft" fmla="*/ 0 w 9174960"/>
                <a:gd name="textAreaRight" fmla="*/ 9175320 w 9174960"/>
                <a:gd name="textAreaTop" fmla="*/ 0 h 528480"/>
                <a:gd name="textAreaBottom" fmla="*/ 528840 h 528480"/>
              </a:gdLst>
              <a:ahLst/>
              <a:rect l="textAreaLeft" t="textAreaTop" r="textAreaRight" b="textAreaBottom"/>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txBody>
            <a:bodyPr lIns="90000" rIns="90000" tIns="45000" bIns="45000" anchor="t">
              <a:noAutofit/>
            </a:bodyPr>
            <a:p>
              <a:pPr algn="ctr">
                <a:lnSpc>
                  <a:spcPct val="100000"/>
                </a:lnSpc>
                <a:spcBef>
                  <a:spcPts val="601"/>
                </a:spcBef>
              </a:pPr>
              <a:endParaRPr b="0" lang="en-US" sz="1800" spc="-1" strike="noStrike">
                <a:solidFill>
                  <a:schemeClr val="dk1"/>
                </a:solidFill>
                <a:latin typeface="Tahoma"/>
              </a:endParaRPr>
            </a:p>
          </p:txBody>
        </p:sp>
      </p:grpSp>
      <p:sp>
        <p:nvSpPr>
          <p:cNvPr id="101" name="Snip and Round Single Corner Rectangle 4"/>
          <p:cNvSpPr/>
          <p:nvPr/>
        </p:nvSpPr>
        <p:spPr>
          <a:xfrm flipV="1" rot="420000">
            <a:off x="3164760" y="1107720"/>
            <a:ext cx="5257080" cy="4114080"/>
          </a:xfrm>
          <a:prstGeom prst="snipRoundRect">
            <a:avLst>
              <a:gd name="adj1" fmla="val 0"/>
              <a:gd name="adj2" fmla="val 3646"/>
            </a:avLst>
          </a:prstGeom>
          <a:solidFill>
            <a:srgbClr val="ffffff"/>
          </a:solidFill>
          <a:ln cap="rnd" w="3175">
            <a:solidFill>
              <a:srgbClr val="c0c0c0"/>
            </a:solidFill>
            <a:round/>
          </a:ln>
          <a:effectLst>
            <a:outerShdw algn="tl" blurRad="63360" dir="7494149" dist="37750" kx="100000" rotWithShape="0" sx="98500" sy="100080">
              <a:srgbClr val="000000">
                <a:alpha val="25000"/>
              </a:srgbClr>
            </a:outerShdw>
          </a:effectLst>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en-US" sz="1800" spc="-1" strike="noStrike">
              <a:solidFill>
                <a:schemeClr val="lt1"/>
              </a:solidFill>
              <a:latin typeface="Constantia"/>
            </a:endParaRPr>
          </a:p>
        </p:txBody>
      </p:sp>
      <p:sp>
        <p:nvSpPr>
          <p:cNvPr id="102" name="Right Triangle 5"/>
          <p:cNvSpPr/>
          <p:nvPr/>
        </p:nvSpPr>
        <p:spPr>
          <a:xfrm flipV="1" rot="420000">
            <a:off x="8003520" y="5358240"/>
            <a:ext cx="154800" cy="154440"/>
          </a:xfrm>
          <a:prstGeom prst="rtTriangle">
            <a:avLst/>
          </a:prstGeom>
          <a:solidFill>
            <a:srgbClr val="ffffff"/>
          </a:solidFill>
          <a:ln w="12700">
            <a:solidFill>
              <a:srgbClr val="ffffff"/>
            </a:solidFill>
            <a:bevel/>
          </a:ln>
          <a:effectLst>
            <a:outerShdw algn="tl" blurRad="19800" dir="12881710" dist="5692" rotWithShape="0">
              <a:srgbClr val="000000">
                <a:alpha val="47000"/>
              </a:srgbClr>
            </a:outerShdw>
          </a:effectLst>
        </p:spPr>
        <p:style>
          <a:lnRef idx="2">
            <a:schemeClr val="accent1"/>
          </a:lnRef>
          <a:fillRef idx="1">
            <a:schemeClr val="accent1"/>
          </a:fillRef>
          <a:effectRef idx="0">
            <a:schemeClr val="accent1"/>
          </a:effectRef>
          <a:fontRef idx="minor"/>
        </p:style>
        <p:txBody>
          <a:bodyPr lIns="90000" rIns="90000" tIns="6840" bIns="6840" anchor="ctr">
            <a:noAutofit/>
          </a:bodyPr>
          <a:p>
            <a:pPr algn="ctr">
              <a:lnSpc>
                <a:spcPct val="100000"/>
              </a:lnSpc>
              <a:spcBef>
                <a:spcPts val="601"/>
              </a:spcBef>
            </a:pPr>
            <a:endParaRPr b="0" lang="en-US" sz="1800" spc="-1" strike="noStrike">
              <a:solidFill>
                <a:schemeClr val="lt1"/>
              </a:solidFill>
              <a:latin typeface="Constantia"/>
            </a:endParaRPr>
          </a:p>
        </p:txBody>
      </p:sp>
      <p:sp>
        <p:nvSpPr>
          <p:cNvPr id="103" name="Freeform 6"/>
          <p:cNvSpPr/>
          <p:nvPr/>
        </p:nvSpPr>
        <p:spPr>
          <a:xfrm flipV="1">
            <a:off x="-8640" y="5815080"/>
            <a:ext cx="9162360" cy="1040760"/>
          </a:xfrm>
          <a:custGeom>
            <a:avLst/>
            <a:gdLst>
              <a:gd name="textAreaLeft" fmla="*/ 0 w 9162360"/>
              <a:gd name="textAreaRight" fmla="*/ 9162720 w 9162360"/>
              <a:gd name="textAreaTop" fmla="*/ -360 h 1040760"/>
              <a:gd name="textAreaBottom" fmla="*/ 1040760 h 1040760"/>
            </a:gdLst>
            <a:ahLst/>
            <a:rect l="textAreaLeft" t="textAreaTop" r="textAreaRight" b="textAreaBottom"/>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00"/>
                </a:srgbClr>
              </a:gs>
              <a:gs pos="100000">
                <a:srgbClr val="00c4cd">
                  <a:alpha val="5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104" name="Freeform 7"/>
          <p:cNvSpPr/>
          <p:nvPr/>
        </p:nvSpPr>
        <p:spPr>
          <a:xfrm flipV="1">
            <a:off x="4381560" y="6219000"/>
            <a:ext cx="4761720" cy="637560"/>
          </a:xfrm>
          <a:custGeom>
            <a:avLst/>
            <a:gdLst>
              <a:gd name="textAreaLeft" fmla="*/ 0 w 4761720"/>
              <a:gd name="textAreaRight" fmla="*/ 4762080 w 4761720"/>
              <a:gd name="textAreaTop" fmla="*/ -360 h 637560"/>
              <a:gd name="textAreaBottom" fmla="*/ 637560 h 637560"/>
            </a:gdLst>
            <a:ahLst/>
            <a:rect l="textAreaLeft" t="textAreaTop" r="textAreaRight" b="textAreaBottom"/>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a0a8">
                  <a:alpha val="30000"/>
                </a:srgbClr>
              </a:gs>
              <a:gs pos="80000">
                <a:srgbClr val="008abf">
                  <a:alpha val="45000"/>
                </a:srgbClr>
              </a:gs>
            </a:gsLst>
            <a:lin ang="5400000"/>
          </a:gradFill>
          <a:ln w="9525">
            <a:noFill/>
          </a:ln>
        </p:spPr>
        <p:style>
          <a:lnRef idx="0"/>
          <a:fillRef idx="0"/>
          <a:effectRef idx="0"/>
          <a:fontRef idx="minor"/>
        </p:style>
        <p:txBody>
          <a:bodyPr lIns="90000" rIns="90000" tIns="45000" bIns="45000" anchor="t">
            <a:noAutofit/>
          </a:bodyPr>
          <a:p>
            <a:pPr>
              <a:lnSpc>
                <a:spcPct val="100000"/>
              </a:lnSpc>
              <a:spcBef>
                <a:spcPts val="601"/>
              </a:spcBef>
            </a:pPr>
            <a:endParaRPr b="0" lang="en-US" sz="1800" spc="-1" strike="noStrike">
              <a:solidFill>
                <a:schemeClr val="dk1"/>
              </a:solidFill>
              <a:latin typeface="Constantia"/>
            </a:endParaRPr>
          </a:p>
        </p:txBody>
      </p:sp>
      <p:sp>
        <p:nvSpPr>
          <p:cNvPr id="105" name="PlaceHolder 1"/>
          <p:cNvSpPr>
            <a:spLocks noGrp="1"/>
          </p:cNvSpPr>
          <p:nvPr>
            <p:ph type="ftr" idx="3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&lt;footer&gt;</a:t>
            </a:r>
            <a:endParaRPr b="0" lang="vi-VN" sz="1200" spc="-1" strike="noStrike">
              <a:solidFill>
                <a:srgbClr val="000000"/>
              </a:solidFill>
              <a:latin typeface="Times New Roman"/>
            </a:endParaRPr>
          </a:p>
        </p:txBody>
      </p:sp>
      <p:sp>
        <p:nvSpPr>
          <p:cNvPr id="106" name="PlaceHolder 2"/>
          <p:cNvSpPr>
            <a:spLocks noGrp="1"/>
          </p:cNvSpPr>
          <p:nvPr>
            <p:ph type="sldNum" idx="32"/>
          </p:nvPr>
        </p:nvSpPr>
        <p:spPr>
          <a:xfrm>
            <a:off x="8077320" y="6356520"/>
            <a:ext cx="60876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87FA869C-EF8E-4609-9899-9A7D169E9061}"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107" name="PlaceHolder 3"/>
          <p:cNvSpPr>
            <a:spLocks noGrp="1"/>
          </p:cNvSpPr>
          <p:nvPr>
            <p:ph type="dt" idx="33"/>
          </p:nvPr>
        </p:nvSpPr>
        <p:spPr>
          <a:xfrm>
            <a:off x="457200" y="6356520"/>
            <a:ext cx="2133000" cy="364320"/>
          </a:xfrm>
          <a:prstGeom prst="rect">
            <a:avLst/>
          </a:prstGeom>
          <a:noFill/>
          <a:ln w="0">
            <a:noFill/>
          </a:ln>
        </p:spPr>
        <p:txBody>
          <a:bodyPr lIns="0" rIns="0" tIns="0" bIns="0" anchor="b">
            <a:noAutofit/>
          </a:bodyPr>
          <a:lstStyle>
            <a:lvl1pPr indent="0">
              <a:buNone/>
              <a:defRPr b="0" lang="vi-VN" sz="1400" spc="-1" strike="noStrike">
                <a:solidFill>
                  <a:srgbClr val="000000"/>
                </a:solidFill>
                <a:latin typeface="Times New Roman"/>
              </a:defRPr>
            </a:lvl1pPr>
          </a:lstStyle>
          <a:p>
            <a:pPr indent="0">
              <a:buNone/>
            </a:pPr>
            <a:r>
              <a:rPr b="0" lang="vi-VN" sz="1400" spc="-1" strike="noStrike">
                <a:solidFill>
                  <a:srgbClr val="000000"/>
                </a:solidFill>
                <a:latin typeface="Times New Roman"/>
              </a:rPr>
              <a:t>&lt;date/time&gt;</a:t>
            </a:r>
            <a:endParaRPr b="0" lang="vi-V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4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 Target="slide50.xml"/><Relationship Id="rId2" Type="http://schemas.openxmlformats.org/officeDocument/2006/relationships/slide" Target="slide52.xml"/><Relationship Id="rId3" Type="http://schemas.openxmlformats.org/officeDocument/2006/relationships/slide" Target="slide52.xml"/><Relationship Id="rId4" Type="http://schemas.openxmlformats.org/officeDocument/2006/relationships/slideLayout" Target="../slideLayouts/slideLayout4.xml"/><Relationship Id="rId5"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5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609480"/>
            <a:ext cx="7238160" cy="913680"/>
          </a:xfrm>
          <a:prstGeom prst="rect">
            <a:avLst/>
          </a:prstGeom>
          <a:noFill/>
          <a:ln w="9360">
            <a:noFill/>
          </a:ln>
        </p:spPr>
        <p:txBody>
          <a:bodyPr numCol="1" spcCol="0" lIns="0" rIns="18360" tIns="0" bIns="0" anchor="b">
            <a:noAutofit/>
          </a:bodyPr>
          <a:p>
            <a:pPr indent="0" algn="ctr">
              <a:lnSpc>
                <a:spcPct val="100000"/>
              </a:lnSpc>
              <a:buNone/>
              <a:tabLst>
                <a:tab algn="l" pos="0"/>
              </a:tabLst>
            </a:pPr>
            <a:r>
              <a:rPr b="1" lang="en-US" sz="4400" spc="-1" strike="noStrike">
                <a:solidFill>
                  <a:schemeClr val="accent3">
                    <a:tint val="90000"/>
                  </a:schemeClr>
                </a:solidFill>
                <a:latin typeface="Calibri"/>
              </a:rPr>
              <a:t>C</a:t>
            </a:r>
            <a:r>
              <a:rPr b="1" lang="en-US" sz="4400" spc="-1" strike="noStrike">
                <a:solidFill>
                  <a:schemeClr val="accent3">
                    <a:tint val="90000"/>
                  </a:schemeClr>
                </a:solidFill>
                <a:latin typeface="Calibri"/>
              </a:rPr>
              <a:t>h</a:t>
            </a:r>
            <a:r>
              <a:rPr b="1" lang="en-US" sz="4400" spc="-1" strike="noStrike">
                <a:solidFill>
                  <a:schemeClr val="accent3">
                    <a:tint val="90000"/>
                  </a:schemeClr>
                </a:solidFill>
                <a:latin typeface="Calibri"/>
              </a:rPr>
              <a:t>ư</a:t>
            </a:r>
            <a:r>
              <a:rPr b="1" lang="en-US" sz="4400" spc="-1" strike="noStrike">
                <a:solidFill>
                  <a:schemeClr val="accent3">
                    <a:tint val="90000"/>
                  </a:schemeClr>
                </a:solidFill>
                <a:latin typeface="Calibri"/>
              </a:rPr>
              <a:t>ơ</a:t>
            </a:r>
            <a:r>
              <a:rPr b="1" lang="en-US" sz="4400" spc="-1" strike="noStrike">
                <a:solidFill>
                  <a:schemeClr val="accent3">
                    <a:tint val="90000"/>
                  </a:schemeClr>
                </a:solidFill>
                <a:latin typeface="Calibri"/>
              </a:rPr>
              <a:t>n</a:t>
            </a:r>
            <a:r>
              <a:rPr b="1" lang="en-US" sz="4400" spc="-1" strike="noStrike">
                <a:solidFill>
                  <a:schemeClr val="accent3">
                    <a:tint val="90000"/>
                  </a:schemeClr>
                </a:solidFill>
                <a:latin typeface="Calibri"/>
              </a:rPr>
              <a:t>g </a:t>
            </a:r>
            <a:r>
              <a:rPr b="1" lang="en-US" sz="4400" spc="-1" strike="noStrike">
                <a:solidFill>
                  <a:schemeClr val="accent3">
                    <a:tint val="90000"/>
                  </a:schemeClr>
                </a:solidFill>
                <a:latin typeface="Calibri"/>
              </a:rPr>
              <a:t>2</a:t>
            </a:r>
            <a:endParaRPr b="0" lang="vi-VN" sz="4400" spc="-1" strike="noStrike">
              <a:solidFill>
                <a:srgbClr val="000000"/>
              </a:solidFill>
              <a:latin typeface="Arial"/>
            </a:endParaRPr>
          </a:p>
        </p:txBody>
      </p:sp>
      <p:sp>
        <p:nvSpPr>
          <p:cNvPr id="115" name="Rectangle 5"/>
          <p:cNvSpPr/>
          <p:nvPr/>
        </p:nvSpPr>
        <p:spPr>
          <a:xfrm>
            <a:off x="609480" y="1828800"/>
            <a:ext cx="7619400" cy="1675800"/>
          </a:xfrm>
          <a:prstGeom prst="rect">
            <a:avLst/>
          </a:prstGeom>
          <a:noFill/>
          <a:ln w="9525">
            <a:noFill/>
          </a:ln>
        </p:spPr>
        <p:style>
          <a:lnRef idx="0"/>
          <a:fillRef idx="0"/>
          <a:effectRef idx="0"/>
          <a:fontRef idx="minor"/>
        </p:style>
        <p:txBody>
          <a:bodyPr lIns="90000" rIns="90000" tIns="45000" bIns="45000" anchor="t">
            <a:noAutofit/>
          </a:bodyPr>
          <a:p>
            <a:pPr algn="ctr">
              <a:lnSpc>
                <a:spcPct val="100000"/>
              </a:lnSpc>
            </a:pPr>
            <a:r>
              <a:rPr b="0" lang="en-US" sz="3600" spc="-1" strike="noStrike">
                <a:solidFill>
                  <a:schemeClr val="dk1"/>
                </a:solidFill>
                <a:latin typeface="Verdana"/>
              </a:rPr>
              <a:t>Mô hình thực thể - liên kết</a:t>
            </a:r>
            <a:endParaRPr b="0" lang="vi-VN" sz="3600" spc="-1" strike="noStrike">
              <a:solidFill>
                <a:srgbClr val="000000"/>
              </a:solidFill>
              <a:latin typeface="Arial"/>
            </a:endParaRPr>
          </a:p>
          <a:p>
            <a:pPr algn="ctr">
              <a:lnSpc>
                <a:spcPct val="100000"/>
              </a:lnSpc>
            </a:pPr>
            <a:r>
              <a:rPr b="0" lang="en-US" sz="3600" spc="-1" strike="noStrike">
                <a:solidFill>
                  <a:schemeClr val="dk1"/>
                </a:solidFill>
                <a:latin typeface="Verdana"/>
              </a:rPr>
              <a:t>(Entity-Relationship)</a:t>
            </a:r>
            <a:endParaRPr b="0" lang="vi-VN" sz="3600" spc="-1" strike="noStrike">
              <a:solidFill>
                <a:srgbClr val="000000"/>
              </a:solidFill>
              <a:latin typeface="Arial"/>
            </a:endParaRPr>
          </a:p>
          <a:p>
            <a:pPr algn="ctr">
              <a:lnSpc>
                <a:spcPct val="100000"/>
              </a:lnSpc>
            </a:pPr>
            <a:endParaRPr b="0" lang="vi-VN" sz="4400" spc="-1" strike="noStrike">
              <a:solidFill>
                <a:srgbClr val="000000"/>
              </a:solidFill>
              <a:latin typeface="Arial"/>
            </a:endParaRPr>
          </a:p>
        </p:txBody>
      </p:sp>
      <p:sp>
        <p:nvSpPr>
          <p:cNvPr id="116" name="Rectangle 7"/>
          <p:cNvSpPr/>
          <p:nvPr/>
        </p:nvSpPr>
        <p:spPr>
          <a:xfrm>
            <a:off x="838080" y="3352680"/>
            <a:ext cx="7771680" cy="3123360"/>
          </a:xfrm>
          <a:prstGeom prst="rect">
            <a:avLst/>
          </a:prstGeom>
          <a:noFill/>
          <a:ln w="9525">
            <a:noFill/>
          </a:ln>
        </p:spPr>
        <p:style>
          <a:lnRef idx="0"/>
          <a:fillRef idx="0"/>
          <a:effectRef idx="0"/>
          <a:fontRef idx="minor"/>
        </p:style>
        <p:txBody>
          <a:bodyPr lIns="90000" rIns="90000" tIns="45000" bIns="45000" anchor="t">
            <a:noAutofit/>
          </a:bodyPr>
          <a:p>
            <a:pPr marL="514440" indent="-514440">
              <a:lnSpc>
                <a:spcPct val="100000"/>
              </a:lnSpc>
              <a:buClr>
                <a:srgbClr val="000000"/>
              </a:buClr>
              <a:buFont typeface="Wingdings" charset="2"/>
              <a:buChar char=""/>
            </a:pPr>
            <a:r>
              <a:rPr b="0" lang="en-US" sz="2800" spc="-1" strike="noStrike">
                <a:solidFill>
                  <a:schemeClr val="dk1"/>
                </a:solidFill>
                <a:latin typeface="Verdana"/>
              </a:rPr>
              <a:t>Do P.P Chen giới thiệu năm 1976</a:t>
            </a:r>
            <a:endParaRPr b="0" lang="vi-VN" sz="2800" spc="-1" strike="noStrike">
              <a:solidFill>
                <a:srgbClr val="000000"/>
              </a:solidFill>
              <a:latin typeface="Arial"/>
            </a:endParaRPr>
          </a:p>
          <a:p>
            <a:pPr marL="514440" indent="-514440">
              <a:lnSpc>
                <a:spcPct val="100000"/>
              </a:lnSpc>
              <a:buClr>
                <a:srgbClr val="000000"/>
              </a:buClr>
              <a:buFont typeface="Wingdings" charset="2"/>
              <a:buChar char=""/>
            </a:pPr>
            <a:r>
              <a:rPr b="0" lang="en-US" sz="2800" spc="-1" strike="noStrike">
                <a:solidFill>
                  <a:schemeClr val="dk1"/>
                </a:solidFill>
                <a:latin typeface="Verdana"/>
              </a:rPr>
              <a:t>Mô hình dữ liệu quan niệm bậc cao hỗ trợ thiết kế CSDL, </a:t>
            </a:r>
            <a:endParaRPr b="0" lang="vi-VN" sz="2800" spc="-1" strike="noStrike">
              <a:solidFill>
                <a:srgbClr val="000000"/>
              </a:solidFill>
              <a:latin typeface="Arial"/>
            </a:endParaRPr>
          </a:p>
          <a:p>
            <a:pPr marL="514440" indent="-514440">
              <a:lnSpc>
                <a:spcPct val="100000"/>
              </a:lnSpc>
              <a:buClr>
                <a:srgbClr val="000000"/>
              </a:buClr>
              <a:buFont typeface="Wingdings" charset="2"/>
              <a:buChar char=""/>
            </a:pPr>
            <a:r>
              <a:rPr b="0" lang="en-US" sz="2800" spc="-1" strike="noStrike">
                <a:solidFill>
                  <a:schemeClr val="dk1"/>
                </a:solidFill>
                <a:latin typeface="Verdana"/>
              </a:rPr>
              <a:t>Sử dụng các khái niệm : thực thể, thuộc tính, các liên kết,...</a:t>
            </a:r>
            <a:endParaRPr b="0" lang="vi-V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3500" spc="-1" strike="noStrike">
                <a:solidFill>
                  <a:schemeClr val="dk2"/>
                </a:solidFill>
                <a:latin typeface="Calibri"/>
              </a:rPr>
              <a:t>N</a:t>
            </a:r>
            <a:r>
              <a:rPr b="1" lang="en-US" sz="3500" spc="-1" strike="noStrike">
                <a:solidFill>
                  <a:schemeClr val="dk2"/>
                </a:solidFill>
                <a:latin typeface="Calibri"/>
              </a:rPr>
              <a:t>ội </a:t>
            </a:r>
            <a:r>
              <a:rPr b="1" lang="en-US" sz="3500" spc="-1" strike="noStrike">
                <a:solidFill>
                  <a:schemeClr val="dk2"/>
                </a:solidFill>
                <a:latin typeface="Calibri"/>
              </a:rPr>
              <a:t>d</a:t>
            </a:r>
            <a:r>
              <a:rPr b="1" lang="en-US" sz="3500" spc="-1" strike="noStrike">
                <a:solidFill>
                  <a:schemeClr val="dk2"/>
                </a:solidFill>
                <a:latin typeface="Calibri"/>
              </a:rPr>
              <a:t>u</a:t>
            </a:r>
            <a:r>
              <a:rPr b="1" lang="en-US" sz="3500" spc="-1" strike="noStrike">
                <a:solidFill>
                  <a:schemeClr val="dk2"/>
                </a:solidFill>
                <a:latin typeface="Calibri"/>
              </a:rPr>
              <a:t>n</a:t>
            </a:r>
            <a:r>
              <a:rPr b="1" lang="en-US" sz="3500" spc="-1" strike="noStrike">
                <a:solidFill>
                  <a:schemeClr val="dk2"/>
                </a:solidFill>
                <a:latin typeface="Calibri"/>
              </a:rPr>
              <a:t>g </a:t>
            </a:r>
            <a:endParaRPr b="0" lang="vi-VN" sz="3500" spc="-1" strike="noStrike">
              <a:solidFill>
                <a:srgbClr val="000000"/>
              </a:solidFill>
              <a:latin typeface="Arial"/>
            </a:endParaRPr>
          </a:p>
        </p:txBody>
      </p:sp>
      <p:sp>
        <p:nvSpPr>
          <p:cNvPr id="118" name="PlaceHolder 2"/>
          <p:cNvSpPr>
            <a:spLocks noGrp="1"/>
          </p:cNvSpPr>
          <p:nvPr>
            <p:ph/>
          </p:nvPr>
        </p:nvSpPr>
        <p:spPr>
          <a:xfrm>
            <a:off x="914400" y="1828800"/>
            <a:ext cx="7515720" cy="335196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Quá trình thiết kế CSDL</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Nguyên tắc thiết kế</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Mô hình thực thể - liên kết (ER)</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Mô hình thực thể liên - kết mở rộng (EER) </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119" name="PlaceHolder 3"/>
          <p:cNvSpPr>
            <a:spLocks noGrp="1"/>
          </p:cNvSpPr>
          <p:nvPr>
            <p:ph type="sldNum" idx="3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7DF65A79-9211-42F4-8F76-21CBE535F8C8}"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120" name="PlaceHolder 4"/>
          <p:cNvSpPr>
            <a:spLocks noGrp="1"/>
          </p:cNvSpPr>
          <p:nvPr>
            <p:ph type="dt" idx="3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3A4F2CFF-AE8F-4B40-8858-566873EAA9D8}"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21" name="PlaceHolder 5"/>
          <p:cNvSpPr>
            <a:spLocks noGrp="1"/>
          </p:cNvSpPr>
          <p:nvPr>
            <p:ph type="ftr" idx="3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t>
            </a:r>
            <a:r>
              <a:rPr b="0" lang="en-US" sz="1200" spc="-1" strike="noStrike">
                <a:solidFill>
                  <a:schemeClr val="dk2">
                    <a:shade val="90000"/>
                  </a:schemeClr>
                </a:solidFill>
                <a:latin typeface="Tahoma"/>
              </a:rPr>
              <a:t>a </a:t>
            </a:r>
            <a:r>
              <a:rPr b="0" lang="en-US" sz="1200" spc="-1" strike="noStrike">
                <a:solidFill>
                  <a:schemeClr val="dk2">
                    <a:shade val="90000"/>
                  </a:schemeClr>
                </a:solidFill>
                <a:latin typeface="Tahoma"/>
              </a:rPr>
              <a:t>CN</a:t>
            </a:r>
            <a:r>
              <a:rPr b="0" lang="en-US" sz="1200" spc="-1" strike="noStrike">
                <a:solidFill>
                  <a:schemeClr val="dk2">
                    <a:shade val="90000"/>
                  </a:schemeClr>
                </a:solidFill>
                <a:latin typeface="Tahoma"/>
              </a:rPr>
              <a:t>TT</a:t>
            </a:r>
            <a:endParaRPr b="0" lang="vi-VN" sz="1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2400" spc="-1" strike="noStrike">
                <a:solidFill>
                  <a:schemeClr val="dk2"/>
                </a:solidFill>
                <a:latin typeface="Calibri"/>
              </a:rPr>
              <a:t>2.1</a:t>
            </a:r>
            <a:r>
              <a:rPr b="0" lang="en-US" sz="2400" spc="-1" strike="noStrike">
                <a:solidFill>
                  <a:schemeClr val="dk2"/>
                </a:solidFill>
                <a:latin typeface="Calibri"/>
              </a:rPr>
              <a:t>- </a:t>
            </a:r>
            <a:r>
              <a:rPr b="1" lang="en-US" sz="2800" spc="-1" strike="noStrike">
                <a:solidFill>
                  <a:schemeClr val="dk2"/>
                </a:solidFill>
                <a:latin typeface="Calibri"/>
              </a:rPr>
              <a:t>Qu</a:t>
            </a:r>
            <a:r>
              <a:rPr b="1" lang="en-US" sz="2800" spc="-1" strike="noStrike">
                <a:solidFill>
                  <a:schemeClr val="dk2"/>
                </a:solidFill>
                <a:latin typeface="Calibri"/>
              </a:rPr>
              <a:t>á </a:t>
            </a:r>
            <a:r>
              <a:rPr b="1" lang="en-US" sz="2800" spc="-1" strike="noStrike">
                <a:solidFill>
                  <a:schemeClr val="dk2"/>
                </a:solidFill>
                <a:latin typeface="Calibri"/>
              </a:rPr>
              <a:t>trì</a:t>
            </a:r>
            <a:r>
              <a:rPr b="1" lang="en-US" sz="2800" spc="-1" strike="noStrike">
                <a:solidFill>
                  <a:schemeClr val="dk2"/>
                </a:solidFill>
                <a:latin typeface="Calibri"/>
              </a:rPr>
              <a:t>nh </a:t>
            </a:r>
            <a:r>
              <a:rPr b="1" lang="en-US" sz="2800" spc="-1" strike="noStrike">
                <a:solidFill>
                  <a:schemeClr val="dk2"/>
                </a:solidFill>
                <a:latin typeface="Calibri"/>
              </a:rPr>
              <a:t>thi</a:t>
            </a:r>
            <a:r>
              <a:rPr b="1" lang="en-US" sz="2800" spc="-1" strike="noStrike">
                <a:solidFill>
                  <a:schemeClr val="dk2"/>
                </a:solidFill>
                <a:latin typeface="Calibri"/>
              </a:rPr>
              <a:t>ết </a:t>
            </a:r>
            <a:r>
              <a:rPr b="1" lang="en-US" sz="2800" spc="-1" strike="noStrike">
                <a:solidFill>
                  <a:schemeClr val="dk2"/>
                </a:solidFill>
                <a:latin typeface="Calibri"/>
              </a:rPr>
              <a:t>kế </a:t>
            </a:r>
            <a:r>
              <a:rPr b="1" lang="en-US" sz="2800" spc="-1" strike="noStrike">
                <a:solidFill>
                  <a:schemeClr val="dk2"/>
                </a:solidFill>
                <a:latin typeface="Calibri"/>
              </a:rPr>
              <a:t>CS</a:t>
            </a:r>
            <a:r>
              <a:rPr b="1" lang="en-US" sz="2800" spc="-1" strike="noStrike">
                <a:solidFill>
                  <a:schemeClr val="dk2"/>
                </a:solidFill>
                <a:latin typeface="Calibri"/>
              </a:rPr>
              <a:t>DL</a:t>
            </a:r>
            <a:endParaRPr b="0" lang="vi-VN" sz="2800" spc="-1" strike="noStrike">
              <a:solidFill>
                <a:srgbClr val="000000"/>
              </a:solidFill>
              <a:latin typeface="Arial"/>
            </a:endParaRPr>
          </a:p>
        </p:txBody>
      </p:sp>
      <p:sp>
        <p:nvSpPr>
          <p:cNvPr id="123" name="PlaceHolder 2"/>
          <p:cNvSpPr>
            <a:spLocks noGrp="1"/>
          </p:cNvSpPr>
          <p:nvPr>
            <p:ph type="sldNum" idx="4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FB7A470A-D481-4FB9-B071-363BFC8C43D9}"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grpSp>
        <p:nvGrpSpPr>
          <p:cNvPr id="124" name="Group 40"/>
          <p:cNvGrpSpPr/>
          <p:nvPr/>
        </p:nvGrpSpPr>
        <p:grpSpPr>
          <a:xfrm>
            <a:off x="357120" y="3143160"/>
            <a:ext cx="8228880" cy="1186920"/>
            <a:chOff x="357120" y="3143160"/>
            <a:chExt cx="8228880" cy="1186920"/>
          </a:xfrm>
        </p:grpSpPr>
        <p:sp>
          <p:nvSpPr>
            <p:cNvPr id="125" name="Rectangle 27"/>
            <p:cNvSpPr/>
            <p:nvPr/>
          </p:nvSpPr>
          <p:spPr>
            <a:xfrm>
              <a:off x="2338200" y="3191040"/>
              <a:ext cx="1523160" cy="837360"/>
            </a:xfrm>
            <a:prstGeom prst="rect">
              <a:avLst/>
            </a:prstGeom>
            <a:solidFill>
              <a:srgbClr val="cc0000">
                <a:alpha val="70000"/>
              </a:srgbClr>
            </a:solidFill>
            <a:ln w="12700">
              <a:solidFill>
                <a:srgbClr val="000000"/>
              </a:solidFill>
              <a:miter/>
            </a:ln>
          </p:spPr>
          <p:style>
            <a:lnRef idx="0"/>
            <a:fillRef idx="0"/>
            <a:effectRef idx="0"/>
            <a:fontRef idx="minor"/>
          </p:style>
          <p:txBody>
            <a:bodyPr wrap="none"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26" name="Text Box 10"/>
            <p:cNvSpPr/>
            <p:nvPr/>
          </p:nvSpPr>
          <p:spPr>
            <a:xfrm>
              <a:off x="357120" y="3143160"/>
              <a:ext cx="1218600" cy="11869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Khảo sát yêu cầu, nghiệp vụ</a:t>
              </a:r>
              <a:endParaRPr b="0" lang="vi-VN" sz="1800" spc="-1" strike="noStrike">
                <a:solidFill>
                  <a:srgbClr val="000000"/>
                </a:solidFill>
                <a:latin typeface="Arial"/>
              </a:endParaRPr>
            </a:p>
          </p:txBody>
        </p:sp>
        <p:grpSp>
          <p:nvGrpSpPr>
            <p:cNvPr id="127" name="Group 17"/>
            <p:cNvGrpSpPr/>
            <p:nvPr/>
          </p:nvGrpSpPr>
          <p:grpSpPr>
            <a:xfrm>
              <a:off x="2338200" y="3191040"/>
              <a:ext cx="1523160" cy="837360"/>
              <a:chOff x="2338200" y="3191040"/>
              <a:chExt cx="1523160" cy="837360"/>
            </a:xfrm>
          </p:grpSpPr>
          <p:sp>
            <p:nvSpPr>
              <p:cNvPr id="128" name="Rectangle 11"/>
              <p:cNvSpPr/>
              <p:nvPr/>
            </p:nvSpPr>
            <p:spPr>
              <a:xfrm>
                <a:off x="2338200" y="3191040"/>
                <a:ext cx="1523160" cy="83736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29" name="Text Box 12"/>
              <p:cNvSpPr/>
              <p:nvPr/>
            </p:nvSpPr>
            <p:spPr>
              <a:xfrm>
                <a:off x="2338200" y="3419640"/>
                <a:ext cx="1523160" cy="3639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vi-VN" sz="1800" spc="-1" strike="noStrike">
                    <a:solidFill>
                      <a:schemeClr val="dk1"/>
                    </a:solidFill>
                    <a:latin typeface="Tahoma"/>
                  </a:rPr>
                  <a:t>T</a:t>
                </a:r>
                <a:r>
                  <a:rPr b="0" lang="en-US" sz="1800" spc="-1" strike="noStrike">
                    <a:solidFill>
                      <a:schemeClr val="dk1"/>
                    </a:solidFill>
                    <a:latin typeface="Tahoma"/>
                  </a:rPr>
                  <a:t>hiết kế E/R</a:t>
                </a:r>
                <a:endParaRPr b="0" lang="vi-VN" sz="1800" spc="-1" strike="noStrike">
                  <a:solidFill>
                    <a:srgbClr val="000000"/>
                  </a:solidFill>
                  <a:latin typeface="Arial"/>
                </a:endParaRPr>
              </a:p>
            </p:txBody>
          </p:sp>
        </p:grpSp>
        <p:grpSp>
          <p:nvGrpSpPr>
            <p:cNvPr id="130" name="Group 18"/>
            <p:cNvGrpSpPr/>
            <p:nvPr/>
          </p:nvGrpSpPr>
          <p:grpSpPr>
            <a:xfrm>
              <a:off x="4700520" y="3191040"/>
              <a:ext cx="1742400" cy="837360"/>
              <a:chOff x="4700520" y="3191040"/>
              <a:chExt cx="1742400" cy="837360"/>
            </a:xfrm>
          </p:grpSpPr>
          <p:sp>
            <p:nvSpPr>
              <p:cNvPr id="131" name="Rectangle 13"/>
              <p:cNvSpPr/>
              <p:nvPr/>
            </p:nvSpPr>
            <p:spPr>
              <a:xfrm>
                <a:off x="4700520" y="3191040"/>
                <a:ext cx="1742400" cy="83736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32" name="Text Box 14"/>
              <p:cNvSpPr/>
              <p:nvPr/>
            </p:nvSpPr>
            <p:spPr>
              <a:xfrm>
                <a:off x="4700520" y="3267000"/>
                <a:ext cx="1742400" cy="63828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Thiết kế Lược đồ quan hệ</a:t>
                </a:r>
                <a:endParaRPr b="0" lang="vi-VN" sz="1800" spc="-1" strike="noStrike">
                  <a:solidFill>
                    <a:srgbClr val="000000"/>
                  </a:solidFill>
                  <a:latin typeface="Arial"/>
                </a:endParaRPr>
              </a:p>
            </p:txBody>
          </p:sp>
        </p:grpSp>
        <p:grpSp>
          <p:nvGrpSpPr>
            <p:cNvPr id="133" name="Group 19"/>
            <p:cNvGrpSpPr/>
            <p:nvPr/>
          </p:nvGrpSpPr>
          <p:grpSpPr>
            <a:xfrm>
              <a:off x="7062840" y="3191040"/>
              <a:ext cx="1523160" cy="837360"/>
              <a:chOff x="7062840" y="3191040"/>
              <a:chExt cx="1523160" cy="837360"/>
            </a:xfrm>
          </p:grpSpPr>
          <p:sp>
            <p:nvSpPr>
              <p:cNvPr id="134" name="Rectangle 15"/>
              <p:cNvSpPr/>
              <p:nvPr/>
            </p:nvSpPr>
            <p:spPr>
              <a:xfrm>
                <a:off x="7062840" y="3191040"/>
                <a:ext cx="1523160" cy="83736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35" name="Text Box 16"/>
              <p:cNvSpPr/>
              <p:nvPr/>
            </p:nvSpPr>
            <p:spPr>
              <a:xfrm>
                <a:off x="7062840" y="3267000"/>
                <a:ext cx="1523160" cy="63828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 </a:t>
                </a:r>
                <a:r>
                  <a:rPr b="0" lang="en-US" sz="1800" spc="-1" strike="noStrike">
                    <a:solidFill>
                      <a:schemeClr val="dk1"/>
                    </a:solidFill>
                    <a:latin typeface="Tahoma"/>
                  </a:rPr>
                  <a:t>CSDL     quan hệ</a:t>
                </a:r>
                <a:endParaRPr b="0" lang="vi-VN" sz="1800" spc="-1" strike="noStrike">
                  <a:solidFill>
                    <a:srgbClr val="000000"/>
                  </a:solidFill>
                  <a:latin typeface="Arial"/>
                </a:endParaRPr>
              </a:p>
            </p:txBody>
          </p:sp>
        </p:grpSp>
        <p:sp>
          <p:nvSpPr>
            <p:cNvPr id="136" name="Line 21"/>
            <p:cNvSpPr/>
            <p:nvPr/>
          </p:nvSpPr>
          <p:spPr>
            <a:xfrm>
              <a:off x="3862080" y="3647880"/>
              <a:ext cx="838440" cy="360"/>
            </a:xfrm>
            <a:prstGeom prst="line">
              <a:avLst/>
            </a:prstGeom>
            <a:ln w="50800">
              <a:solidFill>
                <a:srgbClr val="000000"/>
              </a:solidFill>
              <a:round/>
              <a:tailEnd len="med" type="triangle" w="me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137" name="Line 22"/>
            <p:cNvSpPr/>
            <p:nvPr/>
          </p:nvSpPr>
          <p:spPr>
            <a:xfrm>
              <a:off x="6443280" y="3633480"/>
              <a:ext cx="619200" cy="360"/>
            </a:xfrm>
            <a:prstGeom prst="line">
              <a:avLst/>
            </a:prstGeom>
            <a:ln w="50800">
              <a:solidFill>
                <a:srgbClr val="000000"/>
              </a:solidFill>
              <a:round/>
              <a:tailEnd len="med" type="triangle" w="me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138" name="Line 23"/>
            <p:cNvSpPr/>
            <p:nvPr/>
          </p:nvSpPr>
          <p:spPr>
            <a:xfrm>
              <a:off x="1571400" y="3643200"/>
              <a:ext cx="838080" cy="360"/>
            </a:xfrm>
            <a:prstGeom prst="line">
              <a:avLst/>
            </a:prstGeom>
            <a:ln w="50800">
              <a:solidFill>
                <a:srgbClr val="000000"/>
              </a:solidFill>
              <a:round/>
              <a:tailEnd len="med" type="triangle" w="me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sp>
        <p:nvSpPr>
          <p:cNvPr id="139" name="PlaceHolder 3"/>
          <p:cNvSpPr>
            <a:spLocks noGrp="1"/>
          </p:cNvSpPr>
          <p:nvPr>
            <p:ph type="dt" idx="41"/>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E1A7E27A-FFEE-45B4-91EB-4129D736963A}"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40" name="PlaceHolder 4"/>
          <p:cNvSpPr>
            <a:spLocks noGrp="1"/>
          </p:cNvSpPr>
          <p:nvPr>
            <p:ph type="ftr" idx="4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a:t>
            </a:r>
            <a:r>
              <a:rPr b="0" lang="en-US" sz="1200" spc="-1" strike="noStrike">
                <a:solidFill>
                  <a:schemeClr val="dk2">
                    <a:shade val="90000"/>
                  </a:schemeClr>
                </a:solidFill>
                <a:latin typeface="Tahoma"/>
              </a:rPr>
              <a:t>CNTT</a:t>
            </a:r>
            <a:endParaRPr b="0" lang="vi-VN" sz="1200" spc="-1" strike="noStrike">
              <a:solidFill>
                <a:srgbClr val="000000"/>
              </a:solidFill>
              <a:latin typeface="Times New Roman"/>
            </a:endParaRPr>
          </a:p>
        </p:txBody>
      </p:sp>
      <p:pic>
        <p:nvPicPr>
          <p:cNvPr id="141" name="Picture 3" descr=""/>
          <p:cNvPicPr/>
          <p:nvPr/>
        </p:nvPicPr>
        <p:blipFill>
          <a:blip r:embed="rId1"/>
          <a:stretch/>
        </p:blipFill>
        <p:spPr>
          <a:xfrm>
            <a:off x="0" y="990720"/>
            <a:ext cx="9143280" cy="35280"/>
          </a:xfrm>
          <a:prstGeom prst="rect">
            <a:avLst/>
          </a:prstGeom>
          <a:ln w="0">
            <a:noFill/>
          </a:ln>
        </p:spPr>
      </p:pic>
      <p:sp>
        <p:nvSpPr>
          <p:cNvPr id="142" name="Rectangle 23"/>
          <p:cNvSpPr/>
          <p:nvPr/>
        </p:nvSpPr>
        <p:spPr>
          <a:xfrm>
            <a:off x="285840" y="3143160"/>
            <a:ext cx="1285200" cy="856440"/>
          </a:xfrm>
          <a:prstGeom prst="rect">
            <a:avLst/>
          </a:prstGeom>
          <a:no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Rectangle: Rounded Corners 3"/>
          <p:cNvSpPr/>
          <p:nvPr/>
        </p:nvSpPr>
        <p:spPr>
          <a:xfrm>
            <a:off x="1403640" y="3733920"/>
            <a:ext cx="1860480" cy="352440"/>
          </a:xfrm>
          <a:prstGeom prst="roundRect">
            <a:avLst>
              <a:gd name="adj" fmla="val 16667"/>
            </a:avLst>
          </a:prstGeom>
          <a:solidFill>
            <a:srgbClr val="0f6fc6"/>
          </a:solidFill>
          <a:ln>
            <a:solidFill>
              <a:srgbClr val="063056"/>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44" name="PlaceHolder 1"/>
          <p:cNvSpPr>
            <a:spLocks noGrp="1"/>
          </p:cNvSpPr>
          <p:nvPr>
            <p:ph type="title"/>
          </p:nvPr>
        </p:nvSpPr>
        <p:spPr>
          <a:xfrm>
            <a:off x="457200" y="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2400" spc="-1" strike="noStrike">
                <a:solidFill>
                  <a:schemeClr val="dk2"/>
                </a:solidFill>
                <a:latin typeface="Calibri"/>
              </a:rPr>
              <a:t>2.1-  </a:t>
            </a:r>
            <a:r>
              <a:rPr b="1" lang="en-US" sz="2800" spc="-1" strike="noStrike">
                <a:solidFill>
                  <a:schemeClr val="dk2"/>
                </a:solidFill>
                <a:latin typeface="Calibri"/>
              </a:rPr>
              <a:t>Quá </a:t>
            </a:r>
            <a:r>
              <a:rPr b="1" lang="en-US" sz="2800" spc="-1" strike="noStrike">
                <a:solidFill>
                  <a:schemeClr val="dk2"/>
                </a:solidFill>
                <a:latin typeface="Calibri"/>
              </a:rPr>
              <a:t>trình </a:t>
            </a:r>
            <a:r>
              <a:rPr b="1" lang="en-US" sz="2800" spc="-1" strike="noStrike">
                <a:solidFill>
                  <a:schemeClr val="dk2"/>
                </a:solidFill>
                <a:latin typeface="Calibri"/>
              </a:rPr>
              <a:t>thiết kế </a:t>
            </a:r>
            <a:r>
              <a:rPr b="1" lang="en-US" sz="2800" spc="-1" strike="noStrike">
                <a:solidFill>
                  <a:schemeClr val="dk2"/>
                </a:solidFill>
                <a:latin typeface="Calibri"/>
              </a:rPr>
              <a:t>CSDL</a:t>
            </a:r>
            <a:endParaRPr b="0" lang="vi-VN" sz="2800" spc="-1" strike="noStrike">
              <a:solidFill>
                <a:srgbClr val="000000"/>
              </a:solidFill>
              <a:latin typeface="Arial"/>
            </a:endParaRPr>
          </a:p>
        </p:txBody>
      </p:sp>
      <p:sp>
        <p:nvSpPr>
          <p:cNvPr id="145" name="PlaceHolder 2"/>
          <p:cNvSpPr>
            <a:spLocks noGrp="1"/>
          </p:cNvSpPr>
          <p:nvPr>
            <p:ph type="sldNum" idx="4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9699B95-A8F3-4A2A-A09C-7D12E1A63D7D}"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grpSp>
        <p:nvGrpSpPr>
          <p:cNvPr id="146" name="Group 61"/>
          <p:cNvGrpSpPr/>
          <p:nvPr/>
        </p:nvGrpSpPr>
        <p:grpSpPr>
          <a:xfrm>
            <a:off x="457200" y="4495680"/>
            <a:ext cx="8457480" cy="1980360"/>
            <a:chOff x="457200" y="4495680"/>
            <a:chExt cx="8457480" cy="1980360"/>
          </a:xfrm>
        </p:grpSpPr>
        <p:sp>
          <p:nvSpPr>
            <p:cNvPr id="147" name="Rectangle 50"/>
            <p:cNvSpPr/>
            <p:nvPr/>
          </p:nvSpPr>
          <p:spPr>
            <a:xfrm>
              <a:off x="457200" y="4495680"/>
              <a:ext cx="8457480" cy="1980360"/>
            </a:xfrm>
            <a:prstGeom prst="rect">
              <a:avLst/>
            </a:prstGeom>
            <a:solidFill>
              <a:srgbClr val="ff3300">
                <a:alpha val="55000"/>
              </a:srgbClr>
            </a:solidFill>
            <a:ln w="12700">
              <a:solidFill>
                <a:srgbClr val="ff99cc">
                  <a:alpha val="55000"/>
                </a:srgbClr>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48" name="Text Box 58"/>
            <p:cNvSpPr/>
            <p:nvPr/>
          </p:nvSpPr>
          <p:spPr>
            <a:xfrm>
              <a:off x="7315200" y="4613400"/>
              <a:ext cx="1523160" cy="638280"/>
            </a:xfrm>
            <a:prstGeom prst="rect">
              <a:avLst/>
            </a:prstGeom>
            <a:noFill/>
            <a:ln w="12700">
              <a:noFill/>
            </a:ln>
          </p:spPr>
          <p:style>
            <a:lnRef idx="0"/>
            <a:fillRef idx="0"/>
            <a:effectRef idx="0"/>
            <a:fontRef idx="minor"/>
          </p:style>
          <p:txBody>
            <a:bodyPr lIns="90000" rIns="90000" tIns="45000" bIns="45000" anchor="t">
              <a:spAutoFit/>
            </a:bodyPr>
            <a:p>
              <a:pPr algn="r">
                <a:lnSpc>
                  <a:spcPct val="100000"/>
                </a:lnSpc>
                <a:spcBef>
                  <a:spcPts val="601"/>
                </a:spcBef>
              </a:pPr>
              <a:r>
                <a:rPr b="0" lang="en-US" sz="1800" spc="-1" strike="noStrike">
                  <a:solidFill>
                    <a:schemeClr val="dk1"/>
                  </a:solidFill>
                  <a:latin typeface="Tahoma"/>
                </a:rPr>
                <a:t>Phụ thuộc HQT cụ thể</a:t>
              </a:r>
              <a:endParaRPr b="0" lang="vi-VN" sz="1800" spc="-1" strike="noStrike">
                <a:solidFill>
                  <a:srgbClr val="000000"/>
                </a:solidFill>
                <a:latin typeface="Arial"/>
              </a:endParaRPr>
            </a:p>
          </p:txBody>
        </p:sp>
      </p:grpSp>
      <p:grpSp>
        <p:nvGrpSpPr>
          <p:cNvPr id="149" name="Group 60"/>
          <p:cNvGrpSpPr/>
          <p:nvPr/>
        </p:nvGrpSpPr>
        <p:grpSpPr>
          <a:xfrm>
            <a:off x="457200" y="990720"/>
            <a:ext cx="8457480" cy="3504600"/>
            <a:chOff x="457200" y="990720"/>
            <a:chExt cx="8457480" cy="3504600"/>
          </a:xfrm>
        </p:grpSpPr>
        <p:sp>
          <p:nvSpPr>
            <p:cNvPr id="150" name="Rectangle 49"/>
            <p:cNvSpPr/>
            <p:nvPr/>
          </p:nvSpPr>
          <p:spPr>
            <a:xfrm>
              <a:off x="457200" y="990720"/>
              <a:ext cx="8457480" cy="3504600"/>
            </a:xfrm>
            <a:prstGeom prst="rect">
              <a:avLst/>
            </a:prstGeom>
            <a:solidFill>
              <a:srgbClr val="777777">
                <a:alpha val="55000"/>
              </a:srgbClr>
            </a:solidFill>
            <a:ln w="12700">
              <a:solidFill>
                <a:srgbClr val="99ccff">
                  <a:alpha val="55000"/>
                </a:srgbClr>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151" name="Text Box 57"/>
            <p:cNvSpPr/>
            <p:nvPr/>
          </p:nvSpPr>
          <p:spPr>
            <a:xfrm>
              <a:off x="7162920" y="4043160"/>
              <a:ext cx="1675800" cy="363960"/>
            </a:xfrm>
            <a:prstGeom prst="rect">
              <a:avLst/>
            </a:prstGeom>
            <a:noFill/>
            <a:ln w="12700">
              <a:noFill/>
            </a:ln>
          </p:spPr>
          <p:style>
            <a:lnRef idx="0"/>
            <a:fillRef idx="0"/>
            <a:effectRef idx="0"/>
            <a:fontRef idx="minor"/>
          </p:style>
          <p:txBody>
            <a:bodyPr lIns="90000" rIns="90000" tIns="45000" bIns="45000" anchor="t">
              <a:spAutoFit/>
            </a:bodyPr>
            <a:p>
              <a:pPr algn="r">
                <a:lnSpc>
                  <a:spcPct val="100000"/>
                </a:lnSpc>
                <a:spcBef>
                  <a:spcPts val="601"/>
                </a:spcBef>
              </a:pPr>
              <a:r>
                <a:rPr b="0" lang="en-US" sz="1800" spc="-1" strike="noStrike">
                  <a:solidFill>
                    <a:schemeClr val="dk1"/>
                  </a:solidFill>
                  <a:latin typeface="Tahoma"/>
                </a:rPr>
                <a:t>Độc lập HQT</a:t>
              </a:r>
              <a:endParaRPr b="0" lang="vi-VN" sz="1800" spc="-1" strike="noStrike">
                <a:solidFill>
                  <a:srgbClr val="000000"/>
                </a:solidFill>
                <a:latin typeface="Arial"/>
              </a:endParaRPr>
            </a:p>
          </p:txBody>
        </p:sp>
      </p:grpSp>
      <p:grpSp>
        <p:nvGrpSpPr>
          <p:cNvPr id="152" name="Group 55"/>
          <p:cNvGrpSpPr/>
          <p:nvPr/>
        </p:nvGrpSpPr>
        <p:grpSpPr>
          <a:xfrm>
            <a:off x="762120" y="1066680"/>
            <a:ext cx="3199680" cy="5256360"/>
            <a:chOff x="762120" y="1066680"/>
            <a:chExt cx="3199680" cy="5256360"/>
          </a:xfrm>
        </p:grpSpPr>
        <p:sp>
          <p:nvSpPr>
            <p:cNvPr id="153" name="AutoShape 17"/>
            <p:cNvSpPr/>
            <p:nvPr/>
          </p:nvSpPr>
          <p:spPr>
            <a:xfrm>
              <a:off x="1523880" y="1066680"/>
              <a:ext cx="1447200" cy="761400"/>
            </a:xfrm>
            <a:prstGeom prst="cloudCallout">
              <a:avLst>
                <a:gd name="adj1" fmla="val 45287"/>
                <a:gd name="adj2" fmla="val -15000"/>
              </a:avLst>
            </a:prstGeom>
            <a:solidFill>
              <a:srgbClr val="99ccff"/>
            </a:solidFill>
            <a:ln w="12700">
              <a:noFill/>
            </a:ln>
          </p:spPr>
          <p:style>
            <a:lnRef idx="0"/>
            <a:fillRef idx="0"/>
            <a:effectRef idx="0"/>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Tahoma"/>
                </a:rPr>
                <a:t>Thế giới thực</a:t>
              </a:r>
              <a:endParaRPr b="0" lang="vi-VN" sz="1800" spc="-1" strike="noStrike">
                <a:solidFill>
                  <a:srgbClr val="000000"/>
                </a:solidFill>
                <a:latin typeface="Arial"/>
              </a:endParaRPr>
            </a:p>
          </p:txBody>
        </p:sp>
        <p:sp>
          <p:nvSpPr>
            <p:cNvPr id="154" name="Text Box 20"/>
            <p:cNvSpPr/>
            <p:nvPr/>
          </p:nvSpPr>
          <p:spPr>
            <a:xfrm>
              <a:off x="1219320" y="1982880"/>
              <a:ext cx="21330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Phân tích yêu cầu </a:t>
              </a:r>
              <a:endParaRPr b="0" lang="vi-VN" sz="1800" spc="-1" strike="noStrike">
                <a:solidFill>
                  <a:srgbClr val="000000"/>
                </a:solidFill>
                <a:latin typeface="Arial"/>
              </a:endParaRPr>
            </a:p>
          </p:txBody>
        </p:sp>
        <p:sp>
          <p:nvSpPr>
            <p:cNvPr id="155" name="Text Box 21"/>
            <p:cNvSpPr/>
            <p:nvPr/>
          </p:nvSpPr>
          <p:spPr>
            <a:xfrm>
              <a:off x="1143000" y="3125880"/>
              <a:ext cx="23616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TK quan niệm</a:t>
              </a:r>
              <a:endParaRPr b="0" lang="vi-VN" sz="1800" spc="-1" strike="noStrike">
                <a:solidFill>
                  <a:srgbClr val="000000"/>
                </a:solidFill>
                <a:latin typeface="Arial"/>
              </a:endParaRPr>
            </a:p>
          </p:txBody>
        </p:sp>
        <p:sp>
          <p:nvSpPr>
            <p:cNvPr id="156" name="Text Box 22"/>
            <p:cNvSpPr/>
            <p:nvPr/>
          </p:nvSpPr>
          <p:spPr>
            <a:xfrm>
              <a:off x="762120" y="4268880"/>
              <a:ext cx="31996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Thiết kế mức logic/ánh xạ</a:t>
              </a:r>
              <a:endParaRPr b="0" lang="vi-VN" sz="1800" spc="-1" strike="noStrike">
                <a:solidFill>
                  <a:srgbClr val="000000"/>
                </a:solidFill>
                <a:latin typeface="Arial"/>
              </a:endParaRPr>
            </a:p>
          </p:txBody>
        </p:sp>
        <p:sp>
          <p:nvSpPr>
            <p:cNvPr id="157" name="Text Box 23"/>
            <p:cNvSpPr/>
            <p:nvPr/>
          </p:nvSpPr>
          <p:spPr>
            <a:xfrm>
              <a:off x="1143000" y="5410080"/>
              <a:ext cx="23616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Thiết kế mức vật lý</a:t>
              </a:r>
              <a:endParaRPr b="0" lang="vi-VN" sz="1800" spc="-1" strike="noStrike">
                <a:solidFill>
                  <a:srgbClr val="000000"/>
                </a:solidFill>
                <a:latin typeface="Arial"/>
              </a:endParaRPr>
            </a:p>
          </p:txBody>
        </p:sp>
        <p:sp>
          <p:nvSpPr>
            <p:cNvPr id="158" name="Line 24"/>
            <p:cNvSpPr/>
            <p:nvPr/>
          </p:nvSpPr>
          <p:spPr>
            <a:xfrm>
              <a:off x="2286000" y="175248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59" name="Text Box 25"/>
            <p:cNvSpPr/>
            <p:nvPr/>
          </p:nvSpPr>
          <p:spPr>
            <a:xfrm>
              <a:off x="1219320" y="2590920"/>
              <a:ext cx="2133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Các yêu cầu về dữ liệu</a:t>
              </a:r>
              <a:endParaRPr b="0" lang="vi-VN" sz="1400" spc="-1" strike="noStrike">
                <a:solidFill>
                  <a:srgbClr val="000000"/>
                </a:solidFill>
                <a:latin typeface="Arial"/>
              </a:endParaRPr>
            </a:p>
          </p:txBody>
        </p:sp>
        <p:sp>
          <p:nvSpPr>
            <p:cNvPr id="160" name="Line 26"/>
            <p:cNvSpPr/>
            <p:nvPr/>
          </p:nvSpPr>
          <p:spPr>
            <a:xfrm>
              <a:off x="2286000" y="236196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1" name="Line 27"/>
            <p:cNvSpPr/>
            <p:nvPr/>
          </p:nvSpPr>
          <p:spPr>
            <a:xfrm>
              <a:off x="2286000" y="289548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2" name="Text Box 28"/>
            <p:cNvSpPr/>
            <p:nvPr/>
          </p:nvSpPr>
          <p:spPr>
            <a:xfrm>
              <a:off x="1219320" y="3733920"/>
              <a:ext cx="2133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Lược đồ quan niệm</a:t>
              </a:r>
              <a:endParaRPr b="0" lang="vi-VN" sz="1400" spc="-1" strike="noStrike">
                <a:solidFill>
                  <a:srgbClr val="000000"/>
                </a:solidFill>
                <a:latin typeface="Arial"/>
              </a:endParaRPr>
            </a:p>
          </p:txBody>
        </p:sp>
        <p:sp>
          <p:nvSpPr>
            <p:cNvPr id="163" name="Line 29"/>
            <p:cNvSpPr/>
            <p:nvPr/>
          </p:nvSpPr>
          <p:spPr>
            <a:xfrm>
              <a:off x="2286000" y="350496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4" name="Line 30"/>
            <p:cNvSpPr/>
            <p:nvPr/>
          </p:nvSpPr>
          <p:spPr>
            <a:xfrm>
              <a:off x="2286000" y="403848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5" name="Line 31"/>
            <p:cNvSpPr/>
            <p:nvPr/>
          </p:nvSpPr>
          <p:spPr>
            <a:xfrm>
              <a:off x="2286000" y="464796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6" name="Line 32"/>
            <p:cNvSpPr/>
            <p:nvPr/>
          </p:nvSpPr>
          <p:spPr>
            <a:xfrm>
              <a:off x="2286000" y="518148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67" name="Text Box 33"/>
            <p:cNvSpPr/>
            <p:nvPr/>
          </p:nvSpPr>
          <p:spPr>
            <a:xfrm>
              <a:off x="1219320" y="4876920"/>
              <a:ext cx="2133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Lược đồ logic</a:t>
              </a:r>
              <a:endParaRPr b="0" lang="vi-VN" sz="1400" spc="-1" strike="noStrike">
                <a:solidFill>
                  <a:srgbClr val="000000"/>
                </a:solidFill>
                <a:latin typeface="Arial"/>
              </a:endParaRPr>
            </a:p>
          </p:txBody>
        </p:sp>
        <p:sp>
          <p:nvSpPr>
            <p:cNvPr id="168" name="Text Box 34"/>
            <p:cNvSpPr/>
            <p:nvPr/>
          </p:nvSpPr>
          <p:spPr>
            <a:xfrm>
              <a:off x="1219320" y="6019920"/>
              <a:ext cx="2133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Lược đồ trong</a:t>
              </a:r>
              <a:endParaRPr b="0" lang="vi-VN" sz="1400" spc="-1" strike="noStrike">
                <a:solidFill>
                  <a:srgbClr val="000000"/>
                </a:solidFill>
                <a:latin typeface="Arial"/>
              </a:endParaRPr>
            </a:p>
          </p:txBody>
        </p:sp>
        <p:sp>
          <p:nvSpPr>
            <p:cNvPr id="169" name="Line 35"/>
            <p:cNvSpPr/>
            <p:nvPr/>
          </p:nvSpPr>
          <p:spPr>
            <a:xfrm>
              <a:off x="2286000" y="579096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sp>
        <p:nvSpPr>
          <p:cNvPr id="170" name="Text Box 37"/>
          <p:cNvSpPr/>
          <p:nvPr/>
        </p:nvSpPr>
        <p:spPr>
          <a:xfrm>
            <a:off x="4572000" y="5638680"/>
            <a:ext cx="25902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Cài đặt giao tác</a:t>
            </a:r>
            <a:endParaRPr b="0" lang="vi-VN" sz="1800" spc="-1" strike="noStrike">
              <a:solidFill>
                <a:srgbClr val="000000"/>
              </a:solidFill>
              <a:latin typeface="Arial"/>
            </a:endParaRPr>
          </a:p>
        </p:txBody>
      </p:sp>
      <p:sp>
        <p:nvSpPr>
          <p:cNvPr id="171" name="Text Box 38"/>
          <p:cNvSpPr/>
          <p:nvPr/>
        </p:nvSpPr>
        <p:spPr>
          <a:xfrm>
            <a:off x="4572000" y="4677840"/>
            <a:ext cx="2590200" cy="91260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Thiết kế </a:t>
            </a:r>
            <a:br>
              <a:rPr sz="1800"/>
            </a:br>
            <a:r>
              <a:rPr b="0" lang="en-US" sz="1800" spc="-1" strike="noStrike">
                <a:solidFill>
                  <a:schemeClr val="dk1"/>
                </a:solidFill>
                <a:latin typeface="Tahoma"/>
              </a:rPr>
              <a:t>chương trình ứng dụng</a:t>
            </a:r>
            <a:endParaRPr b="0" lang="vi-VN" sz="1800" spc="-1" strike="noStrike">
              <a:solidFill>
                <a:srgbClr val="000000"/>
              </a:solidFill>
              <a:latin typeface="Arial"/>
            </a:endParaRPr>
          </a:p>
        </p:txBody>
      </p:sp>
      <p:sp>
        <p:nvSpPr>
          <p:cNvPr id="172" name="Text Box 39"/>
          <p:cNvSpPr/>
          <p:nvPr/>
        </p:nvSpPr>
        <p:spPr>
          <a:xfrm>
            <a:off x="4495680" y="2744640"/>
            <a:ext cx="25902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Phân tích chức năng</a:t>
            </a:r>
            <a:endParaRPr b="0" lang="vi-VN" sz="1800" spc="-1" strike="noStrike">
              <a:solidFill>
                <a:srgbClr val="000000"/>
              </a:solidFill>
              <a:latin typeface="Arial"/>
            </a:endParaRPr>
          </a:p>
        </p:txBody>
      </p:sp>
      <p:sp>
        <p:nvSpPr>
          <p:cNvPr id="173" name="Text Box 40"/>
          <p:cNvSpPr/>
          <p:nvPr/>
        </p:nvSpPr>
        <p:spPr>
          <a:xfrm>
            <a:off x="4572000" y="2057400"/>
            <a:ext cx="24375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Các yêu cầu về chức năng</a:t>
            </a:r>
            <a:endParaRPr b="0" lang="vi-VN" sz="1400" spc="-1" strike="noStrike">
              <a:solidFill>
                <a:srgbClr val="000000"/>
              </a:solidFill>
              <a:latin typeface="Arial"/>
            </a:endParaRPr>
          </a:p>
        </p:txBody>
      </p:sp>
      <p:sp>
        <p:nvSpPr>
          <p:cNvPr id="174" name="Text Box 41"/>
          <p:cNvSpPr/>
          <p:nvPr/>
        </p:nvSpPr>
        <p:spPr>
          <a:xfrm>
            <a:off x="4572000" y="3505320"/>
            <a:ext cx="24375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Các đặc tả chức năng</a:t>
            </a:r>
            <a:endParaRPr b="0" lang="vi-VN" sz="1400" spc="-1" strike="noStrike">
              <a:solidFill>
                <a:srgbClr val="000000"/>
              </a:solidFill>
              <a:latin typeface="Arial"/>
            </a:endParaRPr>
          </a:p>
        </p:txBody>
      </p:sp>
      <p:sp>
        <p:nvSpPr>
          <p:cNvPr id="175" name="Line 43"/>
          <p:cNvSpPr/>
          <p:nvPr/>
        </p:nvSpPr>
        <p:spPr>
          <a:xfrm>
            <a:off x="5790960" y="2361960"/>
            <a:ext cx="360" cy="38124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76" name="Line 44"/>
          <p:cNvSpPr/>
          <p:nvPr/>
        </p:nvSpPr>
        <p:spPr>
          <a:xfrm>
            <a:off x="5790960" y="3124080"/>
            <a:ext cx="360" cy="38088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77" name="Line 48"/>
          <p:cNvSpPr/>
          <p:nvPr/>
        </p:nvSpPr>
        <p:spPr>
          <a:xfrm flipH="1">
            <a:off x="3504960" y="3809880"/>
            <a:ext cx="2286000" cy="16002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178" name="TextBox 40"/>
          <p:cNvSpPr/>
          <p:nvPr/>
        </p:nvSpPr>
        <p:spPr>
          <a:xfrm>
            <a:off x="4214520" y="6220440"/>
            <a:ext cx="312336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rgbClr val="3e0dc9"/>
                </a:solidFill>
                <a:latin typeface="Tahoma"/>
              </a:rPr>
              <a:t>Chương trình ứng dụng</a:t>
            </a:r>
            <a:endParaRPr b="0" lang="vi-VN" sz="1400" spc="-1" strike="noStrike">
              <a:solidFill>
                <a:srgbClr val="000000"/>
              </a:solidFill>
              <a:latin typeface="Arial"/>
            </a:endParaRPr>
          </a:p>
        </p:txBody>
      </p:sp>
      <p:cxnSp>
        <p:nvCxnSpPr>
          <p:cNvPr id="179" name="Straight Arrow Connector 42"/>
          <p:cNvCxnSpPr>
            <a:stCxn id="177" idx="0"/>
          </p:cNvCxnSpPr>
          <p:nvPr/>
        </p:nvCxnSpPr>
        <p:spPr>
          <a:xfrm>
            <a:off x="4647960" y="3809880"/>
            <a:ext cx="1143000" cy="839520"/>
          </a:xfrm>
          <a:prstGeom prst="straightConnector1">
            <a:avLst/>
          </a:prstGeom>
          <a:ln w="0">
            <a:solidFill>
              <a:srgbClr val="095294"/>
            </a:solidFill>
            <a:tailEnd len="med" type="arrow" w="med"/>
          </a:ln>
        </p:spPr>
      </p:cxnSp>
      <p:cxnSp>
        <p:nvCxnSpPr>
          <p:cNvPr id="180" name="Straight Arrow Connector 44"/>
          <p:cNvCxnSpPr/>
          <p:nvPr/>
        </p:nvCxnSpPr>
        <p:spPr>
          <a:xfrm flipH="1">
            <a:off x="5789160" y="5332320"/>
            <a:ext cx="2160" cy="307800"/>
          </a:xfrm>
          <a:prstGeom prst="straightConnector1">
            <a:avLst/>
          </a:prstGeom>
          <a:ln w="0">
            <a:solidFill>
              <a:srgbClr val="095294"/>
            </a:solidFill>
            <a:tailEnd len="med" type="arrow" w="med"/>
          </a:ln>
        </p:spPr>
      </p:cxnSp>
      <p:sp>
        <p:nvSpPr>
          <p:cNvPr id="181" name="Line 35"/>
          <p:cNvSpPr/>
          <p:nvPr/>
        </p:nvSpPr>
        <p:spPr>
          <a:xfrm>
            <a:off x="5790960" y="6019560"/>
            <a:ext cx="360" cy="228600"/>
          </a:xfrm>
          <a:prstGeom prst="line">
            <a:avLst/>
          </a:prstGeom>
          <a:ln w="12700">
            <a:solidFill>
              <a:srgbClr val="000000"/>
            </a:solidFill>
            <a:round/>
            <a:tailEnd len="med" type="triangle" w="me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cxnSp>
        <p:nvCxnSpPr>
          <p:cNvPr id="182" name="Straight Arrow Connector 49"/>
          <p:cNvCxnSpPr/>
          <p:nvPr/>
        </p:nvCxnSpPr>
        <p:spPr>
          <a:xfrm>
            <a:off x="3352680" y="2171160"/>
            <a:ext cx="1296000" cy="2160"/>
          </a:xfrm>
          <a:prstGeom prst="straightConnector1">
            <a:avLst/>
          </a:prstGeom>
          <a:ln w="0">
            <a:solidFill>
              <a:srgbClr val="095294"/>
            </a:solidFill>
            <a:tailEnd len="med" type="arrow" w="med"/>
          </a:ln>
        </p:spPr>
      </p:cxnSp>
      <p:cxnSp>
        <p:nvCxnSpPr>
          <p:cNvPr id="183" name="Straight Arrow Connector 43"/>
          <p:cNvCxnSpPr>
            <a:endCxn id="171" idx="1"/>
          </p:cNvCxnSpPr>
          <p:nvPr/>
        </p:nvCxnSpPr>
        <p:spPr>
          <a:xfrm>
            <a:off x="2971800" y="5029200"/>
            <a:ext cx="1600560" cy="105120"/>
          </a:xfrm>
          <a:prstGeom prst="straightConnector1">
            <a:avLst/>
          </a:prstGeom>
          <a:ln w="0">
            <a:solidFill>
              <a:srgbClr val="095294"/>
            </a:solidFill>
            <a:tailEnd len="med" type="arrow" w="med"/>
          </a:ln>
        </p:spPr>
      </p:cxnSp>
      <p:cxnSp>
        <p:nvCxnSpPr>
          <p:cNvPr id="184" name="Straight Arrow Connector 48"/>
          <p:cNvCxnSpPr/>
          <p:nvPr/>
        </p:nvCxnSpPr>
        <p:spPr>
          <a:xfrm flipV="1">
            <a:off x="2895480" y="5867280"/>
            <a:ext cx="1600920" cy="381600"/>
          </a:xfrm>
          <a:prstGeom prst="straightConnector1">
            <a:avLst/>
          </a:prstGeom>
          <a:ln w="0">
            <a:solidFill>
              <a:srgbClr val="095294"/>
            </a:solidFill>
            <a:tailEnd len="med" type="arrow" w="med"/>
          </a:ln>
        </p:spPr>
      </p:cxnSp>
      <p:sp>
        <p:nvSpPr>
          <p:cNvPr id="185" name="PlaceHolder 3"/>
          <p:cNvSpPr>
            <a:spLocks noGrp="1"/>
          </p:cNvSpPr>
          <p:nvPr>
            <p:ph type="dt" idx="44"/>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2173DF2B-0FC9-45FE-80B2-05B23BB856A6}"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86" name="PlaceHolder 4"/>
          <p:cNvSpPr>
            <a:spLocks noGrp="1"/>
          </p:cNvSpPr>
          <p:nvPr>
            <p:ph type="ftr" idx="4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87" name="Picture 3" descr=""/>
          <p:cNvPicPr/>
          <p:nvPr/>
        </p:nvPicPr>
        <p:blipFill>
          <a:blip r:embed="rId1"/>
          <a:stretch/>
        </p:blipFill>
        <p:spPr>
          <a:xfrm>
            <a:off x="0" y="838080"/>
            <a:ext cx="9143280" cy="45000"/>
          </a:xfrm>
          <a:prstGeom prst="rect">
            <a:avLst/>
          </a:prstGeom>
          <a:ln w="0">
            <a:noFill/>
          </a:ln>
        </p:spPr>
      </p:pic>
      <p:sp>
        <p:nvSpPr>
          <p:cNvPr id="188" name="Rectangle: Rounded Corners 4"/>
          <p:cNvSpPr/>
          <p:nvPr/>
        </p:nvSpPr>
        <p:spPr>
          <a:xfrm>
            <a:off x="1331640" y="2590920"/>
            <a:ext cx="1944360" cy="326160"/>
          </a:xfrm>
          <a:prstGeom prst="roundRect">
            <a:avLst>
              <a:gd name="adj" fmla="val 16667"/>
            </a:avLst>
          </a:prstGeom>
          <a:solidFill>
            <a:schemeClr val="accent1">
              <a:alpha val="22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89" name="Rectangle: Rounded Corners 5"/>
          <p:cNvSpPr/>
          <p:nvPr/>
        </p:nvSpPr>
        <p:spPr>
          <a:xfrm>
            <a:off x="4648320" y="2057400"/>
            <a:ext cx="2227320" cy="287280"/>
          </a:xfrm>
          <a:prstGeom prst="roundRect">
            <a:avLst>
              <a:gd name="adj" fmla="val 16667"/>
            </a:avLst>
          </a:prstGeom>
          <a:solidFill>
            <a:schemeClr val="accent1">
              <a:alpha val="24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90" name="Rectangle: Rounded Corners 6"/>
          <p:cNvSpPr/>
          <p:nvPr/>
        </p:nvSpPr>
        <p:spPr>
          <a:xfrm>
            <a:off x="4788000" y="3503520"/>
            <a:ext cx="1943640" cy="317160"/>
          </a:xfrm>
          <a:prstGeom prst="roundRect">
            <a:avLst>
              <a:gd name="adj" fmla="val 16667"/>
            </a:avLst>
          </a:prstGeom>
          <a:solidFill>
            <a:schemeClr val="accent1">
              <a:alpha val="43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91" name="Rectangle: Rounded Corners 7"/>
          <p:cNvSpPr/>
          <p:nvPr/>
        </p:nvSpPr>
        <p:spPr>
          <a:xfrm>
            <a:off x="1600200" y="4875120"/>
            <a:ext cx="1294560" cy="304200"/>
          </a:xfrm>
          <a:prstGeom prst="roundRect">
            <a:avLst>
              <a:gd name="adj" fmla="val 16667"/>
            </a:avLst>
          </a:prstGeom>
          <a:solidFill>
            <a:schemeClr val="accent1">
              <a:alpha val="27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92" name="Rectangle: Rounded Corners 8"/>
          <p:cNvSpPr/>
          <p:nvPr/>
        </p:nvSpPr>
        <p:spPr>
          <a:xfrm>
            <a:off x="1599480" y="6051600"/>
            <a:ext cx="1295640" cy="282240"/>
          </a:xfrm>
          <a:prstGeom prst="roundRect">
            <a:avLst>
              <a:gd name="adj" fmla="val 16667"/>
            </a:avLst>
          </a:prstGeom>
          <a:solidFill>
            <a:schemeClr val="accent1">
              <a:alpha val="30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
        <p:nvSpPr>
          <p:cNvPr id="193" name="Rectangle: Rounded Corners 9"/>
          <p:cNvSpPr/>
          <p:nvPr/>
        </p:nvSpPr>
        <p:spPr>
          <a:xfrm>
            <a:off x="4788000" y="6248520"/>
            <a:ext cx="2087640" cy="311040"/>
          </a:xfrm>
          <a:prstGeom prst="roundRect">
            <a:avLst>
              <a:gd name="adj" fmla="val 16667"/>
            </a:avLst>
          </a:prstGeom>
          <a:solidFill>
            <a:schemeClr val="accent1">
              <a:alpha val="30000"/>
            </a:schemeClr>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endParaRPr b="0" lang="zxx" sz="1800" spc="-1" strike="noStrike">
              <a:solidFill>
                <a:schemeClr val="lt1"/>
              </a:solidFill>
              <a:latin typeface="Constantia"/>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1800" spc="-1" strike="noStrike">
                <a:solidFill>
                  <a:schemeClr val="dk2"/>
                </a:solidFill>
                <a:latin typeface="Calibri"/>
              </a:rPr>
              <a:t>2.2-</a:t>
            </a:r>
            <a:r>
              <a:rPr b="1" lang="en-US" sz="3200" spc="-1" strike="noStrike">
                <a:solidFill>
                  <a:schemeClr val="dk2"/>
                </a:solidFill>
                <a:latin typeface="Calibri"/>
              </a:rPr>
              <a:t> Nguyên tắc thiết kế</a:t>
            </a:r>
            <a:endParaRPr b="0" lang="vi-VN" sz="3200" spc="-1" strike="noStrike">
              <a:solidFill>
                <a:srgbClr val="000000"/>
              </a:solidFill>
              <a:latin typeface="Arial"/>
            </a:endParaRPr>
          </a:p>
        </p:txBody>
      </p:sp>
      <p:sp>
        <p:nvSpPr>
          <p:cNvPr id="195" name="PlaceHolder 2"/>
          <p:cNvSpPr>
            <a:spLocks noGrp="1"/>
          </p:cNvSpPr>
          <p:nvPr>
            <p:ph/>
          </p:nvPr>
        </p:nvSpPr>
        <p:spPr>
          <a:xfrm>
            <a:off x="685800" y="185400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Chính xác</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Dễ hiểu</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Tránh trùng lặp</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Chọn đúng thuộc tính và kiểu thuộc tính</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Chọn đúng mối quan hệ</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196" name="PlaceHolder 3"/>
          <p:cNvSpPr>
            <a:spLocks noGrp="1"/>
          </p:cNvSpPr>
          <p:nvPr>
            <p:ph type="sldNum" idx="4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E8546D11-2DF7-42FD-96C2-62BFAEFBDDE9}"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197" name="PlaceHolder 4"/>
          <p:cNvSpPr>
            <a:spLocks noGrp="1"/>
          </p:cNvSpPr>
          <p:nvPr>
            <p:ph type="dt" idx="47"/>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F8E42522-F2B5-4CE9-ABEB-F84EB06C388A}"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98" name="PlaceHolder 5"/>
          <p:cNvSpPr>
            <a:spLocks noGrp="1"/>
          </p:cNvSpPr>
          <p:nvPr>
            <p:ph type="ftr" idx="4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99"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500" spc="-1" strike="noStrike">
                <a:solidFill>
                  <a:schemeClr val="dk2"/>
                </a:solidFill>
                <a:latin typeface="Calibri"/>
              </a:rPr>
              <a:t>Nội dung chi tiết</a:t>
            </a:r>
            <a:endParaRPr b="0" lang="vi-VN" sz="3500" spc="-1" strike="noStrike">
              <a:solidFill>
                <a:srgbClr val="000000"/>
              </a:solidFill>
              <a:latin typeface="Arial"/>
            </a:endParaRPr>
          </a:p>
        </p:txBody>
      </p:sp>
      <p:sp>
        <p:nvSpPr>
          <p:cNvPr id="201"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Quá trình thiết kế CSDL</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1" lang="en-US" sz="2600" spc="-1" strike="noStrike">
                <a:solidFill>
                  <a:schemeClr val="dk1"/>
                </a:solidFill>
                <a:latin typeface="Constantia"/>
              </a:rPr>
              <a:t>Mô hình thực thể - liên kết</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Thực thể</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Thuộc tính</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Ràng buộc trên kiểu liên kết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Lược đồ thực thể - liên kết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Thực  thể  yếu</a:t>
            </a:r>
            <a:endParaRPr b="0" lang="vi-VN" sz="24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Thiết</a:t>
            </a:r>
            <a:r>
              <a:rPr b="0" lang="en-US" sz="2600" spc="-1" strike="noStrike">
                <a:solidFill>
                  <a:schemeClr val="dk1"/>
                </a:solidFill>
                <a:latin typeface="Constantia"/>
              </a:rPr>
              <a:t> </a:t>
            </a:r>
            <a:r>
              <a:rPr b="0" lang="en-US" sz="2600" spc="-1" strike="noStrike">
                <a:solidFill>
                  <a:srgbClr val="777777"/>
                </a:solidFill>
                <a:latin typeface="Constantia"/>
              </a:rPr>
              <a:t>kế</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Ví dụ</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202" name="PlaceHolder 3"/>
          <p:cNvSpPr>
            <a:spLocks noGrp="1"/>
          </p:cNvSpPr>
          <p:nvPr>
            <p:ph type="sldNum" idx="4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77B64E59-D385-460B-B63E-A94E6ED48D22}"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203" name="PlaceHolder 4"/>
          <p:cNvSpPr>
            <a:spLocks noGrp="1"/>
          </p:cNvSpPr>
          <p:nvPr>
            <p:ph type="dt" idx="50"/>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D418FFCD-1FDC-4D3F-A828-FC2D73F860F5}"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04" name="PlaceHolder 5"/>
          <p:cNvSpPr>
            <a:spLocks noGrp="1"/>
          </p:cNvSpPr>
          <p:nvPr>
            <p:ph type="ftr" idx="5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05"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2800" spc="-1" strike="noStrike">
                <a:solidFill>
                  <a:schemeClr val="dk2"/>
                </a:solidFill>
                <a:latin typeface="Calibri"/>
              </a:rPr>
              <a:t>2.3 - </a:t>
            </a:r>
            <a:r>
              <a:rPr b="1" lang="en-US" sz="2800" spc="-1" strike="noStrike">
                <a:solidFill>
                  <a:schemeClr val="dk2"/>
                </a:solidFill>
                <a:latin typeface="Calibri"/>
              </a:rPr>
              <a:t>Mô hình thực thể - liên kết (ER)</a:t>
            </a:r>
            <a:endParaRPr b="0" lang="vi-VN" sz="2800" spc="-1" strike="noStrike">
              <a:solidFill>
                <a:srgbClr val="000000"/>
              </a:solidFill>
              <a:latin typeface="Arial"/>
            </a:endParaRPr>
          </a:p>
        </p:txBody>
      </p:sp>
      <p:sp>
        <p:nvSpPr>
          <p:cNvPr id="207"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1199"/>
              </a:spcBef>
              <a:buClr>
                <a:srgbClr val="0bd0d9"/>
              </a:buClr>
              <a:buSzPct val="95000"/>
              <a:buFont typeface="Wingdings 2" charset="2"/>
              <a:buChar char=""/>
            </a:pPr>
            <a:r>
              <a:rPr b="0" lang="en-US" sz="2600" spc="-1" strike="noStrike">
                <a:solidFill>
                  <a:schemeClr val="dk1"/>
                </a:solidFill>
                <a:latin typeface="Constantia"/>
              </a:rPr>
              <a:t>Được dùng để thiết kế CSDL ở </a:t>
            </a:r>
            <a:r>
              <a:rPr b="0" i="1" lang="en-US" sz="2600" spc="-1" strike="noStrike">
                <a:solidFill>
                  <a:schemeClr val="dk1"/>
                </a:solidFill>
                <a:latin typeface="Constantia"/>
              </a:rPr>
              <a:t>mức quan niệm</a:t>
            </a:r>
            <a:endParaRPr b="0" lang="vi-VN" sz="2600" spc="-1" strike="noStrike">
              <a:solidFill>
                <a:srgbClr val="000000"/>
              </a:solidFill>
              <a:latin typeface="Arial"/>
            </a:endParaRPr>
          </a:p>
          <a:p>
            <a:pPr marL="272880" indent="-272880">
              <a:lnSpc>
                <a:spcPct val="100000"/>
              </a:lnSpc>
              <a:spcBef>
                <a:spcPts val="1199"/>
              </a:spcBef>
              <a:buClr>
                <a:srgbClr val="0bd0d9"/>
              </a:buClr>
              <a:buSzPct val="95000"/>
              <a:buFont typeface="Wingdings 2" charset="2"/>
              <a:buChar char=""/>
            </a:pPr>
            <a:r>
              <a:rPr b="0" lang="en-US" sz="2600" spc="-1" strike="noStrike">
                <a:solidFill>
                  <a:schemeClr val="dk1"/>
                </a:solidFill>
                <a:latin typeface="Constantia"/>
              </a:rPr>
              <a:t>Biểu diễn </a:t>
            </a:r>
            <a:r>
              <a:rPr b="0" i="1" lang="en-US" sz="2600" spc="-1" strike="noStrike">
                <a:solidFill>
                  <a:schemeClr val="dk1"/>
                </a:solidFill>
                <a:latin typeface="Constantia"/>
              </a:rPr>
              <a:t>trừu tượng </a:t>
            </a:r>
            <a:r>
              <a:rPr b="0" lang="en-US" sz="2600" spc="-1" strike="noStrike">
                <a:solidFill>
                  <a:schemeClr val="dk1"/>
                </a:solidFill>
                <a:latin typeface="Constantia"/>
              </a:rPr>
              <a:t>cấu trúc của CSDL </a:t>
            </a:r>
            <a:endParaRPr b="0" lang="vi-VN" sz="2600" spc="-1" strike="noStrike">
              <a:solidFill>
                <a:srgbClr val="000000"/>
              </a:solidFill>
              <a:latin typeface="Arial"/>
            </a:endParaRPr>
          </a:p>
          <a:p>
            <a:pPr marL="272880" indent="-272880">
              <a:lnSpc>
                <a:spcPct val="100000"/>
              </a:lnSpc>
              <a:spcBef>
                <a:spcPts val="1199"/>
              </a:spcBef>
              <a:buClr>
                <a:srgbClr val="0bd0d9"/>
              </a:buClr>
              <a:buSzPct val="95000"/>
              <a:buFont typeface="Wingdings 2" charset="2"/>
              <a:buChar char=""/>
            </a:pPr>
            <a:r>
              <a:rPr b="0" lang="en-US" sz="2600" spc="-1" strike="noStrike">
                <a:solidFill>
                  <a:schemeClr val="dk1"/>
                </a:solidFill>
                <a:latin typeface="Constantia"/>
              </a:rPr>
              <a:t>Lược đồ thực thể- liên kết: biểu diễn CSDL theo mô hình thực thể - liên kết (ER: Entity-Relationship Diagram)</a:t>
            </a:r>
            <a:endParaRPr b="0" lang="vi-VN" sz="2600" spc="-1" strike="noStrike">
              <a:solidFill>
                <a:srgbClr val="000000"/>
              </a:solidFill>
              <a:latin typeface="Arial"/>
            </a:endParaRPr>
          </a:p>
          <a:p>
            <a:pPr marL="272880" indent="-272880">
              <a:lnSpc>
                <a:spcPct val="100000"/>
              </a:lnSpc>
              <a:spcBef>
                <a:spcPts val="1199"/>
              </a:spcBef>
              <a:buNone/>
              <a:tabLst>
                <a:tab algn="l" pos="0"/>
              </a:tabLst>
            </a:pPr>
            <a:r>
              <a:rPr b="1" i="1" lang="en-US" sz="2600" spc="-1" strike="noStrike">
                <a:solidFill>
                  <a:schemeClr val="dk1"/>
                </a:solidFill>
                <a:latin typeface="Constantia"/>
              </a:rPr>
              <a:t>Các khái niệm cơ bản:</a:t>
            </a:r>
            <a:endParaRPr b="0" lang="vi-VN" sz="2600" spc="-1" strike="noStrike">
              <a:solidFill>
                <a:srgbClr val="000000"/>
              </a:solidFill>
              <a:latin typeface="Arial"/>
            </a:endParaRPr>
          </a:p>
          <a:p>
            <a:pPr lvl="1" marL="639720" indent="-246240">
              <a:lnSpc>
                <a:spcPct val="100000"/>
              </a:lnSpc>
              <a:spcBef>
                <a:spcPts val="1199"/>
              </a:spcBef>
              <a:buClr>
                <a:srgbClr val="0f6fc6"/>
              </a:buClr>
              <a:buSzPct val="85000"/>
              <a:buFont typeface="Wingdings" charset="2"/>
              <a:buChar char=""/>
              <a:tabLst>
                <a:tab algn="l" pos="0"/>
              </a:tabLst>
            </a:pPr>
            <a:r>
              <a:rPr b="0" lang="en-US" sz="2400" spc="-1" strike="noStrike">
                <a:solidFill>
                  <a:schemeClr val="dk1"/>
                </a:solidFill>
                <a:latin typeface="Constantia"/>
              </a:rPr>
              <a:t>Thực thể/tập thực thể (Entity Sets)</a:t>
            </a:r>
            <a:endParaRPr b="0" lang="vi-VN" sz="2400" spc="-1" strike="noStrike">
              <a:solidFill>
                <a:srgbClr val="000000"/>
              </a:solidFill>
              <a:latin typeface="Arial"/>
            </a:endParaRPr>
          </a:p>
          <a:p>
            <a:pPr lvl="1" marL="639720" indent="-246240">
              <a:lnSpc>
                <a:spcPct val="100000"/>
              </a:lnSpc>
              <a:spcBef>
                <a:spcPts val="1199"/>
              </a:spcBef>
              <a:buClr>
                <a:srgbClr val="0f6fc6"/>
              </a:buClr>
              <a:buSzPct val="85000"/>
              <a:buFont typeface="Wingdings" charset="2"/>
              <a:buChar char=""/>
              <a:tabLst>
                <a:tab algn="l" pos="0"/>
              </a:tabLst>
            </a:pPr>
            <a:r>
              <a:rPr b="0" lang="en-US" sz="2400" spc="-1" strike="noStrike">
                <a:solidFill>
                  <a:schemeClr val="dk1"/>
                </a:solidFill>
                <a:latin typeface="Constantia"/>
              </a:rPr>
              <a:t>Thuộc tính (Attributes)</a:t>
            </a:r>
            <a:endParaRPr b="0" lang="vi-VN" sz="2400" spc="-1" strike="noStrike">
              <a:solidFill>
                <a:srgbClr val="000000"/>
              </a:solidFill>
              <a:latin typeface="Arial"/>
            </a:endParaRPr>
          </a:p>
          <a:p>
            <a:pPr lvl="1" marL="639720" indent="-246240">
              <a:lnSpc>
                <a:spcPct val="100000"/>
              </a:lnSpc>
              <a:spcBef>
                <a:spcPts val="1199"/>
              </a:spcBef>
              <a:buClr>
                <a:srgbClr val="0f6fc6"/>
              </a:buClr>
              <a:buSzPct val="85000"/>
              <a:buFont typeface="Wingdings" charset="2"/>
              <a:buChar char=""/>
              <a:tabLst>
                <a:tab algn="l" pos="0"/>
              </a:tabLst>
            </a:pPr>
            <a:r>
              <a:rPr b="0" lang="en-US" sz="2400" spc="-1" strike="noStrike">
                <a:solidFill>
                  <a:schemeClr val="dk1"/>
                </a:solidFill>
                <a:latin typeface="Constantia"/>
              </a:rPr>
              <a:t>Mối quan hệ/liên kết (Relationship)</a:t>
            </a:r>
            <a:endParaRPr b="0" lang="vi-VN" sz="2400" spc="-1" strike="noStrike">
              <a:solidFill>
                <a:srgbClr val="000000"/>
              </a:solidFill>
              <a:latin typeface="Arial"/>
            </a:endParaRPr>
          </a:p>
        </p:txBody>
      </p:sp>
      <p:sp>
        <p:nvSpPr>
          <p:cNvPr id="208" name="PlaceHolder 3"/>
          <p:cNvSpPr>
            <a:spLocks noGrp="1"/>
          </p:cNvSpPr>
          <p:nvPr>
            <p:ph type="sldNum" idx="5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ADC16B23-B8C6-4DC8-BE09-E6F03D74F6ED}" type="slidenum">
              <a:rPr b="0" lang="en-US" sz="1200" spc="-1" strike="noStrike">
                <a:solidFill>
                  <a:schemeClr val="dk2">
                    <a:shade val="90000"/>
                  </a:schemeClr>
                </a:solidFill>
                <a:latin typeface="Tahoma"/>
              </a:rPr>
              <a:t>&lt;number&gt;</a:t>
            </a:fld>
            <a:endParaRPr b="0" lang="vi-VN" sz="1200" spc="-1" strike="noStrike">
              <a:solidFill>
                <a:srgbClr val="000000"/>
              </a:solidFill>
              <a:latin typeface="Times New Roman"/>
            </a:endParaRPr>
          </a:p>
        </p:txBody>
      </p:sp>
      <p:sp>
        <p:nvSpPr>
          <p:cNvPr id="209" name="PlaceHolder 4"/>
          <p:cNvSpPr>
            <a:spLocks noGrp="1"/>
          </p:cNvSpPr>
          <p:nvPr>
            <p:ph type="dt" idx="53"/>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2CAB0373-257E-40F1-B431-E7C87ABDA8B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10" name="PlaceHolder 5"/>
          <p:cNvSpPr>
            <a:spLocks noGrp="1"/>
          </p:cNvSpPr>
          <p:nvPr>
            <p:ph type="ftr" idx="5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11"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500" spc="-1" strike="noStrike">
                <a:solidFill>
                  <a:schemeClr val="dk2"/>
                </a:solidFill>
                <a:latin typeface="Calibri"/>
              </a:rPr>
              <a:t>a. </a:t>
            </a:r>
            <a:r>
              <a:rPr b="1" lang="en-US" sz="3200" spc="-1" strike="noStrike">
                <a:solidFill>
                  <a:schemeClr val="dk2"/>
                </a:solidFill>
                <a:latin typeface="Calibri"/>
              </a:rPr>
              <a:t>Thực thể /tập thực thể</a:t>
            </a:r>
            <a:endParaRPr b="0" lang="vi-VN" sz="3200" spc="-1" strike="noStrike">
              <a:solidFill>
                <a:srgbClr val="000000"/>
              </a:solidFill>
              <a:latin typeface="Arial"/>
            </a:endParaRPr>
          </a:p>
        </p:txBody>
      </p:sp>
      <p:sp>
        <p:nvSpPr>
          <p:cNvPr id="213"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rmAutofit/>
          </a:bodyPr>
          <a:p>
            <a:pPr marL="274320" indent="-274320">
              <a:lnSpc>
                <a:spcPct val="100000"/>
              </a:lnSpc>
              <a:spcBef>
                <a:spcPts val="561"/>
              </a:spcBef>
              <a:buClr>
                <a:srgbClr val="0bd0d9"/>
              </a:buClr>
              <a:buSzPct val="95000"/>
              <a:buFont typeface="Wingdings 2" charset="2"/>
              <a:buChar char=""/>
            </a:pPr>
            <a:r>
              <a:rPr b="0" lang="en-US" sz="2600" spc="-1" strike="noStrike">
                <a:solidFill>
                  <a:schemeClr val="dk1"/>
                </a:solidFill>
                <a:latin typeface="Constantia"/>
              </a:rPr>
              <a:t> </a:t>
            </a:r>
            <a:r>
              <a:rPr b="1" i="1" lang="en-US" sz="2600" spc="-1" strike="noStrike">
                <a:solidFill>
                  <a:schemeClr val="dk1"/>
                </a:solidFill>
                <a:latin typeface="Constantia"/>
              </a:rPr>
              <a:t>Thực thể</a:t>
            </a:r>
            <a:r>
              <a:rPr b="0" lang="en-US" sz="2800" spc="-1" strike="noStrike">
                <a:solidFill>
                  <a:schemeClr val="dk1"/>
                </a:solidFill>
                <a:latin typeface="Constantia"/>
              </a:rPr>
              <a:t> </a:t>
            </a:r>
            <a:r>
              <a:rPr b="0" lang="en-US" sz="2000" spc="-1" strike="noStrike">
                <a:solidFill>
                  <a:schemeClr val="dk1"/>
                </a:solidFill>
                <a:latin typeface="Constantia"/>
              </a:rPr>
              <a:t>(Entity) </a:t>
            </a:r>
            <a:r>
              <a:rPr b="1" i="1" lang="en-US" sz="2600" spc="-1" strike="noStrike">
                <a:solidFill>
                  <a:schemeClr val="dk1"/>
                </a:solidFill>
                <a:latin typeface="Constantia"/>
              </a:rPr>
              <a:t>: </a:t>
            </a:r>
            <a:endParaRPr b="0" lang="vi-VN" sz="2600" spc="-1" strike="noStrike">
              <a:solidFill>
                <a:srgbClr val="000000"/>
              </a:solidFill>
              <a:latin typeface="Arial"/>
            </a:endParaRPr>
          </a:p>
          <a:p>
            <a:pPr lvl="1" marL="639720" indent="-246240">
              <a:lnSpc>
                <a:spcPct val="100000"/>
              </a:lnSpc>
              <a:spcBef>
                <a:spcPts val="479"/>
              </a:spcBef>
              <a:buClr>
                <a:srgbClr val="0bd0d9"/>
              </a:buClr>
              <a:buSzPct val="85000"/>
              <a:buFont typeface="Courier New"/>
              <a:buChar char="o"/>
            </a:pPr>
            <a:r>
              <a:rPr b="0" lang="en-US" sz="2400" spc="-1" strike="noStrike">
                <a:solidFill>
                  <a:schemeClr val="dk1"/>
                </a:solidFill>
                <a:latin typeface="Constantia"/>
              </a:rPr>
              <a:t>Là một đối tượng của thế giới thực (đối tượng vật lý cụ thể hoặc trừu tượng) được mô hình hóa trong hệ thống</a:t>
            </a:r>
            <a:endParaRPr b="0" lang="vi-VN" sz="2400" spc="-1" strike="noStrike">
              <a:solidFill>
                <a:srgbClr val="000000"/>
              </a:solidFill>
              <a:latin typeface="Arial"/>
            </a:endParaRPr>
          </a:p>
          <a:p>
            <a:pPr lvl="1" marL="639720" indent="-246240">
              <a:lnSpc>
                <a:spcPct val="100000"/>
              </a:lnSpc>
              <a:spcBef>
                <a:spcPts val="479"/>
              </a:spcBef>
              <a:buClr>
                <a:srgbClr val="0bd0d9"/>
              </a:buClr>
              <a:buSzPct val="85000"/>
              <a:buFont typeface="Courier New"/>
              <a:buChar char="o"/>
            </a:pPr>
            <a:r>
              <a:rPr b="0" lang="en-US" sz="2400" spc="-1" strike="noStrike">
                <a:solidFill>
                  <a:schemeClr val="dk1"/>
                </a:solidFill>
                <a:latin typeface="Constantia"/>
              </a:rPr>
              <a:t>Thực thể được mô tả bởi một tập các đặc trưng của nó - </a:t>
            </a:r>
            <a:r>
              <a:rPr b="1" i="1" lang="en-US" sz="2400" spc="-1" strike="noStrike">
                <a:solidFill>
                  <a:schemeClr val="dk1"/>
                </a:solidFill>
                <a:latin typeface="Constantia"/>
              </a:rPr>
              <a:t>thuộc tính; </a:t>
            </a:r>
            <a:endParaRPr b="0" lang="vi-VN" sz="2400" spc="-1" strike="noStrike">
              <a:solidFill>
                <a:srgbClr val="000000"/>
              </a:solidFill>
              <a:latin typeface="Arial"/>
            </a:endParaRPr>
          </a:p>
          <a:p>
            <a:pPr marL="272880" indent="-272880">
              <a:lnSpc>
                <a:spcPct val="100000"/>
              </a:lnSpc>
              <a:spcBef>
                <a:spcPts val="519"/>
              </a:spcBef>
              <a:buClr>
                <a:srgbClr val="0bd0d9"/>
              </a:buClr>
              <a:buSzPct val="95000"/>
              <a:buFont typeface="Courier New"/>
              <a:buChar char="o"/>
            </a:pPr>
            <a:r>
              <a:rPr b="1" i="1" lang="en-US" sz="2600" spc="-1" strike="noStrike">
                <a:solidFill>
                  <a:schemeClr val="dk1"/>
                </a:solidFill>
                <a:latin typeface="Constantia"/>
              </a:rPr>
              <a:t>Tập thực thể</a:t>
            </a:r>
            <a:r>
              <a:rPr b="0" lang="en-US" sz="2600" spc="-1" strike="noStrike">
                <a:solidFill>
                  <a:schemeClr val="dk1"/>
                </a:solidFill>
                <a:latin typeface="Constantia"/>
              </a:rPr>
              <a:t>: tập hợp các thực thể giống nhau</a:t>
            </a:r>
            <a:endParaRPr b="0" lang="vi-VN" sz="2600" spc="-1" strike="noStrike">
              <a:solidFill>
                <a:srgbClr val="000000"/>
              </a:solidFill>
              <a:latin typeface="Arial"/>
            </a:endParaRPr>
          </a:p>
          <a:p>
            <a:pPr marL="274320" indent="-274320">
              <a:lnSpc>
                <a:spcPct val="100000"/>
              </a:lnSpc>
              <a:spcBef>
                <a:spcPts val="519"/>
              </a:spcBef>
              <a:buClr>
                <a:srgbClr val="0bd0d9"/>
              </a:buClr>
              <a:buSzPct val="95000"/>
              <a:buFont typeface="Wingdings 2" charset="2"/>
              <a:buChar char=""/>
            </a:pPr>
            <a:r>
              <a:rPr b="1" i="1" lang="en-US" sz="2600" spc="-1" strike="noStrike">
                <a:solidFill>
                  <a:schemeClr val="dk1"/>
                </a:solidFill>
                <a:latin typeface="Constantia"/>
              </a:rPr>
              <a:t>Kiểu thực thể</a:t>
            </a:r>
            <a:r>
              <a:rPr b="0" i="1" lang="en-US" sz="2600" spc="-1" strike="noStrike">
                <a:solidFill>
                  <a:schemeClr val="dk1"/>
                </a:solidFill>
                <a:latin typeface="Constantia"/>
              </a:rPr>
              <a:t>: tập tất cả các thực thể giống nhau </a:t>
            </a:r>
            <a:endParaRPr b="0" lang="vi-VN" sz="2600" spc="-1" strike="noStrike">
              <a:solidFill>
                <a:srgbClr val="000000"/>
              </a:solidFill>
              <a:latin typeface="Arial"/>
            </a:endParaRPr>
          </a:p>
          <a:p>
            <a:pPr marL="274320" indent="-274320">
              <a:lnSpc>
                <a:spcPct val="100000"/>
              </a:lnSpc>
              <a:spcBef>
                <a:spcPts val="479"/>
              </a:spcBef>
              <a:buNone/>
              <a:tabLst>
                <a:tab algn="l" pos="0"/>
              </a:tabLst>
            </a:pPr>
            <a:r>
              <a:rPr b="0" i="1" lang="en-US" sz="2400" spc="-1" strike="noStrike">
                <a:solidFill>
                  <a:schemeClr val="dk1"/>
                </a:solidFill>
                <a:latin typeface="Constantia"/>
              </a:rPr>
              <a:t>Chú ý:</a:t>
            </a:r>
            <a:endParaRPr b="0" lang="vi-VN" sz="2400" spc="-1" strike="noStrike">
              <a:solidFill>
                <a:srgbClr val="000000"/>
              </a:solidFill>
              <a:latin typeface="Arial"/>
            </a:endParaRPr>
          </a:p>
          <a:p>
            <a:pPr lvl="1" marL="640080" indent="-246960">
              <a:lnSpc>
                <a:spcPct val="100000"/>
              </a:lnSpc>
              <a:spcBef>
                <a:spcPts val="400"/>
              </a:spcBef>
              <a:buClr>
                <a:srgbClr val="0f6fc6"/>
              </a:buClr>
              <a:buSzPct val="85000"/>
              <a:buFont typeface="Courier New"/>
              <a:buChar char="o"/>
              <a:tabLst>
                <a:tab algn="l" pos="0"/>
              </a:tabLst>
            </a:pPr>
            <a:r>
              <a:rPr b="0" lang="en-US" sz="2000" spc="-1" strike="noStrike">
                <a:solidFill>
                  <a:schemeClr val="dk1"/>
                </a:solidFill>
                <a:latin typeface="Constantia"/>
              </a:rPr>
              <a:t>Thực thể (Entity)   -- Đối tượng (Object)</a:t>
            </a:r>
            <a:endParaRPr b="0" lang="vi-VN" sz="2000" spc="-1" strike="noStrike">
              <a:solidFill>
                <a:srgbClr val="000000"/>
              </a:solidFill>
              <a:latin typeface="Arial"/>
            </a:endParaRPr>
          </a:p>
          <a:p>
            <a:pPr lvl="1" marL="640080" indent="-246960">
              <a:lnSpc>
                <a:spcPct val="100000"/>
              </a:lnSpc>
              <a:spcBef>
                <a:spcPts val="400"/>
              </a:spcBef>
              <a:buClr>
                <a:srgbClr val="0f6fc6"/>
              </a:buClr>
              <a:buSzPct val="85000"/>
              <a:buFont typeface="Courier New"/>
              <a:buChar char="o"/>
              <a:tabLst>
                <a:tab algn="l" pos="0"/>
              </a:tabLst>
            </a:pPr>
            <a:r>
              <a:rPr b="0" lang="en-US" sz="2000" spc="-1" strike="noStrike">
                <a:solidFill>
                  <a:schemeClr val="dk1"/>
                </a:solidFill>
                <a:latin typeface="Constantia"/>
              </a:rPr>
              <a:t>Kiểu thực thể   -- Lớp đối tượng (Class)</a:t>
            </a:r>
            <a:endParaRPr b="0" lang="vi-VN" sz="2000" spc="-1" strike="noStrike">
              <a:solidFill>
                <a:srgbClr val="000000"/>
              </a:solidFill>
              <a:latin typeface="Arial"/>
            </a:endParaRPr>
          </a:p>
        </p:txBody>
      </p:sp>
      <p:sp>
        <p:nvSpPr>
          <p:cNvPr id="214" name="PlaceHolder 3"/>
          <p:cNvSpPr>
            <a:spLocks noGrp="1"/>
          </p:cNvSpPr>
          <p:nvPr>
            <p:ph type="sldNum" idx="5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A91AFD0C-E890-4EF8-9DED-3AF572B321C9}"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15" name="PlaceHolder 4"/>
          <p:cNvSpPr>
            <a:spLocks noGrp="1"/>
          </p:cNvSpPr>
          <p:nvPr>
            <p:ph type="dt" idx="56"/>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0770471-B5D6-4BCB-A452-BB983B76AE9B}"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16" name="PlaceHolder 5"/>
          <p:cNvSpPr>
            <a:spLocks noGrp="1"/>
          </p:cNvSpPr>
          <p:nvPr>
            <p:ph type="ftr" idx="5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17"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i="1" lang="en-US" sz="2600" spc="-1" strike="noStrike">
                <a:solidFill>
                  <a:schemeClr val="dk1"/>
                </a:solidFill>
                <a:latin typeface="Constantia"/>
              </a:rPr>
              <a:t>Ví dụ </a:t>
            </a:r>
            <a:r>
              <a:rPr b="0" lang="en-US" sz="2600" spc="-1" strike="noStrike">
                <a:solidFill>
                  <a:schemeClr val="dk1"/>
                </a:solidFill>
                <a:latin typeface="Constantia"/>
              </a:rPr>
              <a:t>“</a:t>
            </a:r>
            <a:r>
              <a:rPr b="1" lang="en-US" sz="2600" spc="-1" strike="noStrike">
                <a:solidFill>
                  <a:schemeClr val="dk1"/>
                </a:solidFill>
                <a:latin typeface="Constantia"/>
              </a:rPr>
              <a:t>Quản lý đề án công ty</a:t>
            </a:r>
            <a:r>
              <a:rPr b="0" lang="en-US" sz="2600" spc="-1" strike="noStrike">
                <a:solidFill>
                  <a:schemeClr val="dk1"/>
                </a:solidFill>
                <a:latin typeface="Constantia"/>
              </a:rPr>
              <a:t>”</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Một nhân viên là một thực thể</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Tập hợp các nhân viên là tập thực thể</a:t>
            </a: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tabLst>
                <a:tab algn="l" pos="0"/>
              </a:tabLst>
            </a:pPr>
            <a:r>
              <a:rPr b="0" lang="en-US" sz="2400" spc="-1" strike="noStrike">
                <a:solidFill>
                  <a:schemeClr val="dk1"/>
                </a:solidFill>
                <a:latin typeface="Constantia"/>
              </a:rPr>
              <a:t>Một đề án là một thực thể</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tabLst>
                <a:tab algn="l" pos="0"/>
              </a:tabLst>
            </a:pPr>
            <a:r>
              <a:rPr b="0" lang="en-US" sz="2400" spc="-1" strike="noStrike">
                <a:solidFill>
                  <a:schemeClr val="dk1"/>
                </a:solidFill>
                <a:latin typeface="Constantia"/>
              </a:rPr>
              <a:t>Tập hợp các đề án là tập thực thể</a:t>
            </a: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tabLst>
                <a:tab algn="l" pos="0"/>
              </a:tabLst>
            </a:pPr>
            <a:r>
              <a:rPr b="0" lang="en-US" sz="2400" spc="-1" strike="noStrike">
                <a:solidFill>
                  <a:schemeClr val="dk1"/>
                </a:solidFill>
                <a:latin typeface="Constantia"/>
              </a:rPr>
              <a:t>Một phòng ban là một thực thể</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tabLst>
                <a:tab algn="l" pos="0"/>
              </a:tabLst>
            </a:pPr>
            <a:r>
              <a:rPr b="0" lang="en-US" sz="2400" spc="-1" strike="noStrike">
                <a:solidFill>
                  <a:schemeClr val="dk1"/>
                </a:solidFill>
                <a:latin typeface="Constantia"/>
              </a:rPr>
              <a:t>Tập hợp các phòng ban là tập thực thể</a:t>
            </a:r>
            <a:endParaRPr b="0" lang="vi-VN" sz="24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219" name="PlaceHolder 2"/>
          <p:cNvSpPr>
            <a:spLocks noGrp="1"/>
          </p:cNvSpPr>
          <p:nvPr>
            <p:ph type="sldNum" idx="5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20A1DEBC-BA51-4C4D-B58F-D936F0D39850}"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20" name="PlaceHolder 3"/>
          <p:cNvSpPr>
            <a:spLocks noGrp="1"/>
          </p:cNvSpPr>
          <p:nvPr>
            <p:ph type="dt" idx="59"/>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F7288735-C146-45B2-8BE3-9AF4A1B75B39}"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21" name="PlaceHolder 4"/>
          <p:cNvSpPr>
            <a:spLocks noGrp="1"/>
          </p:cNvSpPr>
          <p:nvPr>
            <p:ph type="ftr" idx="6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22"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3500" spc="-1" strike="noStrike">
                <a:solidFill>
                  <a:schemeClr val="dk2"/>
                </a:solidFill>
                <a:latin typeface="Calibri"/>
              </a:rPr>
              <a:t>a. </a:t>
            </a:r>
            <a:r>
              <a:rPr b="1" lang="en-US" sz="3200" spc="-1" strike="noStrike">
                <a:solidFill>
                  <a:schemeClr val="dk2"/>
                </a:solidFill>
                <a:latin typeface="Calibri"/>
              </a:rPr>
              <a:t>Thực thể /tập thực thể</a:t>
            </a:r>
            <a:endParaRPr b="0" lang="vi-VN" sz="3200" spc="-1" strike="noStrike">
              <a:solidFill>
                <a:srgbClr val="000000"/>
              </a:solidFill>
              <a:latin typeface="Arial"/>
            </a:endParaRPr>
          </a:p>
        </p:txBody>
      </p:sp>
      <p:pic>
        <p:nvPicPr>
          <p:cNvPr id="223"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nodeType="clickEffect" fill="hold" presetClass="entr" presetID="2" presetSubtype="4">
                                  <p:stCondLst>
                                    <p:cond delay="0"/>
                                  </p:stCondLst>
                                  <p:childTnLst>
                                    <p:set>
                                      <p:cBhvr>
                                        <p:cTn id="16" dur="1" fill="hold">
                                          <p:stCondLst>
                                            <p:cond delay="0"/>
                                          </p:stCondLst>
                                        </p:cTn>
                                        <p:tgtEl>
                                          <p:spTgt spid="218">
                                            <p:txEl>
                                              <p:pRg st="1" end="1"/>
                                            </p:txEl>
                                          </p:spTgt>
                                        </p:tgtEl>
                                        <p:attrNameLst>
                                          <p:attrName>style.visibility</p:attrName>
                                        </p:attrNameLst>
                                      </p:cBhvr>
                                      <p:to>
                                        <p:strVal val="visible"/>
                                      </p:to>
                                    </p:set>
                                    <p:anim calcmode="lin" valueType="num">
                                      <p:cBhvr additive="repl">
                                        <p:cTn id="17" dur="500" fill="hold"/>
                                        <p:tgtEl>
                                          <p:spTgt spid="218">
                                            <p:txEl>
                                              <p:pRg st="1" end="1"/>
                                            </p:txEl>
                                          </p:spTgt>
                                        </p:tgtEl>
                                        <p:attrNameLst>
                                          <p:attrName>ppt_x</p:attrName>
                                        </p:attrNameLst>
                                      </p:cBhvr>
                                      <p:tavLst>
                                        <p:tav tm="0">
                                          <p:val>
                                            <p:strVal val="#ppt_x"/>
                                          </p:val>
                                        </p:tav>
                                        <p:tav tm="100000">
                                          <p:val>
                                            <p:strVal val="#ppt_x"/>
                                          </p:val>
                                        </p:tav>
                                      </p:tavLst>
                                    </p:anim>
                                    <p:anim calcmode="lin" valueType="num">
                                      <p:cBhvr additive="repl">
                                        <p:cTn id="18" dur="500" fill="hold"/>
                                        <p:tgtEl>
                                          <p:spTgt spid="218">
                                            <p:txEl>
                                              <p:pRg st="1" end="1"/>
                                            </p:txEl>
                                          </p:spTgt>
                                        </p:tgtEl>
                                        <p:attrNameLst>
                                          <p:attrName>ppt_y</p:attrName>
                                        </p:attrNameLst>
                                      </p:cBhvr>
                                      <p:tavLst>
                                        <p:tav tm="0">
                                          <p:val>
                                            <p:strVal val="1+#ppt_h/2"/>
                                          </p:val>
                                        </p:tav>
                                        <p:tav tm="100000">
                                          <p:val>
                                            <p:strVal val="#ppt_y"/>
                                          </p:val>
                                        </p:tav>
                                      </p:tavLst>
                                    </p:anim>
                                  </p:childTnLst>
                                </p:cTn>
                              </p:par>
                              <p:par>
                                <p:cTn id="19" nodeType="withEffect" fill="hold" presetClass="entr" presetID="2" presetSubtype="4">
                                  <p:stCondLst>
                                    <p:cond delay="0"/>
                                  </p:stCondLst>
                                  <p:childTnLst>
                                    <p:set>
                                      <p:cBhvr>
                                        <p:cTn id="20" dur="1" fill="hold">
                                          <p:stCondLst>
                                            <p:cond delay="0"/>
                                          </p:stCondLst>
                                        </p:cTn>
                                        <p:tgtEl>
                                          <p:spTgt spid="218">
                                            <p:txEl>
                                              <p:pRg st="2" end="2"/>
                                            </p:txEl>
                                          </p:spTgt>
                                        </p:tgtEl>
                                        <p:attrNameLst>
                                          <p:attrName>style.visibility</p:attrName>
                                        </p:attrNameLst>
                                      </p:cBhvr>
                                      <p:to>
                                        <p:strVal val="visible"/>
                                      </p:to>
                                    </p:set>
                                    <p:anim calcmode="lin" valueType="num">
                                      <p:cBhvr additive="repl">
                                        <p:cTn id="21" dur="500" fill="hold"/>
                                        <p:tgtEl>
                                          <p:spTgt spid="218">
                                            <p:txEl>
                                              <p:pRg st="2" end="2"/>
                                            </p:txEl>
                                          </p:spTgt>
                                        </p:tgtEl>
                                        <p:attrNameLst>
                                          <p:attrName>ppt_x</p:attrName>
                                        </p:attrNameLst>
                                      </p:cBhvr>
                                      <p:tavLst>
                                        <p:tav tm="0">
                                          <p:val>
                                            <p:strVal val="#ppt_x"/>
                                          </p:val>
                                        </p:tav>
                                        <p:tav tm="100000">
                                          <p:val>
                                            <p:strVal val="#ppt_x"/>
                                          </p:val>
                                        </p:tav>
                                      </p:tavLst>
                                    </p:anim>
                                    <p:anim calcmode="lin" valueType="num">
                                      <p:cBhvr additive="repl">
                                        <p:cTn id="22" dur="500" fill="hold"/>
                                        <p:tgtEl>
                                          <p:spTgt spid="2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2" presetSubtype="4">
                                  <p:stCondLst>
                                    <p:cond delay="0"/>
                                  </p:stCondLst>
                                  <p:childTnLst>
                                    <p:set>
                                      <p:cBhvr>
                                        <p:cTn id="26" dur="1" fill="hold">
                                          <p:stCondLst>
                                            <p:cond delay="0"/>
                                          </p:stCondLst>
                                        </p:cTn>
                                        <p:tgtEl>
                                          <p:spTgt spid="218">
                                            <p:txEl>
                                              <p:pRg st="4" end="4"/>
                                            </p:txEl>
                                          </p:spTgt>
                                        </p:tgtEl>
                                        <p:attrNameLst>
                                          <p:attrName>style.visibility</p:attrName>
                                        </p:attrNameLst>
                                      </p:cBhvr>
                                      <p:to>
                                        <p:strVal val="visible"/>
                                      </p:to>
                                    </p:set>
                                    <p:anim calcmode="lin" valueType="num">
                                      <p:cBhvr additive="repl">
                                        <p:cTn id="27" dur="500" fill="hold"/>
                                        <p:tgtEl>
                                          <p:spTgt spid="218">
                                            <p:txEl>
                                              <p:pRg st="4" end="4"/>
                                            </p:txEl>
                                          </p:spTgt>
                                        </p:tgtEl>
                                        <p:attrNameLst>
                                          <p:attrName>ppt_x</p:attrName>
                                        </p:attrNameLst>
                                      </p:cBhvr>
                                      <p:tavLst>
                                        <p:tav tm="0">
                                          <p:val>
                                            <p:strVal val="#ppt_x"/>
                                          </p:val>
                                        </p:tav>
                                        <p:tav tm="100000">
                                          <p:val>
                                            <p:strVal val="#ppt_x"/>
                                          </p:val>
                                        </p:tav>
                                      </p:tavLst>
                                    </p:anim>
                                    <p:anim calcmode="lin" valueType="num">
                                      <p:cBhvr additive="repl">
                                        <p:cTn id="28" dur="500" fill="hold"/>
                                        <p:tgtEl>
                                          <p:spTgt spid="218">
                                            <p:txEl>
                                              <p:pRg st="4" end="4"/>
                                            </p:txEl>
                                          </p:spTgt>
                                        </p:tgtEl>
                                        <p:attrNameLst>
                                          <p:attrName>ppt_y</p:attrName>
                                        </p:attrNameLst>
                                      </p:cBhvr>
                                      <p:tavLst>
                                        <p:tav tm="0">
                                          <p:val>
                                            <p:strVal val="1+#ppt_h/2"/>
                                          </p:val>
                                        </p:tav>
                                        <p:tav tm="100000">
                                          <p:val>
                                            <p:strVal val="#ppt_y"/>
                                          </p:val>
                                        </p:tav>
                                      </p:tavLst>
                                    </p:anim>
                                  </p:childTnLst>
                                </p:cTn>
                              </p:par>
                              <p:par>
                                <p:cTn id="29" nodeType="withEffect" fill="hold" presetClass="entr" presetID="2" presetSubtype="4">
                                  <p:stCondLst>
                                    <p:cond delay="0"/>
                                  </p:stCondLst>
                                  <p:childTnLst>
                                    <p:set>
                                      <p:cBhvr>
                                        <p:cTn id="30" dur="1" fill="hold">
                                          <p:stCondLst>
                                            <p:cond delay="0"/>
                                          </p:stCondLst>
                                        </p:cTn>
                                        <p:tgtEl>
                                          <p:spTgt spid="218">
                                            <p:txEl>
                                              <p:pRg st="5" end="5"/>
                                            </p:txEl>
                                          </p:spTgt>
                                        </p:tgtEl>
                                        <p:attrNameLst>
                                          <p:attrName>style.visibility</p:attrName>
                                        </p:attrNameLst>
                                      </p:cBhvr>
                                      <p:to>
                                        <p:strVal val="visible"/>
                                      </p:to>
                                    </p:set>
                                    <p:anim calcmode="lin" valueType="num">
                                      <p:cBhvr additive="repl">
                                        <p:cTn id="31" dur="500" fill="hold"/>
                                        <p:tgtEl>
                                          <p:spTgt spid="218">
                                            <p:txEl>
                                              <p:pRg st="5" end="5"/>
                                            </p:txEl>
                                          </p:spTgt>
                                        </p:tgtEl>
                                        <p:attrNameLst>
                                          <p:attrName>ppt_x</p:attrName>
                                        </p:attrNameLst>
                                      </p:cBhvr>
                                      <p:tavLst>
                                        <p:tav tm="0">
                                          <p:val>
                                            <p:strVal val="#ppt_x"/>
                                          </p:val>
                                        </p:tav>
                                        <p:tav tm="100000">
                                          <p:val>
                                            <p:strVal val="#ppt_x"/>
                                          </p:val>
                                        </p:tav>
                                      </p:tavLst>
                                    </p:anim>
                                    <p:anim calcmode="lin" valueType="num">
                                      <p:cBhvr additive="repl">
                                        <p:cTn id="32" dur="500" fill="hold"/>
                                        <p:tgtEl>
                                          <p:spTgt spid="21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2" presetSubtype="4">
                                  <p:stCondLst>
                                    <p:cond delay="0"/>
                                  </p:stCondLst>
                                  <p:childTnLst>
                                    <p:set>
                                      <p:cBhvr>
                                        <p:cTn id="36" dur="1" fill="hold">
                                          <p:stCondLst>
                                            <p:cond delay="0"/>
                                          </p:stCondLst>
                                        </p:cTn>
                                        <p:tgtEl>
                                          <p:spTgt spid="218">
                                            <p:txEl>
                                              <p:pRg st="7" end="7"/>
                                            </p:txEl>
                                          </p:spTgt>
                                        </p:tgtEl>
                                        <p:attrNameLst>
                                          <p:attrName>style.visibility</p:attrName>
                                        </p:attrNameLst>
                                      </p:cBhvr>
                                      <p:to>
                                        <p:strVal val="visible"/>
                                      </p:to>
                                    </p:set>
                                    <p:anim calcmode="lin" valueType="num">
                                      <p:cBhvr additive="repl">
                                        <p:cTn id="37" dur="500" fill="hold"/>
                                        <p:tgtEl>
                                          <p:spTgt spid="218">
                                            <p:txEl>
                                              <p:pRg st="7" end="7"/>
                                            </p:txEl>
                                          </p:spTgt>
                                        </p:tgtEl>
                                        <p:attrNameLst>
                                          <p:attrName>ppt_x</p:attrName>
                                        </p:attrNameLst>
                                      </p:cBhvr>
                                      <p:tavLst>
                                        <p:tav tm="0">
                                          <p:val>
                                            <p:strVal val="#ppt_x"/>
                                          </p:val>
                                        </p:tav>
                                        <p:tav tm="100000">
                                          <p:val>
                                            <p:strVal val="#ppt_x"/>
                                          </p:val>
                                        </p:tav>
                                      </p:tavLst>
                                    </p:anim>
                                    <p:anim calcmode="lin" valueType="num">
                                      <p:cBhvr additive="repl">
                                        <p:cTn id="38" dur="500" fill="hold"/>
                                        <p:tgtEl>
                                          <p:spTgt spid="218">
                                            <p:txEl>
                                              <p:pRg st="7" end="7"/>
                                            </p:txEl>
                                          </p:spTgt>
                                        </p:tgtEl>
                                        <p:attrNameLst>
                                          <p:attrName>ppt_y</p:attrName>
                                        </p:attrNameLst>
                                      </p:cBhvr>
                                      <p:tavLst>
                                        <p:tav tm="0">
                                          <p:val>
                                            <p:strVal val="1+#ppt_h/2"/>
                                          </p:val>
                                        </p:tav>
                                        <p:tav tm="100000">
                                          <p:val>
                                            <p:strVal val="#ppt_y"/>
                                          </p:val>
                                        </p:tav>
                                      </p:tavLst>
                                    </p:anim>
                                  </p:childTnLst>
                                </p:cTn>
                              </p:par>
                              <p:par>
                                <p:cTn id="39" nodeType="withEffect" fill="hold" presetClass="entr" presetID="2" presetSubtype="4">
                                  <p:stCondLst>
                                    <p:cond delay="0"/>
                                  </p:stCondLst>
                                  <p:childTnLst>
                                    <p:set>
                                      <p:cBhvr>
                                        <p:cTn id="40" dur="1" fill="hold">
                                          <p:stCondLst>
                                            <p:cond delay="0"/>
                                          </p:stCondLst>
                                        </p:cTn>
                                        <p:tgtEl>
                                          <p:spTgt spid="218">
                                            <p:txEl>
                                              <p:pRg st="8" end="8"/>
                                            </p:txEl>
                                          </p:spTgt>
                                        </p:tgtEl>
                                        <p:attrNameLst>
                                          <p:attrName>style.visibility</p:attrName>
                                        </p:attrNameLst>
                                      </p:cBhvr>
                                      <p:to>
                                        <p:strVal val="visible"/>
                                      </p:to>
                                    </p:set>
                                    <p:anim calcmode="lin" valueType="num">
                                      <p:cBhvr additive="repl">
                                        <p:cTn id="41" dur="500" fill="hold"/>
                                        <p:tgtEl>
                                          <p:spTgt spid="218">
                                            <p:txEl>
                                              <p:pRg st="8" end="8"/>
                                            </p:txEl>
                                          </p:spTgt>
                                        </p:tgtEl>
                                        <p:attrNameLst>
                                          <p:attrName>ppt_x</p:attrName>
                                        </p:attrNameLst>
                                      </p:cBhvr>
                                      <p:tavLst>
                                        <p:tav tm="0">
                                          <p:val>
                                            <p:strVal val="#ppt_x"/>
                                          </p:val>
                                        </p:tav>
                                        <p:tav tm="100000">
                                          <p:val>
                                            <p:strVal val="#ppt_x"/>
                                          </p:val>
                                        </p:tav>
                                      </p:tavLst>
                                    </p:anim>
                                    <p:anim calcmode="lin" valueType="num">
                                      <p:cBhvr additive="repl">
                                        <p:cTn id="42" dur="500" fill="hold"/>
                                        <p:tgtEl>
                                          <p:spTgt spid="21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p:nvPr>
        </p:nvSpPr>
        <p:spPr>
          <a:xfrm>
            <a:off x="457200" y="1219320"/>
            <a:ext cx="8228880" cy="5104800"/>
          </a:xfrm>
          <a:prstGeom prst="rect">
            <a:avLst/>
          </a:prstGeom>
          <a:noFill/>
          <a:ln w="9360">
            <a:noFill/>
          </a:ln>
        </p:spPr>
        <p:txBody>
          <a:bodyPr numCol="1" spcCol="0" lIns="91440" rIns="91440" tIns="45720" bIns="45720" anchor="t">
            <a:noAutofit/>
          </a:bodyPr>
          <a:p>
            <a:pPr marL="272880" indent="-272880">
              <a:lnSpc>
                <a:spcPct val="90000"/>
              </a:lnSpc>
              <a:spcBef>
                <a:spcPts val="400"/>
              </a:spcBef>
              <a:buNone/>
              <a:tabLst>
                <a:tab algn="l" pos="0"/>
              </a:tabLst>
            </a:pPr>
            <a:r>
              <a:rPr b="0" i="1" lang="en-US" sz="2000" spc="-1" strike="noStrike">
                <a:solidFill>
                  <a:schemeClr val="dk1"/>
                </a:solidFill>
                <a:latin typeface="Constantia"/>
              </a:rPr>
              <a:t>Ví dụ: </a:t>
            </a:r>
            <a:r>
              <a:rPr b="0" lang="en-US" sz="2000" spc="-1" strike="noStrike">
                <a:solidFill>
                  <a:schemeClr val="dk1"/>
                </a:solidFill>
                <a:latin typeface="Constantia"/>
              </a:rPr>
              <a:t>Hãy xác định thực thể của  CSDL “THƯ VIỆN”, dựa trên mô tả  sau:</a:t>
            </a:r>
            <a:endParaRPr b="0" lang="vi-VN" sz="20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Thư viện được chia ra thành các nhánh. Thông tin về mỗi nhánh gồm có Mã nhánh, Tên nhánh và Địa chỉ.</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Mỗi cuốn sách trong thư viện có các thông tin về Mã sách, Tên sách Nhà xuất bản và Tác giả…</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tác giả có thể viết nhiều cuốn sách. Một cuốn sách có thể có nhiều tác giả viết.</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nhà xuất bản xuất bản nhiều cuốn sách. Một cuốn sách do một nhà xuất bản xuất bản. Thông tin về Nhà xuất bản gồm có Tên, Địachỉ và Sốđiệnthoại.</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cuốn sách có thể có nhiều bản sao được lưu trữ tại các nhánh. Thông tin về bản sao sách gồm Mã sách, số các bản sao.</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Thư viện có những người mượn sách. Thông tin về những người mượn sách gồm có Số thẻ, Họ tên, Địa chỉ  và Số điện thoại.</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Sách được cho các người mượn mượn tại các nhánh. Thông tin về một lần mượn gồm có Ngày mượn và ngày trả. </a:t>
            </a:r>
            <a:endParaRPr b="0" lang="vi-VN" sz="1800" spc="-1" strike="noStrike">
              <a:solidFill>
                <a:srgbClr val="000000"/>
              </a:solidFill>
              <a:latin typeface="Arial"/>
            </a:endParaRPr>
          </a:p>
        </p:txBody>
      </p:sp>
      <p:sp>
        <p:nvSpPr>
          <p:cNvPr id="225" name="PlaceHolder 2"/>
          <p:cNvSpPr>
            <a:spLocks noGrp="1"/>
          </p:cNvSpPr>
          <p:nvPr>
            <p:ph type="sldNum" idx="6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2D77484-307F-49AC-B8F6-ED7E619EE0B3}"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26" name="PlaceHolder 3"/>
          <p:cNvSpPr>
            <a:spLocks noGrp="1"/>
          </p:cNvSpPr>
          <p:nvPr>
            <p:ph type="dt" idx="62"/>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3D1133CB-C5F2-4BA6-8C1D-716AE632465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27" name="PlaceHolder 4"/>
          <p:cNvSpPr>
            <a:spLocks noGrp="1"/>
          </p:cNvSpPr>
          <p:nvPr>
            <p:ph type="ftr" idx="6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28" name="Picture 3" descr=""/>
          <p:cNvPicPr/>
          <p:nvPr/>
        </p:nvPicPr>
        <p:blipFill>
          <a:blip r:embed="rId1"/>
          <a:stretch/>
        </p:blipFill>
        <p:spPr>
          <a:xfrm>
            <a:off x="0" y="990720"/>
            <a:ext cx="9071280" cy="53280"/>
          </a:xfrm>
          <a:prstGeom prst="rect">
            <a:avLst/>
          </a:prstGeom>
          <a:ln w="0">
            <a:noFill/>
          </a:ln>
        </p:spPr>
      </p:pic>
      <p:sp>
        <p:nvSpPr>
          <p:cNvPr id="229" name="Rectangle 2"/>
          <p:cNvSpPr/>
          <p:nvPr/>
        </p:nvSpPr>
        <p:spPr>
          <a:xfrm>
            <a:off x="479880" y="19512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3500" spc="-1" strike="noStrike">
                <a:solidFill>
                  <a:schemeClr val="dk2"/>
                </a:solidFill>
                <a:latin typeface="Calibri"/>
              </a:rPr>
              <a:t>a. </a:t>
            </a:r>
            <a:r>
              <a:rPr b="1" lang="en-US" sz="3200" spc="-1" strike="noStrike">
                <a:solidFill>
                  <a:schemeClr val="dk2"/>
                </a:solidFill>
                <a:latin typeface="Calibri"/>
              </a:rPr>
              <a:t>Thực thể /tập thực thể</a:t>
            </a:r>
            <a:endParaRPr b="0" lang="vi-V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704880"/>
            <a:ext cx="8228880" cy="1142280"/>
          </a:xfrm>
          <a:prstGeom prst="rect">
            <a:avLst/>
          </a:prstGeom>
          <a:noFill/>
          <a:ln w="9360">
            <a:noFill/>
          </a:ln>
        </p:spPr>
        <p:txBody>
          <a:bodyPr numCol="1" spcCol="0" lIns="0" rIns="0" tIns="45720" bIns="0" anchor="b">
            <a:noAutofit/>
          </a:bodyPr>
          <a:p>
            <a:pPr indent="0">
              <a:lnSpc>
                <a:spcPct val="100000"/>
              </a:lnSpc>
              <a:buNone/>
              <a:tabLst>
                <a:tab algn="l" pos="0"/>
              </a:tabLst>
            </a:pPr>
            <a:r>
              <a:rPr b="0" i="1" lang="en-US" sz="2800" spc="-1" strike="noStrike">
                <a:solidFill>
                  <a:schemeClr val="dk2"/>
                </a:solidFill>
                <a:latin typeface="Calibri"/>
              </a:rPr>
              <a:t>Ví dụ : </a:t>
            </a:r>
            <a:r>
              <a:rPr b="0" lang="en-US" sz="2800" spc="-1" strike="noStrike">
                <a:solidFill>
                  <a:schemeClr val="dk2"/>
                </a:solidFill>
                <a:latin typeface="Calibri"/>
              </a:rPr>
              <a:t>Xác định các thực thể trong CSDL</a:t>
            </a:r>
            <a:r>
              <a:rPr b="0" i="1" lang="en-US" sz="2800" spc="-1" strike="noStrike">
                <a:solidFill>
                  <a:schemeClr val="dk2"/>
                </a:solidFill>
                <a:latin typeface="Calibri"/>
              </a:rPr>
              <a:t>“</a:t>
            </a:r>
            <a:r>
              <a:rPr b="1" lang="en-US" sz="2800" spc="-1" strike="noStrike">
                <a:solidFill>
                  <a:schemeClr val="dk2"/>
                </a:solidFill>
                <a:latin typeface="Calibri"/>
              </a:rPr>
              <a:t>QL Tuyển sinh“</a:t>
            </a:r>
            <a:endParaRPr b="0" lang="vi-VN" sz="2800" spc="-1" strike="noStrike">
              <a:solidFill>
                <a:srgbClr val="000000"/>
              </a:solidFill>
              <a:latin typeface="Arial"/>
            </a:endParaRPr>
          </a:p>
        </p:txBody>
      </p:sp>
      <p:sp>
        <p:nvSpPr>
          <p:cNvPr id="231" name="PlaceHolder 2"/>
          <p:cNvSpPr>
            <a:spLocks noGrp="1"/>
          </p:cNvSpPr>
          <p:nvPr>
            <p:ph/>
          </p:nvPr>
        </p:nvSpPr>
        <p:spPr>
          <a:xfrm>
            <a:off x="1523880" y="1935000"/>
            <a:ext cx="7162200" cy="438876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Thí sinh</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Trường</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Khoa</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Ngành</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Khối thi</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Môn thi</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Khu vực</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Đối tượng ưu tiên</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a:t>
            </a:r>
            <a:endParaRPr b="0" lang="vi-VN" sz="2600" spc="-1" strike="noStrike">
              <a:solidFill>
                <a:srgbClr val="000000"/>
              </a:solidFill>
              <a:latin typeface="Arial"/>
            </a:endParaRPr>
          </a:p>
        </p:txBody>
      </p:sp>
      <p:sp>
        <p:nvSpPr>
          <p:cNvPr id="232" name="PlaceHolder 3"/>
          <p:cNvSpPr>
            <a:spLocks noGrp="1"/>
          </p:cNvSpPr>
          <p:nvPr>
            <p:ph type="sldNum" idx="6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78BDCDF5-C7DA-457B-B254-4622B826F2D8}"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33" name="PlaceHolder 4"/>
          <p:cNvSpPr>
            <a:spLocks noGrp="1"/>
          </p:cNvSpPr>
          <p:nvPr>
            <p:ph type="dt" idx="65"/>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92914114-7B2E-4F9F-AEE9-C94AC267AD2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34" name="PlaceHolder 5"/>
          <p:cNvSpPr>
            <a:spLocks noGrp="1"/>
          </p:cNvSpPr>
          <p:nvPr>
            <p:ph type="ftr" idx="66"/>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35" name="Rectangle 2"/>
          <p:cNvSpPr/>
          <p:nvPr/>
        </p:nvSpPr>
        <p:spPr>
          <a:xfrm>
            <a:off x="457200" y="22860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3500" spc="-1" strike="noStrike">
                <a:solidFill>
                  <a:schemeClr val="dk2"/>
                </a:solidFill>
                <a:latin typeface="Calibri"/>
              </a:rPr>
              <a:t>a. </a:t>
            </a:r>
            <a:r>
              <a:rPr b="1" lang="en-US" sz="3200" spc="-1" strike="noStrike">
                <a:solidFill>
                  <a:schemeClr val="dk2"/>
                </a:solidFill>
                <a:latin typeface="Calibri"/>
              </a:rPr>
              <a:t>Thực thể /tập thực thể</a:t>
            </a:r>
            <a:endParaRPr b="0" lang="vi-VN" sz="3200" spc="-1" strike="noStrike">
              <a:solidFill>
                <a:srgbClr val="000000"/>
              </a:solidFill>
              <a:latin typeface="Arial"/>
            </a:endParaRPr>
          </a:p>
        </p:txBody>
      </p:sp>
      <p:pic>
        <p:nvPicPr>
          <p:cNvPr id="236"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4" presetSubtype="16">
                                  <p:stCondLst>
                                    <p:cond delay="0"/>
                                  </p:stCondLst>
                                  <p:childTnLst>
                                    <p:set>
                                      <p:cBhvr>
                                        <p:cTn id="48" dur="1" fill="hold">
                                          <p:stCondLst>
                                            <p:cond delay="0"/>
                                          </p:stCondLst>
                                        </p:cTn>
                                        <p:tgtEl>
                                          <p:spTgt spid="231">
                                            <p:txEl>
                                              <p:pRg st="0" end="0"/>
                                            </p:txEl>
                                          </p:spTgt>
                                        </p:tgtEl>
                                        <p:attrNameLst>
                                          <p:attrName>style.visibility</p:attrName>
                                        </p:attrNameLst>
                                      </p:cBhvr>
                                      <p:to>
                                        <p:strVal val="visible"/>
                                      </p:to>
                                    </p:set>
                                    <p:animEffect filter="box(in)" transition="in">
                                      <p:cBhvr additive="repl">
                                        <p:cTn id="49" dur="500"/>
                                        <p:tgtEl>
                                          <p:spTgt spid="231">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nodeType="clickEffect" fill="hold" presetClass="entr" presetID="4" presetSubtype="16">
                                  <p:stCondLst>
                                    <p:cond delay="0"/>
                                  </p:stCondLst>
                                  <p:childTnLst>
                                    <p:set>
                                      <p:cBhvr>
                                        <p:cTn id="53" dur="1" fill="hold">
                                          <p:stCondLst>
                                            <p:cond delay="0"/>
                                          </p:stCondLst>
                                        </p:cTn>
                                        <p:tgtEl>
                                          <p:spTgt spid="231">
                                            <p:txEl>
                                              <p:pRg st="1" end="1"/>
                                            </p:txEl>
                                          </p:spTgt>
                                        </p:tgtEl>
                                        <p:attrNameLst>
                                          <p:attrName>style.visibility</p:attrName>
                                        </p:attrNameLst>
                                      </p:cBhvr>
                                      <p:to>
                                        <p:strVal val="visible"/>
                                      </p:to>
                                    </p:set>
                                    <p:animEffect filter="box(in)" transition="in">
                                      <p:cBhvr additive="repl">
                                        <p:cTn id="54" dur="500"/>
                                        <p:tgtEl>
                                          <p:spTgt spid="231">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4" presetSubtype="16">
                                  <p:stCondLst>
                                    <p:cond delay="0"/>
                                  </p:stCondLst>
                                  <p:childTnLst>
                                    <p:set>
                                      <p:cBhvr>
                                        <p:cTn id="58" dur="1" fill="hold">
                                          <p:stCondLst>
                                            <p:cond delay="0"/>
                                          </p:stCondLst>
                                        </p:cTn>
                                        <p:tgtEl>
                                          <p:spTgt spid="231">
                                            <p:txEl>
                                              <p:pRg st="2" end="2"/>
                                            </p:txEl>
                                          </p:spTgt>
                                        </p:tgtEl>
                                        <p:attrNameLst>
                                          <p:attrName>style.visibility</p:attrName>
                                        </p:attrNameLst>
                                      </p:cBhvr>
                                      <p:to>
                                        <p:strVal val="visible"/>
                                      </p:to>
                                    </p:set>
                                    <p:animEffect filter="box(in)" transition="in">
                                      <p:cBhvr additive="repl">
                                        <p:cTn id="59" dur="500"/>
                                        <p:tgtEl>
                                          <p:spTgt spid="231">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nodeType="clickEffect" fill="hold" presetClass="entr" presetID="4" presetSubtype="16">
                                  <p:stCondLst>
                                    <p:cond delay="0"/>
                                  </p:stCondLst>
                                  <p:childTnLst>
                                    <p:set>
                                      <p:cBhvr>
                                        <p:cTn id="63" dur="1" fill="hold">
                                          <p:stCondLst>
                                            <p:cond delay="0"/>
                                          </p:stCondLst>
                                        </p:cTn>
                                        <p:tgtEl>
                                          <p:spTgt spid="231">
                                            <p:txEl>
                                              <p:pRg st="3" end="3"/>
                                            </p:txEl>
                                          </p:spTgt>
                                        </p:tgtEl>
                                        <p:attrNameLst>
                                          <p:attrName>style.visibility</p:attrName>
                                        </p:attrNameLst>
                                      </p:cBhvr>
                                      <p:to>
                                        <p:strVal val="visible"/>
                                      </p:to>
                                    </p:set>
                                    <p:animEffect filter="box(in)" transition="in">
                                      <p:cBhvr additive="repl">
                                        <p:cTn id="64" dur="500"/>
                                        <p:tgtEl>
                                          <p:spTgt spid="231">
                                            <p:txEl>
                                              <p:pRg st="3" end="3"/>
                                            </p:txEl>
                                          </p:spTgt>
                                        </p:tgtEl>
                                      </p:cBhvr>
                                    </p:animEffec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4" presetSubtype="16">
                                  <p:stCondLst>
                                    <p:cond delay="0"/>
                                  </p:stCondLst>
                                  <p:childTnLst>
                                    <p:set>
                                      <p:cBhvr>
                                        <p:cTn id="68" dur="1" fill="hold">
                                          <p:stCondLst>
                                            <p:cond delay="0"/>
                                          </p:stCondLst>
                                        </p:cTn>
                                        <p:tgtEl>
                                          <p:spTgt spid="231">
                                            <p:txEl>
                                              <p:pRg st="4" end="4"/>
                                            </p:txEl>
                                          </p:spTgt>
                                        </p:tgtEl>
                                        <p:attrNameLst>
                                          <p:attrName>style.visibility</p:attrName>
                                        </p:attrNameLst>
                                      </p:cBhvr>
                                      <p:to>
                                        <p:strVal val="visible"/>
                                      </p:to>
                                    </p:set>
                                    <p:animEffect filter="box(in)" transition="in">
                                      <p:cBhvr additive="repl">
                                        <p:cTn id="69" dur="500"/>
                                        <p:tgtEl>
                                          <p:spTgt spid="231">
                                            <p:txEl>
                                              <p:pRg st="4" end="4"/>
                                            </p:txEl>
                                          </p:spTgt>
                                        </p:tgtEl>
                                      </p:cBhvr>
                                    </p:animEffect>
                                  </p:childTnLst>
                                </p:cTn>
                              </p:par>
                            </p:childTnLst>
                          </p:cTn>
                        </p:par>
                      </p:childTnLst>
                    </p:cTn>
                  </p:par>
                  <p:par>
                    <p:cTn id="70" fill="hold">
                      <p:stCondLst>
                        <p:cond delay="indefinite"/>
                      </p:stCondLst>
                      <p:childTnLst>
                        <p:par>
                          <p:cTn id="71" fill="hold">
                            <p:stCondLst>
                              <p:cond delay="0"/>
                            </p:stCondLst>
                            <p:childTnLst>
                              <p:par>
                                <p:cTn id="72" nodeType="clickEffect" fill="hold" presetClass="entr" presetID="4" presetSubtype="16">
                                  <p:stCondLst>
                                    <p:cond delay="0"/>
                                  </p:stCondLst>
                                  <p:childTnLst>
                                    <p:set>
                                      <p:cBhvr>
                                        <p:cTn id="73" dur="1" fill="hold">
                                          <p:stCondLst>
                                            <p:cond delay="0"/>
                                          </p:stCondLst>
                                        </p:cTn>
                                        <p:tgtEl>
                                          <p:spTgt spid="231">
                                            <p:txEl>
                                              <p:pRg st="5" end="5"/>
                                            </p:txEl>
                                          </p:spTgt>
                                        </p:tgtEl>
                                        <p:attrNameLst>
                                          <p:attrName>style.visibility</p:attrName>
                                        </p:attrNameLst>
                                      </p:cBhvr>
                                      <p:to>
                                        <p:strVal val="visible"/>
                                      </p:to>
                                    </p:set>
                                    <p:animEffect filter="box(in)" transition="in">
                                      <p:cBhvr additive="repl">
                                        <p:cTn id="74" dur="500"/>
                                        <p:tgtEl>
                                          <p:spTgt spid="231">
                                            <p:txEl>
                                              <p:pRg st="5" end="5"/>
                                            </p:txEl>
                                          </p:spTgt>
                                        </p:tgtEl>
                                      </p:cBhvr>
                                    </p:animEffec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4" presetSubtype="16">
                                  <p:stCondLst>
                                    <p:cond delay="0"/>
                                  </p:stCondLst>
                                  <p:childTnLst>
                                    <p:set>
                                      <p:cBhvr>
                                        <p:cTn id="78" dur="1" fill="hold">
                                          <p:stCondLst>
                                            <p:cond delay="0"/>
                                          </p:stCondLst>
                                        </p:cTn>
                                        <p:tgtEl>
                                          <p:spTgt spid="231">
                                            <p:txEl>
                                              <p:pRg st="6" end="6"/>
                                            </p:txEl>
                                          </p:spTgt>
                                        </p:tgtEl>
                                        <p:attrNameLst>
                                          <p:attrName>style.visibility</p:attrName>
                                        </p:attrNameLst>
                                      </p:cBhvr>
                                      <p:to>
                                        <p:strVal val="visible"/>
                                      </p:to>
                                    </p:set>
                                    <p:animEffect filter="box(in)" transition="in">
                                      <p:cBhvr additive="repl">
                                        <p:cTn id="79" dur="500"/>
                                        <p:tgtEl>
                                          <p:spTgt spid="231">
                                            <p:txEl>
                                              <p:pRg st="6" end="6"/>
                                            </p:txEl>
                                          </p:spTgt>
                                        </p:tgtEl>
                                      </p:cBhvr>
                                    </p:animEffect>
                                  </p:childTnLst>
                                </p:cTn>
                              </p:par>
                            </p:childTnLst>
                          </p:cTn>
                        </p:par>
                      </p:childTnLst>
                    </p:cTn>
                  </p:par>
                  <p:par>
                    <p:cTn id="80" fill="hold">
                      <p:stCondLst>
                        <p:cond delay="indefinite"/>
                      </p:stCondLst>
                      <p:childTnLst>
                        <p:par>
                          <p:cTn id="81" fill="hold">
                            <p:stCondLst>
                              <p:cond delay="0"/>
                            </p:stCondLst>
                            <p:childTnLst>
                              <p:par>
                                <p:cTn id="82" nodeType="clickEffect" fill="hold" presetClass="entr" presetID="4" presetSubtype="16">
                                  <p:stCondLst>
                                    <p:cond delay="0"/>
                                  </p:stCondLst>
                                  <p:childTnLst>
                                    <p:set>
                                      <p:cBhvr>
                                        <p:cTn id="83" dur="1" fill="hold">
                                          <p:stCondLst>
                                            <p:cond delay="0"/>
                                          </p:stCondLst>
                                        </p:cTn>
                                        <p:tgtEl>
                                          <p:spTgt spid="231">
                                            <p:txEl>
                                              <p:pRg st="7" end="7"/>
                                            </p:txEl>
                                          </p:spTgt>
                                        </p:tgtEl>
                                        <p:attrNameLst>
                                          <p:attrName>style.visibility</p:attrName>
                                        </p:attrNameLst>
                                      </p:cBhvr>
                                      <p:to>
                                        <p:strVal val="visible"/>
                                      </p:to>
                                    </p:set>
                                    <p:animEffect filter="box(in)" transition="in">
                                      <p:cBhvr additive="repl">
                                        <p:cTn id="84" dur="500"/>
                                        <p:tgtEl>
                                          <p:spTgt spid="231">
                                            <p:txEl>
                                              <p:pRg st="7" end="7"/>
                                            </p:txEl>
                                          </p:spTgt>
                                        </p:tgtEl>
                                      </p:cBhvr>
                                    </p:animEffec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4" presetSubtype="16">
                                  <p:stCondLst>
                                    <p:cond delay="0"/>
                                  </p:stCondLst>
                                  <p:childTnLst>
                                    <p:set>
                                      <p:cBhvr>
                                        <p:cTn id="88" dur="1" fill="hold">
                                          <p:stCondLst>
                                            <p:cond delay="0"/>
                                          </p:stCondLst>
                                        </p:cTn>
                                        <p:tgtEl>
                                          <p:spTgt spid="231">
                                            <p:txEl>
                                              <p:pRg st="8" end="8"/>
                                            </p:txEl>
                                          </p:spTgt>
                                        </p:tgtEl>
                                        <p:attrNameLst>
                                          <p:attrName>style.visibility</p:attrName>
                                        </p:attrNameLst>
                                      </p:cBhvr>
                                      <p:to>
                                        <p:strVal val="visible"/>
                                      </p:to>
                                    </p:set>
                                    <p:animEffect filter="box(in)" transition="in">
                                      <p:cBhvr additive="repl">
                                        <p:cTn id="89" dur="500"/>
                                        <p:tgtEl>
                                          <p:spTgt spid="231">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p:nvPr>
        </p:nvSpPr>
        <p:spPr>
          <a:xfrm>
            <a:off x="228600" y="1143720"/>
            <a:ext cx="8762400" cy="5104800"/>
          </a:xfrm>
          <a:prstGeom prst="rect">
            <a:avLst/>
          </a:prstGeom>
          <a:noFill/>
          <a:ln w="9360">
            <a:noFill/>
          </a:ln>
        </p:spPr>
        <p:txBody>
          <a:bodyPr numCol="1" spcCol="0" lIns="91440" rIns="91440" tIns="45720" bIns="45720" anchor="t">
            <a:noAutofit/>
          </a:bodyPr>
          <a:p>
            <a:pPr marL="272880" indent="-272880">
              <a:lnSpc>
                <a:spcPct val="100000"/>
              </a:lnSpc>
              <a:spcBef>
                <a:spcPts val="439"/>
              </a:spcBef>
              <a:buClr>
                <a:srgbClr val="0bd0d9"/>
              </a:buClr>
              <a:buSzPct val="95000"/>
              <a:buFont typeface="Wingdings 2" charset="2"/>
              <a:buChar char=""/>
            </a:pPr>
            <a:r>
              <a:rPr b="0" lang="en-US" sz="2200" spc="-1" strike="noStrike">
                <a:solidFill>
                  <a:schemeClr val="dk1"/>
                </a:solidFill>
                <a:latin typeface="Constantia"/>
              </a:rPr>
              <a:t>Là các đặc trưng để mô tả thực thể; thực thể có thể có nhiều thuộc tính.</a:t>
            </a:r>
            <a:endParaRPr b="0" lang="vi-VN" sz="2200" spc="-1" strike="noStrike">
              <a:solidFill>
                <a:srgbClr val="000000"/>
              </a:solidFill>
              <a:latin typeface="Arial"/>
            </a:endParaRPr>
          </a:p>
          <a:p>
            <a:pPr marL="272880" indent="-272880">
              <a:lnSpc>
                <a:spcPct val="100000"/>
              </a:lnSpc>
              <a:spcBef>
                <a:spcPts val="439"/>
              </a:spcBef>
              <a:buClr>
                <a:srgbClr val="0bd0d9"/>
              </a:buClr>
              <a:buSzPct val="95000"/>
              <a:buFont typeface="Wingdings 2" charset="2"/>
              <a:buChar char=""/>
            </a:pPr>
            <a:r>
              <a:rPr b="0" lang="en-US" sz="2200" spc="-1" strike="noStrike">
                <a:solidFill>
                  <a:schemeClr val="dk1"/>
                </a:solidFill>
                <a:latin typeface="Constantia"/>
              </a:rPr>
              <a:t>Mỗi thực thể  cụ thể sẽ có các giá trị riêng cho mỗi thuộc tính của nó.</a:t>
            </a:r>
            <a:endParaRPr b="0" lang="vi-VN" sz="2200" spc="-1" strike="noStrike">
              <a:solidFill>
                <a:srgbClr val="000000"/>
              </a:solidFill>
              <a:latin typeface="Arial"/>
            </a:endParaRPr>
          </a:p>
          <a:p>
            <a:pPr marL="272880" indent="-272880">
              <a:lnSpc>
                <a:spcPct val="100000"/>
              </a:lnSpc>
              <a:spcBef>
                <a:spcPts val="479"/>
              </a:spcBef>
              <a:buClr>
                <a:srgbClr val="0bd0d9"/>
              </a:buClr>
              <a:buSzPct val="95000"/>
              <a:buFont typeface="Wingdings 2" charset="2"/>
              <a:buChar char=""/>
            </a:pPr>
            <a:r>
              <a:rPr b="1" i="1" lang="en-US" sz="2200" spc="-1" strike="noStrike">
                <a:solidFill>
                  <a:schemeClr val="dk1"/>
                </a:solidFill>
                <a:latin typeface="Constantia"/>
              </a:rPr>
              <a:t>Miền giá trị </a:t>
            </a:r>
            <a:r>
              <a:rPr b="0" lang="en-US" sz="2200" spc="-1" strike="noStrike">
                <a:solidFill>
                  <a:schemeClr val="dk1"/>
                </a:solidFill>
                <a:latin typeface="Constantia"/>
              </a:rPr>
              <a:t>của thuộc tính (domain): </a:t>
            </a:r>
            <a:r>
              <a:rPr b="0" lang="en-US" sz="2400" spc="-1" strike="noStrike">
                <a:solidFill>
                  <a:schemeClr val="dk1"/>
                </a:solidFill>
                <a:latin typeface="Constantia"/>
              </a:rPr>
              <a:t>tập tất cả các giá trị hợp lệ mà thuộc tính đó có thể nhận.</a:t>
            </a:r>
            <a:endParaRPr b="0" lang="vi-VN" sz="2400" spc="-1" strike="noStrike">
              <a:solidFill>
                <a:srgbClr val="000000"/>
              </a:solidFill>
              <a:latin typeface="Arial"/>
            </a:endParaRPr>
          </a:p>
          <a:p>
            <a:pPr marL="272880" indent="-272880">
              <a:lnSpc>
                <a:spcPct val="100000"/>
              </a:lnSpc>
              <a:spcBef>
                <a:spcPts val="439"/>
              </a:spcBef>
              <a:buClr>
                <a:srgbClr val="0bd0d9"/>
              </a:buClr>
              <a:buSzPct val="95000"/>
              <a:buFont typeface="Wingdings 2" charset="2"/>
              <a:buChar char=""/>
            </a:pPr>
            <a:r>
              <a:rPr b="0" i="1" lang="en-US" sz="2200" spc="-1" strike="noStrike">
                <a:solidFill>
                  <a:schemeClr val="dk1"/>
                </a:solidFill>
                <a:latin typeface="Constantia"/>
              </a:rPr>
              <a:t>Ví dụ:</a:t>
            </a:r>
            <a:endParaRPr b="0" lang="vi-VN" sz="2200" spc="-1" strike="noStrike">
              <a:solidFill>
                <a:srgbClr val="000000"/>
              </a:solidFill>
              <a:latin typeface="Arial"/>
            </a:endParaRPr>
          </a:p>
          <a:p>
            <a:pPr lvl="1" marL="639720" indent="-246240">
              <a:lnSpc>
                <a:spcPct val="100000"/>
              </a:lnSpc>
              <a:spcBef>
                <a:spcPts val="420"/>
              </a:spcBef>
              <a:buClr>
                <a:srgbClr val="0f6fc6"/>
              </a:buClr>
              <a:buSzPct val="85000"/>
              <a:buFont typeface="Courier New"/>
              <a:buChar char="o"/>
            </a:pPr>
            <a:r>
              <a:rPr b="0" lang="en-US" sz="2100" spc="-1" strike="noStrike">
                <a:solidFill>
                  <a:schemeClr val="dk1"/>
                </a:solidFill>
                <a:latin typeface="Constantia"/>
              </a:rPr>
              <a:t>Hoten: Kiểu chuỗi 30 byte (string)</a:t>
            </a:r>
            <a:endParaRPr b="0" lang="vi-VN" sz="2100" spc="-1" strike="noStrike">
              <a:solidFill>
                <a:srgbClr val="000000"/>
              </a:solidFill>
              <a:latin typeface="Arial"/>
            </a:endParaRPr>
          </a:p>
          <a:p>
            <a:pPr lvl="1" marL="639720" indent="-246240">
              <a:lnSpc>
                <a:spcPct val="100000"/>
              </a:lnSpc>
              <a:spcBef>
                <a:spcPts val="420"/>
              </a:spcBef>
              <a:buClr>
                <a:srgbClr val="0f6fc6"/>
              </a:buClr>
              <a:buSzPct val="85000"/>
              <a:buFont typeface="Courier New"/>
              <a:buChar char="o"/>
            </a:pPr>
            <a:r>
              <a:rPr b="0" lang="en-US" sz="2100" spc="-1" strike="noStrike">
                <a:solidFill>
                  <a:schemeClr val="dk1"/>
                </a:solidFill>
                <a:latin typeface="Constantia"/>
              </a:rPr>
              <a:t>Maso: Kiểu số nguyên 4 byte(integer)</a:t>
            </a:r>
            <a:endParaRPr b="0" lang="vi-VN" sz="2100" spc="-1" strike="noStrike">
              <a:solidFill>
                <a:srgbClr val="000000"/>
              </a:solidFill>
              <a:latin typeface="Arial"/>
            </a:endParaRPr>
          </a:p>
          <a:p>
            <a:pPr lvl="1" marL="639720" indent="-246240">
              <a:lnSpc>
                <a:spcPct val="100000"/>
              </a:lnSpc>
              <a:spcBef>
                <a:spcPts val="420"/>
              </a:spcBef>
              <a:buClr>
                <a:srgbClr val="0f6fc6"/>
              </a:buClr>
              <a:buSzPct val="85000"/>
              <a:buFont typeface="Courier New"/>
              <a:buChar char="o"/>
            </a:pPr>
            <a:r>
              <a:rPr b="0" lang="en-US" sz="2100" spc="-1" strike="noStrike">
                <a:solidFill>
                  <a:schemeClr val="dk1"/>
                </a:solidFill>
                <a:latin typeface="Constantia"/>
              </a:rPr>
              <a:t>Luong: Kiểu số thực 4 byte …</a:t>
            </a:r>
            <a:endParaRPr b="0" lang="vi-VN" sz="2100" spc="-1" strike="noStrike">
              <a:solidFill>
                <a:srgbClr val="000000"/>
              </a:solidFill>
              <a:latin typeface="Arial"/>
            </a:endParaRPr>
          </a:p>
          <a:p>
            <a:pPr lvl="1" marL="639720" indent="-246240">
              <a:lnSpc>
                <a:spcPct val="100000"/>
              </a:lnSpc>
              <a:spcBef>
                <a:spcPts val="420"/>
              </a:spcBef>
              <a:buClr>
                <a:srgbClr val="0f6fc6"/>
              </a:buClr>
              <a:buSzPct val="85000"/>
              <a:buFont typeface="Courier New"/>
              <a:buChar char="o"/>
            </a:pPr>
            <a:r>
              <a:rPr b="0" lang="en-US" sz="2100" spc="-1" strike="noStrike">
                <a:solidFill>
                  <a:schemeClr val="dk1"/>
                </a:solidFill>
                <a:latin typeface="Constantia"/>
              </a:rPr>
              <a:t>Điểm môn học: số thực  0..10</a:t>
            </a:r>
            <a:endParaRPr b="0" lang="vi-VN" sz="2100" spc="-1" strike="noStrike">
              <a:solidFill>
                <a:srgbClr val="000000"/>
              </a:solidFill>
              <a:latin typeface="Arial"/>
            </a:endParaRPr>
          </a:p>
          <a:p>
            <a:pPr marL="272880" indent="-272880">
              <a:lnSpc>
                <a:spcPct val="100000"/>
              </a:lnSpc>
              <a:spcBef>
                <a:spcPts val="439"/>
              </a:spcBef>
              <a:buClr>
                <a:srgbClr val="0bd0d9"/>
              </a:buClr>
              <a:buSzPct val="95000"/>
              <a:buFont typeface="Wingdings 2" charset="2"/>
              <a:buChar char=""/>
            </a:pPr>
            <a:r>
              <a:rPr b="0" lang="en-US" sz="2200" spc="-1" strike="noStrike">
                <a:solidFill>
                  <a:schemeClr val="dk1"/>
                </a:solidFill>
                <a:latin typeface="Constantia"/>
              </a:rPr>
              <a:t>Ví dụ tập thực thể NHANVIEN có các thuộc tính</a:t>
            </a:r>
            <a:endParaRPr b="0" lang="vi-VN" sz="2200" spc="-1" strike="noStrike">
              <a:solidFill>
                <a:srgbClr val="000000"/>
              </a:solidFill>
              <a:latin typeface="Arial"/>
            </a:endParaRPr>
          </a:p>
          <a:p>
            <a:pPr lvl="1" marL="639720" indent="-246240">
              <a:lnSpc>
                <a:spcPct val="100000"/>
              </a:lnSpc>
              <a:spcBef>
                <a:spcPts val="420"/>
              </a:spcBef>
              <a:buClr>
                <a:srgbClr val="0f6fc6"/>
              </a:buClr>
              <a:buSzPct val="85000"/>
              <a:buFont typeface="Courier New"/>
              <a:buChar char="o"/>
            </a:pPr>
            <a:r>
              <a:rPr b="0" lang="en-US" sz="2100" spc="-1" strike="noStrike">
                <a:solidFill>
                  <a:schemeClr val="dk1"/>
                </a:solidFill>
                <a:latin typeface="Constantia"/>
              </a:rPr>
              <a:t>Họ tên (hoten: string[30]); Ngày sinh (ns: date);Nơi sinh(string [40]); …</a:t>
            </a:r>
            <a:endParaRPr b="0" lang="vi-VN" sz="2100" spc="-1" strike="noStrike">
              <a:solidFill>
                <a:srgbClr val="000000"/>
              </a:solidFill>
              <a:latin typeface="Arial"/>
            </a:endParaRPr>
          </a:p>
          <a:p>
            <a:pPr indent="0">
              <a:lnSpc>
                <a:spcPct val="100000"/>
              </a:lnSpc>
              <a:spcBef>
                <a:spcPts val="439"/>
              </a:spcBef>
              <a:buNone/>
              <a:tabLst>
                <a:tab algn="l" pos="0"/>
              </a:tabLst>
            </a:pPr>
            <a:endParaRPr b="0" lang="vi-VN" sz="2200" spc="-1" strike="noStrike">
              <a:solidFill>
                <a:srgbClr val="000000"/>
              </a:solidFill>
              <a:latin typeface="Arial"/>
            </a:endParaRPr>
          </a:p>
        </p:txBody>
      </p:sp>
      <p:sp>
        <p:nvSpPr>
          <p:cNvPr id="238" name="PlaceHolder 2"/>
          <p:cNvSpPr>
            <a:spLocks noGrp="1"/>
          </p:cNvSpPr>
          <p:nvPr>
            <p:ph type="sldNum" idx="6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C7A691EE-A81A-4AAC-AF7C-E03AF1572B96}"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39" name="PlaceHolder 3"/>
          <p:cNvSpPr>
            <a:spLocks noGrp="1"/>
          </p:cNvSpPr>
          <p:nvPr>
            <p:ph type="dt" idx="6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C6E75303-BBC6-461F-AA7D-3C050A2F6AD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40" name="PlaceHolder 4"/>
          <p:cNvSpPr>
            <a:spLocks noGrp="1"/>
          </p:cNvSpPr>
          <p:nvPr>
            <p:ph type="ftr" idx="6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41" name="Rectangle 2"/>
          <p:cNvSpPr/>
          <p:nvPr/>
        </p:nvSpPr>
        <p:spPr>
          <a:xfrm>
            <a:off x="685800" y="228600"/>
            <a:ext cx="8228880" cy="619920"/>
          </a:xfrm>
          <a:prstGeom prst="rect">
            <a:avLst/>
          </a:prstGeom>
          <a:noFill/>
          <a:ln w="9525">
            <a:noFill/>
          </a:ln>
        </p:spPr>
        <p:style>
          <a:lnRef idx="0"/>
          <a:fillRef idx="0"/>
          <a:effectRef idx="0"/>
          <a:fontRef idx="minor"/>
        </p:style>
        <p:txBody>
          <a:bodyPr numCol="1" spcCol="0" lIns="0" rIns="0" tIns="45000" bIns="0" anchor="b">
            <a:noAutofit/>
          </a:bodyPr>
          <a:p>
            <a:pPr>
              <a:lnSpc>
                <a:spcPct val="100000"/>
              </a:lnSpc>
            </a:pPr>
            <a:r>
              <a:rPr b="0" lang="en-US" sz="3500" spc="-1" strike="noStrike">
                <a:solidFill>
                  <a:schemeClr val="dk2"/>
                </a:solidFill>
                <a:latin typeface="Calibri"/>
              </a:rPr>
              <a:t>b. </a:t>
            </a:r>
            <a:r>
              <a:rPr b="0" lang="en-US" sz="3200" spc="-1" strike="noStrike">
                <a:solidFill>
                  <a:schemeClr val="dk1"/>
                </a:solidFill>
                <a:latin typeface="Tahoma"/>
              </a:rPr>
              <a:t>Thuộc tính</a:t>
            </a:r>
            <a:endParaRPr b="0" lang="vi-VN" sz="3200" spc="-1" strike="noStrike">
              <a:solidFill>
                <a:srgbClr val="000000"/>
              </a:solidFill>
              <a:latin typeface="Arial"/>
            </a:endParaRPr>
          </a:p>
        </p:txBody>
      </p:sp>
      <p:pic>
        <p:nvPicPr>
          <p:cNvPr id="242"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p:nvPr>
        </p:nvSpPr>
        <p:spPr>
          <a:xfrm>
            <a:off x="457200" y="1295280"/>
            <a:ext cx="8305200" cy="5104800"/>
          </a:xfrm>
          <a:prstGeom prst="rect">
            <a:avLst/>
          </a:prstGeom>
          <a:noFill/>
          <a:ln w="9360">
            <a:noFill/>
          </a:ln>
        </p:spPr>
        <p:txBody>
          <a:bodyPr numCol="1" spcCol="0" lIns="91440" rIns="91440" tIns="45720" bIns="45720" anchor="t">
            <a:noAutofit/>
          </a:bodyPr>
          <a:p>
            <a:pPr marL="272880" indent="-272880">
              <a:lnSpc>
                <a:spcPct val="100000"/>
              </a:lnSpc>
              <a:spcBef>
                <a:spcPts val="479"/>
              </a:spcBef>
              <a:buClr>
                <a:srgbClr val="0bd0d9"/>
              </a:buClr>
              <a:buSzPct val="95000"/>
              <a:buFont typeface="Wingdings 2" charset="2"/>
              <a:buChar char=""/>
            </a:pPr>
            <a:r>
              <a:rPr b="0" i="1" lang="en-US" sz="2400" spc="-1" strike="noStrike">
                <a:solidFill>
                  <a:schemeClr val="dk1"/>
                </a:solidFill>
                <a:latin typeface="Constantia"/>
              </a:rPr>
              <a:t>Ví dụ</a:t>
            </a:r>
            <a:r>
              <a:rPr b="0" lang="en-US" sz="2400" spc="-1" strike="noStrike">
                <a:solidFill>
                  <a:schemeClr val="dk1"/>
                </a:solidFill>
                <a:latin typeface="Constantia"/>
              </a:rPr>
              <a:t>: CSDL </a:t>
            </a:r>
            <a:r>
              <a:rPr b="1" i="1" lang="en-US" sz="2400" spc="-1" strike="noStrike">
                <a:solidFill>
                  <a:schemeClr val="dk1"/>
                </a:solidFill>
                <a:latin typeface="Constantia"/>
              </a:rPr>
              <a:t>Tuyển sinh</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Thí sinh</a:t>
            </a:r>
            <a:r>
              <a:rPr b="0" lang="en-US" sz="2400" spc="-1" strike="noStrike">
                <a:solidFill>
                  <a:schemeClr val="dk1"/>
                </a:solidFill>
                <a:latin typeface="Constantia"/>
              </a:rPr>
              <a:t>: SBD (string [9]), họ tên, ngày sinh, nơi sinh, khu vực, đối tượng ưu tiên, trường THPT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Trường</a:t>
            </a:r>
            <a:r>
              <a:rPr b="0" lang="en-US" sz="2400" spc="-1" strike="noStrike">
                <a:solidFill>
                  <a:schemeClr val="dk1"/>
                </a:solidFill>
                <a:latin typeface="Constantia"/>
              </a:rPr>
              <a:t>:  Mã, tên , địa chỉ, điện thoại</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Khoa</a:t>
            </a:r>
            <a:r>
              <a:rPr b="0" lang="en-US" sz="2400" spc="-1" strike="noStrike">
                <a:solidFill>
                  <a:schemeClr val="dk1"/>
                </a:solidFill>
                <a:latin typeface="Constantia"/>
              </a:rPr>
              <a:t>:  Mã, tên khoa, địa chỉ, điện thoại</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Ngành</a:t>
            </a:r>
            <a:r>
              <a:rPr b="0" lang="en-US" sz="2400" spc="-1" strike="noStrike">
                <a:solidFill>
                  <a:schemeClr val="dk1"/>
                </a:solidFill>
                <a:latin typeface="Constantia"/>
              </a:rPr>
              <a:t>:Mã, tên, chỉ tiêu ts, điểm chuẩn</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Khối thi</a:t>
            </a:r>
            <a:r>
              <a:rPr b="0" lang="en-US" sz="2400" spc="-1" strike="noStrike">
                <a:solidFill>
                  <a:schemeClr val="dk1"/>
                </a:solidFill>
                <a:latin typeface="Constantia"/>
              </a:rPr>
              <a:t>: Mã, tên</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1" lang="en-US" sz="2400" spc="-1" strike="noStrike">
                <a:solidFill>
                  <a:schemeClr val="dk1"/>
                </a:solidFill>
                <a:latin typeface="Constantia"/>
              </a:rPr>
              <a:t>Môn thi</a:t>
            </a:r>
            <a:r>
              <a:rPr b="0" lang="en-US" sz="2400" spc="-1" strike="noStrike">
                <a:solidFill>
                  <a:schemeClr val="dk1"/>
                </a:solidFill>
                <a:latin typeface="Constantia"/>
              </a:rPr>
              <a:t>: Mã, tên, hình thức thi, thời gian thi.</a:t>
            </a:r>
            <a:endParaRPr b="0" lang="vi-VN" sz="24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p:txBody>
      </p:sp>
      <p:sp>
        <p:nvSpPr>
          <p:cNvPr id="244" name="PlaceHolder 2"/>
          <p:cNvSpPr>
            <a:spLocks noGrp="1"/>
          </p:cNvSpPr>
          <p:nvPr>
            <p:ph type="sldNum" idx="7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56F16622-649C-4EB9-A540-C0DB050DF41F}"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45" name="PlaceHolder 3"/>
          <p:cNvSpPr>
            <a:spLocks noGrp="1"/>
          </p:cNvSpPr>
          <p:nvPr>
            <p:ph type="dt" idx="71"/>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FD8968E-D5A5-4A46-A994-4903C577C1B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46" name="PlaceHolder 4"/>
          <p:cNvSpPr>
            <a:spLocks noGrp="1"/>
          </p:cNvSpPr>
          <p:nvPr>
            <p:ph type="ftr" idx="7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47" name="Rectangle 2"/>
          <p:cNvSpPr/>
          <p:nvPr/>
        </p:nvSpPr>
        <p:spPr>
          <a:xfrm>
            <a:off x="685800" y="228600"/>
            <a:ext cx="8228880" cy="619920"/>
          </a:xfrm>
          <a:prstGeom prst="rect">
            <a:avLst/>
          </a:prstGeom>
          <a:noFill/>
          <a:ln w="9525">
            <a:noFill/>
          </a:ln>
        </p:spPr>
        <p:style>
          <a:lnRef idx="0"/>
          <a:fillRef idx="0"/>
          <a:effectRef idx="0"/>
          <a:fontRef idx="minor"/>
        </p:style>
        <p:txBody>
          <a:bodyPr numCol="1" spcCol="0" lIns="0" rIns="0" tIns="45000" bIns="0" anchor="b">
            <a:noAutofit/>
          </a:bodyPr>
          <a:p>
            <a:pPr>
              <a:lnSpc>
                <a:spcPct val="100000"/>
              </a:lnSpc>
            </a:pPr>
            <a:r>
              <a:rPr b="0" lang="en-US" sz="3500" spc="-1" strike="noStrike">
                <a:solidFill>
                  <a:schemeClr val="dk2"/>
                </a:solidFill>
                <a:latin typeface="Calibri"/>
              </a:rPr>
              <a:t>b. </a:t>
            </a:r>
            <a:r>
              <a:rPr b="0" lang="en-US" sz="3200" spc="-1" strike="noStrike">
                <a:solidFill>
                  <a:schemeClr val="dk1"/>
                </a:solidFill>
                <a:latin typeface="Tahoma"/>
              </a:rPr>
              <a:t>Thuộc tính</a:t>
            </a:r>
            <a:endParaRPr b="0" lang="vi-VN" sz="3200" spc="-1" strike="noStrike">
              <a:solidFill>
                <a:srgbClr val="000000"/>
              </a:solidFill>
              <a:latin typeface="Arial"/>
            </a:endParaRPr>
          </a:p>
        </p:txBody>
      </p:sp>
      <p:pic>
        <p:nvPicPr>
          <p:cNvPr id="248"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90" dur="indefinite" restart="never" nodeType="tmRoot">
          <p:childTnLst>
            <p:seq>
              <p:cTn id="91" dur="indefinite" nodeType="mainSeq">
                <p:childTnLst>
                  <p:par>
                    <p:cTn id="92" fill="hold">
                      <p:stCondLst>
                        <p:cond delay="indefinite"/>
                      </p:stCondLst>
                      <p:childTnLst>
                        <p:par>
                          <p:cTn id="93" fill="hold">
                            <p:stCondLst>
                              <p:cond delay="0"/>
                            </p:stCondLst>
                            <p:childTnLst>
                              <p:par>
                                <p:cTn id="94" nodeType="clickEffect" fill="hold" presetClass="entr" presetID="5" presetSubtype="10">
                                  <p:stCondLst>
                                    <p:cond delay="0"/>
                                  </p:stCondLst>
                                  <p:childTnLst>
                                    <p:set>
                                      <p:cBhvr>
                                        <p:cTn id="95" dur="1" fill="hold">
                                          <p:stCondLst>
                                            <p:cond delay="0"/>
                                          </p:stCondLst>
                                        </p:cTn>
                                        <p:tgtEl>
                                          <p:spTgt spid="243">
                                            <p:txEl>
                                              <p:pRg st="1" end="1"/>
                                            </p:txEl>
                                          </p:spTgt>
                                        </p:tgtEl>
                                        <p:attrNameLst>
                                          <p:attrName>style.visibility</p:attrName>
                                        </p:attrNameLst>
                                      </p:cBhvr>
                                      <p:to>
                                        <p:strVal val="visible"/>
                                      </p:to>
                                    </p:set>
                                    <p:animEffect filter="checkerboard(across)" transition="in">
                                      <p:cBhvr additive="repl">
                                        <p:cTn id="96" dur="500"/>
                                        <p:tgtEl>
                                          <p:spTgt spid="243">
                                            <p:txEl>
                                              <p:pRg st="1" end="1"/>
                                            </p:txEl>
                                          </p:spTgt>
                                        </p:tgtEl>
                                      </p:cBhvr>
                                    </p:animEffec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5" presetSubtype="10">
                                  <p:stCondLst>
                                    <p:cond delay="0"/>
                                  </p:stCondLst>
                                  <p:childTnLst>
                                    <p:set>
                                      <p:cBhvr>
                                        <p:cTn id="100" dur="1" fill="hold">
                                          <p:stCondLst>
                                            <p:cond delay="0"/>
                                          </p:stCondLst>
                                        </p:cTn>
                                        <p:tgtEl>
                                          <p:spTgt spid="243">
                                            <p:txEl>
                                              <p:pRg st="2" end="2"/>
                                            </p:txEl>
                                          </p:spTgt>
                                        </p:tgtEl>
                                        <p:attrNameLst>
                                          <p:attrName>style.visibility</p:attrName>
                                        </p:attrNameLst>
                                      </p:cBhvr>
                                      <p:to>
                                        <p:strVal val="visible"/>
                                      </p:to>
                                    </p:set>
                                    <p:animEffect filter="checkerboard(across)" transition="in">
                                      <p:cBhvr additive="repl">
                                        <p:cTn id="101" dur="500"/>
                                        <p:tgtEl>
                                          <p:spTgt spid="243">
                                            <p:txEl>
                                              <p:pRg st="2" end="2"/>
                                            </p:txEl>
                                          </p:spTgt>
                                        </p:tgtEl>
                                      </p:cBhvr>
                                    </p:animEffect>
                                  </p:childTnLst>
                                </p:cTn>
                              </p:par>
                            </p:childTnLst>
                          </p:cTn>
                        </p:par>
                      </p:childTnLst>
                    </p:cTn>
                  </p:par>
                  <p:par>
                    <p:cTn id="102" fill="hold">
                      <p:stCondLst>
                        <p:cond delay="indefinite"/>
                      </p:stCondLst>
                      <p:childTnLst>
                        <p:par>
                          <p:cTn id="103" fill="hold">
                            <p:stCondLst>
                              <p:cond delay="0"/>
                            </p:stCondLst>
                            <p:childTnLst>
                              <p:par>
                                <p:cTn id="104" nodeType="clickEffect" fill="hold" presetClass="entr" presetID="5" presetSubtype="10">
                                  <p:stCondLst>
                                    <p:cond delay="0"/>
                                  </p:stCondLst>
                                  <p:childTnLst>
                                    <p:set>
                                      <p:cBhvr>
                                        <p:cTn id="105" dur="1" fill="hold">
                                          <p:stCondLst>
                                            <p:cond delay="0"/>
                                          </p:stCondLst>
                                        </p:cTn>
                                        <p:tgtEl>
                                          <p:spTgt spid="243">
                                            <p:txEl>
                                              <p:pRg st="3" end="3"/>
                                            </p:txEl>
                                          </p:spTgt>
                                        </p:tgtEl>
                                        <p:attrNameLst>
                                          <p:attrName>style.visibility</p:attrName>
                                        </p:attrNameLst>
                                      </p:cBhvr>
                                      <p:to>
                                        <p:strVal val="visible"/>
                                      </p:to>
                                    </p:set>
                                    <p:animEffect filter="checkerboard(across)" transition="in">
                                      <p:cBhvr additive="repl">
                                        <p:cTn id="106" dur="500"/>
                                        <p:tgtEl>
                                          <p:spTgt spid="243">
                                            <p:txEl>
                                              <p:pRg st="3" end="3"/>
                                            </p:txEl>
                                          </p:spTgt>
                                        </p:tgtEl>
                                      </p:cBhvr>
                                    </p:animEffec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5" presetSubtype="10">
                                  <p:stCondLst>
                                    <p:cond delay="0"/>
                                  </p:stCondLst>
                                  <p:childTnLst>
                                    <p:set>
                                      <p:cBhvr>
                                        <p:cTn id="110" dur="1" fill="hold">
                                          <p:stCondLst>
                                            <p:cond delay="0"/>
                                          </p:stCondLst>
                                        </p:cTn>
                                        <p:tgtEl>
                                          <p:spTgt spid="243">
                                            <p:txEl>
                                              <p:pRg st="4" end="4"/>
                                            </p:txEl>
                                          </p:spTgt>
                                        </p:tgtEl>
                                        <p:attrNameLst>
                                          <p:attrName>style.visibility</p:attrName>
                                        </p:attrNameLst>
                                      </p:cBhvr>
                                      <p:to>
                                        <p:strVal val="visible"/>
                                      </p:to>
                                    </p:set>
                                    <p:animEffect filter="checkerboard(across)" transition="in">
                                      <p:cBhvr additive="repl">
                                        <p:cTn id="111" dur="500"/>
                                        <p:tgtEl>
                                          <p:spTgt spid="243">
                                            <p:txEl>
                                              <p:pRg st="4" end="4"/>
                                            </p:txEl>
                                          </p:spTgt>
                                        </p:tgtEl>
                                      </p:cBhvr>
                                    </p:animEffect>
                                  </p:childTnLst>
                                </p:cTn>
                              </p:par>
                            </p:childTnLst>
                          </p:cTn>
                        </p:par>
                      </p:childTnLst>
                    </p:cTn>
                  </p:par>
                  <p:par>
                    <p:cTn id="112" fill="hold">
                      <p:stCondLst>
                        <p:cond delay="indefinite"/>
                      </p:stCondLst>
                      <p:childTnLst>
                        <p:par>
                          <p:cTn id="113" fill="hold">
                            <p:stCondLst>
                              <p:cond delay="0"/>
                            </p:stCondLst>
                            <p:childTnLst>
                              <p:par>
                                <p:cTn id="114" nodeType="clickEffect" fill="hold" presetClass="entr" presetID="5" presetSubtype="10">
                                  <p:stCondLst>
                                    <p:cond delay="0"/>
                                  </p:stCondLst>
                                  <p:childTnLst>
                                    <p:set>
                                      <p:cBhvr>
                                        <p:cTn id="115" dur="1" fill="hold">
                                          <p:stCondLst>
                                            <p:cond delay="0"/>
                                          </p:stCondLst>
                                        </p:cTn>
                                        <p:tgtEl>
                                          <p:spTgt spid="243">
                                            <p:txEl>
                                              <p:pRg st="5" end="5"/>
                                            </p:txEl>
                                          </p:spTgt>
                                        </p:tgtEl>
                                        <p:attrNameLst>
                                          <p:attrName>style.visibility</p:attrName>
                                        </p:attrNameLst>
                                      </p:cBhvr>
                                      <p:to>
                                        <p:strVal val="visible"/>
                                      </p:to>
                                    </p:set>
                                    <p:animEffect filter="checkerboard(across)" transition="in">
                                      <p:cBhvr additive="repl">
                                        <p:cTn id="116" dur="500"/>
                                        <p:tgtEl>
                                          <p:spTgt spid="243">
                                            <p:txEl>
                                              <p:pRg st="5" end="5"/>
                                            </p:txEl>
                                          </p:spTgt>
                                        </p:tgtEl>
                                      </p:cBhvr>
                                    </p:animEffec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5" presetSubtype="10">
                                  <p:stCondLst>
                                    <p:cond delay="0"/>
                                  </p:stCondLst>
                                  <p:childTnLst>
                                    <p:set>
                                      <p:cBhvr>
                                        <p:cTn id="120" dur="1" fill="hold">
                                          <p:stCondLst>
                                            <p:cond delay="0"/>
                                          </p:stCondLst>
                                        </p:cTn>
                                        <p:tgtEl>
                                          <p:spTgt spid="243">
                                            <p:txEl>
                                              <p:pRg st="6" end="6"/>
                                            </p:txEl>
                                          </p:spTgt>
                                        </p:tgtEl>
                                        <p:attrNameLst>
                                          <p:attrName>style.visibility</p:attrName>
                                        </p:attrNameLst>
                                      </p:cBhvr>
                                      <p:to>
                                        <p:strVal val="visible"/>
                                      </p:to>
                                    </p:set>
                                    <p:animEffect filter="checkerboard(across)" transition="in">
                                      <p:cBhvr additive="repl">
                                        <p:cTn id="121" dur="500"/>
                                        <p:tgtEl>
                                          <p:spTgt spid="243">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457200" y="1295280"/>
            <a:ext cx="830520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1" i="1" lang="en-US" sz="2600" spc="-1" strike="noStrike">
                <a:solidFill>
                  <a:schemeClr val="dk1"/>
                </a:solidFill>
                <a:latin typeface="Constantia"/>
              </a:rPr>
              <a:t>Loại thuộc tính:</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đơn </a:t>
            </a:r>
            <a:r>
              <a:rPr b="0" lang="en-US" sz="2400" spc="-1" strike="noStrike">
                <a:solidFill>
                  <a:schemeClr val="dk1"/>
                </a:solidFill>
                <a:latin typeface="Constantia"/>
              </a:rPr>
              <a:t>: không thể tách thành các thành phần nhỏ, độc lập</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phức hợp </a:t>
            </a:r>
            <a:r>
              <a:rPr b="0" lang="en-US" sz="2400" spc="-1" strike="noStrike">
                <a:solidFill>
                  <a:schemeClr val="dk1"/>
                </a:solidFill>
                <a:latin typeface="Constantia"/>
              </a:rPr>
              <a:t>: có thể tách ra thành các thành phần </a:t>
            </a:r>
            <a:r>
              <a:rPr b="1" i="1" lang="en-US" sz="2400" spc="-1" strike="noStrike">
                <a:solidFill>
                  <a:schemeClr val="dk1"/>
                </a:solidFill>
                <a:latin typeface="Constantia"/>
              </a:rPr>
              <a:t>độc lập </a:t>
            </a:r>
            <a:r>
              <a:rPr b="0" lang="en-US" sz="2400" spc="-1" strike="noStrike">
                <a:solidFill>
                  <a:schemeClr val="dk1"/>
                </a:solidFill>
                <a:latin typeface="Constantia"/>
              </a:rPr>
              <a:t>nhỏ hơn </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đơn trị</a:t>
            </a:r>
            <a:r>
              <a:rPr b="0" lang="en-US" sz="2400" spc="-1" strike="noStrike">
                <a:solidFill>
                  <a:schemeClr val="dk1"/>
                </a:solidFill>
                <a:latin typeface="Constantia"/>
              </a:rPr>
              <a:t>: thuộc tính có giá trị duy nhất cho một thực thể (VD: số CMND, …)</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đa trị</a:t>
            </a:r>
            <a:r>
              <a:rPr b="0" lang="en-US" sz="2400" spc="-1" strike="noStrike">
                <a:solidFill>
                  <a:schemeClr val="dk1"/>
                </a:solidFill>
                <a:latin typeface="Constantia"/>
              </a:rPr>
              <a:t>:  thuộc tính có nhiều giá trị cho cùng một thực thể (VD: bằng cấp, …)</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suy diễn (được) </a:t>
            </a:r>
            <a:r>
              <a:rPr b="0" lang="en-US" sz="2400" spc="-1" strike="noStrike">
                <a:solidFill>
                  <a:schemeClr val="dk1"/>
                </a:solidFill>
                <a:latin typeface="Constantia"/>
              </a:rPr>
              <a:t>(năm sinh </a:t>
            </a:r>
            <a:r>
              <a:rPr b="0" lang="en-US" sz="2400" spc="-1" strike="noStrike">
                <a:solidFill>
                  <a:schemeClr val="dk1"/>
                </a:solidFill>
                <a:latin typeface="Symbol"/>
              </a:rPr>
              <a:t></a:t>
            </a:r>
            <a:r>
              <a:rPr b="0" lang="en-US" sz="2400" spc="-1" strike="noStrike">
                <a:solidFill>
                  <a:schemeClr val="dk1"/>
                </a:solidFill>
                <a:latin typeface="Constantia"/>
              </a:rPr>
              <a:t>tuổi)</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i="1" lang="en-US" sz="2400" spc="-1" strike="noStrike">
                <a:solidFill>
                  <a:schemeClr val="dk1"/>
                </a:solidFill>
                <a:latin typeface="Constantia"/>
              </a:rPr>
              <a:t>Thuộc tính phức tạp</a:t>
            </a:r>
            <a:r>
              <a:rPr b="0" lang="en-US" sz="2400" spc="-1" strike="noStrike">
                <a:solidFill>
                  <a:schemeClr val="dk1"/>
                </a:solidFill>
                <a:latin typeface="Constantia"/>
              </a:rPr>
              <a:t>: kết hợp đa trị  và phức hợp</a:t>
            </a:r>
            <a:endParaRPr b="0" lang="vi-VN" sz="2400" spc="-1" strike="noStrike">
              <a:solidFill>
                <a:srgbClr val="000000"/>
              </a:solidFill>
              <a:latin typeface="Arial"/>
            </a:endParaRPr>
          </a:p>
        </p:txBody>
      </p:sp>
      <p:sp>
        <p:nvSpPr>
          <p:cNvPr id="250" name="PlaceHolder 2"/>
          <p:cNvSpPr>
            <a:spLocks noGrp="1"/>
          </p:cNvSpPr>
          <p:nvPr>
            <p:ph type="sldNum" idx="7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8411FBB2-CBBB-4D11-9B0F-3B23770C4705}"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51" name="PlaceHolder 3"/>
          <p:cNvSpPr>
            <a:spLocks noGrp="1"/>
          </p:cNvSpPr>
          <p:nvPr>
            <p:ph type="dt" idx="74"/>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289FE98F-46A6-4D5D-BD10-A514C9FB6639}"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52" name="PlaceHolder 4"/>
          <p:cNvSpPr>
            <a:spLocks noGrp="1"/>
          </p:cNvSpPr>
          <p:nvPr>
            <p:ph type="ftr" idx="7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53" name="Rectangle 2"/>
          <p:cNvSpPr/>
          <p:nvPr/>
        </p:nvSpPr>
        <p:spPr>
          <a:xfrm>
            <a:off x="685800" y="304920"/>
            <a:ext cx="8228880" cy="619920"/>
          </a:xfrm>
          <a:prstGeom prst="rect">
            <a:avLst/>
          </a:prstGeom>
          <a:noFill/>
          <a:ln w="9525">
            <a:noFill/>
          </a:ln>
        </p:spPr>
        <p:style>
          <a:lnRef idx="0"/>
          <a:fillRef idx="0"/>
          <a:effectRef idx="0"/>
          <a:fontRef idx="minor"/>
        </p:style>
        <p:txBody>
          <a:bodyPr numCol="1" spcCol="0" lIns="0" rIns="0" tIns="45000" bIns="0" anchor="b">
            <a:noAutofit/>
          </a:bodyPr>
          <a:p>
            <a:pPr>
              <a:lnSpc>
                <a:spcPct val="100000"/>
              </a:lnSpc>
            </a:pPr>
            <a:r>
              <a:rPr b="0" lang="en-US" sz="3500" spc="-1" strike="noStrike">
                <a:solidFill>
                  <a:schemeClr val="dk2"/>
                </a:solidFill>
                <a:latin typeface="Calibri"/>
              </a:rPr>
              <a:t>b. </a:t>
            </a:r>
            <a:r>
              <a:rPr b="0" lang="en-US" sz="3200" spc="-1" strike="noStrike">
                <a:solidFill>
                  <a:schemeClr val="dk1"/>
                </a:solidFill>
                <a:latin typeface="Tahoma"/>
              </a:rPr>
              <a:t>Thuộc tính</a:t>
            </a:r>
            <a:endParaRPr b="0" lang="vi-VN" sz="3200" spc="-1" strike="noStrike">
              <a:solidFill>
                <a:srgbClr val="000000"/>
              </a:solidFill>
              <a:latin typeface="Arial"/>
            </a:endParaRPr>
          </a:p>
        </p:txBody>
      </p:sp>
      <p:pic>
        <p:nvPicPr>
          <p:cNvPr id="254"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122" dur="indefinite" restart="never" nodeType="tmRoot">
          <p:childTnLst>
            <p:seq>
              <p:cTn id="123" dur="indefinite" nodeType="mainSeq">
                <p:childTnLst>
                  <p:par>
                    <p:cTn id="124" fill="hold">
                      <p:stCondLst>
                        <p:cond delay="indefinite"/>
                      </p:stCondLst>
                      <p:childTnLst>
                        <p:par>
                          <p:cTn id="125" fill="hold">
                            <p:stCondLst>
                              <p:cond delay="0"/>
                            </p:stCondLst>
                            <p:childTnLst>
                              <p:par>
                                <p:cTn id="126" nodeType="clickEffect" fill="hold" presetClass="entr" presetID="2" presetSubtype="4">
                                  <p:stCondLst>
                                    <p:cond delay="0"/>
                                  </p:stCondLst>
                                  <p:childTnLst>
                                    <p:set>
                                      <p:cBhvr>
                                        <p:cTn id="127" dur="1" fill="hold">
                                          <p:stCondLst>
                                            <p:cond delay="0"/>
                                          </p:stCondLst>
                                        </p:cTn>
                                        <p:tgtEl>
                                          <p:spTgt spid="249">
                                            <p:txEl>
                                              <p:pRg st="1" end="1"/>
                                            </p:txEl>
                                          </p:spTgt>
                                        </p:tgtEl>
                                        <p:attrNameLst>
                                          <p:attrName>style.visibility</p:attrName>
                                        </p:attrNameLst>
                                      </p:cBhvr>
                                      <p:to>
                                        <p:strVal val="visible"/>
                                      </p:to>
                                    </p:set>
                                    <p:anim calcmode="lin" valueType="num">
                                      <p:cBhvr additive="repl">
                                        <p:cTn id="128" dur="500" fill="hold"/>
                                        <p:tgtEl>
                                          <p:spTgt spid="249">
                                            <p:txEl>
                                              <p:pRg st="1" end="1"/>
                                            </p:txEl>
                                          </p:spTgt>
                                        </p:tgtEl>
                                        <p:attrNameLst>
                                          <p:attrName>ppt_x</p:attrName>
                                        </p:attrNameLst>
                                      </p:cBhvr>
                                      <p:tavLst>
                                        <p:tav tm="0">
                                          <p:val>
                                            <p:strVal val="#ppt_x"/>
                                          </p:val>
                                        </p:tav>
                                        <p:tav tm="100000">
                                          <p:val>
                                            <p:strVal val="#ppt_x"/>
                                          </p:val>
                                        </p:tav>
                                      </p:tavLst>
                                    </p:anim>
                                    <p:anim calcmode="lin" valueType="num">
                                      <p:cBhvr additive="repl">
                                        <p:cTn id="129" dur="500" fill="hold"/>
                                        <p:tgtEl>
                                          <p:spTgt spid="24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2" presetSubtype="4">
                                  <p:stCondLst>
                                    <p:cond delay="0"/>
                                  </p:stCondLst>
                                  <p:childTnLst>
                                    <p:set>
                                      <p:cBhvr>
                                        <p:cTn id="133" dur="1" fill="hold">
                                          <p:stCondLst>
                                            <p:cond delay="0"/>
                                          </p:stCondLst>
                                        </p:cTn>
                                        <p:tgtEl>
                                          <p:spTgt spid="249">
                                            <p:txEl>
                                              <p:pRg st="2" end="2"/>
                                            </p:txEl>
                                          </p:spTgt>
                                        </p:tgtEl>
                                        <p:attrNameLst>
                                          <p:attrName>style.visibility</p:attrName>
                                        </p:attrNameLst>
                                      </p:cBhvr>
                                      <p:to>
                                        <p:strVal val="visible"/>
                                      </p:to>
                                    </p:set>
                                    <p:anim calcmode="lin" valueType="num">
                                      <p:cBhvr additive="repl">
                                        <p:cTn id="134" dur="500" fill="hold"/>
                                        <p:tgtEl>
                                          <p:spTgt spid="249">
                                            <p:txEl>
                                              <p:pRg st="2" end="2"/>
                                            </p:txEl>
                                          </p:spTgt>
                                        </p:tgtEl>
                                        <p:attrNameLst>
                                          <p:attrName>ppt_x</p:attrName>
                                        </p:attrNameLst>
                                      </p:cBhvr>
                                      <p:tavLst>
                                        <p:tav tm="0">
                                          <p:val>
                                            <p:strVal val="#ppt_x"/>
                                          </p:val>
                                        </p:tav>
                                        <p:tav tm="100000">
                                          <p:val>
                                            <p:strVal val="#ppt_x"/>
                                          </p:val>
                                        </p:tav>
                                      </p:tavLst>
                                    </p:anim>
                                    <p:anim calcmode="lin" valueType="num">
                                      <p:cBhvr additive="repl">
                                        <p:cTn id="135" dur="500" fill="hold"/>
                                        <p:tgtEl>
                                          <p:spTgt spid="24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nodeType="clickEffect" fill="hold" presetClass="entr" presetID="2" presetSubtype="4">
                                  <p:stCondLst>
                                    <p:cond delay="0"/>
                                  </p:stCondLst>
                                  <p:childTnLst>
                                    <p:set>
                                      <p:cBhvr>
                                        <p:cTn id="139" dur="1" fill="hold">
                                          <p:stCondLst>
                                            <p:cond delay="0"/>
                                          </p:stCondLst>
                                        </p:cTn>
                                        <p:tgtEl>
                                          <p:spTgt spid="249">
                                            <p:txEl>
                                              <p:pRg st="3" end="3"/>
                                            </p:txEl>
                                          </p:spTgt>
                                        </p:tgtEl>
                                        <p:attrNameLst>
                                          <p:attrName>style.visibility</p:attrName>
                                        </p:attrNameLst>
                                      </p:cBhvr>
                                      <p:to>
                                        <p:strVal val="visible"/>
                                      </p:to>
                                    </p:set>
                                    <p:anim calcmode="lin" valueType="num">
                                      <p:cBhvr additive="repl">
                                        <p:cTn id="140" dur="500" fill="hold"/>
                                        <p:tgtEl>
                                          <p:spTgt spid="249">
                                            <p:txEl>
                                              <p:pRg st="3" end="3"/>
                                            </p:txEl>
                                          </p:spTgt>
                                        </p:tgtEl>
                                        <p:attrNameLst>
                                          <p:attrName>ppt_x</p:attrName>
                                        </p:attrNameLst>
                                      </p:cBhvr>
                                      <p:tavLst>
                                        <p:tav tm="0">
                                          <p:val>
                                            <p:strVal val="#ppt_x"/>
                                          </p:val>
                                        </p:tav>
                                        <p:tav tm="100000">
                                          <p:val>
                                            <p:strVal val="#ppt_x"/>
                                          </p:val>
                                        </p:tav>
                                      </p:tavLst>
                                    </p:anim>
                                    <p:anim calcmode="lin" valueType="num">
                                      <p:cBhvr additive="repl">
                                        <p:cTn id="141" dur="500" fill="hold"/>
                                        <p:tgtEl>
                                          <p:spTgt spid="24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nodeType="clickEffect" fill="hold" presetClass="entr" presetID="2" presetSubtype="4">
                                  <p:stCondLst>
                                    <p:cond delay="0"/>
                                  </p:stCondLst>
                                  <p:childTnLst>
                                    <p:set>
                                      <p:cBhvr>
                                        <p:cTn id="145" dur="1" fill="hold">
                                          <p:stCondLst>
                                            <p:cond delay="0"/>
                                          </p:stCondLst>
                                        </p:cTn>
                                        <p:tgtEl>
                                          <p:spTgt spid="249">
                                            <p:txEl>
                                              <p:pRg st="4" end="4"/>
                                            </p:txEl>
                                          </p:spTgt>
                                        </p:tgtEl>
                                        <p:attrNameLst>
                                          <p:attrName>style.visibility</p:attrName>
                                        </p:attrNameLst>
                                      </p:cBhvr>
                                      <p:to>
                                        <p:strVal val="visible"/>
                                      </p:to>
                                    </p:set>
                                    <p:anim calcmode="lin" valueType="num">
                                      <p:cBhvr additive="repl">
                                        <p:cTn id="146" dur="500" fill="hold"/>
                                        <p:tgtEl>
                                          <p:spTgt spid="249">
                                            <p:txEl>
                                              <p:pRg st="4" end="4"/>
                                            </p:txEl>
                                          </p:spTgt>
                                        </p:tgtEl>
                                        <p:attrNameLst>
                                          <p:attrName>ppt_x</p:attrName>
                                        </p:attrNameLst>
                                      </p:cBhvr>
                                      <p:tavLst>
                                        <p:tav tm="0">
                                          <p:val>
                                            <p:strVal val="#ppt_x"/>
                                          </p:val>
                                        </p:tav>
                                        <p:tav tm="100000">
                                          <p:val>
                                            <p:strVal val="#ppt_x"/>
                                          </p:val>
                                        </p:tav>
                                      </p:tavLst>
                                    </p:anim>
                                    <p:anim calcmode="lin" valueType="num">
                                      <p:cBhvr additive="repl">
                                        <p:cTn id="147" dur="500" fill="hold"/>
                                        <p:tgtEl>
                                          <p:spTgt spid="24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nodeType="clickEffect" fill="hold" presetClass="entr" presetID="2" presetSubtype="4">
                                  <p:stCondLst>
                                    <p:cond delay="0"/>
                                  </p:stCondLst>
                                  <p:childTnLst>
                                    <p:set>
                                      <p:cBhvr>
                                        <p:cTn id="151" dur="1" fill="hold">
                                          <p:stCondLst>
                                            <p:cond delay="0"/>
                                          </p:stCondLst>
                                        </p:cTn>
                                        <p:tgtEl>
                                          <p:spTgt spid="249">
                                            <p:txEl>
                                              <p:pRg st="5" end="5"/>
                                            </p:txEl>
                                          </p:spTgt>
                                        </p:tgtEl>
                                        <p:attrNameLst>
                                          <p:attrName>style.visibility</p:attrName>
                                        </p:attrNameLst>
                                      </p:cBhvr>
                                      <p:to>
                                        <p:strVal val="visible"/>
                                      </p:to>
                                    </p:set>
                                    <p:anim calcmode="lin" valueType="num">
                                      <p:cBhvr additive="repl">
                                        <p:cTn id="152" dur="500" fill="hold"/>
                                        <p:tgtEl>
                                          <p:spTgt spid="249">
                                            <p:txEl>
                                              <p:pRg st="5" end="5"/>
                                            </p:txEl>
                                          </p:spTgt>
                                        </p:tgtEl>
                                        <p:attrNameLst>
                                          <p:attrName>ppt_x</p:attrName>
                                        </p:attrNameLst>
                                      </p:cBhvr>
                                      <p:tavLst>
                                        <p:tav tm="0">
                                          <p:val>
                                            <p:strVal val="#ppt_x"/>
                                          </p:val>
                                        </p:tav>
                                        <p:tav tm="100000">
                                          <p:val>
                                            <p:strVal val="#ppt_x"/>
                                          </p:val>
                                        </p:tav>
                                      </p:tavLst>
                                    </p:anim>
                                    <p:anim calcmode="lin" valueType="num">
                                      <p:cBhvr additive="repl">
                                        <p:cTn id="153" dur="500" fill="hold"/>
                                        <p:tgtEl>
                                          <p:spTgt spid="24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nodeType="clickEffect" fill="hold" presetClass="entr" presetID="2" presetSubtype="4">
                                  <p:stCondLst>
                                    <p:cond delay="0"/>
                                  </p:stCondLst>
                                  <p:childTnLst>
                                    <p:set>
                                      <p:cBhvr>
                                        <p:cTn id="157" dur="1" fill="hold">
                                          <p:stCondLst>
                                            <p:cond delay="0"/>
                                          </p:stCondLst>
                                        </p:cTn>
                                        <p:tgtEl>
                                          <p:spTgt spid="249">
                                            <p:txEl>
                                              <p:pRg st="6" end="6"/>
                                            </p:txEl>
                                          </p:spTgt>
                                        </p:tgtEl>
                                        <p:attrNameLst>
                                          <p:attrName>style.visibility</p:attrName>
                                        </p:attrNameLst>
                                      </p:cBhvr>
                                      <p:to>
                                        <p:strVal val="visible"/>
                                      </p:to>
                                    </p:set>
                                    <p:anim calcmode="lin" valueType="num">
                                      <p:cBhvr additive="repl">
                                        <p:cTn id="158" dur="500" fill="hold"/>
                                        <p:tgtEl>
                                          <p:spTgt spid="249">
                                            <p:txEl>
                                              <p:pRg st="6" end="6"/>
                                            </p:txEl>
                                          </p:spTgt>
                                        </p:tgtEl>
                                        <p:attrNameLst>
                                          <p:attrName>ppt_x</p:attrName>
                                        </p:attrNameLst>
                                      </p:cBhvr>
                                      <p:tavLst>
                                        <p:tav tm="0">
                                          <p:val>
                                            <p:strVal val="#ppt_x"/>
                                          </p:val>
                                        </p:tav>
                                        <p:tav tm="100000">
                                          <p:val>
                                            <p:strVal val="#ppt_x"/>
                                          </p:val>
                                        </p:tav>
                                      </p:tavLst>
                                    </p:anim>
                                    <p:anim calcmode="lin" valueType="num">
                                      <p:cBhvr additive="repl">
                                        <p:cTn id="159" dur="500" fill="hold"/>
                                        <p:tgtEl>
                                          <p:spTgt spid="24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p:nvPr>
        </p:nvSpPr>
        <p:spPr>
          <a:xfrm>
            <a:off x="457200" y="1295280"/>
            <a:ext cx="830520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Ví dụ thực thể NHANVIEN</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Mã NV </a:t>
            </a:r>
            <a:r>
              <a:rPr b="0" lang="en-US" sz="2400" spc="-1" strike="noStrike">
                <a:solidFill>
                  <a:schemeClr val="dk1"/>
                </a:solidFill>
                <a:latin typeface="Constantia"/>
              </a:rPr>
              <a:t>	</a:t>
            </a:r>
            <a:r>
              <a:rPr b="0" lang="en-US" sz="2400" spc="-1" strike="noStrike">
                <a:solidFill>
                  <a:schemeClr val="dk1"/>
                </a:solidFill>
                <a:latin typeface="Constantia"/>
              </a:rPr>
              <a:t>	</a:t>
            </a:r>
            <a:r>
              <a:rPr b="0" lang="en-US" sz="2400" spc="-1" strike="noStrike">
                <a:solidFill>
                  <a:schemeClr val="dk1"/>
                </a:solidFill>
                <a:latin typeface="Constantia"/>
              </a:rPr>
              <a:t>(MaNV: integer)</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Họ tên </a:t>
            </a:r>
            <a:r>
              <a:rPr b="0" lang="en-US" sz="2400" spc="-1" strike="noStrike">
                <a:solidFill>
                  <a:schemeClr val="dk1"/>
                </a:solidFill>
                <a:latin typeface="Constantia"/>
              </a:rPr>
              <a:t>	</a:t>
            </a:r>
            <a:r>
              <a:rPr b="0" lang="en-US" sz="2400" spc="-1" strike="noStrike">
                <a:solidFill>
                  <a:schemeClr val="dk1"/>
                </a:solidFill>
                <a:latin typeface="Constantia"/>
              </a:rPr>
              <a:t>	</a:t>
            </a:r>
            <a:r>
              <a:rPr b="0" lang="en-US" sz="2400" spc="-1" strike="noStrike">
                <a:solidFill>
                  <a:schemeClr val="dk1"/>
                </a:solidFill>
                <a:latin typeface="Constantia"/>
              </a:rPr>
              <a:t>(Hoten: string[50])</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Ngày sinh </a:t>
            </a:r>
            <a:r>
              <a:rPr b="0" lang="en-US" sz="2400" spc="-1" strike="noStrike">
                <a:solidFill>
                  <a:schemeClr val="dk1"/>
                </a:solidFill>
                <a:latin typeface="Constantia"/>
              </a:rPr>
              <a:t>	</a:t>
            </a:r>
            <a:r>
              <a:rPr b="0" lang="en-US" sz="2400" spc="-1" strike="noStrike">
                <a:solidFill>
                  <a:schemeClr val="dk1"/>
                </a:solidFill>
                <a:latin typeface="Constantia"/>
              </a:rPr>
              <a:t>(ns: date)</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Địa chỉ</a:t>
            </a:r>
            <a:r>
              <a:rPr b="0" lang="en-US" sz="2400" spc="-1" strike="noStrike">
                <a:solidFill>
                  <a:schemeClr val="dk1"/>
                </a:solidFill>
                <a:latin typeface="Constantia"/>
              </a:rPr>
              <a:t>	</a:t>
            </a:r>
            <a:r>
              <a:rPr b="0" lang="en-US" sz="2400" spc="-1" strike="noStrike">
                <a:solidFill>
                  <a:schemeClr val="dk1"/>
                </a:solidFill>
                <a:latin typeface="Constantia"/>
              </a:rPr>
              <a:t>	</a:t>
            </a:r>
            <a:r>
              <a:rPr b="0" lang="en-US" sz="2400" spc="-1" strike="noStrike">
                <a:solidFill>
                  <a:schemeClr val="dk1"/>
                </a:solidFill>
                <a:latin typeface="Constantia"/>
              </a:rPr>
              <a:t>(diachi: string[100])</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Quê quán</a:t>
            </a:r>
            <a:r>
              <a:rPr b="0" lang="en-US" sz="2400" spc="-1" strike="noStrike">
                <a:solidFill>
                  <a:schemeClr val="dk1"/>
                </a:solidFill>
                <a:latin typeface="Constantia"/>
              </a:rPr>
              <a:t>	</a:t>
            </a:r>
            <a:r>
              <a:rPr b="0" lang="en-US" sz="2400" spc="-1" strike="noStrike">
                <a:solidFill>
                  <a:schemeClr val="dk1"/>
                </a:solidFill>
                <a:latin typeface="Constantia"/>
              </a:rPr>
              <a:t>(quequan: string[30])</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Hệ số lương</a:t>
            </a:r>
            <a:r>
              <a:rPr b="0" lang="en-US" sz="2400" spc="-1" strike="noStrike">
                <a:solidFill>
                  <a:schemeClr val="dk1"/>
                </a:solidFill>
                <a:latin typeface="Constantia"/>
              </a:rPr>
              <a:t>	</a:t>
            </a:r>
            <a:r>
              <a:rPr b="0" lang="en-US" sz="2400" spc="-1" strike="noStrike">
                <a:solidFill>
                  <a:schemeClr val="dk1"/>
                </a:solidFill>
                <a:latin typeface="Constantia"/>
              </a:rPr>
              <a:t>(hsluong: float)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Hệ số phụ cấp</a:t>
            </a:r>
            <a:r>
              <a:rPr b="0" lang="en-US" sz="2400" spc="-1" strike="noStrike">
                <a:solidFill>
                  <a:schemeClr val="dk1"/>
                </a:solidFill>
                <a:latin typeface="Constantia"/>
              </a:rPr>
              <a:t>	</a:t>
            </a:r>
            <a:r>
              <a:rPr b="0" lang="en-US" sz="2400" spc="-1" strike="noStrike">
                <a:solidFill>
                  <a:schemeClr val="dk1"/>
                </a:solidFill>
                <a:latin typeface="Constantia"/>
              </a:rPr>
              <a:t>(hsphucap: float)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Tổng lương</a:t>
            </a:r>
            <a:r>
              <a:rPr b="0" lang="en-US" sz="2400" spc="-1" strike="noStrike">
                <a:solidFill>
                  <a:schemeClr val="dk1"/>
                </a:solidFill>
                <a:latin typeface="Constantia"/>
              </a:rPr>
              <a:t>	</a:t>
            </a:r>
            <a:r>
              <a:rPr b="0" lang="en-US" sz="2400" spc="-1" strike="noStrike">
                <a:solidFill>
                  <a:schemeClr val="dk1"/>
                </a:solidFill>
                <a:latin typeface="Constantia"/>
              </a:rPr>
              <a:t>(tongluong: float)</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pPr>
            <a:r>
              <a:rPr b="0" lang="en-US" sz="2400" spc="-1" strike="noStrike">
                <a:solidFill>
                  <a:schemeClr val="dk1"/>
                </a:solidFill>
                <a:latin typeface="Constantia"/>
              </a:rPr>
              <a:t>Họ tên con</a:t>
            </a:r>
            <a:endParaRPr b="0" lang="vi-VN" sz="24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cc0000"/>
                </a:solidFill>
                <a:latin typeface="Constantia"/>
              </a:rPr>
              <a:t>Loại thuộc tính? Kiểu giá trị? Miền giá trị? </a:t>
            </a:r>
            <a:endParaRPr b="0" lang="vi-VN" sz="2600" spc="-1" strike="noStrike">
              <a:solidFill>
                <a:srgbClr val="000000"/>
              </a:solidFill>
              <a:latin typeface="Arial"/>
            </a:endParaRPr>
          </a:p>
        </p:txBody>
      </p:sp>
      <p:sp>
        <p:nvSpPr>
          <p:cNvPr id="256" name="PlaceHolder 2"/>
          <p:cNvSpPr>
            <a:spLocks noGrp="1"/>
          </p:cNvSpPr>
          <p:nvPr>
            <p:ph type="sldNum" idx="7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1EA8EE9D-E850-43B3-8B97-5DB3DFDF00E1}"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57" name="PlaceHolder 3"/>
          <p:cNvSpPr>
            <a:spLocks noGrp="1"/>
          </p:cNvSpPr>
          <p:nvPr>
            <p:ph type="dt" idx="77"/>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C7EFCE10-68FC-4F9A-821B-148919B56256}"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58" name="PlaceHolder 4"/>
          <p:cNvSpPr>
            <a:spLocks noGrp="1"/>
          </p:cNvSpPr>
          <p:nvPr>
            <p:ph type="ftr" idx="7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259" name="Rectangle 2"/>
          <p:cNvSpPr/>
          <p:nvPr/>
        </p:nvSpPr>
        <p:spPr>
          <a:xfrm>
            <a:off x="685800" y="228600"/>
            <a:ext cx="8228880" cy="619920"/>
          </a:xfrm>
          <a:prstGeom prst="rect">
            <a:avLst/>
          </a:prstGeom>
          <a:noFill/>
          <a:ln w="9525">
            <a:noFill/>
          </a:ln>
        </p:spPr>
        <p:style>
          <a:lnRef idx="0"/>
          <a:fillRef idx="0"/>
          <a:effectRef idx="0"/>
          <a:fontRef idx="minor"/>
        </p:style>
        <p:txBody>
          <a:bodyPr numCol="1" spcCol="0" lIns="0" rIns="0" tIns="45000" bIns="0" anchor="b">
            <a:noAutofit/>
          </a:bodyPr>
          <a:p>
            <a:pPr>
              <a:lnSpc>
                <a:spcPct val="100000"/>
              </a:lnSpc>
            </a:pPr>
            <a:r>
              <a:rPr b="0" lang="en-US" sz="3500" spc="-1" strike="noStrike">
                <a:solidFill>
                  <a:schemeClr val="dk2"/>
                </a:solidFill>
                <a:latin typeface="Calibri"/>
              </a:rPr>
              <a:t>b. </a:t>
            </a:r>
            <a:r>
              <a:rPr b="0" lang="en-US" sz="3200" spc="-1" strike="noStrike">
                <a:solidFill>
                  <a:schemeClr val="dk1"/>
                </a:solidFill>
                <a:latin typeface="Tahoma"/>
              </a:rPr>
              <a:t>Thuộc tính</a:t>
            </a:r>
            <a:endParaRPr b="0" lang="vi-VN" sz="3200" spc="-1" strike="noStrike">
              <a:solidFill>
                <a:srgbClr val="000000"/>
              </a:solidFill>
              <a:latin typeface="Arial"/>
            </a:endParaRPr>
          </a:p>
        </p:txBody>
      </p:sp>
      <p:pic>
        <p:nvPicPr>
          <p:cNvPr id="260"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685800" y="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200" spc="-1" strike="noStrike">
                <a:solidFill>
                  <a:schemeClr val="dk2"/>
                </a:solidFill>
                <a:latin typeface="Calibri"/>
              </a:rPr>
              <a:t>c. </a:t>
            </a:r>
            <a:r>
              <a:rPr b="1" lang="en-US" sz="3200" spc="-1" strike="noStrike">
                <a:solidFill>
                  <a:schemeClr val="dk2"/>
                </a:solidFill>
                <a:latin typeface="Calibri"/>
              </a:rPr>
              <a:t>Kiểu thực thể và khóa</a:t>
            </a:r>
            <a:endParaRPr b="0" lang="vi-VN" sz="3200" spc="-1" strike="noStrike">
              <a:solidFill>
                <a:srgbClr val="000000"/>
              </a:solidFill>
              <a:latin typeface="Arial"/>
            </a:endParaRPr>
          </a:p>
        </p:txBody>
      </p:sp>
      <p:sp>
        <p:nvSpPr>
          <p:cNvPr id="262" name="PlaceHolder 2"/>
          <p:cNvSpPr>
            <a:spLocks noGrp="1"/>
          </p:cNvSpPr>
          <p:nvPr>
            <p:ph/>
          </p:nvPr>
        </p:nvSpPr>
        <p:spPr>
          <a:xfrm>
            <a:off x="457200" y="990720"/>
            <a:ext cx="8457480" cy="5485680"/>
          </a:xfrm>
          <a:prstGeom prst="rect">
            <a:avLst/>
          </a:prstGeom>
          <a:noFill/>
          <a:ln w="9360">
            <a:noFill/>
          </a:ln>
        </p:spPr>
        <p:txBody>
          <a:bodyPr numCol="1" spcCol="0" lIns="91440" rIns="91440" tIns="45720" bIns="45720" anchor="t">
            <a:noAutofit/>
          </a:bodyPr>
          <a:p>
            <a:pPr marL="272880" indent="-272880">
              <a:lnSpc>
                <a:spcPct val="100000"/>
              </a:lnSpc>
              <a:spcBef>
                <a:spcPts val="479"/>
              </a:spcBef>
              <a:buClr>
                <a:srgbClr val="0bd0d9"/>
              </a:buClr>
              <a:buSzPct val="95000"/>
              <a:buFont typeface="Wingdings 2" charset="2"/>
              <a:buChar char=""/>
            </a:pPr>
            <a:r>
              <a:rPr b="1" lang="en-US" sz="2400" spc="-1" strike="noStrike">
                <a:solidFill>
                  <a:schemeClr val="dk1"/>
                </a:solidFill>
                <a:latin typeface="Constantia"/>
              </a:rPr>
              <a:t>Kiểu thực thể và tập thực thể</a:t>
            </a:r>
            <a:endParaRPr b="0" lang="vi-VN" sz="24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pPr>
            <a:r>
              <a:rPr b="1" i="1" lang="en-US" sz="2000" spc="-1" strike="noStrike">
                <a:solidFill>
                  <a:schemeClr val="dk1"/>
                </a:solidFill>
                <a:latin typeface="Constantia"/>
              </a:rPr>
              <a:t>Kiểu thực thể </a:t>
            </a:r>
            <a:r>
              <a:rPr b="0" lang="en-US" sz="2000" spc="-1" strike="noStrike">
                <a:solidFill>
                  <a:schemeClr val="dk1"/>
                </a:solidFill>
                <a:latin typeface="Constantia"/>
              </a:rPr>
              <a:t>: tập hợp </a:t>
            </a:r>
            <a:r>
              <a:rPr b="1" i="1" lang="en-US" sz="2000" spc="-1" strike="noStrike">
                <a:solidFill>
                  <a:schemeClr val="dk1"/>
                </a:solidFill>
                <a:latin typeface="Constantia"/>
              </a:rPr>
              <a:t>tất cả </a:t>
            </a:r>
            <a:r>
              <a:rPr b="0" lang="en-US" sz="2000" spc="-1" strike="noStrike">
                <a:solidFill>
                  <a:schemeClr val="dk1"/>
                </a:solidFill>
                <a:latin typeface="Constantia"/>
              </a:rPr>
              <a:t>các thực thể có thuộc tính như nhau.</a:t>
            </a:r>
            <a:endParaRPr b="0" lang="vi-VN" sz="20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pPr>
            <a:r>
              <a:rPr b="1" i="1" lang="en-US" sz="2000" spc="-1" strike="noStrike">
                <a:solidFill>
                  <a:schemeClr val="dk1"/>
                </a:solidFill>
                <a:latin typeface="Constantia"/>
              </a:rPr>
              <a:t>Tập thực thể</a:t>
            </a:r>
            <a:r>
              <a:rPr b="0" lang="en-US" sz="2000" spc="-1" strike="noStrike">
                <a:solidFill>
                  <a:schemeClr val="dk1"/>
                </a:solidFill>
                <a:latin typeface="Constantia"/>
              </a:rPr>
              <a:t>: nhóm các thực thể  thuộc một kiểu trong CSDL tại một thời điểm.</a:t>
            </a:r>
            <a:endParaRPr b="0" lang="vi-VN" sz="20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pPr>
            <a:r>
              <a:rPr b="0" lang="en-US" sz="2000" spc="-1" strike="noStrike">
                <a:solidFill>
                  <a:schemeClr val="dk1"/>
                </a:solidFill>
                <a:latin typeface="Constantia"/>
              </a:rPr>
              <a:t>Kiểu, tập thực thể </a:t>
            </a:r>
            <a:r>
              <a:rPr b="0" lang="vi-VN" sz="2000" spc="-1" strike="noStrike">
                <a:solidFill>
                  <a:schemeClr val="dk1"/>
                </a:solidFill>
                <a:latin typeface="Constantia"/>
              </a:rPr>
              <a:t>đượ</a:t>
            </a:r>
            <a:r>
              <a:rPr b="0" lang="en-US" sz="2000" spc="-1" strike="noStrike">
                <a:solidFill>
                  <a:schemeClr val="dk1"/>
                </a:solidFill>
                <a:latin typeface="Constantia"/>
              </a:rPr>
              <a:t>c biểu thị bằng tên thực thể.</a:t>
            </a:r>
            <a:endParaRPr b="0" lang="vi-VN" sz="2000" spc="-1" strike="noStrike">
              <a:solidFill>
                <a:srgbClr val="000000"/>
              </a:solidFill>
              <a:latin typeface="Arial"/>
            </a:endParaRPr>
          </a:p>
          <a:p>
            <a:pPr marL="272880" indent="-272880">
              <a:lnSpc>
                <a:spcPct val="100000"/>
              </a:lnSpc>
              <a:spcBef>
                <a:spcPts val="479"/>
              </a:spcBef>
              <a:buClr>
                <a:srgbClr val="0bd0d9"/>
              </a:buClr>
              <a:buSzPct val="95000"/>
              <a:buFont typeface="Wingdings 2" charset="2"/>
              <a:buChar char=""/>
            </a:pPr>
            <a:r>
              <a:rPr b="1" lang="en-US" sz="2000" spc="-1" strike="noStrike">
                <a:solidFill>
                  <a:schemeClr val="dk1"/>
                </a:solidFill>
                <a:latin typeface="Constantia"/>
              </a:rPr>
              <a:t>Khóa </a:t>
            </a:r>
            <a:r>
              <a:rPr b="0" lang="en-US" sz="2000" spc="-1" strike="noStrike">
                <a:solidFill>
                  <a:schemeClr val="dk1"/>
                </a:solidFill>
                <a:latin typeface="Constantia"/>
              </a:rPr>
              <a:t>của kiểu thực thể</a:t>
            </a:r>
            <a:r>
              <a:rPr b="0" lang="en-US" sz="2400" spc="-1" strike="noStrike">
                <a:solidFill>
                  <a:schemeClr val="dk1"/>
                </a:solidFill>
                <a:latin typeface="Constantia"/>
              </a:rPr>
              <a:t>: là thuộc tính mà giá trị của nó khác nhau trên 2 thực thể bất kỳ thuộc kiểu thực thể đó.        </a:t>
            </a:r>
            <a:endParaRPr b="0" lang="vi-VN" sz="2400" spc="-1" strike="noStrike">
              <a:solidFill>
                <a:srgbClr val="000000"/>
              </a:solidFill>
              <a:latin typeface="Arial"/>
            </a:endParaRPr>
          </a:p>
          <a:p>
            <a:pPr marL="457200" indent="-457200">
              <a:lnSpc>
                <a:spcPct val="100000"/>
              </a:lnSpc>
              <a:spcBef>
                <a:spcPts val="479"/>
              </a:spcBef>
              <a:buNone/>
              <a:tabLst>
                <a:tab algn="l" pos="0"/>
              </a:tabLst>
            </a:pPr>
            <a:r>
              <a:rPr b="0" lang="en-US" sz="2400" spc="-1" strike="noStrike">
                <a:solidFill>
                  <a:schemeClr val="dk1"/>
                </a:solidFill>
                <a:latin typeface="Constantia"/>
              </a:rPr>
              <a:t>	</a:t>
            </a:r>
            <a:r>
              <a:rPr b="0" lang="en-US" sz="2400" spc="-1" strike="noStrike">
                <a:solidFill>
                  <a:schemeClr val="dk1"/>
                </a:solidFill>
                <a:latin typeface="Constantia"/>
              </a:rPr>
              <a:t>Khóa để phân biệt các thực thể trong kiểu thực thể.</a:t>
            </a:r>
            <a:endParaRPr b="0" lang="vi-VN" sz="24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tabLst>
                <a:tab algn="l" pos="0"/>
              </a:tabLst>
            </a:pPr>
            <a:r>
              <a:rPr b="0" lang="en-US" sz="2000" spc="-1" strike="noStrike">
                <a:solidFill>
                  <a:schemeClr val="dk1"/>
                </a:solidFill>
                <a:latin typeface="Constantia"/>
              </a:rPr>
              <a:t>Khóa có thể là 1 hay nhiều thuộc tính</a:t>
            </a:r>
            <a:endParaRPr b="0" lang="vi-VN" sz="20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tabLst>
                <a:tab algn="l" pos="0"/>
              </a:tabLst>
            </a:pPr>
            <a:r>
              <a:rPr b="0" lang="en-US" sz="2000" spc="-1" strike="noStrike">
                <a:solidFill>
                  <a:schemeClr val="dk1"/>
                </a:solidFill>
                <a:latin typeface="Constantia"/>
              </a:rPr>
              <a:t>Một thực thể có thể có nhiều khóa</a:t>
            </a:r>
            <a:endParaRPr b="0" lang="vi-VN" sz="2000" spc="-1" strike="noStrike">
              <a:solidFill>
                <a:srgbClr val="000000"/>
              </a:solidFill>
              <a:latin typeface="Arial"/>
            </a:endParaRPr>
          </a:p>
          <a:p>
            <a:pPr marL="272880" indent="-272880">
              <a:lnSpc>
                <a:spcPct val="100000"/>
              </a:lnSpc>
              <a:spcBef>
                <a:spcPts val="439"/>
              </a:spcBef>
              <a:buClr>
                <a:srgbClr val="0bd0d9"/>
              </a:buClr>
              <a:buSzPct val="95000"/>
              <a:buFont typeface="Courier New"/>
              <a:buChar char="o"/>
              <a:tabLst>
                <a:tab algn="l" pos="0"/>
              </a:tabLst>
            </a:pPr>
            <a:r>
              <a:rPr b="1" lang="en-US" sz="2200" spc="-1" strike="noStrike">
                <a:solidFill>
                  <a:schemeClr val="dk1"/>
                </a:solidFill>
                <a:latin typeface="Constantia"/>
              </a:rPr>
              <a:t>Thực thể yếu</a:t>
            </a:r>
            <a:r>
              <a:rPr b="0" lang="en-US" sz="2200" spc="-1" strike="noStrike">
                <a:solidFill>
                  <a:schemeClr val="dk1"/>
                </a:solidFill>
                <a:latin typeface="Constantia"/>
              </a:rPr>
              <a:t>: thực thể không có khóa  </a:t>
            </a:r>
            <a:endParaRPr b="0" lang="vi-VN" sz="22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tabLst>
                <a:tab algn="l" pos="0"/>
              </a:tabLst>
            </a:pPr>
            <a:r>
              <a:rPr b="0" lang="en-US" sz="2600" spc="-1" strike="noStrike">
                <a:solidFill>
                  <a:srgbClr val="cc0000"/>
                </a:solidFill>
                <a:latin typeface="Constantia"/>
              </a:rPr>
              <a:t>Ví dụ </a:t>
            </a:r>
            <a:endParaRPr b="0" lang="vi-VN" sz="26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tabLst>
                <a:tab algn="l" pos="0"/>
              </a:tabLst>
            </a:pPr>
            <a:r>
              <a:rPr b="0" lang="en-US" sz="2000" spc="-1" strike="noStrike">
                <a:solidFill>
                  <a:srgbClr val="cc0000"/>
                </a:solidFill>
                <a:latin typeface="Constantia"/>
              </a:rPr>
              <a:t>Nhân viên (</a:t>
            </a:r>
            <a:r>
              <a:rPr b="0" lang="en-US" sz="2000" spc="-1" strike="noStrike" u="sng">
                <a:solidFill>
                  <a:srgbClr val="cc0000"/>
                </a:solidFill>
                <a:uFillTx/>
                <a:latin typeface="Constantia"/>
              </a:rPr>
              <a:t>Manv</a:t>
            </a:r>
            <a:r>
              <a:rPr b="0" lang="en-US" sz="2000" spc="-1" strike="noStrike">
                <a:solidFill>
                  <a:srgbClr val="cc0000"/>
                </a:solidFill>
                <a:latin typeface="Constantia"/>
              </a:rPr>
              <a:t>,  SCMND, Họ tên, ngày sinh, nơi sinh, HSL)</a:t>
            </a:r>
            <a:endParaRPr b="0" lang="vi-VN" sz="20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tabLst>
                <a:tab algn="l" pos="0"/>
              </a:tabLst>
            </a:pPr>
            <a:r>
              <a:rPr b="0" lang="en-US" sz="2000" spc="-1" strike="noStrike">
                <a:solidFill>
                  <a:srgbClr val="cc0000"/>
                </a:solidFill>
                <a:latin typeface="Constantia"/>
              </a:rPr>
              <a:t>Nhân thân(Manv,  Họ tên, quan hệ, ngày sinh)</a:t>
            </a:r>
            <a:endParaRPr b="0" lang="vi-VN" sz="2000" spc="-1" strike="noStrike">
              <a:solidFill>
                <a:srgbClr val="000000"/>
              </a:solidFill>
              <a:latin typeface="Arial"/>
            </a:endParaRPr>
          </a:p>
        </p:txBody>
      </p:sp>
      <p:sp>
        <p:nvSpPr>
          <p:cNvPr id="263" name="PlaceHolder 3"/>
          <p:cNvSpPr>
            <a:spLocks noGrp="1"/>
          </p:cNvSpPr>
          <p:nvPr>
            <p:ph type="sldNum" idx="7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64D9015D-3EA2-468E-9F74-A818F98615C0}"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64" name="PlaceHolder 4"/>
          <p:cNvSpPr>
            <a:spLocks noGrp="1"/>
          </p:cNvSpPr>
          <p:nvPr>
            <p:ph type="dt" idx="80"/>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34019B66-C53F-45F6-8339-88CFE5458E0A}"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65" name="PlaceHolder 5"/>
          <p:cNvSpPr>
            <a:spLocks noGrp="1"/>
          </p:cNvSpPr>
          <p:nvPr>
            <p:ph type="ftr" idx="8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66" name="Picture 3" descr=""/>
          <p:cNvPicPr/>
          <p:nvPr/>
        </p:nvPicPr>
        <p:blipFill>
          <a:blip r:embed="rId1"/>
          <a:stretch/>
        </p:blipFill>
        <p:spPr>
          <a:xfrm>
            <a:off x="0" y="7621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160" dur="indefinite" restart="never" nodeType="tmRoot">
          <p:childTnLst>
            <p:seq>
              <p:cTn id="161" dur="indefinite" nodeType="mainSeq">
                <p:childTnLst>
                  <p:par>
                    <p:cTn id="162" fill="hold">
                      <p:stCondLst>
                        <p:cond delay="indefinite"/>
                      </p:stCondLst>
                      <p:childTnLst>
                        <p:par>
                          <p:cTn id="163" fill="hold">
                            <p:stCondLst>
                              <p:cond delay="0"/>
                            </p:stCondLst>
                            <p:childTnLst>
                              <p:par>
                                <p:cTn id="164" nodeType="clickEffect" fill="hold" presetClass="entr" presetID="2" presetSubtype="4">
                                  <p:stCondLst>
                                    <p:cond delay="0"/>
                                  </p:stCondLst>
                                  <p:childTnLst>
                                    <p:set>
                                      <p:cBhvr>
                                        <p:cTn id="165" dur="1" fill="hold">
                                          <p:stCondLst>
                                            <p:cond delay="0"/>
                                          </p:stCondLst>
                                        </p:cTn>
                                        <p:tgtEl>
                                          <p:spTgt spid="262">
                                            <p:txEl>
                                              <p:pRg st="4" end="4"/>
                                            </p:txEl>
                                          </p:spTgt>
                                        </p:tgtEl>
                                        <p:attrNameLst>
                                          <p:attrName>style.visibility</p:attrName>
                                        </p:attrNameLst>
                                      </p:cBhvr>
                                      <p:to>
                                        <p:strVal val="visible"/>
                                      </p:to>
                                    </p:set>
                                    <p:anim calcmode="lin" valueType="num">
                                      <p:cBhvr additive="repl">
                                        <p:cTn id="166" dur="500" fill="hold"/>
                                        <p:tgtEl>
                                          <p:spTgt spid="262">
                                            <p:txEl>
                                              <p:pRg st="4" end="4"/>
                                            </p:txEl>
                                          </p:spTgt>
                                        </p:tgtEl>
                                        <p:attrNameLst>
                                          <p:attrName>ppt_x</p:attrName>
                                        </p:attrNameLst>
                                      </p:cBhvr>
                                      <p:tavLst>
                                        <p:tav tm="0">
                                          <p:val>
                                            <p:strVal val="#ppt_x"/>
                                          </p:val>
                                        </p:tav>
                                        <p:tav tm="100000">
                                          <p:val>
                                            <p:strVal val="#ppt_x"/>
                                          </p:val>
                                        </p:tav>
                                      </p:tavLst>
                                    </p:anim>
                                    <p:anim calcmode="lin" valueType="num">
                                      <p:cBhvr additive="repl">
                                        <p:cTn id="167" dur="500" fill="hold"/>
                                        <p:tgtEl>
                                          <p:spTgt spid="2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nodeType="clickEffect" fill="hold" presetClass="entr" presetID="2" presetSubtype="4">
                                  <p:stCondLst>
                                    <p:cond delay="0"/>
                                  </p:stCondLst>
                                  <p:childTnLst>
                                    <p:set>
                                      <p:cBhvr>
                                        <p:cTn id="171" dur="1" fill="hold">
                                          <p:stCondLst>
                                            <p:cond delay="0"/>
                                          </p:stCondLst>
                                        </p:cTn>
                                        <p:tgtEl>
                                          <p:spTgt spid="262">
                                            <p:txEl>
                                              <p:pRg st="5" end="5"/>
                                            </p:txEl>
                                          </p:spTgt>
                                        </p:tgtEl>
                                        <p:attrNameLst>
                                          <p:attrName>style.visibility</p:attrName>
                                        </p:attrNameLst>
                                      </p:cBhvr>
                                      <p:to>
                                        <p:strVal val="visible"/>
                                      </p:to>
                                    </p:set>
                                    <p:anim calcmode="lin" valueType="num">
                                      <p:cBhvr additive="repl">
                                        <p:cTn id="172" dur="500" fill="hold"/>
                                        <p:tgtEl>
                                          <p:spTgt spid="262">
                                            <p:txEl>
                                              <p:pRg st="5" end="5"/>
                                            </p:txEl>
                                          </p:spTgt>
                                        </p:tgtEl>
                                        <p:attrNameLst>
                                          <p:attrName>ppt_x</p:attrName>
                                        </p:attrNameLst>
                                      </p:cBhvr>
                                      <p:tavLst>
                                        <p:tav tm="0">
                                          <p:val>
                                            <p:strVal val="#ppt_x"/>
                                          </p:val>
                                        </p:tav>
                                        <p:tav tm="100000">
                                          <p:val>
                                            <p:strVal val="#ppt_x"/>
                                          </p:val>
                                        </p:tav>
                                      </p:tavLst>
                                    </p:anim>
                                    <p:anim calcmode="lin" valueType="num">
                                      <p:cBhvr additive="repl">
                                        <p:cTn id="173" dur="500" fill="hold"/>
                                        <p:tgtEl>
                                          <p:spTgt spid="26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nodeType="clickEffect" fill="hold" presetClass="entr" presetID="2" presetSubtype="4">
                                  <p:stCondLst>
                                    <p:cond delay="0"/>
                                  </p:stCondLst>
                                  <p:childTnLst>
                                    <p:set>
                                      <p:cBhvr>
                                        <p:cTn id="177" dur="1" fill="hold">
                                          <p:stCondLst>
                                            <p:cond delay="0"/>
                                          </p:stCondLst>
                                        </p:cTn>
                                        <p:tgtEl>
                                          <p:spTgt spid="262">
                                            <p:txEl>
                                              <p:pRg st="6" end="6"/>
                                            </p:txEl>
                                          </p:spTgt>
                                        </p:tgtEl>
                                        <p:attrNameLst>
                                          <p:attrName>style.visibility</p:attrName>
                                        </p:attrNameLst>
                                      </p:cBhvr>
                                      <p:to>
                                        <p:strVal val="visible"/>
                                      </p:to>
                                    </p:set>
                                    <p:anim calcmode="lin" valueType="num">
                                      <p:cBhvr additive="repl">
                                        <p:cTn id="178" dur="500" fill="hold"/>
                                        <p:tgtEl>
                                          <p:spTgt spid="262">
                                            <p:txEl>
                                              <p:pRg st="6" end="6"/>
                                            </p:txEl>
                                          </p:spTgt>
                                        </p:tgtEl>
                                        <p:attrNameLst>
                                          <p:attrName>ppt_x</p:attrName>
                                        </p:attrNameLst>
                                      </p:cBhvr>
                                      <p:tavLst>
                                        <p:tav tm="0">
                                          <p:val>
                                            <p:strVal val="#ppt_x"/>
                                          </p:val>
                                        </p:tav>
                                        <p:tav tm="100000">
                                          <p:val>
                                            <p:strVal val="#ppt_x"/>
                                          </p:val>
                                        </p:tav>
                                      </p:tavLst>
                                    </p:anim>
                                    <p:anim calcmode="lin" valueType="num">
                                      <p:cBhvr additive="repl">
                                        <p:cTn id="179" dur="500" fill="hold"/>
                                        <p:tgtEl>
                                          <p:spTgt spid="262">
                                            <p:txEl>
                                              <p:pRg st="6" end="6"/>
                                            </p:txEl>
                                          </p:spTgt>
                                        </p:tgtEl>
                                        <p:attrNameLst>
                                          <p:attrName>ppt_y</p:attrName>
                                        </p:attrNameLst>
                                      </p:cBhvr>
                                      <p:tavLst>
                                        <p:tav tm="0">
                                          <p:val>
                                            <p:strVal val="1+#ppt_h/2"/>
                                          </p:val>
                                        </p:tav>
                                        <p:tav tm="100000">
                                          <p:val>
                                            <p:strVal val="#ppt_y"/>
                                          </p:val>
                                        </p:tav>
                                      </p:tavLst>
                                    </p:anim>
                                  </p:childTnLst>
                                </p:cTn>
                              </p:par>
                              <p:par>
                                <p:cTn id="180" nodeType="withEffect" fill="hold" presetClass="entr" presetID="2" presetSubtype="4">
                                  <p:stCondLst>
                                    <p:cond delay="0"/>
                                  </p:stCondLst>
                                  <p:childTnLst>
                                    <p:set>
                                      <p:cBhvr>
                                        <p:cTn id="181" dur="1" fill="hold">
                                          <p:stCondLst>
                                            <p:cond delay="0"/>
                                          </p:stCondLst>
                                        </p:cTn>
                                        <p:tgtEl>
                                          <p:spTgt spid="262">
                                            <p:txEl>
                                              <p:pRg st="7" end="7"/>
                                            </p:txEl>
                                          </p:spTgt>
                                        </p:tgtEl>
                                        <p:attrNameLst>
                                          <p:attrName>style.visibility</p:attrName>
                                        </p:attrNameLst>
                                      </p:cBhvr>
                                      <p:to>
                                        <p:strVal val="visible"/>
                                      </p:to>
                                    </p:set>
                                    <p:anim calcmode="lin" valueType="num">
                                      <p:cBhvr additive="repl">
                                        <p:cTn id="182" dur="500" fill="hold"/>
                                        <p:tgtEl>
                                          <p:spTgt spid="262">
                                            <p:txEl>
                                              <p:pRg st="7" end="7"/>
                                            </p:txEl>
                                          </p:spTgt>
                                        </p:tgtEl>
                                        <p:attrNameLst>
                                          <p:attrName>ppt_x</p:attrName>
                                        </p:attrNameLst>
                                      </p:cBhvr>
                                      <p:tavLst>
                                        <p:tav tm="0">
                                          <p:val>
                                            <p:strVal val="#ppt_x"/>
                                          </p:val>
                                        </p:tav>
                                        <p:tav tm="100000">
                                          <p:val>
                                            <p:strVal val="#ppt_x"/>
                                          </p:val>
                                        </p:tav>
                                      </p:tavLst>
                                    </p:anim>
                                    <p:anim calcmode="lin" valueType="num">
                                      <p:cBhvr additive="repl">
                                        <p:cTn id="183" dur="500" fill="hold"/>
                                        <p:tgtEl>
                                          <p:spTgt spid="262">
                                            <p:txEl>
                                              <p:pRg st="7" end="7"/>
                                            </p:txEl>
                                          </p:spTgt>
                                        </p:tgtEl>
                                        <p:attrNameLst>
                                          <p:attrName>ppt_y</p:attrName>
                                        </p:attrNameLst>
                                      </p:cBhvr>
                                      <p:tavLst>
                                        <p:tav tm="0">
                                          <p:val>
                                            <p:strVal val="1+#ppt_h/2"/>
                                          </p:val>
                                        </p:tav>
                                        <p:tav tm="100000">
                                          <p:val>
                                            <p:strVal val="#ppt_y"/>
                                          </p:val>
                                        </p:tav>
                                      </p:tavLst>
                                    </p:anim>
                                  </p:childTnLst>
                                </p:cTn>
                              </p:par>
                              <p:par>
                                <p:cTn id="184" nodeType="withEffect" fill="hold" presetClass="entr" presetID="2" presetSubtype="4">
                                  <p:stCondLst>
                                    <p:cond delay="0"/>
                                  </p:stCondLst>
                                  <p:childTnLst>
                                    <p:set>
                                      <p:cBhvr>
                                        <p:cTn id="185" dur="1" fill="hold">
                                          <p:stCondLst>
                                            <p:cond delay="0"/>
                                          </p:stCondLst>
                                        </p:cTn>
                                        <p:tgtEl>
                                          <p:spTgt spid="262">
                                            <p:txEl>
                                              <p:pRg st="8" end="8"/>
                                            </p:txEl>
                                          </p:spTgt>
                                        </p:tgtEl>
                                        <p:attrNameLst>
                                          <p:attrName>style.visibility</p:attrName>
                                        </p:attrNameLst>
                                      </p:cBhvr>
                                      <p:to>
                                        <p:strVal val="visible"/>
                                      </p:to>
                                    </p:set>
                                    <p:anim calcmode="lin" valueType="num">
                                      <p:cBhvr additive="repl">
                                        <p:cTn id="186" dur="500" fill="hold"/>
                                        <p:tgtEl>
                                          <p:spTgt spid="262">
                                            <p:txEl>
                                              <p:pRg st="8" end="8"/>
                                            </p:txEl>
                                          </p:spTgt>
                                        </p:tgtEl>
                                        <p:attrNameLst>
                                          <p:attrName>ppt_x</p:attrName>
                                        </p:attrNameLst>
                                      </p:cBhvr>
                                      <p:tavLst>
                                        <p:tav tm="0">
                                          <p:val>
                                            <p:strVal val="#ppt_x"/>
                                          </p:val>
                                        </p:tav>
                                        <p:tav tm="100000">
                                          <p:val>
                                            <p:strVal val="#ppt_x"/>
                                          </p:val>
                                        </p:tav>
                                      </p:tavLst>
                                    </p:anim>
                                    <p:anim calcmode="lin" valueType="num">
                                      <p:cBhvr additive="repl">
                                        <p:cTn id="187" dur="500" fill="hold"/>
                                        <p:tgtEl>
                                          <p:spTgt spid="26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88" fill="hold">
                      <p:stCondLst>
                        <p:cond delay="indefinite"/>
                      </p:stCondLst>
                      <p:childTnLst>
                        <p:par>
                          <p:cTn id="189" fill="hold">
                            <p:stCondLst>
                              <p:cond delay="0"/>
                            </p:stCondLst>
                            <p:childTnLst>
                              <p:par>
                                <p:cTn id="190" nodeType="clickEffect" fill="hold" presetClass="entr" presetID="8" presetSubtype="16">
                                  <p:stCondLst>
                                    <p:cond delay="0"/>
                                  </p:stCondLst>
                                  <p:childTnLst>
                                    <p:set>
                                      <p:cBhvr>
                                        <p:cTn id="191" dur="1" fill="hold">
                                          <p:stCondLst>
                                            <p:cond delay="0"/>
                                          </p:stCondLst>
                                        </p:cTn>
                                        <p:tgtEl>
                                          <p:spTgt spid="262">
                                            <p:txEl>
                                              <p:pRg st="9" end="9"/>
                                            </p:txEl>
                                          </p:spTgt>
                                        </p:tgtEl>
                                        <p:attrNameLst>
                                          <p:attrName>style.visibility</p:attrName>
                                        </p:attrNameLst>
                                      </p:cBhvr>
                                      <p:to>
                                        <p:strVal val="visible"/>
                                      </p:to>
                                    </p:set>
                                    <p:animEffect filter="diamond(in)" transition="in">
                                      <p:cBhvr additive="repl">
                                        <p:cTn id="192" dur="2000"/>
                                        <p:tgtEl>
                                          <p:spTgt spid="262">
                                            <p:txEl>
                                              <p:pRg st="9" end="9"/>
                                            </p:txEl>
                                          </p:spTgt>
                                        </p:tgtEl>
                                      </p:cBhvr>
                                    </p:animEffect>
                                  </p:childTnLst>
                                </p:cTn>
                              </p:par>
                              <p:par>
                                <p:cTn id="193" nodeType="withEffect" fill="hold" presetClass="entr" presetID="8" presetSubtype="16">
                                  <p:stCondLst>
                                    <p:cond delay="0"/>
                                  </p:stCondLst>
                                  <p:childTnLst>
                                    <p:set>
                                      <p:cBhvr>
                                        <p:cTn id="194" dur="1" fill="hold">
                                          <p:stCondLst>
                                            <p:cond delay="0"/>
                                          </p:stCondLst>
                                        </p:cTn>
                                        <p:tgtEl>
                                          <p:spTgt spid="262">
                                            <p:txEl>
                                              <p:pRg st="10" end="10"/>
                                            </p:txEl>
                                          </p:spTgt>
                                        </p:tgtEl>
                                        <p:attrNameLst>
                                          <p:attrName>style.visibility</p:attrName>
                                        </p:attrNameLst>
                                      </p:cBhvr>
                                      <p:to>
                                        <p:strVal val="visible"/>
                                      </p:to>
                                    </p:set>
                                    <p:animEffect filter="diamond(in)" transition="in">
                                      <p:cBhvr additive="repl">
                                        <p:cTn id="195" dur="2000"/>
                                        <p:tgtEl>
                                          <p:spTgt spid="262">
                                            <p:txEl>
                                              <p:pRg st="10" end="10"/>
                                            </p:txEl>
                                          </p:spTgt>
                                        </p:tgtEl>
                                      </p:cBhvr>
                                    </p:animEffect>
                                  </p:childTnLst>
                                </p:cTn>
                              </p:par>
                            </p:childTnLst>
                          </p:cTn>
                        </p:par>
                      </p:childTnLst>
                    </p:cTn>
                  </p:par>
                  <p:par>
                    <p:cTn id="196" fill="hold">
                      <p:stCondLst>
                        <p:cond delay="indefinite"/>
                      </p:stCondLst>
                      <p:childTnLst>
                        <p:par>
                          <p:cTn id="197" fill="hold">
                            <p:stCondLst>
                              <p:cond delay="0"/>
                            </p:stCondLst>
                            <p:childTnLst>
                              <p:par>
                                <p:cTn id="198" nodeType="clickEffect" fill="hold" presetClass="entr" presetID="2" presetSubtype="4">
                                  <p:stCondLst>
                                    <p:cond delay="0"/>
                                  </p:stCondLst>
                                  <p:childTnLst>
                                    <p:set>
                                      <p:cBhvr>
                                        <p:cTn id="199" dur="1" fill="hold">
                                          <p:stCondLst>
                                            <p:cond delay="0"/>
                                          </p:stCondLst>
                                        </p:cTn>
                                        <p:tgtEl>
                                          <p:spTgt spid="262">
                                            <p:txEl>
                                              <p:pRg st="11" end="11"/>
                                            </p:txEl>
                                          </p:spTgt>
                                        </p:tgtEl>
                                        <p:attrNameLst>
                                          <p:attrName>style.visibility</p:attrName>
                                        </p:attrNameLst>
                                      </p:cBhvr>
                                      <p:to>
                                        <p:strVal val="visible"/>
                                      </p:to>
                                    </p:set>
                                    <p:anim calcmode="lin" valueType="num">
                                      <p:cBhvr additive="repl">
                                        <p:cTn id="200" dur="500" fill="hold"/>
                                        <p:tgtEl>
                                          <p:spTgt spid="262">
                                            <p:txEl>
                                              <p:pRg st="11" end="11"/>
                                            </p:txEl>
                                          </p:spTgt>
                                        </p:tgtEl>
                                        <p:attrNameLst>
                                          <p:attrName>ppt_x</p:attrName>
                                        </p:attrNameLst>
                                      </p:cBhvr>
                                      <p:tavLst>
                                        <p:tav tm="0">
                                          <p:val>
                                            <p:strVal val="#ppt_x"/>
                                          </p:val>
                                        </p:tav>
                                        <p:tav tm="100000">
                                          <p:val>
                                            <p:strVal val="#ppt_x"/>
                                          </p:val>
                                        </p:tav>
                                      </p:tavLst>
                                    </p:anim>
                                    <p:anim calcmode="lin" valueType="num">
                                      <p:cBhvr additive="repl">
                                        <p:cTn id="201" dur="500" fill="hold"/>
                                        <p:tgtEl>
                                          <p:spTgt spid="26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3200" spc="-1" strike="noStrike">
                <a:solidFill>
                  <a:schemeClr val="dk2"/>
                </a:solidFill>
                <a:latin typeface="Calibri"/>
              </a:rPr>
              <a:t>d. Liên kết</a:t>
            </a:r>
            <a:endParaRPr b="0" lang="vi-VN" sz="3200" spc="-1" strike="noStrike">
              <a:solidFill>
                <a:srgbClr val="000000"/>
              </a:solidFill>
              <a:latin typeface="Arial"/>
            </a:endParaRPr>
          </a:p>
        </p:txBody>
      </p:sp>
      <p:sp>
        <p:nvSpPr>
          <p:cNvPr id="268"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1" i="1" lang="en-US" sz="2600" spc="-1" strike="noStrike">
                <a:solidFill>
                  <a:schemeClr val="dk1"/>
                </a:solidFill>
                <a:latin typeface="Constantia"/>
              </a:rPr>
              <a:t>Liên kết</a:t>
            </a:r>
            <a:r>
              <a:rPr b="0" lang="en-US" sz="2600" spc="-1" strike="noStrike">
                <a:solidFill>
                  <a:schemeClr val="dk1"/>
                </a:solidFill>
                <a:latin typeface="Constantia"/>
              </a:rPr>
              <a:t>: Là mối quan hệ giữa 2 hay nhiều thực thể</a:t>
            </a:r>
            <a:endParaRPr b="0" lang="vi-VN" sz="2600" spc="-1" strike="noStrike">
              <a:solidFill>
                <a:srgbClr val="000000"/>
              </a:solidFill>
              <a:latin typeface="Arial"/>
            </a:endParaRPr>
          </a:p>
          <a:p>
            <a:pPr marL="272880" indent="-272880">
              <a:lnSpc>
                <a:spcPct val="100000"/>
              </a:lnSpc>
              <a:spcBef>
                <a:spcPts val="479"/>
              </a:spcBef>
              <a:buClr>
                <a:srgbClr val="0bd0d9"/>
              </a:buClr>
              <a:buSzPct val="95000"/>
              <a:buFont typeface="Wingdings" charset="2"/>
              <a:buChar char=""/>
            </a:pPr>
            <a:r>
              <a:rPr b="1" i="1" lang="en-US" sz="2400" spc="-1" strike="noStrike">
                <a:solidFill>
                  <a:schemeClr val="dk1"/>
                </a:solidFill>
                <a:latin typeface="Constantia"/>
              </a:rPr>
              <a:t>Ví dụ </a:t>
            </a:r>
            <a:r>
              <a:rPr b="0" lang="en-US" sz="2400" spc="-1" strike="noStrike">
                <a:solidFill>
                  <a:schemeClr val="dk1"/>
                </a:solidFill>
                <a:latin typeface="Constantia"/>
              </a:rPr>
              <a:t>giữa tập thực thể NHANVIEN và PHONGBAN có các liên kết:</a:t>
            </a:r>
            <a:endParaRPr b="0" lang="vi-VN" sz="24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pPr>
            <a:r>
              <a:rPr b="0" lang="en-US" sz="2000" spc="-1" strike="noStrike">
                <a:solidFill>
                  <a:schemeClr val="dk1"/>
                </a:solidFill>
                <a:latin typeface="Constantia"/>
              </a:rPr>
              <a:t>Một nhân viên </a:t>
            </a:r>
            <a:r>
              <a:rPr b="1" lang="en-US" sz="2000" spc="-1" strike="noStrike">
                <a:solidFill>
                  <a:schemeClr val="dk1"/>
                </a:solidFill>
                <a:latin typeface="Constantia"/>
              </a:rPr>
              <a:t>thuộc</a:t>
            </a:r>
            <a:r>
              <a:rPr b="0" lang="en-US" sz="2000" spc="-1" strike="noStrike">
                <a:solidFill>
                  <a:schemeClr val="dk1"/>
                </a:solidFill>
                <a:latin typeface="Constantia"/>
              </a:rPr>
              <a:t> một phòng ban nào đó</a:t>
            </a:r>
            <a:endParaRPr b="0" lang="vi-VN" sz="2000" spc="-1" strike="noStrike">
              <a:solidFill>
                <a:srgbClr val="000000"/>
              </a:solidFill>
              <a:latin typeface="Arial"/>
            </a:endParaRPr>
          </a:p>
          <a:p>
            <a:pPr lvl="1" marL="639720" indent="-246240">
              <a:lnSpc>
                <a:spcPct val="100000"/>
              </a:lnSpc>
              <a:spcBef>
                <a:spcPts val="400"/>
              </a:spcBef>
              <a:buClr>
                <a:srgbClr val="0f6fc6"/>
              </a:buClr>
              <a:buSzPct val="85000"/>
              <a:buFont typeface="Courier New"/>
              <a:buChar char="o"/>
            </a:pPr>
            <a:r>
              <a:rPr b="0" lang="en-US" sz="2000" spc="-1" strike="noStrike">
                <a:solidFill>
                  <a:schemeClr val="dk1"/>
                </a:solidFill>
                <a:latin typeface="Constantia"/>
              </a:rPr>
              <a:t>Một phòng ban </a:t>
            </a:r>
            <a:r>
              <a:rPr b="1" lang="en-US" sz="2000" spc="-1" strike="noStrike">
                <a:solidFill>
                  <a:schemeClr val="dk1"/>
                </a:solidFill>
                <a:latin typeface="Constantia"/>
              </a:rPr>
              <a:t>có </a:t>
            </a:r>
            <a:r>
              <a:rPr b="0" lang="en-US" sz="2000" spc="-1" strike="noStrike">
                <a:solidFill>
                  <a:schemeClr val="dk1"/>
                </a:solidFill>
                <a:latin typeface="Constantia"/>
              </a:rPr>
              <a:t> nhân viên làm quản lý</a:t>
            </a:r>
            <a:endParaRPr b="0" lang="vi-VN" sz="20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1" i="1" lang="en-US" sz="2600" spc="-1" strike="noStrike">
                <a:solidFill>
                  <a:schemeClr val="dk1"/>
                </a:solidFill>
                <a:latin typeface="Constantia"/>
              </a:rPr>
              <a:t>Tập liên kết</a:t>
            </a:r>
            <a:r>
              <a:rPr b="0" lang="en-US" sz="2600" spc="-1" strike="noStrike">
                <a:solidFill>
                  <a:schemeClr val="dk1"/>
                </a:solidFill>
                <a:latin typeface="Constantia"/>
              </a:rPr>
              <a:t>: là tập hợp các liên kết (mối quan hệ ) giống nhau giữa các thực thể.</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1" i="1" lang="en-US" sz="2600" spc="-1" strike="noStrike">
                <a:solidFill>
                  <a:schemeClr val="dk1"/>
                </a:solidFill>
                <a:latin typeface="Constantia"/>
              </a:rPr>
              <a:t>Kiểu liên kết </a:t>
            </a:r>
            <a:r>
              <a:rPr b="0" i="1" lang="en-US" sz="2600" spc="-1" strike="noStrike">
                <a:solidFill>
                  <a:schemeClr val="dk1"/>
                </a:solidFill>
                <a:latin typeface="Constantia"/>
              </a:rPr>
              <a:t>giữa các kiểu thực thể</a:t>
            </a:r>
            <a:r>
              <a:rPr b="1" i="1" lang="en-US" sz="2600" spc="-1" strike="noStrike">
                <a:solidFill>
                  <a:schemeClr val="dk1"/>
                </a:solidFill>
                <a:latin typeface="Constantia"/>
              </a:rPr>
              <a:t>: </a:t>
            </a:r>
            <a:r>
              <a:rPr b="0" lang="en-US" sz="2600" spc="-1" strike="noStrike">
                <a:solidFill>
                  <a:schemeClr val="dk1"/>
                </a:solidFill>
                <a:latin typeface="Constantia"/>
              </a:rPr>
              <a:t>tập tất cả các liên kết giống nhau trên các thực thể  của kiểu thực thể.</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p:txBody>
      </p:sp>
      <p:sp>
        <p:nvSpPr>
          <p:cNvPr id="269" name="PlaceHolder 3"/>
          <p:cNvSpPr>
            <a:spLocks noGrp="1"/>
          </p:cNvSpPr>
          <p:nvPr>
            <p:ph type="sldNum" idx="8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09ACAFF2-EA0F-4FD0-BC3A-2316DB072B70}"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70" name="PlaceHolder 4"/>
          <p:cNvSpPr>
            <a:spLocks noGrp="1"/>
          </p:cNvSpPr>
          <p:nvPr>
            <p:ph type="dt" idx="83"/>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0896E006-956B-4F0E-BB59-5DA83A1259DB}"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71" name="PlaceHolder 5"/>
          <p:cNvSpPr>
            <a:spLocks noGrp="1"/>
          </p:cNvSpPr>
          <p:nvPr>
            <p:ph type="ftr" idx="8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72"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3200" spc="-1" strike="noStrike">
                <a:solidFill>
                  <a:schemeClr val="dk2"/>
                </a:solidFill>
                <a:latin typeface="Calibri"/>
              </a:rPr>
              <a:t>d. Liên kết</a:t>
            </a:r>
            <a:endParaRPr b="0" lang="vi-VN" sz="3200" spc="-1" strike="noStrike">
              <a:solidFill>
                <a:srgbClr val="000000"/>
              </a:solidFill>
              <a:latin typeface="Arial"/>
            </a:endParaRPr>
          </a:p>
        </p:txBody>
      </p:sp>
      <p:sp>
        <p:nvSpPr>
          <p:cNvPr id="274" name="PlaceHolder 2"/>
          <p:cNvSpPr>
            <a:spLocks noGrp="1"/>
          </p:cNvSpPr>
          <p:nvPr>
            <p:ph type="sldNum" idx="8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BF562C23-E52C-4254-ADE1-2D1DF4A7E7F2}"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75" name="PlaceHolder 3"/>
          <p:cNvSpPr>
            <a:spLocks noGrp="1"/>
          </p:cNvSpPr>
          <p:nvPr>
            <p:ph type="dt" idx="86"/>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6A504661-F2C2-4F80-AE18-0AEA20D748D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76" name="PlaceHolder 4"/>
          <p:cNvSpPr>
            <a:spLocks noGrp="1"/>
          </p:cNvSpPr>
          <p:nvPr>
            <p:ph type="ftr" idx="8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277" name="Picture 3" descr=""/>
          <p:cNvPicPr/>
          <p:nvPr/>
        </p:nvPicPr>
        <p:blipFill>
          <a:blip r:embed="rId1"/>
          <a:stretch/>
        </p:blipFill>
        <p:spPr>
          <a:xfrm>
            <a:off x="0" y="990720"/>
            <a:ext cx="9143280" cy="45000"/>
          </a:xfrm>
          <a:prstGeom prst="rect">
            <a:avLst/>
          </a:prstGeom>
          <a:ln w="0">
            <a:noFill/>
          </a:ln>
        </p:spPr>
      </p:pic>
      <p:sp>
        <p:nvSpPr>
          <p:cNvPr id="278" name="TextBox 9"/>
          <p:cNvSpPr/>
          <p:nvPr/>
        </p:nvSpPr>
        <p:spPr>
          <a:xfrm>
            <a:off x="1066680" y="1752480"/>
            <a:ext cx="1447200" cy="363960"/>
          </a:xfrm>
          <a:prstGeom prst="rect">
            <a:avLst/>
          </a:prstGeom>
          <a:solidFill>
            <a:srgbClr val="ffffff"/>
          </a:solidFill>
          <a:ln>
            <a:solidFill>
              <a:srgbClr val="0f6fc6"/>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Constantia"/>
              </a:rPr>
              <a:t>SINHVIEN</a:t>
            </a:r>
            <a:endParaRPr b="0" lang="vi-VN" sz="1800" spc="-1" strike="noStrike">
              <a:solidFill>
                <a:srgbClr val="000000"/>
              </a:solidFill>
              <a:latin typeface="Arial"/>
            </a:endParaRPr>
          </a:p>
        </p:txBody>
      </p:sp>
      <p:sp>
        <p:nvSpPr>
          <p:cNvPr id="279" name="TextBox 10"/>
          <p:cNvSpPr/>
          <p:nvPr/>
        </p:nvSpPr>
        <p:spPr>
          <a:xfrm>
            <a:off x="6294600" y="1774080"/>
            <a:ext cx="1370880" cy="363960"/>
          </a:xfrm>
          <a:prstGeom prst="rect">
            <a:avLst/>
          </a:prstGeom>
          <a:solidFill>
            <a:srgbClr val="ffffff"/>
          </a:solidFill>
          <a:ln>
            <a:solidFill>
              <a:srgbClr val="0f6fc6"/>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Constantia"/>
              </a:rPr>
              <a:t>LOP</a:t>
            </a:r>
            <a:endParaRPr b="0" lang="vi-VN" sz="1800" spc="-1" strike="noStrike">
              <a:solidFill>
                <a:srgbClr val="000000"/>
              </a:solidFill>
              <a:latin typeface="Arial"/>
            </a:endParaRPr>
          </a:p>
        </p:txBody>
      </p:sp>
      <p:sp>
        <p:nvSpPr>
          <p:cNvPr id="280" name="Diamond 11"/>
          <p:cNvSpPr/>
          <p:nvPr/>
        </p:nvSpPr>
        <p:spPr>
          <a:xfrm>
            <a:off x="3352680" y="1600200"/>
            <a:ext cx="2056680" cy="685080"/>
          </a:xfrm>
          <a:prstGeom prst="diamond">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Đăng_kí</a:t>
            </a:r>
            <a:endParaRPr b="0" lang="vi-VN" sz="1800" spc="-1" strike="noStrike">
              <a:solidFill>
                <a:srgbClr val="000000"/>
              </a:solidFill>
              <a:latin typeface="Arial"/>
            </a:endParaRPr>
          </a:p>
        </p:txBody>
      </p:sp>
      <p:cxnSp>
        <p:nvCxnSpPr>
          <p:cNvPr id="281" name="Straight Connector 12"/>
          <p:cNvCxnSpPr>
            <a:stCxn id="280" idx="3"/>
            <a:endCxn id="279" idx="1"/>
          </p:cNvCxnSpPr>
          <p:nvPr/>
        </p:nvCxnSpPr>
        <p:spPr>
          <a:xfrm>
            <a:off x="5409360" y="1942920"/>
            <a:ext cx="885600" cy="13320"/>
          </a:xfrm>
          <a:prstGeom prst="straightConnector1">
            <a:avLst/>
          </a:prstGeom>
          <a:ln w="0">
            <a:solidFill>
              <a:srgbClr val="095294"/>
            </a:solidFill>
          </a:ln>
        </p:spPr>
      </p:cxnSp>
      <p:cxnSp>
        <p:nvCxnSpPr>
          <p:cNvPr id="282" name="Straight Connector 13"/>
          <p:cNvCxnSpPr>
            <a:stCxn id="278" idx="3"/>
            <a:endCxn id="280" idx="1"/>
          </p:cNvCxnSpPr>
          <p:nvPr/>
        </p:nvCxnSpPr>
        <p:spPr>
          <a:xfrm>
            <a:off x="2513880" y="1934280"/>
            <a:ext cx="839160" cy="9000"/>
          </a:xfrm>
          <a:prstGeom prst="straightConnector1">
            <a:avLst/>
          </a:prstGeom>
          <a:ln w="0">
            <a:solidFill>
              <a:srgbClr val="095294"/>
            </a:solidFill>
          </a:ln>
        </p:spPr>
      </p:cxnSp>
      <p:sp>
        <p:nvSpPr>
          <p:cNvPr id="283" name="TextBox 14"/>
          <p:cNvSpPr/>
          <p:nvPr/>
        </p:nvSpPr>
        <p:spPr>
          <a:xfrm>
            <a:off x="533520" y="1219320"/>
            <a:ext cx="243756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Kiểu </a:t>
            </a:r>
            <a:r>
              <a:rPr b="1" lang="en-US" sz="1800" spc="-1" strike="noStrike">
                <a:solidFill>
                  <a:schemeClr val="dk1"/>
                </a:solidFill>
                <a:latin typeface="Tahoma"/>
              </a:rPr>
              <a:t>Liên kết </a:t>
            </a:r>
            <a:r>
              <a:rPr b="0" lang="en-US" sz="1800" spc="-1" strike="noStrike">
                <a:solidFill>
                  <a:schemeClr val="dk1"/>
                </a:solidFill>
                <a:latin typeface="Tahoma"/>
              </a:rPr>
              <a:t>(R)</a:t>
            </a:r>
            <a:endParaRPr b="0" lang="vi-VN" sz="1800" spc="-1" strike="noStrike">
              <a:solidFill>
                <a:srgbClr val="000000"/>
              </a:solidFill>
              <a:latin typeface="Arial"/>
            </a:endParaRPr>
          </a:p>
        </p:txBody>
      </p:sp>
      <p:sp>
        <p:nvSpPr>
          <p:cNvPr id="284" name="TextBox 15"/>
          <p:cNvSpPr/>
          <p:nvPr/>
        </p:nvSpPr>
        <p:spPr>
          <a:xfrm>
            <a:off x="304920" y="2640240"/>
            <a:ext cx="34282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Tập (thể hiện) các </a:t>
            </a:r>
            <a:r>
              <a:rPr b="1" lang="en-US" sz="1800" spc="-1" strike="noStrike">
                <a:solidFill>
                  <a:schemeClr val="dk1"/>
                </a:solidFill>
                <a:latin typeface="Tahoma"/>
              </a:rPr>
              <a:t>Liên kết</a:t>
            </a:r>
            <a:endParaRPr b="0" lang="vi-VN" sz="1800" spc="-1" strike="noStrike">
              <a:solidFill>
                <a:srgbClr val="000000"/>
              </a:solidFill>
              <a:latin typeface="Arial"/>
            </a:endParaRPr>
          </a:p>
        </p:txBody>
      </p:sp>
      <p:sp>
        <p:nvSpPr>
          <p:cNvPr id="285" name="Oval 16"/>
          <p:cNvSpPr/>
          <p:nvPr/>
        </p:nvSpPr>
        <p:spPr>
          <a:xfrm>
            <a:off x="1143000" y="3352680"/>
            <a:ext cx="1294560" cy="289476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Sv1</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Sv2</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Sv3</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Sv4</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Sv5</a:t>
            </a:r>
            <a:endParaRPr b="0" lang="vi-VN" sz="1800" spc="-1" strike="noStrike">
              <a:solidFill>
                <a:srgbClr val="000000"/>
              </a:solidFill>
              <a:latin typeface="Arial"/>
            </a:endParaRPr>
          </a:p>
        </p:txBody>
      </p:sp>
      <p:sp>
        <p:nvSpPr>
          <p:cNvPr id="286" name="Oval 17"/>
          <p:cNvSpPr/>
          <p:nvPr/>
        </p:nvSpPr>
        <p:spPr>
          <a:xfrm>
            <a:off x="6324480" y="3200400"/>
            <a:ext cx="1294560" cy="289476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Lớp1</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Lớp2</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Lớp3</a:t>
            </a:r>
            <a:endParaRPr b="0" lang="vi-VN" sz="1800" spc="-1" strike="noStrike">
              <a:solidFill>
                <a:srgbClr val="000000"/>
              </a:solidFill>
              <a:latin typeface="Arial"/>
            </a:endParaRPr>
          </a:p>
        </p:txBody>
      </p:sp>
      <p:sp>
        <p:nvSpPr>
          <p:cNvPr id="287" name="Oval 18"/>
          <p:cNvSpPr/>
          <p:nvPr/>
        </p:nvSpPr>
        <p:spPr>
          <a:xfrm>
            <a:off x="3848040" y="3352680"/>
            <a:ext cx="1294560" cy="289476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r1</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r2</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r3</a:t>
            </a:r>
            <a:endParaRPr b="0" lang="vi-VN" sz="1800" spc="-1" strike="noStrike">
              <a:solidFill>
                <a:srgbClr val="000000"/>
              </a:solidFill>
              <a:latin typeface="Arial"/>
            </a:endParaRPr>
          </a:p>
          <a:p>
            <a:pPr algn="ctr">
              <a:lnSpc>
                <a:spcPct val="100000"/>
              </a:lnSpc>
              <a:spcBef>
                <a:spcPts val="601"/>
              </a:spcBef>
            </a:pPr>
            <a:r>
              <a:rPr b="0" lang="en-US" sz="1800" spc="-1" strike="noStrike">
                <a:solidFill>
                  <a:schemeClr val="dk1"/>
                </a:solidFill>
                <a:latin typeface="Constantia"/>
              </a:rPr>
              <a:t>r4</a:t>
            </a:r>
            <a:endParaRPr b="0" lang="vi-VN" sz="1800" spc="-1" strike="noStrike">
              <a:solidFill>
                <a:srgbClr val="000000"/>
              </a:solidFill>
              <a:latin typeface="Arial"/>
            </a:endParaRPr>
          </a:p>
          <a:p>
            <a:pPr algn="ctr">
              <a:lnSpc>
                <a:spcPct val="100000"/>
              </a:lnSpc>
              <a:spcBef>
                <a:spcPts val="601"/>
              </a:spcBef>
            </a:pPr>
            <a:endParaRPr b="0" lang="vi-VN" sz="1800" spc="-1" strike="noStrike">
              <a:solidFill>
                <a:srgbClr val="000000"/>
              </a:solidFill>
              <a:latin typeface="Arial"/>
            </a:endParaRPr>
          </a:p>
        </p:txBody>
      </p:sp>
      <p:cxnSp>
        <p:nvCxnSpPr>
          <p:cNvPr id="288" name="Straight Connector 19"/>
          <p:cNvCxnSpPr/>
          <p:nvPr/>
        </p:nvCxnSpPr>
        <p:spPr>
          <a:xfrm flipV="1">
            <a:off x="1981080" y="3962160"/>
            <a:ext cx="2363040" cy="77040"/>
          </a:xfrm>
          <a:prstGeom prst="straightConnector1">
            <a:avLst/>
          </a:prstGeom>
          <a:ln w="0">
            <a:solidFill>
              <a:srgbClr val="095294"/>
            </a:solidFill>
          </a:ln>
        </p:spPr>
      </p:cxnSp>
      <p:cxnSp>
        <p:nvCxnSpPr>
          <p:cNvPr id="289" name="Straight Connector 20"/>
          <p:cNvCxnSpPr/>
          <p:nvPr/>
        </p:nvCxnSpPr>
        <p:spPr>
          <a:xfrm>
            <a:off x="1981080" y="4419360"/>
            <a:ext cx="2286720" cy="2520"/>
          </a:xfrm>
          <a:prstGeom prst="straightConnector1">
            <a:avLst/>
          </a:prstGeom>
          <a:ln w="0">
            <a:solidFill>
              <a:srgbClr val="095294"/>
            </a:solidFill>
          </a:ln>
        </p:spPr>
      </p:cxnSp>
      <p:cxnSp>
        <p:nvCxnSpPr>
          <p:cNvPr id="290" name="Straight Connector 21"/>
          <p:cNvCxnSpPr/>
          <p:nvPr/>
        </p:nvCxnSpPr>
        <p:spPr>
          <a:xfrm>
            <a:off x="1981080" y="4876560"/>
            <a:ext cx="2363040" cy="2520"/>
          </a:xfrm>
          <a:prstGeom prst="straightConnector1">
            <a:avLst/>
          </a:prstGeom>
          <a:ln w="0">
            <a:solidFill>
              <a:srgbClr val="095294"/>
            </a:solidFill>
          </a:ln>
        </p:spPr>
      </p:cxnSp>
      <p:cxnSp>
        <p:nvCxnSpPr>
          <p:cNvPr id="291" name="Straight Connector 22"/>
          <p:cNvCxnSpPr/>
          <p:nvPr/>
        </p:nvCxnSpPr>
        <p:spPr>
          <a:xfrm>
            <a:off x="2057400" y="5257800"/>
            <a:ext cx="2362680" cy="2160"/>
          </a:xfrm>
          <a:prstGeom prst="straightConnector1">
            <a:avLst/>
          </a:prstGeom>
          <a:ln w="0">
            <a:solidFill>
              <a:srgbClr val="095294"/>
            </a:solidFill>
          </a:ln>
        </p:spPr>
      </p:cxnSp>
      <p:cxnSp>
        <p:nvCxnSpPr>
          <p:cNvPr id="292" name="Straight Connector 23"/>
          <p:cNvCxnSpPr/>
          <p:nvPr/>
        </p:nvCxnSpPr>
        <p:spPr>
          <a:xfrm>
            <a:off x="4572000" y="3962160"/>
            <a:ext cx="2134080" cy="305640"/>
          </a:xfrm>
          <a:prstGeom prst="straightConnector1">
            <a:avLst/>
          </a:prstGeom>
          <a:ln w="0">
            <a:solidFill>
              <a:srgbClr val="095294"/>
            </a:solidFill>
          </a:ln>
        </p:spPr>
      </p:cxnSp>
      <p:cxnSp>
        <p:nvCxnSpPr>
          <p:cNvPr id="293" name="Straight Connector 24"/>
          <p:cNvCxnSpPr/>
          <p:nvPr/>
        </p:nvCxnSpPr>
        <p:spPr>
          <a:xfrm flipV="1">
            <a:off x="4495680" y="4343400"/>
            <a:ext cx="2134440" cy="76680"/>
          </a:xfrm>
          <a:prstGeom prst="straightConnector1">
            <a:avLst/>
          </a:prstGeom>
          <a:ln w="0">
            <a:solidFill>
              <a:srgbClr val="095294"/>
            </a:solidFill>
          </a:ln>
        </p:spPr>
      </p:cxnSp>
      <p:cxnSp>
        <p:nvCxnSpPr>
          <p:cNvPr id="294" name="Straight Connector 25"/>
          <p:cNvCxnSpPr/>
          <p:nvPr/>
        </p:nvCxnSpPr>
        <p:spPr>
          <a:xfrm>
            <a:off x="4572000" y="4876560"/>
            <a:ext cx="2134080" cy="229320"/>
          </a:xfrm>
          <a:prstGeom prst="straightConnector1">
            <a:avLst/>
          </a:prstGeom>
          <a:ln w="0">
            <a:solidFill>
              <a:srgbClr val="095294"/>
            </a:solidFill>
          </a:ln>
        </p:spPr>
      </p:cxnSp>
      <p:cxnSp>
        <p:nvCxnSpPr>
          <p:cNvPr id="295" name="Straight Connector 26"/>
          <p:cNvCxnSpPr/>
          <p:nvPr/>
        </p:nvCxnSpPr>
        <p:spPr>
          <a:xfrm flipV="1">
            <a:off x="4419360" y="4647960"/>
            <a:ext cx="2210760" cy="610560"/>
          </a:xfrm>
          <a:prstGeom prst="straightConnector1">
            <a:avLst/>
          </a:prstGeom>
          <a:ln w="0">
            <a:solidFill>
              <a:srgbClr val="095294"/>
            </a:solidFill>
          </a:ln>
        </p:spPr>
      </p:cxn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p:nvPr>
        </p:nvSpPr>
        <p:spPr>
          <a:xfrm>
            <a:off x="457200" y="1066680"/>
            <a:ext cx="8228880" cy="540936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1" i="1" lang="en-US" sz="2400" spc="-1" strike="noStrike">
                <a:solidFill>
                  <a:schemeClr val="dk1"/>
                </a:solidFill>
                <a:latin typeface="Constantia"/>
              </a:rPr>
              <a:t>Cấp liên kết</a:t>
            </a:r>
            <a:r>
              <a:rPr b="0" lang="en-US" sz="2600" spc="-1" strike="noStrike">
                <a:solidFill>
                  <a:schemeClr val="dk1"/>
                </a:solidFill>
                <a:latin typeface="Constantia"/>
              </a:rPr>
              <a:t>: Là </a:t>
            </a:r>
            <a:r>
              <a:rPr b="1" lang="en-US" sz="2600" spc="-1" strike="noStrike">
                <a:solidFill>
                  <a:schemeClr val="dk1"/>
                </a:solidFill>
                <a:latin typeface="Constantia"/>
              </a:rPr>
              <a:t>số kiểu thực thể </a:t>
            </a:r>
            <a:r>
              <a:rPr b="0" lang="en-US" sz="2600" spc="-1" strike="noStrike">
                <a:solidFill>
                  <a:schemeClr val="dk1"/>
                </a:solidFill>
                <a:latin typeface="Constantia"/>
              </a:rPr>
              <a:t>tham gia vào liên kết đó.</a:t>
            </a:r>
            <a:endParaRPr b="0" lang="vi-VN" sz="2600" spc="-1" strike="noStrike">
              <a:solidFill>
                <a:srgbClr val="000000"/>
              </a:solidFill>
              <a:latin typeface="Arial"/>
            </a:endParaRPr>
          </a:p>
          <a:p>
            <a:pPr marL="639720" indent="-246240">
              <a:lnSpc>
                <a:spcPct val="100000"/>
              </a:lnSpc>
              <a:spcBef>
                <a:spcPts val="479"/>
              </a:spcBef>
              <a:buNone/>
              <a:tabLst>
                <a:tab algn="l" pos="0"/>
              </a:tabLst>
            </a:pPr>
            <a:r>
              <a:rPr b="0" i="1" lang="en-US" sz="2400" spc="-1" strike="noStrike">
                <a:solidFill>
                  <a:schemeClr val="dk1"/>
                </a:solidFill>
                <a:latin typeface="Constantia"/>
              </a:rPr>
              <a:t>Ví dụ</a:t>
            </a:r>
            <a:r>
              <a:rPr b="0" lang="en-US" sz="2400" spc="-1" strike="noStrike">
                <a:solidFill>
                  <a:schemeClr val="dk1"/>
                </a:solidFill>
                <a:latin typeface="Constantia"/>
              </a:rPr>
              <a:t>: </a:t>
            </a:r>
            <a:endParaRPr b="0" lang="vi-VN" sz="2400" spc="-1" strike="noStrike">
              <a:solidFill>
                <a:srgbClr val="000000"/>
              </a:solidFill>
              <a:latin typeface="Arial"/>
            </a:endParaRPr>
          </a:p>
          <a:p>
            <a:pPr lvl="1" marL="639720" indent="-246240">
              <a:lnSpc>
                <a:spcPct val="100000"/>
              </a:lnSpc>
              <a:spcBef>
                <a:spcPts val="439"/>
              </a:spcBef>
              <a:buClr>
                <a:srgbClr val="0f6fc6"/>
              </a:buClr>
              <a:buSzPct val="85000"/>
              <a:buFont typeface="Courier New"/>
              <a:buChar char="o"/>
              <a:tabLst>
                <a:tab algn="l" pos="0"/>
              </a:tabLst>
            </a:pPr>
            <a:r>
              <a:rPr b="0" lang="en-US" sz="2200" spc="-1" strike="noStrike">
                <a:solidFill>
                  <a:schemeClr val="dk1"/>
                </a:solidFill>
                <a:latin typeface="Constantia"/>
              </a:rPr>
              <a:t>Kiểu liên kết &lt;</a:t>
            </a:r>
            <a:r>
              <a:rPr b="1" lang="en-US" sz="2200" spc="-1" strike="noStrike">
                <a:solidFill>
                  <a:schemeClr val="dk1"/>
                </a:solidFill>
                <a:latin typeface="Constantia"/>
              </a:rPr>
              <a:t>Làm_việc</a:t>
            </a:r>
            <a:r>
              <a:rPr b="0" lang="en-US" sz="2200" spc="-1" strike="noStrike">
                <a:solidFill>
                  <a:schemeClr val="dk1"/>
                </a:solidFill>
                <a:latin typeface="Constantia"/>
              </a:rPr>
              <a:t>&gt; : giữa NHANVIEN và PHONGBAN   </a:t>
            </a:r>
            <a:endParaRPr b="0" lang="vi-VN" sz="2200" spc="-1" strike="noStrike">
              <a:solidFill>
                <a:srgbClr val="000000"/>
              </a:solidFill>
              <a:latin typeface="Arial"/>
            </a:endParaRPr>
          </a:p>
          <a:p>
            <a:pPr lvl="1" marL="639720" indent="-246240">
              <a:lnSpc>
                <a:spcPct val="100000"/>
              </a:lnSpc>
              <a:spcBef>
                <a:spcPts val="439"/>
              </a:spcBef>
              <a:buClr>
                <a:srgbClr val="0f6fc6"/>
              </a:buClr>
              <a:buSzPct val="85000"/>
              <a:buFont typeface="Courier New"/>
              <a:buChar char="o"/>
              <a:tabLst>
                <a:tab algn="l" pos="0"/>
              </a:tabLst>
            </a:pPr>
            <a:r>
              <a:rPr b="0" lang="en-US" sz="2200" spc="-1" strike="noStrike">
                <a:solidFill>
                  <a:schemeClr val="dk1"/>
                </a:solidFill>
                <a:latin typeface="Constantia"/>
              </a:rPr>
              <a:t>Kiểu liên kết &lt;</a:t>
            </a:r>
            <a:r>
              <a:rPr b="1" lang="en-US" sz="2200" spc="-1" strike="noStrike">
                <a:solidFill>
                  <a:schemeClr val="dk1"/>
                </a:solidFill>
                <a:latin typeface="Constantia"/>
              </a:rPr>
              <a:t>Điều_kiện&gt;</a:t>
            </a:r>
            <a:r>
              <a:rPr b="0" lang="en-US" sz="2200" spc="-1" strike="noStrike">
                <a:solidFill>
                  <a:schemeClr val="dk1"/>
                </a:solidFill>
                <a:latin typeface="Constantia"/>
              </a:rPr>
              <a:t> : giữa  MONHOC với MONHOC</a:t>
            </a:r>
            <a:endParaRPr b="0" lang="vi-VN" sz="2200" spc="-1" strike="noStrike">
              <a:solidFill>
                <a:srgbClr val="000000"/>
              </a:solidFill>
              <a:latin typeface="Arial"/>
            </a:endParaRPr>
          </a:p>
          <a:p>
            <a:pPr lvl="1" marL="639720" indent="-246240">
              <a:lnSpc>
                <a:spcPct val="100000"/>
              </a:lnSpc>
              <a:spcBef>
                <a:spcPts val="439"/>
              </a:spcBef>
              <a:buClr>
                <a:srgbClr val="0f6fc6"/>
              </a:buClr>
              <a:buSzPct val="85000"/>
              <a:buFont typeface="Courier New"/>
              <a:buChar char="o"/>
              <a:tabLst>
                <a:tab algn="l" pos="0"/>
              </a:tabLst>
            </a:pPr>
            <a:r>
              <a:rPr b="0" lang="en-US" sz="2200" spc="-1" strike="noStrike">
                <a:solidFill>
                  <a:schemeClr val="dk1"/>
                </a:solidFill>
                <a:latin typeface="Constantia"/>
              </a:rPr>
              <a:t>Kiểu liên kết </a:t>
            </a:r>
            <a:r>
              <a:rPr b="1" lang="en-US" sz="2200" spc="-1" strike="noStrike">
                <a:solidFill>
                  <a:schemeClr val="dk1"/>
                </a:solidFill>
                <a:latin typeface="Constantia"/>
              </a:rPr>
              <a:t>&lt;Bán_hàng&gt;:</a:t>
            </a:r>
            <a:r>
              <a:rPr b="0" lang="en-US" sz="2200" spc="-1" strike="noStrike">
                <a:solidFill>
                  <a:schemeClr val="dk1"/>
                </a:solidFill>
                <a:latin typeface="Constantia"/>
              </a:rPr>
              <a:t> (khách, hàng, nhân viên)</a:t>
            </a:r>
            <a:endParaRPr b="0" lang="vi-VN" sz="22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tabLst>
                <a:tab algn="l" pos="0"/>
              </a:tabLst>
            </a:pPr>
            <a:r>
              <a:rPr b="1" i="1" lang="en-US" sz="2400" spc="-1" strike="noStrike">
                <a:solidFill>
                  <a:schemeClr val="dk1"/>
                </a:solidFill>
                <a:latin typeface="Constantia"/>
              </a:rPr>
              <a:t>Liên kết đệ quy</a:t>
            </a:r>
            <a:r>
              <a:rPr b="0" lang="en-US" sz="2600" spc="-1" strike="noStrike">
                <a:solidFill>
                  <a:schemeClr val="dk1"/>
                </a:solidFill>
                <a:latin typeface="Constantia"/>
              </a:rPr>
              <a:t>: là  liên kết mà một kiểu thực thể tham gia liên kết với các vai trò khác nhau</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Courier New"/>
              <a:buChar char="o"/>
              <a:tabLst>
                <a:tab algn="l" pos="0"/>
              </a:tabLst>
            </a:pPr>
            <a:r>
              <a:rPr b="0" lang="en-US" sz="2400" spc="-1" strike="noStrike">
                <a:solidFill>
                  <a:schemeClr val="dk1"/>
                </a:solidFill>
                <a:latin typeface="Constantia"/>
              </a:rPr>
              <a:t>Trong liên kết đệ quy cần  nêu rõ tên vai trò tham gia của thực thể</a:t>
            </a:r>
            <a:endParaRPr b="0" lang="vi-VN" sz="2400" spc="-1" strike="noStrike">
              <a:solidFill>
                <a:srgbClr val="000000"/>
              </a:solidFill>
              <a:latin typeface="Arial"/>
            </a:endParaRPr>
          </a:p>
          <a:p>
            <a:pPr marL="639720" indent="-246240">
              <a:lnSpc>
                <a:spcPct val="100000"/>
              </a:lnSpc>
              <a:spcBef>
                <a:spcPts val="479"/>
              </a:spcBef>
              <a:buNone/>
              <a:tabLst>
                <a:tab algn="l" pos="0"/>
              </a:tabLst>
            </a:pPr>
            <a:endParaRPr b="0" lang="vi-VN" sz="2400" spc="-1" strike="noStrike">
              <a:solidFill>
                <a:srgbClr val="000000"/>
              </a:solidFill>
              <a:latin typeface="Arial"/>
            </a:endParaRPr>
          </a:p>
          <a:p>
            <a:pPr marL="639720" indent="0">
              <a:lnSpc>
                <a:spcPct val="100000"/>
              </a:lnSpc>
              <a:spcBef>
                <a:spcPts val="519"/>
              </a:spcBef>
              <a:buNone/>
              <a:tabLst>
                <a:tab algn="l" pos="0"/>
              </a:tabLst>
            </a:pPr>
            <a:endParaRPr b="0" lang="vi-VN" sz="2600" spc="-1" strike="noStrike">
              <a:solidFill>
                <a:srgbClr val="000000"/>
              </a:solidFill>
              <a:latin typeface="Arial"/>
            </a:endParaRPr>
          </a:p>
          <a:p>
            <a:pPr marL="639720" indent="0">
              <a:lnSpc>
                <a:spcPct val="100000"/>
              </a:lnSpc>
              <a:spcBef>
                <a:spcPts val="479"/>
              </a:spcBef>
              <a:buNone/>
              <a:tabLst>
                <a:tab algn="l" pos="0"/>
              </a:tabLst>
            </a:pPr>
            <a:endParaRPr b="0" lang="vi-VN" sz="2400" spc="-1" strike="noStrike">
              <a:solidFill>
                <a:srgbClr val="000000"/>
              </a:solidFill>
              <a:latin typeface="Arial"/>
            </a:endParaRPr>
          </a:p>
        </p:txBody>
      </p:sp>
      <p:sp>
        <p:nvSpPr>
          <p:cNvPr id="297" name="PlaceHolder 2"/>
          <p:cNvSpPr>
            <a:spLocks noGrp="1"/>
          </p:cNvSpPr>
          <p:nvPr>
            <p:ph type="sldNum" idx="8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8747A6C-1C44-41EB-93C8-5ECCD329FEB2}"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sp>
        <p:nvSpPr>
          <p:cNvPr id="298" name="PlaceHolder 3"/>
          <p:cNvSpPr>
            <a:spLocks noGrp="1"/>
          </p:cNvSpPr>
          <p:nvPr>
            <p:ph type="dt" idx="89"/>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736D53F0-9E4F-49BA-B9A5-23235CB1E9F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299" name="PlaceHolder 4"/>
          <p:cNvSpPr>
            <a:spLocks noGrp="1"/>
          </p:cNvSpPr>
          <p:nvPr>
            <p:ph type="ftr" idx="9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300"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1" lang="en-US" sz="3200" spc="-1" strike="noStrike">
                <a:solidFill>
                  <a:schemeClr val="dk2"/>
                </a:solidFill>
                <a:latin typeface="Calibri"/>
              </a:rPr>
              <a:t>d. Liên kết</a:t>
            </a:r>
            <a:endParaRPr b="0" lang="vi-VN" sz="3200" spc="-1" strike="noStrike">
              <a:solidFill>
                <a:srgbClr val="000000"/>
              </a:solidFill>
              <a:latin typeface="Arial"/>
            </a:endParaRPr>
          </a:p>
        </p:txBody>
      </p:sp>
      <p:pic>
        <p:nvPicPr>
          <p:cNvPr id="301" name="Picture 3" descr=""/>
          <p:cNvPicPr/>
          <p:nvPr/>
        </p:nvPicPr>
        <p:blipFill>
          <a:blip r:embed="rId1"/>
          <a:stretch/>
        </p:blipFill>
        <p:spPr>
          <a:xfrm>
            <a:off x="0" y="990720"/>
            <a:ext cx="9143280" cy="45000"/>
          </a:xfrm>
          <a:prstGeom prst="rect">
            <a:avLst/>
          </a:prstGeom>
          <a:ln w="0">
            <a:noFill/>
          </a:ln>
        </p:spPr>
      </p:pic>
      <p:sp>
        <p:nvSpPr>
          <p:cNvPr id="302" name="Rectangle 10"/>
          <p:cNvSpPr/>
          <p:nvPr/>
        </p:nvSpPr>
        <p:spPr>
          <a:xfrm>
            <a:off x="3962520" y="5486400"/>
            <a:ext cx="152316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NHANVIEN</a:t>
            </a:r>
            <a:endParaRPr b="0" lang="vi-VN" sz="1800" spc="-1" strike="noStrike">
              <a:solidFill>
                <a:srgbClr val="000000"/>
              </a:solidFill>
              <a:latin typeface="Arial"/>
            </a:endParaRPr>
          </a:p>
        </p:txBody>
      </p:sp>
      <p:sp>
        <p:nvSpPr>
          <p:cNvPr id="303" name="Diamond 11"/>
          <p:cNvSpPr/>
          <p:nvPr/>
        </p:nvSpPr>
        <p:spPr>
          <a:xfrm>
            <a:off x="6400800" y="5486400"/>
            <a:ext cx="2133000" cy="608760"/>
          </a:xfrm>
          <a:prstGeom prst="diamond">
            <a:avLst/>
          </a:prstGeom>
          <a:solidFill>
            <a:srgbClr val="0f6fc6"/>
          </a:solidFill>
          <a:ln>
            <a:solidFill>
              <a:srgbClr val="0b5292"/>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spcBef>
                <a:spcPts val="601"/>
              </a:spcBef>
            </a:pPr>
            <a:r>
              <a:rPr b="0" lang="en-US" sz="1800" spc="-1" strike="noStrike">
                <a:solidFill>
                  <a:schemeClr val="lt1"/>
                </a:solidFill>
                <a:latin typeface="Constantia"/>
              </a:rPr>
              <a:t>Giamsat</a:t>
            </a:r>
            <a:endParaRPr b="0" lang="vi-VN" sz="1800" spc="-1" strike="noStrike">
              <a:solidFill>
                <a:srgbClr val="ffffff"/>
              </a:solidFill>
              <a:latin typeface="Arial"/>
            </a:endParaRPr>
          </a:p>
        </p:txBody>
      </p:sp>
      <p:cxnSp>
        <p:nvCxnSpPr>
          <p:cNvPr id="304" name="Straight Connector 13"/>
          <p:cNvCxnSpPr/>
          <p:nvPr/>
        </p:nvCxnSpPr>
        <p:spPr>
          <a:xfrm flipH="1">
            <a:off x="4722480" y="5029200"/>
            <a:ext cx="2520" cy="457920"/>
          </a:xfrm>
          <a:prstGeom prst="straightConnector1">
            <a:avLst/>
          </a:prstGeom>
          <a:ln w="0">
            <a:solidFill>
              <a:srgbClr val="095294"/>
            </a:solidFill>
          </a:ln>
        </p:spPr>
      </p:cxnSp>
      <p:cxnSp>
        <p:nvCxnSpPr>
          <p:cNvPr id="305" name="Straight Connector 15"/>
          <p:cNvCxnSpPr/>
          <p:nvPr/>
        </p:nvCxnSpPr>
        <p:spPr>
          <a:xfrm>
            <a:off x="4724280" y="5029200"/>
            <a:ext cx="2743920" cy="2160"/>
          </a:xfrm>
          <a:prstGeom prst="straightConnector1">
            <a:avLst/>
          </a:prstGeom>
          <a:ln w="0">
            <a:solidFill>
              <a:srgbClr val="095294"/>
            </a:solidFill>
          </a:ln>
        </p:spPr>
      </p:cxnSp>
      <p:cxnSp>
        <p:nvCxnSpPr>
          <p:cNvPr id="306" name="Straight Connector 17"/>
          <p:cNvCxnSpPr>
            <a:endCxn id="303" idx="0"/>
          </p:cNvCxnSpPr>
          <p:nvPr/>
        </p:nvCxnSpPr>
        <p:spPr>
          <a:xfrm flipH="1">
            <a:off x="7467480" y="5029920"/>
            <a:ext cx="1440" cy="456840"/>
          </a:xfrm>
          <a:prstGeom prst="straightConnector1">
            <a:avLst/>
          </a:prstGeom>
          <a:ln w="0">
            <a:solidFill>
              <a:srgbClr val="095294"/>
            </a:solidFill>
          </a:ln>
        </p:spPr>
      </p:cxnSp>
      <p:cxnSp>
        <p:nvCxnSpPr>
          <p:cNvPr id="307" name="Straight Connector 19"/>
          <p:cNvCxnSpPr>
            <a:stCxn id="302" idx="2"/>
          </p:cNvCxnSpPr>
          <p:nvPr/>
        </p:nvCxnSpPr>
        <p:spPr>
          <a:xfrm flipH="1">
            <a:off x="4723560" y="6095160"/>
            <a:ext cx="720" cy="383040"/>
          </a:xfrm>
          <a:prstGeom prst="straightConnector1">
            <a:avLst/>
          </a:prstGeom>
          <a:ln w="0">
            <a:solidFill>
              <a:srgbClr val="095294"/>
            </a:solidFill>
          </a:ln>
        </p:spPr>
      </p:cxnSp>
      <p:cxnSp>
        <p:nvCxnSpPr>
          <p:cNvPr id="308" name="Straight Connector 21"/>
          <p:cNvCxnSpPr/>
          <p:nvPr/>
        </p:nvCxnSpPr>
        <p:spPr>
          <a:xfrm>
            <a:off x="4724280" y="6476760"/>
            <a:ext cx="2743920" cy="2520"/>
          </a:xfrm>
          <a:prstGeom prst="straightConnector1">
            <a:avLst/>
          </a:prstGeom>
          <a:ln w="0">
            <a:solidFill>
              <a:srgbClr val="095294"/>
            </a:solidFill>
          </a:ln>
        </p:spPr>
      </p:cxnSp>
      <p:cxnSp>
        <p:nvCxnSpPr>
          <p:cNvPr id="309" name="Straight Connector 23"/>
          <p:cNvCxnSpPr/>
          <p:nvPr/>
        </p:nvCxnSpPr>
        <p:spPr>
          <a:xfrm>
            <a:off x="7467480" y="6095880"/>
            <a:ext cx="720" cy="381600"/>
          </a:xfrm>
          <a:prstGeom prst="straightConnector1">
            <a:avLst/>
          </a:prstGeom>
          <a:ln w="0">
            <a:solidFill>
              <a:srgbClr val="095294"/>
            </a:solidFill>
          </a:ln>
        </p:spPr>
      </p:cxnSp>
      <p:sp>
        <p:nvSpPr>
          <p:cNvPr id="310" name="Rectangle 29"/>
          <p:cNvSpPr/>
          <p:nvPr/>
        </p:nvSpPr>
        <p:spPr>
          <a:xfrm>
            <a:off x="5638680" y="5105520"/>
            <a:ext cx="1065960" cy="227880"/>
          </a:xfrm>
          <a:prstGeom prst="rect">
            <a:avLst/>
          </a:prstGeom>
          <a:solidFill>
            <a:srgbClr val="ffffff"/>
          </a:solidFill>
          <a:ln>
            <a:no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Giám sát</a:t>
            </a:r>
            <a:endParaRPr b="0" lang="vi-VN" sz="1100" spc="-1" strike="noStrike">
              <a:solidFill>
                <a:srgbClr val="000000"/>
              </a:solidFill>
              <a:latin typeface="Arial"/>
            </a:endParaRPr>
          </a:p>
        </p:txBody>
      </p:sp>
      <p:sp>
        <p:nvSpPr>
          <p:cNvPr id="311" name="Rectangle 30"/>
          <p:cNvSpPr/>
          <p:nvPr/>
        </p:nvSpPr>
        <p:spPr>
          <a:xfrm>
            <a:off x="5562720" y="6172200"/>
            <a:ext cx="1065960" cy="227880"/>
          </a:xfrm>
          <a:prstGeom prst="rect">
            <a:avLst/>
          </a:prstGeom>
          <a:solidFill>
            <a:srgbClr val="ffffff"/>
          </a:solidFill>
          <a:ln>
            <a:noFill/>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Bị  giám sát</a:t>
            </a:r>
            <a:endParaRPr b="0" lang="vi-VN"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Num" idx="9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14D112C2-8295-407A-8317-3598AA4E53B6}" type="slidenum">
              <a:rPr b="0" lang="en-US" sz="1200" spc="-1" strike="noStrike">
                <a:solidFill>
                  <a:schemeClr val="dk2">
                    <a:shade val="90000"/>
                  </a:schemeClr>
                </a:solidFill>
                <a:latin typeface="Tahoma"/>
              </a:rPr>
              <a:t>8</a:t>
            </a:fld>
            <a:endParaRPr b="0" lang="vi-VN" sz="1200" spc="-1" strike="noStrike">
              <a:solidFill>
                <a:srgbClr val="000000"/>
              </a:solidFill>
              <a:latin typeface="Times New Roman"/>
            </a:endParaRPr>
          </a:p>
        </p:txBody>
      </p:sp>
      <p:pic>
        <p:nvPicPr>
          <p:cNvPr id="313" name="Picture 72" descr=""/>
          <p:cNvPicPr/>
          <p:nvPr/>
        </p:nvPicPr>
        <p:blipFill>
          <a:blip r:embed="rId1"/>
          <a:stretch/>
        </p:blipFill>
        <p:spPr>
          <a:xfrm>
            <a:off x="609480" y="2209680"/>
            <a:ext cx="8000280" cy="3521880"/>
          </a:xfrm>
          <a:prstGeom prst="rect">
            <a:avLst/>
          </a:prstGeom>
          <a:ln w="12700">
            <a:noFill/>
          </a:ln>
        </p:spPr>
      </p:pic>
      <p:sp>
        <p:nvSpPr>
          <p:cNvPr id="314" name="PlaceHolder 2"/>
          <p:cNvSpPr>
            <a:spLocks noGrp="1"/>
          </p:cNvSpPr>
          <p:nvPr>
            <p:ph type="dt" idx="92"/>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AB74D5D9-EE8E-406A-8F44-09C0C3640E71}"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315" name="PlaceHolder 3"/>
          <p:cNvSpPr>
            <a:spLocks noGrp="1"/>
          </p:cNvSpPr>
          <p:nvPr>
            <p:ph type="ftr" idx="9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316" name="PlaceHolder 4"/>
          <p:cNvSpPr>
            <a:spLocks noGrp="1"/>
          </p:cNvSpPr>
          <p:nvPr>
            <p:ph type="title"/>
          </p:nvPr>
        </p:nvSpPr>
        <p:spPr>
          <a:xfrm>
            <a:off x="533520" y="121932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i="1" lang="en-US" sz="2800" spc="-1" strike="noStrike">
                <a:solidFill>
                  <a:schemeClr val="dk2"/>
                </a:solidFill>
                <a:latin typeface="Calibri"/>
              </a:rPr>
              <a:t>Các loại liên kết</a:t>
            </a:r>
            <a:endParaRPr b="0" lang="vi-VN" sz="2800" spc="-1" strike="noStrike">
              <a:solidFill>
                <a:srgbClr val="000000"/>
              </a:solidFill>
              <a:latin typeface="Arial"/>
            </a:endParaRPr>
          </a:p>
        </p:txBody>
      </p:sp>
      <p:sp>
        <p:nvSpPr>
          <p:cNvPr id="317"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1" lang="en-US" sz="3200" spc="-1" strike="noStrike">
                <a:solidFill>
                  <a:schemeClr val="dk2"/>
                </a:solidFill>
                <a:latin typeface="Calibri"/>
              </a:rPr>
              <a:t>d. Liên kết</a:t>
            </a:r>
            <a:endParaRPr b="0" lang="vi-VN" sz="3200" spc="-1" strike="noStrike">
              <a:solidFill>
                <a:srgbClr val="000000"/>
              </a:solidFill>
              <a:latin typeface="Arial"/>
            </a:endParaRPr>
          </a:p>
        </p:txBody>
      </p:sp>
      <p:pic>
        <p:nvPicPr>
          <p:cNvPr id="318" name="Picture 3" descr=""/>
          <p:cNvPicPr/>
          <p:nvPr/>
        </p:nvPicPr>
        <p:blipFill>
          <a:blip r:embed="rId2"/>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500" spc="-1" strike="noStrike">
                <a:solidFill>
                  <a:schemeClr val="dk2"/>
                </a:solidFill>
                <a:latin typeface="Calibri"/>
              </a:rPr>
              <a:t>e. </a:t>
            </a:r>
            <a:r>
              <a:rPr b="1" lang="en-US" sz="3200" spc="-1" strike="noStrike">
                <a:solidFill>
                  <a:schemeClr val="dk2"/>
                </a:solidFill>
                <a:latin typeface="Calibri"/>
              </a:rPr>
              <a:t>Lược đồ ER</a:t>
            </a:r>
            <a:endParaRPr b="0" lang="vi-VN" sz="3200" spc="-1" strike="noStrike">
              <a:solidFill>
                <a:srgbClr val="000000"/>
              </a:solidFill>
              <a:latin typeface="Arial"/>
            </a:endParaRPr>
          </a:p>
        </p:txBody>
      </p:sp>
      <p:sp>
        <p:nvSpPr>
          <p:cNvPr id="320" name="PlaceHolder 2"/>
          <p:cNvSpPr>
            <a:spLocks noGrp="1"/>
          </p:cNvSpPr>
          <p:nvPr>
            <p:ph/>
          </p:nvPr>
        </p:nvSpPr>
        <p:spPr>
          <a:xfrm>
            <a:off x="457200" y="1143000"/>
            <a:ext cx="8228880" cy="5409360"/>
          </a:xfrm>
          <a:prstGeom prst="rect">
            <a:avLst/>
          </a:prstGeom>
          <a:noFill/>
          <a:ln w="9360">
            <a:noFill/>
          </a:ln>
        </p:spPr>
        <p:txBody>
          <a:bodyPr numCol="1" spcCol="0" lIns="91440" rIns="91440" tIns="45720" bIns="45720" anchor="t">
            <a:normAutofit fontScale="83888"/>
          </a:bodyPr>
          <a:p>
            <a:pPr marL="274320" indent="-27432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Là </a:t>
            </a:r>
            <a:r>
              <a:rPr b="1" i="1" lang="en-US" sz="2600" spc="-1" strike="noStrike">
                <a:solidFill>
                  <a:schemeClr val="dk1"/>
                </a:solidFill>
                <a:latin typeface="Constantia"/>
              </a:rPr>
              <a:t>đồ thị</a:t>
            </a:r>
            <a:r>
              <a:rPr b="0" lang="en-US" sz="2600" spc="-1" strike="noStrike">
                <a:solidFill>
                  <a:schemeClr val="dk1"/>
                </a:solidFill>
                <a:latin typeface="Constantia"/>
              </a:rPr>
              <a:t> biểu diễn các tập thực thể, thuộc tính và các liên kiết  của cấu trúc CSDL theo mô hình ER:</a:t>
            </a:r>
            <a:endParaRPr b="0" lang="vi-VN" sz="26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pPr>
            <a:r>
              <a:rPr b="1" i="1" lang="en-US" sz="2400" spc="-1" strike="noStrike">
                <a:solidFill>
                  <a:schemeClr val="dk1"/>
                </a:solidFill>
                <a:latin typeface="Constantia"/>
              </a:rPr>
              <a:t>Đỉnh</a:t>
            </a: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indent="0">
              <a:lnSpc>
                <a:spcPct val="100000"/>
              </a:lnSpc>
              <a:spcBef>
                <a:spcPts val="479"/>
              </a:spcBef>
              <a:buNone/>
              <a:tabLst>
                <a:tab algn="l" pos="0"/>
              </a:tabLst>
            </a:pPr>
            <a:endParaRPr b="0" lang="vi-VN" sz="24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tabLst>
                <a:tab algn="l" pos="0"/>
              </a:tabLst>
            </a:pPr>
            <a:r>
              <a:rPr b="0" lang="en-US" sz="2400" spc="-1" strike="noStrike">
                <a:solidFill>
                  <a:schemeClr val="dk1"/>
                </a:solidFill>
                <a:latin typeface="Constantia"/>
              </a:rPr>
              <a:t>Cung là đường nối giữa: </a:t>
            </a:r>
            <a:endParaRPr b="0" lang="vi-VN" sz="2400" spc="-1" strike="noStrike">
              <a:solidFill>
                <a:srgbClr val="000000"/>
              </a:solidFill>
              <a:latin typeface="Arial"/>
            </a:endParaRPr>
          </a:p>
          <a:p>
            <a:pPr lvl="2" marL="914400" indent="-246960">
              <a:lnSpc>
                <a:spcPct val="100000"/>
              </a:lnSpc>
              <a:spcBef>
                <a:spcPts val="420"/>
              </a:spcBef>
              <a:buClr>
                <a:srgbClr val="009dd9"/>
              </a:buClr>
              <a:buSzPct val="70000"/>
              <a:buFont typeface="Courier New"/>
              <a:buChar char="o"/>
              <a:tabLst>
                <a:tab algn="l" pos="0"/>
              </a:tabLst>
            </a:pPr>
            <a:r>
              <a:rPr b="0" lang="en-US" sz="2100" spc="-1" strike="noStrike">
                <a:solidFill>
                  <a:schemeClr val="dk1"/>
                </a:solidFill>
                <a:latin typeface="Constantia"/>
              </a:rPr>
              <a:t>Thực thể và thuộc tính</a:t>
            </a:r>
            <a:endParaRPr b="0" lang="vi-VN" sz="2100" spc="-1" strike="noStrike">
              <a:solidFill>
                <a:srgbClr val="000000"/>
              </a:solidFill>
              <a:latin typeface="Arial"/>
            </a:endParaRPr>
          </a:p>
          <a:p>
            <a:pPr lvl="2" marL="914400" indent="-246960">
              <a:lnSpc>
                <a:spcPct val="100000"/>
              </a:lnSpc>
              <a:spcBef>
                <a:spcPts val="420"/>
              </a:spcBef>
              <a:buClr>
                <a:srgbClr val="009dd9"/>
              </a:buClr>
              <a:buSzPct val="70000"/>
              <a:buFont typeface="Courier New"/>
              <a:buChar char="o"/>
              <a:tabLst>
                <a:tab algn="l" pos="0"/>
              </a:tabLst>
            </a:pPr>
            <a:r>
              <a:rPr b="0" lang="en-US" sz="2100" spc="-1" strike="noStrike">
                <a:solidFill>
                  <a:schemeClr val="dk1"/>
                </a:solidFill>
                <a:latin typeface="Constantia"/>
              </a:rPr>
              <a:t>Thuộc tính phức với thành phần</a:t>
            </a:r>
            <a:endParaRPr b="0" lang="vi-VN" sz="2100" spc="-1" strike="noStrike">
              <a:solidFill>
                <a:srgbClr val="000000"/>
              </a:solidFill>
              <a:latin typeface="Arial"/>
            </a:endParaRPr>
          </a:p>
          <a:p>
            <a:pPr lvl="2" marL="914400" indent="-246960">
              <a:lnSpc>
                <a:spcPct val="100000"/>
              </a:lnSpc>
              <a:spcBef>
                <a:spcPts val="420"/>
              </a:spcBef>
              <a:buClr>
                <a:srgbClr val="009dd9"/>
              </a:buClr>
              <a:buSzPct val="70000"/>
              <a:buFont typeface="Courier New"/>
              <a:buChar char="o"/>
              <a:tabLst>
                <a:tab algn="l" pos="0"/>
              </a:tabLst>
            </a:pPr>
            <a:r>
              <a:rPr b="0" lang="en-US" sz="2100" spc="-1" strike="noStrike">
                <a:solidFill>
                  <a:schemeClr val="dk1"/>
                </a:solidFill>
                <a:latin typeface="Constantia"/>
              </a:rPr>
              <a:t>Mối liên kết và Thực thể</a:t>
            </a:r>
            <a:endParaRPr b="0" lang="vi-VN" sz="2100" spc="-1" strike="noStrike">
              <a:solidFill>
                <a:srgbClr val="000000"/>
              </a:solidFill>
              <a:latin typeface="Arial"/>
            </a:endParaRPr>
          </a:p>
          <a:p>
            <a:pPr lvl="2" marL="914400" indent="-246960">
              <a:lnSpc>
                <a:spcPct val="100000"/>
              </a:lnSpc>
              <a:spcBef>
                <a:spcPts val="420"/>
              </a:spcBef>
              <a:buClr>
                <a:srgbClr val="009dd9"/>
              </a:buClr>
              <a:buSzPct val="70000"/>
              <a:buFont typeface="Courier New"/>
              <a:buChar char="o"/>
              <a:tabLst>
                <a:tab algn="l" pos="0"/>
              </a:tabLst>
            </a:pPr>
            <a:r>
              <a:rPr b="0" lang="en-US" sz="2100" spc="-1" strike="noStrike">
                <a:solidFill>
                  <a:schemeClr val="dk1"/>
                </a:solidFill>
                <a:latin typeface="Constantia"/>
              </a:rPr>
              <a:t>Mối liên kết với thuộc tính của nó</a:t>
            </a:r>
            <a:endParaRPr b="0" lang="vi-VN" sz="2100" spc="-1" strike="noStrike">
              <a:solidFill>
                <a:srgbClr val="000000"/>
              </a:solidFill>
              <a:latin typeface="Arial"/>
            </a:endParaRPr>
          </a:p>
        </p:txBody>
      </p:sp>
      <p:sp>
        <p:nvSpPr>
          <p:cNvPr id="321" name="PlaceHolder 3"/>
          <p:cNvSpPr>
            <a:spLocks noGrp="1"/>
          </p:cNvSpPr>
          <p:nvPr>
            <p:ph type="sldNum" idx="9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E3E00FFC-747B-4C8D-9125-8CAF17334D34}"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322" name="Group 17"/>
          <p:cNvGrpSpPr/>
          <p:nvPr/>
        </p:nvGrpSpPr>
        <p:grpSpPr>
          <a:xfrm>
            <a:off x="1752480" y="2286000"/>
            <a:ext cx="4906080" cy="2209320"/>
            <a:chOff x="1752480" y="2286000"/>
            <a:chExt cx="4906080" cy="2209320"/>
          </a:xfrm>
        </p:grpSpPr>
        <p:grpSp>
          <p:nvGrpSpPr>
            <p:cNvPr id="323" name="Group 13"/>
            <p:cNvGrpSpPr/>
            <p:nvPr/>
          </p:nvGrpSpPr>
          <p:grpSpPr>
            <a:xfrm>
              <a:off x="1752480" y="2286000"/>
              <a:ext cx="1980360" cy="532800"/>
              <a:chOff x="1752480" y="2286000"/>
              <a:chExt cx="1980360" cy="532800"/>
            </a:xfrm>
          </p:grpSpPr>
          <p:sp>
            <p:nvSpPr>
              <p:cNvPr id="324" name="Rectangle 4"/>
              <p:cNvSpPr/>
              <p:nvPr/>
            </p:nvSpPr>
            <p:spPr>
              <a:xfrm>
                <a:off x="1752480" y="2286000"/>
                <a:ext cx="1980360" cy="53280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25" name="Text Box 5"/>
              <p:cNvSpPr/>
              <p:nvPr/>
            </p:nvSpPr>
            <p:spPr>
              <a:xfrm>
                <a:off x="1752480" y="2362320"/>
                <a:ext cx="198036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Tên thực thể</a:t>
                </a:r>
                <a:endParaRPr b="0" lang="vi-VN" sz="1600" spc="-1" strike="noStrike">
                  <a:solidFill>
                    <a:srgbClr val="000000"/>
                  </a:solidFill>
                  <a:latin typeface="Arial"/>
                </a:endParaRPr>
              </a:p>
            </p:txBody>
          </p:sp>
        </p:grpSp>
        <p:sp>
          <p:nvSpPr>
            <p:cNvPr id="326" name="Text Box 6"/>
            <p:cNvSpPr/>
            <p:nvPr/>
          </p:nvSpPr>
          <p:spPr>
            <a:xfrm>
              <a:off x="4267080" y="2362320"/>
              <a:ext cx="1904400" cy="3639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601"/>
                </a:spcBef>
              </a:pPr>
              <a:r>
                <a:rPr b="1" lang="en-US" sz="1800" spc="-1" strike="noStrike">
                  <a:solidFill>
                    <a:schemeClr val="dk1"/>
                  </a:solidFill>
                  <a:latin typeface="Tahoma"/>
                </a:rPr>
                <a:t>Kiểu thực thể</a:t>
              </a:r>
              <a:endParaRPr b="0" lang="vi-VN" sz="1800" spc="-1" strike="noStrike">
                <a:solidFill>
                  <a:srgbClr val="000000"/>
                </a:solidFill>
                <a:latin typeface="Arial"/>
              </a:endParaRPr>
            </a:p>
          </p:txBody>
        </p:sp>
        <p:grpSp>
          <p:nvGrpSpPr>
            <p:cNvPr id="327" name="Group 14"/>
            <p:cNvGrpSpPr/>
            <p:nvPr/>
          </p:nvGrpSpPr>
          <p:grpSpPr>
            <a:xfrm>
              <a:off x="1752480" y="2971800"/>
              <a:ext cx="2056680" cy="608760"/>
              <a:chOff x="1752480" y="2971800"/>
              <a:chExt cx="2056680" cy="608760"/>
            </a:xfrm>
          </p:grpSpPr>
          <p:sp>
            <p:nvSpPr>
              <p:cNvPr id="328" name="Oval 7"/>
              <p:cNvSpPr/>
              <p:nvPr/>
            </p:nvSpPr>
            <p:spPr>
              <a:xfrm>
                <a:off x="1752480" y="2971800"/>
                <a:ext cx="2056680" cy="608760"/>
              </a:xfrm>
              <a:prstGeom prst="ellipse">
                <a:avLst/>
              </a:prstGeom>
              <a:noFill/>
              <a:ln w="12700">
                <a:solidFill>
                  <a:srgbClr val="000000"/>
                </a:solidFill>
                <a:round/>
              </a:ln>
            </p:spPr>
            <p:style>
              <a:lnRef idx="0"/>
              <a:fillRef idx="0"/>
              <a:effectRef idx="0"/>
              <a:fontRef idx="minor"/>
            </p:style>
            <p:txBody>
              <a:bodyPr wrap="none"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29" name="Text Box 8"/>
              <p:cNvSpPr/>
              <p:nvPr/>
            </p:nvSpPr>
            <p:spPr>
              <a:xfrm>
                <a:off x="1828800" y="3124080"/>
                <a:ext cx="198036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Tên thuộc tính</a:t>
                </a:r>
                <a:endParaRPr b="0" lang="vi-VN" sz="1600" spc="-1" strike="noStrike">
                  <a:solidFill>
                    <a:srgbClr val="000000"/>
                  </a:solidFill>
                  <a:latin typeface="Arial"/>
                </a:endParaRPr>
              </a:p>
            </p:txBody>
          </p:sp>
        </p:grpSp>
        <p:sp>
          <p:nvSpPr>
            <p:cNvPr id="330" name="Text Box 9"/>
            <p:cNvSpPr/>
            <p:nvPr/>
          </p:nvSpPr>
          <p:spPr>
            <a:xfrm>
              <a:off x="4267080" y="3138480"/>
              <a:ext cx="1904400" cy="3639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601"/>
                </a:spcBef>
              </a:pPr>
              <a:r>
                <a:rPr b="1" lang="en-US" sz="1800" spc="-1" strike="noStrike">
                  <a:solidFill>
                    <a:schemeClr val="dk1"/>
                  </a:solidFill>
                  <a:latin typeface="Tahoma"/>
                </a:rPr>
                <a:t>Thuộc tính</a:t>
              </a:r>
              <a:endParaRPr b="0" lang="vi-VN" sz="1800" spc="-1" strike="noStrike">
                <a:solidFill>
                  <a:srgbClr val="000000"/>
                </a:solidFill>
                <a:latin typeface="Arial"/>
              </a:endParaRPr>
            </a:p>
          </p:txBody>
        </p:sp>
        <p:grpSp>
          <p:nvGrpSpPr>
            <p:cNvPr id="331" name="Group 15"/>
            <p:cNvGrpSpPr/>
            <p:nvPr/>
          </p:nvGrpSpPr>
          <p:grpSpPr>
            <a:xfrm>
              <a:off x="1752480" y="3733920"/>
              <a:ext cx="1980360" cy="761400"/>
              <a:chOff x="1752480" y="3733920"/>
              <a:chExt cx="1980360" cy="761400"/>
            </a:xfrm>
          </p:grpSpPr>
          <p:sp>
            <p:nvSpPr>
              <p:cNvPr id="332" name="AutoShape 10"/>
              <p:cNvSpPr/>
              <p:nvPr/>
            </p:nvSpPr>
            <p:spPr>
              <a:xfrm>
                <a:off x="1752480" y="3733920"/>
                <a:ext cx="1980360" cy="76140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33" name="Text Box 11"/>
              <p:cNvSpPr/>
              <p:nvPr/>
            </p:nvSpPr>
            <p:spPr>
              <a:xfrm>
                <a:off x="1752480" y="3956040"/>
                <a:ext cx="198036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Tên liên kết</a:t>
                </a:r>
                <a:endParaRPr b="0" lang="vi-VN" sz="1600" spc="-1" strike="noStrike">
                  <a:solidFill>
                    <a:srgbClr val="000000"/>
                  </a:solidFill>
                  <a:latin typeface="Arial"/>
                </a:endParaRPr>
              </a:p>
            </p:txBody>
          </p:sp>
        </p:grpSp>
        <p:sp>
          <p:nvSpPr>
            <p:cNvPr id="334" name="Text Box 12"/>
            <p:cNvSpPr/>
            <p:nvPr/>
          </p:nvSpPr>
          <p:spPr>
            <a:xfrm>
              <a:off x="4267080" y="3886200"/>
              <a:ext cx="2391480" cy="3639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601"/>
                </a:spcBef>
              </a:pPr>
              <a:r>
                <a:rPr b="1" lang="en-US" sz="1800" spc="-1" strike="noStrike">
                  <a:solidFill>
                    <a:schemeClr val="dk1"/>
                  </a:solidFill>
                  <a:latin typeface="Tahoma"/>
                </a:rPr>
                <a:t>Quan hệ (liên kết)</a:t>
              </a:r>
              <a:endParaRPr b="0" lang="vi-VN" sz="1800" spc="-1" strike="noStrike">
                <a:solidFill>
                  <a:srgbClr val="000000"/>
                </a:solidFill>
                <a:latin typeface="Arial"/>
              </a:endParaRPr>
            </a:p>
          </p:txBody>
        </p:sp>
      </p:grpSp>
      <p:sp>
        <p:nvSpPr>
          <p:cNvPr id="335" name="PlaceHolder 4"/>
          <p:cNvSpPr>
            <a:spLocks noGrp="1"/>
          </p:cNvSpPr>
          <p:nvPr>
            <p:ph type="dt" idx="95"/>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9055028-7CC1-42B3-BCA8-32E148A489DA}"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336" name="PlaceHolder 5"/>
          <p:cNvSpPr>
            <a:spLocks noGrp="1"/>
          </p:cNvSpPr>
          <p:nvPr>
            <p:ph type="ftr" idx="96"/>
          </p:nvPr>
        </p:nvSpPr>
        <p:spPr>
          <a:xfrm>
            <a:off x="2705040" y="637056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337" name="TextBox 21"/>
          <p:cNvSpPr/>
          <p:nvPr/>
        </p:nvSpPr>
        <p:spPr>
          <a:xfrm>
            <a:off x="5888880" y="4521600"/>
            <a:ext cx="2932920" cy="2044440"/>
          </a:xfrm>
          <a:prstGeom prst="rect">
            <a:avLst/>
          </a:prstGeom>
          <a:noFill/>
          <a:ln w="0">
            <a:noFill/>
          </a:ln>
        </p:spPr>
        <p:style>
          <a:lnRef idx="0"/>
          <a:fillRef idx="0"/>
          <a:effectRef idx="0"/>
          <a:fontRef idx="minor"/>
        </p:style>
        <p:txBody>
          <a:bodyPr lIns="90000" rIns="90000" tIns="45000" bIns="45000" anchor="t">
            <a:spAutoFit/>
          </a:bodyPr>
          <a:p>
            <a:pPr marL="274320" indent="-274320">
              <a:lnSpc>
                <a:spcPct val="90000"/>
              </a:lnSpc>
              <a:spcBef>
                <a:spcPts val="1199"/>
              </a:spcBef>
              <a:buClr>
                <a:srgbClr val="0bd0d9"/>
              </a:buClr>
              <a:buFont typeface="Wingdings 2" charset="2"/>
              <a:buChar char=""/>
            </a:pPr>
            <a:r>
              <a:rPr b="0" i="1" lang="en-US" sz="2400" spc="-1" strike="noStrike">
                <a:solidFill>
                  <a:schemeClr val="dk1"/>
                </a:solidFill>
                <a:latin typeface="Tahoma"/>
              </a:rPr>
              <a:t>Chú ý</a:t>
            </a:r>
            <a:endParaRPr b="0" lang="vi-VN" sz="2400" spc="-1" strike="noStrike">
              <a:solidFill>
                <a:srgbClr val="000000"/>
              </a:solidFill>
              <a:latin typeface="Arial"/>
            </a:endParaRPr>
          </a:p>
          <a:p>
            <a:pPr lvl="1" marL="640080" indent="-246960">
              <a:lnSpc>
                <a:spcPct val="90000"/>
              </a:lnSpc>
              <a:spcBef>
                <a:spcPts val="1001"/>
              </a:spcBef>
              <a:buClr>
                <a:srgbClr val="000000"/>
              </a:buClr>
              <a:buFont typeface="Courier New"/>
              <a:buChar char="o"/>
            </a:pPr>
            <a:r>
              <a:rPr b="0" lang="en-US" sz="2000" spc="-1" strike="noStrike">
                <a:solidFill>
                  <a:schemeClr val="dk1"/>
                </a:solidFill>
                <a:latin typeface="Tahoma"/>
              </a:rPr>
              <a:t>Không lưu trữ lược đồ ER trong CSDL</a:t>
            </a:r>
            <a:endParaRPr b="0" lang="vi-VN" sz="2000" spc="-1" strike="noStrike">
              <a:solidFill>
                <a:srgbClr val="000000"/>
              </a:solidFill>
              <a:latin typeface="Arial"/>
            </a:endParaRPr>
          </a:p>
          <a:p>
            <a:pPr lvl="1" marL="640080" indent="-246960">
              <a:lnSpc>
                <a:spcPct val="90000"/>
              </a:lnSpc>
              <a:spcBef>
                <a:spcPts val="1001"/>
              </a:spcBef>
              <a:buClr>
                <a:srgbClr val="000000"/>
              </a:buClr>
              <a:buFont typeface="Courier New"/>
              <a:buChar char="o"/>
            </a:pPr>
            <a:r>
              <a:rPr b="0" lang="en-US" sz="2000" spc="-1" strike="noStrike">
                <a:solidFill>
                  <a:schemeClr val="dk1"/>
                </a:solidFill>
                <a:latin typeface="Tahoma"/>
              </a:rPr>
              <a:t>Lược đồ ER chỉ giúp </a:t>
            </a:r>
            <a:r>
              <a:rPr b="0" i="1" lang="en-US" sz="2000" spc="-1" strike="noStrike" u="sng">
                <a:solidFill>
                  <a:schemeClr val="dk1"/>
                </a:solidFill>
                <a:uFillTx/>
                <a:latin typeface="Tahoma"/>
              </a:rPr>
              <a:t>thiết kế CSDL</a:t>
            </a:r>
            <a:endParaRPr b="0" lang="vi-VN" sz="2000" spc="-1" strike="noStrike">
              <a:solidFill>
                <a:srgbClr val="000000"/>
              </a:solidFill>
              <a:latin typeface="Arial"/>
            </a:endParaRPr>
          </a:p>
        </p:txBody>
      </p:sp>
      <p:pic>
        <p:nvPicPr>
          <p:cNvPr id="338"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202" dur="indefinite" restart="never" nodeType="tmRoot">
          <p:childTnLst>
            <p:seq>
              <p:cTn id="203" dur="indefinite" nodeType="mainSeq">
                <p:childTnLst>
                  <p:par>
                    <p:cTn id="204" fill="hold">
                      <p:stCondLst>
                        <p:cond delay="indefinite"/>
                      </p:stCondLst>
                      <p:childTnLst>
                        <p:par>
                          <p:cTn id="205" fill="hold">
                            <p:stCondLst>
                              <p:cond delay="0"/>
                            </p:stCondLst>
                            <p:childTnLst>
                              <p:par>
                                <p:cTn id="206" nodeType="clickEffect" fill="hold" presetClass="entr" presetID="4" presetSubtype="16">
                                  <p:stCondLst>
                                    <p:cond delay="0"/>
                                  </p:stCondLst>
                                  <p:childTnLst>
                                    <p:set>
                                      <p:cBhvr>
                                        <p:cTn id="207" dur="1" fill="hold">
                                          <p:stCondLst>
                                            <p:cond delay="0"/>
                                          </p:stCondLst>
                                        </p:cTn>
                                        <p:tgtEl>
                                          <p:spTgt spid="337"/>
                                        </p:tgtEl>
                                        <p:attrNameLst>
                                          <p:attrName>style.visibility</p:attrName>
                                        </p:attrNameLst>
                                      </p:cBhvr>
                                      <p:to>
                                        <p:strVal val="visible"/>
                                      </p:to>
                                    </p:set>
                                    <p:animEffect filter="box(in)" transition="in">
                                      <p:cBhvr additive="repl">
                                        <p:cTn id="208" dur="5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p:nvPr>
        </p:nvSpPr>
        <p:spPr>
          <a:xfrm>
            <a:off x="457200" y="1295280"/>
            <a:ext cx="822888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Ví dụ : Quản lý dự án</a:t>
            </a:r>
            <a:endParaRPr b="0" lang="vi-VN" sz="2600" spc="-1" strike="noStrike">
              <a:solidFill>
                <a:srgbClr val="000000"/>
              </a:solidFill>
              <a:latin typeface="Arial"/>
            </a:endParaRPr>
          </a:p>
        </p:txBody>
      </p:sp>
      <p:sp>
        <p:nvSpPr>
          <p:cNvPr id="340" name="PlaceHolder 2"/>
          <p:cNvSpPr>
            <a:spLocks noGrp="1"/>
          </p:cNvSpPr>
          <p:nvPr>
            <p:ph type="sldNum" idx="9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E5AF88CB-C9DC-463B-8B4A-E868BDECF59E}"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341" name="Group 100"/>
          <p:cNvGrpSpPr/>
          <p:nvPr/>
        </p:nvGrpSpPr>
        <p:grpSpPr>
          <a:xfrm>
            <a:off x="304920" y="2057400"/>
            <a:ext cx="8457120" cy="4266360"/>
            <a:chOff x="304920" y="2057400"/>
            <a:chExt cx="8457120" cy="4266360"/>
          </a:xfrm>
        </p:grpSpPr>
        <p:grpSp>
          <p:nvGrpSpPr>
            <p:cNvPr id="342" name="Group 43"/>
            <p:cNvGrpSpPr/>
            <p:nvPr/>
          </p:nvGrpSpPr>
          <p:grpSpPr>
            <a:xfrm>
              <a:off x="3111480" y="2743200"/>
              <a:ext cx="2755800" cy="685080"/>
              <a:chOff x="3111480" y="2743200"/>
              <a:chExt cx="2755800" cy="685080"/>
            </a:xfrm>
          </p:grpSpPr>
          <p:grpSp>
            <p:nvGrpSpPr>
              <p:cNvPr id="343" name="Group 28"/>
              <p:cNvGrpSpPr/>
              <p:nvPr/>
            </p:nvGrpSpPr>
            <p:grpSpPr>
              <a:xfrm>
                <a:off x="3657600" y="2743200"/>
                <a:ext cx="1675800" cy="685080"/>
                <a:chOff x="3657600" y="2743200"/>
                <a:chExt cx="1675800" cy="685080"/>
              </a:xfrm>
            </p:grpSpPr>
            <p:sp>
              <p:nvSpPr>
                <p:cNvPr id="344" name="AutoShape 25"/>
                <p:cNvSpPr/>
                <p:nvPr/>
              </p:nvSpPr>
              <p:spPr>
                <a:xfrm>
                  <a:off x="3657600" y="2743200"/>
                  <a:ext cx="1675800" cy="68508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45" name="Text Box 26"/>
                <p:cNvSpPr/>
                <p:nvPr/>
              </p:nvSpPr>
              <p:spPr>
                <a:xfrm>
                  <a:off x="3809880" y="2895480"/>
                  <a:ext cx="144720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Lam_viec</a:t>
                  </a:r>
                  <a:endParaRPr b="0" lang="vi-VN" sz="1600" spc="-1" strike="noStrike">
                    <a:solidFill>
                      <a:srgbClr val="000000"/>
                    </a:solidFill>
                    <a:latin typeface="Arial"/>
                  </a:endParaRPr>
                </a:p>
              </p:txBody>
            </p:sp>
          </p:grpSp>
          <p:sp>
            <p:nvSpPr>
              <p:cNvPr id="346" name="Line 31"/>
              <p:cNvSpPr/>
              <p:nvPr/>
            </p:nvSpPr>
            <p:spPr>
              <a:xfrm>
                <a:off x="3111480" y="3098520"/>
                <a:ext cx="5331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347" name="Line 33"/>
              <p:cNvSpPr/>
              <p:nvPr/>
            </p:nvSpPr>
            <p:spPr>
              <a:xfrm>
                <a:off x="5333760" y="3098520"/>
                <a:ext cx="53352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348" name="Group 96"/>
            <p:cNvGrpSpPr/>
            <p:nvPr/>
          </p:nvGrpSpPr>
          <p:grpSpPr>
            <a:xfrm>
              <a:off x="2743200" y="3276360"/>
              <a:ext cx="3505320" cy="1091880"/>
              <a:chOff x="2743200" y="3276360"/>
              <a:chExt cx="3505320" cy="1091880"/>
            </a:xfrm>
          </p:grpSpPr>
          <p:grpSp>
            <p:nvGrpSpPr>
              <p:cNvPr id="349" name="Group 95"/>
              <p:cNvGrpSpPr/>
              <p:nvPr/>
            </p:nvGrpSpPr>
            <p:grpSpPr>
              <a:xfrm>
                <a:off x="3505320" y="3683160"/>
                <a:ext cx="2133000" cy="685080"/>
                <a:chOff x="3505320" y="3683160"/>
                <a:chExt cx="2133000" cy="685080"/>
              </a:xfrm>
            </p:grpSpPr>
            <p:sp>
              <p:nvSpPr>
                <p:cNvPr id="350" name="AutoShape 23"/>
                <p:cNvSpPr/>
                <p:nvPr/>
              </p:nvSpPr>
              <p:spPr>
                <a:xfrm>
                  <a:off x="3505320" y="3683160"/>
                  <a:ext cx="2133000" cy="68508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51" name="Text Box 24"/>
                <p:cNvSpPr/>
                <p:nvPr/>
              </p:nvSpPr>
              <p:spPr>
                <a:xfrm>
                  <a:off x="3657600" y="3835440"/>
                  <a:ext cx="190440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Quan_ly</a:t>
                  </a:r>
                  <a:endParaRPr b="0" lang="vi-VN" sz="1600" spc="-1" strike="noStrike">
                    <a:solidFill>
                      <a:srgbClr val="000000"/>
                    </a:solidFill>
                    <a:latin typeface="Arial"/>
                  </a:endParaRPr>
                </a:p>
              </p:txBody>
            </p:sp>
          </p:grpSp>
          <p:sp>
            <p:nvSpPr>
              <p:cNvPr id="352" name="Line 34"/>
              <p:cNvSpPr/>
              <p:nvPr/>
            </p:nvSpPr>
            <p:spPr>
              <a:xfrm>
                <a:off x="2743200" y="3276360"/>
                <a:ext cx="360" cy="7621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53" name="Line 35"/>
              <p:cNvSpPr/>
              <p:nvPr/>
            </p:nvSpPr>
            <p:spPr>
              <a:xfrm>
                <a:off x="6248160" y="3276360"/>
                <a:ext cx="360" cy="7621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54" name="Line 36"/>
              <p:cNvSpPr/>
              <p:nvPr/>
            </p:nvSpPr>
            <p:spPr>
              <a:xfrm>
                <a:off x="2743200" y="4038480"/>
                <a:ext cx="7617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355" name="Line 37"/>
              <p:cNvSpPr/>
              <p:nvPr/>
            </p:nvSpPr>
            <p:spPr>
              <a:xfrm>
                <a:off x="5638680" y="4038480"/>
                <a:ext cx="6094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356" name="Group 92"/>
            <p:cNvGrpSpPr/>
            <p:nvPr/>
          </p:nvGrpSpPr>
          <p:grpSpPr>
            <a:xfrm>
              <a:off x="1447920" y="3276360"/>
              <a:ext cx="4419360" cy="2895120"/>
              <a:chOff x="1447920" y="3276360"/>
              <a:chExt cx="4419360" cy="2895120"/>
            </a:xfrm>
          </p:grpSpPr>
          <p:grpSp>
            <p:nvGrpSpPr>
              <p:cNvPr id="357" name="Group 29"/>
              <p:cNvGrpSpPr/>
              <p:nvPr/>
            </p:nvGrpSpPr>
            <p:grpSpPr>
              <a:xfrm>
                <a:off x="1447920" y="5486400"/>
                <a:ext cx="1675800" cy="685080"/>
                <a:chOff x="1447920" y="5486400"/>
                <a:chExt cx="1675800" cy="685080"/>
              </a:xfrm>
            </p:grpSpPr>
            <p:sp>
              <p:nvSpPr>
                <p:cNvPr id="358" name="AutoShape 21"/>
                <p:cNvSpPr/>
                <p:nvPr/>
              </p:nvSpPr>
              <p:spPr>
                <a:xfrm>
                  <a:off x="1447920" y="5486400"/>
                  <a:ext cx="1675800" cy="68508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59" name="Text Box 22"/>
                <p:cNvSpPr/>
                <p:nvPr/>
              </p:nvSpPr>
              <p:spPr>
                <a:xfrm>
                  <a:off x="1600200" y="5638680"/>
                  <a:ext cx="144720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Phan_cong</a:t>
                  </a:r>
                  <a:endParaRPr b="0" lang="vi-VN" sz="1600" spc="-1" strike="noStrike">
                    <a:solidFill>
                      <a:srgbClr val="000000"/>
                    </a:solidFill>
                    <a:latin typeface="Arial"/>
                  </a:endParaRPr>
                </a:p>
              </p:txBody>
            </p:sp>
          </p:grpSp>
          <p:sp>
            <p:nvSpPr>
              <p:cNvPr id="360" name="Line 38"/>
              <p:cNvSpPr/>
              <p:nvPr/>
            </p:nvSpPr>
            <p:spPr>
              <a:xfrm>
                <a:off x="2286000" y="3276360"/>
                <a:ext cx="360" cy="22100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61" name="Line 40"/>
              <p:cNvSpPr/>
              <p:nvPr/>
            </p:nvSpPr>
            <p:spPr>
              <a:xfrm>
                <a:off x="3124080" y="5841720"/>
                <a:ext cx="274320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362" name="Group 62"/>
            <p:cNvGrpSpPr/>
            <p:nvPr/>
          </p:nvGrpSpPr>
          <p:grpSpPr>
            <a:xfrm>
              <a:off x="3124080" y="2057400"/>
              <a:ext cx="875520" cy="380160"/>
              <a:chOff x="3124080" y="2057400"/>
              <a:chExt cx="875520" cy="380160"/>
            </a:xfrm>
          </p:grpSpPr>
          <p:sp>
            <p:nvSpPr>
              <p:cNvPr id="363" name="Oval 49"/>
              <p:cNvSpPr/>
              <p:nvPr/>
            </p:nvSpPr>
            <p:spPr>
              <a:xfrm>
                <a:off x="3162240" y="20574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64" name="Text Box 50"/>
              <p:cNvSpPr/>
              <p:nvPr/>
            </p:nvSpPr>
            <p:spPr>
              <a:xfrm>
                <a:off x="3124080" y="209556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DCHI</a:t>
                </a:r>
                <a:endParaRPr b="0" lang="vi-VN" sz="1400" spc="-1" strike="noStrike">
                  <a:solidFill>
                    <a:srgbClr val="000000"/>
                  </a:solidFill>
                  <a:latin typeface="Arial"/>
                </a:endParaRPr>
              </a:p>
            </p:txBody>
          </p:sp>
        </p:grpSp>
        <p:grpSp>
          <p:nvGrpSpPr>
            <p:cNvPr id="365" name="Group 98"/>
            <p:cNvGrpSpPr/>
            <p:nvPr/>
          </p:nvGrpSpPr>
          <p:grpSpPr>
            <a:xfrm>
              <a:off x="304920" y="2057400"/>
              <a:ext cx="3200040" cy="1828080"/>
              <a:chOff x="304920" y="2057400"/>
              <a:chExt cx="3200040" cy="1828080"/>
            </a:xfrm>
          </p:grpSpPr>
          <p:sp>
            <p:nvSpPr>
              <p:cNvPr id="366" name="Text Box 17"/>
              <p:cNvSpPr/>
              <p:nvPr/>
            </p:nvSpPr>
            <p:spPr>
              <a:xfrm>
                <a:off x="1498680" y="289548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grpSp>
            <p:nvGrpSpPr>
              <p:cNvPr id="367" name="Group 58"/>
              <p:cNvGrpSpPr/>
              <p:nvPr/>
            </p:nvGrpSpPr>
            <p:grpSpPr>
              <a:xfrm>
                <a:off x="380880" y="2971800"/>
                <a:ext cx="837360" cy="380160"/>
                <a:chOff x="380880" y="2971800"/>
                <a:chExt cx="837360" cy="380160"/>
              </a:xfrm>
            </p:grpSpPr>
            <p:sp>
              <p:nvSpPr>
                <p:cNvPr id="368" name="Oval 45"/>
                <p:cNvSpPr/>
                <p:nvPr/>
              </p:nvSpPr>
              <p:spPr>
                <a:xfrm>
                  <a:off x="380880" y="29718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69" name="Text Box 46"/>
                <p:cNvSpPr/>
                <p:nvPr/>
              </p:nvSpPr>
              <p:spPr>
                <a:xfrm>
                  <a:off x="380880" y="300996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TENNV</a:t>
                  </a:r>
                  <a:endParaRPr b="0" lang="vi-VN" sz="1400" spc="-1" strike="noStrike">
                    <a:solidFill>
                      <a:srgbClr val="000000"/>
                    </a:solidFill>
                    <a:latin typeface="Arial"/>
                  </a:endParaRPr>
                </a:p>
              </p:txBody>
            </p:sp>
          </p:grpSp>
          <p:grpSp>
            <p:nvGrpSpPr>
              <p:cNvPr id="370" name="Group 60"/>
              <p:cNvGrpSpPr/>
              <p:nvPr/>
            </p:nvGrpSpPr>
            <p:grpSpPr>
              <a:xfrm>
                <a:off x="1219320" y="2057400"/>
                <a:ext cx="913680" cy="380160"/>
                <a:chOff x="1219320" y="2057400"/>
                <a:chExt cx="913680" cy="380160"/>
              </a:xfrm>
            </p:grpSpPr>
            <p:sp>
              <p:nvSpPr>
                <p:cNvPr id="371" name="Oval 47"/>
                <p:cNvSpPr/>
                <p:nvPr/>
              </p:nvSpPr>
              <p:spPr>
                <a:xfrm>
                  <a:off x="1257480" y="20574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72" name="Text Box 48"/>
                <p:cNvSpPr/>
                <p:nvPr/>
              </p:nvSpPr>
              <p:spPr>
                <a:xfrm>
                  <a:off x="1219320" y="2095560"/>
                  <a:ext cx="9136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NGSINH</a:t>
                  </a:r>
                  <a:endParaRPr b="0" lang="vi-VN" sz="1400" spc="-1" strike="noStrike">
                    <a:solidFill>
                      <a:srgbClr val="000000"/>
                    </a:solidFill>
                    <a:latin typeface="Arial"/>
                  </a:endParaRPr>
                </a:p>
              </p:txBody>
            </p:sp>
          </p:grpSp>
          <p:grpSp>
            <p:nvGrpSpPr>
              <p:cNvPr id="373" name="Group 59"/>
              <p:cNvGrpSpPr/>
              <p:nvPr/>
            </p:nvGrpSpPr>
            <p:grpSpPr>
              <a:xfrm>
                <a:off x="380880" y="3505320"/>
                <a:ext cx="837360" cy="380160"/>
                <a:chOff x="380880" y="3505320"/>
                <a:chExt cx="837360" cy="380160"/>
              </a:xfrm>
            </p:grpSpPr>
            <p:sp>
              <p:nvSpPr>
                <p:cNvPr id="374" name="Oval 51"/>
                <p:cNvSpPr/>
                <p:nvPr/>
              </p:nvSpPr>
              <p:spPr>
                <a:xfrm>
                  <a:off x="380880" y="35053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75" name="Text Box 52"/>
                <p:cNvSpPr/>
                <p:nvPr/>
              </p:nvSpPr>
              <p:spPr>
                <a:xfrm>
                  <a:off x="419040" y="3543480"/>
                  <a:ext cx="7614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GT</a:t>
                  </a:r>
                  <a:endParaRPr b="0" lang="vi-VN" sz="1400" spc="-1" strike="noStrike">
                    <a:solidFill>
                      <a:srgbClr val="000000"/>
                    </a:solidFill>
                    <a:latin typeface="Arial"/>
                  </a:endParaRPr>
                </a:p>
              </p:txBody>
            </p:sp>
          </p:grpSp>
          <p:grpSp>
            <p:nvGrpSpPr>
              <p:cNvPr id="376" name="Group 61"/>
              <p:cNvGrpSpPr/>
              <p:nvPr/>
            </p:nvGrpSpPr>
            <p:grpSpPr>
              <a:xfrm>
                <a:off x="2209680" y="2057400"/>
                <a:ext cx="837360" cy="554760"/>
                <a:chOff x="2209680" y="2057400"/>
                <a:chExt cx="837360" cy="554760"/>
              </a:xfrm>
            </p:grpSpPr>
            <p:sp>
              <p:nvSpPr>
                <p:cNvPr id="377" name="Oval 53"/>
                <p:cNvSpPr/>
                <p:nvPr/>
              </p:nvSpPr>
              <p:spPr>
                <a:xfrm>
                  <a:off x="2209680" y="20574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78" name="Text Box 54"/>
                <p:cNvSpPr/>
                <p:nvPr/>
              </p:nvSpPr>
              <p:spPr>
                <a:xfrm>
                  <a:off x="2247840" y="2095560"/>
                  <a:ext cx="76140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LUONG</a:t>
                  </a:r>
                  <a:endParaRPr b="0" lang="vi-VN" sz="1400" spc="-1" strike="noStrike">
                    <a:solidFill>
                      <a:srgbClr val="000000"/>
                    </a:solidFill>
                    <a:latin typeface="Arial"/>
                  </a:endParaRPr>
                </a:p>
              </p:txBody>
            </p:sp>
          </p:grpSp>
          <p:grpSp>
            <p:nvGrpSpPr>
              <p:cNvPr id="379" name="Group 57"/>
              <p:cNvGrpSpPr/>
              <p:nvPr/>
            </p:nvGrpSpPr>
            <p:grpSpPr>
              <a:xfrm>
                <a:off x="304920" y="2438280"/>
                <a:ext cx="837360" cy="380160"/>
                <a:chOff x="304920" y="2438280"/>
                <a:chExt cx="837360" cy="380160"/>
              </a:xfrm>
            </p:grpSpPr>
            <p:sp>
              <p:nvSpPr>
                <p:cNvPr id="380" name="Oval 55"/>
                <p:cNvSpPr/>
                <p:nvPr/>
              </p:nvSpPr>
              <p:spPr>
                <a:xfrm>
                  <a:off x="304920" y="24382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81" name="Text Box 56"/>
                <p:cNvSpPr/>
                <p:nvPr/>
              </p:nvSpPr>
              <p:spPr>
                <a:xfrm>
                  <a:off x="304920" y="247644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HONV</a:t>
                  </a:r>
                  <a:endParaRPr b="0" lang="vi-VN" sz="1400" spc="-1" strike="noStrike">
                    <a:solidFill>
                      <a:srgbClr val="000000"/>
                    </a:solidFill>
                    <a:latin typeface="Arial"/>
                  </a:endParaRPr>
                </a:p>
              </p:txBody>
            </p:sp>
          </p:grpSp>
          <p:sp>
            <p:nvSpPr>
              <p:cNvPr id="382" name="Line 63"/>
              <p:cNvSpPr/>
              <p:nvPr/>
            </p:nvSpPr>
            <p:spPr>
              <a:xfrm flipH="1">
                <a:off x="1143000" y="3276360"/>
                <a:ext cx="380880" cy="3049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83" name="Line 64"/>
              <p:cNvSpPr/>
              <p:nvPr/>
            </p:nvSpPr>
            <p:spPr>
              <a:xfrm flipH="1">
                <a:off x="1218960" y="3047760"/>
                <a:ext cx="304920" cy="76320"/>
              </a:xfrm>
              <a:prstGeom prst="line">
                <a:avLst/>
              </a:prstGeom>
              <a:ln w="12700">
                <a:solidFill>
                  <a:srgbClr val="000000"/>
                </a:solidFill>
                <a:round/>
              </a:ln>
            </p:spPr>
            <p:style>
              <a:lnRef idx="0"/>
              <a:fillRef idx="0"/>
              <a:effectRef idx="0"/>
              <a:fontRef idx="minor"/>
            </p:style>
            <p:txBody>
              <a:bodyPr lIns="90000" rIns="90000" tIns="31320" bIns="31320" anchor="ctr">
                <a:noAutofit/>
              </a:bodyPr>
              <a:p>
                <a:endParaRPr b="0" lang="zxx" sz="1800" spc="-1" strike="noStrike">
                  <a:solidFill>
                    <a:schemeClr val="dk1"/>
                  </a:solidFill>
                  <a:latin typeface="Tahoma"/>
                </a:endParaRPr>
              </a:p>
            </p:txBody>
          </p:sp>
          <p:sp>
            <p:nvSpPr>
              <p:cNvPr id="384" name="Line 65"/>
              <p:cNvSpPr/>
              <p:nvPr/>
            </p:nvSpPr>
            <p:spPr>
              <a:xfrm flipH="1" flipV="1">
                <a:off x="1143000" y="2666880"/>
                <a:ext cx="38088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85" name="Line 66"/>
              <p:cNvSpPr/>
              <p:nvPr/>
            </p:nvSpPr>
            <p:spPr>
              <a:xfrm flipH="1" flipV="1">
                <a:off x="1676160" y="2438280"/>
                <a:ext cx="15264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86" name="Line 67"/>
              <p:cNvSpPr/>
              <p:nvPr/>
            </p:nvSpPr>
            <p:spPr>
              <a:xfrm flipV="1">
                <a:off x="2361960" y="2438280"/>
                <a:ext cx="30492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87" name="Line 68"/>
              <p:cNvSpPr/>
              <p:nvPr/>
            </p:nvSpPr>
            <p:spPr>
              <a:xfrm flipV="1">
                <a:off x="2819160" y="2438280"/>
                <a:ext cx="68580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nvGrpSpPr>
            <p:cNvPr id="388" name="Group 99"/>
            <p:cNvGrpSpPr/>
            <p:nvPr/>
          </p:nvGrpSpPr>
          <p:grpSpPr>
            <a:xfrm>
              <a:off x="5867280" y="2133720"/>
              <a:ext cx="1828080" cy="1125720"/>
              <a:chOff x="5867280" y="2133720"/>
              <a:chExt cx="1828080" cy="1125720"/>
            </a:xfrm>
          </p:grpSpPr>
          <p:sp>
            <p:nvSpPr>
              <p:cNvPr id="389" name="Text Box 19"/>
              <p:cNvSpPr/>
              <p:nvPr/>
            </p:nvSpPr>
            <p:spPr>
              <a:xfrm>
                <a:off x="5867280" y="289548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PHONGBAN</a:t>
                </a:r>
                <a:endParaRPr b="0" lang="vi-VN" sz="1800" spc="-1" strike="noStrike">
                  <a:solidFill>
                    <a:srgbClr val="000000"/>
                  </a:solidFill>
                  <a:latin typeface="Arial"/>
                </a:endParaRPr>
              </a:p>
            </p:txBody>
          </p:sp>
          <p:grpSp>
            <p:nvGrpSpPr>
              <p:cNvPr id="390" name="Group 97"/>
              <p:cNvGrpSpPr/>
              <p:nvPr/>
            </p:nvGrpSpPr>
            <p:grpSpPr>
              <a:xfrm>
                <a:off x="6781680" y="2133720"/>
                <a:ext cx="913680" cy="761760"/>
                <a:chOff x="6781680" y="2133720"/>
                <a:chExt cx="913680" cy="761760"/>
              </a:xfrm>
            </p:grpSpPr>
            <p:sp>
              <p:nvSpPr>
                <p:cNvPr id="391" name="Oval 70"/>
                <p:cNvSpPr/>
                <p:nvPr/>
              </p:nvSpPr>
              <p:spPr>
                <a:xfrm>
                  <a:off x="6781680" y="21337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92" name="Text Box 71"/>
                <p:cNvSpPr/>
                <p:nvPr/>
              </p:nvSpPr>
              <p:spPr>
                <a:xfrm>
                  <a:off x="6781680" y="2171880"/>
                  <a:ext cx="9136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TENPHG</a:t>
                  </a:r>
                  <a:endParaRPr b="0" lang="vi-VN" sz="1400" spc="-1" strike="noStrike">
                    <a:solidFill>
                      <a:srgbClr val="000000"/>
                    </a:solidFill>
                    <a:latin typeface="Arial"/>
                  </a:endParaRPr>
                </a:p>
              </p:txBody>
            </p:sp>
            <p:sp>
              <p:nvSpPr>
                <p:cNvPr id="393" name="Line 73"/>
                <p:cNvSpPr/>
                <p:nvPr/>
              </p:nvSpPr>
              <p:spPr>
                <a:xfrm flipH="1">
                  <a:off x="6933960" y="2514600"/>
                  <a:ext cx="152640" cy="3808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grpSp>
          <p:nvGrpSpPr>
            <p:cNvPr id="394" name="Group 93"/>
            <p:cNvGrpSpPr/>
            <p:nvPr/>
          </p:nvGrpSpPr>
          <p:grpSpPr>
            <a:xfrm>
              <a:off x="5867280" y="3276360"/>
              <a:ext cx="1675800" cy="2362320"/>
              <a:chOff x="5867280" y="3276360"/>
              <a:chExt cx="1675800" cy="2362320"/>
            </a:xfrm>
          </p:grpSpPr>
          <p:grpSp>
            <p:nvGrpSpPr>
              <p:cNvPr id="395" name="Group 81"/>
              <p:cNvGrpSpPr/>
              <p:nvPr/>
            </p:nvGrpSpPr>
            <p:grpSpPr>
              <a:xfrm>
                <a:off x="5867280" y="4343400"/>
                <a:ext cx="1675800" cy="685080"/>
                <a:chOff x="5867280" y="4343400"/>
                <a:chExt cx="1675800" cy="685080"/>
              </a:xfrm>
            </p:grpSpPr>
            <p:sp>
              <p:nvSpPr>
                <p:cNvPr id="396" name="AutoShape 82"/>
                <p:cNvSpPr/>
                <p:nvPr/>
              </p:nvSpPr>
              <p:spPr>
                <a:xfrm>
                  <a:off x="5867280" y="4343400"/>
                  <a:ext cx="1675800" cy="68508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397" name="Text Box 83"/>
                <p:cNvSpPr/>
                <p:nvPr/>
              </p:nvSpPr>
              <p:spPr>
                <a:xfrm>
                  <a:off x="6019920" y="4495680"/>
                  <a:ext cx="144720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Phu_trach</a:t>
                  </a:r>
                  <a:endParaRPr b="0" lang="vi-VN" sz="1600" spc="-1" strike="noStrike">
                    <a:solidFill>
                      <a:srgbClr val="000000"/>
                    </a:solidFill>
                    <a:latin typeface="Arial"/>
                  </a:endParaRPr>
                </a:p>
              </p:txBody>
            </p:sp>
          </p:grpSp>
          <p:sp>
            <p:nvSpPr>
              <p:cNvPr id="398" name="Line 86"/>
              <p:cNvSpPr/>
              <p:nvPr/>
            </p:nvSpPr>
            <p:spPr>
              <a:xfrm>
                <a:off x="6705360" y="3276360"/>
                <a:ext cx="360" cy="10670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399" name="Line 87"/>
              <p:cNvSpPr/>
              <p:nvPr/>
            </p:nvSpPr>
            <p:spPr>
              <a:xfrm>
                <a:off x="6705360" y="5029200"/>
                <a:ext cx="360" cy="6094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nvGrpSpPr>
            <p:cNvPr id="400" name="Group 90"/>
            <p:cNvGrpSpPr/>
            <p:nvPr/>
          </p:nvGrpSpPr>
          <p:grpSpPr>
            <a:xfrm>
              <a:off x="5867280" y="5181480"/>
              <a:ext cx="2894760" cy="1142280"/>
              <a:chOff x="5867280" y="5181480"/>
              <a:chExt cx="2894760" cy="1142280"/>
            </a:xfrm>
          </p:grpSpPr>
          <p:sp>
            <p:nvSpPr>
              <p:cNvPr id="401" name="Text Box 18"/>
              <p:cNvSpPr/>
              <p:nvPr/>
            </p:nvSpPr>
            <p:spPr>
              <a:xfrm>
                <a:off x="5867280" y="564048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DEAN</a:t>
                </a:r>
                <a:endParaRPr b="0" lang="vi-VN" sz="1800" spc="-1" strike="noStrike">
                  <a:solidFill>
                    <a:srgbClr val="000000"/>
                  </a:solidFill>
                  <a:latin typeface="Arial"/>
                </a:endParaRPr>
              </a:p>
            </p:txBody>
          </p:sp>
          <p:grpSp>
            <p:nvGrpSpPr>
              <p:cNvPr id="402" name="Group 79"/>
              <p:cNvGrpSpPr/>
              <p:nvPr/>
            </p:nvGrpSpPr>
            <p:grpSpPr>
              <a:xfrm>
                <a:off x="7772400" y="5943600"/>
                <a:ext cx="837360" cy="380160"/>
                <a:chOff x="7772400" y="5943600"/>
                <a:chExt cx="837360" cy="380160"/>
              </a:xfrm>
            </p:grpSpPr>
            <p:sp>
              <p:nvSpPr>
                <p:cNvPr id="403" name="Oval 74"/>
                <p:cNvSpPr/>
                <p:nvPr/>
              </p:nvSpPr>
              <p:spPr>
                <a:xfrm>
                  <a:off x="7772400" y="59436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04" name="Text Box 75"/>
                <p:cNvSpPr/>
                <p:nvPr/>
              </p:nvSpPr>
              <p:spPr>
                <a:xfrm>
                  <a:off x="7772400" y="598176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TENDA</a:t>
                  </a:r>
                  <a:endParaRPr b="0" lang="vi-VN" sz="1400" spc="-1" strike="noStrike">
                    <a:solidFill>
                      <a:srgbClr val="000000"/>
                    </a:solidFill>
                    <a:latin typeface="Arial"/>
                  </a:endParaRPr>
                </a:p>
              </p:txBody>
            </p:sp>
          </p:grpSp>
          <p:grpSp>
            <p:nvGrpSpPr>
              <p:cNvPr id="405" name="Group 78"/>
              <p:cNvGrpSpPr/>
              <p:nvPr/>
            </p:nvGrpSpPr>
            <p:grpSpPr>
              <a:xfrm>
                <a:off x="7696080" y="5181480"/>
                <a:ext cx="1065960" cy="554760"/>
                <a:chOff x="7696080" y="5181480"/>
                <a:chExt cx="1065960" cy="554760"/>
              </a:xfrm>
            </p:grpSpPr>
            <p:sp>
              <p:nvSpPr>
                <p:cNvPr id="406" name="Oval 76"/>
                <p:cNvSpPr/>
                <p:nvPr/>
              </p:nvSpPr>
              <p:spPr>
                <a:xfrm>
                  <a:off x="7696080" y="5181480"/>
                  <a:ext cx="10659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07" name="Text Box 77"/>
                <p:cNvSpPr/>
                <p:nvPr/>
              </p:nvSpPr>
              <p:spPr>
                <a:xfrm>
                  <a:off x="7696080" y="5219640"/>
                  <a:ext cx="106596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DDIEM_DA</a:t>
                  </a:r>
                  <a:endParaRPr b="0" lang="vi-VN" sz="1400" spc="-1" strike="noStrike">
                    <a:solidFill>
                      <a:srgbClr val="000000"/>
                    </a:solidFill>
                    <a:latin typeface="Arial"/>
                  </a:endParaRPr>
                </a:p>
              </p:txBody>
            </p:sp>
          </p:grpSp>
          <p:sp>
            <p:nvSpPr>
              <p:cNvPr id="408" name="Line 88"/>
              <p:cNvSpPr/>
              <p:nvPr/>
            </p:nvSpPr>
            <p:spPr>
              <a:xfrm flipV="1">
                <a:off x="7467480" y="5486400"/>
                <a:ext cx="228600" cy="30456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409" name="Line 89"/>
              <p:cNvSpPr/>
              <p:nvPr/>
            </p:nvSpPr>
            <p:spPr>
              <a:xfrm>
                <a:off x="7467480" y="5943600"/>
                <a:ext cx="304920" cy="1522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sp>
        <p:nvSpPr>
          <p:cNvPr id="410" name="PlaceHolder 3"/>
          <p:cNvSpPr>
            <a:spLocks noGrp="1"/>
          </p:cNvSpPr>
          <p:nvPr>
            <p:ph type="dt" idx="9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349F7301-9844-45B6-8EAE-BC60621A4FD1}"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411" name="PlaceHolder 4"/>
          <p:cNvSpPr>
            <a:spLocks noGrp="1"/>
          </p:cNvSpPr>
          <p:nvPr>
            <p:ph type="ftr" idx="9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412" name="PlaceHolder 5"/>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2800" spc="-1" strike="noStrike">
                <a:solidFill>
                  <a:schemeClr val="dk2"/>
                </a:solidFill>
                <a:latin typeface="Calibri"/>
              </a:rPr>
              <a:t>e. </a:t>
            </a:r>
            <a:r>
              <a:rPr b="1" lang="en-US" sz="2800" spc="-1" strike="noStrike">
                <a:solidFill>
                  <a:schemeClr val="dk2"/>
                </a:solidFill>
                <a:latin typeface="Calibri"/>
              </a:rPr>
              <a:t>Lược đồ ER</a:t>
            </a:r>
            <a:endParaRPr b="0" lang="vi-VN" sz="2800" spc="-1" strike="noStrike">
              <a:solidFill>
                <a:srgbClr val="000000"/>
              </a:solidFill>
              <a:latin typeface="Arial"/>
            </a:endParaRPr>
          </a:p>
        </p:txBody>
      </p:sp>
      <p:pic>
        <p:nvPicPr>
          <p:cNvPr id="413"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2800" spc="-1" strike="noStrike">
                <a:solidFill>
                  <a:schemeClr val="dk2"/>
                </a:solidFill>
                <a:latin typeface="Calibri"/>
              </a:rPr>
              <a:t>f</a:t>
            </a:r>
            <a:r>
              <a:rPr b="0" lang="en-US" sz="3500" spc="-1" strike="noStrike">
                <a:solidFill>
                  <a:schemeClr val="dk2"/>
                </a:solidFill>
                <a:latin typeface="Calibri"/>
              </a:rPr>
              <a:t>.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sp>
        <p:nvSpPr>
          <p:cNvPr id="415" name="PlaceHolder 2"/>
          <p:cNvSpPr>
            <a:spLocks noGrp="1"/>
          </p:cNvSpPr>
          <p:nvPr>
            <p:ph/>
          </p:nvPr>
        </p:nvSpPr>
        <p:spPr>
          <a:xfrm>
            <a:off x="340920" y="1295280"/>
            <a:ext cx="8686080" cy="5104800"/>
          </a:xfrm>
          <a:prstGeom prst="rect">
            <a:avLst/>
          </a:prstGeom>
          <a:noFill/>
          <a:ln w="9360">
            <a:noFill/>
          </a:ln>
        </p:spPr>
        <p:txBody>
          <a:bodyPr numCol="1" spcCol="0" lIns="91440" rIns="91440" tIns="45720" bIns="45720" anchor="t">
            <a:noAutofit/>
          </a:bodyPr>
          <a:p>
            <a:pPr marL="639720" indent="-246240">
              <a:lnSpc>
                <a:spcPct val="100000"/>
              </a:lnSpc>
              <a:spcBef>
                <a:spcPts val="360"/>
              </a:spcBef>
              <a:buNone/>
              <a:tabLst>
                <a:tab algn="l" pos="0"/>
              </a:tabLst>
            </a:pPr>
            <a:r>
              <a:rPr b="1" lang="en-US" sz="1800" spc="-1" strike="noStrike">
                <a:solidFill>
                  <a:schemeClr val="dk1"/>
                </a:solidFill>
                <a:latin typeface="Constantia"/>
              </a:rPr>
              <a:t>Giả sử có n kiểu thực thể E</a:t>
            </a:r>
            <a:r>
              <a:rPr b="1" lang="en-US" sz="1800" spc="-1" strike="noStrike" baseline="-25000">
                <a:solidFill>
                  <a:schemeClr val="dk1"/>
                </a:solidFill>
                <a:latin typeface="Constantia"/>
              </a:rPr>
              <a:t>1</a:t>
            </a:r>
            <a:r>
              <a:rPr b="1" lang="en-US" sz="1800" spc="-1" strike="noStrike">
                <a:solidFill>
                  <a:schemeClr val="dk1"/>
                </a:solidFill>
                <a:latin typeface="Constantia"/>
              </a:rPr>
              <a:t>, E</a:t>
            </a:r>
            <a:r>
              <a:rPr b="1" lang="en-US" sz="1800" spc="-1" strike="noStrike" baseline="-25000">
                <a:solidFill>
                  <a:schemeClr val="dk1"/>
                </a:solidFill>
                <a:latin typeface="Constantia"/>
              </a:rPr>
              <a:t>2</a:t>
            </a:r>
            <a:r>
              <a:rPr b="1" lang="en-US" sz="1800" spc="-1" strike="noStrike">
                <a:solidFill>
                  <a:schemeClr val="dk1"/>
                </a:solidFill>
                <a:latin typeface="Constantia"/>
              </a:rPr>
              <a:t>, …, E</a:t>
            </a:r>
            <a:r>
              <a:rPr b="1" lang="en-US" sz="1800" spc="-1" strike="noStrike" baseline="-25000">
                <a:solidFill>
                  <a:schemeClr val="dk1"/>
                </a:solidFill>
                <a:latin typeface="Constantia"/>
              </a:rPr>
              <a:t>n </a:t>
            </a:r>
            <a:endParaRPr b="0" lang="vi-VN" sz="1800" spc="-1" strike="noStrike">
              <a:solidFill>
                <a:srgbClr val="000000"/>
              </a:solidFill>
              <a:latin typeface="Arial"/>
            </a:endParaRPr>
          </a:p>
          <a:p>
            <a:pPr lvl="1" marL="639720" indent="-246240">
              <a:lnSpc>
                <a:spcPct val="100000"/>
              </a:lnSpc>
              <a:spcBef>
                <a:spcPts val="360"/>
              </a:spcBef>
              <a:buClr>
                <a:srgbClr val="0f6fc6"/>
              </a:buClr>
              <a:buSzPct val="85000"/>
              <a:buFont typeface="Courier New"/>
              <a:buChar char="o"/>
              <a:tabLst>
                <a:tab algn="l" pos="0"/>
              </a:tabLst>
            </a:pPr>
            <a:r>
              <a:rPr b="0" lang="en-US" sz="1800" spc="-1" strike="noStrike">
                <a:solidFill>
                  <a:schemeClr val="dk1"/>
                </a:solidFill>
                <a:latin typeface="Constantia"/>
              </a:rPr>
              <a:t>Quan hệ R trên  n tập thực thể E</a:t>
            </a:r>
            <a:r>
              <a:rPr b="0" lang="en-US" sz="1800" spc="-1" strike="noStrike" baseline="-25000">
                <a:solidFill>
                  <a:schemeClr val="dk1"/>
                </a:solidFill>
                <a:latin typeface="Constantia"/>
              </a:rPr>
              <a:t>1</a:t>
            </a:r>
            <a:r>
              <a:rPr b="0" lang="en-US" sz="1800" spc="-1" strike="noStrike">
                <a:solidFill>
                  <a:schemeClr val="dk1"/>
                </a:solidFill>
                <a:latin typeface="Constantia"/>
              </a:rPr>
              <a:t>, E</a:t>
            </a:r>
            <a:r>
              <a:rPr b="0" lang="en-US" sz="1800" spc="-1" strike="noStrike" baseline="-25000">
                <a:solidFill>
                  <a:schemeClr val="dk1"/>
                </a:solidFill>
                <a:latin typeface="Constantia"/>
              </a:rPr>
              <a:t>2</a:t>
            </a:r>
            <a:r>
              <a:rPr b="0" lang="en-US" sz="1800" spc="-1" strike="noStrike">
                <a:solidFill>
                  <a:schemeClr val="dk1"/>
                </a:solidFill>
                <a:latin typeface="Constantia"/>
              </a:rPr>
              <a:t>, …, E</a:t>
            </a:r>
            <a:r>
              <a:rPr b="0" lang="en-US" sz="1800" spc="-1" strike="noStrike" baseline="-25000">
                <a:solidFill>
                  <a:schemeClr val="dk1"/>
                </a:solidFill>
                <a:latin typeface="Constantia"/>
              </a:rPr>
              <a:t>n </a:t>
            </a:r>
            <a:endParaRPr b="0" lang="vi-VN" sz="1800" spc="-1" strike="noStrike">
              <a:solidFill>
                <a:srgbClr val="000000"/>
              </a:solidFill>
              <a:latin typeface="Arial"/>
            </a:endParaRPr>
          </a:p>
          <a:p>
            <a:pPr lvl="1" marL="639720" indent="-246240">
              <a:lnSpc>
                <a:spcPct val="100000"/>
              </a:lnSpc>
              <a:spcBef>
                <a:spcPts val="360"/>
              </a:spcBef>
              <a:buClr>
                <a:srgbClr val="0f6fc6"/>
              </a:buClr>
              <a:buSzPct val="85000"/>
              <a:buFont typeface="Courier New"/>
              <a:buChar char="o"/>
              <a:tabLst>
                <a:tab algn="l" pos="0"/>
              </a:tabLst>
            </a:pPr>
            <a:r>
              <a:rPr b="0" lang="en-US" sz="1800" spc="-1" strike="noStrike">
                <a:solidFill>
                  <a:schemeClr val="dk1"/>
                </a:solidFill>
                <a:latin typeface="Constantia"/>
              </a:rPr>
              <a:t>Thể hiện của R là tập hữu hạn các danh sách r</a:t>
            </a:r>
            <a:r>
              <a:rPr b="0" lang="en-US" sz="1800" spc="-1" strike="noStrike" baseline="-25000">
                <a:solidFill>
                  <a:schemeClr val="dk1"/>
                </a:solidFill>
                <a:latin typeface="Constantia"/>
              </a:rPr>
              <a:t>j</a:t>
            </a:r>
            <a:r>
              <a:rPr b="0" lang="en-US" sz="1800" spc="-1" strike="noStrike">
                <a:solidFill>
                  <a:schemeClr val="dk1"/>
                </a:solidFill>
                <a:latin typeface="Constantia"/>
              </a:rPr>
              <a:t>=(e</a:t>
            </a:r>
            <a:r>
              <a:rPr b="0" lang="en-US" sz="1800" spc="-1" strike="noStrike" baseline="-25000">
                <a:solidFill>
                  <a:schemeClr val="dk1"/>
                </a:solidFill>
                <a:latin typeface="Constantia"/>
              </a:rPr>
              <a:t>1</a:t>
            </a:r>
            <a:r>
              <a:rPr b="0" lang="en-US" sz="1800" spc="-1" strike="noStrike">
                <a:solidFill>
                  <a:schemeClr val="dk1"/>
                </a:solidFill>
                <a:latin typeface="Constantia"/>
              </a:rPr>
              <a:t>, e</a:t>
            </a:r>
            <a:r>
              <a:rPr b="0" lang="en-US" sz="1800" spc="-1" strike="noStrike" baseline="-25000">
                <a:solidFill>
                  <a:schemeClr val="dk1"/>
                </a:solidFill>
                <a:latin typeface="Constantia"/>
              </a:rPr>
              <a:t>2</a:t>
            </a:r>
            <a:r>
              <a:rPr b="0" lang="en-US" sz="1800" spc="-1" strike="noStrike">
                <a:solidFill>
                  <a:schemeClr val="dk1"/>
                </a:solidFill>
                <a:latin typeface="Constantia"/>
              </a:rPr>
              <a:t>, …, e</a:t>
            </a:r>
            <a:r>
              <a:rPr b="0" lang="en-US" sz="1800" spc="-1" strike="noStrike" baseline="-25000">
                <a:solidFill>
                  <a:schemeClr val="dk1"/>
                </a:solidFill>
                <a:latin typeface="Constantia"/>
              </a:rPr>
              <a:t>n</a:t>
            </a:r>
            <a:r>
              <a:rPr b="0" lang="en-US" sz="1800" spc="-1" strike="noStrike">
                <a:solidFill>
                  <a:schemeClr val="dk1"/>
                </a:solidFill>
                <a:latin typeface="Constantia"/>
              </a:rPr>
              <a:t>) với  e</a:t>
            </a:r>
            <a:r>
              <a:rPr b="0" lang="en-US" sz="1800" spc="-1" strike="noStrike" baseline="-25000">
                <a:solidFill>
                  <a:schemeClr val="dk1"/>
                </a:solidFill>
                <a:latin typeface="Constantia"/>
              </a:rPr>
              <a:t>i</a:t>
            </a:r>
            <a:r>
              <a:rPr b="0" lang="en-US" sz="1800" spc="-1" strike="noStrike">
                <a:solidFill>
                  <a:schemeClr val="dk1"/>
                </a:solidFill>
                <a:latin typeface="Constantia"/>
              </a:rPr>
              <a:t> là thực thể  E</a:t>
            </a:r>
            <a:r>
              <a:rPr b="0" lang="en-US" sz="1800" spc="-1" strike="noStrike" baseline="-25000">
                <a:solidFill>
                  <a:schemeClr val="dk1"/>
                </a:solidFill>
                <a:latin typeface="Constantia"/>
              </a:rPr>
              <a:t>i</a:t>
            </a:r>
            <a:r>
              <a:rPr b="0" lang="en-US" sz="1800" spc="-1" strike="noStrike">
                <a:solidFill>
                  <a:schemeClr val="dk1"/>
                </a:solidFill>
                <a:latin typeface="Constantia"/>
              </a:rPr>
              <a:t> </a:t>
            </a:r>
            <a:endParaRPr b="0" lang="vi-VN" sz="1800" spc="-1" strike="noStrike">
              <a:solidFill>
                <a:srgbClr val="000000"/>
              </a:solidFill>
              <a:latin typeface="Arial"/>
            </a:endParaRPr>
          </a:p>
          <a:p>
            <a:pPr lvl="1" marL="639720" indent="-246240">
              <a:lnSpc>
                <a:spcPct val="100000"/>
              </a:lnSpc>
              <a:spcBef>
                <a:spcPts val="360"/>
              </a:spcBef>
              <a:buClr>
                <a:srgbClr val="0f6fc6"/>
              </a:buClr>
              <a:buSzPct val="85000"/>
              <a:buFont typeface="Wingdings" charset="2"/>
              <a:buChar char=""/>
              <a:tabLst>
                <a:tab algn="l" pos="0"/>
              </a:tabLst>
            </a:pPr>
            <a:r>
              <a:rPr b="0" lang="en-US" sz="1800" spc="-1" strike="noStrike">
                <a:solidFill>
                  <a:schemeClr val="dk1"/>
                </a:solidFill>
                <a:latin typeface="Constantia"/>
              </a:rPr>
              <a:t>R </a:t>
            </a:r>
            <a:r>
              <a:rPr b="0" lang="en-US" sz="1800" spc="-1" strike="noStrike">
                <a:solidFill>
                  <a:schemeClr val="dk1"/>
                </a:solidFill>
                <a:latin typeface="Symbol"/>
              </a:rPr>
              <a:t></a:t>
            </a:r>
            <a:r>
              <a:rPr b="0" lang="en-US" sz="1800" spc="-1" strike="noStrike">
                <a:solidFill>
                  <a:schemeClr val="dk1"/>
                </a:solidFill>
                <a:latin typeface="Constantia"/>
              </a:rPr>
              <a:t> E</a:t>
            </a:r>
            <a:r>
              <a:rPr b="0" lang="en-US" sz="1800" spc="-1" strike="noStrike" baseline="-25000">
                <a:solidFill>
                  <a:schemeClr val="dk1"/>
                </a:solidFill>
                <a:latin typeface="Constantia"/>
              </a:rPr>
              <a:t>1</a:t>
            </a:r>
            <a:r>
              <a:rPr b="0" lang="en-US" sz="1800" spc="-1" strike="noStrike">
                <a:solidFill>
                  <a:schemeClr val="dk1"/>
                </a:solidFill>
                <a:latin typeface="Constantia"/>
              </a:rPr>
              <a:t> </a:t>
            </a:r>
            <a:r>
              <a:rPr b="0" lang="en-US" sz="1800" spc="-1" strike="noStrike">
                <a:solidFill>
                  <a:schemeClr val="dk1"/>
                </a:solidFill>
                <a:latin typeface="Symbol"/>
              </a:rPr>
              <a:t></a:t>
            </a:r>
            <a:r>
              <a:rPr b="0" lang="en-US" sz="1800" spc="-1" strike="noStrike">
                <a:solidFill>
                  <a:schemeClr val="dk1"/>
                </a:solidFill>
                <a:latin typeface="Constantia"/>
              </a:rPr>
              <a:t> E</a:t>
            </a:r>
            <a:r>
              <a:rPr b="0" lang="en-US" sz="1800" spc="-1" strike="noStrike" baseline="-25000">
                <a:solidFill>
                  <a:schemeClr val="dk1"/>
                </a:solidFill>
                <a:latin typeface="Constantia"/>
              </a:rPr>
              <a:t>2</a:t>
            </a:r>
            <a:r>
              <a:rPr b="0" lang="en-US" sz="1800" spc="-1" strike="noStrike">
                <a:solidFill>
                  <a:schemeClr val="dk1"/>
                </a:solidFill>
                <a:latin typeface="Constantia"/>
              </a:rPr>
              <a:t> </a:t>
            </a:r>
            <a:r>
              <a:rPr b="0" lang="en-US" sz="1800" spc="-1" strike="noStrike">
                <a:solidFill>
                  <a:schemeClr val="dk1"/>
                </a:solidFill>
                <a:latin typeface="Symbol"/>
              </a:rPr>
              <a:t></a:t>
            </a:r>
            <a:r>
              <a:rPr b="0" lang="en-US" sz="1800" spc="-1" strike="noStrike">
                <a:solidFill>
                  <a:schemeClr val="dk1"/>
                </a:solidFill>
                <a:latin typeface="Constantia"/>
              </a:rPr>
              <a:t> E</a:t>
            </a:r>
            <a:r>
              <a:rPr b="0" lang="en-US" sz="1800" spc="-1" strike="noStrike" baseline="-25000">
                <a:solidFill>
                  <a:schemeClr val="dk1"/>
                </a:solidFill>
                <a:latin typeface="Constantia"/>
              </a:rPr>
              <a:t>3</a:t>
            </a:r>
            <a:r>
              <a:rPr b="0" lang="en-US" sz="1800" spc="-1" strike="noStrike">
                <a:solidFill>
                  <a:schemeClr val="dk1"/>
                </a:solidFill>
                <a:latin typeface="Constantia"/>
              </a:rPr>
              <a:t> </a:t>
            </a:r>
            <a:r>
              <a:rPr b="0" lang="en-US" sz="1800" spc="-1" strike="noStrike">
                <a:solidFill>
                  <a:schemeClr val="dk1"/>
                </a:solidFill>
                <a:latin typeface="Symbol"/>
              </a:rPr>
              <a:t></a:t>
            </a:r>
            <a:r>
              <a:rPr b="0" lang="en-US" sz="1800" spc="-1" strike="noStrike">
                <a:solidFill>
                  <a:schemeClr val="dk1"/>
                </a:solidFill>
                <a:latin typeface="Constantia"/>
              </a:rPr>
              <a:t> … </a:t>
            </a:r>
            <a:r>
              <a:rPr b="0" lang="en-US" sz="1800" spc="-1" strike="noStrike">
                <a:solidFill>
                  <a:schemeClr val="dk1"/>
                </a:solidFill>
                <a:latin typeface="Symbol"/>
              </a:rPr>
              <a:t></a:t>
            </a:r>
            <a:r>
              <a:rPr b="0" lang="en-US" sz="1800" spc="-1" strike="noStrike">
                <a:solidFill>
                  <a:schemeClr val="dk1"/>
                </a:solidFill>
                <a:latin typeface="Constantia"/>
              </a:rPr>
              <a:t> E</a:t>
            </a:r>
            <a:r>
              <a:rPr b="0" lang="en-US" sz="1800" spc="-1" strike="noStrike" baseline="-25000">
                <a:solidFill>
                  <a:schemeClr val="dk1"/>
                </a:solidFill>
                <a:latin typeface="Constantia"/>
              </a:rPr>
              <a:t>n </a:t>
            </a:r>
            <a:endParaRPr b="0" lang="vi-VN" sz="1800" spc="-1" strike="noStrike">
              <a:solidFill>
                <a:srgbClr val="000000"/>
              </a:solidFill>
              <a:latin typeface="Arial"/>
            </a:endParaRPr>
          </a:p>
          <a:p>
            <a:pPr marL="272880" indent="-272880">
              <a:lnSpc>
                <a:spcPct val="100000"/>
              </a:lnSpc>
              <a:spcBef>
                <a:spcPts val="2401"/>
              </a:spcBef>
              <a:buNone/>
              <a:tabLst>
                <a:tab algn="l" pos="0"/>
              </a:tabLst>
            </a:pPr>
            <a:r>
              <a:rPr b="0" i="1" lang="en-US" sz="2000" spc="-1" strike="noStrike">
                <a:solidFill>
                  <a:schemeClr val="dk1"/>
                </a:solidFill>
                <a:latin typeface="Constantia"/>
              </a:rPr>
              <a:t>Ví dụ: Xét quan hệ </a:t>
            </a:r>
            <a:endParaRPr b="0" lang="vi-VN" sz="2000" spc="-1" strike="noStrike">
              <a:solidFill>
                <a:srgbClr val="000000"/>
              </a:solidFill>
              <a:latin typeface="Arial"/>
            </a:endParaRPr>
          </a:p>
        </p:txBody>
      </p:sp>
      <p:sp>
        <p:nvSpPr>
          <p:cNvPr id="416" name="PlaceHolder 3"/>
          <p:cNvSpPr>
            <a:spLocks noGrp="1"/>
          </p:cNvSpPr>
          <p:nvPr>
            <p:ph type="sldNum" idx="10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F5FB8B68-782B-4948-928F-597C69C6B991}"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417" name="Group 14"/>
          <p:cNvGrpSpPr/>
          <p:nvPr/>
        </p:nvGrpSpPr>
        <p:grpSpPr>
          <a:xfrm>
            <a:off x="1371600" y="4724280"/>
            <a:ext cx="3581280" cy="1600200"/>
            <a:chOff x="1371600" y="4724280"/>
            <a:chExt cx="3581280" cy="1600200"/>
          </a:xfrm>
        </p:grpSpPr>
        <p:sp>
          <p:nvSpPr>
            <p:cNvPr id="418" name="Line 4"/>
            <p:cNvSpPr/>
            <p:nvPr/>
          </p:nvSpPr>
          <p:spPr>
            <a:xfrm>
              <a:off x="1371600" y="5105160"/>
              <a:ext cx="35812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19" name="Line 5"/>
            <p:cNvSpPr/>
            <p:nvPr/>
          </p:nvSpPr>
          <p:spPr>
            <a:xfrm>
              <a:off x="3047760" y="4800600"/>
              <a:ext cx="360" cy="15238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420" name="Text Box 6"/>
            <p:cNvSpPr/>
            <p:nvPr/>
          </p:nvSpPr>
          <p:spPr>
            <a:xfrm>
              <a:off x="1371600" y="4724280"/>
              <a:ext cx="1675800" cy="3639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421" name="Text Box 7"/>
            <p:cNvSpPr/>
            <p:nvPr/>
          </p:nvSpPr>
          <p:spPr>
            <a:xfrm>
              <a:off x="3124080" y="4724280"/>
              <a:ext cx="1675800" cy="3639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PHONGBAN</a:t>
              </a:r>
              <a:endParaRPr b="0" lang="vi-VN" sz="1800" spc="-1" strike="noStrike">
                <a:solidFill>
                  <a:srgbClr val="000000"/>
                </a:solidFill>
                <a:latin typeface="Arial"/>
              </a:endParaRPr>
            </a:p>
          </p:txBody>
        </p:sp>
        <p:sp>
          <p:nvSpPr>
            <p:cNvPr id="422" name="Text Box 8"/>
            <p:cNvSpPr/>
            <p:nvPr/>
          </p:nvSpPr>
          <p:spPr>
            <a:xfrm>
              <a:off x="1828800" y="5105520"/>
              <a:ext cx="121860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Tung</a:t>
              </a:r>
              <a:endParaRPr b="0" lang="vi-VN" sz="1600" spc="-1" strike="noStrike">
                <a:solidFill>
                  <a:srgbClr val="000000"/>
                </a:solidFill>
                <a:latin typeface="Arial"/>
              </a:endParaRPr>
            </a:p>
          </p:txBody>
        </p:sp>
        <p:sp>
          <p:nvSpPr>
            <p:cNvPr id="423" name="Text Box 9"/>
            <p:cNvSpPr/>
            <p:nvPr/>
          </p:nvSpPr>
          <p:spPr>
            <a:xfrm>
              <a:off x="1828800" y="5486400"/>
              <a:ext cx="121860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Hang</a:t>
              </a:r>
              <a:endParaRPr b="0" lang="vi-VN" sz="1600" spc="-1" strike="noStrike">
                <a:solidFill>
                  <a:srgbClr val="000000"/>
                </a:solidFill>
                <a:latin typeface="Arial"/>
              </a:endParaRPr>
            </a:p>
          </p:txBody>
        </p:sp>
        <p:sp>
          <p:nvSpPr>
            <p:cNvPr id="424" name="Text Box 10"/>
            <p:cNvSpPr/>
            <p:nvPr/>
          </p:nvSpPr>
          <p:spPr>
            <a:xfrm>
              <a:off x="3276720" y="5105520"/>
              <a:ext cx="152316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Nghien cuu</a:t>
              </a:r>
              <a:endParaRPr b="0" lang="vi-VN" sz="1600" spc="-1" strike="noStrike">
                <a:solidFill>
                  <a:srgbClr val="000000"/>
                </a:solidFill>
                <a:latin typeface="Arial"/>
              </a:endParaRPr>
            </a:p>
          </p:txBody>
        </p:sp>
        <p:sp>
          <p:nvSpPr>
            <p:cNvPr id="425" name="Text Box 11"/>
            <p:cNvSpPr/>
            <p:nvPr/>
          </p:nvSpPr>
          <p:spPr>
            <a:xfrm>
              <a:off x="3276720" y="5486400"/>
              <a:ext cx="152316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Dieu hanh</a:t>
              </a:r>
              <a:endParaRPr b="0" lang="vi-VN" sz="1600" spc="-1" strike="noStrike">
                <a:solidFill>
                  <a:srgbClr val="000000"/>
                </a:solidFill>
                <a:latin typeface="Arial"/>
              </a:endParaRPr>
            </a:p>
          </p:txBody>
        </p:sp>
        <p:sp>
          <p:nvSpPr>
            <p:cNvPr id="426" name="Text Box 12"/>
            <p:cNvSpPr/>
            <p:nvPr/>
          </p:nvSpPr>
          <p:spPr>
            <a:xfrm>
              <a:off x="1828800" y="5881680"/>
              <a:ext cx="121860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Vinh</a:t>
              </a:r>
              <a:endParaRPr b="0" lang="vi-VN" sz="1600" spc="-1" strike="noStrike">
                <a:solidFill>
                  <a:srgbClr val="000000"/>
                </a:solidFill>
                <a:latin typeface="Arial"/>
              </a:endParaRPr>
            </a:p>
          </p:txBody>
        </p:sp>
        <p:sp>
          <p:nvSpPr>
            <p:cNvPr id="427" name="Text Box 13"/>
            <p:cNvSpPr/>
            <p:nvPr/>
          </p:nvSpPr>
          <p:spPr>
            <a:xfrm>
              <a:off x="3276720" y="5881680"/>
              <a:ext cx="1523160" cy="33336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Quan ly</a:t>
              </a:r>
              <a:endParaRPr b="0" lang="vi-VN" sz="1600" spc="-1" strike="noStrike">
                <a:solidFill>
                  <a:srgbClr val="000000"/>
                </a:solidFill>
                <a:latin typeface="Arial"/>
              </a:endParaRPr>
            </a:p>
          </p:txBody>
        </p:sp>
      </p:grpSp>
      <p:sp>
        <p:nvSpPr>
          <p:cNvPr id="428" name="Text Box 15"/>
          <p:cNvSpPr/>
          <p:nvPr/>
        </p:nvSpPr>
        <p:spPr>
          <a:xfrm>
            <a:off x="5562720" y="4952880"/>
            <a:ext cx="2437560" cy="1023840"/>
          </a:xfrm>
          <a:prstGeom prst="rect">
            <a:avLst/>
          </a:prstGeom>
          <a:noFill/>
          <a:ln w="12700">
            <a:noFill/>
          </a:ln>
        </p:spPr>
        <p:style>
          <a:lnRef idx="0"/>
          <a:fillRef idx="0"/>
          <a:effectRef idx="0"/>
          <a:fontRef idx="minor"/>
        </p:style>
        <p:txBody>
          <a:bodyPr lIns="90000" rIns="90000" tIns="45000" bIns="45000" anchor="t">
            <a:spAutoFit/>
          </a:bodyPr>
          <a:p>
            <a:pPr>
              <a:lnSpc>
                <a:spcPct val="100000"/>
              </a:lnSpc>
              <a:spcBef>
                <a:spcPts val="799"/>
              </a:spcBef>
            </a:pPr>
            <a:r>
              <a:rPr b="0" lang="en-US" sz="1600" spc="-1" strike="noStrike">
                <a:solidFill>
                  <a:schemeClr val="dk1"/>
                </a:solidFill>
                <a:latin typeface="Tahoma"/>
              </a:rPr>
              <a:t>(Tung, Nghien cuu)</a:t>
            </a:r>
            <a:endParaRPr b="0" lang="vi-VN" sz="1600" spc="-1" strike="noStrike">
              <a:solidFill>
                <a:srgbClr val="000000"/>
              </a:solidFill>
              <a:latin typeface="Arial"/>
            </a:endParaRPr>
          </a:p>
          <a:p>
            <a:pPr>
              <a:lnSpc>
                <a:spcPct val="100000"/>
              </a:lnSpc>
              <a:spcBef>
                <a:spcPts val="799"/>
              </a:spcBef>
            </a:pPr>
            <a:r>
              <a:rPr b="0" lang="en-US" sz="1600" spc="-1" strike="noStrike">
                <a:solidFill>
                  <a:schemeClr val="dk1"/>
                </a:solidFill>
                <a:latin typeface="Tahoma"/>
              </a:rPr>
              <a:t>(Hang, Dieu hanh)</a:t>
            </a:r>
            <a:endParaRPr b="0" lang="vi-VN" sz="1600" spc="-1" strike="noStrike">
              <a:solidFill>
                <a:srgbClr val="000000"/>
              </a:solidFill>
              <a:latin typeface="Arial"/>
            </a:endParaRPr>
          </a:p>
          <a:p>
            <a:pPr>
              <a:lnSpc>
                <a:spcPct val="100000"/>
              </a:lnSpc>
              <a:spcBef>
                <a:spcPts val="799"/>
              </a:spcBef>
            </a:pPr>
            <a:r>
              <a:rPr b="0" lang="en-US" sz="1600" spc="-1" strike="noStrike">
                <a:solidFill>
                  <a:schemeClr val="dk1"/>
                </a:solidFill>
                <a:latin typeface="Tahoma"/>
              </a:rPr>
              <a:t>(Vinh, Quan ly)</a:t>
            </a:r>
            <a:endParaRPr b="0" lang="vi-VN" sz="1600" spc="-1" strike="noStrike">
              <a:solidFill>
                <a:srgbClr val="000000"/>
              </a:solidFill>
              <a:latin typeface="Arial"/>
            </a:endParaRPr>
          </a:p>
        </p:txBody>
      </p:sp>
      <p:grpSp>
        <p:nvGrpSpPr>
          <p:cNvPr id="429" name="Group 25"/>
          <p:cNvGrpSpPr/>
          <p:nvPr/>
        </p:nvGrpSpPr>
        <p:grpSpPr>
          <a:xfrm>
            <a:off x="1143000" y="3581280"/>
            <a:ext cx="6019200" cy="685080"/>
            <a:chOff x="1143000" y="3581280"/>
            <a:chExt cx="6019200" cy="685080"/>
          </a:xfrm>
        </p:grpSpPr>
        <p:grpSp>
          <p:nvGrpSpPr>
            <p:cNvPr id="430" name="Group 17"/>
            <p:cNvGrpSpPr/>
            <p:nvPr/>
          </p:nvGrpSpPr>
          <p:grpSpPr>
            <a:xfrm>
              <a:off x="2743200" y="3581280"/>
              <a:ext cx="2755800" cy="685080"/>
              <a:chOff x="2743200" y="3581280"/>
              <a:chExt cx="2755800" cy="685080"/>
            </a:xfrm>
          </p:grpSpPr>
          <p:grpSp>
            <p:nvGrpSpPr>
              <p:cNvPr id="431" name="Group 18"/>
              <p:cNvGrpSpPr/>
              <p:nvPr/>
            </p:nvGrpSpPr>
            <p:grpSpPr>
              <a:xfrm>
                <a:off x="3289320" y="3581280"/>
                <a:ext cx="1675800" cy="685080"/>
                <a:chOff x="3289320" y="3581280"/>
                <a:chExt cx="1675800" cy="685080"/>
              </a:xfrm>
            </p:grpSpPr>
            <p:sp>
              <p:nvSpPr>
                <p:cNvPr id="432" name="AutoShape 19"/>
                <p:cNvSpPr/>
                <p:nvPr/>
              </p:nvSpPr>
              <p:spPr>
                <a:xfrm>
                  <a:off x="3289320" y="3581280"/>
                  <a:ext cx="1675800" cy="68508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33" name="Text Box 20"/>
                <p:cNvSpPr/>
                <p:nvPr/>
              </p:nvSpPr>
              <p:spPr>
                <a:xfrm>
                  <a:off x="3441600" y="3733920"/>
                  <a:ext cx="1447200" cy="3333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Lam_viec</a:t>
                  </a:r>
                  <a:endParaRPr b="0" lang="vi-VN" sz="1600" spc="-1" strike="noStrike">
                    <a:solidFill>
                      <a:srgbClr val="000000"/>
                    </a:solidFill>
                    <a:latin typeface="Arial"/>
                  </a:endParaRPr>
                </a:p>
              </p:txBody>
            </p:sp>
          </p:grpSp>
          <p:sp>
            <p:nvSpPr>
              <p:cNvPr id="434" name="Line 21"/>
              <p:cNvSpPr/>
              <p:nvPr/>
            </p:nvSpPr>
            <p:spPr>
              <a:xfrm>
                <a:off x="2743200" y="3936960"/>
                <a:ext cx="5331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35" name="Line 22"/>
              <p:cNvSpPr/>
              <p:nvPr/>
            </p:nvSpPr>
            <p:spPr>
              <a:xfrm>
                <a:off x="4965480" y="3936960"/>
                <a:ext cx="53352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sp>
          <p:nvSpPr>
            <p:cNvPr id="436" name="Text Box 23"/>
            <p:cNvSpPr/>
            <p:nvPr/>
          </p:nvSpPr>
          <p:spPr>
            <a:xfrm>
              <a:off x="1143000" y="373536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437" name="Text Box 24"/>
            <p:cNvSpPr/>
            <p:nvPr/>
          </p:nvSpPr>
          <p:spPr>
            <a:xfrm>
              <a:off x="5562720" y="373536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PHONGBAN</a:t>
              </a:r>
              <a:endParaRPr b="0" lang="vi-VN" sz="1800" spc="-1" strike="noStrike">
                <a:solidFill>
                  <a:srgbClr val="000000"/>
                </a:solidFill>
                <a:latin typeface="Arial"/>
              </a:endParaRPr>
            </a:p>
          </p:txBody>
        </p:sp>
      </p:grpSp>
      <p:sp>
        <p:nvSpPr>
          <p:cNvPr id="438" name="PlaceHolder 4"/>
          <p:cNvSpPr>
            <a:spLocks noGrp="1"/>
          </p:cNvSpPr>
          <p:nvPr>
            <p:ph type="dt" idx="101"/>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AAE226D4-D048-4ED5-9260-8256FCC47E72}"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439" name="PlaceHolder 5"/>
          <p:cNvSpPr>
            <a:spLocks noGrp="1"/>
          </p:cNvSpPr>
          <p:nvPr>
            <p:ph type="ftr" idx="10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440" name="TextBox 30"/>
          <p:cNvSpPr/>
          <p:nvPr/>
        </p:nvSpPr>
        <p:spPr>
          <a:xfrm>
            <a:off x="3353400" y="-192600"/>
            <a:ext cx="6019200" cy="1918440"/>
          </a:xfrm>
          <a:prstGeom prst="rect">
            <a:avLst/>
          </a:prstGeom>
          <a:solidFill>
            <a:srgbClr val="009d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2"/>
          </a:fillRef>
          <a:effectRef idx="1">
            <a:schemeClr val="accent2"/>
          </a:effectRef>
          <a:fontRef idx="minor"/>
        </p:style>
        <p:txBody>
          <a:bodyPr lIns="90000" rIns="90000" tIns="45000" bIns="45000" anchor="t">
            <a:spAutoFit/>
          </a:bodyPr>
          <a:p>
            <a:pPr algn="ctr">
              <a:lnSpc>
                <a:spcPct val="100000"/>
              </a:lnSpc>
              <a:spcBef>
                <a:spcPts val="1199"/>
              </a:spcBef>
            </a:pPr>
            <a:r>
              <a:rPr b="1" lang="en-US" sz="2400" spc="-1" strike="noStrike">
                <a:solidFill>
                  <a:srgbClr val="ffff00"/>
                </a:solidFill>
                <a:latin typeface="Constantia"/>
              </a:rPr>
              <a:t>Ràng buộc là những quy định để giới hạn số các tổ hợp có thể  của các thực thể tham gia, phản ánh đúng điều kiện của các thực thể  trong thế giới thực</a:t>
            </a:r>
            <a:endParaRPr b="0" lang="vi-VN" sz="2400" spc="-1" strike="noStrike">
              <a:solidFill>
                <a:srgbClr val="ffffff"/>
              </a:solidFill>
              <a:latin typeface="Arial"/>
            </a:endParaRPr>
          </a:p>
        </p:txBody>
      </p:sp>
      <p:pic>
        <p:nvPicPr>
          <p:cNvPr id="441"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209" dur="indefinite" restart="never" nodeType="tmRoot">
          <p:childTnLst>
            <p:seq>
              <p:cTn id="210" dur="indefinite" nodeType="mainSeq">
                <p:childTnLst>
                  <p:par>
                    <p:cTn id="211" fill="hold">
                      <p:stCondLst>
                        <p:cond delay="indefinite"/>
                      </p:stCondLst>
                      <p:childTnLst>
                        <p:par>
                          <p:cTn id="212" fill="hold">
                            <p:stCondLst>
                              <p:cond delay="0"/>
                            </p:stCondLst>
                            <p:childTnLst>
                              <p:par>
                                <p:cTn id="213" nodeType="clickEffect" fill="hold" presetClass="entr" presetID="4" presetSubtype="16">
                                  <p:stCondLst>
                                    <p:cond delay="0"/>
                                  </p:stCondLst>
                                  <p:childTnLst>
                                    <p:set>
                                      <p:cBhvr>
                                        <p:cTn id="214" dur="1" fill="hold">
                                          <p:stCondLst>
                                            <p:cond delay="0"/>
                                          </p:stCondLst>
                                        </p:cTn>
                                        <p:tgtEl>
                                          <p:spTgt spid="440"/>
                                        </p:tgtEl>
                                        <p:attrNameLst>
                                          <p:attrName>style.visibility</p:attrName>
                                        </p:attrNameLst>
                                      </p:cBhvr>
                                      <p:to>
                                        <p:strVal val="visible"/>
                                      </p:to>
                                    </p:set>
                                    <p:animEffect filter="box(in)" transition="in">
                                      <p:cBhvr additive="repl">
                                        <p:cTn id="215" dur="5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p:nvPr>
        </p:nvSpPr>
        <p:spPr>
          <a:xfrm>
            <a:off x="380880" y="1295280"/>
            <a:ext cx="8228880" cy="5104800"/>
          </a:xfrm>
          <a:prstGeom prst="rect">
            <a:avLst/>
          </a:prstGeom>
          <a:noFill/>
          <a:ln w="9360">
            <a:noFill/>
          </a:ln>
        </p:spPr>
        <p:txBody>
          <a:bodyPr numCol="1" spcCol="0" lIns="91440" rIns="91440" tIns="45720" bIns="45720" anchor="t">
            <a:noAutofit/>
          </a:bodyPr>
          <a:p>
            <a:pPr marL="457200" indent="-457200">
              <a:lnSpc>
                <a:spcPct val="90000"/>
              </a:lnSpc>
              <a:spcBef>
                <a:spcPts val="400"/>
              </a:spcBef>
              <a:buClr>
                <a:srgbClr val="0bd0d9"/>
              </a:buClr>
              <a:buSzPct val="95000"/>
              <a:buFont typeface="Calibri"/>
              <a:buAutoNum type="arabicPeriod"/>
            </a:pPr>
            <a:r>
              <a:rPr b="1" lang="en-US" sz="2000" spc="-1" strike="noStrike">
                <a:solidFill>
                  <a:schemeClr val="dk1"/>
                </a:solidFill>
                <a:latin typeface="Constantia"/>
              </a:rPr>
              <a:t>Ràng  buộc tỉ số</a:t>
            </a:r>
            <a:r>
              <a:rPr b="0" lang="en-US" sz="2000" spc="-1" strike="noStrike">
                <a:solidFill>
                  <a:schemeClr val="dk1"/>
                </a:solidFill>
                <a:latin typeface="Constantia"/>
              </a:rPr>
              <a:t>: Xét mối quan hệ nhị phân R (cấp 2) giữa 2 tập thực thể A và B</a:t>
            </a:r>
            <a:endParaRPr b="0" lang="vi-VN" sz="2000" spc="-1" strike="noStrike">
              <a:solidFill>
                <a:srgbClr val="000000"/>
              </a:solidFill>
              <a:latin typeface="Arial"/>
            </a:endParaRPr>
          </a:p>
          <a:p>
            <a:pPr marL="457200" indent="-457200">
              <a:lnSpc>
                <a:spcPct val="90000"/>
              </a:lnSpc>
              <a:spcBef>
                <a:spcPts val="400"/>
              </a:spcBef>
              <a:buNone/>
              <a:tabLst>
                <a:tab algn="l" pos="0"/>
              </a:tabLst>
            </a:pPr>
            <a:endParaRPr b="0" lang="vi-VN" sz="2000" spc="-1" strike="noStrike">
              <a:solidFill>
                <a:srgbClr val="000000"/>
              </a:solidFill>
              <a:latin typeface="Arial"/>
            </a:endParaRPr>
          </a:p>
          <a:p>
            <a:pPr lvl="1" marL="639720" indent="-246240">
              <a:lnSpc>
                <a:spcPct val="90000"/>
              </a:lnSpc>
              <a:spcBef>
                <a:spcPts val="380"/>
              </a:spcBef>
              <a:buClr>
                <a:srgbClr val="0f6fc6"/>
              </a:buClr>
              <a:buSzPct val="85000"/>
              <a:buFont typeface="Wingdings 2" charset="2"/>
              <a:buChar char=""/>
              <a:tabLst>
                <a:tab algn="l" pos="0"/>
              </a:tabLst>
            </a:pPr>
            <a:r>
              <a:rPr b="0" lang="en-US" sz="1900" spc="-1" strike="noStrike">
                <a:solidFill>
                  <a:schemeClr val="dk1"/>
                </a:solidFill>
                <a:latin typeface="Constantia"/>
              </a:rPr>
              <a:t>Một-Nhiều (1:n)</a:t>
            </a:r>
            <a:endParaRPr b="0" lang="vi-VN" sz="1900" spc="-1" strike="noStrike">
              <a:solidFill>
                <a:srgbClr val="000000"/>
              </a:solidFill>
              <a:latin typeface="Arial"/>
            </a:endParaRPr>
          </a:p>
          <a:p>
            <a:pPr marL="914400" indent="-246240">
              <a:lnSpc>
                <a:spcPct val="90000"/>
              </a:lnSpc>
              <a:spcBef>
                <a:spcPts val="320"/>
              </a:spcBef>
              <a:buNone/>
              <a:tabLst>
                <a:tab algn="l" pos="0"/>
              </a:tabLst>
            </a:pPr>
            <a:endParaRPr b="0" lang="vi-VN" sz="1600" spc="-1" strike="noStrike">
              <a:solidFill>
                <a:srgbClr val="000000"/>
              </a:solidFill>
              <a:latin typeface="Arial"/>
            </a:endParaRPr>
          </a:p>
          <a:p>
            <a:pPr lvl="1" marL="639720" indent="-246240">
              <a:lnSpc>
                <a:spcPct val="90000"/>
              </a:lnSpc>
              <a:spcBef>
                <a:spcPts val="380"/>
              </a:spcBef>
              <a:buClr>
                <a:srgbClr val="0f6fc6"/>
              </a:buClr>
              <a:buSzPct val="85000"/>
              <a:buFont typeface="Wingdings 2" charset="2"/>
              <a:buChar char=""/>
              <a:tabLst>
                <a:tab algn="l" pos="0"/>
              </a:tabLst>
            </a:pPr>
            <a:r>
              <a:rPr b="0" lang="en-US" sz="1900" spc="-1" strike="noStrike">
                <a:solidFill>
                  <a:schemeClr val="dk1"/>
                </a:solidFill>
                <a:latin typeface="Constantia"/>
              </a:rPr>
              <a:t>Một-Một (1:1)</a:t>
            </a:r>
            <a:endParaRPr b="0" lang="vi-VN" sz="1900" spc="-1" strike="noStrike">
              <a:solidFill>
                <a:srgbClr val="000000"/>
              </a:solidFill>
              <a:latin typeface="Arial"/>
            </a:endParaRPr>
          </a:p>
          <a:p>
            <a:pPr marL="914400" indent="-246240">
              <a:lnSpc>
                <a:spcPct val="90000"/>
              </a:lnSpc>
              <a:spcBef>
                <a:spcPts val="320"/>
              </a:spcBef>
              <a:buNone/>
              <a:tabLst>
                <a:tab algn="l" pos="0"/>
              </a:tabLst>
            </a:pPr>
            <a:endParaRPr b="0" lang="vi-VN" sz="1600" spc="-1" strike="noStrike">
              <a:solidFill>
                <a:srgbClr val="000000"/>
              </a:solidFill>
              <a:latin typeface="Arial"/>
            </a:endParaRPr>
          </a:p>
          <a:p>
            <a:pPr lvl="1" marL="639720" indent="-246240">
              <a:lnSpc>
                <a:spcPct val="90000"/>
              </a:lnSpc>
              <a:spcBef>
                <a:spcPts val="380"/>
              </a:spcBef>
              <a:buClr>
                <a:srgbClr val="0f6fc6"/>
              </a:buClr>
              <a:buSzPct val="85000"/>
              <a:buFont typeface="Wingdings 2" charset="2"/>
              <a:buChar char=""/>
              <a:tabLst>
                <a:tab algn="l" pos="0"/>
              </a:tabLst>
            </a:pPr>
            <a:r>
              <a:rPr b="0" lang="en-US" sz="1900" spc="-1" strike="noStrike">
                <a:solidFill>
                  <a:schemeClr val="dk1"/>
                </a:solidFill>
                <a:latin typeface="Constantia"/>
              </a:rPr>
              <a:t>Nhiều-Một (n:1)</a:t>
            </a:r>
            <a:endParaRPr b="0" lang="vi-VN" sz="1900" spc="-1" strike="noStrike">
              <a:solidFill>
                <a:srgbClr val="000000"/>
              </a:solidFill>
              <a:latin typeface="Arial"/>
            </a:endParaRPr>
          </a:p>
          <a:p>
            <a:pPr marL="914400" indent="-246240">
              <a:lnSpc>
                <a:spcPct val="90000"/>
              </a:lnSpc>
              <a:spcBef>
                <a:spcPts val="320"/>
              </a:spcBef>
              <a:buNone/>
              <a:tabLst>
                <a:tab algn="l" pos="0"/>
              </a:tabLst>
            </a:pPr>
            <a:endParaRPr b="0" lang="vi-VN" sz="1600" spc="-1" strike="noStrike">
              <a:solidFill>
                <a:srgbClr val="000000"/>
              </a:solidFill>
              <a:latin typeface="Arial"/>
            </a:endParaRPr>
          </a:p>
          <a:p>
            <a:pPr lvl="1" marL="639720" indent="-246240">
              <a:lnSpc>
                <a:spcPct val="90000"/>
              </a:lnSpc>
              <a:spcBef>
                <a:spcPts val="380"/>
              </a:spcBef>
              <a:buClr>
                <a:srgbClr val="0f6fc6"/>
              </a:buClr>
              <a:buSzPct val="85000"/>
              <a:buFont typeface="Wingdings 2" charset="2"/>
              <a:buChar char=""/>
              <a:tabLst>
                <a:tab algn="l" pos="0"/>
              </a:tabLst>
            </a:pPr>
            <a:r>
              <a:rPr b="0" lang="en-US" sz="1900" spc="-1" strike="noStrike">
                <a:solidFill>
                  <a:schemeClr val="dk1"/>
                </a:solidFill>
                <a:latin typeface="Constantia"/>
              </a:rPr>
              <a:t>Nhiều-Nhiều</a:t>
            </a:r>
            <a:endParaRPr b="0" lang="vi-VN" sz="1900" spc="-1" strike="noStrike">
              <a:solidFill>
                <a:srgbClr val="000000"/>
              </a:solidFill>
              <a:latin typeface="Arial"/>
            </a:endParaRPr>
          </a:p>
          <a:p>
            <a:pPr marL="639720" indent="-246240">
              <a:lnSpc>
                <a:spcPct val="90000"/>
              </a:lnSpc>
              <a:spcBef>
                <a:spcPts val="380"/>
              </a:spcBef>
              <a:buNone/>
              <a:tabLst>
                <a:tab algn="l" pos="0"/>
              </a:tabLst>
            </a:pPr>
            <a:r>
              <a:rPr b="0" lang="en-US" sz="1900" spc="-1" strike="noStrike">
                <a:solidFill>
                  <a:schemeClr val="dk1"/>
                </a:solidFill>
                <a:latin typeface="Constantia"/>
              </a:rPr>
              <a:t>      </a:t>
            </a:r>
            <a:r>
              <a:rPr b="0" lang="en-US" sz="1900" spc="-1" strike="noStrike">
                <a:solidFill>
                  <a:schemeClr val="dk1"/>
                </a:solidFill>
                <a:latin typeface="Constantia"/>
              </a:rPr>
              <a:t>(n:m) </a:t>
            </a:r>
            <a:endParaRPr b="0" lang="vi-VN" sz="1900" spc="-1" strike="noStrike">
              <a:solidFill>
                <a:srgbClr val="000000"/>
              </a:solidFill>
              <a:latin typeface="Arial"/>
            </a:endParaRPr>
          </a:p>
          <a:p>
            <a:pPr marL="639720" indent="0">
              <a:lnSpc>
                <a:spcPct val="90000"/>
              </a:lnSpc>
              <a:spcBef>
                <a:spcPts val="320"/>
              </a:spcBef>
              <a:buNone/>
              <a:tabLst>
                <a:tab algn="l" pos="0"/>
              </a:tabLst>
            </a:pPr>
            <a:endParaRPr b="0" lang="vi-VN" sz="1600" spc="-1" strike="noStrike">
              <a:solidFill>
                <a:srgbClr val="000000"/>
              </a:solidFill>
              <a:latin typeface="Arial"/>
            </a:endParaRPr>
          </a:p>
        </p:txBody>
      </p:sp>
      <p:sp>
        <p:nvSpPr>
          <p:cNvPr id="443" name="PlaceHolder 2"/>
          <p:cNvSpPr>
            <a:spLocks noGrp="1"/>
          </p:cNvSpPr>
          <p:nvPr>
            <p:ph type="sldNum" idx="10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36EB5227-6A14-46C0-92F1-96809F033498}"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444" name="Group 55"/>
          <p:cNvGrpSpPr/>
          <p:nvPr/>
        </p:nvGrpSpPr>
        <p:grpSpPr>
          <a:xfrm>
            <a:off x="2895480" y="2666880"/>
            <a:ext cx="3047400" cy="520200"/>
            <a:chOff x="2895480" y="2666880"/>
            <a:chExt cx="3047400" cy="520200"/>
          </a:xfrm>
        </p:grpSpPr>
        <p:sp>
          <p:nvSpPr>
            <p:cNvPr id="445" name="Text Box 35"/>
            <p:cNvSpPr/>
            <p:nvPr/>
          </p:nvSpPr>
          <p:spPr>
            <a:xfrm>
              <a:off x="2895480" y="278136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A</a:t>
              </a:r>
              <a:endParaRPr b="0" lang="vi-VN" sz="1800" spc="-1" strike="noStrike">
                <a:solidFill>
                  <a:srgbClr val="000000"/>
                </a:solidFill>
                <a:latin typeface="Arial"/>
              </a:endParaRPr>
            </a:p>
          </p:txBody>
        </p:sp>
        <p:sp>
          <p:nvSpPr>
            <p:cNvPr id="446" name="Text Box 36"/>
            <p:cNvSpPr/>
            <p:nvPr/>
          </p:nvSpPr>
          <p:spPr>
            <a:xfrm>
              <a:off x="5410080" y="278136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B</a:t>
              </a:r>
              <a:endParaRPr b="0" lang="vi-VN" sz="1800" spc="-1" strike="noStrike">
                <a:solidFill>
                  <a:srgbClr val="000000"/>
                </a:solidFill>
                <a:latin typeface="Arial"/>
              </a:endParaRPr>
            </a:p>
          </p:txBody>
        </p:sp>
        <p:grpSp>
          <p:nvGrpSpPr>
            <p:cNvPr id="447" name="Group 37"/>
            <p:cNvGrpSpPr/>
            <p:nvPr/>
          </p:nvGrpSpPr>
          <p:grpSpPr>
            <a:xfrm>
              <a:off x="3809880" y="2768760"/>
              <a:ext cx="1218600" cy="418320"/>
              <a:chOff x="3809880" y="2768760"/>
              <a:chExt cx="1218600" cy="418320"/>
            </a:xfrm>
          </p:grpSpPr>
          <p:sp>
            <p:nvSpPr>
              <p:cNvPr id="448" name="AutoShape 38"/>
              <p:cNvSpPr/>
              <p:nvPr/>
            </p:nvSpPr>
            <p:spPr>
              <a:xfrm>
                <a:off x="3809880" y="276876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49" name="Text Box 39"/>
              <p:cNvSpPr/>
              <p:nvPr/>
            </p:nvSpPr>
            <p:spPr>
              <a:xfrm>
                <a:off x="3962520" y="281952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R</a:t>
                </a:r>
                <a:endParaRPr b="0" lang="vi-VN" sz="1400" spc="-1" strike="noStrike">
                  <a:solidFill>
                    <a:srgbClr val="000000"/>
                  </a:solidFill>
                  <a:latin typeface="Arial"/>
                </a:endParaRPr>
              </a:p>
            </p:txBody>
          </p:sp>
        </p:grpSp>
        <p:sp>
          <p:nvSpPr>
            <p:cNvPr id="450" name="Line 40"/>
            <p:cNvSpPr/>
            <p:nvPr/>
          </p:nvSpPr>
          <p:spPr>
            <a:xfrm>
              <a:off x="3429000" y="29718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51" name="Text Box 42"/>
            <p:cNvSpPr/>
            <p:nvPr/>
          </p:nvSpPr>
          <p:spPr>
            <a:xfrm>
              <a:off x="5029200" y="266688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a:t>
              </a:r>
              <a:endParaRPr b="0" lang="vi-VN" sz="1400" spc="-1" strike="noStrike">
                <a:solidFill>
                  <a:srgbClr val="000000"/>
                </a:solidFill>
                <a:latin typeface="Arial"/>
              </a:endParaRPr>
            </a:p>
          </p:txBody>
        </p:sp>
        <p:sp>
          <p:nvSpPr>
            <p:cNvPr id="452" name="Text Box 43"/>
            <p:cNvSpPr/>
            <p:nvPr/>
          </p:nvSpPr>
          <p:spPr>
            <a:xfrm>
              <a:off x="3429000" y="266688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a:t>
              </a:r>
              <a:endParaRPr b="0" lang="vi-VN" sz="1400" spc="-1" strike="noStrike">
                <a:solidFill>
                  <a:srgbClr val="000000"/>
                </a:solidFill>
                <a:latin typeface="Arial"/>
              </a:endParaRPr>
            </a:p>
          </p:txBody>
        </p:sp>
        <p:sp>
          <p:nvSpPr>
            <p:cNvPr id="453" name="Line 54"/>
            <p:cNvSpPr/>
            <p:nvPr/>
          </p:nvSpPr>
          <p:spPr>
            <a:xfrm>
              <a:off x="5029200" y="29718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454" name="Group 56"/>
          <p:cNvGrpSpPr/>
          <p:nvPr/>
        </p:nvGrpSpPr>
        <p:grpSpPr>
          <a:xfrm>
            <a:off x="2895480" y="3898800"/>
            <a:ext cx="3047400" cy="520200"/>
            <a:chOff x="2895480" y="3898800"/>
            <a:chExt cx="3047400" cy="520200"/>
          </a:xfrm>
        </p:grpSpPr>
        <p:sp>
          <p:nvSpPr>
            <p:cNvPr id="455" name="Text Box 57"/>
            <p:cNvSpPr/>
            <p:nvPr/>
          </p:nvSpPr>
          <p:spPr>
            <a:xfrm>
              <a:off x="2895480" y="401328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A</a:t>
              </a:r>
              <a:endParaRPr b="0" lang="vi-VN" sz="1800" spc="-1" strike="noStrike">
                <a:solidFill>
                  <a:srgbClr val="000000"/>
                </a:solidFill>
                <a:latin typeface="Arial"/>
              </a:endParaRPr>
            </a:p>
          </p:txBody>
        </p:sp>
        <p:sp>
          <p:nvSpPr>
            <p:cNvPr id="456" name="Text Box 58"/>
            <p:cNvSpPr/>
            <p:nvPr/>
          </p:nvSpPr>
          <p:spPr>
            <a:xfrm>
              <a:off x="5410080" y="401328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B</a:t>
              </a:r>
              <a:endParaRPr b="0" lang="vi-VN" sz="1800" spc="-1" strike="noStrike">
                <a:solidFill>
                  <a:srgbClr val="000000"/>
                </a:solidFill>
                <a:latin typeface="Arial"/>
              </a:endParaRPr>
            </a:p>
          </p:txBody>
        </p:sp>
        <p:grpSp>
          <p:nvGrpSpPr>
            <p:cNvPr id="457" name="Group 59"/>
            <p:cNvGrpSpPr/>
            <p:nvPr/>
          </p:nvGrpSpPr>
          <p:grpSpPr>
            <a:xfrm>
              <a:off x="3809880" y="4000680"/>
              <a:ext cx="1218600" cy="418320"/>
              <a:chOff x="3809880" y="4000680"/>
              <a:chExt cx="1218600" cy="418320"/>
            </a:xfrm>
          </p:grpSpPr>
          <p:sp>
            <p:nvSpPr>
              <p:cNvPr id="458" name="AutoShape 60"/>
              <p:cNvSpPr/>
              <p:nvPr/>
            </p:nvSpPr>
            <p:spPr>
              <a:xfrm>
                <a:off x="3809880" y="400068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59" name="Text Box 61"/>
              <p:cNvSpPr/>
              <p:nvPr/>
            </p:nvSpPr>
            <p:spPr>
              <a:xfrm>
                <a:off x="3962520" y="405144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R</a:t>
                </a:r>
                <a:endParaRPr b="0" lang="vi-VN" sz="1400" spc="-1" strike="noStrike">
                  <a:solidFill>
                    <a:srgbClr val="000000"/>
                  </a:solidFill>
                  <a:latin typeface="Arial"/>
                </a:endParaRPr>
              </a:p>
            </p:txBody>
          </p:sp>
        </p:grpSp>
        <p:sp>
          <p:nvSpPr>
            <p:cNvPr id="460" name="Line 62"/>
            <p:cNvSpPr/>
            <p:nvPr/>
          </p:nvSpPr>
          <p:spPr>
            <a:xfrm>
              <a:off x="3429000" y="420336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61" name="Text Box 63"/>
            <p:cNvSpPr/>
            <p:nvPr/>
          </p:nvSpPr>
          <p:spPr>
            <a:xfrm>
              <a:off x="5029200" y="389880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m</a:t>
              </a:r>
              <a:endParaRPr b="0" lang="vi-VN" sz="1400" spc="-1" strike="noStrike">
                <a:solidFill>
                  <a:srgbClr val="000000"/>
                </a:solidFill>
                <a:latin typeface="Arial"/>
              </a:endParaRPr>
            </a:p>
          </p:txBody>
        </p:sp>
        <p:sp>
          <p:nvSpPr>
            <p:cNvPr id="462" name="Text Box 64"/>
            <p:cNvSpPr/>
            <p:nvPr/>
          </p:nvSpPr>
          <p:spPr>
            <a:xfrm>
              <a:off x="3429000" y="389880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a:t>
              </a:r>
              <a:endParaRPr b="0" lang="vi-VN" sz="1400" spc="-1" strike="noStrike">
                <a:solidFill>
                  <a:srgbClr val="000000"/>
                </a:solidFill>
                <a:latin typeface="Arial"/>
              </a:endParaRPr>
            </a:p>
          </p:txBody>
        </p:sp>
        <p:sp>
          <p:nvSpPr>
            <p:cNvPr id="463" name="Line 65"/>
            <p:cNvSpPr/>
            <p:nvPr/>
          </p:nvSpPr>
          <p:spPr>
            <a:xfrm>
              <a:off x="5029200" y="420336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464" name="Group 66"/>
          <p:cNvGrpSpPr/>
          <p:nvPr/>
        </p:nvGrpSpPr>
        <p:grpSpPr>
          <a:xfrm>
            <a:off x="2895480" y="2057400"/>
            <a:ext cx="3047400" cy="519840"/>
            <a:chOff x="2895480" y="2057400"/>
            <a:chExt cx="3047400" cy="519840"/>
          </a:xfrm>
        </p:grpSpPr>
        <p:sp>
          <p:nvSpPr>
            <p:cNvPr id="465" name="Text Box 67"/>
            <p:cNvSpPr/>
            <p:nvPr/>
          </p:nvSpPr>
          <p:spPr>
            <a:xfrm>
              <a:off x="2895480" y="217188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A</a:t>
              </a:r>
              <a:endParaRPr b="0" lang="vi-VN" sz="1800" spc="-1" strike="noStrike">
                <a:solidFill>
                  <a:srgbClr val="000000"/>
                </a:solidFill>
                <a:latin typeface="Arial"/>
              </a:endParaRPr>
            </a:p>
          </p:txBody>
        </p:sp>
        <p:sp>
          <p:nvSpPr>
            <p:cNvPr id="466" name="Text Box 68"/>
            <p:cNvSpPr/>
            <p:nvPr/>
          </p:nvSpPr>
          <p:spPr>
            <a:xfrm>
              <a:off x="5410080" y="217188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B</a:t>
              </a:r>
              <a:endParaRPr b="0" lang="vi-VN" sz="1800" spc="-1" strike="noStrike">
                <a:solidFill>
                  <a:srgbClr val="000000"/>
                </a:solidFill>
                <a:latin typeface="Arial"/>
              </a:endParaRPr>
            </a:p>
          </p:txBody>
        </p:sp>
        <p:grpSp>
          <p:nvGrpSpPr>
            <p:cNvPr id="467" name="Group 69"/>
            <p:cNvGrpSpPr/>
            <p:nvPr/>
          </p:nvGrpSpPr>
          <p:grpSpPr>
            <a:xfrm>
              <a:off x="3809880" y="2158920"/>
              <a:ext cx="1218600" cy="418320"/>
              <a:chOff x="3809880" y="2158920"/>
              <a:chExt cx="1218600" cy="418320"/>
            </a:xfrm>
          </p:grpSpPr>
          <p:sp>
            <p:nvSpPr>
              <p:cNvPr id="468" name="AutoShape 70"/>
              <p:cNvSpPr/>
              <p:nvPr/>
            </p:nvSpPr>
            <p:spPr>
              <a:xfrm>
                <a:off x="3809880" y="215892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69" name="Text Box 71"/>
              <p:cNvSpPr/>
              <p:nvPr/>
            </p:nvSpPr>
            <p:spPr>
              <a:xfrm>
                <a:off x="3962520" y="220968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R</a:t>
                </a:r>
                <a:endParaRPr b="0" lang="vi-VN" sz="1400" spc="-1" strike="noStrike">
                  <a:solidFill>
                    <a:srgbClr val="000000"/>
                  </a:solidFill>
                  <a:latin typeface="Arial"/>
                </a:endParaRPr>
              </a:p>
            </p:txBody>
          </p:sp>
        </p:grpSp>
        <p:sp>
          <p:nvSpPr>
            <p:cNvPr id="470" name="Line 72"/>
            <p:cNvSpPr/>
            <p:nvPr/>
          </p:nvSpPr>
          <p:spPr>
            <a:xfrm>
              <a:off x="3429000" y="236196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71" name="Text Box 73"/>
            <p:cNvSpPr/>
            <p:nvPr/>
          </p:nvSpPr>
          <p:spPr>
            <a:xfrm>
              <a:off x="5029200" y="205740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a:t>
              </a:r>
              <a:endParaRPr b="0" lang="vi-VN" sz="1400" spc="-1" strike="noStrike">
                <a:solidFill>
                  <a:srgbClr val="000000"/>
                </a:solidFill>
                <a:latin typeface="Arial"/>
              </a:endParaRPr>
            </a:p>
          </p:txBody>
        </p:sp>
        <p:sp>
          <p:nvSpPr>
            <p:cNvPr id="472" name="Text Box 74"/>
            <p:cNvSpPr/>
            <p:nvPr/>
          </p:nvSpPr>
          <p:spPr>
            <a:xfrm>
              <a:off x="3429000" y="205740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a:t>
              </a:r>
              <a:endParaRPr b="0" lang="vi-VN" sz="1400" spc="-1" strike="noStrike">
                <a:solidFill>
                  <a:srgbClr val="000000"/>
                </a:solidFill>
                <a:latin typeface="Arial"/>
              </a:endParaRPr>
            </a:p>
          </p:txBody>
        </p:sp>
        <p:sp>
          <p:nvSpPr>
            <p:cNvPr id="473" name="Line 75"/>
            <p:cNvSpPr/>
            <p:nvPr/>
          </p:nvSpPr>
          <p:spPr>
            <a:xfrm>
              <a:off x="5029200" y="236196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474" name="Group 76"/>
          <p:cNvGrpSpPr/>
          <p:nvPr/>
        </p:nvGrpSpPr>
        <p:grpSpPr>
          <a:xfrm>
            <a:off x="2895480" y="3289320"/>
            <a:ext cx="3047400" cy="519840"/>
            <a:chOff x="2895480" y="3289320"/>
            <a:chExt cx="3047400" cy="519840"/>
          </a:xfrm>
        </p:grpSpPr>
        <p:sp>
          <p:nvSpPr>
            <p:cNvPr id="475" name="Text Box 77"/>
            <p:cNvSpPr/>
            <p:nvPr/>
          </p:nvSpPr>
          <p:spPr>
            <a:xfrm>
              <a:off x="2895480" y="340344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A</a:t>
              </a:r>
              <a:endParaRPr b="0" lang="vi-VN" sz="1800" spc="-1" strike="noStrike">
                <a:solidFill>
                  <a:srgbClr val="000000"/>
                </a:solidFill>
                <a:latin typeface="Arial"/>
              </a:endParaRPr>
            </a:p>
          </p:txBody>
        </p:sp>
        <p:sp>
          <p:nvSpPr>
            <p:cNvPr id="476" name="Text Box 78"/>
            <p:cNvSpPr/>
            <p:nvPr/>
          </p:nvSpPr>
          <p:spPr>
            <a:xfrm>
              <a:off x="5410080" y="340344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B</a:t>
              </a:r>
              <a:endParaRPr b="0" lang="vi-VN" sz="1800" spc="-1" strike="noStrike">
                <a:solidFill>
                  <a:srgbClr val="000000"/>
                </a:solidFill>
                <a:latin typeface="Arial"/>
              </a:endParaRPr>
            </a:p>
          </p:txBody>
        </p:sp>
        <p:grpSp>
          <p:nvGrpSpPr>
            <p:cNvPr id="477" name="Group 79"/>
            <p:cNvGrpSpPr/>
            <p:nvPr/>
          </p:nvGrpSpPr>
          <p:grpSpPr>
            <a:xfrm>
              <a:off x="3809880" y="3390840"/>
              <a:ext cx="1218600" cy="418320"/>
              <a:chOff x="3809880" y="3390840"/>
              <a:chExt cx="1218600" cy="418320"/>
            </a:xfrm>
          </p:grpSpPr>
          <p:sp>
            <p:nvSpPr>
              <p:cNvPr id="478" name="AutoShape 80"/>
              <p:cNvSpPr/>
              <p:nvPr/>
            </p:nvSpPr>
            <p:spPr>
              <a:xfrm>
                <a:off x="3809880" y="339084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79" name="Text Box 81"/>
              <p:cNvSpPr/>
              <p:nvPr/>
            </p:nvSpPr>
            <p:spPr>
              <a:xfrm>
                <a:off x="3962520" y="344160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R</a:t>
                </a:r>
                <a:endParaRPr b="0" lang="vi-VN" sz="1400" spc="-1" strike="noStrike">
                  <a:solidFill>
                    <a:srgbClr val="000000"/>
                  </a:solidFill>
                  <a:latin typeface="Arial"/>
                </a:endParaRPr>
              </a:p>
            </p:txBody>
          </p:sp>
        </p:grpSp>
        <p:sp>
          <p:nvSpPr>
            <p:cNvPr id="480" name="Line 82"/>
            <p:cNvSpPr/>
            <p:nvPr/>
          </p:nvSpPr>
          <p:spPr>
            <a:xfrm>
              <a:off x="3429000" y="359388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81" name="Text Box 83"/>
            <p:cNvSpPr/>
            <p:nvPr/>
          </p:nvSpPr>
          <p:spPr>
            <a:xfrm>
              <a:off x="5029200" y="328932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a:t>
              </a:r>
              <a:endParaRPr b="0" lang="vi-VN" sz="1400" spc="-1" strike="noStrike">
                <a:solidFill>
                  <a:srgbClr val="000000"/>
                </a:solidFill>
                <a:latin typeface="Arial"/>
              </a:endParaRPr>
            </a:p>
          </p:txBody>
        </p:sp>
        <p:sp>
          <p:nvSpPr>
            <p:cNvPr id="482" name="Text Box 84"/>
            <p:cNvSpPr/>
            <p:nvPr/>
          </p:nvSpPr>
          <p:spPr>
            <a:xfrm>
              <a:off x="3429000" y="3289320"/>
              <a:ext cx="38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a:t>
              </a:r>
              <a:endParaRPr b="0" lang="vi-VN" sz="1400" spc="-1" strike="noStrike">
                <a:solidFill>
                  <a:srgbClr val="000000"/>
                </a:solidFill>
                <a:latin typeface="Arial"/>
              </a:endParaRPr>
            </a:p>
          </p:txBody>
        </p:sp>
        <p:sp>
          <p:nvSpPr>
            <p:cNvPr id="483" name="Line 85"/>
            <p:cNvSpPr/>
            <p:nvPr/>
          </p:nvSpPr>
          <p:spPr>
            <a:xfrm>
              <a:off x="5029200" y="359388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pic>
        <p:nvPicPr>
          <p:cNvPr id="484" name="Picture 86" descr=""/>
          <p:cNvPicPr/>
          <p:nvPr/>
        </p:nvPicPr>
        <p:blipFill>
          <a:blip r:embed="rId1"/>
          <a:stretch/>
        </p:blipFill>
        <p:spPr>
          <a:xfrm>
            <a:off x="2209680" y="4572000"/>
            <a:ext cx="4342680" cy="1910520"/>
          </a:xfrm>
          <a:prstGeom prst="rect">
            <a:avLst/>
          </a:prstGeom>
          <a:ln w="12700">
            <a:noFill/>
          </a:ln>
        </p:spPr>
      </p:pic>
      <p:sp>
        <p:nvSpPr>
          <p:cNvPr id="485" name="PlaceHolder 3"/>
          <p:cNvSpPr>
            <a:spLocks noGrp="1"/>
          </p:cNvSpPr>
          <p:nvPr>
            <p:ph type="dt" idx="104"/>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29C3AEF0-94E4-463A-A401-AF34E61FE77A}"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486" name="PlaceHolder 4"/>
          <p:cNvSpPr>
            <a:spLocks noGrp="1"/>
          </p:cNvSpPr>
          <p:nvPr>
            <p:ph type="ftr" idx="10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487" name="Picture 3" descr=""/>
          <p:cNvPicPr/>
          <p:nvPr/>
        </p:nvPicPr>
        <p:blipFill>
          <a:blip r:embed="rId2"/>
          <a:stretch/>
        </p:blipFill>
        <p:spPr>
          <a:xfrm>
            <a:off x="0" y="990720"/>
            <a:ext cx="9143280" cy="45000"/>
          </a:xfrm>
          <a:prstGeom prst="rect">
            <a:avLst/>
          </a:prstGeom>
          <a:ln w="0">
            <a:noFill/>
          </a:ln>
        </p:spPr>
      </p:pic>
      <p:sp>
        <p:nvSpPr>
          <p:cNvPr id="488"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p:nvPr>
        </p:nvSpPr>
        <p:spPr>
          <a:xfrm>
            <a:off x="380880" y="1295280"/>
            <a:ext cx="8228880" cy="5104800"/>
          </a:xfrm>
          <a:prstGeom prst="rect">
            <a:avLst/>
          </a:prstGeom>
          <a:noFill/>
          <a:ln w="9360">
            <a:noFill/>
          </a:ln>
        </p:spPr>
        <p:txBody>
          <a:bodyPr numCol="1" spcCol="0" lIns="91440" rIns="91440" tIns="45720" bIns="45720" anchor="t">
            <a:noAutofit/>
          </a:bodyPr>
          <a:p>
            <a:pPr marL="457200" indent="-457200">
              <a:lnSpc>
                <a:spcPct val="90000"/>
              </a:lnSpc>
              <a:spcBef>
                <a:spcPts val="400"/>
              </a:spcBef>
              <a:buClr>
                <a:srgbClr val="0bd0d9"/>
              </a:buClr>
              <a:buSzPct val="95000"/>
              <a:buFont typeface="Calibri"/>
              <a:buAutoNum type="arabicPeriod"/>
            </a:pPr>
            <a:r>
              <a:rPr b="1" lang="en-US" sz="2000" spc="-1" strike="noStrike">
                <a:solidFill>
                  <a:schemeClr val="dk1"/>
                </a:solidFill>
                <a:latin typeface="Constantia"/>
              </a:rPr>
              <a:t>Ràng  buộc tỉ số</a:t>
            </a:r>
            <a:r>
              <a:rPr b="0" lang="en-US" sz="2000" spc="-1" strike="noStrike">
                <a:solidFill>
                  <a:schemeClr val="dk1"/>
                </a:solidFill>
                <a:latin typeface="Constantia"/>
              </a:rPr>
              <a:t>: ví dụ</a:t>
            </a:r>
            <a:endParaRPr b="0" lang="vi-VN" sz="2000" spc="-1" strike="noStrike">
              <a:solidFill>
                <a:srgbClr val="000000"/>
              </a:solidFill>
              <a:latin typeface="Arial"/>
            </a:endParaRPr>
          </a:p>
        </p:txBody>
      </p:sp>
      <p:sp>
        <p:nvSpPr>
          <p:cNvPr id="490" name="PlaceHolder 2"/>
          <p:cNvSpPr>
            <a:spLocks noGrp="1"/>
          </p:cNvSpPr>
          <p:nvPr>
            <p:ph type="sldNum" idx="10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54122A29-289A-4A12-9B27-EBBC5B40F4F2}"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491" name="Group 55"/>
          <p:cNvGrpSpPr/>
          <p:nvPr/>
        </p:nvGrpSpPr>
        <p:grpSpPr>
          <a:xfrm>
            <a:off x="1447920" y="2640960"/>
            <a:ext cx="6775560" cy="732960"/>
            <a:chOff x="1447920" y="2640960"/>
            <a:chExt cx="6775560" cy="732960"/>
          </a:xfrm>
        </p:grpSpPr>
        <p:sp>
          <p:nvSpPr>
            <p:cNvPr id="492" name="Text Box 35"/>
            <p:cNvSpPr/>
            <p:nvPr/>
          </p:nvSpPr>
          <p:spPr>
            <a:xfrm>
              <a:off x="1447920" y="2792160"/>
              <a:ext cx="21916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493" name="Text Box 36"/>
            <p:cNvSpPr/>
            <p:nvPr/>
          </p:nvSpPr>
          <p:spPr>
            <a:xfrm>
              <a:off x="6284520" y="2792160"/>
              <a:ext cx="193896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DONVI</a:t>
              </a:r>
              <a:endParaRPr b="0" lang="vi-VN" sz="1800" spc="-1" strike="noStrike">
                <a:solidFill>
                  <a:srgbClr val="000000"/>
                </a:solidFill>
                <a:latin typeface="Arial"/>
              </a:endParaRPr>
            </a:p>
          </p:txBody>
        </p:sp>
        <p:grpSp>
          <p:nvGrpSpPr>
            <p:cNvPr id="494" name="Group 37"/>
            <p:cNvGrpSpPr/>
            <p:nvPr/>
          </p:nvGrpSpPr>
          <p:grpSpPr>
            <a:xfrm>
              <a:off x="4065480" y="2640960"/>
              <a:ext cx="1747440" cy="732960"/>
              <a:chOff x="4065480" y="2640960"/>
              <a:chExt cx="1747440" cy="732960"/>
            </a:xfrm>
          </p:grpSpPr>
          <p:sp>
            <p:nvSpPr>
              <p:cNvPr id="495" name="AutoShape 38"/>
              <p:cNvSpPr/>
              <p:nvPr/>
            </p:nvSpPr>
            <p:spPr>
              <a:xfrm>
                <a:off x="4065480" y="2640960"/>
                <a:ext cx="1747440" cy="73296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496" name="Text Box 39"/>
              <p:cNvSpPr/>
              <p:nvPr/>
            </p:nvSpPr>
            <p:spPr>
              <a:xfrm>
                <a:off x="4230720" y="2833920"/>
                <a:ext cx="140832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Lam_viec _tai</a:t>
                </a:r>
                <a:endParaRPr b="0" lang="vi-VN" sz="1400" spc="-1" strike="noStrike">
                  <a:solidFill>
                    <a:srgbClr val="000000"/>
                  </a:solidFill>
                  <a:latin typeface="Arial"/>
                </a:endParaRPr>
              </a:p>
            </p:txBody>
          </p:sp>
        </p:grpSp>
        <p:sp>
          <p:nvSpPr>
            <p:cNvPr id="497" name="Line 40"/>
            <p:cNvSpPr/>
            <p:nvPr/>
          </p:nvSpPr>
          <p:spPr>
            <a:xfrm>
              <a:off x="3640320" y="3012840"/>
              <a:ext cx="4215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498" name="Line 54"/>
            <p:cNvSpPr/>
            <p:nvPr/>
          </p:nvSpPr>
          <p:spPr>
            <a:xfrm>
              <a:off x="5834520" y="3012840"/>
              <a:ext cx="4215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499" name="Group 66"/>
          <p:cNvGrpSpPr/>
          <p:nvPr/>
        </p:nvGrpSpPr>
        <p:grpSpPr>
          <a:xfrm>
            <a:off x="1447560" y="1930320"/>
            <a:ext cx="6857640" cy="418320"/>
            <a:chOff x="1447560" y="1930320"/>
            <a:chExt cx="6857640" cy="418320"/>
          </a:xfrm>
        </p:grpSpPr>
        <p:sp>
          <p:nvSpPr>
            <p:cNvPr id="500" name="Text Box 67"/>
            <p:cNvSpPr/>
            <p:nvPr/>
          </p:nvSpPr>
          <p:spPr>
            <a:xfrm>
              <a:off x="1447560" y="1943280"/>
              <a:ext cx="21322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501" name="Text Box 68"/>
            <p:cNvSpPr/>
            <p:nvPr/>
          </p:nvSpPr>
          <p:spPr>
            <a:xfrm>
              <a:off x="6422040" y="1943280"/>
              <a:ext cx="188316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DONVI</a:t>
              </a:r>
              <a:endParaRPr b="0" lang="vi-VN" sz="1800" spc="-1" strike="noStrike">
                <a:solidFill>
                  <a:srgbClr val="000000"/>
                </a:solidFill>
                <a:latin typeface="Arial"/>
              </a:endParaRPr>
            </a:p>
          </p:txBody>
        </p:sp>
        <p:grpSp>
          <p:nvGrpSpPr>
            <p:cNvPr id="502" name="Group 69"/>
            <p:cNvGrpSpPr/>
            <p:nvPr/>
          </p:nvGrpSpPr>
          <p:grpSpPr>
            <a:xfrm>
              <a:off x="4379040" y="1930320"/>
              <a:ext cx="1506240" cy="418320"/>
              <a:chOff x="4379040" y="1930320"/>
              <a:chExt cx="1506240" cy="418320"/>
            </a:xfrm>
          </p:grpSpPr>
          <p:sp>
            <p:nvSpPr>
              <p:cNvPr id="503" name="AutoShape 70"/>
              <p:cNvSpPr/>
              <p:nvPr/>
            </p:nvSpPr>
            <p:spPr>
              <a:xfrm>
                <a:off x="4379040" y="1930320"/>
                <a:ext cx="150624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04" name="Text Box 71"/>
              <p:cNvSpPr/>
              <p:nvPr/>
            </p:nvSpPr>
            <p:spPr>
              <a:xfrm>
                <a:off x="4420440" y="1981080"/>
                <a:ext cx="14356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Quan_ly</a:t>
                </a:r>
                <a:endParaRPr b="0" lang="vi-VN" sz="1400" spc="-1" strike="noStrike">
                  <a:solidFill>
                    <a:srgbClr val="000000"/>
                  </a:solidFill>
                  <a:latin typeface="Arial"/>
                </a:endParaRPr>
              </a:p>
            </p:txBody>
          </p:sp>
        </p:grpSp>
        <p:sp>
          <p:nvSpPr>
            <p:cNvPr id="505" name="Line 75"/>
            <p:cNvSpPr/>
            <p:nvPr/>
          </p:nvSpPr>
          <p:spPr>
            <a:xfrm>
              <a:off x="5927400" y="2145960"/>
              <a:ext cx="47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506" name="Group 76"/>
          <p:cNvGrpSpPr/>
          <p:nvPr/>
        </p:nvGrpSpPr>
        <p:grpSpPr>
          <a:xfrm>
            <a:off x="1447920" y="3902040"/>
            <a:ext cx="6780960" cy="732600"/>
            <a:chOff x="1447920" y="3902040"/>
            <a:chExt cx="6780960" cy="732600"/>
          </a:xfrm>
        </p:grpSpPr>
        <p:sp>
          <p:nvSpPr>
            <p:cNvPr id="507" name="Text Box 77"/>
            <p:cNvSpPr/>
            <p:nvPr/>
          </p:nvSpPr>
          <p:spPr>
            <a:xfrm>
              <a:off x="1447920" y="4068720"/>
              <a:ext cx="21330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508" name="Text Box 78"/>
            <p:cNvSpPr/>
            <p:nvPr/>
          </p:nvSpPr>
          <p:spPr>
            <a:xfrm>
              <a:off x="6248520" y="4076640"/>
              <a:ext cx="198036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DUAN</a:t>
              </a:r>
              <a:endParaRPr b="0" lang="vi-VN" sz="1800" spc="-1" strike="noStrike">
                <a:solidFill>
                  <a:srgbClr val="000000"/>
                </a:solidFill>
                <a:latin typeface="Arial"/>
              </a:endParaRPr>
            </a:p>
          </p:txBody>
        </p:sp>
        <p:grpSp>
          <p:nvGrpSpPr>
            <p:cNvPr id="509" name="Group 79"/>
            <p:cNvGrpSpPr/>
            <p:nvPr/>
          </p:nvGrpSpPr>
          <p:grpSpPr>
            <a:xfrm>
              <a:off x="4119480" y="3902040"/>
              <a:ext cx="1599480" cy="732600"/>
              <a:chOff x="4119480" y="3902040"/>
              <a:chExt cx="1599480" cy="732600"/>
            </a:xfrm>
          </p:grpSpPr>
          <p:sp>
            <p:nvSpPr>
              <p:cNvPr id="510" name="AutoShape 80"/>
              <p:cNvSpPr/>
              <p:nvPr/>
            </p:nvSpPr>
            <p:spPr>
              <a:xfrm>
                <a:off x="4119480" y="3902040"/>
                <a:ext cx="1599480" cy="73260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11" name="Text Box 81"/>
              <p:cNvSpPr/>
              <p:nvPr/>
            </p:nvSpPr>
            <p:spPr>
              <a:xfrm>
                <a:off x="4267080" y="4111560"/>
                <a:ext cx="13708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Tham_gia</a:t>
                </a:r>
                <a:endParaRPr b="0" lang="vi-VN" sz="1400" spc="-1" strike="noStrike">
                  <a:solidFill>
                    <a:srgbClr val="000000"/>
                  </a:solidFill>
                  <a:latin typeface="Arial"/>
                </a:endParaRPr>
              </a:p>
            </p:txBody>
          </p:sp>
        </p:grpSp>
      </p:grpSp>
      <p:sp>
        <p:nvSpPr>
          <p:cNvPr id="512" name="PlaceHolder 3"/>
          <p:cNvSpPr>
            <a:spLocks noGrp="1"/>
          </p:cNvSpPr>
          <p:nvPr>
            <p:ph type="dt" idx="107"/>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47528041-FDD5-4E11-92E6-F0348A71ACB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513" name="PlaceHolder 4"/>
          <p:cNvSpPr>
            <a:spLocks noGrp="1"/>
          </p:cNvSpPr>
          <p:nvPr>
            <p:ph type="ftr" idx="10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514" name="Picture 3" descr=""/>
          <p:cNvPicPr/>
          <p:nvPr/>
        </p:nvPicPr>
        <p:blipFill>
          <a:blip r:embed="rId1"/>
          <a:stretch/>
        </p:blipFill>
        <p:spPr>
          <a:xfrm>
            <a:off x="0" y="990720"/>
            <a:ext cx="9143280" cy="75600"/>
          </a:xfrm>
          <a:prstGeom prst="rect">
            <a:avLst/>
          </a:prstGeom>
          <a:ln w="0">
            <a:noFill/>
          </a:ln>
        </p:spPr>
      </p:pic>
      <p:cxnSp>
        <p:nvCxnSpPr>
          <p:cNvPr id="515" name="Straight Connector 52"/>
          <p:cNvCxnSpPr>
            <a:stCxn id="500" idx="3"/>
          </p:cNvCxnSpPr>
          <p:nvPr/>
        </p:nvCxnSpPr>
        <p:spPr>
          <a:xfrm>
            <a:off x="3579840" y="2125080"/>
            <a:ext cx="916560" cy="9000"/>
          </a:xfrm>
          <a:prstGeom prst="straightConnector1">
            <a:avLst/>
          </a:prstGeom>
          <a:ln w="0">
            <a:solidFill>
              <a:srgbClr val="095294"/>
            </a:solidFill>
          </a:ln>
        </p:spPr>
      </p:cxnSp>
      <p:cxnSp>
        <p:nvCxnSpPr>
          <p:cNvPr id="516" name="Straight Connector 55"/>
          <p:cNvCxnSpPr>
            <a:stCxn id="507" idx="3"/>
            <a:endCxn id="510" idx="1"/>
          </p:cNvCxnSpPr>
          <p:nvPr/>
        </p:nvCxnSpPr>
        <p:spPr>
          <a:xfrm>
            <a:off x="3580920" y="4250520"/>
            <a:ext cx="538920" cy="18000"/>
          </a:xfrm>
          <a:prstGeom prst="straightConnector1">
            <a:avLst/>
          </a:prstGeom>
          <a:ln w="0">
            <a:solidFill>
              <a:srgbClr val="095294"/>
            </a:solidFill>
          </a:ln>
        </p:spPr>
      </p:cxnSp>
      <p:cxnSp>
        <p:nvCxnSpPr>
          <p:cNvPr id="517" name="Straight Connector 57"/>
          <p:cNvCxnSpPr>
            <a:stCxn id="510" idx="3"/>
            <a:endCxn id="508" idx="1"/>
          </p:cNvCxnSpPr>
          <p:nvPr/>
        </p:nvCxnSpPr>
        <p:spPr>
          <a:xfrm flipV="1">
            <a:off x="5718960" y="4258440"/>
            <a:ext cx="529920" cy="10080"/>
          </a:xfrm>
          <a:prstGeom prst="straightConnector1">
            <a:avLst/>
          </a:prstGeom>
          <a:ln w="0">
            <a:solidFill>
              <a:srgbClr val="095294"/>
            </a:solidFill>
          </a:ln>
        </p:spPr>
      </p:cxnSp>
      <p:sp>
        <p:nvSpPr>
          <p:cNvPr id="518" name="Text Box 73"/>
          <p:cNvSpPr/>
          <p:nvPr/>
        </p:nvSpPr>
        <p:spPr>
          <a:xfrm>
            <a:off x="3719880" y="1805040"/>
            <a:ext cx="4701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a:t>
            </a:r>
            <a:endParaRPr b="0" lang="vi-VN" sz="1400" spc="-1" strike="noStrike">
              <a:solidFill>
                <a:srgbClr val="000000"/>
              </a:solidFill>
              <a:latin typeface="Arial"/>
            </a:endParaRPr>
          </a:p>
        </p:txBody>
      </p:sp>
      <p:sp>
        <p:nvSpPr>
          <p:cNvPr id="519" name="TextBox 60"/>
          <p:cNvSpPr/>
          <p:nvPr/>
        </p:nvSpPr>
        <p:spPr>
          <a:xfrm>
            <a:off x="6019920" y="1792440"/>
            <a:ext cx="3042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1</a:t>
            </a:r>
            <a:endParaRPr b="0" lang="vi-VN" sz="1200" spc="-1" strike="noStrike">
              <a:solidFill>
                <a:srgbClr val="000000"/>
              </a:solidFill>
              <a:latin typeface="Arial"/>
            </a:endParaRPr>
          </a:p>
        </p:txBody>
      </p:sp>
      <p:sp>
        <p:nvSpPr>
          <p:cNvPr id="520" name="TextBox 61"/>
          <p:cNvSpPr/>
          <p:nvPr/>
        </p:nvSpPr>
        <p:spPr>
          <a:xfrm>
            <a:off x="3809880" y="2652120"/>
            <a:ext cx="227880" cy="3639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a:t>
            </a:r>
            <a:endParaRPr b="0" lang="vi-VN" sz="1800" spc="-1" strike="noStrike">
              <a:solidFill>
                <a:srgbClr val="000000"/>
              </a:solidFill>
              <a:latin typeface="Arial"/>
            </a:endParaRPr>
          </a:p>
        </p:txBody>
      </p:sp>
      <p:sp>
        <p:nvSpPr>
          <p:cNvPr id="521" name="TextBox 62"/>
          <p:cNvSpPr/>
          <p:nvPr/>
        </p:nvSpPr>
        <p:spPr>
          <a:xfrm>
            <a:off x="5867280" y="2655360"/>
            <a:ext cx="3042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1</a:t>
            </a:r>
            <a:endParaRPr b="0" lang="vi-VN" sz="1200" spc="-1" strike="noStrike">
              <a:solidFill>
                <a:srgbClr val="000000"/>
              </a:solidFill>
              <a:latin typeface="Arial"/>
            </a:endParaRPr>
          </a:p>
        </p:txBody>
      </p:sp>
      <p:sp>
        <p:nvSpPr>
          <p:cNvPr id="522" name="TextBox 63"/>
          <p:cNvSpPr/>
          <p:nvPr/>
        </p:nvSpPr>
        <p:spPr>
          <a:xfrm>
            <a:off x="3809880" y="3886200"/>
            <a:ext cx="3042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n</a:t>
            </a:r>
            <a:endParaRPr b="0" lang="vi-VN" sz="1200" spc="-1" strike="noStrike">
              <a:solidFill>
                <a:srgbClr val="000000"/>
              </a:solidFill>
              <a:latin typeface="Arial"/>
            </a:endParaRPr>
          </a:p>
        </p:txBody>
      </p:sp>
      <p:sp>
        <p:nvSpPr>
          <p:cNvPr id="523" name="TextBox 64"/>
          <p:cNvSpPr/>
          <p:nvPr/>
        </p:nvSpPr>
        <p:spPr>
          <a:xfrm>
            <a:off x="5791320" y="3913920"/>
            <a:ext cx="3042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m</a:t>
            </a:r>
            <a:endParaRPr b="0" lang="vi-VN" sz="1200" spc="-1" strike="noStrike">
              <a:solidFill>
                <a:srgbClr val="000000"/>
              </a:solidFill>
              <a:latin typeface="Arial"/>
            </a:endParaRPr>
          </a:p>
        </p:txBody>
      </p:sp>
      <p:sp>
        <p:nvSpPr>
          <p:cNvPr id="524" name="TextBox 65"/>
          <p:cNvSpPr/>
          <p:nvPr/>
        </p:nvSpPr>
        <p:spPr>
          <a:xfrm>
            <a:off x="4267080" y="5257800"/>
            <a:ext cx="4114080" cy="1186920"/>
          </a:xfrm>
          <a:prstGeom prst="rect">
            <a:avLst/>
          </a:prstGeom>
          <a:solidFill>
            <a:srgbClr val="009d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2"/>
          </a:fillRef>
          <a:effectRef idx="1">
            <a:schemeClr val="accent2"/>
          </a:effectRef>
          <a:fontRef idx="minor"/>
        </p:style>
        <p:txBody>
          <a:bodyPr lIns="90000" rIns="90000" tIns="45000" bIns="45000" anchor="t">
            <a:spAutoFit/>
          </a:bodyPr>
          <a:p>
            <a:pPr algn="ctr">
              <a:lnSpc>
                <a:spcPct val="100000"/>
              </a:lnSpc>
              <a:spcBef>
                <a:spcPts val="601"/>
              </a:spcBef>
            </a:pPr>
            <a:r>
              <a:rPr b="1" lang="en-US" sz="1800" spc="-1" strike="noStrike">
                <a:solidFill>
                  <a:srgbClr val="ffff00"/>
                </a:solidFill>
                <a:latin typeface="Constantia"/>
              </a:rPr>
              <a:t>Ràng buộc tỉ số lực lượng phản ánh tỉ lệ giữa số các thực thể của  kiểu thực thể tham gia liên kết với nhau</a:t>
            </a:r>
            <a:endParaRPr b="0" lang="vi-VN" sz="1800" spc="-1" strike="noStrike">
              <a:solidFill>
                <a:srgbClr val="ffffff"/>
              </a:solidFill>
              <a:latin typeface="Arial"/>
            </a:endParaRPr>
          </a:p>
        </p:txBody>
      </p:sp>
      <p:sp>
        <p:nvSpPr>
          <p:cNvPr id="525"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6" dur="indefinite" restart="never" nodeType="tmRoot">
          <p:childTnLst>
            <p:seq>
              <p:cTn id="217" dur="indefinite" nodeType="mainSeq">
                <p:childTnLst>
                  <p:par>
                    <p:cTn id="218" fill="hold">
                      <p:stCondLst>
                        <p:cond delay="indefinite"/>
                      </p:stCondLst>
                      <p:childTnLst>
                        <p:par>
                          <p:cTn id="219" fill="hold">
                            <p:stCondLst>
                              <p:cond delay="0"/>
                            </p:stCondLst>
                            <p:childTnLst>
                              <p:par>
                                <p:cTn id="220" nodeType="clickEffect" fill="hold" presetClass="entr" presetID="4" presetSubtype="16">
                                  <p:stCondLst>
                                    <p:cond delay="0"/>
                                  </p:stCondLst>
                                  <p:childTnLst>
                                    <p:set>
                                      <p:cBhvr>
                                        <p:cTn id="221" dur="1" fill="hold">
                                          <p:stCondLst>
                                            <p:cond delay="0"/>
                                          </p:stCondLst>
                                        </p:cTn>
                                        <p:tgtEl>
                                          <p:spTgt spid="518"/>
                                        </p:tgtEl>
                                        <p:attrNameLst>
                                          <p:attrName>style.visibility</p:attrName>
                                        </p:attrNameLst>
                                      </p:cBhvr>
                                      <p:to>
                                        <p:strVal val="visible"/>
                                      </p:to>
                                    </p:set>
                                    <p:animEffect filter="box(in)" transition="in">
                                      <p:cBhvr additive="repl">
                                        <p:cTn id="222" dur="500"/>
                                        <p:tgtEl>
                                          <p:spTgt spid="518"/>
                                        </p:tgtEl>
                                      </p:cBhvr>
                                    </p:animEffec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4" presetSubtype="16">
                                  <p:stCondLst>
                                    <p:cond delay="0"/>
                                  </p:stCondLst>
                                  <p:childTnLst>
                                    <p:set>
                                      <p:cBhvr>
                                        <p:cTn id="226" dur="1" fill="hold">
                                          <p:stCondLst>
                                            <p:cond delay="0"/>
                                          </p:stCondLst>
                                        </p:cTn>
                                        <p:tgtEl>
                                          <p:spTgt spid="519"/>
                                        </p:tgtEl>
                                        <p:attrNameLst>
                                          <p:attrName>style.visibility</p:attrName>
                                        </p:attrNameLst>
                                      </p:cBhvr>
                                      <p:to>
                                        <p:strVal val="visible"/>
                                      </p:to>
                                    </p:set>
                                    <p:animEffect filter="box(in)" transition="in">
                                      <p:cBhvr additive="repl">
                                        <p:cTn id="227" dur="500"/>
                                        <p:tgtEl>
                                          <p:spTgt spid="519"/>
                                        </p:tgtEl>
                                      </p:cBhvr>
                                    </p:animEffect>
                                  </p:childTnLst>
                                </p:cTn>
                              </p:par>
                            </p:childTnLst>
                          </p:cTn>
                        </p:par>
                      </p:childTnLst>
                    </p:cTn>
                  </p:par>
                  <p:par>
                    <p:cTn id="228" fill="hold">
                      <p:stCondLst>
                        <p:cond delay="indefinite"/>
                      </p:stCondLst>
                      <p:childTnLst>
                        <p:par>
                          <p:cTn id="229" fill="hold">
                            <p:stCondLst>
                              <p:cond delay="0"/>
                            </p:stCondLst>
                            <p:childTnLst>
                              <p:par>
                                <p:cTn id="230" nodeType="clickEffect" fill="hold" presetClass="entr" presetID="4" presetSubtype="16">
                                  <p:stCondLst>
                                    <p:cond delay="0"/>
                                  </p:stCondLst>
                                  <p:childTnLst>
                                    <p:set>
                                      <p:cBhvr>
                                        <p:cTn id="231" dur="1" fill="hold">
                                          <p:stCondLst>
                                            <p:cond delay="0"/>
                                          </p:stCondLst>
                                        </p:cTn>
                                        <p:tgtEl>
                                          <p:spTgt spid="520"/>
                                        </p:tgtEl>
                                        <p:attrNameLst>
                                          <p:attrName>style.visibility</p:attrName>
                                        </p:attrNameLst>
                                      </p:cBhvr>
                                      <p:to>
                                        <p:strVal val="visible"/>
                                      </p:to>
                                    </p:set>
                                    <p:animEffect filter="box(in)" transition="in">
                                      <p:cBhvr additive="repl">
                                        <p:cTn id="232" dur="500"/>
                                        <p:tgtEl>
                                          <p:spTgt spid="520"/>
                                        </p:tgtEl>
                                      </p:cBhvr>
                                    </p:animEffec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4" presetSubtype="16">
                                  <p:stCondLst>
                                    <p:cond delay="0"/>
                                  </p:stCondLst>
                                  <p:childTnLst>
                                    <p:set>
                                      <p:cBhvr>
                                        <p:cTn id="236" dur="1" fill="hold">
                                          <p:stCondLst>
                                            <p:cond delay="0"/>
                                          </p:stCondLst>
                                        </p:cTn>
                                        <p:tgtEl>
                                          <p:spTgt spid="521"/>
                                        </p:tgtEl>
                                        <p:attrNameLst>
                                          <p:attrName>style.visibility</p:attrName>
                                        </p:attrNameLst>
                                      </p:cBhvr>
                                      <p:to>
                                        <p:strVal val="visible"/>
                                      </p:to>
                                    </p:set>
                                    <p:animEffect filter="box(in)" transition="in">
                                      <p:cBhvr additive="repl">
                                        <p:cTn id="237" dur="500"/>
                                        <p:tgtEl>
                                          <p:spTgt spid="521"/>
                                        </p:tgtEl>
                                      </p:cBhvr>
                                    </p:animEffect>
                                  </p:childTnLst>
                                </p:cTn>
                              </p:par>
                            </p:childTnLst>
                          </p:cTn>
                        </p:par>
                      </p:childTnLst>
                    </p:cTn>
                  </p:par>
                  <p:par>
                    <p:cTn id="238" fill="hold">
                      <p:stCondLst>
                        <p:cond delay="indefinite"/>
                      </p:stCondLst>
                      <p:childTnLst>
                        <p:par>
                          <p:cTn id="239" fill="hold">
                            <p:stCondLst>
                              <p:cond delay="0"/>
                            </p:stCondLst>
                            <p:childTnLst>
                              <p:par>
                                <p:cTn id="240" nodeType="clickEffect" fill="hold" presetClass="entr" presetID="4" presetSubtype="16">
                                  <p:stCondLst>
                                    <p:cond delay="0"/>
                                  </p:stCondLst>
                                  <p:childTnLst>
                                    <p:set>
                                      <p:cBhvr>
                                        <p:cTn id="241" dur="1" fill="hold">
                                          <p:stCondLst>
                                            <p:cond delay="0"/>
                                          </p:stCondLst>
                                        </p:cTn>
                                        <p:tgtEl>
                                          <p:spTgt spid="522"/>
                                        </p:tgtEl>
                                        <p:attrNameLst>
                                          <p:attrName>style.visibility</p:attrName>
                                        </p:attrNameLst>
                                      </p:cBhvr>
                                      <p:to>
                                        <p:strVal val="visible"/>
                                      </p:to>
                                    </p:set>
                                    <p:animEffect filter="box(in)" transition="in">
                                      <p:cBhvr additive="repl">
                                        <p:cTn id="242" dur="500"/>
                                        <p:tgtEl>
                                          <p:spTgt spid="522"/>
                                        </p:tgtEl>
                                      </p:cBhvr>
                                    </p:animEffec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4" presetSubtype="16">
                                  <p:stCondLst>
                                    <p:cond delay="0"/>
                                  </p:stCondLst>
                                  <p:childTnLst>
                                    <p:set>
                                      <p:cBhvr>
                                        <p:cTn id="246" dur="1" fill="hold">
                                          <p:stCondLst>
                                            <p:cond delay="0"/>
                                          </p:stCondLst>
                                        </p:cTn>
                                        <p:tgtEl>
                                          <p:spTgt spid="523"/>
                                        </p:tgtEl>
                                        <p:attrNameLst>
                                          <p:attrName>style.visibility</p:attrName>
                                        </p:attrNameLst>
                                      </p:cBhvr>
                                      <p:to>
                                        <p:strVal val="visible"/>
                                      </p:to>
                                    </p:set>
                                    <p:animEffect filter="box(in)" transition="in">
                                      <p:cBhvr additive="repl">
                                        <p:cTn id="247" dur="500"/>
                                        <p:tgtEl>
                                          <p:spTgt spid="523"/>
                                        </p:tgtEl>
                                      </p:cBhvr>
                                    </p:animEffect>
                                  </p:childTnLst>
                                </p:cTn>
                              </p:par>
                            </p:childTnLst>
                          </p:cTn>
                        </p:par>
                      </p:childTnLst>
                    </p:cTn>
                  </p:par>
                  <p:par>
                    <p:cTn id="248" fill="hold">
                      <p:stCondLst>
                        <p:cond delay="indefinite"/>
                      </p:stCondLst>
                      <p:childTnLst>
                        <p:par>
                          <p:cTn id="249" fill="hold">
                            <p:stCondLst>
                              <p:cond delay="0"/>
                            </p:stCondLst>
                            <p:childTnLst>
                              <p:par>
                                <p:cTn id="250" nodeType="clickEffect" fill="hold" presetClass="entr" presetID="4" presetSubtype="16">
                                  <p:stCondLst>
                                    <p:cond delay="0"/>
                                  </p:stCondLst>
                                  <p:childTnLst>
                                    <p:set>
                                      <p:cBhvr>
                                        <p:cTn id="251" dur="1" fill="hold">
                                          <p:stCondLst>
                                            <p:cond delay="0"/>
                                          </p:stCondLst>
                                        </p:cTn>
                                        <p:tgtEl>
                                          <p:spTgt spid="524"/>
                                        </p:tgtEl>
                                        <p:attrNameLst>
                                          <p:attrName>style.visibility</p:attrName>
                                        </p:attrNameLst>
                                      </p:cBhvr>
                                      <p:to>
                                        <p:strVal val="visible"/>
                                      </p:to>
                                    </p:set>
                                    <p:animEffect filter="box(in)" transition="in">
                                      <p:cBhvr additive="repl">
                                        <p:cTn id="252" dur="5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p:nvPr>
        </p:nvSpPr>
        <p:spPr>
          <a:xfrm>
            <a:off x="380880" y="1295280"/>
            <a:ext cx="8228880" cy="5104800"/>
          </a:xfrm>
          <a:prstGeom prst="rect">
            <a:avLst/>
          </a:prstGeom>
          <a:noFill/>
          <a:ln w="9360">
            <a:noFill/>
          </a:ln>
        </p:spPr>
        <p:txBody>
          <a:bodyPr numCol="1" spcCol="0" lIns="91440" rIns="91440" tIns="45720" bIns="45720" anchor="t">
            <a:noAutofit/>
          </a:bodyPr>
          <a:p>
            <a:pPr marL="457200" indent="-457200">
              <a:lnSpc>
                <a:spcPct val="90000"/>
              </a:lnSpc>
              <a:spcBef>
                <a:spcPts val="400"/>
              </a:spcBef>
              <a:buClr>
                <a:srgbClr val="0bd0d9"/>
              </a:buClr>
              <a:buSzPct val="95000"/>
              <a:buFont typeface="Calibri"/>
              <a:buAutoNum type="arabicPeriod"/>
            </a:pPr>
            <a:r>
              <a:rPr b="1" lang="en-US" sz="2000" spc="-1" strike="noStrike">
                <a:solidFill>
                  <a:schemeClr val="dk1"/>
                </a:solidFill>
                <a:latin typeface="Constantia"/>
              </a:rPr>
              <a:t>Ràng  buộc tỉ số</a:t>
            </a:r>
            <a:r>
              <a:rPr b="0" lang="en-US" sz="2000" spc="-1" strike="noStrike">
                <a:solidFill>
                  <a:schemeClr val="dk1"/>
                </a:solidFill>
                <a:latin typeface="Constantia"/>
              </a:rPr>
              <a:t>: Bài tập</a:t>
            </a:r>
            <a:endParaRPr b="0" lang="vi-VN" sz="2000" spc="-1" strike="noStrike">
              <a:solidFill>
                <a:srgbClr val="000000"/>
              </a:solidFill>
              <a:latin typeface="Arial"/>
            </a:endParaRPr>
          </a:p>
          <a:p>
            <a:pPr indent="0">
              <a:lnSpc>
                <a:spcPct val="90000"/>
              </a:lnSpc>
              <a:spcBef>
                <a:spcPts val="400"/>
              </a:spcBef>
              <a:buNone/>
              <a:tabLst>
                <a:tab algn="l" pos="0"/>
              </a:tabLst>
            </a:pPr>
            <a:endParaRPr b="0" lang="vi-VN" sz="2000" spc="-1" strike="noStrike">
              <a:solidFill>
                <a:srgbClr val="000000"/>
              </a:solidFill>
              <a:latin typeface="Arial"/>
            </a:endParaRPr>
          </a:p>
          <a:p>
            <a:pPr marL="457200" indent="-457200">
              <a:lnSpc>
                <a:spcPct val="90000"/>
              </a:lnSpc>
              <a:spcBef>
                <a:spcPts val="400"/>
              </a:spcBef>
              <a:buNone/>
              <a:tabLst>
                <a:tab algn="l" pos="0"/>
              </a:tabLst>
            </a:pPr>
            <a:r>
              <a:rPr b="0" lang="en-US" sz="2000" spc="-1" strike="noStrike">
                <a:solidFill>
                  <a:schemeClr val="dk1"/>
                </a:solidFill>
                <a:latin typeface="Constantia"/>
              </a:rPr>
              <a:t>	</a:t>
            </a:r>
            <a:r>
              <a:rPr b="0" lang="en-US" sz="2000" spc="-1" strike="noStrike">
                <a:solidFill>
                  <a:schemeClr val="dk1"/>
                </a:solidFill>
                <a:latin typeface="Constantia"/>
              </a:rPr>
              <a:t>Xác định mối quan hệ và xây dựng lược đồ ER đối với CSDL thư viện </a:t>
            </a:r>
            <a:r>
              <a:rPr b="0" lang="vi-VN" sz="2000" spc="-1" strike="noStrike">
                <a:solidFill>
                  <a:schemeClr val="dk1"/>
                </a:solidFill>
                <a:latin typeface="Constantia"/>
              </a:rPr>
              <a:t>g</a:t>
            </a:r>
            <a:r>
              <a:rPr b="0" lang="en-US" sz="2000" spc="-1" strike="noStrike">
                <a:solidFill>
                  <a:schemeClr val="dk1"/>
                </a:solidFill>
                <a:latin typeface="Constantia"/>
              </a:rPr>
              <a:t>ồm các kiểu thực thể như sau:</a:t>
            </a:r>
            <a:endParaRPr b="0" lang="vi-VN" sz="2000" spc="-1" strike="noStrike">
              <a:solidFill>
                <a:srgbClr val="000000"/>
              </a:solidFill>
              <a:latin typeface="Arial"/>
            </a:endParaRPr>
          </a:p>
          <a:p>
            <a:pPr marL="457200" indent="-457200">
              <a:lnSpc>
                <a:spcPct val="90000"/>
              </a:lnSpc>
              <a:spcBef>
                <a:spcPts val="400"/>
              </a:spcBef>
              <a:buNone/>
              <a:tabLst>
                <a:tab algn="l" pos="0"/>
              </a:tabLst>
            </a:pPr>
            <a:endParaRPr b="0" lang="vi-VN" sz="2000" spc="-1" strike="noStrike">
              <a:solidFill>
                <a:srgbClr val="000000"/>
              </a:solidFill>
              <a:latin typeface="Arial"/>
            </a:endParaRPr>
          </a:p>
          <a:p>
            <a:pPr lvl="1" marL="824040" indent="-45720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	</a:t>
            </a:r>
            <a:r>
              <a:rPr b="0" lang="en-US" sz="1800" spc="-1" strike="noStrike">
                <a:solidFill>
                  <a:schemeClr val="dk1"/>
                </a:solidFill>
                <a:latin typeface="Constantia"/>
              </a:rPr>
              <a:t>BANDOC (mã, họ tên, ngày sinh), </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	</a:t>
            </a:r>
            <a:r>
              <a:rPr b="0" lang="en-US" sz="1800" spc="-1" strike="noStrike">
                <a:solidFill>
                  <a:schemeClr val="dk1"/>
                </a:solidFill>
                <a:latin typeface="Constantia"/>
              </a:rPr>
              <a:t>TACGIA (mã, họ tên, địa chỉ), </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	</a:t>
            </a:r>
            <a:r>
              <a:rPr b="0" lang="en-US" sz="1800" spc="-1" strike="noStrike">
                <a:solidFill>
                  <a:schemeClr val="dk1"/>
                </a:solidFill>
                <a:latin typeface="Constantia"/>
              </a:rPr>
              <a:t>SACH(mã, tên sách), </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	</a:t>
            </a:r>
            <a:r>
              <a:rPr b="0" lang="en-US" sz="1800" spc="-1" strike="noStrike">
                <a:solidFill>
                  <a:schemeClr val="dk1"/>
                </a:solidFill>
                <a:latin typeface="Constantia"/>
              </a:rPr>
              <a:t>NXB(mã, tên nhà xb, địa chỉ), </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	</a:t>
            </a:r>
            <a:r>
              <a:rPr b="0" lang="en-US" sz="1800" spc="-1" strike="noStrike">
                <a:solidFill>
                  <a:schemeClr val="dk1"/>
                </a:solidFill>
                <a:latin typeface="Constantia"/>
              </a:rPr>
              <a:t>DONVI(mã, tên đơn vị)</a:t>
            </a:r>
            <a:endParaRPr b="0" lang="vi-VN" sz="1800" spc="-1" strike="noStrike">
              <a:solidFill>
                <a:srgbClr val="000000"/>
              </a:solidFill>
              <a:latin typeface="Arial"/>
            </a:endParaRPr>
          </a:p>
          <a:p>
            <a:pPr marL="457200" indent="-457200">
              <a:lnSpc>
                <a:spcPct val="90000"/>
              </a:lnSpc>
              <a:spcBef>
                <a:spcPts val="400"/>
              </a:spcBef>
              <a:buNone/>
              <a:tabLst>
                <a:tab algn="l" pos="0"/>
              </a:tabLst>
            </a:pPr>
            <a:r>
              <a:rPr b="0" i="1" lang="en-US" sz="2000" spc="-1" strike="noStrike">
                <a:solidFill>
                  <a:schemeClr val="dk1"/>
                </a:solidFill>
                <a:latin typeface="Constantia"/>
              </a:rPr>
              <a:t>Các liên kết &amp; ràng buộc:</a:t>
            </a:r>
            <a:endParaRPr b="0" lang="vi-VN" sz="2000" spc="-1" strike="noStrike">
              <a:solidFill>
                <a:srgbClr val="000000"/>
              </a:solidFill>
              <a:latin typeface="Arial"/>
            </a:endParaRPr>
          </a:p>
          <a:p>
            <a:pPr lvl="1" marL="824040" indent="-457200">
              <a:lnSpc>
                <a:spcPct val="90000"/>
              </a:lnSpc>
              <a:spcBef>
                <a:spcPts val="360"/>
              </a:spcBef>
              <a:buClr>
                <a:srgbClr val="0f6fc6"/>
              </a:buClr>
              <a:buSzPct val="85000"/>
              <a:buFont typeface="Arial"/>
              <a:buChar char="•"/>
              <a:tabLst>
                <a:tab algn="l" pos="0"/>
              </a:tabLst>
            </a:pPr>
            <a:r>
              <a:rPr b="0" i="1" lang="en-US" sz="1800" spc="-1" strike="noStrike">
                <a:solidFill>
                  <a:schemeClr val="dk1"/>
                </a:solidFill>
                <a:latin typeface="Constantia"/>
              </a:rPr>
              <a:t>Bạn đọc thuộc một đơn vị nào đó, có thể mượn tối đa 5 quyển sách, một quyển sách chỉ </a:t>
            </a:r>
            <a:r>
              <a:rPr b="0" i="1" lang="vi-VN" sz="1800" spc="-1" strike="noStrike">
                <a:solidFill>
                  <a:schemeClr val="dk1"/>
                </a:solidFill>
                <a:latin typeface="Constantia"/>
              </a:rPr>
              <a:t> cho</a:t>
            </a:r>
            <a:r>
              <a:rPr b="0" i="1" lang="en-US" sz="1800" spc="-1" strike="noStrike">
                <a:solidFill>
                  <a:schemeClr val="dk1"/>
                </a:solidFill>
                <a:latin typeface="Constantia"/>
              </a:rPr>
              <a:t> 1 người mượn tại 1 thời điểm,</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Arial"/>
              <a:buChar char="•"/>
              <a:tabLst>
                <a:tab algn="l" pos="0"/>
              </a:tabLst>
            </a:pPr>
            <a:r>
              <a:rPr b="0" i="1" lang="en-US" sz="1800" spc="-1" strike="noStrike">
                <a:solidFill>
                  <a:schemeClr val="dk1"/>
                </a:solidFill>
                <a:latin typeface="Constantia"/>
              </a:rPr>
              <a:t>Một tác giả có thể viết nhiều quyển sách, có thể đồng tác giả,</a:t>
            </a:r>
            <a:endParaRPr b="0" lang="vi-VN" sz="1800" spc="-1" strike="noStrike">
              <a:solidFill>
                <a:srgbClr val="000000"/>
              </a:solidFill>
              <a:latin typeface="Arial"/>
            </a:endParaRPr>
          </a:p>
          <a:p>
            <a:pPr lvl="1" marL="824040" indent="-457200">
              <a:lnSpc>
                <a:spcPct val="90000"/>
              </a:lnSpc>
              <a:spcBef>
                <a:spcPts val="360"/>
              </a:spcBef>
              <a:buClr>
                <a:srgbClr val="0f6fc6"/>
              </a:buClr>
              <a:buSzPct val="85000"/>
              <a:buFont typeface="Arial"/>
              <a:buChar char="•"/>
              <a:tabLst>
                <a:tab algn="l" pos="0"/>
              </a:tabLst>
            </a:pPr>
            <a:r>
              <a:rPr b="0" i="1" lang="en-US" sz="1800" spc="-1" strike="noStrike">
                <a:solidFill>
                  <a:schemeClr val="dk1"/>
                </a:solidFill>
                <a:latin typeface="Constantia"/>
              </a:rPr>
              <a:t>Nhà XB có thể xuất bản nhiều sách, mỗi sách chỉ do 1 nxb phát hành</a:t>
            </a:r>
            <a:endParaRPr b="0" lang="vi-VN" sz="1800" spc="-1" strike="noStrike">
              <a:solidFill>
                <a:srgbClr val="000000"/>
              </a:solidFill>
              <a:latin typeface="Arial"/>
            </a:endParaRPr>
          </a:p>
        </p:txBody>
      </p:sp>
      <p:sp>
        <p:nvSpPr>
          <p:cNvPr id="527" name="PlaceHolder 2"/>
          <p:cNvSpPr>
            <a:spLocks noGrp="1"/>
          </p:cNvSpPr>
          <p:nvPr>
            <p:ph type="sldNum" idx="10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B68DC980-0550-4242-B4F4-0B477881E011}"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sp>
        <p:nvSpPr>
          <p:cNvPr id="528" name="PlaceHolder 3"/>
          <p:cNvSpPr>
            <a:spLocks noGrp="1"/>
          </p:cNvSpPr>
          <p:nvPr>
            <p:ph type="dt" idx="110"/>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CA3464E4-BE4D-48FC-A569-B7E4643845BF}"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529" name="PlaceHolder 4"/>
          <p:cNvSpPr>
            <a:spLocks noGrp="1"/>
          </p:cNvSpPr>
          <p:nvPr>
            <p:ph type="ftr" idx="11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530" name="Picture 3" descr=""/>
          <p:cNvPicPr/>
          <p:nvPr/>
        </p:nvPicPr>
        <p:blipFill>
          <a:blip r:embed="rId1"/>
          <a:stretch/>
        </p:blipFill>
        <p:spPr>
          <a:xfrm>
            <a:off x="0" y="990720"/>
            <a:ext cx="9143280" cy="45000"/>
          </a:xfrm>
          <a:prstGeom prst="rect">
            <a:avLst/>
          </a:prstGeom>
          <a:ln w="0">
            <a:noFill/>
          </a:ln>
        </p:spPr>
      </p:pic>
      <p:sp>
        <p:nvSpPr>
          <p:cNvPr id="531"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53" dur="indefinite" restart="never" nodeType="tmRoot">
          <p:childTnLst>
            <p:seq>
              <p:cTn id="254" dur="indefinite" nodeType="mainSeq">
                <p:childTnLst>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526">
                                            <p:txEl>
                                              <p:pRg st="10" end="10"/>
                                            </p:txEl>
                                          </p:spTgt>
                                        </p:tgtEl>
                                        <p:attrNameLst>
                                          <p:attrName>style.visibility</p:attrName>
                                        </p:attrNameLst>
                                      </p:cBhvr>
                                      <p:to>
                                        <p:strVal val="visible"/>
                                      </p:to>
                                    </p:set>
                                  </p:childTnLst>
                                </p:cTn>
                              </p:par>
                              <p:par>
                                <p:cTn id="259" nodeType="withEffect" fill="hold" presetClass="entr" presetID="1">
                                  <p:stCondLst>
                                    <p:cond delay="0"/>
                                  </p:stCondLst>
                                  <p:childTnLst>
                                    <p:set>
                                      <p:cBhvr>
                                        <p:cTn id="260" dur="1" fill="hold">
                                          <p:stCondLst>
                                            <p:cond delay="0"/>
                                          </p:stCondLst>
                                        </p:cTn>
                                        <p:tgtEl>
                                          <p:spTgt spid="526">
                                            <p:txEl>
                                              <p:pRg st="11" end="11"/>
                                            </p:txEl>
                                          </p:spTgt>
                                        </p:tgtEl>
                                        <p:attrNameLst>
                                          <p:attrName>style.visibility</p:attrName>
                                        </p:attrNameLst>
                                      </p:cBhvr>
                                      <p:to>
                                        <p:strVal val="visible"/>
                                      </p:to>
                                    </p:set>
                                  </p:childTnLst>
                                </p:cTn>
                              </p:par>
                              <p:par>
                                <p:cTn id="261" nodeType="withEffect" fill="hold" presetClass="entr" presetID="1">
                                  <p:stCondLst>
                                    <p:cond delay="0"/>
                                  </p:stCondLst>
                                  <p:childTnLst>
                                    <p:set>
                                      <p:cBhvr>
                                        <p:cTn id="262" dur="1" fill="hold">
                                          <p:stCondLst>
                                            <p:cond delay="0"/>
                                          </p:stCondLst>
                                        </p:cTn>
                                        <p:tgtEl>
                                          <p:spTgt spid="526">
                                            <p:txEl>
                                              <p:pRg st="12" end="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p:nvPr>
        </p:nvSpPr>
        <p:spPr>
          <a:xfrm>
            <a:off x="304920" y="1295280"/>
            <a:ext cx="838116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i="1" lang="en-US" sz="2600" spc="-1" strike="noStrike">
                <a:solidFill>
                  <a:schemeClr val="dk1"/>
                </a:solidFill>
                <a:latin typeface="Constantia"/>
              </a:rPr>
              <a:t>Ràng buộc(min, max) </a:t>
            </a:r>
            <a:r>
              <a:rPr b="0" lang="en-US" sz="2600" spc="-1" strike="noStrike">
                <a:solidFill>
                  <a:schemeClr val="dk1"/>
                </a:solidFill>
                <a:latin typeface="Constantia"/>
              </a:rPr>
              <a:t>chỉ định số lần mỗi thực thể  tham gia </a:t>
            </a:r>
            <a:r>
              <a:rPr b="1" i="1" lang="en-US" sz="2600" spc="-1" strike="noStrike">
                <a:solidFill>
                  <a:schemeClr val="dk1"/>
                </a:solidFill>
                <a:latin typeface="Constantia"/>
              </a:rPr>
              <a:t>ít nhất </a:t>
            </a:r>
            <a:r>
              <a:rPr b="0" lang="en-US" sz="2600" spc="-1" strike="noStrike">
                <a:solidFill>
                  <a:schemeClr val="dk1"/>
                </a:solidFill>
                <a:latin typeface="Constantia"/>
              </a:rPr>
              <a:t>và </a:t>
            </a:r>
            <a:r>
              <a:rPr b="1" i="1" lang="en-US" sz="2600" spc="-1" strike="noStrike">
                <a:solidFill>
                  <a:schemeClr val="dk1"/>
                </a:solidFill>
                <a:latin typeface="Constantia"/>
              </a:rPr>
              <a:t>nhiều nhất </a:t>
            </a:r>
            <a:r>
              <a:rPr b="0" lang="en-US" sz="2600" spc="-1" strike="noStrike">
                <a:solidFill>
                  <a:schemeClr val="dk1"/>
                </a:solidFill>
                <a:latin typeface="Constantia"/>
              </a:rPr>
              <a:t>vào thể hiện của R</a:t>
            </a:r>
            <a:endParaRPr b="0" lang="vi-VN" sz="26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(0,1) – không hoặc 1</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(1,1) – duy nhất 1</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(0,n) – không hoặc nhiều  </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(1,n) – một hoặc nhiều </a:t>
            </a:r>
            <a:endParaRPr b="0" lang="vi-VN" sz="2100" spc="-1" strike="noStrike">
              <a:solidFill>
                <a:srgbClr val="000000"/>
              </a:solidFill>
              <a:latin typeface="Arial"/>
            </a:endParaRPr>
          </a:p>
        </p:txBody>
      </p:sp>
      <p:sp>
        <p:nvSpPr>
          <p:cNvPr id="533" name="PlaceHolder 2"/>
          <p:cNvSpPr>
            <a:spLocks noGrp="1"/>
          </p:cNvSpPr>
          <p:nvPr>
            <p:ph type="sldNum" idx="11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811A7668-A39F-47FE-B1D4-43A6AEFB7F76}" type="slidenum">
              <a:rPr b="0" lang="en-US" sz="1200" spc="-1" strike="noStrike">
                <a:solidFill>
                  <a:schemeClr val="dk2">
                    <a:shade val="90000"/>
                  </a:schemeClr>
                </a:solidFill>
                <a:latin typeface="Tahoma"/>
              </a:rPr>
              <a:t>21</a:t>
            </a:fld>
            <a:endParaRPr b="0" lang="vi-VN" sz="1200" spc="-1" strike="noStrike">
              <a:solidFill>
                <a:srgbClr val="000000"/>
              </a:solidFill>
              <a:latin typeface="Times New Roman"/>
            </a:endParaRPr>
          </a:p>
        </p:txBody>
      </p:sp>
      <p:grpSp>
        <p:nvGrpSpPr>
          <p:cNvPr id="534" name="Group 36"/>
          <p:cNvGrpSpPr/>
          <p:nvPr/>
        </p:nvGrpSpPr>
        <p:grpSpPr>
          <a:xfrm>
            <a:off x="1905120" y="2590920"/>
            <a:ext cx="4114080" cy="507240"/>
            <a:chOff x="1905120" y="2590920"/>
            <a:chExt cx="4114080" cy="507240"/>
          </a:xfrm>
        </p:grpSpPr>
        <p:sp>
          <p:nvSpPr>
            <p:cNvPr id="535" name="Text Box 25"/>
            <p:cNvSpPr/>
            <p:nvPr/>
          </p:nvSpPr>
          <p:spPr>
            <a:xfrm>
              <a:off x="1905120" y="270504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E</a:t>
              </a:r>
              <a:endParaRPr b="0" lang="vi-VN" sz="1800" spc="-1" strike="noStrike">
                <a:solidFill>
                  <a:srgbClr val="000000"/>
                </a:solidFill>
                <a:latin typeface="Arial"/>
              </a:endParaRPr>
            </a:p>
          </p:txBody>
        </p:sp>
        <p:sp>
          <p:nvSpPr>
            <p:cNvPr id="536" name="Text Box 26"/>
            <p:cNvSpPr/>
            <p:nvPr/>
          </p:nvSpPr>
          <p:spPr>
            <a:xfrm>
              <a:off x="5486400" y="2705040"/>
              <a:ext cx="5328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F</a:t>
              </a:r>
              <a:endParaRPr b="0" lang="vi-VN" sz="1800" spc="-1" strike="noStrike">
                <a:solidFill>
                  <a:srgbClr val="000000"/>
                </a:solidFill>
                <a:latin typeface="Arial"/>
              </a:endParaRPr>
            </a:p>
          </p:txBody>
        </p:sp>
        <p:grpSp>
          <p:nvGrpSpPr>
            <p:cNvPr id="537" name="Group 27"/>
            <p:cNvGrpSpPr/>
            <p:nvPr/>
          </p:nvGrpSpPr>
          <p:grpSpPr>
            <a:xfrm>
              <a:off x="3352680" y="2679840"/>
              <a:ext cx="1218600" cy="418320"/>
              <a:chOff x="3352680" y="2679840"/>
              <a:chExt cx="1218600" cy="418320"/>
            </a:xfrm>
          </p:grpSpPr>
          <p:sp>
            <p:nvSpPr>
              <p:cNvPr id="538" name="AutoShape 28"/>
              <p:cNvSpPr/>
              <p:nvPr/>
            </p:nvSpPr>
            <p:spPr>
              <a:xfrm>
                <a:off x="3352680" y="267984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39" name="Text Box 29"/>
              <p:cNvSpPr/>
              <p:nvPr/>
            </p:nvSpPr>
            <p:spPr>
              <a:xfrm>
                <a:off x="3505320" y="273060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R</a:t>
                </a:r>
                <a:endParaRPr b="0" lang="vi-VN" sz="1400" spc="-1" strike="noStrike">
                  <a:solidFill>
                    <a:srgbClr val="000000"/>
                  </a:solidFill>
                  <a:latin typeface="Arial"/>
                </a:endParaRPr>
              </a:p>
            </p:txBody>
          </p:sp>
        </p:grpSp>
        <p:sp>
          <p:nvSpPr>
            <p:cNvPr id="540" name="Line 30"/>
            <p:cNvSpPr/>
            <p:nvPr/>
          </p:nvSpPr>
          <p:spPr>
            <a:xfrm>
              <a:off x="2438280" y="2895480"/>
              <a:ext cx="91440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41" name="Text Box 32"/>
            <p:cNvSpPr/>
            <p:nvPr/>
          </p:nvSpPr>
          <p:spPr>
            <a:xfrm>
              <a:off x="2362320" y="2590920"/>
              <a:ext cx="1142280" cy="2574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550"/>
                </a:spcBef>
              </a:pPr>
              <a:r>
                <a:rPr b="0" lang="en-US" sz="1100" spc="-1" strike="noStrike">
                  <a:solidFill>
                    <a:schemeClr val="dk1"/>
                  </a:solidFill>
                  <a:latin typeface="Tahoma"/>
                </a:rPr>
                <a:t>(min1, max1)</a:t>
              </a:r>
              <a:endParaRPr b="0" lang="vi-VN" sz="1100" spc="-1" strike="noStrike">
                <a:solidFill>
                  <a:srgbClr val="000000"/>
                </a:solidFill>
                <a:latin typeface="Arial"/>
              </a:endParaRPr>
            </a:p>
          </p:txBody>
        </p:sp>
        <p:sp>
          <p:nvSpPr>
            <p:cNvPr id="542" name="Line 34"/>
            <p:cNvSpPr/>
            <p:nvPr/>
          </p:nvSpPr>
          <p:spPr>
            <a:xfrm>
              <a:off x="4572000" y="2895480"/>
              <a:ext cx="91440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43" name="Text Box 35"/>
            <p:cNvSpPr/>
            <p:nvPr/>
          </p:nvSpPr>
          <p:spPr>
            <a:xfrm>
              <a:off x="4419720" y="2590920"/>
              <a:ext cx="1142280" cy="2725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(min2, max2)</a:t>
              </a:r>
              <a:endParaRPr b="0" lang="vi-VN" sz="1200" spc="-1" strike="noStrike">
                <a:solidFill>
                  <a:srgbClr val="000000"/>
                </a:solidFill>
                <a:latin typeface="Arial"/>
              </a:endParaRPr>
            </a:p>
          </p:txBody>
        </p:sp>
      </p:grpSp>
      <p:sp>
        <p:nvSpPr>
          <p:cNvPr id="544" name="PlaceHolder 3"/>
          <p:cNvSpPr>
            <a:spLocks noGrp="1"/>
          </p:cNvSpPr>
          <p:nvPr>
            <p:ph type="dt" idx="113"/>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E54D1B3F-CFAF-4C74-82EE-CC88576EA8D8}"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545" name="PlaceHolder 4"/>
          <p:cNvSpPr>
            <a:spLocks noGrp="1"/>
          </p:cNvSpPr>
          <p:nvPr>
            <p:ph type="ftr" idx="11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546"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pic>
        <p:nvPicPr>
          <p:cNvPr id="547"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p:nvPr>
        </p:nvSpPr>
        <p:spPr>
          <a:xfrm>
            <a:off x="380880" y="1143000"/>
            <a:ext cx="8381160" cy="5257080"/>
          </a:xfrm>
          <a:prstGeom prst="rect">
            <a:avLst/>
          </a:prstGeom>
          <a:noFill/>
          <a:ln w="9360">
            <a:noFill/>
          </a:ln>
        </p:spPr>
        <p:txBody>
          <a:bodyPr numCol="1" spcCol="0" lIns="91440" rIns="91440" tIns="45720" bIns="45720" anchor="t">
            <a:normAutofit fontScale="96666" lnSpcReduction="10000"/>
          </a:bodyPr>
          <a:p>
            <a:pPr marL="274320" indent="-274320">
              <a:lnSpc>
                <a:spcPct val="100000"/>
              </a:lnSpc>
              <a:spcBef>
                <a:spcPts val="519"/>
              </a:spcBef>
              <a:buNone/>
              <a:tabLst>
                <a:tab algn="l" pos="0"/>
              </a:tabLst>
            </a:pPr>
            <a:r>
              <a:rPr b="0" i="1" lang="en-US" sz="2600" spc="-1" strike="noStrike">
                <a:solidFill>
                  <a:srgbClr val="3e0dc9"/>
                </a:solidFill>
                <a:latin typeface="Constantia"/>
              </a:rPr>
              <a:t>Ví dụ</a:t>
            </a:r>
            <a:endParaRPr b="0" lang="vi-VN" sz="26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tabLst>
                <a:tab algn="l" pos="0"/>
              </a:tabLst>
            </a:pPr>
            <a:r>
              <a:rPr b="0" lang="en-US" sz="2400" spc="-1" strike="noStrike">
                <a:solidFill>
                  <a:schemeClr val="dk1"/>
                </a:solidFill>
                <a:latin typeface="Constantia"/>
              </a:rPr>
              <a:t>Một phòng ban có nhiều nhân viên</a:t>
            </a:r>
            <a:endParaRPr b="0" lang="vi-VN" sz="24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tabLst>
                <a:tab algn="l" pos="0"/>
              </a:tabLst>
            </a:pPr>
            <a:r>
              <a:rPr b="0" lang="en-US" sz="2400" spc="-1" strike="noStrike">
                <a:solidFill>
                  <a:schemeClr val="dk1"/>
                </a:solidFill>
                <a:latin typeface="Constantia"/>
              </a:rPr>
              <a:t>Một nhân viên chỉ thuộc 1 phòng ban </a:t>
            </a:r>
            <a:endParaRPr b="0" lang="vi-VN" sz="24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tabLst>
                <a:tab algn="l" pos="0"/>
              </a:tabLst>
            </a:pPr>
            <a:r>
              <a:rPr b="0" lang="en-US" sz="2400" spc="-1" strike="noStrike">
                <a:solidFill>
                  <a:schemeClr val="dk1"/>
                </a:solidFill>
                <a:latin typeface="Constantia"/>
              </a:rPr>
              <a:t>Một nhân viên có thể  tham gia nhiều đề án hoặc không được phân công vào đề án nào, một dự án có nhiều nv</a:t>
            </a:r>
            <a:endParaRPr b="0" lang="vi-VN" sz="24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indent="0">
              <a:lnSpc>
                <a:spcPct val="100000"/>
              </a:lnSpc>
              <a:spcBef>
                <a:spcPts val="420"/>
              </a:spcBef>
              <a:buNone/>
              <a:tabLst>
                <a:tab algn="l" pos="0"/>
              </a:tabLst>
            </a:pPr>
            <a:endParaRPr b="0" lang="vi-VN" sz="2100" spc="-1" strike="noStrike">
              <a:solidFill>
                <a:srgbClr val="000000"/>
              </a:solidFill>
              <a:latin typeface="Arial"/>
            </a:endParaRPr>
          </a:p>
          <a:p>
            <a:pPr lvl="1" marL="640080" indent="-246960">
              <a:lnSpc>
                <a:spcPct val="100000"/>
              </a:lnSpc>
              <a:spcBef>
                <a:spcPts val="479"/>
              </a:spcBef>
              <a:buClr>
                <a:srgbClr val="0f6fc6"/>
              </a:buClr>
              <a:buSzPct val="85000"/>
              <a:buFont typeface="Wingdings 2" charset="2"/>
              <a:buChar char=""/>
              <a:tabLst>
                <a:tab algn="l" pos="0"/>
              </a:tabLst>
            </a:pPr>
            <a:r>
              <a:rPr b="0" lang="en-US" sz="2400" spc="-1" strike="noStrike">
                <a:solidFill>
                  <a:schemeClr val="dk1"/>
                </a:solidFill>
                <a:latin typeface="Constantia"/>
              </a:rPr>
              <a:t>Một nhân viên có thể là trưởng phòng của 1 phòng ban nào đó</a:t>
            </a:r>
            <a:endParaRPr b="0" lang="vi-VN" sz="2400" spc="-1" strike="noStrike">
              <a:solidFill>
                <a:srgbClr val="000000"/>
              </a:solidFill>
              <a:latin typeface="Arial"/>
            </a:endParaRPr>
          </a:p>
        </p:txBody>
      </p:sp>
      <p:sp>
        <p:nvSpPr>
          <p:cNvPr id="549" name="PlaceHolder 2"/>
          <p:cNvSpPr>
            <a:spLocks noGrp="1"/>
          </p:cNvSpPr>
          <p:nvPr>
            <p:ph type="sldNum" idx="11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4D9A28CA-CB4E-4653-B6DE-3C3592F06A8E}"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550" name="Group 41"/>
          <p:cNvGrpSpPr/>
          <p:nvPr/>
        </p:nvGrpSpPr>
        <p:grpSpPr>
          <a:xfrm>
            <a:off x="2438280" y="2095560"/>
            <a:ext cx="3504600" cy="418320"/>
            <a:chOff x="2438280" y="2095560"/>
            <a:chExt cx="3504600" cy="418320"/>
          </a:xfrm>
        </p:grpSpPr>
        <p:sp>
          <p:nvSpPr>
            <p:cNvPr id="551" name="Text Box 4"/>
            <p:cNvSpPr/>
            <p:nvPr/>
          </p:nvSpPr>
          <p:spPr>
            <a:xfrm>
              <a:off x="2438280" y="20955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NV</a:t>
              </a:r>
              <a:endParaRPr b="0" lang="vi-VN" sz="1800" spc="-1" strike="noStrike">
                <a:solidFill>
                  <a:srgbClr val="000000"/>
                </a:solidFill>
                <a:latin typeface="Arial"/>
              </a:endParaRPr>
            </a:p>
          </p:txBody>
        </p:sp>
        <p:sp>
          <p:nvSpPr>
            <p:cNvPr id="552" name="Text Box 5"/>
            <p:cNvSpPr/>
            <p:nvPr/>
          </p:nvSpPr>
          <p:spPr>
            <a:xfrm>
              <a:off x="5181480" y="20955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PB</a:t>
              </a:r>
              <a:endParaRPr b="0" lang="vi-VN" sz="1800" spc="-1" strike="noStrike">
                <a:solidFill>
                  <a:srgbClr val="000000"/>
                </a:solidFill>
                <a:latin typeface="Arial"/>
              </a:endParaRPr>
            </a:p>
          </p:txBody>
        </p:sp>
        <p:grpSp>
          <p:nvGrpSpPr>
            <p:cNvPr id="553" name="Group 6"/>
            <p:cNvGrpSpPr/>
            <p:nvPr/>
          </p:nvGrpSpPr>
          <p:grpSpPr>
            <a:xfrm>
              <a:off x="3581280" y="2095560"/>
              <a:ext cx="1218600" cy="418320"/>
              <a:chOff x="3581280" y="2095560"/>
              <a:chExt cx="1218600" cy="418320"/>
            </a:xfrm>
          </p:grpSpPr>
          <p:sp>
            <p:nvSpPr>
              <p:cNvPr id="554" name="AutoShape 7"/>
              <p:cNvSpPr/>
              <p:nvPr/>
            </p:nvSpPr>
            <p:spPr>
              <a:xfrm>
                <a:off x="3581280" y="209556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55" name="Text Box 8"/>
              <p:cNvSpPr/>
              <p:nvPr/>
            </p:nvSpPr>
            <p:spPr>
              <a:xfrm>
                <a:off x="3733920" y="214632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Lam_viec</a:t>
                </a:r>
                <a:endParaRPr b="0" lang="vi-VN" sz="1400" spc="-1" strike="noStrike">
                  <a:solidFill>
                    <a:srgbClr val="000000"/>
                  </a:solidFill>
                  <a:latin typeface="Arial"/>
                </a:endParaRPr>
              </a:p>
            </p:txBody>
          </p:sp>
        </p:grpSp>
        <p:sp>
          <p:nvSpPr>
            <p:cNvPr id="556" name="Line 9"/>
            <p:cNvSpPr/>
            <p:nvPr/>
          </p:nvSpPr>
          <p:spPr>
            <a:xfrm>
              <a:off x="3200400" y="23112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57" name="Line 10"/>
            <p:cNvSpPr/>
            <p:nvPr/>
          </p:nvSpPr>
          <p:spPr>
            <a:xfrm>
              <a:off x="4800600" y="23112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558" name="Group 42"/>
          <p:cNvGrpSpPr/>
          <p:nvPr/>
        </p:nvGrpSpPr>
        <p:grpSpPr>
          <a:xfrm>
            <a:off x="2438280" y="3390840"/>
            <a:ext cx="3504600" cy="418320"/>
            <a:chOff x="2438280" y="3390840"/>
            <a:chExt cx="3504600" cy="418320"/>
          </a:xfrm>
        </p:grpSpPr>
        <p:sp>
          <p:nvSpPr>
            <p:cNvPr id="559" name="Text Box 12"/>
            <p:cNvSpPr/>
            <p:nvPr/>
          </p:nvSpPr>
          <p:spPr>
            <a:xfrm>
              <a:off x="2438280" y="339084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NV</a:t>
              </a:r>
              <a:endParaRPr b="0" lang="vi-VN" sz="1800" spc="-1" strike="noStrike">
                <a:solidFill>
                  <a:srgbClr val="000000"/>
                </a:solidFill>
                <a:latin typeface="Arial"/>
              </a:endParaRPr>
            </a:p>
          </p:txBody>
        </p:sp>
        <p:sp>
          <p:nvSpPr>
            <p:cNvPr id="560" name="Text Box 13"/>
            <p:cNvSpPr/>
            <p:nvPr/>
          </p:nvSpPr>
          <p:spPr>
            <a:xfrm>
              <a:off x="5181480" y="339084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PB</a:t>
              </a:r>
              <a:endParaRPr b="0" lang="vi-VN" sz="1800" spc="-1" strike="noStrike">
                <a:solidFill>
                  <a:srgbClr val="000000"/>
                </a:solidFill>
                <a:latin typeface="Arial"/>
              </a:endParaRPr>
            </a:p>
          </p:txBody>
        </p:sp>
        <p:grpSp>
          <p:nvGrpSpPr>
            <p:cNvPr id="561" name="Group 14"/>
            <p:cNvGrpSpPr/>
            <p:nvPr/>
          </p:nvGrpSpPr>
          <p:grpSpPr>
            <a:xfrm>
              <a:off x="3581280" y="3390840"/>
              <a:ext cx="1218600" cy="418320"/>
              <a:chOff x="3581280" y="3390840"/>
              <a:chExt cx="1218600" cy="418320"/>
            </a:xfrm>
          </p:grpSpPr>
          <p:sp>
            <p:nvSpPr>
              <p:cNvPr id="562" name="AutoShape 15"/>
              <p:cNvSpPr/>
              <p:nvPr/>
            </p:nvSpPr>
            <p:spPr>
              <a:xfrm>
                <a:off x="3581280" y="3390840"/>
                <a:ext cx="121860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63" name="Text Box 16"/>
              <p:cNvSpPr/>
              <p:nvPr/>
            </p:nvSpPr>
            <p:spPr>
              <a:xfrm>
                <a:off x="3733920" y="3441600"/>
                <a:ext cx="9900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Lam_viec</a:t>
                </a:r>
                <a:endParaRPr b="0" lang="vi-VN" sz="1400" spc="-1" strike="noStrike">
                  <a:solidFill>
                    <a:srgbClr val="000000"/>
                  </a:solidFill>
                  <a:latin typeface="Arial"/>
                </a:endParaRPr>
              </a:p>
            </p:txBody>
          </p:sp>
        </p:grpSp>
        <p:sp>
          <p:nvSpPr>
            <p:cNvPr id="564" name="Line 17"/>
            <p:cNvSpPr/>
            <p:nvPr/>
          </p:nvSpPr>
          <p:spPr>
            <a:xfrm>
              <a:off x="3200400" y="360648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65" name="Line 18"/>
            <p:cNvSpPr/>
            <p:nvPr/>
          </p:nvSpPr>
          <p:spPr>
            <a:xfrm>
              <a:off x="4800600" y="360648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566" name="Group 31"/>
          <p:cNvGrpSpPr/>
          <p:nvPr/>
        </p:nvGrpSpPr>
        <p:grpSpPr>
          <a:xfrm>
            <a:off x="2438280" y="4838760"/>
            <a:ext cx="3580920" cy="567360"/>
            <a:chOff x="2438280" y="4838760"/>
            <a:chExt cx="3580920" cy="567360"/>
          </a:xfrm>
        </p:grpSpPr>
        <p:sp>
          <p:nvSpPr>
            <p:cNvPr id="567" name="Text Box 23"/>
            <p:cNvSpPr/>
            <p:nvPr/>
          </p:nvSpPr>
          <p:spPr>
            <a:xfrm>
              <a:off x="2438280" y="48387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NV</a:t>
              </a:r>
              <a:endParaRPr b="0" lang="vi-VN" sz="1800" spc="-1" strike="noStrike">
                <a:solidFill>
                  <a:srgbClr val="000000"/>
                </a:solidFill>
                <a:latin typeface="Arial"/>
              </a:endParaRPr>
            </a:p>
          </p:txBody>
        </p:sp>
        <p:sp>
          <p:nvSpPr>
            <p:cNvPr id="568" name="Text Box 24"/>
            <p:cNvSpPr/>
            <p:nvPr/>
          </p:nvSpPr>
          <p:spPr>
            <a:xfrm>
              <a:off x="5257800" y="48387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DA</a:t>
              </a:r>
              <a:endParaRPr b="0" lang="vi-VN" sz="1800" spc="-1" strike="noStrike">
                <a:solidFill>
                  <a:srgbClr val="000000"/>
                </a:solidFill>
                <a:latin typeface="Arial"/>
              </a:endParaRPr>
            </a:p>
          </p:txBody>
        </p:sp>
        <p:sp>
          <p:nvSpPr>
            <p:cNvPr id="569" name="AutoShape 26"/>
            <p:cNvSpPr/>
            <p:nvPr/>
          </p:nvSpPr>
          <p:spPr>
            <a:xfrm>
              <a:off x="3581280" y="4838760"/>
              <a:ext cx="129456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70" name="Text Box 27"/>
            <p:cNvSpPr/>
            <p:nvPr/>
          </p:nvSpPr>
          <p:spPr>
            <a:xfrm>
              <a:off x="3733920" y="4889520"/>
              <a:ext cx="106596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Phan_cong</a:t>
              </a:r>
              <a:endParaRPr b="0" lang="vi-VN" sz="1400" spc="-1" strike="noStrike">
                <a:solidFill>
                  <a:srgbClr val="000000"/>
                </a:solidFill>
                <a:latin typeface="Arial"/>
              </a:endParaRPr>
            </a:p>
          </p:txBody>
        </p:sp>
        <p:sp>
          <p:nvSpPr>
            <p:cNvPr id="571" name="Line 28"/>
            <p:cNvSpPr/>
            <p:nvPr/>
          </p:nvSpPr>
          <p:spPr>
            <a:xfrm>
              <a:off x="3200400" y="50544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72" name="Line 29"/>
            <p:cNvSpPr/>
            <p:nvPr/>
          </p:nvSpPr>
          <p:spPr>
            <a:xfrm>
              <a:off x="4876560" y="5054400"/>
              <a:ext cx="38124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nvGrpSpPr>
          <p:cNvPr id="573" name="Group 40"/>
          <p:cNvGrpSpPr/>
          <p:nvPr/>
        </p:nvGrpSpPr>
        <p:grpSpPr>
          <a:xfrm>
            <a:off x="2438280" y="5981760"/>
            <a:ext cx="3961800" cy="418320"/>
            <a:chOff x="2438280" y="5981760"/>
            <a:chExt cx="3961800" cy="418320"/>
          </a:xfrm>
        </p:grpSpPr>
        <p:sp>
          <p:nvSpPr>
            <p:cNvPr id="574" name="Text Box 33"/>
            <p:cNvSpPr/>
            <p:nvPr/>
          </p:nvSpPr>
          <p:spPr>
            <a:xfrm>
              <a:off x="2438280" y="59817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NV</a:t>
              </a:r>
              <a:endParaRPr b="0" lang="vi-VN" sz="1800" spc="-1" strike="noStrike">
                <a:solidFill>
                  <a:srgbClr val="000000"/>
                </a:solidFill>
                <a:latin typeface="Arial"/>
              </a:endParaRPr>
            </a:p>
          </p:txBody>
        </p:sp>
        <p:sp>
          <p:nvSpPr>
            <p:cNvPr id="575" name="Text Box 34"/>
            <p:cNvSpPr/>
            <p:nvPr/>
          </p:nvSpPr>
          <p:spPr>
            <a:xfrm>
              <a:off x="5638680" y="5981760"/>
              <a:ext cx="7614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PB</a:t>
              </a:r>
              <a:endParaRPr b="0" lang="vi-VN" sz="1800" spc="-1" strike="noStrike">
                <a:solidFill>
                  <a:srgbClr val="000000"/>
                </a:solidFill>
                <a:latin typeface="Arial"/>
              </a:endParaRPr>
            </a:p>
          </p:txBody>
        </p:sp>
        <p:sp>
          <p:nvSpPr>
            <p:cNvPr id="576" name="AutoShape 35"/>
            <p:cNvSpPr/>
            <p:nvPr/>
          </p:nvSpPr>
          <p:spPr>
            <a:xfrm>
              <a:off x="3581280" y="5981760"/>
              <a:ext cx="1751760" cy="418320"/>
            </a:xfrm>
            <a:prstGeom prst="flowChartDecision">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77" name="Text Box 36"/>
            <p:cNvSpPr/>
            <p:nvPr/>
          </p:nvSpPr>
          <p:spPr>
            <a:xfrm>
              <a:off x="3581280" y="6032520"/>
              <a:ext cx="17517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La_truong_phong</a:t>
              </a:r>
              <a:endParaRPr b="0" lang="vi-VN" sz="1400" spc="-1" strike="noStrike">
                <a:solidFill>
                  <a:srgbClr val="000000"/>
                </a:solidFill>
                <a:latin typeface="Arial"/>
              </a:endParaRPr>
            </a:p>
          </p:txBody>
        </p:sp>
        <p:sp>
          <p:nvSpPr>
            <p:cNvPr id="578" name="Line 37"/>
            <p:cNvSpPr/>
            <p:nvPr/>
          </p:nvSpPr>
          <p:spPr>
            <a:xfrm>
              <a:off x="3200400" y="61974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579" name="Line 38"/>
            <p:cNvSpPr/>
            <p:nvPr/>
          </p:nvSpPr>
          <p:spPr>
            <a:xfrm>
              <a:off x="5257800" y="6197400"/>
              <a:ext cx="3808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sp>
        <p:nvSpPr>
          <p:cNvPr id="580" name="PlaceHolder 3"/>
          <p:cNvSpPr>
            <a:spLocks noGrp="1"/>
          </p:cNvSpPr>
          <p:nvPr>
            <p:ph type="dt" idx="116"/>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9E0EDC60-2F42-40F1-9750-AF73C8BCC861}"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581" name="PlaceHolder 4"/>
          <p:cNvSpPr>
            <a:spLocks noGrp="1"/>
          </p:cNvSpPr>
          <p:nvPr>
            <p:ph type="ftr" idx="11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582" name="TextBox 42"/>
          <p:cNvSpPr/>
          <p:nvPr/>
        </p:nvSpPr>
        <p:spPr>
          <a:xfrm>
            <a:off x="4495680" y="190512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(1,n)</a:t>
            </a:r>
            <a:endParaRPr b="0" lang="vi-VN" sz="1400" spc="-1" strike="noStrike">
              <a:solidFill>
                <a:srgbClr val="000000"/>
              </a:solidFill>
              <a:latin typeface="Arial"/>
            </a:endParaRPr>
          </a:p>
        </p:txBody>
      </p:sp>
      <p:sp>
        <p:nvSpPr>
          <p:cNvPr id="583" name="TextBox 43"/>
          <p:cNvSpPr/>
          <p:nvPr/>
        </p:nvSpPr>
        <p:spPr>
          <a:xfrm>
            <a:off x="3200400" y="312408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(1,1)</a:t>
            </a:r>
            <a:endParaRPr b="0" lang="vi-VN" sz="1400" spc="-1" strike="noStrike">
              <a:solidFill>
                <a:srgbClr val="000000"/>
              </a:solidFill>
              <a:latin typeface="Arial"/>
            </a:endParaRPr>
          </a:p>
        </p:txBody>
      </p:sp>
      <p:sp>
        <p:nvSpPr>
          <p:cNvPr id="584" name="TextBox 44"/>
          <p:cNvSpPr/>
          <p:nvPr/>
        </p:nvSpPr>
        <p:spPr>
          <a:xfrm>
            <a:off x="3200400" y="457200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(0,n)</a:t>
            </a:r>
            <a:endParaRPr b="0" lang="vi-VN" sz="1400" spc="-1" strike="noStrike">
              <a:solidFill>
                <a:srgbClr val="000000"/>
              </a:solidFill>
              <a:latin typeface="Arial"/>
            </a:endParaRPr>
          </a:p>
        </p:txBody>
      </p:sp>
      <p:sp>
        <p:nvSpPr>
          <p:cNvPr id="585" name="TextBox 45"/>
          <p:cNvSpPr/>
          <p:nvPr/>
        </p:nvSpPr>
        <p:spPr>
          <a:xfrm>
            <a:off x="4572000" y="457200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(1,n)</a:t>
            </a:r>
            <a:endParaRPr b="0" lang="vi-VN" sz="1400" spc="-1" strike="noStrike">
              <a:solidFill>
                <a:srgbClr val="000000"/>
              </a:solidFill>
              <a:latin typeface="Arial"/>
            </a:endParaRPr>
          </a:p>
        </p:txBody>
      </p:sp>
      <p:sp>
        <p:nvSpPr>
          <p:cNvPr id="586" name="TextBox 46"/>
          <p:cNvSpPr/>
          <p:nvPr/>
        </p:nvSpPr>
        <p:spPr>
          <a:xfrm>
            <a:off x="3200400" y="571500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(0,1)</a:t>
            </a:r>
            <a:endParaRPr b="0" lang="vi-VN" sz="1400" spc="-1" strike="noStrike">
              <a:solidFill>
                <a:srgbClr val="000000"/>
              </a:solidFill>
              <a:latin typeface="Arial"/>
            </a:endParaRPr>
          </a:p>
        </p:txBody>
      </p:sp>
      <p:sp>
        <p:nvSpPr>
          <p:cNvPr id="587" name="TextBox 47"/>
          <p:cNvSpPr/>
          <p:nvPr/>
        </p:nvSpPr>
        <p:spPr>
          <a:xfrm>
            <a:off x="5029200" y="5791320"/>
            <a:ext cx="76140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(1,1)</a:t>
            </a:r>
            <a:endParaRPr b="0" lang="vi-VN" sz="1400" spc="-1" strike="noStrike">
              <a:solidFill>
                <a:srgbClr val="000000"/>
              </a:solidFill>
              <a:latin typeface="Arial"/>
            </a:endParaRPr>
          </a:p>
        </p:txBody>
      </p:sp>
      <p:sp>
        <p:nvSpPr>
          <p:cNvPr id="588"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pic>
        <p:nvPicPr>
          <p:cNvPr id="589"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263" dur="indefinite" restart="never" nodeType="tmRoot">
          <p:childTnLst>
            <p:seq>
              <p:cTn id="264" dur="indefinite" nodeType="mainSeq">
                <p:childTnLst>
                  <p:par>
                    <p:cTn id="265" fill="hold">
                      <p:stCondLst>
                        <p:cond delay="indefinite"/>
                      </p:stCondLst>
                      <p:childTnLst>
                        <p:par>
                          <p:cTn id="266" fill="hold">
                            <p:stCondLst>
                              <p:cond delay="0"/>
                            </p:stCondLst>
                            <p:childTnLst>
                              <p:par>
                                <p:cTn id="267" nodeType="clickEffect" fill="hold" presetClass="entr" presetID="2" presetSubtype="2">
                                  <p:stCondLst>
                                    <p:cond delay="0"/>
                                  </p:stCondLst>
                                  <p:childTnLst>
                                    <p:set>
                                      <p:cBhvr>
                                        <p:cTn id="268" dur="1" fill="hold">
                                          <p:stCondLst>
                                            <p:cond delay="0"/>
                                          </p:stCondLst>
                                        </p:cTn>
                                        <p:tgtEl>
                                          <p:spTgt spid="582"/>
                                        </p:tgtEl>
                                        <p:attrNameLst>
                                          <p:attrName>style.visibility</p:attrName>
                                        </p:attrNameLst>
                                      </p:cBhvr>
                                      <p:to>
                                        <p:strVal val="visible"/>
                                      </p:to>
                                    </p:set>
                                    <p:anim calcmode="lin" valueType="num">
                                      <p:cBhvr additive="repl">
                                        <p:cTn id="269" dur="500" fill="hold"/>
                                        <p:tgtEl>
                                          <p:spTgt spid="582"/>
                                        </p:tgtEl>
                                        <p:attrNameLst>
                                          <p:attrName>ppt_x</p:attrName>
                                        </p:attrNameLst>
                                      </p:cBhvr>
                                      <p:tavLst>
                                        <p:tav tm="0">
                                          <p:val>
                                            <p:strVal val="1+#ppt_w/2"/>
                                          </p:val>
                                        </p:tav>
                                        <p:tav tm="100000">
                                          <p:val>
                                            <p:strVal val="#ppt_x"/>
                                          </p:val>
                                        </p:tav>
                                      </p:tavLst>
                                    </p:anim>
                                    <p:anim calcmode="lin" valueType="num">
                                      <p:cBhvr additive="repl">
                                        <p:cTn id="270" dur="500" fill="hold"/>
                                        <p:tgtEl>
                                          <p:spTgt spid="582"/>
                                        </p:tgtEl>
                                        <p:attrNameLst>
                                          <p:attrName>ppt_y</p:attrName>
                                        </p:attrNameLst>
                                      </p:cBhvr>
                                      <p:tavLst>
                                        <p:tav tm="0">
                                          <p:val>
                                            <p:strVal val="#ppt_y"/>
                                          </p:val>
                                        </p:tav>
                                        <p:tav tm="100000">
                                          <p:val>
                                            <p:strVal val="#ppt_y"/>
                                          </p:val>
                                        </p:tav>
                                      </p:tavLst>
                                    </p:anim>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2" presetSubtype="8">
                                  <p:stCondLst>
                                    <p:cond delay="0"/>
                                  </p:stCondLst>
                                  <p:childTnLst>
                                    <p:set>
                                      <p:cBhvr>
                                        <p:cTn id="274" dur="1" fill="hold">
                                          <p:stCondLst>
                                            <p:cond delay="0"/>
                                          </p:stCondLst>
                                        </p:cTn>
                                        <p:tgtEl>
                                          <p:spTgt spid="583"/>
                                        </p:tgtEl>
                                        <p:attrNameLst>
                                          <p:attrName>style.visibility</p:attrName>
                                        </p:attrNameLst>
                                      </p:cBhvr>
                                      <p:to>
                                        <p:strVal val="visible"/>
                                      </p:to>
                                    </p:set>
                                    <p:anim calcmode="lin" valueType="num">
                                      <p:cBhvr additive="repl">
                                        <p:cTn id="275" dur="500" fill="hold"/>
                                        <p:tgtEl>
                                          <p:spTgt spid="583"/>
                                        </p:tgtEl>
                                        <p:attrNameLst>
                                          <p:attrName>ppt_x</p:attrName>
                                        </p:attrNameLst>
                                      </p:cBhvr>
                                      <p:tavLst>
                                        <p:tav tm="0">
                                          <p:val>
                                            <p:strVal val="0-#ppt_w/2"/>
                                          </p:val>
                                        </p:tav>
                                        <p:tav tm="100000">
                                          <p:val>
                                            <p:strVal val="#ppt_x"/>
                                          </p:val>
                                        </p:tav>
                                      </p:tavLst>
                                    </p:anim>
                                    <p:anim calcmode="lin" valueType="num">
                                      <p:cBhvr additive="repl">
                                        <p:cTn id="276" dur="500" fill="hold"/>
                                        <p:tgtEl>
                                          <p:spTgt spid="583"/>
                                        </p:tgtEl>
                                        <p:attrNameLst>
                                          <p:attrName>ppt_y</p:attrName>
                                        </p:attrNameLst>
                                      </p:cBhvr>
                                      <p:tavLst>
                                        <p:tav tm="0">
                                          <p:val>
                                            <p:strVal val="#ppt_y"/>
                                          </p:val>
                                        </p:tav>
                                        <p:tav tm="100000">
                                          <p:val>
                                            <p:strVal val="#ppt_y"/>
                                          </p:val>
                                        </p:tav>
                                      </p:tavLst>
                                    </p:anim>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2" presetSubtype="8">
                                  <p:stCondLst>
                                    <p:cond delay="0"/>
                                  </p:stCondLst>
                                  <p:childTnLst>
                                    <p:set>
                                      <p:cBhvr>
                                        <p:cTn id="280" dur="1" fill="hold">
                                          <p:stCondLst>
                                            <p:cond delay="0"/>
                                          </p:stCondLst>
                                        </p:cTn>
                                        <p:tgtEl>
                                          <p:spTgt spid="584"/>
                                        </p:tgtEl>
                                        <p:attrNameLst>
                                          <p:attrName>style.visibility</p:attrName>
                                        </p:attrNameLst>
                                      </p:cBhvr>
                                      <p:to>
                                        <p:strVal val="visible"/>
                                      </p:to>
                                    </p:set>
                                    <p:anim calcmode="lin" valueType="num">
                                      <p:cBhvr additive="repl">
                                        <p:cTn id="281" dur="500" fill="hold"/>
                                        <p:tgtEl>
                                          <p:spTgt spid="584"/>
                                        </p:tgtEl>
                                        <p:attrNameLst>
                                          <p:attrName>ppt_x</p:attrName>
                                        </p:attrNameLst>
                                      </p:cBhvr>
                                      <p:tavLst>
                                        <p:tav tm="0">
                                          <p:val>
                                            <p:strVal val="0-#ppt_w/2"/>
                                          </p:val>
                                        </p:tav>
                                        <p:tav tm="100000">
                                          <p:val>
                                            <p:strVal val="#ppt_x"/>
                                          </p:val>
                                        </p:tav>
                                      </p:tavLst>
                                    </p:anim>
                                    <p:anim calcmode="lin" valueType="num">
                                      <p:cBhvr additive="repl">
                                        <p:cTn id="282" dur="500" fill="hold"/>
                                        <p:tgtEl>
                                          <p:spTgt spid="584"/>
                                        </p:tgtEl>
                                        <p:attrNameLst>
                                          <p:attrName>ppt_y</p:attrName>
                                        </p:attrNameLst>
                                      </p:cBhvr>
                                      <p:tavLst>
                                        <p:tav tm="0">
                                          <p:val>
                                            <p:strVal val="#ppt_y"/>
                                          </p:val>
                                        </p:tav>
                                        <p:tav tm="100000">
                                          <p:val>
                                            <p:strVal val="#ppt_y"/>
                                          </p:val>
                                        </p:tav>
                                      </p:tavLst>
                                    </p:anim>
                                  </p:childTnLst>
                                </p:cTn>
                              </p:par>
                            </p:childTnLst>
                          </p:cTn>
                        </p:par>
                      </p:childTnLst>
                    </p:cTn>
                  </p:par>
                  <p:par>
                    <p:cTn id="283" fill="hold">
                      <p:stCondLst>
                        <p:cond delay="indefinite"/>
                      </p:stCondLst>
                      <p:childTnLst>
                        <p:par>
                          <p:cTn id="284" fill="hold">
                            <p:stCondLst>
                              <p:cond delay="0"/>
                            </p:stCondLst>
                            <p:childTnLst>
                              <p:par>
                                <p:cTn id="285" nodeType="clickEffect" fill="hold" presetClass="entr" presetID="2" presetSubtype="2">
                                  <p:stCondLst>
                                    <p:cond delay="0"/>
                                  </p:stCondLst>
                                  <p:childTnLst>
                                    <p:set>
                                      <p:cBhvr>
                                        <p:cTn id="286" dur="1" fill="hold">
                                          <p:stCondLst>
                                            <p:cond delay="0"/>
                                          </p:stCondLst>
                                        </p:cTn>
                                        <p:tgtEl>
                                          <p:spTgt spid="585"/>
                                        </p:tgtEl>
                                        <p:attrNameLst>
                                          <p:attrName>style.visibility</p:attrName>
                                        </p:attrNameLst>
                                      </p:cBhvr>
                                      <p:to>
                                        <p:strVal val="visible"/>
                                      </p:to>
                                    </p:set>
                                    <p:anim calcmode="lin" valueType="num">
                                      <p:cBhvr additive="repl">
                                        <p:cTn id="287" dur="500" fill="hold"/>
                                        <p:tgtEl>
                                          <p:spTgt spid="585"/>
                                        </p:tgtEl>
                                        <p:attrNameLst>
                                          <p:attrName>ppt_x</p:attrName>
                                        </p:attrNameLst>
                                      </p:cBhvr>
                                      <p:tavLst>
                                        <p:tav tm="0">
                                          <p:val>
                                            <p:strVal val="1+#ppt_w/2"/>
                                          </p:val>
                                        </p:tav>
                                        <p:tav tm="100000">
                                          <p:val>
                                            <p:strVal val="#ppt_x"/>
                                          </p:val>
                                        </p:tav>
                                      </p:tavLst>
                                    </p:anim>
                                    <p:anim calcmode="lin" valueType="num">
                                      <p:cBhvr additive="repl">
                                        <p:cTn id="288" dur="500" fill="hold"/>
                                        <p:tgtEl>
                                          <p:spTgt spid="585"/>
                                        </p:tgtEl>
                                        <p:attrNameLst>
                                          <p:attrName>ppt_y</p:attrName>
                                        </p:attrNameLst>
                                      </p:cBhvr>
                                      <p:tavLst>
                                        <p:tav tm="0">
                                          <p:val>
                                            <p:strVal val="#ppt_y"/>
                                          </p:val>
                                        </p:tav>
                                        <p:tav tm="100000">
                                          <p:val>
                                            <p:strVal val="#ppt_y"/>
                                          </p:val>
                                        </p:tav>
                                      </p:tavLst>
                                    </p:anim>
                                  </p:childTnLst>
                                </p:cTn>
                              </p:par>
                            </p:childTnLst>
                          </p:cTn>
                        </p:par>
                      </p:childTnLst>
                    </p:cTn>
                  </p:par>
                  <p:par>
                    <p:cTn id="289" fill="hold">
                      <p:stCondLst>
                        <p:cond delay="indefinite"/>
                      </p:stCondLst>
                      <p:childTnLst>
                        <p:par>
                          <p:cTn id="290" fill="hold">
                            <p:stCondLst>
                              <p:cond delay="0"/>
                            </p:stCondLst>
                            <p:childTnLst>
                              <p:par>
                                <p:cTn id="291" nodeType="clickEffect" fill="hold" presetClass="entr" presetID="2" presetSubtype="8">
                                  <p:stCondLst>
                                    <p:cond delay="0"/>
                                  </p:stCondLst>
                                  <p:childTnLst>
                                    <p:set>
                                      <p:cBhvr>
                                        <p:cTn id="292" dur="1" fill="hold">
                                          <p:stCondLst>
                                            <p:cond delay="0"/>
                                          </p:stCondLst>
                                        </p:cTn>
                                        <p:tgtEl>
                                          <p:spTgt spid="586"/>
                                        </p:tgtEl>
                                        <p:attrNameLst>
                                          <p:attrName>style.visibility</p:attrName>
                                        </p:attrNameLst>
                                      </p:cBhvr>
                                      <p:to>
                                        <p:strVal val="visible"/>
                                      </p:to>
                                    </p:set>
                                    <p:anim calcmode="lin" valueType="num">
                                      <p:cBhvr additive="repl">
                                        <p:cTn id="293" dur="500" fill="hold"/>
                                        <p:tgtEl>
                                          <p:spTgt spid="586"/>
                                        </p:tgtEl>
                                        <p:attrNameLst>
                                          <p:attrName>ppt_x</p:attrName>
                                        </p:attrNameLst>
                                      </p:cBhvr>
                                      <p:tavLst>
                                        <p:tav tm="0">
                                          <p:val>
                                            <p:strVal val="0-#ppt_w/2"/>
                                          </p:val>
                                        </p:tav>
                                        <p:tav tm="100000">
                                          <p:val>
                                            <p:strVal val="#ppt_x"/>
                                          </p:val>
                                        </p:tav>
                                      </p:tavLst>
                                    </p:anim>
                                    <p:anim calcmode="lin" valueType="num">
                                      <p:cBhvr additive="repl">
                                        <p:cTn id="294" dur="500" fill="hold"/>
                                        <p:tgtEl>
                                          <p:spTgt spid="586"/>
                                        </p:tgtEl>
                                        <p:attrNameLst>
                                          <p:attrName>ppt_y</p:attrName>
                                        </p:attrNameLst>
                                      </p:cBhvr>
                                      <p:tavLst>
                                        <p:tav tm="0">
                                          <p:val>
                                            <p:strVal val="#ppt_y"/>
                                          </p:val>
                                        </p:tav>
                                        <p:tav tm="100000">
                                          <p:val>
                                            <p:strVal val="#ppt_y"/>
                                          </p:val>
                                        </p:tav>
                                      </p:tavLst>
                                    </p:anim>
                                  </p:childTnLst>
                                </p:cTn>
                              </p:par>
                            </p:childTnLst>
                          </p:cTn>
                        </p:par>
                      </p:childTnLst>
                    </p:cTn>
                  </p:par>
                  <p:par>
                    <p:cTn id="295" fill="hold">
                      <p:stCondLst>
                        <p:cond delay="indefinite"/>
                      </p:stCondLst>
                      <p:childTnLst>
                        <p:par>
                          <p:cTn id="296" fill="hold">
                            <p:stCondLst>
                              <p:cond delay="0"/>
                            </p:stCondLst>
                            <p:childTnLst>
                              <p:par>
                                <p:cTn id="297" nodeType="clickEffect" fill="hold" presetClass="entr" presetID="2" presetSubtype="2">
                                  <p:stCondLst>
                                    <p:cond delay="0"/>
                                  </p:stCondLst>
                                  <p:childTnLst>
                                    <p:set>
                                      <p:cBhvr>
                                        <p:cTn id="298" dur="1" fill="hold">
                                          <p:stCondLst>
                                            <p:cond delay="0"/>
                                          </p:stCondLst>
                                        </p:cTn>
                                        <p:tgtEl>
                                          <p:spTgt spid="587"/>
                                        </p:tgtEl>
                                        <p:attrNameLst>
                                          <p:attrName>style.visibility</p:attrName>
                                        </p:attrNameLst>
                                      </p:cBhvr>
                                      <p:to>
                                        <p:strVal val="visible"/>
                                      </p:to>
                                    </p:set>
                                    <p:anim calcmode="lin" valueType="num">
                                      <p:cBhvr additive="repl">
                                        <p:cTn id="299" dur="500" fill="hold"/>
                                        <p:tgtEl>
                                          <p:spTgt spid="587"/>
                                        </p:tgtEl>
                                        <p:attrNameLst>
                                          <p:attrName>ppt_x</p:attrName>
                                        </p:attrNameLst>
                                      </p:cBhvr>
                                      <p:tavLst>
                                        <p:tav tm="0">
                                          <p:val>
                                            <p:strVal val="1+#ppt_w/2"/>
                                          </p:val>
                                        </p:tav>
                                        <p:tav tm="100000">
                                          <p:val>
                                            <p:strVal val="#ppt_x"/>
                                          </p:val>
                                        </p:tav>
                                      </p:tavLst>
                                    </p:anim>
                                    <p:anim calcmode="lin" valueType="num">
                                      <p:cBhvr additive="repl">
                                        <p:cTn id="300" dur="500" fill="hold"/>
                                        <p:tgtEl>
                                          <p:spTgt spid="5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p:nvPr>
        </p:nvSpPr>
        <p:spPr>
          <a:xfrm>
            <a:off x="380880" y="1295280"/>
            <a:ext cx="838116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Một loại thực thể có thể tham gia nhiều lần vào một  quan hệ với nhiều vai trò khác nhau</a:t>
            </a:r>
            <a:endParaRPr b="0" lang="vi-VN" sz="2600" spc="-1" strike="noStrike">
              <a:solidFill>
                <a:srgbClr val="000000"/>
              </a:solidFill>
              <a:latin typeface="Arial"/>
            </a:endParaRPr>
          </a:p>
          <a:p>
            <a:pPr indent="0">
              <a:lnSpc>
                <a:spcPct val="100000"/>
              </a:lnSpc>
              <a:spcBef>
                <a:spcPts val="400"/>
              </a:spcBef>
              <a:buNone/>
              <a:tabLst>
                <a:tab algn="l" pos="0"/>
              </a:tabLst>
            </a:pPr>
            <a:endParaRPr b="0" lang="vi-VN" sz="2000" spc="-1" strike="noStrike">
              <a:solidFill>
                <a:srgbClr val="000000"/>
              </a:solidFill>
              <a:latin typeface="Arial"/>
            </a:endParaRPr>
          </a:p>
        </p:txBody>
      </p:sp>
      <p:sp>
        <p:nvSpPr>
          <p:cNvPr id="591" name="PlaceHolder 2"/>
          <p:cNvSpPr>
            <a:spLocks noGrp="1"/>
          </p:cNvSpPr>
          <p:nvPr>
            <p:ph type="sldNum" idx="11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54B2972B-F413-495E-81BB-D550CDC3EF42}"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592" name="Group 57"/>
          <p:cNvGrpSpPr/>
          <p:nvPr/>
        </p:nvGrpSpPr>
        <p:grpSpPr>
          <a:xfrm>
            <a:off x="2666880" y="2595240"/>
            <a:ext cx="3885840" cy="1598400"/>
            <a:chOff x="2666880" y="2595240"/>
            <a:chExt cx="3885840" cy="1598400"/>
          </a:xfrm>
        </p:grpSpPr>
        <p:sp>
          <p:nvSpPr>
            <p:cNvPr id="593" name="Text Box 44"/>
            <p:cNvSpPr/>
            <p:nvPr/>
          </p:nvSpPr>
          <p:spPr>
            <a:xfrm>
              <a:off x="2666880" y="2823840"/>
              <a:ext cx="152316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grpSp>
          <p:nvGrpSpPr>
            <p:cNvPr id="594" name="Group 45"/>
            <p:cNvGrpSpPr/>
            <p:nvPr/>
          </p:nvGrpSpPr>
          <p:grpSpPr>
            <a:xfrm>
              <a:off x="5181480" y="2823840"/>
              <a:ext cx="1371240" cy="456480"/>
              <a:chOff x="5181480" y="2823840"/>
              <a:chExt cx="1371240" cy="456480"/>
            </a:xfrm>
          </p:grpSpPr>
          <p:sp>
            <p:nvSpPr>
              <p:cNvPr id="595" name="AutoShape 46"/>
              <p:cNvSpPr/>
              <p:nvPr/>
            </p:nvSpPr>
            <p:spPr>
              <a:xfrm>
                <a:off x="5181480" y="2823840"/>
                <a:ext cx="1370880" cy="456480"/>
              </a:xfrm>
              <a:prstGeom prst="flowChartDecision">
                <a:avLst/>
              </a:prstGeom>
              <a:noFill/>
              <a:ln w="12700">
                <a:solidFill>
                  <a:srgbClr val="000000"/>
                </a:solidFill>
                <a:miter/>
              </a:ln>
            </p:spPr>
            <p:style>
              <a:lnRef idx="0"/>
              <a:fillRef idx="0"/>
              <a:effectRef idx="0"/>
              <a:fontRef idx="minor"/>
            </p:style>
            <p:txBody>
              <a:bodyPr wrap="none"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596" name="Text Box 47"/>
              <p:cNvSpPr/>
              <p:nvPr/>
            </p:nvSpPr>
            <p:spPr>
              <a:xfrm>
                <a:off x="5334120" y="2887200"/>
                <a:ext cx="12186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Huong_dan</a:t>
                </a:r>
                <a:endParaRPr b="0" lang="vi-VN" sz="1400" spc="-1" strike="noStrike">
                  <a:solidFill>
                    <a:srgbClr val="000000"/>
                  </a:solidFill>
                  <a:latin typeface="Arial"/>
                </a:endParaRPr>
              </a:p>
            </p:txBody>
          </p:sp>
        </p:grpSp>
        <p:sp>
          <p:nvSpPr>
            <p:cNvPr id="597" name="Line 48"/>
            <p:cNvSpPr/>
            <p:nvPr/>
          </p:nvSpPr>
          <p:spPr>
            <a:xfrm>
              <a:off x="4190760" y="3052080"/>
              <a:ext cx="99072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nvGrpSpPr>
            <p:cNvPr id="598" name="Group 52"/>
            <p:cNvGrpSpPr/>
            <p:nvPr/>
          </p:nvGrpSpPr>
          <p:grpSpPr>
            <a:xfrm>
              <a:off x="3429000" y="3204360"/>
              <a:ext cx="2438640" cy="610200"/>
              <a:chOff x="3429000" y="3204360"/>
              <a:chExt cx="2438640" cy="610200"/>
            </a:xfrm>
          </p:grpSpPr>
          <p:sp>
            <p:nvSpPr>
              <p:cNvPr id="599" name="Line 49"/>
              <p:cNvSpPr/>
              <p:nvPr/>
            </p:nvSpPr>
            <p:spPr>
              <a:xfrm>
                <a:off x="5867280" y="3280680"/>
                <a:ext cx="360" cy="5335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600" name="Line 50"/>
              <p:cNvSpPr/>
              <p:nvPr/>
            </p:nvSpPr>
            <p:spPr>
              <a:xfrm flipH="1">
                <a:off x="3429000" y="3814200"/>
                <a:ext cx="24382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601" name="Line 51"/>
              <p:cNvSpPr/>
              <p:nvPr/>
            </p:nvSpPr>
            <p:spPr>
              <a:xfrm flipV="1">
                <a:off x="3429000" y="3204360"/>
                <a:ext cx="360" cy="6098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sp>
          <p:nvSpPr>
            <p:cNvPr id="602" name="Text Box 53"/>
            <p:cNvSpPr/>
            <p:nvPr/>
          </p:nvSpPr>
          <p:spPr>
            <a:xfrm>
              <a:off x="3048120" y="3814200"/>
              <a:ext cx="24375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Người </a:t>
              </a:r>
              <a:r>
                <a:rPr b="0" lang="vi-VN" sz="1400" spc="-1" strike="noStrike">
                  <a:solidFill>
                    <a:schemeClr val="dk1"/>
                  </a:solidFill>
                  <a:latin typeface="Tahoma"/>
                </a:rPr>
                <a:t>đượ</a:t>
              </a:r>
              <a:r>
                <a:rPr b="0" lang="en-US" sz="1400" spc="-1" strike="noStrike">
                  <a:solidFill>
                    <a:schemeClr val="dk1"/>
                  </a:solidFill>
                  <a:latin typeface="Tahoma"/>
                </a:rPr>
                <a:t>c hướng dẫn</a:t>
              </a:r>
              <a:endParaRPr b="0" lang="vi-VN" sz="1400" spc="-1" strike="noStrike">
                <a:solidFill>
                  <a:srgbClr val="000000"/>
                </a:solidFill>
                <a:latin typeface="Arial"/>
              </a:endParaRPr>
            </a:p>
          </p:txBody>
        </p:sp>
        <p:sp>
          <p:nvSpPr>
            <p:cNvPr id="603" name="Text Box 54"/>
            <p:cNvSpPr/>
            <p:nvPr/>
          </p:nvSpPr>
          <p:spPr>
            <a:xfrm>
              <a:off x="5105520" y="3890520"/>
              <a:ext cx="7614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(0,1)</a:t>
              </a:r>
              <a:endParaRPr b="0" lang="vi-VN" sz="1400" spc="-1" strike="noStrike">
                <a:solidFill>
                  <a:srgbClr val="000000"/>
                </a:solidFill>
                <a:latin typeface="Arial"/>
              </a:endParaRPr>
            </a:p>
          </p:txBody>
        </p:sp>
        <p:sp>
          <p:nvSpPr>
            <p:cNvPr id="604" name="Text Box 55"/>
            <p:cNvSpPr/>
            <p:nvPr/>
          </p:nvSpPr>
          <p:spPr>
            <a:xfrm>
              <a:off x="4343400" y="305244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(0,n)</a:t>
              </a:r>
              <a:endParaRPr b="0" lang="vi-VN" sz="1400" spc="-1" strike="noStrike">
                <a:solidFill>
                  <a:srgbClr val="000000"/>
                </a:solidFill>
                <a:latin typeface="Arial"/>
              </a:endParaRPr>
            </a:p>
          </p:txBody>
        </p:sp>
        <p:sp>
          <p:nvSpPr>
            <p:cNvPr id="605" name="Text Box 56"/>
            <p:cNvSpPr/>
            <p:nvPr/>
          </p:nvSpPr>
          <p:spPr>
            <a:xfrm>
              <a:off x="4114800" y="2595240"/>
              <a:ext cx="16758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Người hướng dẫn</a:t>
              </a:r>
              <a:endParaRPr b="0" lang="vi-VN" sz="1400" spc="-1" strike="noStrike">
                <a:solidFill>
                  <a:srgbClr val="000000"/>
                </a:solidFill>
                <a:latin typeface="Arial"/>
              </a:endParaRPr>
            </a:p>
          </p:txBody>
        </p:sp>
      </p:grpSp>
      <p:sp>
        <p:nvSpPr>
          <p:cNvPr id="606" name="PlaceHolder 3"/>
          <p:cNvSpPr>
            <a:spLocks noGrp="1"/>
          </p:cNvSpPr>
          <p:nvPr>
            <p:ph type="dt" idx="119"/>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7022CDF2-C7CC-44B8-BED0-7EB34D00F0AB}"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607" name="PlaceHolder 4"/>
          <p:cNvSpPr>
            <a:spLocks noGrp="1"/>
          </p:cNvSpPr>
          <p:nvPr>
            <p:ph type="ftr" idx="12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608"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pic>
        <p:nvPicPr>
          <p:cNvPr id="609"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title"/>
          </p:nvPr>
        </p:nvSpPr>
        <p:spPr>
          <a:xfrm>
            <a:off x="304920" y="1066680"/>
            <a:ext cx="8000280" cy="38016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000" spc="-1" strike="noStrike">
                <a:solidFill>
                  <a:schemeClr val="dk2"/>
                </a:solidFill>
                <a:latin typeface="Calibri"/>
              </a:rPr>
              <a:t>2. Ràng buộc tham gia và sự phụ thuộc tồn tại</a:t>
            </a:r>
            <a:endParaRPr b="0" lang="vi-VN" sz="2000" spc="-1" strike="noStrike">
              <a:solidFill>
                <a:srgbClr val="000000"/>
              </a:solidFill>
              <a:latin typeface="Arial"/>
            </a:endParaRPr>
          </a:p>
        </p:txBody>
      </p:sp>
      <p:sp>
        <p:nvSpPr>
          <p:cNvPr id="611" name="PlaceHolder 2"/>
          <p:cNvSpPr>
            <a:spLocks noGrp="1"/>
          </p:cNvSpPr>
          <p:nvPr>
            <p:ph/>
          </p:nvPr>
        </p:nvSpPr>
        <p:spPr>
          <a:xfrm>
            <a:off x="380880" y="2438280"/>
            <a:ext cx="8381160" cy="3885480"/>
          </a:xfrm>
          <a:prstGeom prst="rect">
            <a:avLst/>
          </a:prstGeom>
          <a:noFill/>
          <a:ln w="9360">
            <a:noFill/>
          </a:ln>
        </p:spPr>
        <p:txBody>
          <a:bodyPr numCol="1" spcCol="0" lIns="91440" rIns="91440" tIns="45720" bIns="45720" anchor="t">
            <a:noAutofit/>
          </a:bodyPr>
          <a:p>
            <a:pPr marL="272880" indent="-272880">
              <a:lnSpc>
                <a:spcPct val="90000"/>
              </a:lnSpc>
              <a:spcBef>
                <a:spcPts val="439"/>
              </a:spcBef>
              <a:buNone/>
              <a:tabLst>
                <a:tab algn="l" pos="0"/>
              </a:tabLst>
            </a:pPr>
            <a:r>
              <a:rPr b="1" i="1" lang="en-US" sz="2200" spc="-1" strike="noStrike">
                <a:solidFill>
                  <a:schemeClr val="dk1"/>
                </a:solidFill>
                <a:latin typeface="Constantia"/>
              </a:rPr>
              <a:t>Trong ví dụ trên</a:t>
            </a:r>
            <a:endParaRPr b="0" lang="vi-VN" sz="2200" spc="-1" strike="noStrike">
              <a:solidFill>
                <a:srgbClr val="000000"/>
              </a:solidFill>
              <a:latin typeface="Arial"/>
            </a:endParaRPr>
          </a:p>
          <a:p>
            <a:pPr lvl="1" marL="639720" indent="-246240">
              <a:lnSpc>
                <a:spcPct val="90000"/>
              </a:lnSpc>
              <a:spcBef>
                <a:spcPts val="420"/>
              </a:spcBef>
              <a:buClr>
                <a:srgbClr val="0f6fc6"/>
              </a:buClr>
              <a:buSzPct val="85000"/>
              <a:buFont typeface="Wingdings 2" charset="2"/>
              <a:buChar char=""/>
              <a:tabLst>
                <a:tab algn="l" pos="0"/>
              </a:tabLst>
            </a:pPr>
            <a:r>
              <a:rPr b="0" lang="en-US" sz="2100" spc="-1" strike="noStrike">
                <a:solidFill>
                  <a:schemeClr val="dk1"/>
                </a:solidFill>
                <a:latin typeface="Constantia"/>
              </a:rPr>
              <a:t>Có phải </a:t>
            </a:r>
            <a:r>
              <a:rPr b="1" lang="en-US" sz="2100" spc="-1" strike="noStrike">
                <a:solidFill>
                  <a:schemeClr val="dk1"/>
                </a:solidFill>
                <a:latin typeface="Constantia"/>
              </a:rPr>
              <a:t>phòng</a:t>
            </a:r>
            <a:r>
              <a:rPr b="0" lang="en-US" sz="2100" spc="-1" strike="noStrike">
                <a:solidFill>
                  <a:schemeClr val="dk1"/>
                </a:solidFill>
                <a:latin typeface="Constantia"/>
              </a:rPr>
              <a:t> nào cũng có người quản lý ?</a:t>
            </a:r>
            <a:endParaRPr b="0" lang="vi-VN" sz="2100" spc="-1" strike="noStrike">
              <a:solidFill>
                <a:srgbClr val="000000"/>
              </a:solidFill>
              <a:latin typeface="Arial"/>
            </a:endParaRPr>
          </a:p>
          <a:p>
            <a:pPr lvl="2" marL="914400" indent="-246240">
              <a:lnSpc>
                <a:spcPct val="90000"/>
              </a:lnSpc>
              <a:spcBef>
                <a:spcPts val="360"/>
              </a:spcBef>
              <a:buClr>
                <a:srgbClr val="009dd9"/>
              </a:buClr>
              <a:buSzPct val="70000"/>
              <a:buFont typeface="Courier New"/>
              <a:buChar char="o"/>
              <a:tabLst>
                <a:tab algn="l" pos="0"/>
              </a:tabLst>
            </a:pPr>
            <a:r>
              <a:rPr b="0" lang="en-US" sz="1800" spc="-1" strike="noStrike">
                <a:solidFill>
                  <a:schemeClr val="dk1"/>
                </a:solidFill>
                <a:latin typeface="Constantia"/>
              </a:rPr>
              <a:t>Đúng</a:t>
            </a:r>
            <a:r>
              <a:rPr b="0" lang="en-US" sz="1800" spc="-1" strike="noStrike">
                <a:solidFill>
                  <a:schemeClr val="dk1"/>
                </a:solidFill>
                <a:latin typeface="Wingdings"/>
              </a:rPr>
              <a:t></a:t>
            </a:r>
            <a:r>
              <a:rPr b="0" lang="en-US" sz="1800" spc="-1" strike="noStrike">
                <a:solidFill>
                  <a:schemeClr val="dk1"/>
                </a:solidFill>
                <a:latin typeface="Constantia"/>
              </a:rPr>
              <a:t> đó là ràng buộc </a:t>
            </a:r>
            <a:r>
              <a:rPr b="0" i="1" lang="en-US" sz="1800" spc="-1" strike="noStrike" u="sng">
                <a:solidFill>
                  <a:schemeClr val="dk1"/>
                </a:solidFill>
                <a:uFillTx/>
                <a:latin typeface="Constantia"/>
              </a:rPr>
              <a:t>tham gia toàn bộ </a:t>
            </a:r>
            <a:r>
              <a:rPr b="0" lang="en-US" sz="1800" spc="-1" strike="noStrike">
                <a:solidFill>
                  <a:schemeClr val="dk1"/>
                </a:solidFill>
                <a:latin typeface="Constantia"/>
              </a:rPr>
              <a:t>của thực thể PHONGBAN trong liên kết (sự phụ thuộc tồn tại); Tham gia toàn bộ vào liên kết</a:t>
            </a:r>
            <a:endParaRPr b="0" lang="vi-VN" sz="1800" spc="-1" strike="noStrike">
              <a:solidFill>
                <a:srgbClr val="000000"/>
              </a:solidFill>
              <a:latin typeface="Arial"/>
            </a:endParaRPr>
          </a:p>
          <a:p>
            <a:pPr lvl="1" marL="639720" indent="-246240">
              <a:lnSpc>
                <a:spcPct val="90000"/>
              </a:lnSpc>
              <a:spcBef>
                <a:spcPts val="420"/>
              </a:spcBef>
              <a:buClr>
                <a:srgbClr val="0f6fc6"/>
              </a:buClr>
              <a:buSzPct val="85000"/>
              <a:buFont typeface="Wingdings 2" charset="2"/>
              <a:buChar char=""/>
              <a:tabLst>
                <a:tab algn="l" pos="0"/>
              </a:tabLst>
            </a:pPr>
            <a:r>
              <a:rPr b="0" lang="en-US" sz="2100" spc="-1" strike="noStrike">
                <a:solidFill>
                  <a:schemeClr val="dk1"/>
                </a:solidFill>
                <a:latin typeface="Constantia"/>
              </a:rPr>
              <a:t>Có phải nhân viên nào cũng là trưởng phòng?</a:t>
            </a:r>
            <a:endParaRPr b="0" lang="vi-VN" sz="2100" spc="-1" strike="noStrike">
              <a:solidFill>
                <a:srgbClr val="000000"/>
              </a:solidFill>
              <a:latin typeface="Arial"/>
            </a:endParaRPr>
          </a:p>
          <a:p>
            <a:pPr lvl="2" marL="914400" indent="-246240">
              <a:lnSpc>
                <a:spcPct val="90000"/>
              </a:lnSpc>
              <a:spcBef>
                <a:spcPts val="360"/>
              </a:spcBef>
              <a:buClr>
                <a:srgbClr val="009dd9"/>
              </a:buClr>
              <a:buSzPct val="70000"/>
              <a:buFont typeface="Courier New"/>
              <a:buChar char="o"/>
              <a:tabLst>
                <a:tab algn="l" pos="0"/>
              </a:tabLst>
            </a:pPr>
            <a:r>
              <a:rPr b="0" lang="en-US" sz="1800" spc="-1" strike="noStrike">
                <a:solidFill>
                  <a:schemeClr val="dk1"/>
                </a:solidFill>
                <a:latin typeface="Constantia"/>
              </a:rPr>
              <a:t>Sai </a:t>
            </a:r>
            <a:r>
              <a:rPr b="0" lang="en-US" sz="1800" spc="-1" strike="noStrike">
                <a:solidFill>
                  <a:schemeClr val="dk1"/>
                </a:solidFill>
                <a:latin typeface="Wingdings"/>
              </a:rPr>
              <a:t></a:t>
            </a:r>
            <a:r>
              <a:rPr b="0" lang="en-US" sz="1800" spc="-1" strike="noStrike">
                <a:solidFill>
                  <a:schemeClr val="dk1"/>
                </a:solidFill>
                <a:latin typeface="Constantia"/>
              </a:rPr>
              <a:t> NHANVIEN </a:t>
            </a:r>
            <a:r>
              <a:rPr b="0" i="1" lang="en-US" sz="1800" spc="-1" strike="noStrike" u="sng">
                <a:solidFill>
                  <a:schemeClr val="dk1"/>
                </a:solidFill>
                <a:uFillTx/>
                <a:latin typeface="Constantia"/>
              </a:rPr>
              <a:t>tham gia bộ phân</a:t>
            </a:r>
            <a:r>
              <a:rPr b="0" lang="en-US" sz="1800" spc="-1" strike="noStrike">
                <a:solidFill>
                  <a:schemeClr val="dk1"/>
                </a:solidFill>
                <a:latin typeface="Constantia"/>
              </a:rPr>
              <a:t> vào liên kết</a:t>
            </a:r>
            <a:endParaRPr b="0" lang="vi-VN" sz="1800" spc="-1" strike="noStrike">
              <a:solidFill>
                <a:srgbClr val="000000"/>
              </a:solidFill>
              <a:latin typeface="Arial"/>
            </a:endParaRPr>
          </a:p>
          <a:p>
            <a:pPr marL="914400" indent="-246240">
              <a:lnSpc>
                <a:spcPct val="90000"/>
              </a:lnSpc>
              <a:spcBef>
                <a:spcPts val="360"/>
              </a:spcBef>
              <a:buNone/>
              <a:tabLst>
                <a:tab algn="l" pos="0"/>
              </a:tabLst>
            </a:pPr>
            <a:endParaRPr b="0" lang="vi-VN" sz="1800" spc="-1" strike="noStrike">
              <a:solidFill>
                <a:srgbClr val="000000"/>
              </a:solidFill>
              <a:latin typeface="Arial"/>
            </a:endParaRPr>
          </a:p>
          <a:p>
            <a:pPr marL="272880" indent="-272880">
              <a:lnSpc>
                <a:spcPct val="90000"/>
              </a:lnSpc>
              <a:spcBef>
                <a:spcPts val="439"/>
              </a:spcBef>
              <a:buClr>
                <a:srgbClr val="0bd0d9"/>
              </a:buClr>
              <a:buSzPct val="95000"/>
              <a:buFont typeface="Wingdings 2" charset="2"/>
              <a:buChar char=""/>
              <a:tabLst>
                <a:tab algn="l" pos="0"/>
              </a:tabLst>
            </a:pPr>
            <a:r>
              <a:rPr b="0" lang="en-US" sz="2200" spc="-1" strike="noStrike">
                <a:solidFill>
                  <a:schemeClr val="dk1"/>
                </a:solidFill>
                <a:latin typeface="Constantia"/>
              </a:rPr>
              <a:t>Biểu diễn</a:t>
            </a:r>
            <a:endParaRPr b="0" lang="vi-VN" sz="2200" spc="-1" strike="noStrike">
              <a:solidFill>
                <a:srgbClr val="000000"/>
              </a:solidFill>
              <a:latin typeface="Arial"/>
            </a:endParaRPr>
          </a:p>
          <a:p>
            <a:pPr lvl="1" marL="639720" indent="-246240">
              <a:lnSpc>
                <a:spcPct val="90000"/>
              </a:lnSpc>
              <a:spcBef>
                <a:spcPts val="420"/>
              </a:spcBef>
              <a:buClr>
                <a:srgbClr val="0f6fc6"/>
              </a:buClr>
              <a:buSzPct val="85000"/>
              <a:buFont typeface="Courier New"/>
              <a:buChar char="o"/>
              <a:tabLst>
                <a:tab algn="l" pos="0"/>
              </a:tabLst>
            </a:pPr>
            <a:r>
              <a:rPr b="0" lang="en-US" sz="2100" spc="-1" strike="noStrike">
                <a:solidFill>
                  <a:schemeClr val="dk1"/>
                </a:solidFill>
                <a:latin typeface="Constantia"/>
              </a:rPr>
              <a:t>Ràng buộc tham gia toàn bộ </a:t>
            </a:r>
            <a:r>
              <a:rPr b="0" lang="en-US" sz="2100" spc="-1" strike="noStrike">
                <a:solidFill>
                  <a:schemeClr val="dk1"/>
                </a:solidFill>
                <a:latin typeface="Wingdings"/>
              </a:rPr>
              <a:t></a:t>
            </a:r>
            <a:r>
              <a:rPr b="0" lang="en-US" sz="2100" spc="-1" strike="noStrike">
                <a:solidFill>
                  <a:schemeClr val="dk1"/>
                </a:solidFill>
                <a:latin typeface="Constantia"/>
              </a:rPr>
              <a:t>  hoặc </a:t>
            </a:r>
            <a:endParaRPr b="0" lang="vi-VN" sz="2100" spc="-1" strike="noStrike">
              <a:solidFill>
                <a:srgbClr val="000000"/>
              </a:solidFill>
              <a:latin typeface="Arial"/>
            </a:endParaRPr>
          </a:p>
          <a:p>
            <a:pPr lvl="1" marL="639720" indent="-246240">
              <a:lnSpc>
                <a:spcPct val="90000"/>
              </a:lnSpc>
              <a:spcBef>
                <a:spcPts val="420"/>
              </a:spcBef>
              <a:buClr>
                <a:srgbClr val="0f6fc6"/>
              </a:buClr>
              <a:buSzPct val="85000"/>
              <a:buFont typeface="Courier New"/>
              <a:buChar char="o"/>
              <a:tabLst>
                <a:tab algn="l" pos="0"/>
              </a:tabLst>
            </a:pPr>
            <a:r>
              <a:rPr b="0" lang="en-US" sz="2100" spc="-1" strike="noStrike">
                <a:solidFill>
                  <a:schemeClr val="dk1"/>
                </a:solidFill>
                <a:latin typeface="Constantia"/>
              </a:rPr>
              <a:t>Ràng buộc tham gia bộ phận</a:t>
            </a:r>
            <a:endParaRPr b="0" lang="vi-VN" sz="2100" spc="-1" strike="noStrike">
              <a:solidFill>
                <a:srgbClr val="000000"/>
              </a:solidFill>
              <a:latin typeface="Arial"/>
            </a:endParaRPr>
          </a:p>
          <a:p>
            <a:pPr indent="0">
              <a:lnSpc>
                <a:spcPct val="90000"/>
              </a:lnSpc>
              <a:spcBef>
                <a:spcPts val="360"/>
              </a:spcBef>
              <a:buNone/>
              <a:tabLst>
                <a:tab algn="l" pos="0"/>
              </a:tabLst>
            </a:pPr>
            <a:endParaRPr b="0" lang="vi-VN" sz="1800" spc="-1" strike="noStrike">
              <a:solidFill>
                <a:srgbClr val="000000"/>
              </a:solidFill>
              <a:latin typeface="Arial"/>
            </a:endParaRPr>
          </a:p>
        </p:txBody>
      </p:sp>
      <p:sp>
        <p:nvSpPr>
          <p:cNvPr id="612" name="PlaceHolder 3"/>
          <p:cNvSpPr>
            <a:spLocks noGrp="1"/>
          </p:cNvSpPr>
          <p:nvPr>
            <p:ph type="sldNum" idx="12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975E9035-BCF8-443B-9F26-703284E12344}"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613" name="Group 20"/>
          <p:cNvGrpSpPr/>
          <p:nvPr/>
        </p:nvGrpSpPr>
        <p:grpSpPr>
          <a:xfrm>
            <a:off x="1981080" y="1547280"/>
            <a:ext cx="5943240" cy="696600"/>
            <a:chOff x="1981080" y="1547280"/>
            <a:chExt cx="5943240" cy="696600"/>
          </a:xfrm>
        </p:grpSpPr>
        <p:sp>
          <p:nvSpPr>
            <p:cNvPr id="614" name="Rectangle 6"/>
            <p:cNvSpPr/>
            <p:nvPr/>
          </p:nvSpPr>
          <p:spPr>
            <a:xfrm>
              <a:off x="1981080" y="1605960"/>
              <a:ext cx="1294560" cy="63792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grpSp>
          <p:nvGrpSpPr>
            <p:cNvPr id="615" name="Group 19"/>
            <p:cNvGrpSpPr/>
            <p:nvPr/>
          </p:nvGrpSpPr>
          <p:grpSpPr>
            <a:xfrm>
              <a:off x="3276360" y="1547280"/>
              <a:ext cx="4647960" cy="637920"/>
              <a:chOff x="3276360" y="1547280"/>
              <a:chExt cx="4647960" cy="637920"/>
            </a:xfrm>
          </p:grpSpPr>
          <p:sp>
            <p:nvSpPr>
              <p:cNvPr id="616" name="AutoShape 5"/>
              <p:cNvSpPr/>
              <p:nvPr/>
            </p:nvSpPr>
            <p:spPr>
              <a:xfrm>
                <a:off x="3733920" y="1600200"/>
                <a:ext cx="2285280" cy="583560"/>
              </a:xfrm>
              <a:prstGeom prst="flowChartDecision">
                <a:avLst/>
              </a:prstGeom>
              <a:noFill/>
              <a:ln w="3175">
                <a:solidFill>
                  <a:srgbClr val="000000"/>
                </a:solidFill>
                <a:miter/>
              </a:ln>
            </p:spPr>
            <p:style>
              <a:lnRef idx="0"/>
              <a:fillRef idx="0"/>
              <a:effectRef idx="0"/>
              <a:fontRef idx="minor"/>
            </p:style>
            <p:txBody>
              <a:bodyPr wrap="none" lIns="0" rIns="0" tIns="45000" bIns="45000" anchor="ctr">
                <a:noAutofit/>
              </a:bodyPr>
              <a:p>
                <a:pPr algn="ctr">
                  <a:lnSpc>
                    <a:spcPct val="100000"/>
                  </a:lnSpc>
                  <a:spcBef>
                    <a:spcPts val="799"/>
                  </a:spcBef>
                </a:pPr>
                <a:r>
                  <a:rPr b="0" lang="en-US" sz="1600" spc="-1" strike="noStrike">
                    <a:solidFill>
                      <a:schemeClr val="dk1"/>
                    </a:solidFill>
                    <a:latin typeface="Tahoma"/>
                  </a:rPr>
                  <a:t>Quan_ly</a:t>
                </a:r>
                <a:endParaRPr b="0" lang="vi-VN" sz="1600" spc="-1" strike="noStrike">
                  <a:solidFill>
                    <a:srgbClr val="000000"/>
                  </a:solidFill>
                  <a:latin typeface="Arial"/>
                </a:endParaRPr>
              </a:p>
            </p:txBody>
          </p:sp>
          <p:sp>
            <p:nvSpPr>
              <p:cNvPr id="617" name="Rectangle 7"/>
              <p:cNvSpPr/>
              <p:nvPr/>
            </p:nvSpPr>
            <p:spPr>
              <a:xfrm>
                <a:off x="6477120" y="1547280"/>
                <a:ext cx="1447200" cy="63792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r>
                  <a:rPr b="0" lang="en-US" sz="1800" spc="-1" strike="noStrike">
                    <a:solidFill>
                      <a:schemeClr val="dk1"/>
                    </a:solidFill>
                    <a:latin typeface="Tahoma"/>
                  </a:rPr>
                  <a:t>PHONGBAN</a:t>
                </a:r>
                <a:endParaRPr b="0" lang="vi-VN" sz="1800" spc="-1" strike="noStrike">
                  <a:solidFill>
                    <a:srgbClr val="000000"/>
                  </a:solidFill>
                  <a:latin typeface="Arial"/>
                </a:endParaRPr>
              </a:p>
            </p:txBody>
          </p:sp>
          <p:sp>
            <p:nvSpPr>
              <p:cNvPr id="618" name="Line 8"/>
              <p:cNvSpPr/>
              <p:nvPr/>
            </p:nvSpPr>
            <p:spPr>
              <a:xfrm>
                <a:off x="3276360" y="1887480"/>
                <a:ext cx="45720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619" name="Line 9"/>
              <p:cNvSpPr/>
              <p:nvPr/>
            </p:nvSpPr>
            <p:spPr>
              <a:xfrm>
                <a:off x="6019560" y="1887480"/>
                <a:ext cx="457200" cy="360"/>
              </a:xfrm>
              <a:prstGeom prst="line">
                <a:avLst/>
              </a:prstGeom>
              <a:ln w="60325">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grpSp>
      <p:sp>
        <p:nvSpPr>
          <p:cNvPr id="620" name="PlaceHolder 4"/>
          <p:cNvSpPr>
            <a:spLocks noGrp="1"/>
          </p:cNvSpPr>
          <p:nvPr>
            <p:ph type="dt" idx="122"/>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20AECB8-7953-4682-973E-86D44D21427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621" name="PlaceHolder 5"/>
          <p:cNvSpPr>
            <a:spLocks noGrp="1"/>
          </p:cNvSpPr>
          <p:nvPr>
            <p:ph type="ftr" idx="12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622" name="Line 9"/>
          <p:cNvSpPr/>
          <p:nvPr/>
        </p:nvSpPr>
        <p:spPr>
          <a:xfrm>
            <a:off x="5638680" y="5257800"/>
            <a:ext cx="457200" cy="360"/>
          </a:xfrm>
          <a:prstGeom prst="line">
            <a:avLst/>
          </a:prstGeom>
          <a:ln w="60325">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cxnSp>
        <p:nvCxnSpPr>
          <p:cNvPr id="623" name="Straight Connector 32"/>
          <p:cNvCxnSpPr/>
          <p:nvPr/>
        </p:nvCxnSpPr>
        <p:spPr>
          <a:xfrm>
            <a:off x="4800600" y="5562360"/>
            <a:ext cx="991080" cy="2520"/>
          </a:xfrm>
          <a:prstGeom prst="straightConnector1">
            <a:avLst/>
          </a:prstGeom>
          <a:ln w="0">
            <a:solidFill>
              <a:srgbClr val="095294"/>
            </a:solidFill>
          </a:ln>
        </p:spPr>
      </p:cxnSp>
      <p:sp>
        <p:nvSpPr>
          <p:cNvPr id="624" name="TextBox 33"/>
          <p:cNvSpPr/>
          <p:nvPr/>
        </p:nvSpPr>
        <p:spPr>
          <a:xfrm>
            <a:off x="6553080" y="4343400"/>
            <a:ext cx="2437560" cy="2009880"/>
          </a:xfrm>
          <a:prstGeom prst="rect">
            <a:avLst/>
          </a:prstGeom>
          <a:solidFill>
            <a:srgbClr val="009d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2"/>
          </a:fillRef>
          <a:effectRef idx="1">
            <a:schemeClr val="accent2"/>
          </a:effectRef>
          <a:fontRef idx="minor"/>
        </p:style>
        <p:txBody>
          <a:bodyPr lIns="90000" rIns="90000" tIns="45000" bIns="45000" anchor="t">
            <a:spAutoFit/>
          </a:bodyPr>
          <a:p>
            <a:pPr algn="ctr">
              <a:lnSpc>
                <a:spcPct val="100000"/>
              </a:lnSpc>
              <a:spcBef>
                <a:spcPts val="601"/>
              </a:spcBef>
            </a:pPr>
            <a:r>
              <a:rPr b="1" lang="en-US" sz="1800" spc="-1" strike="noStrike">
                <a:solidFill>
                  <a:srgbClr val="ffff00"/>
                </a:solidFill>
                <a:latin typeface="Constantia"/>
              </a:rPr>
              <a:t>Ràng buộc tham gia chỉ ra  sự tồn tại của một kiểu thực thể phụ thuộc vào một kiểu thực thể khác  thông qua liên kết ? </a:t>
            </a:r>
            <a:endParaRPr b="0" lang="vi-VN" sz="1800" spc="-1" strike="noStrike">
              <a:solidFill>
                <a:srgbClr val="ffffff"/>
              </a:solidFill>
              <a:latin typeface="Arial"/>
            </a:endParaRPr>
          </a:p>
        </p:txBody>
      </p:sp>
      <p:sp>
        <p:nvSpPr>
          <p:cNvPr id="625"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pic>
        <p:nvPicPr>
          <p:cNvPr id="626"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301" dur="indefinite" restart="never" nodeType="tmRoot">
          <p:childTnLst>
            <p:seq>
              <p:cTn id="302" dur="indefinite" nodeType="mainSeq">
                <p:childTnLst>
                  <p:par>
                    <p:cTn id="303" fill="hold">
                      <p:stCondLst>
                        <p:cond delay="indefinite"/>
                      </p:stCondLst>
                      <p:childTnLst>
                        <p:par>
                          <p:cTn id="304" fill="hold">
                            <p:stCondLst>
                              <p:cond delay="0"/>
                            </p:stCondLst>
                            <p:childTnLst>
                              <p:par>
                                <p:cTn id="305" nodeType="clickEffect" fill="hold" presetClass="entr" presetID="4" presetSubtype="16">
                                  <p:stCondLst>
                                    <p:cond delay="0"/>
                                  </p:stCondLst>
                                  <p:childTnLst>
                                    <p:set>
                                      <p:cBhvr>
                                        <p:cTn id="306" dur="1" fill="hold">
                                          <p:stCondLst>
                                            <p:cond delay="0"/>
                                          </p:stCondLst>
                                        </p:cTn>
                                        <p:tgtEl>
                                          <p:spTgt spid="624"/>
                                        </p:tgtEl>
                                        <p:attrNameLst>
                                          <p:attrName>style.visibility</p:attrName>
                                        </p:attrNameLst>
                                      </p:cBhvr>
                                      <p:to>
                                        <p:strVal val="visible"/>
                                      </p:to>
                                    </p:set>
                                    <p:animEffect filter="box(in)" transition="in">
                                      <p:cBhvr additive="repl">
                                        <p:cTn id="307" dur="5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title"/>
          </p:nvPr>
        </p:nvSpPr>
        <p:spPr>
          <a:xfrm>
            <a:off x="304920" y="1066680"/>
            <a:ext cx="8000280" cy="3199680"/>
          </a:xfrm>
          <a:prstGeom prst="rect">
            <a:avLst/>
          </a:prstGeom>
          <a:noFill/>
          <a:ln w="9360">
            <a:noFill/>
          </a:ln>
        </p:spPr>
        <p:txBody>
          <a:bodyPr numCol="1" spcCol="0" lIns="0" rIns="0" tIns="45720" bIns="0" anchor="b">
            <a:noAutofit/>
          </a:bodyPr>
          <a:p>
            <a:pPr marL="457200" indent="-457200">
              <a:lnSpc>
                <a:spcPct val="100000"/>
              </a:lnSpc>
              <a:buNone/>
              <a:tabLst>
                <a:tab algn="l" pos="0"/>
              </a:tabLst>
            </a:pPr>
            <a:r>
              <a:rPr b="1" lang="en-US" sz="2000" spc="-1" strike="noStrike">
                <a:solidFill>
                  <a:schemeClr val="dk2"/>
                </a:solidFill>
                <a:latin typeface="Times New Roman"/>
              </a:rPr>
              <a:t>      </a:t>
            </a:r>
            <a:r>
              <a:rPr b="1" lang="en-US" sz="2000" spc="-1" strike="noStrike">
                <a:solidFill>
                  <a:schemeClr val="dk2"/>
                </a:solidFill>
                <a:latin typeface="Times New Roman"/>
              </a:rPr>
              <a:t>- Có 2 loại ràng buộc:  Ràng buộc tỉ số lực lượng, </a:t>
            </a:r>
            <a:r>
              <a:rPr b="1" lang="vi-VN" sz="2000" spc="-1" strike="noStrike">
                <a:solidFill>
                  <a:schemeClr val="dk2"/>
                </a:solidFill>
                <a:latin typeface="Times New Roman"/>
              </a:rPr>
              <a:t>đượ</a:t>
            </a:r>
            <a:r>
              <a:rPr b="1" lang="en-US" sz="2000" spc="-1" strike="noStrike">
                <a:solidFill>
                  <a:schemeClr val="dk2"/>
                </a:solidFill>
                <a:latin typeface="Times New Roman"/>
              </a:rPr>
              <a:t>c biểu diễn   bằng cặp  (k1:k2); Ràng buộc tham gia. </a:t>
            </a:r>
            <a:r>
              <a:rPr b="1" lang="vi-VN" sz="2000" spc="-1" strike="noStrike">
                <a:solidFill>
                  <a:schemeClr val="dk2"/>
                </a:solidFill>
                <a:latin typeface="Times New Roman"/>
              </a:rPr>
              <a:t>Đượ</a:t>
            </a:r>
            <a:r>
              <a:rPr b="1" lang="en-US" sz="2000" spc="-1" strike="noStrike">
                <a:solidFill>
                  <a:schemeClr val="dk2"/>
                </a:solidFill>
                <a:latin typeface="Times New Roman"/>
              </a:rPr>
              <a:t>c gọi chung là ràng buộc cấu trúc;</a:t>
            </a:r>
            <a:br>
              <a:rPr sz="2000"/>
            </a:br>
            <a:r>
              <a:rPr b="1" lang="en-US" sz="2000" spc="-1" strike="noStrike">
                <a:solidFill>
                  <a:schemeClr val="dk2"/>
                </a:solidFill>
                <a:latin typeface="Times New Roman"/>
              </a:rPr>
              <a:t>- Có thể  dùng cặp (min, max) để phản ảnh ràng buộc cấu trúc</a:t>
            </a:r>
            <a:br>
              <a:rPr sz="2000"/>
            </a:br>
            <a:r>
              <a:rPr b="1" lang="en-US" sz="2000" spc="-1" strike="noStrike">
                <a:solidFill>
                  <a:schemeClr val="dk2"/>
                </a:solidFill>
                <a:latin typeface="Times New Roman"/>
              </a:rPr>
              <a:t>min = 0  </a:t>
            </a:r>
            <a:r>
              <a:rPr b="1" lang="en-US" sz="2000" spc="-1" strike="noStrike">
                <a:solidFill>
                  <a:schemeClr val="dk2"/>
                </a:solidFill>
                <a:latin typeface="Wingdings"/>
              </a:rPr>
              <a:t></a:t>
            </a:r>
            <a:r>
              <a:rPr b="1" lang="en-US" sz="2000" spc="-1" strike="noStrike">
                <a:solidFill>
                  <a:schemeClr val="dk2"/>
                </a:solidFill>
                <a:latin typeface="Times New Roman"/>
              </a:rPr>
              <a:t> ràng buộc tham gia bộ phận</a:t>
            </a:r>
            <a:br>
              <a:rPr sz="2000"/>
            </a:br>
            <a:r>
              <a:rPr b="1" lang="en-US" sz="2000" spc="-1" strike="noStrike">
                <a:solidFill>
                  <a:schemeClr val="dk2"/>
                </a:solidFill>
                <a:latin typeface="Times New Roman"/>
              </a:rPr>
              <a:t>min &gt; 0  </a:t>
            </a:r>
            <a:r>
              <a:rPr b="1" lang="en-US" sz="2000" spc="-1" strike="noStrike">
                <a:solidFill>
                  <a:schemeClr val="dk2"/>
                </a:solidFill>
                <a:latin typeface="Wingdings"/>
              </a:rPr>
              <a:t></a:t>
            </a:r>
            <a:r>
              <a:rPr b="1" lang="en-US" sz="2000" spc="-1" strike="noStrike">
                <a:solidFill>
                  <a:schemeClr val="dk2"/>
                </a:solidFill>
                <a:latin typeface="Times New Roman"/>
              </a:rPr>
              <a:t> ràng buộc tham gia toàn bộ  </a:t>
            </a:r>
            <a:br>
              <a:rPr sz="2000"/>
            </a:br>
            <a:br>
              <a:rPr sz="2000"/>
            </a:br>
            <a:endParaRPr b="0" lang="vi-VN" sz="2000" spc="-1" strike="noStrike">
              <a:solidFill>
                <a:srgbClr val="000000"/>
              </a:solidFill>
              <a:latin typeface="Arial"/>
            </a:endParaRPr>
          </a:p>
        </p:txBody>
      </p:sp>
      <p:sp>
        <p:nvSpPr>
          <p:cNvPr id="628" name="PlaceHolder 2"/>
          <p:cNvSpPr>
            <a:spLocks noGrp="1"/>
          </p:cNvSpPr>
          <p:nvPr>
            <p:ph type="sldNum" idx="12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0A9DF49A-A2F8-4C78-BDE0-9838507CD486}"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629" name="PlaceHolder 3"/>
          <p:cNvSpPr>
            <a:spLocks noGrp="1"/>
          </p:cNvSpPr>
          <p:nvPr>
            <p:ph type="dt" idx="125"/>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926E7649-0D89-49FA-B81C-551311BD74D4}"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630" name="PlaceHolder 4"/>
          <p:cNvSpPr>
            <a:spLocks noGrp="1"/>
          </p:cNvSpPr>
          <p:nvPr>
            <p:ph type="ftr" idx="126"/>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
        <p:nvSpPr>
          <p:cNvPr id="631" name="Rectangle 2"/>
          <p:cNvSpPr/>
          <p:nvPr/>
        </p:nvSpPr>
        <p:spPr>
          <a:xfrm>
            <a:off x="457200" y="353880"/>
            <a:ext cx="8228880" cy="619920"/>
          </a:xfrm>
          <a:prstGeom prst="rect">
            <a:avLst/>
          </a:prstGeom>
          <a:noFill/>
          <a:ln w="9525">
            <a:noFill/>
          </a:ln>
        </p:spPr>
        <p:style>
          <a:lnRef idx="0"/>
          <a:fillRef idx="0"/>
          <a:effectRef idx="0"/>
          <a:fontRef idx="minor"/>
        </p:style>
        <p:txBody>
          <a:bodyPr numCol="1" spcCol="0" lIns="0" rIns="0" tIns="45000" bIns="0" anchor="b">
            <a:noAutofit/>
          </a:bodyPr>
          <a:p>
            <a:pPr defTabSz="914400">
              <a:lnSpc>
                <a:spcPct val="100000"/>
              </a:lnSpc>
              <a:tabLst>
                <a:tab algn="l" pos="0"/>
              </a:tabLst>
            </a:pPr>
            <a:r>
              <a:rPr b="0" lang="en-US" sz="2800" spc="-1" strike="noStrike">
                <a:solidFill>
                  <a:schemeClr val="dk2"/>
                </a:solidFill>
                <a:latin typeface="Calibri"/>
              </a:rPr>
              <a:t>f. </a:t>
            </a:r>
            <a:r>
              <a:rPr b="1" lang="en-US" sz="2800" spc="-1" strike="noStrike">
                <a:solidFill>
                  <a:schemeClr val="dk2"/>
                </a:solidFill>
                <a:latin typeface="Calibri"/>
              </a:rPr>
              <a:t>Ràng buộc trên kiểu liên kết</a:t>
            </a:r>
            <a:endParaRPr b="0" lang="vi-VN" sz="2800" spc="-1" strike="noStrike">
              <a:solidFill>
                <a:srgbClr val="000000"/>
              </a:solidFill>
              <a:latin typeface="Arial"/>
            </a:endParaRPr>
          </a:p>
        </p:txBody>
      </p:sp>
      <p:pic>
        <p:nvPicPr>
          <p:cNvPr id="632"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g. Thuộc tính trên liên kết</a:t>
            </a:r>
            <a:endParaRPr b="0" lang="vi-VN" sz="2800" spc="-1" strike="noStrike">
              <a:solidFill>
                <a:srgbClr val="000000"/>
              </a:solidFill>
              <a:latin typeface="Arial"/>
            </a:endParaRPr>
          </a:p>
        </p:txBody>
      </p:sp>
      <p:sp>
        <p:nvSpPr>
          <p:cNvPr id="634" name="PlaceHolder 2"/>
          <p:cNvSpPr>
            <a:spLocks noGrp="1"/>
          </p:cNvSpPr>
          <p:nvPr>
            <p:ph/>
          </p:nvPr>
        </p:nvSpPr>
        <p:spPr>
          <a:xfrm>
            <a:off x="380880" y="1295280"/>
            <a:ext cx="838116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Thuộc tính trên  liên kết mô tả tính chất cho mối liên kết đó,</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Thuộc tính này không thể gắn  với những thực thể tham gia vào mối quan hệ.</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635" name="PlaceHolder 3"/>
          <p:cNvSpPr>
            <a:spLocks noGrp="1"/>
          </p:cNvSpPr>
          <p:nvPr>
            <p:ph type="sldNum" idx="12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C83596B3-B321-4C13-9796-D1A9C476EC8C}"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636" name="Group 48"/>
          <p:cNvGrpSpPr/>
          <p:nvPr/>
        </p:nvGrpSpPr>
        <p:grpSpPr>
          <a:xfrm>
            <a:off x="1523880" y="3581280"/>
            <a:ext cx="6019200" cy="1675800"/>
            <a:chOff x="1523880" y="3581280"/>
            <a:chExt cx="6019200" cy="1675800"/>
          </a:xfrm>
        </p:grpSpPr>
        <p:sp>
          <p:nvSpPr>
            <p:cNvPr id="637" name="Text Box 31"/>
            <p:cNvSpPr/>
            <p:nvPr/>
          </p:nvSpPr>
          <p:spPr>
            <a:xfrm>
              <a:off x="1523880" y="3758040"/>
              <a:ext cx="156600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638" name="Text Box 32"/>
            <p:cNvSpPr/>
            <p:nvPr/>
          </p:nvSpPr>
          <p:spPr>
            <a:xfrm>
              <a:off x="6224400" y="3822120"/>
              <a:ext cx="13186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DUAN</a:t>
              </a:r>
              <a:endParaRPr b="0" lang="vi-VN" sz="1800" spc="-1" strike="noStrike">
                <a:solidFill>
                  <a:srgbClr val="000000"/>
                </a:solidFill>
                <a:latin typeface="Arial"/>
              </a:endParaRPr>
            </a:p>
          </p:txBody>
        </p:sp>
        <p:grpSp>
          <p:nvGrpSpPr>
            <p:cNvPr id="639" name="Group 33"/>
            <p:cNvGrpSpPr/>
            <p:nvPr/>
          </p:nvGrpSpPr>
          <p:grpSpPr>
            <a:xfrm>
              <a:off x="3915360" y="3758040"/>
              <a:ext cx="1483560" cy="528840"/>
              <a:chOff x="3915360" y="3758040"/>
              <a:chExt cx="1483560" cy="528840"/>
            </a:xfrm>
          </p:grpSpPr>
          <p:sp>
            <p:nvSpPr>
              <p:cNvPr id="640" name="AutoShape 34"/>
              <p:cNvSpPr/>
              <p:nvPr/>
            </p:nvSpPr>
            <p:spPr>
              <a:xfrm>
                <a:off x="3915360" y="3758040"/>
                <a:ext cx="1483560" cy="528840"/>
              </a:xfrm>
              <a:prstGeom prst="flowChartDecision">
                <a:avLst/>
              </a:prstGeom>
              <a:noFill/>
              <a:ln w="12700">
                <a:solidFill>
                  <a:srgbClr val="000000"/>
                </a:solidFill>
                <a:miter/>
              </a:ln>
            </p:spPr>
            <p:style>
              <a:lnRef idx="0"/>
              <a:fillRef idx="0"/>
              <a:effectRef idx="0"/>
              <a:fontRef idx="minor"/>
            </p:style>
            <p:txBody>
              <a:bodyPr wrap="none"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41" name="Text Box 35"/>
              <p:cNvSpPr/>
              <p:nvPr/>
            </p:nvSpPr>
            <p:spPr>
              <a:xfrm>
                <a:off x="4080240" y="3831480"/>
                <a:ext cx="11538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Lam_viec</a:t>
                </a:r>
                <a:endParaRPr b="0" lang="vi-VN" sz="1400" spc="-1" strike="noStrike">
                  <a:solidFill>
                    <a:srgbClr val="000000"/>
                  </a:solidFill>
                  <a:latin typeface="Arial"/>
                </a:endParaRPr>
              </a:p>
            </p:txBody>
          </p:sp>
        </p:grpSp>
        <p:sp>
          <p:nvSpPr>
            <p:cNvPr id="642" name="Text Box 40"/>
            <p:cNvSpPr/>
            <p:nvPr/>
          </p:nvSpPr>
          <p:spPr>
            <a:xfrm>
              <a:off x="3173400" y="3581280"/>
              <a:ext cx="7416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(0,n)</a:t>
              </a:r>
              <a:endParaRPr b="0" lang="vi-VN" sz="1400" spc="-1" strike="noStrike">
                <a:solidFill>
                  <a:srgbClr val="000000"/>
                </a:solidFill>
                <a:latin typeface="Arial"/>
              </a:endParaRPr>
            </a:p>
          </p:txBody>
        </p:sp>
        <p:sp>
          <p:nvSpPr>
            <p:cNvPr id="643" name="Text Box 41"/>
            <p:cNvSpPr/>
            <p:nvPr/>
          </p:nvSpPr>
          <p:spPr>
            <a:xfrm>
              <a:off x="5399640" y="3581280"/>
              <a:ext cx="7416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(1,n)</a:t>
              </a:r>
              <a:endParaRPr b="0" lang="vi-VN" sz="1400" spc="-1" strike="noStrike">
                <a:solidFill>
                  <a:srgbClr val="000000"/>
                </a:solidFill>
                <a:latin typeface="Arial"/>
              </a:endParaRPr>
            </a:p>
          </p:txBody>
        </p:sp>
        <p:sp>
          <p:nvSpPr>
            <p:cNvPr id="644" name="Line 42"/>
            <p:cNvSpPr/>
            <p:nvPr/>
          </p:nvSpPr>
          <p:spPr>
            <a:xfrm>
              <a:off x="3090600" y="4022280"/>
              <a:ext cx="82476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645" name="Line 43"/>
            <p:cNvSpPr/>
            <p:nvPr/>
          </p:nvSpPr>
          <p:spPr>
            <a:xfrm>
              <a:off x="5399640" y="4022280"/>
              <a:ext cx="824400" cy="360"/>
            </a:xfrm>
            <a:prstGeom prst="line">
              <a:avLst/>
            </a:prstGeom>
            <a:ln w="41275">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grpSp>
          <p:nvGrpSpPr>
            <p:cNvPr id="646" name="Group 46"/>
            <p:cNvGrpSpPr/>
            <p:nvPr/>
          </p:nvGrpSpPr>
          <p:grpSpPr>
            <a:xfrm>
              <a:off x="4905000" y="4816800"/>
              <a:ext cx="1071360" cy="440280"/>
              <a:chOff x="4905000" y="4816800"/>
              <a:chExt cx="1071360" cy="440280"/>
            </a:xfrm>
          </p:grpSpPr>
          <p:sp>
            <p:nvSpPr>
              <p:cNvPr id="647" name="Oval 44"/>
              <p:cNvSpPr/>
              <p:nvPr/>
            </p:nvSpPr>
            <p:spPr>
              <a:xfrm>
                <a:off x="4905000" y="4816800"/>
                <a:ext cx="1071360" cy="440280"/>
              </a:xfrm>
              <a:prstGeom prst="ellipse">
                <a:avLst/>
              </a:prstGeom>
              <a:noFill/>
              <a:ln w="12700">
                <a:solidFill>
                  <a:srgbClr val="000000"/>
                </a:solidFill>
                <a:round/>
              </a:ln>
            </p:spPr>
            <p:style>
              <a:lnRef idx="0"/>
              <a:fillRef idx="0"/>
              <a:effectRef idx="0"/>
              <a:fontRef idx="minor"/>
            </p:style>
            <p:txBody>
              <a:bodyPr wrap="none"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48" name="Text Box 45"/>
              <p:cNvSpPr/>
              <p:nvPr/>
            </p:nvSpPr>
            <p:spPr>
              <a:xfrm>
                <a:off x="4932360" y="4890240"/>
                <a:ext cx="98892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THGIAN</a:t>
                </a:r>
                <a:endParaRPr b="0" lang="vi-VN" sz="1400" spc="-1" strike="noStrike">
                  <a:solidFill>
                    <a:srgbClr val="000000"/>
                  </a:solidFill>
                  <a:latin typeface="Arial"/>
                </a:endParaRPr>
              </a:p>
            </p:txBody>
          </p:sp>
        </p:grpSp>
        <p:sp>
          <p:nvSpPr>
            <p:cNvPr id="649" name="Line 47"/>
            <p:cNvSpPr/>
            <p:nvPr/>
          </p:nvSpPr>
          <p:spPr>
            <a:xfrm>
              <a:off x="4724280" y="4266720"/>
              <a:ext cx="592920" cy="5497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sp>
        <p:nvSpPr>
          <p:cNvPr id="650" name="PlaceHolder 4"/>
          <p:cNvSpPr>
            <a:spLocks noGrp="1"/>
          </p:cNvSpPr>
          <p:nvPr>
            <p:ph type="dt" idx="12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7F467D6A-4854-42F3-89D1-0700DB9A2755}"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651" name="PlaceHolder 5"/>
          <p:cNvSpPr>
            <a:spLocks noGrp="1"/>
          </p:cNvSpPr>
          <p:nvPr>
            <p:ph type="ftr" idx="12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652"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h. Thực thể yếu</a:t>
            </a:r>
            <a:endParaRPr b="0" lang="vi-VN" sz="2800" spc="-1" strike="noStrike">
              <a:solidFill>
                <a:srgbClr val="000000"/>
              </a:solidFill>
              <a:latin typeface="Arial"/>
            </a:endParaRPr>
          </a:p>
        </p:txBody>
      </p:sp>
      <p:sp>
        <p:nvSpPr>
          <p:cNvPr id="654" name="PlaceHolder 2"/>
          <p:cNvSpPr>
            <a:spLocks noGrp="1"/>
          </p:cNvSpPr>
          <p:nvPr>
            <p:ph/>
          </p:nvPr>
        </p:nvSpPr>
        <p:spPr>
          <a:xfrm>
            <a:off x="380880" y="1295280"/>
            <a:ext cx="8381160" cy="380916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Là thực thể không có khóa,</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Thực thể yếu phải tham gia vào mối liên kết mà trong đó có một tập thực thể chính (</a:t>
            </a:r>
            <a:r>
              <a:rPr b="0" i="1" lang="en-US" sz="2600" spc="-1" strike="noStrike">
                <a:solidFill>
                  <a:schemeClr val="dk1"/>
                </a:solidFill>
                <a:latin typeface="Constantia"/>
              </a:rPr>
              <a:t>thực thể chủ</a:t>
            </a:r>
            <a:r>
              <a:rPr b="0" lang="en-US" sz="2600" spc="-1" strike="noStrike">
                <a:solidFill>
                  <a:schemeClr val="dk1"/>
                </a:solidFill>
                <a:latin typeface="Constantia"/>
              </a:rPr>
              <a:t>)</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Thực thể yếu </a:t>
            </a:r>
            <a:r>
              <a:rPr b="0" lang="vi-VN" sz="2600" spc="-1" strike="noStrike">
                <a:solidFill>
                  <a:schemeClr val="dk1"/>
                </a:solidFill>
                <a:latin typeface="Constantia"/>
              </a:rPr>
              <a:t>đượ</a:t>
            </a:r>
            <a:r>
              <a:rPr b="0" lang="en-US" sz="2600" spc="-1" strike="noStrike">
                <a:solidFill>
                  <a:schemeClr val="dk1"/>
                </a:solidFill>
                <a:latin typeface="Constantia"/>
              </a:rPr>
              <a:t>c xác định bằng cách liên kết với các thực thể chủ (</a:t>
            </a:r>
            <a:r>
              <a:rPr b="0" i="1" lang="en-US" sz="2600" spc="-1" strike="noStrike">
                <a:solidFill>
                  <a:schemeClr val="dk1"/>
                </a:solidFill>
                <a:latin typeface="Constantia"/>
              </a:rPr>
              <a:t>liên kết xác định</a:t>
            </a:r>
            <a:r>
              <a:rPr b="0" lang="en-US" sz="2600" spc="-1" strike="noStrike">
                <a:solidFill>
                  <a:schemeClr val="dk1"/>
                </a:solidFill>
                <a:latin typeface="Constantia"/>
              </a:rPr>
              <a:t>)</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Mô tả kiểu thực thể yếu và liên kết xác định bằng hình chữ nhật và hình thoi nét đôi</a:t>
            </a:r>
            <a:endParaRPr b="0" lang="vi-VN" sz="2600" spc="-1" strike="noStrike">
              <a:solidFill>
                <a:srgbClr val="000000"/>
              </a:solidFill>
              <a:latin typeface="Arial"/>
            </a:endParaRPr>
          </a:p>
        </p:txBody>
      </p:sp>
      <p:sp>
        <p:nvSpPr>
          <p:cNvPr id="655" name="PlaceHolder 3"/>
          <p:cNvSpPr>
            <a:spLocks noGrp="1"/>
          </p:cNvSpPr>
          <p:nvPr>
            <p:ph type="sldNum" idx="13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FA1AC099-0C35-4A39-9A71-BA6E9F320DAD}"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656" name="Group 117"/>
          <p:cNvGrpSpPr/>
          <p:nvPr/>
        </p:nvGrpSpPr>
        <p:grpSpPr>
          <a:xfrm>
            <a:off x="1371600" y="5372280"/>
            <a:ext cx="5637960" cy="748800"/>
            <a:chOff x="1371600" y="5372280"/>
            <a:chExt cx="5637960" cy="748800"/>
          </a:xfrm>
        </p:grpSpPr>
        <p:sp>
          <p:nvSpPr>
            <p:cNvPr id="657" name="AutoShape 109"/>
            <p:cNvSpPr/>
            <p:nvPr/>
          </p:nvSpPr>
          <p:spPr>
            <a:xfrm>
              <a:off x="3505320" y="5392440"/>
              <a:ext cx="1329480" cy="728640"/>
            </a:xfrm>
            <a:prstGeom prst="flowChartDecision">
              <a:avLst/>
            </a:prstGeom>
            <a:noFill/>
            <a:ln w="381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r>
                <a:rPr b="0" lang="en-US" sz="1800" spc="-1" strike="noStrike">
                  <a:solidFill>
                    <a:schemeClr val="dk1"/>
                  </a:solidFill>
                  <a:latin typeface="Tahoma"/>
                </a:rPr>
                <a:t>có</a:t>
              </a:r>
              <a:endParaRPr b="0" lang="vi-VN" sz="1800" spc="-1" strike="noStrike">
                <a:solidFill>
                  <a:srgbClr val="000000"/>
                </a:solidFill>
                <a:latin typeface="Arial"/>
              </a:endParaRPr>
            </a:p>
          </p:txBody>
        </p:sp>
        <p:sp>
          <p:nvSpPr>
            <p:cNvPr id="658" name="Rectangle 111"/>
            <p:cNvSpPr/>
            <p:nvPr/>
          </p:nvSpPr>
          <p:spPr>
            <a:xfrm>
              <a:off x="1371600" y="5471640"/>
              <a:ext cx="1294560" cy="637920"/>
            </a:xfrm>
            <a:prstGeom prst="rect">
              <a:avLst/>
            </a:prstGeom>
            <a:noFill/>
            <a:ln w="127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sp>
          <p:nvSpPr>
            <p:cNvPr id="659" name="Rectangle 112"/>
            <p:cNvSpPr/>
            <p:nvPr/>
          </p:nvSpPr>
          <p:spPr>
            <a:xfrm>
              <a:off x="5715000" y="5608080"/>
              <a:ext cx="1294560" cy="363600"/>
            </a:xfrm>
            <a:prstGeom prst="rect">
              <a:avLst/>
            </a:prstGeom>
            <a:noFill/>
            <a:ln w="381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r>
                <a:rPr b="0" lang="en-US" sz="1800" spc="-1" strike="noStrike">
                  <a:solidFill>
                    <a:schemeClr val="dk1"/>
                  </a:solidFill>
                  <a:latin typeface="Tahoma"/>
                </a:rPr>
                <a:t>CON</a:t>
              </a:r>
              <a:endParaRPr b="0" lang="vi-VN" sz="1800" spc="-1" strike="noStrike">
                <a:solidFill>
                  <a:srgbClr val="000000"/>
                </a:solidFill>
                <a:latin typeface="Arial"/>
              </a:endParaRPr>
            </a:p>
          </p:txBody>
        </p:sp>
        <p:sp>
          <p:nvSpPr>
            <p:cNvPr id="660" name="Line 113"/>
            <p:cNvSpPr/>
            <p:nvPr/>
          </p:nvSpPr>
          <p:spPr>
            <a:xfrm>
              <a:off x="2666880" y="5752800"/>
              <a:ext cx="83808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661" name="Line 114"/>
            <p:cNvSpPr/>
            <p:nvPr/>
          </p:nvSpPr>
          <p:spPr>
            <a:xfrm>
              <a:off x="4876560" y="5752800"/>
              <a:ext cx="838440" cy="360"/>
            </a:xfrm>
            <a:prstGeom prst="line">
              <a:avLst/>
            </a:prstGeom>
            <a:ln w="47625">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662" name="Text Box 115"/>
            <p:cNvSpPr/>
            <p:nvPr/>
          </p:nvSpPr>
          <p:spPr>
            <a:xfrm>
              <a:off x="2895480" y="5372280"/>
              <a:ext cx="380160" cy="3639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1</a:t>
              </a:r>
              <a:endParaRPr b="0" lang="vi-VN" sz="1800" spc="-1" strike="noStrike">
                <a:solidFill>
                  <a:srgbClr val="000000"/>
                </a:solidFill>
                <a:latin typeface="Arial"/>
              </a:endParaRPr>
            </a:p>
          </p:txBody>
        </p:sp>
        <p:sp>
          <p:nvSpPr>
            <p:cNvPr id="663" name="Text Box 116"/>
            <p:cNvSpPr/>
            <p:nvPr/>
          </p:nvSpPr>
          <p:spPr>
            <a:xfrm>
              <a:off x="5257800" y="5372280"/>
              <a:ext cx="380160" cy="36396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a:t>
              </a:r>
              <a:endParaRPr b="0" lang="vi-VN" sz="1800" spc="-1" strike="noStrike">
                <a:solidFill>
                  <a:srgbClr val="000000"/>
                </a:solidFill>
                <a:latin typeface="Arial"/>
              </a:endParaRPr>
            </a:p>
          </p:txBody>
        </p:sp>
      </p:grpSp>
      <p:sp>
        <p:nvSpPr>
          <p:cNvPr id="664" name="PlaceHolder 4"/>
          <p:cNvSpPr>
            <a:spLocks noGrp="1"/>
          </p:cNvSpPr>
          <p:nvPr>
            <p:ph type="dt" idx="131"/>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434F8287-2223-4172-A478-8EF6544A6456}"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665" name="PlaceHolder 5"/>
          <p:cNvSpPr>
            <a:spLocks noGrp="1"/>
          </p:cNvSpPr>
          <p:nvPr>
            <p:ph type="ftr" idx="13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666"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h. Thực thể yếu </a:t>
            </a:r>
            <a:endParaRPr b="0" lang="vi-VN" sz="2800" spc="-1" strike="noStrike">
              <a:solidFill>
                <a:srgbClr val="000000"/>
              </a:solidFill>
              <a:latin typeface="Arial"/>
            </a:endParaRPr>
          </a:p>
        </p:txBody>
      </p:sp>
      <p:sp>
        <p:nvSpPr>
          <p:cNvPr id="668" name="PlaceHolder 2"/>
          <p:cNvSpPr>
            <a:spLocks noGrp="1"/>
          </p:cNvSpPr>
          <p:nvPr>
            <p:ph/>
          </p:nvPr>
        </p:nvSpPr>
        <p:spPr>
          <a:xfrm>
            <a:off x="380880" y="1295280"/>
            <a:ext cx="838116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Ví dụ 1</a:t>
            </a:r>
            <a:endParaRPr b="0" lang="vi-VN" sz="2600" spc="-1" strike="noStrike">
              <a:solidFill>
                <a:srgbClr val="000000"/>
              </a:solidFill>
              <a:latin typeface="Arial"/>
            </a:endParaRPr>
          </a:p>
        </p:txBody>
      </p:sp>
      <p:sp>
        <p:nvSpPr>
          <p:cNvPr id="669" name="PlaceHolder 3"/>
          <p:cNvSpPr>
            <a:spLocks noGrp="1"/>
          </p:cNvSpPr>
          <p:nvPr>
            <p:ph type="sldNum" idx="13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EB3FD12C-17B3-4C4D-BFF3-829D7A41D2E8}"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670" name="Group 4"/>
          <p:cNvGrpSpPr/>
          <p:nvPr/>
        </p:nvGrpSpPr>
        <p:grpSpPr>
          <a:xfrm>
            <a:off x="1143000" y="2514600"/>
            <a:ext cx="7099920" cy="2742480"/>
            <a:chOff x="1143000" y="2514600"/>
            <a:chExt cx="7099920" cy="2742480"/>
          </a:xfrm>
        </p:grpSpPr>
        <p:grpSp>
          <p:nvGrpSpPr>
            <p:cNvPr id="671" name="Group 5"/>
            <p:cNvGrpSpPr/>
            <p:nvPr/>
          </p:nvGrpSpPr>
          <p:grpSpPr>
            <a:xfrm>
              <a:off x="1143000" y="2514600"/>
              <a:ext cx="3771000" cy="1980360"/>
              <a:chOff x="1143000" y="2514600"/>
              <a:chExt cx="3771000" cy="1980360"/>
            </a:xfrm>
          </p:grpSpPr>
          <p:sp>
            <p:nvSpPr>
              <p:cNvPr id="672" name="Text Box 6"/>
              <p:cNvSpPr/>
              <p:nvPr/>
            </p:nvSpPr>
            <p:spPr>
              <a:xfrm>
                <a:off x="2413080" y="350532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NHANVIEN</a:t>
                </a:r>
                <a:endParaRPr b="0" lang="vi-VN" sz="1800" spc="-1" strike="noStrike">
                  <a:solidFill>
                    <a:srgbClr val="000000"/>
                  </a:solidFill>
                  <a:latin typeface="Arial"/>
                </a:endParaRPr>
              </a:p>
            </p:txBody>
          </p:sp>
          <p:grpSp>
            <p:nvGrpSpPr>
              <p:cNvPr id="673" name="Group 7"/>
              <p:cNvGrpSpPr/>
              <p:nvPr/>
            </p:nvGrpSpPr>
            <p:grpSpPr>
              <a:xfrm>
                <a:off x="1295280" y="3581280"/>
                <a:ext cx="837360" cy="380160"/>
                <a:chOff x="1295280" y="3581280"/>
                <a:chExt cx="837360" cy="380160"/>
              </a:xfrm>
            </p:grpSpPr>
            <p:sp>
              <p:nvSpPr>
                <p:cNvPr id="674" name="Oval 8"/>
                <p:cNvSpPr/>
                <p:nvPr/>
              </p:nvSpPr>
              <p:spPr>
                <a:xfrm>
                  <a:off x="1295280" y="35812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75" name="Text Box 9"/>
                <p:cNvSpPr/>
                <p:nvPr/>
              </p:nvSpPr>
              <p:spPr>
                <a:xfrm>
                  <a:off x="1295280" y="361944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TENNV</a:t>
                  </a:r>
                  <a:endParaRPr b="0" lang="vi-VN" sz="1400" spc="-1" strike="noStrike">
                    <a:solidFill>
                      <a:srgbClr val="000000"/>
                    </a:solidFill>
                    <a:latin typeface="Arial"/>
                  </a:endParaRPr>
                </a:p>
              </p:txBody>
            </p:sp>
          </p:grpSp>
          <p:grpSp>
            <p:nvGrpSpPr>
              <p:cNvPr id="676" name="Group 10"/>
              <p:cNvGrpSpPr/>
              <p:nvPr/>
            </p:nvGrpSpPr>
            <p:grpSpPr>
              <a:xfrm>
                <a:off x="2133720" y="2666880"/>
                <a:ext cx="913680" cy="380160"/>
                <a:chOff x="2133720" y="2666880"/>
                <a:chExt cx="913680" cy="380160"/>
              </a:xfrm>
            </p:grpSpPr>
            <p:sp>
              <p:nvSpPr>
                <p:cNvPr id="677" name="Oval 11"/>
                <p:cNvSpPr/>
                <p:nvPr/>
              </p:nvSpPr>
              <p:spPr>
                <a:xfrm>
                  <a:off x="2171880" y="26668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78" name="Text Box 12"/>
                <p:cNvSpPr/>
                <p:nvPr/>
              </p:nvSpPr>
              <p:spPr>
                <a:xfrm>
                  <a:off x="2133720" y="2705040"/>
                  <a:ext cx="9136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NS</a:t>
                  </a:r>
                  <a:endParaRPr b="0" lang="vi-VN" sz="1400" spc="-1" strike="noStrike">
                    <a:solidFill>
                      <a:srgbClr val="000000"/>
                    </a:solidFill>
                    <a:latin typeface="Arial"/>
                  </a:endParaRPr>
                </a:p>
              </p:txBody>
            </p:sp>
          </p:grpSp>
          <p:grpSp>
            <p:nvGrpSpPr>
              <p:cNvPr id="679" name="Group 13"/>
              <p:cNvGrpSpPr/>
              <p:nvPr/>
            </p:nvGrpSpPr>
            <p:grpSpPr>
              <a:xfrm>
                <a:off x="4038480" y="2666880"/>
                <a:ext cx="875520" cy="380160"/>
                <a:chOff x="4038480" y="2666880"/>
                <a:chExt cx="875520" cy="380160"/>
              </a:xfrm>
            </p:grpSpPr>
            <p:sp>
              <p:nvSpPr>
                <p:cNvPr id="680" name="Oval 14"/>
                <p:cNvSpPr/>
                <p:nvPr/>
              </p:nvSpPr>
              <p:spPr>
                <a:xfrm>
                  <a:off x="4076640" y="26668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81" name="Text Box 15"/>
                <p:cNvSpPr/>
                <p:nvPr/>
              </p:nvSpPr>
              <p:spPr>
                <a:xfrm>
                  <a:off x="4038480" y="270504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DCHI</a:t>
                  </a:r>
                  <a:endParaRPr b="0" lang="vi-VN" sz="1400" spc="-1" strike="noStrike">
                    <a:solidFill>
                      <a:srgbClr val="000000"/>
                    </a:solidFill>
                    <a:latin typeface="Arial"/>
                  </a:endParaRPr>
                </a:p>
              </p:txBody>
            </p:sp>
          </p:grpSp>
          <p:grpSp>
            <p:nvGrpSpPr>
              <p:cNvPr id="682" name="Group 16"/>
              <p:cNvGrpSpPr/>
              <p:nvPr/>
            </p:nvGrpSpPr>
            <p:grpSpPr>
              <a:xfrm>
                <a:off x="1295280" y="4114800"/>
                <a:ext cx="837360" cy="380160"/>
                <a:chOff x="1295280" y="4114800"/>
                <a:chExt cx="837360" cy="380160"/>
              </a:xfrm>
            </p:grpSpPr>
            <p:sp>
              <p:nvSpPr>
                <p:cNvPr id="683" name="Oval 17"/>
                <p:cNvSpPr/>
                <p:nvPr/>
              </p:nvSpPr>
              <p:spPr>
                <a:xfrm>
                  <a:off x="1295280" y="411480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84" name="Text Box 18"/>
                <p:cNvSpPr/>
                <p:nvPr/>
              </p:nvSpPr>
              <p:spPr>
                <a:xfrm>
                  <a:off x="1333440" y="4152960"/>
                  <a:ext cx="7614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GT</a:t>
                  </a:r>
                  <a:endParaRPr b="0" lang="vi-VN" sz="1400" spc="-1" strike="noStrike">
                    <a:solidFill>
                      <a:srgbClr val="000000"/>
                    </a:solidFill>
                    <a:latin typeface="Arial"/>
                  </a:endParaRPr>
                </a:p>
              </p:txBody>
            </p:sp>
          </p:grpSp>
          <p:grpSp>
            <p:nvGrpSpPr>
              <p:cNvPr id="685" name="Group 19"/>
              <p:cNvGrpSpPr/>
              <p:nvPr/>
            </p:nvGrpSpPr>
            <p:grpSpPr>
              <a:xfrm>
                <a:off x="3124080" y="2666880"/>
                <a:ext cx="837360" cy="554760"/>
                <a:chOff x="3124080" y="2666880"/>
                <a:chExt cx="837360" cy="554760"/>
              </a:xfrm>
            </p:grpSpPr>
            <p:sp>
              <p:nvSpPr>
                <p:cNvPr id="686" name="Oval 20"/>
                <p:cNvSpPr/>
                <p:nvPr/>
              </p:nvSpPr>
              <p:spPr>
                <a:xfrm>
                  <a:off x="3124080" y="26668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87" name="Text Box 21"/>
                <p:cNvSpPr/>
                <p:nvPr/>
              </p:nvSpPr>
              <p:spPr>
                <a:xfrm>
                  <a:off x="3162240" y="2705040"/>
                  <a:ext cx="76140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LUONG</a:t>
                  </a:r>
                  <a:endParaRPr b="0" lang="vi-VN" sz="1400" spc="-1" strike="noStrike">
                    <a:solidFill>
                      <a:srgbClr val="000000"/>
                    </a:solidFill>
                    <a:latin typeface="Arial"/>
                  </a:endParaRPr>
                </a:p>
              </p:txBody>
            </p:sp>
          </p:grpSp>
          <p:grpSp>
            <p:nvGrpSpPr>
              <p:cNvPr id="688" name="Group 22"/>
              <p:cNvGrpSpPr/>
              <p:nvPr/>
            </p:nvGrpSpPr>
            <p:grpSpPr>
              <a:xfrm>
                <a:off x="1219320" y="3048120"/>
                <a:ext cx="837360" cy="380160"/>
                <a:chOff x="1219320" y="3048120"/>
                <a:chExt cx="837360" cy="380160"/>
              </a:xfrm>
            </p:grpSpPr>
            <p:sp>
              <p:nvSpPr>
                <p:cNvPr id="689" name="Oval 23"/>
                <p:cNvSpPr/>
                <p:nvPr/>
              </p:nvSpPr>
              <p:spPr>
                <a:xfrm>
                  <a:off x="1219320" y="30481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90" name="Text Box 24"/>
                <p:cNvSpPr/>
                <p:nvPr/>
              </p:nvSpPr>
              <p:spPr>
                <a:xfrm>
                  <a:off x="1219320" y="30862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HONV</a:t>
                  </a:r>
                  <a:endParaRPr b="0" lang="vi-VN" sz="1400" spc="-1" strike="noStrike">
                    <a:solidFill>
                      <a:srgbClr val="000000"/>
                    </a:solidFill>
                    <a:latin typeface="Arial"/>
                  </a:endParaRPr>
                </a:p>
              </p:txBody>
            </p:sp>
          </p:grpSp>
          <p:sp>
            <p:nvSpPr>
              <p:cNvPr id="691" name="Line 25"/>
              <p:cNvSpPr/>
              <p:nvPr/>
            </p:nvSpPr>
            <p:spPr>
              <a:xfrm flipH="1">
                <a:off x="2057400" y="3886200"/>
                <a:ext cx="380880" cy="30456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692" name="Line 26"/>
              <p:cNvSpPr/>
              <p:nvPr/>
            </p:nvSpPr>
            <p:spPr>
              <a:xfrm flipH="1">
                <a:off x="2133360" y="3657600"/>
                <a:ext cx="304920" cy="75960"/>
              </a:xfrm>
              <a:prstGeom prst="line">
                <a:avLst/>
              </a:prstGeom>
              <a:ln w="12700">
                <a:solidFill>
                  <a:srgbClr val="000000"/>
                </a:solidFill>
                <a:round/>
              </a:ln>
            </p:spPr>
            <p:style>
              <a:lnRef idx="0"/>
              <a:fillRef idx="0"/>
              <a:effectRef idx="0"/>
              <a:fontRef idx="minor"/>
            </p:style>
            <p:txBody>
              <a:bodyPr lIns="90000" rIns="90000" tIns="30960" bIns="30960" anchor="ctr">
                <a:noAutofit/>
              </a:bodyPr>
              <a:p>
                <a:endParaRPr b="0" lang="zxx" sz="1800" spc="-1" strike="noStrike">
                  <a:solidFill>
                    <a:schemeClr val="dk1"/>
                  </a:solidFill>
                  <a:latin typeface="Tahoma"/>
                </a:endParaRPr>
              </a:p>
            </p:txBody>
          </p:sp>
          <p:sp>
            <p:nvSpPr>
              <p:cNvPr id="693" name="Line 27"/>
              <p:cNvSpPr/>
              <p:nvPr/>
            </p:nvSpPr>
            <p:spPr>
              <a:xfrm flipH="1" flipV="1">
                <a:off x="2057400" y="3276360"/>
                <a:ext cx="38088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694" name="Line 28"/>
              <p:cNvSpPr/>
              <p:nvPr/>
            </p:nvSpPr>
            <p:spPr>
              <a:xfrm flipH="1" flipV="1">
                <a:off x="2590560" y="3047760"/>
                <a:ext cx="15264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695" name="Line 29"/>
              <p:cNvSpPr/>
              <p:nvPr/>
            </p:nvSpPr>
            <p:spPr>
              <a:xfrm flipV="1">
                <a:off x="3276360" y="3047760"/>
                <a:ext cx="30492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696" name="Line 30"/>
              <p:cNvSpPr/>
              <p:nvPr/>
            </p:nvSpPr>
            <p:spPr>
              <a:xfrm flipV="1">
                <a:off x="3733560" y="3047760"/>
                <a:ext cx="685800" cy="4572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nvGrpSpPr>
              <p:cNvPr id="697" name="Group 31"/>
              <p:cNvGrpSpPr/>
              <p:nvPr/>
            </p:nvGrpSpPr>
            <p:grpSpPr>
              <a:xfrm>
                <a:off x="1143000" y="2514600"/>
                <a:ext cx="837360" cy="380160"/>
                <a:chOff x="1143000" y="2514600"/>
                <a:chExt cx="837360" cy="380160"/>
              </a:xfrm>
            </p:grpSpPr>
            <p:sp>
              <p:nvSpPr>
                <p:cNvPr id="698" name="Oval 32"/>
                <p:cNvSpPr/>
                <p:nvPr/>
              </p:nvSpPr>
              <p:spPr>
                <a:xfrm>
                  <a:off x="1143000" y="2514600"/>
                  <a:ext cx="837360" cy="380160"/>
                </a:xfrm>
                <a:prstGeom prst="ellipse">
                  <a:avLst/>
                </a:prstGeom>
                <a:solidFill>
                  <a:srgbClr val="cc0000">
                    <a:alpha val="55000"/>
                  </a:srgbClr>
                </a:solidFill>
                <a:ln w="12700">
                  <a:solidFill>
                    <a:srgbClr val="cc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699" name="Text Box 33"/>
                <p:cNvSpPr/>
                <p:nvPr/>
              </p:nvSpPr>
              <p:spPr>
                <a:xfrm>
                  <a:off x="1181160" y="2552760"/>
                  <a:ext cx="7614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u="sng">
                      <a:solidFill>
                        <a:schemeClr val="dk1"/>
                      </a:solidFill>
                      <a:uFillTx/>
                      <a:latin typeface="Tahoma"/>
                    </a:rPr>
                    <a:t>MANV</a:t>
                  </a:r>
                  <a:endParaRPr b="0" lang="vi-VN" sz="1400" spc="-1" strike="noStrike">
                    <a:solidFill>
                      <a:srgbClr val="000000"/>
                    </a:solidFill>
                    <a:latin typeface="Arial"/>
                  </a:endParaRPr>
                </a:p>
              </p:txBody>
            </p:sp>
          </p:grpSp>
          <p:sp>
            <p:nvSpPr>
              <p:cNvPr id="700" name="Line 34"/>
              <p:cNvSpPr/>
              <p:nvPr/>
            </p:nvSpPr>
            <p:spPr>
              <a:xfrm flipH="1" flipV="1">
                <a:off x="1904760" y="2819160"/>
                <a:ext cx="685800" cy="6858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nvGrpSpPr>
            <p:cNvPr id="701" name="Group 35"/>
            <p:cNvGrpSpPr/>
            <p:nvPr/>
          </p:nvGrpSpPr>
          <p:grpSpPr>
            <a:xfrm>
              <a:off x="5219640" y="3505320"/>
              <a:ext cx="3023280" cy="1751760"/>
              <a:chOff x="5219640" y="3505320"/>
              <a:chExt cx="3023280" cy="1751760"/>
            </a:xfrm>
          </p:grpSpPr>
          <p:sp>
            <p:nvSpPr>
              <p:cNvPr id="702" name="Text Box 36"/>
              <p:cNvSpPr/>
              <p:nvPr/>
            </p:nvSpPr>
            <p:spPr>
              <a:xfrm>
                <a:off x="5219640" y="4624560"/>
                <a:ext cx="1599480" cy="363960"/>
              </a:xfrm>
              <a:prstGeom prst="rect">
                <a:avLst/>
              </a:prstGeom>
              <a:noFill/>
              <a:ln w="381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THANNHAN</a:t>
                </a:r>
                <a:endParaRPr b="0" lang="vi-VN" sz="1800" spc="-1" strike="noStrike">
                  <a:solidFill>
                    <a:srgbClr val="000000"/>
                  </a:solidFill>
                  <a:latin typeface="Arial"/>
                </a:endParaRPr>
              </a:p>
            </p:txBody>
          </p:sp>
          <p:grpSp>
            <p:nvGrpSpPr>
              <p:cNvPr id="703" name="Group 37"/>
              <p:cNvGrpSpPr/>
              <p:nvPr/>
            </p:nvGrpSpPr>
            <p:grpSpPr>
              <a:xfrm>
                <a:off x="7391520" y="4876920"/>
                <a:ext cx="851400" cy="380160"/>
                <a:chOff x="7391520" y="4876920"/>
                <a:chExt cx="851400" cy="380160"/>
              </a:xfrm>
            </p:grpSpPr>
            <p:sp>
              <p:nvSpPr>
                <p:cNvPr id="704" name="Oval 38"/>
                <p:cNvSpPr/>
                <p:nvPr/>
              </p:nvSpPr>
              <p:spPr>
                <a:xfrm>
                  <a:off x="7391520" y="4876920"/>
                  <a:ext cx="837360" cy="380160"/>
                </a:xfrm>
                <a:prstGeom prst="ellipse">
                  <a:avLst/>
                </a:prstGeom>
                <a:solidFill>
                  <a:srgbClr val="cc0000">
                    <a:alpha val="30000"/>
                  </a:srgbClr>
                </a:solidFill>
                <a:ln w="12700">
                  <a:solidFill>
                    <a:srgbClr val="cc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05" name="Text Box 39"/>
                <p:cNvSpPr/>
                <p:nvPr/>
              </p:nvSpPr>
              <p:spPr>
                <a:xfrm>
                  <a:off x="7405560" y="491976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TENTN</a:t>
                  </a:r>
                  <a:endParaRPr b="0" lang="vi-VN" sz="1400" spc="-1" strike="noStrike">
                    <a:solidFill>
                      <a:srgbClr val="000000"/>
                    </a:solidFill>
                    <a:latin typeface="Arial"/>
                  </a:endParaRPr>
                </a:p>
              </p:txBody>
            </p:sp>
          </p:grpSp>
          <p:sp>
            <p:nvSpPr>
              <p:cNvPr id="706" name="Oval 40"/>
              <p:cNvSpPr/>
              <p:nvPr/>
            </p:nvSpPr>
            <p:spPr>
              <a:xfrm>
                <a:off x="7391520" y="44197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07" name="Text Box 41"/>
              <p:cNvSpPr/>
              <p:nvPr/>
            </p:nvSpPr>
            <p:spPr>
              <a:xfrm>
                <a:off x="7391520" y="44578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GT</a:t>
                </a:r>
                <a:endParaRPr b="0" lang="vi-VN" sz="1400" spc="-1" strike="noStrike">
                  <a:solidFill>
                    <a:srgbClr val="000000"/>
                  </a:solidFill>
                  <a:latin typeface="Arial"/>
                </a:endParaRPr>
              </a:p>
            </p:txBody>
          </p:sp>
          <p:sp>
            <p:nvSpPr>
              <p:cNvPr id="708" name="Oval 42"/>
              <p:cNvSpPr/>
              <p:nvPr/>
            </p:nvSpPr>
            <p:spPr>
              <a:xfrm>
                <a:off x="7391520" y="39625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09" name="Text Box 43"/>
              <p:cNvSpPr/>
              <p:nvPr/>
            </p:nvSpPr>
            <p:spPr>
              <a:xfrm>
                <a:off x="7391520" y="40006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NS</a:t>
                </a:r>
                <a:endParaRPr b="0" lang="vi-VN" sz="1400" spc="-1" strike="noStrike">
                  <a:solidFill>
                    <a:srgbClr val="000000"/>
                  </a:solidFill>
                  <a:latin typeface="Arial"/>
                </a:endParaRPr>
              </a:p>
            </p:txBody>
          </p:sp>
          <p:sp>
            <p:nvSpPr>
              <p:cNvPr id="710" name="Oval 44"/>
              <p:cNvSpPr/>
              <p:nvPr/>
            </p:nvSpPr>
            <p:spPr>
              <a:xfrm>
                <a:off x="7353360" y="35053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11" name="Text Box 45"/>
              <p:cNvSpPr/>
              <p:nvPr/>
            </p:nvSpPr>
            <p:spPr>
              <a:xfrm>
                <a:off x="7315200" y="3543480"/>
                <a:ext cx="91368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QUANHE</a:t>
                </a:r>
                <a:endParaRPr b="0" lang="vi-VN" sz="1400" spc="-1" strike="noStrike">
                  <a:solidFill>
                    <a:srgbClr val="000000"/>
                  </a:solidFill>
                  <a:latin typeface="Arial"/>
                </a:endParaRPr>
              </a:p>
            </p:txBody>
          </p:sp>
          <p:sp>
            <p:nvSpPr>
              <p:cNvPr id="712" name="Line 46"/>
              <p:cNvSpPr/>
              <p:nvPr/>
            </p:nvSpPr>
            <p:spPr>
              <a:xfrm flipV="1">
                <a:off x="6781680" y="3809880"/>
                <a:ext cx="609480" cy="8380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13" name="Line 47"/>
              <p:cNvSpPr/>
              <p:nvPr/>
            </p:nvSpPr>
            <p:spPr>
              <a:xfrm flipV="1">
                <a:off x="6819840" y="4190760"/>
                <a:ext cx="571320" cy="53352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14" name="Line 48"/>
              <p:cNvSpPr/>
              <p:nvPr/>
            </p:nvSpPr>
            <p:spPr>
              <a:xfrm flipV="1">
                <a:off x="6819840" y="4647960"/>
                <a:ext cx="57132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15" name="Line 49"/>
              <p:cNvSpPr/>
              <p:nvPr/>
            </p:nvSpPr>
            <p:spPr>
              <a:xfrm>
                <a:off x="6819840" y="4952880"/>
                <a:ext cx="571320" cy="15228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nvGrpSpPr>
            <p:cNvPr id="716" name="Group 50"/>
            <p:cNvGrpSpPr/>
            <p:nvPr/>
          </p:nvGrpSpPr>
          <p:grpSpPr>
            <a:xfrm>
              <a:off x="4000320" y="3352680"/>
              <a:ext cx="2895120" cy="1295280"/>
              <a:chOff x="4000320" y="3352680"/>
              <a:chExt cx="2895120" cy="1295280"/>
            </a:xfrm>
          </p:grpSpPr>
          <p:grpSp>
            <p:nvGrpSpPr>
              <p:cNvPr id="717" name="Group 51"/>
              <p:cNvGrpSpPr/>
              <p:nvPr/>
            </p:nvGrpSpPr>
            <p:grpSpPr>
              <a:xfrm>
                <a:off x="4991040" y="3429000"/>
                <a:ext cx="1904400" cy="608760"/>
                <a:chOff x="4991040" y="3429000"/>
                <a:chExt cx="1904400" cy="608760"/>
              </a:xfrm>
            </p:grpSpPr>
            <p:sp>
              <p:nvSpPr>
                <p:cNvPr id="718" name="AutoShape 52"/>
                <p:cNvSpPr/>
                <p:nvPr/>
              </p:nvSpPr>
              <p:spPr>
                <a:xfrm>
                  <a:off x="4991040" y="3429000"/>
                  <a:ext cx="1904400" cy="608760"/>
                </a:xfrm>
                <a:prstGeom prst="flowChartDecision">
                  <a:avLst/>
                </a:prstGeom>
                <a:noFill/>
                <a:ln w="381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19" name="Text Box 53"/>
                <p:cNvSpPr/>
                <p:nvPr/>
              </p:nvSpPr>
              <p:spPr>
                <a:xfrm>
                  <a:off x="5143680" y="3556080"/>
                  <a:ext cx="1675800" cy="333360"/>
                </a:xfrm>
                <a:prstGeom prst="rect">
                  <a:avLst/>
                </a:prstGeom>
                <a:noFill/>
                <a:ln w="381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Co_than_nhan</a:t>
                  </a:r>
                  <a:endParaRPr b="0" lang="vi-VN" sz="1600" spc="-1" strike="noStrike">
                    <a:solidFill>
                      <a:srgbClr val="000000"/>
                    </a:solidFill>
                    <a:latin typeface="Arial"/>
                  </a:endParaRPr>
                </a:p>
              </p:txBody>
            </p:sp>
          </p:grpSp>
          <p:sp>
            <p:nvSpPr>
              <p:cNvPr id="720" name="Line 54"/>
              <p:cNvSpPr/>
              <p:nvPr/>
            </p:nvSpPr>
            <p:spPr>
              <a:xfrm>
                <a:off x="4000320" y="3733560"/>
                <a:ext cx="99072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721" name="Line 55"/>
              <p:cNvSpPr/>
              <p:nvPr/>
            </p:nvSpPr>
            <p:spPr>
              <a:xfrm>
                <a:off x="5956200" y="4038480"/>
                <a:ext cx="360" cy="609480"/>
              </a:xfrm>
              <a:prstGeom prst="line">
                <a:avLst/>
              </a:prstGeom>
              <a:ln w="34925">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22" name="Text Box 56"/>
              <p:cNvSpPr/>
              <p:nvPr/>
            </p:nvSpPr>
            <p:spPr>
              <a:xfrm>
                <a:off x="5257800" y="411480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(1,1)</a:t>
                </a:r>
                <a:endParaRPr b="0" lang="vi-VN" sz="1400" spc="-1" strike="noStrike">
                  <a:solidFill>
                    <a:srgbClr val="000000"/>
                  </a:solidFill>
                  <a:latin typeface="Arial"/>
                </a:endParaRPr>
              </a:p>
            </p:txBody>
          </p:sp>
          <p:sp>
            <p:nvSpPr>
              <p:cNvPr id="723" name="Text Box 57"/>
              <p:cNvSpPr/>
              <p:nvPr/>
            </p:nvSpPr>
            <p:spPr>
              <a:xfrm>
                <a:off x="4191120" y="335268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(0,n)</a:t>
                </a:r>
                <a:endParaRPr b="0" lang="vi-VN" sz="1400" spc="-1" strike="noStrike">
                  <a:solidFill>
                    <a:srgbClr val="000000"/>
                  </a:solidFill>
                  <a:latin typeface="Arial"/>
                </a:endParaRPr>
              </a:p>
            </p:txBody>
          </p:sp>
        </p:grpSp>
      </p:grpSp>
      <p:sp>
        <p:nvSpPr>
          <p:cNvPr id="724" name="PlaceHolder 4"/>
          <p:cNvSpPr>
            <a:spLocks noGrp="1"/>
          </p:cNvSpPr>
          <p:nvPr>
            <p:ph type="dt" idx="134"/>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C4D97FF7-A4DD-4A98-8732-A5AB189387E5}"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725" name="PlaceHolder 5"/>
          <p:cNvSpPr>
            <a:spLocks noGrp="1"/>
          </p:cNvSpPr>
          <p:nvPr>
            <p:ph type="ftr" idx="13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726"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h. Thực thể yếu </a:t>
            </a:r>
            <a:endParaRPr b="0" lang="vi-VN" sz="2800" spc="-1" strike="noStrike">
              <a:solidFill>
                <a:srgbClr val="000000"/>
              </a:solidFill>
              <a:latin typeface="Arial"/>
            </a:endParaRPr>
          </a:p>
        </p:txBody>
      </p:sp>
      <p:sp>
        <p:nvSpPr>
          <p:cNvPr id="728" name="PlaceHolder 2"/>
          <p:cNvSpPr>
            <a:spLocks noGrp="1"/>
          </p:cNvSpPr>
          <p:nvPr>
            <p:ph/>
          </p:nvPr>
        </p:nvSpPr>
        <p:spPr>
          <a:xfrm>
            <a:off x="380880" y="1295280"/>
            <a:ext cx="8381160" cy="510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Ví dụ 2</a:t>
            </a:r>
            <a:endParaRPr b="0" lang="vi-VN" sz="2600" spc="-1" strike="noStrike">
              <a:solidFill>
                <a:srgbClr val="000000"/>
              </a:solidFill>
              <a:latin typeface="Arial"/>
            </a:endParaRPr>
          </a:p>
        </p:txBody>
      </p:sp>
      <p:sp>
        <p:nvSpPr>
          <p:cNvPr id="729" name="PlaceHolder 3"/>
          <p:cNvSpPr>
            <a:spLocks noGrp="1"/>
          </p:cNvSpPr>
          <p:nvPr>
            <p:ph type="sldNum" idx="13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CC1C737-BD3D-4DF1-9D53-B547104C2C1A}"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grpSp>
        <p:nvGrpSpPr>
          <p:cNvPr id="730" name="Group 84"/>
          <p:cNvGrpSpPr/>
          <p:nvPr/>
        </p:nvGrpSpPr>
        <p:grpSpPr>
          <a:xfrm>
            <a:off x="2006640" y="1447920"/>
            <a:ext cx="4494960" cy="4952160"/>
            <a:chOff x="2006640" y="1447920"/>
            <a:chExt cx="4494960" cy="4952160"/>
          </a:xfrm>
        </p:grpSpPr>
        <p:grpSp>
          <p:nvGrpSpPr>
            <p:cNvPr id="731" name="Group 5"/>
            <p:cNvGrpSpPr/>
            <p:nvPr/>
          </p:nvGrpSpPr>
          <p:grpSpPr>
            <a:xfrm>
              <a:off x="3581280" y="3048120"/>
              <a:ext cx="1294560" cy="608760"/>
              <a:chOff x="3581280" y="3048120"/>
              <a:chExt cx="1294560" cy="608760"/>
            </a:xfrm>
          </p:grpSpPr>
          <p:sp>
            <p:nvSpPr>
              <p:cNvPr id="732" name="AutoShape 6"/>
              <p:cNvSpPr/>
              <p:nvPr/>
            </p:nvSpPr>
            <p:spPr>
              <a:xfrm>
                <a:off x="3581280" y="3048120"/>
                <a:ext cx="1294560" cy="608760"/>
              </a:xfrm>
              <a:prstGeom prst="flowChartDecision">
                <a:avLst/>
              </a:prstGeom>
              <a:noFill/>
              <a:ln w="38100">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33" name="Text Box 7"/>
              <p:cNvSpPr/>
              <p:nvPr/>
            </p:nvSpPr>
            <p:spPr>
              <a:xfrm>
                <a:off x="3684960" y="3174840"/>
                <a:ext cx="1139400" cy="333360"/>
              </a:xfrm>
              <a:prstGeom prst="rect">
                <a:avLst/>
              </a:prstGeom>
              <a:noFill/>
              <a:ln w="381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HD_CT</a:t>
                </a:r>
                <a:endParaRPr b="0" lang="vi-VN" sz="1600" spc="-1" strike="noStrike">
                  <a:solidFill>
                    <a:srgbClr val="000000"/>
                  </a:solidFill>
                  <a:latin typeface="Arial"/>
                </a:endParaRPr>
              </a:p>
            </p:txBody>
          </p:sp>
        </p:grpSp>
        <p:grpSp>
          <p:nvGrpSpPr>
            <p:cNvPr id="734" name="Group 66"/>
            <p:cNvGrpSpPr/>
            <p:nvPr/>
          </p:nvGrpSpPr>
          <p:grpSpPr>
            <a:xfrm>
              <a:off x="2006640" y="1447920"/>
              <a:ext cx="3021840" cy="1634040"/>
              <a:chOff x="2006640" y="1447920"/>
              <a:chExt cx="3021840" cy="1634040"/>
            </a:xfrm>
          </p:grpSpPr>
          <p:sp>
            <p:nvSpPr>
              <p:cNvPr id="735" name="Text Box 9"/>
              <p:cNvSpPr/>
              <p:nvPr/>
            </p:nvSpPr>
            <p:spPr>
              <a:xfrm>
                <a:off x="3429000" y="243828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HOA_DON</a:t>
                </a:r>
                <a:endParaRPr b="0" lang="vi-VN" sz="1800" spc="-1" strike="noStrike">
                  <a:solidFill>
                    <a:srgbClr val="000000"/>
                  </a:solidFill>
                  <a:latin typeface="Arial"/>
                </a:endParaRPr>
              </a:p>
            </p:txBody>
          </p:sp>
          <p:grpSp>
            <p:nvGrpSpPr>
              <p:cNvPr id="736" name="Group 61"/>
              <p:cNvGrpSpPr/>
              <p:nvPr/>
            </p:nvGrpSpPr>
            <p:grpSpPr>
              <a:xfrm>
                <a:off x="2006640" y="2514600"/>
                <a:ext cx="1065960" cy="567360"/>
                <a:chOff x="2006640" y="2514600"/>
                <a:chExt cx="1065960" cy="567360"/>
              </a:xfrm>
            </p:grpSpPr>
            <p:sp>
              <p:nvSpPr>
                <p:cNvPr id="737" name="Oval 11"/>
                <p:cNvSpPr/>
                <p:nvPr/>
              </p:nvSpPr>
              <p:spPr>
                <a:xfrm>
                  <a:off x="2006640" y="2514600"/>
                  <a:ext cx="10659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38" name="Text Box 12"/>
                <p:cNvSpPr/>
                <p:nvPr/>
              </p:nvSpPr>
              <p:spPr>
                <a:xfrm>
                  <a:off x="2006640" y="2565360"/>
                  <a:ext cx="1065960" cy="51660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TONGTIEN</a:t>
                  </a:r>
                  <a:endParaRPr b="0" lang="vi-VN" sz="1400" spc="-1" strike="noStrike">
                    <a:solidFill>
                      <a:srgbClr val="000000"/>
                    </a:solidFill>
                    <a:latin typeface="Arial"/>
                  </a:endParaRPr>
                </a:p>
              </p:txBody>
            </p:sp>
          </p:grpSp>
          <p:grpSp>
            <p:nvGrpSpPr>
              <p:cNvPr id="739" name="Group 60"/>
              <p:cNvGrpSpPr/>
              <p:nvPr/>
            </p:nvGrpSpPr>
            <p:grpSpPr>
              <a:xfrm>
                <a:off x="2158920" y="1981080"/>
                <a:ext cx="913680" cy="380160"/>
                <a:chOff x="2158920" y="1981080"/>
                <a:chExt cx="913680" cy="380160"/>
              </a:xfrm>
            </p:grpSpPr>
            <p:sp>
              <p:nvSpPr>
                <p:cNvPr id="740" name="Oval 26"/>
                <p:cNvSpPr/>
                <p:nvPr/>
              </p:nvSpPr>
              <p:spPr>
                <a:xfrm>
                  <a:off x="2158920" y="198108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41" name="Text Box 27"/>
                <p:cNvSpPr/>
                <p:nvPr/>
              </p:nvSpPr>
              <p:spPr>
                <a:xfrm>
                  <a:off x="2158920" y="2019240"/>
                  <a:ext cx="9136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NGAYHD</a:t>
                  </a:r>
                  <a:endParaRPr b="0" lang="vi-VN" sz="1400" spc="-1" strike="noStrike">
                    <a:solidFill>
                      <a:srgbClr val="000000"/>
                    </a:solidFill>
                    <a:latin typeface="Arial"/>
                  </a:endParaRPr>
                </a:p>
              </p:txBody>
            </p:sp>
          </p:grpSp>
          <p:sp>
            <p:nvSpPr>
              <p:cNvPr id="742" name="Line 29"/>
              <p:cNvSpPr/>
              <p:nvPr/>
            </p:nvSpPr>
            <p:spPr>
              <a:xfrm flipH="1">
                <a:off x="3073320" y="2590560"/>
                <a:ext cx="380880" cy="76320"/>
              </a:xfrm>
              <a:prstGeom prst="line">
                <a:avLst/>
              </a:prstGeom>
              <a:ln w="12700">
                <a:solidFill>
                  <a:srgbClr val="000000"/>
                </a:solidFill>
                <a:round/>
              </a:ln>
            </p:spPr>
            <p:style>
              <a:lnRef idx="0"/>
              <a:fillRef idx="0"/>
              <a:effectRef idx="0"/>
              <a:fontRef idx="minor"/>
            </p:style>
            <p:txBody>
              <a:bodyPr lIns="90000" rIns="90000" tIns="31320" bIns="31320" anchor="ctr">
                <a:noAutofit/>
              </a:bodyPr>
              <a:p>
                <a:endParaRPr b="0" lang="zxx" sz="1800" spc="-1" strike="noStrike">
                  <a:solidFill>
                    <a:schemeClr val="dk1"/>
                  </a:solidFill>
                  <a:latin typeface="Tahoma"/>
                </a:endParaRPr>
              </a:p>
            </p:txBody>
          </p:sp>
          <p:sp>
            <p:nvSpPr>
              <p:cNvPr id="743" name="Line 30"/>
              <p:cNvSpPr/>
              <p:nvPr/>
            </p:nvSpPr>
            <p:spPr>
              <a:xfrm flipH="1" flipV="1">
                <a:off x="2997000" y="2209680"/>
                <a:ext cx="45720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nvGrpSpPr>
              <p:cNvPr id="744" name="Group 34"/>
              <p:cNvGrpSpPr/>
              <p:nvPr/>
            </p:nvGrpSpPr>
            <p:grpSpPr>
              <a:xfrm>
                <a:off x="2158920" y="1447920"/>
                <a:ext cx="837360" cy="380160"/>
                <a:chOff x="2158920" y="1447920"/>
                <a:chExt cx="837360" cy="380160"/>
              </a:xfrm>
            </p:grpSpPr>
            <p:sp>
              <p:nvSpPr>
                <p:cNvPr id="745" name="Oval 35"/>
                <p:cNvSpPr/>
                <p:nvPr/>
              </p:nvSpPr>
              <p:spPr>
                <a:xfrm>
                  <a:off x="2158920" y="1447920"/>
                  <a:ext cx="837360" cy="380160"/>
                </a:xfrm>
                <a:prstGeom prst="ellipse">
                  <a:avLst/>
                </a:prstGeom>
                <a:solidFill>
                  <a:srgbClr val="cc0000">
                    <a:alpha val="55000"/>
                  </a:srgbClr>
                </a:solidFill>
                <a:ln w="12700">
                  <a:solidFill>
                    <a:srgbClr val="cc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46" name="Text Box 36"/>
                <p:cNvSpPr/>
                <p:nvPr/>
              </p:nvSpPr>
              <p:spPr>
                <a:xfrm>
                  <a:off x="2197080" y="1486080"/>
                  <a:ext cx="76140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u="sng">
                      <a:solidFill>
                        <a:schemeClr val="dk1"/>
                      </a:solidFill>
                      <a:uFillTx/>
                      <a:latin typeface="Tahoma"/>
                    </a:rPr>
                    <a:t>MAHD</a:t>
                  </a:r>
                  <a:endParaRPr b="0" lang="vi-VN" sz="1400" spc="-1" strike="noStrike">
                    <a:solidFill>
                      <a:srgbClr val="000000"/>
                    </a:solidFill>
                    <a:latin typeface="Arial"/>
                  </a:endParaRPr>
                </a:p>
              </p:txBody>
            </p:sp>
          </p:grpSp>
          <p:sp>
            <p:nvSpPr>
              <p:cNvPr id="747" name="Line 37"/>
              <p:cNvSpPr/>
              <p:nvPr/>
            </p:nvSpPr>
            <p:spPr>
              <a:xfrm flipH="1" flipV="1">
                <a:off x="2920680" y="1752480"/>
                <a:ext cx="685800" cy="6858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nvGrpSpPr>
            <p:cNvPr id="748" name="Group 80"/>
            <p:cNvGrpSpPr/>
            <p:nvPr/>
          </p:nvGrpSpPr>
          <p:grpSpPr>
            <a:xfrm>
              <a:off x="3505320" y="5105520"/>
              <a:ext cx="2996280" cy="1294560"/>
              <a:chOff x="3505320" y="5105520"/>
              <a:chExt cx="2996280" cy="1294560"/>
            </a:xfrm>
          </p:grpSpPr>
          <p:sp>
            <p:nvSpPr>
              <p:cNvPr id="749" name="Text Box 40"/>
              <p:cNvSpPr/>
              <p:nvPr/>
            </p:nvSpPr>
            <p:spPr>
              <a:xfrm>
                <a:off x="3505320" y="5462640"/>
                <a:ext cx="1599480" cy="363960"/>
              </a:xfrm>
              <a:prstGeom prst="rect">
                <a:avLst/>
              </a:prstGeom>
              <a:noFill/>
              <a:ln w="127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HANG_HOA</a:t>
                </a:r>
                <a:endParaRPr b="0" lang="vi-VN" sz="1800" spc="-1" strike="noStrike">
                  <a:solidFill>
                    <a:srgbClr val="000000"/>
                  </a:solidFill>
                  <a:latin typeface="Arial"/>
                </a:endParaRPr>
              </a:p>
            </p:txBody>
          </p:sp>
          <p:sp>
            <p:nvSpPr>
              <p:cNvPr id="750" name="Oval 42"/>
              <p:cNvSpPr/>
              <p:nvPr/>
            </p:nvSpPr>
            <p:spPr>
              <a:xfrm>
                <a:off x="5638680" y="6019920"/>
                <a:ext cx="837360" cy="380160"/>
              </a:xfrm>
              <a:prstGeom prst="ellipse">
                <a:avLst/>
              </a:prstGeom>
              <a:solidFill>
                <a:srgbClr val="cc0000">
                  <a:alpha val="55000"/>
                </a:srgbClr>
              </a:solidFill>
              <a:ln w="12700">
                <a:solidFill>
                  <a:srgbClr val="cc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51" name="Text Box 43"/>
              <p:cNvSpPr/>
              <p:nvPr/>
            </p:nvSpPr>
            <p:spPr>
              <a:xfrm>
                <a:off x="5664240" y="604512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u="sng">
                    <a:solidFill>
                      <a:schemeClr val="dk1"/>
                    </a:solidFill>
                    <a:uFillTx/>
                    <a:latin typeface="Tahoma"/>
                  </a:rPr>
                  <a:t>MAHH</a:t>
                </a:r>
                <a:endParaRPr b="0" lang="vi-VN" sz="1400" spc="-1" strike="noStrike">
                  <a:solidFill>
                    <a:srgbClr val="000000"/>
                  </a:solidFill>
                  <a:latin typeface="Arial"/>
                </a:endParaRPr>
              </a:p>
            </p:txBody>
          </p:sp>
          <p:grpSp>
            <p:nvGrpSpPr>
              <p:cNvPr id="752" name="Group 44"/>
              <p:cNvGrpSpPr/>
              <p:nvPr/>
            </p:nvGrpSpPr>
            <p:grpSpPr>
              <a:xfrm>
                <a:off x="5638680" y="5562720"/>
                <a:ext cx="837360" cy="380160"/>
                <a:chOff x="5638680" y="5562720"/>
                <a:chExt cx="837360" cy="380160"/>
              </a:xfrm>
            </p:grpSpPr>
            <p:sp>
              <p:nvSpPr>
                <p:cNvPr id="753" name="Oval 45"/>
                <p:cNvSpPr/>
                <p:nvPr/>
              </p:nvSpPr>
              <p:spPr>
                <a:xfrm>
                  <a:off x="5638680" y="55627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54" name="Text Box 46"/>
                <p:cNvSpPr/>
                <p:nvPr/>
              </p:nvSpPr>
              <p:spPr>
                <a:xfrm>
                  <a:off x="5638680" y="56008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DGIA</a:t>
                  </a:r>
                  <a:endParaRPr b="0" lang="vi-VN" sz="1400" spc="-1" strike="noStrike">
                    <a:solidFill>
                      <a:srgbClr val="000000"/>
                    </a:solidFill>
                    <a:latin typeface="Arial"/>
                  </a:endParaRPr>
                </a:p>
              </p:txBody>
            </p:sp>
          </p:grpSp>
          <p:grpSp>
            <p:nvGrpSpPr>
              <p:cNvPr id="755" name="Group 47"/>
              <p:cNvGrpSpPr/>
              <p:nvPr/>
            </p:nvGrpSpPr>
            <p:grpSpPr>
              <a:xfrm>
                <a:off x="5638680" y="5105520"/>
                <a:ext cx="837360" cy="380160"/>
                <a:chOff x="5638680" y="5105520"/>
                <a:chExt cx="837360" cy="380160"/>
              </a:xfrm>
            </p:grpSpPr>
            <p:sp>
              <p:nvSpPr>
                <p:cNvPr id="756" name="Oval 48"/>
                <p:cNvSpPr/>
                <p:nvPr/>
              </p:nvSpPr>
              <p:spPr>
                <a:xfrm>
                  <a:off x="5638680" y="51055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57" name="Text Box 49"/>
                <p:cNvSpPr/>
                <p:nvPr/>
              </p:nvSpPr>
              <p:spPr>
                <a:xfrm>
                  <a:off x="5638680" y="51436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TENHH</a:t>
                  </a:r>
                  <a:endParaRPr b="0" lang="vi-VN" sz="1400" spc="-1" strike="noStrike">
                    <a:solidFill>
                      <a:srgbClr val="000000"/>
                    </a:solidFill>
                    <a:latin typeface="Arial"/>
                  </a:endParaRPr>
                </a:p>
              </p:txBody>
            </p:sp>
          </p:grpSp>
          <p:sp>
            <p:nvSpPr>
              <p:cNvPr id="758" name="Line 54"/>
              <p:cNvSpPr/>
              <p:nvPr/>
            </p:nvSpPr>
            <p:spPr>
              <a:xfrm flipV="1">
                <a:off x="5105160" y="5333760"/>
                <a:ext cx="53352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59" name="Line 55"/>
              <p:cNvSpPr/>
              <p:nvPr/>
            </p:nvSpPr>
            <p:spPr>
              <a:xfrm>
                <a:off x="5105160" y="5715000"/>
                <a:ext cx="533520" cy="360"/>
              </a:xfrm>
              <a:prstGeom prst="line">
                <a:avLst/>
              </a:prstGeom>
              <a:ln w="12700">
                <a:solidFill>
                  <a:srgbClr val="000000"/>
                </a:solidFill>
                <a:round/>
              </a:ln>
            </p:spPr>
            <p:style>
              <a:lnRef idx="0"/>
              <a:fillRef idx="0"/>
              <a:effectRef idx="0"/>
              <a:fontRef idx="minor"/>
            </p:style>
            <p:txBody>
              <a:bodyPr lIns="90000" rIns="90000" tIns="-44640" bIns="-44640" anchor="ctr">
                <a:noAutofit/>
              </a:bodyPr>
              <a:p>
                <a:endParaRPr b="0" lang="zxx" sz="1800" spc="-1" strike="noStrike">
                  <a:solidFill>
                    <a:schemeClr val="dk1"/>
                  </a:solidFill>
                  <a:latin typeface="Tahoma"/>
                </a:endParaRPr>
              </a:p>
            </p:txBody>
          </p:sp>
          <p:sp>
            <p:nvSpPr>
              <p:cNvPr id="760" name="Line 56"/>
              <p:cNvSpPr/>
              <p:nvPr/>
            </p:nvSpPr>
            <p:spPr>
              <a:xfrm>
                <a:off x="5105160" y="5790960"/>
                <a:ext cx="533520" cy="3812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sp>
          <p:nvSpPr>
            <p:cNvPr id="761" name="Text Box 58"/>
            <p:cNvSpPr/>
            <p:nvPr/>
          </p:nvSpPr>
          <p:spPr>
            <a:xfrm>
              <a:off x="4343400" y="365760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(1,1)</a:t>
              </a:r>
              <a:endParaRPr b="0" lang="vi-VN" sz="1400" spc="-1" strike="noStrike">
                <a:solidFill>
                  <a:srgbClr val="000000"/>
                </a:solidFill>
                <a:latin typeface="Arial"/>
              </a:endParaRPr>
            </a:p>
          </p:txBody>
        </p:sp>
        <p:sp>
          <p:nvSpPr>
            <p:cNvPr id="762" name="Text Box 59"/>
            <p:cNvSpPr/>
            <p:nvPr/>
          </p:nvSpPr>
          <p:spPr>
            <a:xfrm>
              <a:off x="4495680" y="289548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(1,n)</a:t>
              </a:r>
              <a:endParaRPr b="0" lang="vi-VN" sz="1400" spc="-1" strike="noStrike">
                <a:solidFill>
                  <a:srgbClr val="000000"/>
                </a:solidFill>
                <a:latin typeface="Arial"/>
              </a:endParaRPr>
            </a:p>
          </p:txBody>
        </p:sp>
        <p:grpSp>
          <p:nvGrpSpPr>
            <p:cNvPr id="763" name="Group 63"/>
            <p:cNvGrpSpPr/>
            <p:nvPr/>
          </p:nvGrpSpPr>
          <p:grpSpPr>
            <a:xfrm>
              <a:off x="3581280" y="4648320"/>
              <a:ext cx="1294560" cy="608760"/>
              <a:chOff x="3581280" y="4648320"/>
              <a:chExt cx="1294560" cy="608760"/>
            </a:xfrm>
          </p:grpSpPr>
          <p:sp>
            <p:nvSpPr>
              <p:cNvPr id="764" name="AutoShape 64"/>
              <p:cNvSpPr/>
              <p:nvPr/>
            </p:nvSpPr>
            <p:spPr>
              <a:xfrm>
                <a:off x="3581280" y="4648320"/>
                <a:ext cx="1294560" cy="608760"/>
              </a:xfrm>
              <a:prstGeom prst="flowChartDecision">
                <a:avLst/>
              </a:prstGeom>
              <a:noFill/>
              <a:ln w="3175">
                <a:solidFill>
                  <a:srgbClr val="000000"/>
                </a:solidFill>
                <a:miter/>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65" name="Text Box 65"/>
              <p:cNvSpPr/>
              <p:nvPr/>
            </p:nvSpPr>
            <p:spPr>
              <a:xfrm>
                <a:off x="3684960" y="4775040"/>
                <a:ext cx="1139400" cy="333360"/>
              </a:xfrm>
              <a:prstGeom prst="rect">
                <a:avLst/>
              </a:prstGeom>
              <a:noFill/>
              <a:ln w="38100">
                <a:noFill/>
              </a:ln>
            </p:spPr>
            <p:style>
              <a:lnRef idx="0"/>
              <a:fillRef idx="0"/>
              <a:effectRef idx="0"/>
              <a:fontRef idx="minor"/>
            </p:style>
            <p:txBody>
              <a:bodyPr lIns="90000" rIns="90000" tIns="45000" bIns="45000" anchor="t">
                <a:spAutoFit/>
              </a:bodyPr>
              <a:p>
                <a:pPr algn="ctr">
                  <a:lnSpc>
                    <a:spcPct val="100000"/>
                  </a:lnSpc>
                  <a:spcBef>
                    <a:spcPts val="799"/>
                  </a:spcBef>
                </a:pPr>
                <a:r>
                  <a:rPr b="0" lang="en-US" sz="1600" spc="-1" strike="noStrike">
                    <a:solidFill>
                      <a:schemeClr val="dk1"/>
                    </a:solidFill>
                    <a:latin typeface="Tahoma"/>
                  </a:rPr>
                  <a:t>HH_CT</a:t>
                </a:r>
                <a:endParaRPr b="0" lang="vi-VN" sz="1600" spc="-1" strike="noStrike">
                  <a:solidFill>
                    <a:srgbClr val="000000"/>
                  </a:solidFill>
                  <a:latin typeface="Arial"/>
                </a:endParaRPr>
              </a:p>
            </p:txBody>
          </p:sp>
        </p:grpSp>
        <p:sp>
          <p:nvSpPr>
            <p:cNvPr id="766" name="Line 68"/>
            <p:cNvSpPr/>
            <p:nvPr/>
          </p:nvSpPr>
          <p:spPr>
            <a:xfrm>
              <a:off x="4216320" y="2819160"/>
              <a:ext cx="36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67" name="Line 71"/>
            <p:cNvSpPr/>
            <p:nvPr/>
          </p:nvSpPr>
          <p:spPr>
            <a:xfrm>
              <a:off x="4241520" y="5232240"/>
              <a:ext cx="36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68" name="Text Box 72"/>
            <p:cNvSpPr/>
            <p:nvPr/>
          </p:nvSpPr>
          <p:spPr>
            <a:xfrm>
              <a:off x="3276720" y="441972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(1,1)</a:t>
              </a:r>
              <a:endParaRPr b="0" lang="vi-VN" sz="1400" spc="-1" strike="noStrike">
                <a:solidFill>
                  <a:srgbClr val="000000"/>
                </a:solidFill>
                <a:latin typeface="Arial"/>
              </a:endParaRPr>
            </a:p>
          </p:txBody>
        </p:sp>
        <p:sp>
          <p:nvSpPr>
            <p:cNvPr id="769" name="Text Box 73"/>
            <p:cNvSpPr/>
            <p:nvPr/>
          </p:nvSpPr>
          <p:spPr>
            <a:xfrm>
              <a:off x="3276720" y="5105520"/>
              <a:ext cx="68508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(1,n)</a:t>
              </a:r>
              <a:endParaRPr b="0" lang="vi-VN" sz="1400" spc="-1" strike="noStrike">
                <a:solidFill>
                  <a:srgbClr val="000000"/>
                </a:solidFill>
                <a:latin typeface="Arial"/>
              </a:endParaRPr>
            </a:p>
          </p:txBody>
        </p:sp>
        <p:grpSp>
          <p:nvGrpSpPr>
            <p:cNvPr id="770" name="Group 83"/>
            <p:cNvGrpSpPr/>
            <p:nvPr/>
          </p:nvGrpSpPr>
          <p:grpSpPr>
            <a:xfrm>
              <a:off x="3505320" y="3733920"/>
              <a:ext cx="2818440" cy="875880"/>
              <a:chOff x="3505320" y="3733920"/>
              <a:chExt cx="2818440" cy="875880"/>
            </a:xfrm>
          </p:grpSpPr>
          <p:sp>
            <p:nvSpPr>
              <p:cNvPr id="771" name="Text Box 62"/>
              <p:cNvSpPr/>
              <p:nvPr/>
            </p:nvSpPr>
            <p:spPr>
              <a:xfrm>
                <a:off x="3505320" y="3962520"/>
                <a:ext cx="1599480" cy="363960"/>
              </a:xfrm>
              <a:prstGeom prst="rect">
                <a:avLst/>
              </a:prstGeom>
              <a:noFill/>
              <a:ln w="38100">
                <a:solidFill>
                  <a:srgbClr val="000000"/>
                </a:solidFill>
                <a:miter/>
              </a:ln>
            </p:spPr>
            <p:style>
              <a:lnRef idx="0"/>
              <a:fillRef idx="0"/>
              <a:effectRef idx="0"/>
              <a:fontRef idx="minor"/>
            </p:style>
            <p:txBody>
              <a:bodyPr lIns="90000" rIns="90000" tIns="45000" bIns="45000" anchor="t">
                <a:spAutoFit/>
              </a:bodyPr>
              <a:p>
                <a:pPr algn="ctr">
                  <a:lnSpc>
                    <a:spcPct val="100000"/>
                  </a:lnSpc>
                  <a:spcBef>
                    <a:spcPts val="601"/>
                  </a:spcBef>
                </a:pPr>
                <a:r>
                  <a:rPr b="0" lang="en-US" sz="1800" spc="-1" strike="noStrike">
                    <a:solidFill>
                      <a:schemeClr val="dk1"/>
                    </a:solidFill>
                    <a:latin typeface="Tahoma"/>
                  </a:rPr>
                  <a:t>CHI_TIET</a:t>
                </a:r>
                <a:endParaRPr b="0" lang="vi-VN" sz="1800" spc="-1" strike="noStrike">
                  <a:solidFill>
                    <a:srgbClr val="000000"/>
                  </a:solidFill>
                  <a:latin typeface="Arial"/>
                </a:endParaRPr>
              </a:p>
            </p:txBody>
          </p:sp>
          <p:sp>
            <p:nvSpPr>
              <p:cNvPr id="772" name="Line 70"/>
              <p:cNvSpPr/>
              <p:nvPr/>
            </p:nvSpPr>
            <p:spPr>
              <a:xfrm>
                <a:off x="4228920" y="4381200"/>
                <a:ext cx="360" cy="22860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nvGrpSpPr>
              <p:cNvPr id="773" name="Group 74"/>
              <p:cNvGrpSpPr/>
              <p:nvPr/>
            </p:nvGrpSpPr>
            <p:grpSpPr>
              <a:xfrm>
                <a:off x="5486400" y="3733920"/>
                <a:ext cx="837360" cy="380160"/>
                <a:chOff x="5486400" y="3733920"/>
                <a:chExt cx="837360" cy="380160"/>
              </a:xfrm>
            </p:grpSpPr>
            <p:sp>
              <p:nvSpPr>
                <p:cNvPr id="774" name="Oval 75"/>
                <p:cNvSpPr/>
                <p:nvPr/>
              </p:nvSpPr>
              <p:spPr>
                <a:xfrm>
                  <a:off x="5486400" y="37339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75" name="Text Box 76"/>
                <p:cNvSpPr/>
                <p:nvPr/>
              </p:nvSpPr>
              <p:spPr>
                <a:xfrm>
                  <a:off x="5486400" y="37720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SL_HH</a:t>
                  </a:r>
                  <a:endParaRPr b="0" lang="vi-VN" sz="1400" spc="-1" strike="noStrike">
                    <a:solidFill>
                      <a:srgbClr val="000000"/>
                    </a:solidFill>
                    <a:latin typeface="Arial"/>
                  </a:endParaRPr>
                </a:p>
              </p:txBody>
            </p:sp>
          </p:grpSp>
          <p:grpSp>
            <p:nvGrpSpPr>
              <p:cNvPr id="776" name="Group 77"/>
              <p:cNvGrpSpPr/>
              <p:nvPr/>
            </p:nvGrpSpPr>
            <p:grpSpPr>
              <a:xfrm>
                <a:off x="5486400" y="4191120"/>
                <a:ext cx="837360" cy="380160"/>
                <a:chOff x="5486400" y="4191120"/>
                <a:chExt cx="837360" cy="380160"/>
              </a:xfrm>
            </p:grpSpPr>
            <p:sp>
              <p:nvSpPr>
                <p:cNvPr id="777" name="Oval 78"/>
                <p:cNvSpPr/>
                <p:nvPr/>
              </p:nvSpPr>
              <p:spPr>
                <a:xfrm>
                  <a:off x="5486400" y="4191120"/>
                  <a:ext cx="837360" cy="380160"/>
                </a:xfrm>
                <a:prstGeom prst="ellipse">
                  <a:avLst/>
                </a:prstGeom>
                <a:noFill/>
                <a:ln w="12700">
                  <a:solidFill>
                    <a:srgbClr val="000000"/>
                  </a:solidFill>
                  <a:round/>
                </a:ln>
              </p:spPr>
              <p:style>
                <a:lnRef idx="0"/>
                <a:fillRef idx="0"/>
                <a:effectRef idx="0"/>
                <a:fontRef idx="minor"/>
              </p:style>
              <p:txBody>
                <a:bodyPr lIns="90000" rIns="90000" tIns="45000" bIns="45000" anchor="ctr">
                  <a:spAutoFit/>
                </a:bodyPr>
                <a:p>
                  <a:pPr algn="ctr">
                    <a:lnSpc>
                      <a:spcPct val="100000"/>
                    </a:lnSpc>
                    <a:spcBef>
                      <a:spcPts val="601"/>
                    </a:spcBef>
                  </a:pPr>
                  <a:endParaRPr b="0" lang="zxx" sz="1800" spc="-1" strike="noStrike">
                    <a:solidFill>
                      <a:schemeClr val="dk1"/>
                    </a:solidFill>
                    <a:latin typeface="Tahoma"/>
                  </a:endParaRPr>
                </a:p>
              </p:txBody>
            </p:sp>
            <p:sp>
              <p:nvSpPr>
                <p:cNvPr id="778" name="Text Box 79"/>
                <p:cNvSpPr/>
                <p:nvPr/>
              </p:nvSpPr>
              <p:spPr>
                <a:xfrm>
                  <a:off x="5486400" y="4229280"/>
                  <a:ext cx="837360" cy="303120"/>
                </a:xfrm>
                <a:prstGeom prst="rect">
                  <a:avLst/>
                </a:prstGeom>
                <a:noFill/>
                <a:ln w="1270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1"/>
                      </a:solidFill>
                      <a:latin typeface="Tahoma"/>
                    </a:rPr>
                    <a:t>SOTIEN</a:t>
                  </a:r>
                  <a:endParaRPr b="0" lang="vi-VN" sz="1400" spc="-1" strike="noStrike">
                    <a:solidFill>
                      <a:srgbClr val="000000"/>
                    </a:solidFill>
                    <a:latin typeface="Arial"/>
                  </a:endParaRPr>
                </a:p>
              </p:txBody>
            </p:sp>
          </p:grpSp>
          <p:sp>
            <p:nvSpPr>
              <p:cNvPr id="779" name="Line 81"/>
              <p:cNvSpPr/>
              <p:nvPr/>
            </p:nvSpPr>
            <p:spPr>
              <a:xfrm flipV="1">
                <a:off x="5105160" y="3962160"/>
                <a:ext cx="381240" cy="1526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sp>
            <p:nvSpPr>
              <p:cNvPr id="780" name="Line 82"/>
              <p:cNvSpPr/>
              <p:nvPr/>
            </p:nvSpPr>
            <p:spPr>
              <a:xfrm>
                <a:off x="5105160" y="4190760"/>
                <a:ext cx="381240" cy="152640"/>
              </a:xfrm>
              <a:prstGeom prst="line">
                <a:avLst/>
              </a:prstGeom>
              <a:ln w="12700">
                <a:solidFill>
                  <a:srgbClr val="000000"/>
                </a:solidFill>
                <a:round/>
              </a:ln>
            </p:spPr>
            <p:style>
              <a:lnRef idx="0"/>
              <a:fillRef idx="0"/>
              <a:effectRef idx="0"/>
              <a:fontRef idx="minor"/>
            </p:style>
            <p:txBody>
              <a:bodyPr lIns="90000" rIns="90000" tIns="45000" bIns="45000" anchor="ctr">
                <a:noAutofit/>
              </a:bodyPr>
              <a:p>
                <a:endParaRPr b="0" lang="zxx" sz="1800" spc="-1" strike="noStrike">
                  <a:solidFill>
                    <a:schemeClr val="dk1"/>
                  </a:solidFill>
                  <a:latin typeface="Tahoma"/>
                </a:endParaRPr>
              </a:p>
            </p:txBody>
          </p:sp>
        </p:grpSp>
      </p:grpSp>
      <p:sp>
        <p:nvSpPr>
          <p:cNvPr id="781" name="PlaceHolder 4"/>
          <p:cNvSpPr>
            <a:spLocks noGrp="1"/>
          </p:cNvSpPr>
          <p:nvPr>
            <p:ph type="dt" idx="137"/>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4DA00B8F-E942-4C6B-B091-279C744369D3}"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782" name="PlaceHolder 5"/>
          <p:cNvSpPr>
            <a:spLocks noGrp="1"/>
          </p:cNvSpPr>
          <p:nvPr>
            <p:ph type="ftr" idx="13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cxnSp>
        <p:nvCxnSpPr>
          <p:cNvPr id="783" name="Straight Connector 62"/>
          <p:cNvCxnSpPr/>
          <p:nvPr/>
        </p:nvCxnSpPr>
        <p:spPr>
          <a:xfrm>
            <a:off x="4254840" y="3657600"/>
            <a:ext cx="720" cy="324720"/>
          </a:xfrm>
          <a:prstGeom prst="straightConnector1">
            <a:avLst/>
          </a:prstGeom>
          <a:ln w="53975">
            <a:solidFill>
              <a:srgbClr val="095294"/>
            </a:solidFill>
            <a:round/>
          </a:ln>
        </p:spPr>
      </p:cxnSp>
      <p:pic>
        <p:nvPicPr>
          <p:cNvPr id="784"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304920" y="152280"/>
            <a:ext cx="8228880" cy="66600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400" spc="-1" strike="noStrike">
                <a:solidFill>
                  <a:schemeClr val="dk2"/>
                </a:solidFill>
                <a:latin typeface="Calibri"/>
              </a:rPr>
              <a:t>Các ký hiệu (trên Lược đồ ER)</a:t>
            </a:r>
            <a:endParaRPr b="0" lang="vi-VN" sz="2400" spc="-1" strike="noStrike">
              <a:solidFill>
                <a:srgbClr val="000000"/>
              </a:solidFill>
              <a:latin typeface="Arial"/>
            </a:endParaRPr>
          </a:p>
        </p:txBody>
      </p:sp>
      <p:sp>
        <p:nvSpPr>
          <p:cNvPr id="786" name="PlaceHolder 2"/>
          <p:cNvSpPr>
            <a:spLocks noGrp="1"/>
          </p:cNvSpPr>
          <p:nvPr>
            <p:ph type="sldNum" idx="13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6823D1B3-E448-47D9-B38F-160D3B4C5677}"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787" name="PlaceHolder 3"/>
          <p:cNvSpPr>
            <a:spLocks noGrp="1"/>
          </p:cNvSpPr>
          <p:nvPr>
            <p:ph type="dt" idx="140"/>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6D61067B-17C6-4409-BC06-62B31AE288A0}"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788" name="PlaceHolder 4"/>
          <p:cNvSpPr>
            <a:spLocks noGrp="1"/>
          </p:cNvSpPr>
          <p:nvPr>
            <p:ph type="ftr" idx="14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789" name="Picture 3" descr=""/>
          <p:cNvPicPr/>
          <p:nvPr/>
        </p:nvPicPr>
        <p:blipFill>
          <a:blip r:embed="rId1"/>
          <a:stretch/>
        </p:blipFill>
        <p:spPr>
          <a:xfrm>
            <a:off x="608760" y="1828800"/>
            <a:ext cx="8229960" cy="4419000"/>
          </a:xfrm>
          <a:prstGeom prst="rect">
            <a:avLst/>
          </a:prstGeom>
          <a:ln w="9525">
            <a:noFill/>
          </a:ln>
        </p:spPr>
      </p:pic>
      <p:sp>
        <p:nvSpPr>
          <p:cNvPr id="790" name="TextBox 12"/>
          <p:cNvSpPr/>
          <p:nvPr/>
        </p:nvSpPr>
        <p:spPr>
          <a:xfrm>
            <a:off x="2209680" y="1981080"/>
            <a:ext cx="152316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Kiểu thực thể</a:t>
            </a:r>
            <a:endParaRPr b="0" lang="vi-VN" sz="1400" spc="-1" strike="noStrike">
              <a:solidFill>
                <a:srgbClr val="000000"/>
              </a:solidFill>
              <a:latin typeface="Arial"/>
            </a:endParaRPr>
          </a:p>
        </p:txBody>
      </p:sp>
      <p:sp>
        <p:nvSpPr>
          <p:cNvPr id="791" name="TextBox 13"/>
          <p:cNvSpPr/>
          <p:nvPr/>
        </p:nvSpPr>
        <p:spPr>
          <a:xfrm>
            <a:off x="2209680" y="2438280"/>
            <a:ext cx="182808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Kiểu thực thể yếu</a:t>
            </a:r>
            <a:endParaRPr b="0" lang="vi-VN" sz="1400" spc="-1" strike="noStrike">
              <a:solidFill>
                <a:srgbClr val="000000"/>
              </a:solidFill>
              <a:latin typeface="Arial"/>
            </a:endParaRPr>
          </a:p>
        </p:txBody>
      </p:sp>
      <p:sp>
        <p:nvSpPr>
          <p:cNvPr id="792" name="TextBox 14"/>
          <p:cNvSpPr/>
          <p:nvPr/>
        </p:nvSpPr>
        <p:spPr>
          <a:xfrm>
            <a:off x="2057400" y="3048120"/>
            <a:ext cx="182808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Kiểu liên kết</a:t>
            </a:r>
            <a:endParaRPr b="0" lang="vi-VN" sz="1400" spc="-1" strike="noStrike">
              <a:solidFill>
                <a:srgbClr val="000000"/>
              </a:solidFill>
              <a:latin typeface="Arial"/>
            </a:endParaRPr>
          </a:p>
        </p:txBody>
      </p:sp>
      <p:sp>
        <p:nvSpPr>
          <p:cNvPr id="793" name="TextBox 15"/>
          <p:cNvSpPr/>
          <p:nvPr/>
        </p:nvSpPr>
        <p:spPr>
          <a:xfrm>
            <a:off x="1905120" y="3886200"/>
            <a:ext cx="182808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Kiểu liên kết xác định</a:t>
            </a:r>
            <a:endParaRPr b="0" lang="vi-VN" sz="1400" spc="-1" strike="noStrike">
              <a:solidFill>
                <a:srgbClr val="000000"/>
              </a:solidFill>
              <a:latin typeface="Arial"/>
            </a:endParaRPr>
          </a:p>
        </p:txBody>
      </p:sp>
      <p:sp>
        <p:nvSpPr>
          <p:cNvPr id="794" name="TextBox 16"/>
          <p:cNvSpPr/>
          <p:nvPr/>
        </p:nvSpPr>
        <p:spPr>
          <a:xfrm>
            <a:off x="1828800" y="4572000"/>
            <a:ext cx="182808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Thuộc tính</a:t>
            </a:r>
            <a:endParaRPr b="0" lang="vi-VN" sz="1400" spc="-1" strike="noStrike">
              <a:solidFill>
                <a:srgbClr val="000000"/>
              </a:solidFill>
              <a:latin typeface="Arial"/>
            </a:endParaRPr>
          </a:p>
        </p:txBody>
      </p:sp>
      <p:sp>
        <p:nvSpPr>
          <p:cNvPr id="795" name="TextBox 17"/>
          <p:cNvSpPr/>
          <p:nvPr/>
        </p:nvSpPr>
        <p:spPr>
          <a:xfrm>
            <a:off x="1828800" y="5181480"/>
            <a:ext cx="182808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Thuộc tính khóa</a:t>
            </a:r>
            <a:endParaRPr b="0" lang="vi-VN" sz="1400" spc="-1" strike="noStrike">
              <a:solidFill>
                <a:srgbClr val="000000"/>
              </a:solidFill>
              <a:latin typeface="Arial"/>
            </a:endParaRPr>
          </a:p>
        </p:txBody>
      </p:sp>
      <p:sp>
        <p:nvSpPr>
          <p:cNvPr id="796" name="TextBox 18"/>
          <p:cNvSpPr/>
          <p:nvPr/>
        </p:nvSpPr>
        <p:spPr>
          <a:xfrm>
            <a:off x="1828800" y="5791320"/>
            <a:ext cx="1828080" cy="3031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Thuộc tính đa trị</a:t>
            </a:r>
            <a:endParaRPr b="0" lang="vi-VN" sz="1400" spc="-1" strike="noStrike">
              <a:solidFill>
                <a:srgbClr val="000000"/>
              </a:solidFill>
              <a:latin typeface="Arial"/>
            </a:endParaRPr>
          </a:p>
        </p:txBody>
      </p:sp>
      <p:sp>
        <p:nvSpPr>
          <p:cNvPr id="797" name="TextBox 19"/>
          <p:cNvSpPr/>
          <p:nvPr/>
        </p:nvSpPr>
        <p:spPr>
          <a:xfrm>
            <a:off x="7315200" y="2133720"/>
            <a:ext cx="182808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Thuộc tính phức hợp</a:t>
            </a:r>
            <a:endParaRPr b="0" lang="vi-VN" sz="1400" spc="-1" strike="noStrike">
              <a:solidFill>
                <a:srgbClr val="000000"/>
              </a:solidFill>
              <a:latin typeface="Arial"/>
            </a:endParaRPr>
          </a:p>
        </p:txBody>
      </p:sp>
      <p:sp>
        <p:nvSpPr>
          <p:cNvPr id="798" name="TextBox 20"/>
          <p:cNvSpPr/>
          <p:nvPr/>
        </p:nvSpPr>
        <p:spPr>
          <a:xfrm>
            <a:off x="7086600" y="2971800"/>
            <a:ext cx="182808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Thuộc tính suy diễn được</a:t>
            </a:r>
            <a:endParaRPr b="0" lang="vi-VN" sz="1400" spc="-1" strike="noStrike">
              <a:solidFill>
                <a:srgbClr val="000000"/>
              </a:solidFill>
              <a:latin typeface="Arial"/>
            </a:endParaRPr>
          </a:p>
        </p:txBody>
      </p:sp>
      <p:sp>
        <p:nvSpPr>
          <p:cNvPr id="799" name="TextBox 21"/>
          <p:cNvSpPr/>
          <p:nvPr/>
        </p:nvSpPr>
        <p:spPr>
          <a:xfrm>
            <a:off x="7010280" y="3581280"/>
            <a:ext cx="1828080" cy="7300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E1: tham gia bộ phận, E2 tham gia toàn bộ</a:t>
            </a:r>
            <a:endParaRPr b="0" lang="vi-VN" sz="1400" spc="-1" strike="noStrike">
              <a:solidFill>
                <a:srgbClr val="000000"/>
              </a:solidFill>
              <a:latin typeface="Arial"/>
            </a:endParaRPr>
          </a:p>
        </p:txBody>
      </p:sp>
      <p:sp>
        <p:nvSpPr>
          <p:cNvPr id="800" name="TextBox 22"/>
          <p:cNvSpPr/>
          <p:nvPr/>
        </p:nvSpPr>
        <p:spPr>
          <a:xfrm>
            <a:off x="6934320" y="4560120"/>
            <a:ext cx="198036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700"/>
              </a:spcBef>
            </a:pPr>
            <a:r>
              <a:rPr b="0" lang="en-US" sz="1400" spc="-1" strike="noStrike">
                <a:solidFill>
                  <a:schemeClr val="dk2">
                    <a:lumMod val="75000"/>
                  </a:schemeClr>
                </a:solidFill>
                <a:latin typeface="Tahoma"/>
              </a:rPr>
              <a:t>Tỉ số lực lượng E1: E2 là M:N</a:t>
            </a:r>
            <a:endParaRPr b="0" lang="vi-VN" sz="1400" spc="-1" strike="noStrike">
              <a:solidFill>
                <a:srgbClr val="000000"/>
              </a:solidFill>
              <a:latin typeface="Arial"/>
            </a:endParaRPr>
          </a:p>
        </p:txBody>
      </p:sp>
      <p:sp>
        <p:nvSpPr>
          <p:cNvPr id="801" name="TextBox 23"/>
          <p:cNvSpPr/>
          <p:nvPr/>
        </p:nvSpPr>
        <p:spPr>
          <a:xfrm>
            <a:off x="6858000" y="5486400"/>
            <a:ext cx="1980360" cy="63828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spcBef>
                <a:spcPts val="601"/>
              </a:spcBef>
            </a:pPr>
            <a:r>
              <a:rPr b="0" lang="en-US" sz="1200" spc="-1" strike="noStrike">
                <a:solidFill>
                  <a:schemeClr val="dk2">
                    <a:lumMod val="75000"/>
                  </a:schemeClr>
                </a:solidFill>
                <a:latin typeface="Tahoma"/>
              </a:rPr>
              <a:t>Ràng buộc cấu trúc min, max của kiểu thực thể E tham gia trong R</a:t>
            </a:r>
            <a:endParaRPr b="0" lang="vi-VN" sz="1200" spc="-1" strike="noStrike">
              <a:solidFill>
                <a:srgbClr val="000000"/>
              </a:solidFill>
              <a:latin typeface="Arial"/>
            </a:endParaRPr>
          </a:p>
        </p:txBody>
      </p:sp>
      <p:sp>
        <p:nvSpPr>
          <p:cNvPr id="802" name="TextBox 24"/>
          <p:cNvSpPr/>
          <p:nvPr/>
        </p:nvSpPr>
        <p:spPr>
          <a:xfrm>
            <a:off x="4648320" y="4496760"/>
            <a:ext cx="22788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601"/>
              </a:spcBef>
            </a:pPr>
            <a:r>
              <a:rPr b="0" lang="en-US" sz="1200" spc="-1" strike="noStrike">
                <a:solidFill>
                  <a:schemeClr val="dk1"/>
                </a:solidFill>
                <a:latin typeface="Tahoma"/>
              </a:rPr>
              <a:t>M</a:t>
            </a:r>
            <a:endParaRPr b="0" lang="vi-VN" sz="1200" spc="-1" strike="noStrike">
              <a:solidFill>
                <a:srgbClr val="000000"/>
              </a:solidFill>
              <a:latin typeface="Arial"/>
            </a:endParaRPr>
          </a:p>
        </p:txBody>
      </p:sp>
      <p:pic>
        <p:nvPicPr>
          <p:cNvPr id="803" name="Picture 3" descr=""/>
          <p:cNvPicPr/>
          <p:nvPr/>
        </p:nvPicPr>
        <p:blipFill>
          <a:blip r:embed="rId2"/>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timing>
    <p:tnLst>
      <p:par>
        <p:cTn id="308" dur="indefinite" restart="never" nodeType="tmRoot">
          <p:childTnLst>
            <p:seq>
              <p:cTn id="309" dur="indefinite" nodeType="mainSeq">
                <p:childTnLst>
                  <p:par>
                    <p:cTn id="310" fill="hold">
                      <p:stCondLst>
                        <p:cond delay="indefinite"/>
                      </p:stCondLst>
                      <p:childTnLst>
                        <p:par>
                          <p:cTn id="311" fill="hold">
                            <p:stCondLst>
                              <p:cond delay="0"/>
                            </p:stCondLst>
                            <p:childTnLst>
                              <p:par>
                                <p:cTn id="312" nodeType="clickEffect" fill="hold" presetClass="entr" presetID="4" presetSubtype="16">
                                  <p:stCondLst>
                                    <p:cond delay="0"/>
                                  </p:stCondLst>
                                  <p:childTnLst>
                                    <p:set>
                                      <p:cBhvr>
                                        <p:cTn id="313" dur="1" fill="hold">
                                          <p:stCondLst>
                                            <p:cond delay="0"/>
                                          </p:stCondLst>
                                        </p:cTn>
                                        <p:tgtEl>
                                          <p:spTgt spid="790"/>
                                        </p:tgtEl>
                                        <p:attrNameLst>
                                          <p:attrName>style.visibility</p:attrName>
                                        </p:attrNameLst>
                                      </p:cBhvr>
                                      <p:to>
                                        <p:strVal val="visible"/>
                                      </p:to>
                                    </p:set>
                                    <p:animEffect filter="box(in)" transition="in">
                                      <p:cBhvr additive="repl">
                                        <p:cTn id="314" dur="500"/>
                                        <p:tgtEl>
                                          <p:spTgt spid="790"/>
                                        </p:tgtEl>
                                      </p:cBhvr>
                                    </p:animEffect>
                                  </p:childTnLst>
                                </p:cTn>
                              </p:par>
                            </p:childTnLst>
                          </p:cTn>
                        </p:par>
                      </p:childTnLst>
                    </p:cTn>
                  </p:par>
                  <p:par>
                    <p:cTn id="315" fill="hold">
                      <p:stCondLst>
                        <p:cond delay="indefinite"/>
                      </p:stCondLst>
                      <p:childTnLst>
                        <p:par>
                          <p:cTn id="316" fill="hold">
                            <p:stCondLst>
                              <p:cond delay="0"/>
                            </p:stCondLst>
                            <p:childTnLst>
                              <p:par>
                                <p:cTn id="317" nodeType="clickEffect" fill="hold" presetClass="entr" presetID="4" presetSubtype="16">
                                  <p:stCondLst>
                                    <p:cond delay="0"/>
                                  </p:stCondLst>
                                  <p:childTnLst>
                                    <p:set>
                                      <p:cBhvr>
                                        <p:cTn id="318" dur="1" fill="hold">
                                          <p:stCondLst>
                                            <p:cond delay="0"/>
                                          </p:stCondLst>
                                        </p:cTn>
                                        <p:tgtEl>
                                          <p:spTgt spid="791"/>
                                        </p:tgtEl>
                                        <p:attrNameLst>
                                          <p:attrName>style.visibility</p:attrName>
                                        </p:attrNameLst>
                                      </p:cBhvr>
                                      <p:to>
                                        <p:strVal val="visible"/>
                                      </p:to>
                                    </p:set>
                                    <p:animEffect filter="box(in)" transition="in">
                                      <p:cBhvr additive="repl">
                                        <p:cTn id="319" dur="500"/>
                                        <p:tgtEl>
                                          <p:spTgt spid="791"/>
                                        </p:tgtEl>
                                      </p:cBhvr>
                                    </p:animEffect>
                                  </p:childTnLst>
                                </p:cTn>
                              </p:par>
                            </p:childTnLst>
                          </p:cTn>
                        </p:par>
                      </p:childTnLst>
                    </p:cTn>
                  </p:par>
                  <p:par>
                    <p:cTn id="320" fill="hold">
                      <p:stCondLst>
                        <p:cond delay="indefinite"/>
                      </p:stCondLst>
                      <p:childTnLst>
                        <p:par>
                          <p:cTn id="321" fill="hold">
                            <p:stCondLst>
                              <p:cond delay="0"/>
                            </p:stCondLst>
                            <p:childTnLst>
                              <p:par>
                                <p:cTn id="322" nodeType="clickEffect" fill="hold" presetClass="entr" presetID="4" presetSubtype="16">
                                  <p:stCondLst>
                                    <p:cond delay="0"/>
                                  </p:stCondLst>
                                  <p:childTnLst>
                                    <p:set>
                                      <p:cBhvr>
                                        <p:cTn id="323" dur="1" fill="hold">
                                          <p:stCondLst>
                                            <p:cond delay="0"/>
                                          </p:stCondLst>
                                        </p:cTn>
                                        <p:tgtEl>
                                          <p:spTgt spid="792"/>
                                        </p:tgtEl>
                                        <p:attrNameLst>
                                          <p:attrName>style.visibility</p:attrName>
                                        </p:attrNameLst>
                                      </p:cBhvr>
                                      <p:to>
                                        <p:strVal val="visible"/>
                                      </p:to>
                                    </p:set>
                                    <p:animEffect filter="box(in)" transition="in">
                                      <p:cBhvr additive="repl">
                                        <p:cTn id="324" dur="500"/>
                                        <p:tgtEl>
                                          <p:spTgt spid="792"/>
                                        </p:tgtEl>
                                      </p:cBhvr>
                                    </p:animEffect>
                                  </p:childTnLst>
                                </p:cTn>
                              </p:par>
                            </p:childTnLst>
                          </p:cTn>
                        </p:par>
                      </p:childTnLst>
                    </p:cTn>
                  </p:par>
                  <p:par>
                    <p:cTn id="325" fill="hold">
                      <p:stCondLst>
                        <p:cond delay="indefinite"/>
                      </p:stCondLst>
                      <p:childTnLst>
                        <p:par>
                          <p:cTn id="326" fill="hold">
                            <p:stCondLst>
                              <p:cond delay="0"/>
                            </p:stCondLst>
                            <p:childTnLst>
                              <p:par>
                                <p:cTn id="327" nodeType="clickEffect" fill="hold" presetClass="entr" presetID="4" presetSubtype="16">
                                  <p:stCondLst>
                                    <p:cond delay="0"/>
                                  </p:stCondLst>
                                  <p:childTnLst>
                                    <p:set>
                                      <p:cBhvr>
                                        <p:cTn id="328" dur="1" fill="hold">
                                          <p:stCondLst>
                                            <p:cond delay="0"/>
                                          </p:stCondLst>
                                        </p:cTn>
                                        <p:tgtEl>
                                          <p:spTgt spid="793"/>
                                        </p:tgtEl>
                                        <p:attrNameLst>
                                          <p:attrName>style.visibility</p:attrName>
                                        </p:attrNameLst>
                                      </p:cBhvr>
                                      <p:to>
                                        <p:strVal val="visible"/>
                                      </p:to>
                                    </p:set>
                                    <p:animEffect filter="box(in)" transition="in">
                                      <p:cBhvr additive="repl">
                                        <p:cTn id="329" dur="500"/>
                                        <p:tgtEl>
                                          <p:spTgt spid="793"/>
                                        </p:tgtEl>
                                      </p:cBhvr>
                                    </p:animEffect>
                                  </p:childTnLst>
                                </p:cTn>
                              </p:par>
                            </p:childTnLst>
                          </p:cTn>
                        </p:par>
                      </p:childTnLst>
                    </p:cTn>
                  </p:par>
                  <p:par>
                    <p:cTn id="330" fill="hold">
                      <p:stCondLst>
                        <p:cond delay="indefinite"/>
                      </p:stCondLst>
                      <p:childTnLst>
                        <p:par>
                          <p:cTn id="331" fill="hold">
                            <p:stCondLst>
                              <p:cond delay="0"/>
                            </p:stCondLst>
                            <p:childTnLst>
                              <p:par>
                                <p:cTn id="332" nodeType="clickEffect" fill="hold" presetClass="entr" presetID="4" presetSubtype="16">
                                  <p:stCondLst>
                                    <p:cond delay="0"/>
                                  </p:stCondLst>
                                  <p:childTnLst>
                                    <p:set>
                                      <p:cBhvr>
                                        <p:cTn id="333" dur="1" fill="hold">
                                          <p:stCondLst>
                                            <p:cond delay="0"/>
                                          </p:stCondLst>
                                        </p:cTn>
                                        <p:tgtEl>
                                          <p:spTgt spid="794"/>
                                        </p:tgtEl>
                                        <p:attrNameLst>
                                          <p:attrName>style.visibility</p:attrName>
                                        </p:attrNameLst>
                                      </p:cBhvr>
                                      <p:to>
                                        <p:strVal val="visible"/>
                                      </p:to>
                                    </p:set>
                                    <p:animEffect filter="box(in)" transition="in">
                                      <p:cBhvr additive="repl">
                                        <p:cTn id="334" dur="500"/>
                                        <p:tgtEl>
                                          <p:spTgt spid="794"/>
                                        </p:tgtEl>
                                      </p:cBhvr>
                                    </p:animEffect>
                                  </p:childTnLst>
                                </p:cTn>
                              </p:par>
                            </p:childTnLst>
                          </p:cTn>
                        </p:par>
                      </p:childTnLst>
                    </p:cTn>
                  </p:par>
                  <p:par>
                    <p:cTn id="335" fill="hold">
                      <p:stCondLst>
                        <p:cond delay="indefinite"/>
                      </p:stCondLst>
                      <p:childTnLst>
                        <p:par>
                          <p:cTn id="336" fill="hold">
                            <p:stCondLst>
                              <p:cond delay="0"/>
                            </p:stCondLst>
                            <p:childTnLst>
                              <p:par>
                                <p:cTn id="337" nodeType="clickEffect" fill="hold" presetClass="entr" presetID="4" presetSubtype="16">
                                  <p:stCondLst>
                                    <p:cond delay="0"/>
                                  </p:stCondLst>
                                  <p:childTnLst>
                                    <p:set>
                                      <p:cBhvr>
                                        <p:cTn id="338" dur="1" fill="hold">
                                          <p:stCondLst>
                                            <p:cond delay="0"/>
                                          </p:stCondLst>
                                        </p:cTn>
                                        <p:tgtEl>
                                          <p:spTgt spid="795"/>
                                        </p:tgtEl>
                                        <p:attrNameLst>
                                          <p:attrName>style.visibility</p:attrName>
                                        </p:attrNameLst>
                                      </p:cBhvr>
                                      <p:to>
                                        <p:strVal val="visible"/>
                                      </p:to>
                                    </p:set>
                                    <p:animEffect filter="box(in)" transition="in">
                                      <p:cBhvr additive="repl">
                                        <p:cTn id="339" dur="500"/>
                                        <p:tgtEl>
                                          <p:spTgt spid="795"/>
                                        </p:tgtEl>
                                      </p:cBhvr>
                                    </p:animEffect>
                                  </p:childTnLst>
                                </p:cTn>
                              </p:par>
                            </p:childTnLst>
                          </p:cTn>
                        </p:par>
                      </p:childTnLst>
                    </p:cTn>
                  </p:par>
                  <p:par>
                    <p:cTn id="340" fill="hold">
                      <p:stCondLst>
                        <p:cond delay="indefinite"/>
                      </p:stCondLst>
                      <p:childTnLst>
                        <p:par>
                          <p:cTn id="341" fill="hold">
                            <p:stCondLst>
                              <p:cond delay="0"/>
                            </p:stCondLst>
                            <p:childTnLst>
                              <p:par>
                                <p:cTn id="342" nodeType="clickEffect" fill="hold" presetClass="entr" presetID="4" presetSubtype="16">
                                  <p:stCondLst>
                                    <p:cond delay="0"/>
                                  </p:stCondLst>
                                  <p:childTnLst>
                                    <p:set>
                                      <p:cBhvr>
                                        <p:cTn id="343" dur="1" fill="hold">
                                          <p:stCondLst>
                                            <p:cond delay="0"/>
                                          </p:stCondLst>
                                        </p:cTn>
                                        <p:tgtEl>
                                          <p:spTgt spid="796"/>
                                        </p:tgtEl>
                                        <p:attrNameLst>
                                          <p:attrName>style.visibility</p:attrName>
                                        </p:attrNameLst>
                                      </p:cBhvr>
                                      <p:to>
                                        <p:strVal val="visible"/>
                                      </p:to>
                                    </p:set>
                                    <p:animEffect filter="box(in)" transition="in">
                                      <p:cBhvr additive="repl">
                                        <p:cTn id="344" dur="500"/>
                                        <p:tgtEl>
                                          <p:spTgt spid="796"/>
                                        </p:tgtEl>
                                      </p:cBhvr>
                                    </p:animEffect>
                                  </p:childTnLst>
                                </p:cTn>
                              </p:par>
                            </p:childTnLst>
                          </p:cTn>
                        </p:par>
                      </p:childTnLst>
                    </p:cTn>
                  </p:par>
                  <p:par>
                    <p:cTn id="345" fill="hold">
                      <p:stCondLst>
                        <p:cond delay="indefinite"/>
                      </p:stCondLst>
                      <p:childTnLst>
                        <p:par>
                          <p:cTn id="346" fill="hold">
                            <p:stCondLst>
                              <p:cond delay="0"/>
                            </p:stCondLst>
                            <p:childTnLst>
                              <p:par>
                                <p:cTn id="347" nodeType="clickEffect" fill="hold" presetClass="entr" presetID="4" presetSubtype="16">
                                  <p:stCondLst>
                                    <p:cond delay="0"/>
                                  </p:stCondLst>
                                  <p:childTnLst>
                                    <p:set>
                                      <p:cBhvr>
                                        <p:cTn id="348" dur="1" fill="hold">
                                          <p:stCondLst>
                                            <p:cond delay="0"/>
                                          </p:stCondLst>
                                        </p:cTn>
                                        <p:tgtEl>
                                          <p:spTgt spid="797"/>
                                        </p:tgtEl>
                                        <p:attrNameLst>
                                          <p:attrName>style.visibility</p:attrName>
                                        </p:attrNameLst>
                                      </p:cBhvr>
                                      <p:to>
                                        <p:strVal val="visible"/>
                                      </p:to>
                                    </p:set>
                                    <p:animEffect filter="box(in)" transition="in">
                                      <p:cBhvr additive="repl">
                                        <p:cTn id="349" dur="500"/>
                                        <p:tgtEl>
                                          <p:spTgt spid="797"/>
                                        </p:tgtEl>
                                      </p:cBhvr>
                                    </p:animEffect>
                                  </p:childTnLst>
                                </p:cTn>
                              </p:par>
                            </p:childTnLst>
                          </p:cTn>
                        </p:par>
                      </p:childTnLst>
                    </p:cTn>
                  </p:par>
                  <p:par>
                    <p:cTn id="350" fill="hold">
                      <p:stCondLst>
                        <p:cond delay="indefinite"/>
                      </p:stCondLst>
                      <p:childTnLst>
                        <p:par>
                          <p:cTn id="351" fill="hold">
                            <p:stCondLst>
                              <p:cond delay="0"/>
                            </p:stCondLst>
                            <p:childTnLst>
                              <p:par>
                                <p:cTn id="352" nodeType="clickEffect" fill="hold" presetClass="entr" presetID="4" presetSubtype="16">
                                  <p:stCondLst>
                                    <p:cond delay="0"/>
                                  </p:stCondLst>
                                  <p:childTnLst>
                                    <p:set>
                                      <p:cBhvr>
                                        <p:cTn id="353" dur="1" fill="hold">
                                          <p:stCondLst>
                                            <p:cond delay="0"/>
                                          </p:stCondLst>
                                        </p:cTn>
                                        <p:tgtEl>
                                          <p:spTgt spid="798"/>
                                        </p:tgtEl>
                                        <p:attrNameLst>
                                          <p:attrName>style.visibility</p:attrName>
                                        </p:attrNameLst>
                                      </p:cBhvr>
                                      <p:to>
                                        <p:strVal val="visible"/>
                                      </p:to>
                                    </p:set>
                                    <p:animEffect filter="box(in)" transition="in">
                                      <p:cBhvr additive="repl">
                                        <p:cTn id="354" dur="500"/>
                                        <p:tgtEl>
                                          <p:spTgt spid="798"/>
                                        </p:tgtEl>
                                      </p:cBhvr>
                                    </p:animEffect>
                                  </p:childTnLst>
                                </p:cTn>
                              </p:par>
                            </p:childTnLst>
                          </p:cTn>
                        </p:par>
                      </p:childTnLst>
                    </p:cTn>
                  </p:par>
                  <p:par>
                    <p:cTn id="355" fill="hold">
                      <p:stCondLst>
                        <p:cond delay="indefinite"/>
                      </p:stCondLst>
                      <p:childTnLst>
                        <p:par>
                          <p:cTn id="356" fill="hold">
                            <p:stCondLst>
                              <p:cond delay="0"/>
                            </p:stCondLst>
                            <p:childTnLst>
                              <p:par>
                                <p:cTn id="357" nodeType="clickEffect" fill="hold" presetClass="entr" presetID="4" presetSubtype="16">
                                  <p:stCondLst>
                                    <p:cond delay="0"/>
                                  </p:stCondLst>
                                  <p:childTnLst>
                                    <p:set>
                                      <p:cBhvr>
                                        <p:cTn id="358" dur="1" fill="hold">
                                          <p:stCondLst>
                                            <p:cond delay="0"/>
                                          </p:stCondLst>
                                        </p:cTn>
                                        <p:tgtEl>
                                          <p:spTgt spid="799"/>
                                        </p:tgtEl>
                                        <p:attrNameLst>
                                          <p:attrName>style.visibility</p:attrName>
                                        </p:attrNameLst>
                                      </p:cBhvr>
                                      <p:to>
                                        <p:strVal val="visible"/>
                                      </p:to>
                                    </p:set>
                                    <p:animEffect filter="box(in)" transition="in">
                                      <p:cBhvr additive="repl">
                                        <p:cTn id="359" dur="500"/>
                                        <p:tgtEl>
                                          <p:spTgt spid="799"/>
                                        </p:tgtEl>
                                      </p:cBhvr>
                                    </p:animEffect>
                                  </p:childTnLst>
                                </p:cTn>
                              </p:par>
                            </p:childTnLst>
                          </p:cTn>
                        </p:par>
                      </p:childTnLst>
                    </p:cTn>
                  </p:par>
                  <p:par>
                    <p:cTn id="360" fill="hold">
                      <p:stCondLst>
                        <p:cond delay="indefinite"/>
                      </p:stCondLst>
                      <p:childTnLst>
                        <p:par>
                          <p:cTn id="361" fill="hold">
                            <p:stCondLst>
                              <p:cond delay="0"/>
                            </p:stCondLst>
                            <p:childTnLst>
                              <p:par>
                                <p:cTn id="362" nodeType="clickEffect" fill="hold" presetClass="entr" presetID="4" presetSubtype="16">
                                  <p:stCondLst>
                                    <p:cond delay="0"/>
                                  </p:stCondLst>
                                  <p:childTnLst>
                                    <p:set>
                                      <p:cBhvr>
                                        <p:cTn id="363" dur="1" fill="hold">
                                          <p:stCondLst>
                                            <p:cond delay="0"/>
                                          </p:stCondLst>
                                        </p:cTn>
                                        <p:tgtEl>
                                          <p:spTgt spid="800"/>
                                        </p:tgtEl>
                                        <p:attrNameLst>
                                          <p:attrName>style.visibility</p:attrName>
                                        </p:attrNameLst>
                                      </p:cBhvr>
                                      <p:to>
                                        <p:strVal val="visible"/>
                                      </p:to>
                                    </p:set>
                                    <p:animEffect filter="box(in)" transition="in">
                                      <p:cBhvr additive="repl">
                                        <p:cTn id="364" dur="500"/>
                                        <p:tgtEl>
                                          <p:spTgt spid="800"/>
                                        </p:tgtEl>
                                      </p:cBhvr>
                                    </p:animEffect>
                                  </p:childTnLst>
                                </p:cTn>
                              </p:par>
                            </p:childTnLst>
                          </p:cTn>
                        </p:par>
                      </p:childTnLst>
                    </p:cTn>
                  </p:par>
                  <p:par>
                    <p:cTn id="365" fill="hold">
                      <p:stCondLst>
                        <p:cond delay="indefinite"/>
                      </p:stCondLst>
                      <p:childTnLst>
                        <p:par>
                          <p:cTn id="366" fill="hold">
                            <p:stCondLst>
                              <p:cond delay="0"/>
                            </p:stCondLst>
                            <p:childTnLst>
                              <p:par>
                                <p:cTn id="367" nodeType="clickEffect" fill="hold" presetClass="entr" presetID="4" presetSubtype="16">
                                  <p:stCondLst>
                                    <p:cond delay="0"/>
                                  </p:stCondLst>
                                  <p:childTnLst>
                                    <p:set>
                                      <p:cBhvr>
                                        <p:cTn id="368" dur="1" fill="hold">
                                          <p:stCondLst>
                                            <p:cond delay="0"/>
                                          </p:stCondLst>
                                        </p:cTn>
                                        <p:tgtEl>
                                          <p:spTgt spid="801"/>
                                        </p:tgtEl>
                                        <p:attrNameLst>
                                          <p:attrName>style.visibility</p:attrName>
                                        </p:attrNameLst>
                                      </p:cBhvr>
                                      <p:to>
                                        <p:strVal val="visible"/>
                                      </p:to>
                                    </p:set>
                                    <p:animEffect filter="box(in)" transition="in">
                                      <p:cBhvr additive="repl">
                                        <p:cTn id="369" dur="500"/>
                                        <p:tgtEl>
                                          <p:spTgt spid="8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500" spc="-1" strike="noStrike">
                <a:solidFill>
                  <a:schemeClr val="dk2"/>
                </a:solidFill>
                <a:latin typeface="Calibri"/>
              </a:rPr>
              <a:t>Nội dung chi tiết</a:t>
            </a:r>
            <a:endParaRPr b="0" lang="vi-VN" sz="3500" spc="-1" strike="noStrike">
              <a:solidFill>
                <a:srgbClr val="000000"/>
              </a:solidFill>
              <a:latin typeface="Arial"/>
            </a:endParaRPr>
          </a:p>
        </p:txBody>
      </p:sp>
      <p:sp>
        <p:nvSpPr>
          <p:cNvPr id="805"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Quá trình thiết kế CSDL</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Mô hình thực thể - liên kết</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1" lang="en-US" sz="2600" spc="-1" strike="noStrike">
                <a:solidFill>
                  <a:schemeClr val="dk1"/>
                </a:solidFill>
                <a:latin typeface="Constantia"/>
              </a:rPr>
              <a:t>Thiết kế</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Các bước thiết kế</a:t>
            </a:r>
            <a:endParaRPr b="0" lang="vi-VN" sz="24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Nguyên lý thiết kế</a:t>
            </a:r>
            <a:endParaRPr b="0" lang="vi-VN" sz="24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Ví dụ</a:t>
            </a:r>
            <a:endParaRPr b="0" lang="vi-VN" sz="26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806" name="PlaceHolder 3"/>
          <p:cNvSpPr>
            <a:spLocks noGrp="1"/>
          </p:cNvSpPr>
          <p:nvPr>
            <p:ph type="sldNum" idx="14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66AF2E10-354F-4C17-99CD-B303F47B7485}"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07" name="PlaceHolder 4"/>
          <p:cNvSpPr>
            <a:spLocks noGrp="1"/>
          </p:cNvSpPr>
          <p:nvPr>
            <p:ph type="dt" idx="143"/>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6139C55-13B3-4F51-811C-3ABA6A4CE563}"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08" name="PlaceHolder 5"/>
          <p:cNvSpPr>
            <a:spLocks noGrp="1"/>
          </p:cNvSpPr>
          <p:nvPr>
            <p:ph type="ftr" idx="14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3200" spc="-1" strike="noStrike">
                <a:solidFill>
                  <a:schemeClr val="dk2"/>
                </a:solidFill>
                <a:latin typeface="Calibri"/>
              </a:rPr>
              <a:t>2.3 - Các bước thiết kế ER</a:t>
            </a:r>
            <a:endParaRPr b="0" lang="vi-VN" sz="3200" spc="-1" strike="noStrike">
              <a:solidFill>
                <a:srgbClr val="000000"/>
              </a:solidFill>
              <a:latin typeface="Arial"/>
            </a:endParaRPr>
          </a:p>
        </p:txBody>
      </p:sp>
      <p:sp>
        <p:nvSpPr>
          <p:cNvPr id="810"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B1: Xác định các thực thể</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B2: Xác định các liên kết (quan hệ)</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B3: Xác định thuộc tính </a:t>
            </a:r>
            <a:r>
              <a:rPr b="0" lang="vi-VN" sz="2600" spc="-1" strike="noStrike">
                <a:solidFill>
                  <a:schemeClr val="dk1"/>
                </a:solidFill>
                <a:latin typeface="Constantia"/>
              </a:rPr>
              <a:t>của </a:t>
            </a:r>
            <a:r>
              <a:rPr b="0" lang="en-US" sz="2600" spc="-1" strike="noStrike">
                <a:solidFill>
                  <a:schemeClr val="dk1"/>
                </a:solidFill>
                <a:latin typeface="Constantia"/>
              </a:rPr>
              <a:t>thực thể và mối quan hệ</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B4: Xác định miền giá trị của thuộc tính</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B5: Xác  định thuộc tính khóa</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chemeClr val="dk1"/>
                </a:solidFill>
                <a:latin typeface="Constantia"/>
              </a:rPr>
              <a:t>B6:  Xác định ràng buộc (tỉ số; min-max; ràng buộc tham gia) cho mối quan hệ và thể hiện chúng trên lược đồ thực thể - liên kết</a:t>
            </a:r>
            <a:endParaRPr b="0" lang="vi-VN" sz="2600" spc="-1" strike="noStrike">
              <a:solidFill>
                <a:srgbClr val="000000"/>
              </a:solidFill>
              <a:latin typeface="Arial"/>
            </a:endParaRPr>
          </a:p>
          <a:p>
            <a:pPr marL="272880" indent="-272880">
              <a:lnSpc>
                <a:spcPct val="100000"/>
              </a:lnSpc>
              <a:spcBef>
                <a:spcPts val="519"/>
              </a:spcBef>
              <a:buNone/>
              <a:tabLst>
                <a:tab algn="l" pos="0"/>
              </a:tabLst>
            </a:pPr>
            <a:endParaRPr b="0" lang="vi-VN" sz="2600" spc="-1" strike="noStrike">
              <a:solidFill>
                <a:srgbClr val="000000"/>
              </a:solidFill>
              <a:latin typeface="Arial"/>
            </a:endParaRPr>
          </a:p>
        </p:txBody>
      </p:sp>
      <p:sp>
        <p:nvSpPr>
          <p:cNvPr id="811" name="PlaceHolder 3"/>
          <p:cNvSpPr>
            <a:spLocks noGrp="1"/>
          </p:cNvSpPr>
          <p:nvPr>
            <p:ph type="sldNum" idx="14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9467671D-4B9C-4970-A488-E074B92EC59E}"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12" name="PlaceHolder 4"/>
          <p:cNvSpPr>
            <a:spLocks noGrp="1"/>
          </p:cNvSpPr>
          <p:nvPr>
            <p:ph type="dt" idx="146"/>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A47894C-D7E9-4126-A1DD-95F4EFE622B1}"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13" name="PlaceHolder 5"/>
          <p:cNvSpPr>
            <a:spLocks noGrp="1"/>
          </p:cNvSpPr>
          <p:nvPr>
            <p:ph type="ftr" idx="14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14" name="Picture 3" descr=""/>
          <p:cNvPicPr/>
          <p:nvPr/>
        </p:nvPicPr>
        <p:blipFill>
          <a:blip r:embed="rId1"/>
          <a:stretch/>
        </p:blipFill>
        <p:spPr>
          <a:xfrm>
            <a:off x="0" y="990720"/>
            <a:ext cx="9143280" cy="4500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500" spc="-1" strike="noStrike">
                <a:solidFill>
                  <a:schemeClr val="dk2"/>
                </a:solidFill>
                <a:latin typeface="Calibri"/>
              </a:rPr>
              <a:t>Nội dung chi tiết</a:t>
            </a:r>
            <a:endParaRPr b="0" lang="vi-VN" sz="3500" spc="-1" strike="noStrike">
              <a:solidFill>
                <a:srgbClr val="000000"/>
              </a:solidFill>
              <a:latin typeface="Arial"/>
            </a:endParaRPr>
          </a:p>
        </p:txBody>
      </p:sp>
      <p:sp>
        <p:nvSpPr>
          <p:cNvPr id="816" name="PlaceHolder 2"/>
          <p:cNvSpPr>
            <a:spLocks noGrp="1"/>
          </p:cNvSpPr>
          <p:nvPr>
            <p:ph/>
          </p:nvPr>
        </p:nvSpPr>
        <p:spPr>
          <a:xfrm>
            <a:off x="457200" y="1295280"/>
            <a:ext cx="8228880" cy="4834800"/>
          </a:xfrm>
          <a:prstGeom prst="rect">
            <a:avLst/>
          </a:prstGeom>
          <a:noFill/>
          <a:ln w="9360">
            <a:noFill/>
          </a:ln>
        </p:spPr>
        <p:txBody>
          <a:bodyPr numCol="1" spcCol="0" lIns="91440" rIns="91440" tIns="45720" bIns="45720" anchor="t">
            <a:noAutofit/>
          </a:bodyPr>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Quá trình thiết kế CSDL</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Mô hình thực thể - quan hệ</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0" lang="en-US" sz="2600" spc="-1" strike="noStrike">
                <a:solidFill>
                  <a:srgbClr val="777777"/>
                </a:solidFill>
                <a:latin typeface="Constantia"/>
              </a:rPr>
              <a:t>Thiết kế</a:t>
            </a:r>
            <a:endParaRPr b="0" lang="vi-VN" sz="2600" spc="-1" strike="noStrike">
              <a:solidFill>
                <a:srgbClr val="000000"/>
              </a:solidFill>
              <a:latin typeface="Arial"/>
            </a:endParaRPr>
          </a:p>
          <a:p>
            <a:pPr marL="272880" indent="-272880">
              <a:lnSpc>
                <a:spcPct val="100000"/>
              </a:lnSpc>
              <a:spcBef>
                <a:spcPts val="519"/>
              </a:spcBef>
              <a:buClr>
                <a:srgbClr val="0bd0d9"/>
              </a:buClr>
              <a:buSzPct val="95000"/>
              <a:buFont typeface="Wingdings 2" charset="2"/>
              <a:buChar char=""/>
            </a:pPr>
            <a:r>
              <a:rPr b="1" lang="en-US" sz="2600" spc="-1" strike="noStrike">
                <a:solidFill>
                  <a:schemeClr val="dk1"/>
                </a:solidFill>
                <a:latin typeface="Constantia"/>
              </a:rPr>
              <a:t>Ví dụ</a:t>
            </a:r>
            <a:endParaRPr b="0" lang="vi-VN" sz="2600" spc="-1" strike="noStrike">
              <a:solidFill>
                <a:srgbClr val="000000"/>
              </a:solidFill>
              <a:latin typeface="Arial"/>
            </a:endParaRPr>
          </a:p>
          <a:p>
            <a:pPr lvl="1" marL="639720" indent="-246240">
              <a:lnSpc>
                <a:spcPct val="100000"/>
              </a:lnSpc>
              <a:spcBef>
                <a:spcPts val="479"/>
              </a:spcBef>
              <a:buClr>
                <a:srgbClr val="0f6fc6"/>
              </a:buClr>
              <a:buSzPct val="85000"/>
              <a:buFont typeface="Wingdings 2" charset="2"/>
              <a:buChar char=""/>
            </a:pPr>
            <a:r>
              <a:rPr b="0" lang="en-US" sz="2400" spc="-1" strike="noStrike">
                <a:solidFill>
                  <a:schemeClr val="dk1"/>
                </a:solidFill>
                <a:latin typeface="Constantia"/>
              </a:rPr>
              <a:t>Quản lý đề án công ty</a:t>
            </a:r>
            <a:endParaRPr b="0" lang="vi-VN" sz="2400" spc="-1" strike="noStrike">
              <a:solidFill>
                <a:srgbClr val="000000"/>
              </a:solidFill>
              <a:latin typeface="Arial"/>
            </a:endParaRPr>
          </a:p>
          <a:p>
            <a:pPr indent="0">
              <a:lnSpc>
                <a:spcPct val="100000"/>
              </a:lnSpc>
              <a:spcBef>
                <a:spcPts val="519"/>
              </a:spcBef>
              <a:buNone/>
              <a:tabLst>
                <a:tab algn="l" pos="0"/>
              </a:tabLst>
            </a:pPr>
            <a:endParaRPr b="0" lang="vi-VN" sz="2600" spc="-1" strike="noStrike">
              <a:solidFill>
                <a:srgbClr val="000000"/>
              </a:solidFill>
              <a:latin typeface="Arial"/>
            </a:endParaRPr>
          </a:p>
        </p:txBody>
      </p:sp>
      <p:sp>
        <p:nvSpPr>
          <p:cNvPr id="817" name="PlaceHolder 3"/>
          <p:cNvSpPr>
            <a:spLocks noGrp="1"/>
          </p:cNvSpPr>
          <p:nvPr>
            <p:ph type="sldNum" idx="14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814594D6-2381-45F2-A115-301B032448CD}"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18" name="PlaceHolder 4"/>
          <p:cNvSpPr>
            <a:spLocks noGrp="1"/>
          </p:cNvSpPr>
          <p:nvPr>
            <p:ph type="dt" idx="149"/>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402566F-9D2F-4E49-83E7-431C98DAC931}"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19" name="PlaceHolder 5"/>
          <p:cNvSpPr>
            <a:spLocks noGrp="1"/>
          </p:cNvSpPr>
          <p:nvPr>
            <p:ph type="ftr" idx="15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20"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1" name="PlaceHolder 1"/>
          <p:cNvSpPr>
            <a:spLocks noGrp="1"/>
          </p:cNvSpPr>
          <p:nvPr>
            <p:ph type="title"/>
          </p:nvPr>
        </p:nvSpPr>
        <p:spPr>
          <a:xfrm>
            <a:off x="228600" y="7632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i="1" lang="en-US" sz="2800" spc="-1" strike="noStrike">
                <a:solidFill>
                  <a:schemeClr val="dk2"/>
                </a:solidFill>
                <a:latin typeface="Calibri"/>
              </a:rPr>
              <a:t>Ví dụ </a:t>
            </a:r>
            <a:r>
              <a:rPr b="0" lang="en-US" sz="2800" spc="-1" strike="noStrike">
                <a:solidFill>
                  <a:schemeClr val="dk2"/>
                </a:solidFill>
                <a:latin typeface="Calibri"/>
              </a:rPr>
              <a:t>‘</a:t>
            </a:r>
            <a:r>
              <a:rPr b="1" lang="en-US" sz="2800" spc="-1" strike="noStrike">
                <a:solidFill>
                  <a:schemeClr val="dk2"/>
                </a:solidFill>
                <a:latin typeface="Calibri"/>
              </a:rPr>
              <a:t>Quản lý dự án công ty</a:t>
            </a:r>
            <a:r>
              <a:rPr b="0" lang="en-US" sz="2800" spc="-1" strike="noStrike">
                <a:solidFill>
                  <a:schemeClr val="dk2"/>
                </a:solidFill>
                <a:latin typeface="Calibri"/>
              </a:rPr>
              <a:t>’</a:t>
            </a:r>
            <a:endParaRPr b="0" lang="vi-VN" sz="2800" spc="-1" strike="noStrike">
              <a:solidFill>
                <a:srgbClr val="000000"/>
              </a:solidFill>
              <a:latin typeface="Arial"/>
            </a:endParaRPr>
          </a:p>
        </p:txBody>
      </p:sp>
      <p:sp>
        <p:nvSpPr>
          <p:cNvPr id="822" name="PlaceHolder 2"/>
          <p:cNvSpPr>
            <a:spLocks noGrp="1"/>
          </p:cNvSpPr>
          <p:nvPr>
            <p:ph/>
          </p:nvPr>
        </p:nvSpPr>
        <p:spPr>
          <a:xfrm>
            <a:off x="457200" y="1066680"/>
            <a:ext cx="8228880" cy="5180760"/>
          </a:xfrm>
          <a:prstGeom prst="rect">
            <a:avLst/>
          </a:prstGeom>
          <a:noFill/>
          <a:ln w="9360">
            <a:noFill/>
          </a:ln>
        </p:spPr>
        <p:txBody>
          <a:bodyPr numCol="1" spcCol="0" lIns="91440" rIns="91440" tIns="45720" bIns="45720" anchor="t">
            <a:noAutofit/>
          </a:bodyPr>
          <a:p>
            <a:pPr marL="272880" indent="-272880">
              <a:lnSpc>
                <a:spcPct val="90000"/>
              </a:lnSpc>
              <a:spcBef>
                <a:spcPts val="519"/>
              </a:spcBef>
              <a:buClr>
                <a:srgbClr val="0bd0d9"/>
              </a:buClr>
              <a:buSzPct val="95000"/>
              <a:buFont typeface="Wingdings" charset="2"/>
              <a:buChar char=""/>
            </a:pPr>
            <a:r>
              <a:rPr b="0" lang="en-US" sz="2600" spc="-1" strike="noStrike">
                <a:solidFill>
                  <a:schemeClr val="dk1"/>
                </a:solidFill>
                <a:latin typeface="Constantia"/>
              </a:rPr>
              <a:t>CSDL  quản lý dự án công ty:  theo dõi các thông tin liên quan đến nhân viên, phòng ban và dự án</a:t>
            </a:r>
            <a:endParaRPr b="0" lang="vi-VN" sz="2600" spc="-1" strike="noStrike">
              <a:solidFill>
                <a:srgbClr val="000000"/>
              </a:solidFill>
              <a:latin typeface="Arial"/>
            </a:endParaRPr>
          </a:p>
          <a:p>
            <a:pPr lvl="1" marL="639720" indent="-246240">
              <a:lnSpc>
                <a:spcPct val="90000"/>
              </a:lnSpc>
              <a:spcBef>
                <a:spcPts val="479"/>
              </a:spcBef>
              <a:buClr>
                <a:srgbClr val="0f6fc6"/>
              </a:buClr>
              <a:buSzPct val="85000"/>
              <a:buFont typeface="Wingdings 2" charset="2"/>
              <a:buChar char=""/>
            </a:pPr>
            <a:r>
              <a:rPr b="0" lang="en-US" sz="2400" spc="-1" strike="noStrike">
                <a:solidFill>
                  <a:schemeClr val="dk1"/>
                </a:solidFill>
                <a:latin typeface="Constantia"/>
              </a:rPr>
              <a:t>Cty có nhiều đơn vị, mỗi đơn vị có tên duy nhất, mã đơn vị duy nhất, một trưởng phòng và ngày nhận chức. Mỗi đơn vị có thể ở nhiều địa điểm khác nhau.</a:t>
            </a:r>
            <a:endParaRPr b="0" lang="vi-VN" sz="2400" spc="-1" strike="noStrike">
              <a:solidFill>
                <a:srgbClr val="000000"/>
              </a:solidFill>
              <a:latin typeface="Arial"/>
            </a:endParaRPr>
          </a:p>
          <a:p>
            <a:pPr lvl="1" marL="639720" indent="-246240">
              <a:lnSpc>
                <a:spcPct val="90000"/>
              </a:lnSpc>
              <a:spcBef>
                <a:spcPts val="479"/>
              </a:spcBef>
              <a:buClr>
                <a:srgbClr val="0f6fc6"/>
              </a:buClr>
              <a:buSzPct val="85000"/>
              <a:buFont typeface="Wingdings 2" charset="2"/>
              <a:buChar char=""/>
            </a:pPr>
            <a:r>
              <a:rPr b="0" lang="en-US" sz="2400" spc="-1" strike="noStrike">
                <a:solidFill>
                  <a:schemeClr val="dk1"/>
                </a:solidFill>
                <a:latin typeface="Constantia"/>
              </a:rPr>
              <a:t>Dự án có tên duy nhất, mã duy nhất, do 1 một phòng ban chủ trì và được triển khai ở 1 địa điểm.</a:t>
            </a:r>
            <a:endParaRPr b="0" lang="vi-VN" sz="2400" spc="-1" strike="noStrike">
              <a:solidFill>
                <a:srgbClr val="000000"/>
              </a:solidFill>
              <a:latin typeface="Arial"/>
            </a:endParaRPr>
          </a:p>
          <a:p>
            <a:pPr lvl="1" marL="639720" indent="-246240">
              <a:lnSpc>
                <a:spcPct val="90000"/>
              </a:lnSpc>
              <a:spcBef>
                <a:spcPts val="479"/>
              </a:spcBef>
              <a:buClr>
                <a:srgbClr val="0f6fc6"/>
              </a:buClr>
              <a:buSzPct val="85000"/>
              <a:buFont typeface="Wingdings 2" charset="2"/>
              <a:buChar char=""/>
            </a:pPr>
            <a:r>
              <a:rPr b="0" lang="en-US" sz="2400" spc="-1" strike="noStrike">
                <a:solidFill>
                  <a:schemeClr val="dk1"/>
                </a:solidFill>
                <a:latin typeface="Constantia"/>
              </a:rPr>
              <a:t>Nhân viên có mã số, tên, địa chỉ, ngày sinh, giới tính và lương. Mỗi nhân viên làm việc ở 1 phòng ban, tham gia vào các đề án với số giờ làm việc khác nhau. Mỗi nhân viên đều có một người quản lý (giám sát) trực tiếp.</a:t>
            </a:r>
            <a:endParaRPr b="0" lang="vi-VN" sz="2400" spc="-1" strike="noStrike">
              <a:solidFill>
                <a:srgbClr val="000000"/>
              </a:solidFill>
              <a:latin typeface="Arial"/>
            </a:endParaRPr>
          </a:p>
          <a:p>
            <a:pPr lvl="1" marL="639720" indent="-246240">
              <a:lnSpc>
                <a:spcPct val="90000"/>
              </a:lnSpc>
              <a:spcBef>
                <a:spcPts val="479"/>
              </a:spcBef>
              <a:buClr>
                <a:srgbClr val="0f6fc6"/>
              </a:buClr>
              <a:buSzPct val="85000"/>
              <a:buFont typeface="Wingdings 2" charset="2"/>
              <a:buChar char=""/>
            </a:pPr>
            <a:r>
              <a:rPr b="0" lang="en-US" sz="2400" spc="-1" strike="noStrike">
                <a:solidFill>
                  <a:schemeClr val="dk1"/>
                </a:solidFill>
                <a:latin typeface="Constantia"/>
              </a:rPr>
              <a:t>Một nhân viên có thể có những người con được hưởng bảo hiểm theo nhân viên. Mỗi người con của nhân viên có tên, giới tính, ngày sinh.</a:t>
            </a:r>
            <a:endParaRPr b="0" lang="vi-VN" sz="2400" spc="-1" strike="noStrike">
              <a:solidFill>
                <a:srgbClr val="000000"/>
              </a:solidFill>
              <a:latin typeface="Arial"/>
            </a:endParaRPr>
          </a:p>
        </p:txBody>
      </p:sp>
      <p:sp>
        <p:nvSpPr>
          <p:cNvPr id="823" name="PlaceHolder 3"/>
          <p:cNvSpPr>
            <a:spLocks noGrp="1"/>
          </p:cNvSpPr>
          <p:nvPr>
            <p:ph type="sldNum" idx="15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A2007A6C-B337-4C4D-9293-C7982642D8DB}"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24" name="PlaceHolder 4"/>
          <p:cNvSpPr>
            <a:spLocks noGrp="1"/>
          </p:cNvSpPr>
          <p:nvPr>
            <p:ph type="dt" idx="152"/>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F760FED2-7713-4EDC-8059-18B032701992}"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25" name="PlaceHolder 5"/>
          <p:cNvSpPr>
            <a:spLocks noGrp="1"/>
          </p:cNvSpPr>
          <p:nvPr>
            <p:ph type="ftr" idx="15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26" name="Picture 3" descr=""/>
          <p:cNvPicPr/>
          <p:nvPr/>
        </p:nvPicPr>
        <p:blipFill>
          <a:blip r:embed="rId1"/>
          <a:stretch/>
        </p:blipFill>
        <p:spPr>
          <a:xfrm>
            <a:off x="0" y="83808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title"/>
          </p:nvPr>
        </p:nvSpPr>
        <p:spPr>
          <a:xfrm>
            <a:off x="228600" y="7632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i="1" lang="en-US" sz="2800" spc="-1" strike="noStrike">
                <a:solidFill>
                  <a:schemeClr val="dk2"/>
                </a:solidFill>
                <a:latin typeface="Calibri"/>
              </a:rPr>
              <a:t>Ví dụ </a:t>
            </a:r>
            <a:r>
              <a:rPr b="0" lang="en-US" sz="2800" spc="-1" strike="noStrike">
                <a:solidFill>
                  <a:schemeClr val="dk2"/>
                </a:solidFill>
                <a:latin typeface="Calibri"/>
              </a:rPr>
              <a:t>‘</a:t>
            </a:r>
            <a:r>
              <a:rPr b="1" lang="en-US" sz="2800" spc="-1" strike="noStrike">
                <a:solidFill>
                  <a:schemeClr val="dk2"/>
                </a:solidFill>
                <a:latin typeface="Calibri"/>
              </a:rPr>
              <a:t>Quản lý dự án công ty</a:t>
            </a:r>
            <a:r>
              <a:rPr b="0" lang="en-US" sz="2800" spc="-1" strike="noStrike">
                <a:solidFill>
                  <a:schemeClr val="dk2"/>
                </a:solidFill>
                <a:latin typeface="Calibri"/>
              </a:rPr>
              <a:t>’</a:t>
            </a:r>
            <a:endParaRPr b="0" lang="vi-VN" sz="2800" spc="-1" strike="noStrike">
              <a:solidFill>
                <a:srgbClr val="000000"/>
              </a:solidFill>
              <a:latin typeface="Arial"/>
            </a:endParaRPr>
          </a:p>
        </p:txBody>
      </p:sp>
      <p:sp>
        <p:nvSpPr>
          <p:cNvPr id="828" name="PlaceHolder 2"/>
          <p:cNvSpPr>
            <a:spLocks noGrp="1"/>
          </p:cNvSpPr>
          <p:nvPr>
            <p:ph/>
          </p:nvPr>
        </p:nvSpPr>
        <p:spPr>
          <a:xfrm>
            <a:off x="457200" y="1066680"/>
            <a:ext cx="8228880" cy="993240"/>
          </a:xfrm>
          <a:prstGeom prst="rect">
            <a:avLst/>
          </a:prstGeom>
          <a:noFill/>
          <a:ln w="9360">
            <a:noFill/>
          </a:ln>
        </p:spPr>
        <p:txBody>
          <a:bodyPr numCol="1" spcCol="0" lIns="91440" rIns="91440" tIns="45720" bIns="45720" anchor="t">
            <a:noAutofit/>
          </a:bodyPr>
          <a:p>
            <a:pPr marL="272880" indent="-272880">
              <a:lnSpc>
                <a:spcPct val="90000"/>
              </a:lnSpc>
              <a:spcBef>
                <a:spcPts val="519"/>
              </a:spcBef>
              <a:buClr>
                <a:srgbClr val="0bd0d9"/>
              </a:buClr>
              <a:buSzPct val="95000"/>
              <a:buFont typeface="Wingdings" charset="2"/>
              <a:buChar char=""/>
            </a:pPr>
            <a:r>
              <a:rPr b="0" lang="en-US" sz="2600" spc="-1" strike="noStrike">
                <a:solidFill>
                  <a:schemeClr val="dk1"/>
                </a:solidFill>
                <a:latin typeface="Constantia"/>
              </a:rPr>
              <a:t>CSDL  quản lý dự án công ty:  theo dõi các thông tin liên quan đến nhân viên, phòng ban và dự án</a:t>
            </a:r>
            <a:endParaRPr b="0" lang="vi-VN" sz="2600" spc="-1" strike="noStrike">
              <a:solidFill>
                <a:srgbClr val="000000"/>
              </a:solidFill>
              <a:latin typeface="Arial"/>
            </a:endParaRPr>
          </a:p>
        </p:txBody>
      </p:sp>
      <p:sp>
        <p:nvSpPr>
          <p:cNvPr id="829" name="PlaceHolder 3"/>
          <p:cNvSpPr>
            <a:spLocks noGrp="1"/>
          </p:cNvSpPr>
          <p:nvPr>
            <p:ph type="sldNum" idx="15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DA55C88A-7A93-4D91-B95D-D6235CEA6777}"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30" name="PlaceHolder 4"/>
          <p:cNvSpPr>
            <a:spLocks noGrp="1"/>
          </p:cNvSpPr>
          <p:nvPr>
            <p:ph type="dt" idx="155"/>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77E37C2-B4E0-44D4-BEBC-70313D87D0D2}"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31" name="PlaceHolder 5"/>
          <p:cNvSpPr>
            <a:spLocks noGrp="1"/>
          </p:cNvSpPr>
          <p:nvPr>
            <p:ph type="ftr" idx="156"/>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32" name="Picture 3" descr=""/>
          <p:cNvPicPr/>
          <p:nvPr/>
        </p:nvPicPr>
        <p:blipFill>
          <a:blip r:embed="rId1"/>
          <a:stretch/>
        </p:blipFill>
        <p:spPr>
          <a:xfrm>
            <a:off x="0" y="838080"/>
            <a:ext cx="9071280" cy="53280"/>
          </a:xfrm>
          <a:prstGeom prst="rect">
            <a:avLst/>
          </a:prstGeom>
          <a:ln w="0">
            <a:noFill/>
          </a:ln>
        </p:spPr>
      </p:pic>
      <p:sp>
        <p:nvSpPr>
          <p:cNvPr id="833" name="Rectangle 3"/>
          <p:cNvSpPr/>
          <p:nvPr/>
        </p:nvSpPr>
        <p:spPr>
          <a:xfrm>
            <a:off x="539640" y="2543040"/>
            <a:ext cx="8228880" cy="543240"/>
          </a:xfrm>
          <a:prstGeom prst="rect">
            <a:avLst/>
          </a:prstGeom>
          <a:noFill/>
          <a:ln w="9525">
            <a:noFill/>
          </a:ln>
        </p:spPr>
        <p:style>
          <a:lnRef idx="0"/>
          <a:fillRef idx="0"/>
          <a:effectRef idx="0"/>
          <a:fontRef idx="minor"/>
        </p:style>
        <p:txBody>
          <a:bodyPr numCol="1" spcCol="0" lIns="90000" rIns="90000" tIns="45000" bIns="45000" anchor="t">
            <a:noAutofit/>
          </a:bodyPr>
          <a:p>
            <a:pPr marL="272880" indent="-272880">
              <a:lnSpc>
                <a:spcPct val="90000"/>
              </a:lnSpc>
              <a:spcBef>
                <a:spcPts val="519"/>
              </a:spcBef>
              <a:buClr>
                <a:srgbClr val="0bd0d9"/>
              </a:buClr>
              <a:buSzPct val="95000"/>
              <a:buFont typeface="Courier New"/>
              <a:buChar char="o"/>
            </a:pPr>
            <a:r>
              <a:rPr b="1" lang="en-US" sz="2600" spc="-1" strike="noStrike">
                <a:solidFill>
                  <a:schemeClr val="dk1"/>
                </a:solidFill>
                <a:latin typeface="Constantia"/>
              </a:rPr>
              <a:t>Bước 1</a:t>
            </a:r>
            <a:r>
              <a:rPr b="0" lang="en-US" sz="2600" spc="-1" strike="noStrike">
                <a:solidFill>
                  <a:schemeClr val="dk1"/>
                </a:solidFill>
                <a:latin typeface="Constantia"/>
              </a:rPr>
              <a:t>: Xác định các thực thể, các thuộc tính, khóa</a:t>
            </a:r>
            <a:endParaRPr b="0" lang="vi-VN" sz="2600" spc="-1" strike="noStrike">
              <a:solidFill>
                <a:srgbClr val="000000"/>
              </a:solidFill>
              <a:latin typeface="Arial"/>
            </a:endParaRPr>
          </a:p>
          <a:p>
            <a:pPr>
              <a:lnSpc>
                <a:spcPct val="90000"/>
              </a:lnSpc>
              <a:spcBef>
                <a:spcPts val="519"/>
              </a:spcBef>
              <a:tabLst>
                <a:tab algn="l" pos="0"/>
              </a:tabLst>
            </a:pPr>
            <a:endParaRPr b="0" lang="vi-VN" sz="2600" spc="-1" strike="noStrike">
              <a:solidFill>
                <a:srgbClr val="000000"/>
              </a:solidFill>
              <a:latin typeface="Arial"/>
            </a:endParaRPr>
          </a:p>
        </p:txBody>
      </p:sp>
      <p:sp>
        <p:nvSpPr>
          <p:cNvPr id="834" name="Rectangle 3"/>
          <p:cNvSpPr/>
          <p:nvPr/>
        </p:nvSpPr>
        <p:spPr>
          <a:xfrm>
            <a:off x="611640" y="3227040"/>
            <a:ext cx="8228880" cy="93384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 Nhân viên: </a:t>
            </a:r>
            <a:r>
              <a:rPr b="0" lang="en-US" sz="2600" spc="-1" strike="noStrike" u="sng">
                <a:solidFill>
                  <a:schemeClr val="dk1"/>
                </a:solidFill>
                <a:uFillTx/>
                <a:latin typeface="Constantia"/>
              </a:rPr>
              <a:t>Mã nhân viên</a:t>
            </a:r>
            <a:r>
              <a:rPr b="0" lang="en-US" sz="2600" spc="-1" strike="noStrike">
                <a:solidFill>
                  <a:schemeClr val="dk1"/>
                </a:solidFill>
                <a:latin typeface="Constantia"/>
              </a:rPr>
              <a:t>, Họ tên, ngày sinh, giới tính, lương, địa chỉ</a:t>
            </a:r>
            <a:endParaRPr b="0" lang="vi-VN" sz="2600" spc="-1" strike="noStrike">
              <a:solidFill>
                <a:srgbClr val="000000"/>
              </a:solidFill>
              <a:latin typeface="Arial"/>
            </a:endParaRPr>
          </a:p>
        </p:txBody>
      </p:sp>
      <p:sp>
        <p:nvSpPr>
          <p:cNvPr id="835" name="Rectangle 3"/>
          <p:cNvSpPr/>
          <p:nvPr/>
        </p:nvSpPr>
        <p:spPr>
          <a:xfrm>
            <a:off x="621360" y="4053960"/>
            <a:ext cx="8228880" cy="52632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 Đơn vị: </a:t>
            </a:r>
            <a:r>
              <a:rPr b="0" lang="en-US" sz="2600" spc="-1" strike="noStrike" u="sng">
                <a:solidFill>
                  <a:schemeClr val="dk1"/>
                </a:solidFill>
                <a:uFillTx/>
                <a:latin typeface="Constantia"/>
              </a:rPr>
              <a:t>Mã đơn vị</a:t>
            </a:r>
            <a:r>
              <a:rPr b="0" lang="en-US" sz="2600" spc="-1" strike="noStrike">
                <a:solidFill>
                  <a:schemeClr val="dk1"/>
                </a:solidFill>
                <a:latin typeface="Constantia"/>
              </a:rPr>
              <a:t>, Tên đơn vị,  địa điểm</a:t>
            </a:r>
            <a:endParaRPr b="0" lang="vi-VN" sz="2600" spc="-1" strike="noStrike">
              <a:solidFill>
                <a:srgbClr val="000000"/>
              </a:solidFill>
              <a:latin typeface="Arial"/>
            </a:endParaRPr>
          </a:p>
        </p:txBody>
      </p:sp>
      <p:sp>
        <p:nvSpPr>
          <p:cNvPr id="836" name="Rectangle 3"/>
          <p:cNvSpPr/>
          <p:nvPr/>
        </p:nvSpPr>
        <p:spPr>
          <a:xfrm>
            <a:off x="611640" y="4581000"/>
            <a:ext cx="8228880" cy="52632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 Con:  Tên,  ngày sinh, giới tính</a:t>
            </a:r>
            <a:endParaRPr b="0" lang="vi-VN" sz="2600" spc="-1" strike="noStrike">
              <a:solidFill>
                <a:srgbClr val="000000"/>
              </a:solidFill>
              <a:latin typeface="Arial"/>
            </a:endParaRPr>
          </a:p>
        </p:txBody>
      </p:sp>
      <p:sp>
        <p:nvSpPr>
          <p:cNvPr id="837" name="Rectangle 3"/>
          <p:cNvSpPr/>
          <p:nvPr/>
        </p:nvSpPr>
        <p:spPr>
          <a:xfrm>
            <a:off x="640080" y="5158800"/>
            <a:ext cx="8228880" cy="52632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 Dự án: </a:t>
            </a:r>
            <a:r>
              <a:rPr b="0" lang="en-US" sz="2600" spc="-1" strike="noStrike" u="sng">
                <a:solidFill>
                  <a:schemeClr val="dk1"/>
                </a:solidFill>
                <a:uFillTx/>
                <a:latin typeface="Constantia"/>
              </a:rPr>
              <a:t>Mã dự án</a:t>
            </a:r>
            <a:r>
              <a:rPr b="0" lang="en-US" sz="2600" spc="-1" strike="noStrike">
                <a:solidFill>
                  <a:schemeClr val="dk1"/>
                </a:solidFill>
                <a:latin typeface="Constantia"/>
              </a:rPr>
              <a:t>, tên dự án,  địa điểm</a:t>
            </a:r>
            <a:endParaRPr b="0" lang="vi-VN" sz="2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70" dur="indefinite" restart="never" nodeType="tmRoot">
          <p:childTnLst>
            <p:seq>
              <p:cTn id="371" dur="indefinite" nodeType="mainSeq">
                <p:childTnLst>
                  <p:par>
                    <p:cTn id="372" fill="hold">
                      <p:stCondLst>
                        <p:cond delay="indefinite"/>
                      </p:stCondLst>
                      <p:childTnLst>
                        <p:par>
                          <p:cTn id="373" fill="hold">
                            <p:stCondLst>
                              <p:cond delay="0"/>
                            </p:stCondLst>
                            <p:childTnLst>
                              <p:par>
                                <p:cTn id="374" nodeType="clickEffect" fill="hold" presetClass="entr" presetID="1">
                                  <p:stCondLst>
                                    <p:cond delay="0"/>
                                  </p:stCondLst>
                                  <p:childTnLst>
                                    <p:set>
                                      <p:cBhvr>
                                        <p:cTn id="375" dur="1" fill="hold">
                                          <p:stCondLst>
                                            <p:cond delay="0"/>
                                          </p:stCondLst>
                                        </p:cTn>
                                        <p:tgtEl>
                                          <p:spTgt spid="833"/>
                                        </p:tgtEl>
                                        <p:attrNameLst>
                                          <p:attrName>style.visibility</p:attrName>
                                        </p:attrNameLst>
                                      </p:cBhvr>
                                      <p:to>
                                        <p:strVal val="visible"/>
                                      </p:to>
                                    </p:set>
                                  </p:childTnLst>
                                </p:cTn>
                              </p:par>
                            </p:childTnLst>
                          </p:cTn>
                        </p:par>
                      </p:childTnLst>
                    </p:cTn>
                  </p:par>
                  <p:par>
                    <p:cTn id="376" fill="hold">
                      <p:stCondLst>
                        <p:cond delay="indefinite"/>
                      </p:stCondLst>
                      <p:childTnLst>
                        <p:par>
                          <p:cTn id="377" fill="hold">
                            <p:stCondLst>
                              <p:cond delay="0"/>
                            </p:stCondLst>
                            <p:childTnLst>
                              <p:par>
                                <p:cTn id="378" nodeType="clickEffect" fill="hold" presetClass="entr" presetID="1">
                                  <p:stCondLst>
                                    <p:cond delay="0"/>
                                  </p:stCondLst>
                                  <p:childTnLst>
                                    <p:set>
                                      <p:cBhvr>
                                        <p:cTn id="379" dur="1" fill="hold">
                                          <p:stCondLst>
                                            <p:cond delay="0"/>
                                          </p:stCondLst>
                                        </p:cTn>
                                        <p:tgtEl>
                                          <p:spTgt spid="834"/>
                                        </p:tgtEl>
                                        <p:attrNameLst>
                                          <p:attrName>style.visibility</p:attrName>
                                        </p:attrNameLst>
                                      </p:cBhvr>
                                      <p:to>
                                        <p:strVal val="visible"/>
                                      </p:to>
                                    </p:set>
                                  </p:childTnLst>
                                </p:cTn>
                              </p:par>
                            </p:childTnLst>
                          </p:cTn>
                        </p:par>
                      </p:childTnLst>
                    </p:cTn>
                  </p:par>
                  <p:par>
                    <p:cTn id="380" fill="hold">
                      <p:stCondLst>
                        <p:cond delay="indefinite"/>
                      </p:stCondLst>
                      <p:childTnLst>
                        <p:par>
                          <p:cTn id="381" fill="hold">
                            <p:stCondLst>
                              <p:cond delay="0"/>
                            </p:stCondLst>
                            <p:childTnLst>
                              <p:par>
                                <p:cTn id="382" nodeType="clickEffect" fill="hold" presetClass="entr" presetID="1">
                                  <p:stCondLst>
                                    <p:cond delay="0"/>
                                  </p:stCondLst>
                                  <p:childTnLst>
                                    <p:set>
                                      <p:cBhvr>
                                        <p:cTn id="383" dur="1" fill="hold">
                                          <p:stCondLst>
                                            <p:cond delay="0"/>
                                          </p:stCondLst>
                                        </p:cTn>
                                        <p:tgtEl>
                                          <p:spTgt spid="835"/>
                                        </p:tgtEl>
                                        <p:attrNameLst>
                                          <p:attrName>style.visibility</p:attrName>
                                        </p:attrNameLst>
                                      </p:cBhvr>
                                      <p:to>
                                        <p:strVal val="visible"/>
                                      </p:to>
                                    </p:set>
                                  </p:childTnLst>
                                </p:cTn>
                              </p:par>
                            </p:childTnLst>
                          </p:cTn>
                        </p:par>
                      </p:childTnLst>
                    </p:cTn>
                  </p:par>
                  <p:par>
                    <p:cTn id="384" fill="hold">
                      <p:stCondLst>
                        <p:cond delay="indefinite"/>
                      </p:stCondLst>
                      <p:childTnLst>
                        <p:par>
                          <p:cTn id="385" fill="hold">
                            <p:stCondLst>
                              <p:cond delay="0"/>
                            </p:stCondLst>
                            <p:childTnLst>
                              <p:par>
                                <p:cTn id="386" nodeType="clickEffect" fill="hold" presetClass="entr" presetID="1">
                                  <p:stCondLst>
                                    <p:cond delay="0"/>
                                  </p:stCondLst>
                                  <p:childTnLst>
                                    <p:set>
                                      <p:cBhvr>
                                        <p:cTn id="387" dur="1" fill="hold">
                                          <p:stCondLst>
                                            <p:cond delay="0"/>
                                          </p:stCondLst>
                                        </p:cTn>
                                        <p:tgtEl>
                                          <p:spTgt spid="836"/>
                                        </p:tgtEl>
                                        <p:attrNameLst>
                                          <p:attrName>style.visibility</p:attrName>
                                        </p:attrNameLst>
                                      </p:cBhvr>
                                      <p:to>
                                        <p:strVal val="visible"/>
                                      </p:to>
                                    </p:set>
                                  </p:childTnLst>
                                </p:cTn>
                              </p:par>
                            </p:childTnLst>
                          </p:cTn>
                        </p:par>
                      </p:childTnLst>
                    </p:cTn>
                  </p:par>
                  <p:par>
                    <p:cTn id="388" fill="hold">
                      <p:stCondLst>
                        <p:cond delay="indefinite"/>
                      </p:stCondLst>
                      <p:childTnLst>
                        <p:par>
                          <p:cTn id="389" fill="hold">
                            <p:stCondLst>
                              <p:cond delay="0"/>
                            </p:stCondLst>
                            <p:childTnLst>
                              <p:par>
                                <p:cTn id="390" nodeType="clickEffect" fill="hold" presetClass="entr" presetID="1">
                                  <p:stCondLst>
                                    <p:cond delay="0"/>
                                  </p:stCondLst>
                                  <p:childTnLst>
                                    <p:set>
                                      <p:cBhvr>
                                        <p:cTn id="391"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title"/>
          </p:nvPr>
        </p:nvSpPr>
        <p:spPr>
          <a:xfrm>
            <a:off x="457200" y="380880"/>
            <a:ext cx="8228880" cy="53280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200" spc="-1" strike="noStrike">
                <a:solidFill>
                  <a:schemeClr val="dk2"/>
                </a:solidFill>
                <a:latin typeface="Calibri"/>
              </a:rPr>
              <a:t>Ví dụ </a:t>
            </a:r>
            <a:endParaRPr b="0" lang="vi-VN" sz="3200" spc="-1" strike="noStrike">
              <a:solidFill>
                <a:srgbClr val="000000"/>
              </a:solidFill>
              <a:latin typeface="Arial"/>
            </a:endParaRPr>
          </a:p>
        </p:txBody>
      </p:sp>
      <p:sp>
        <p:nvSpPr>
          <p:cNvPr id="839" name="PlaceHolder 2"/>
          <p:cNvSpPr>
            <a:spLocks noGrp="1"/>
          </p:cNvSpPr>
          <p:nvPr>
            <p:ph type="sldNum" idx="15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87096FCA-064A-40F3-B25A-0C632109D108}"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40" name="Line 5"/>
          <p:cNvSpPr/>
          <p:nvPr/>
        </p:nvSpPr>
        <p:spPr>
          <a:xfrm>
            <a:off x="2109600" y="2314440"/>
            <a:ext cx="5205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41" name="Rectangle 6"/>
          <p:cNvSpPr/>
          <p:nvPr/>
        </p:nvSpPr>
        <p:spPr>
          <a:xfrm>
            <a:off x="2498760" y="2792520"/>
            <a:ext cx="156456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NHÂNVIÊN</a:t>
            </a:r>
            <a:endParaRPr b="0" lang="vi-VN" sz="1200" spc="-1" strike="noStrike">
              <a:solidFill>
                <a:srgbClr val="000000"/>
              </a:solidFill>
              <a:latin typeface="Arial"/>
            </a:endParaRPr>
          </a:p>
        </p:txBody>
      </p:sp>
      <p:sp>
        <p:nvSpPr>
          <p:cNvPr id="842" name="Rectangle 7"/>
          <p:cNvSpPr/>
          <p:nvPr/>
        </p:nvSpPr>
        <p:spPr>
          <a:xfrm>
            <a:off x="6669000" y="2820960"/>
            <a:ext cx="117072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ĐƠNVỊ</a:t>
            </a:r>
            <a:endParaRPr b="0" lang="vi-VN" sz="1200" spc="-1" strike="noStrike">
              <a:solidFill>
                <a:srgbClr val="000000"/>
              </a:solidFill>
              <a:latin typeface="Arial"/>
            </a:endParaRPr>
          </a:p>
        </p:txBody>
      </p:sp>
      <p:sp>
        <p:nvSpPr>
          <p:cNvPr id="843" name="Rectangle 8"/>
          <p:cNvSpPr/>
          <p:nvPr/>
        </p:nvSpPr>
        <p:spPr>
          <a:xfrm>
            <a:off x="1434960" y="5256360"/>
            <a:ext cx="1563120" cy="405720"/>
          </a:xfrm>
          <a:prstGeom prst="rect">
            <a:avLst/>
          </a:prstGeom>
          <a:solidFill>
            <a:srgbClr val="ffffff"/>
          </a:solidFill>
          <a:ln w="38100">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CON</a:t>
            </a:r>
            <a:endParaRPr b="0" lang="vi-VN" sz="1200" spc="-1" strike="noStrike">
              <a:solidFill>
                <a:srgbClr val="000000"/>
              </a:solidFill>
              <a:latin typeface="Arial"/>
            </a:endParaRPr>
          </a:p>
        </p:txBody>
      </p:sp>
      <p:sp>
        <p:nvSpPr>
          <p:cNvPr id="844" name="Rectangle 9"/>
          <p:cNvSpPr/>
          <p:nvPr/>
        </p:nvSpPr>
        <p:spPr>
          <a:xfrm>
            <a:off x="6654960" y="5168880"/>
            <a:ext cx="130248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DỰÁN</a:t>
            </a:r>
            <a:endParaRPr b="0" lang="vi-VN" sz="1200" spc="-1" strike="noStrike">
              <a:solidFill>
                <a:srgbClr val="000000"/>
              </a:solidFill>
              <a:latin typeface="Arial"/>
            </a:endParaRPr>
          </a:p>
        </p:txBody>
      </p:sp>
      <p:sp>
        <p:nvSpPr>
          <p:cNvPr id="845" name="Line 16"/>
          <p:cNvSpPr/>
          <p:nvPr/>
        </p:nvSpPr>
        <p:spPr>
          <a:xfrm>
            <a:off x="3281040" y="2820960"/>
            <a:ext cx="36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846" name="Oval 29"/>
          <p:cNvSpPr/>
          <p:nvPr/>
        </p:nvSpPr>
        <p:spPr>
          <a:xfrm>
            <a:off x="6316560" y="2009880"/>
            <a:ext cx="64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847" name="Oval 30"/>
          <p:cNvSpPr/>
          <p:nvPr/>
        </p:nvSpPr>
        <p:spPr>
          <a:xfrm>
            <a:off x="7010280" y="2008080"/>
            <a:ext cx="650160" cy="30564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848" name="Oval 31"/>
          <p:cNvSpPr/>
          <p:nvPr/>
        </p:nvSpPr>
        <p:spPr>
          <a:xfrm>
            <a:off x="7704000" y="2033640"/>
            <a:ext cx="905760" cy="407160"/>
          </a:xfrm>
          <a:prstGeom prst="ellipse">
            <a:avLst/>
          </a:prstGeom>
          <a:solidFill>
            <a:srgbClr val="ffffff"/>
          </a:solidFill>
          <a:ln w="38100">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endParaRPr b="0" lang="vi-VN" sz="1100" spc="-1" strike="noStrike">
              <a:solidFill>
                <a:srgbClr val="000000"/>
              </a:solidFill>
              <a:latin typeface="Arial"/>
            </a:endParaRPr>
          </a:p>
        </p:txBody>
      </p:sp>
      <p:sp>
        <p:nvSpPr>
          <p:cNvPr id="849" name="Oval 32"/>
          <p:cNvSpPr/>
          <p:nvPr/>
        </p:nvSpPr>
        <p:spPr>
          <a:xfrm>
            <a:off x="1459080" y="2008080"/>
            <a:ext cx="78048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Họtên</a:t>
            </a:r>
            <a:endParaRPr b="0" lang="vi-VN" sz="1100" spc="-1" strike="noStrike">
              <a:solidFill>
                <a:srgbClr val="000000"/>
              </a:solidFill>
              <a:latin typeface="Arial"/>
            </a:endParaRPr>
          </a:p>
        </p:txBody>
      </p:sp>
      <p:sp>
        <p:nvSpPr>
          <p:cNvPr id="850" name="Oval 33"/>
          <p:cNvSpPr/>
          <p:nvPr/>
        </p:nvSpPr>
        <p:spPr>
          <a:xfrm>
            <a:off x="1066680" y="2720880"/>
            <a:ext cx="781920" cy="40716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 số</a:t>
            </a:r>
            <a:endParaRPr b="0" lang="vi-VN" sz="1100" spc="-1" strike="noStrike">
              <a:solidFill>
                <a:srgbClr val="000000"/>
              </a:solidFill>
              <a:latin typeface="Arial"/>
            </a:endParaRPr>
          </a:p>
        </p:txBody>
      </p:sp>
      <p:sp>
        <p:nvSpPr>
          <p:cNvPr id="851" name="Oval 34"/>
          <p:cNvSpPr/>
          <p:nvPr/>
        </p:nvSpPr>
        <p:spPr>
          <a:xfrm>
            <a:off x="936720" y="1295280"/>
            <a:ext cx="91224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Họđệm</a:t>
            </a:r>
            <a:endParaRPr b="0" lang="vi-VN" sz="1100" spc="-1" strike="noStrike">
              <a:solidFill>
                <a:srgbClr val="000000"/>
              </a:solidFill>
              <a:latin typeface="Arial"/>
            </a:endParaRPr>
          </a:p>
        </p:txBody>
      </p:sp>
      <p:sp>
        <p:nvSpPr>
          <p:cNvPr id="852" name="Oval 35"/>
          <p:cNvSpPr/>
          <p:nvPr/>
        </p:nvSpPr>
        <p:spPr>
          <a:xfrm>
            <a:off x="1849320" y="1295280"/>
            <a:ext cx="78048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853" name="Oval 36"/>
          <p:cNvSpPr/>
          <p:nvPr/>
        </p:nvSpPr>
        <p:spPr>
          <a:xfrm>
            <a:off x="2066760" y="1701720"/>
            <a:ext cx="953280" cy="407160"/>
          </a:xfrm>
          <a:prstGeom prst="ellipse">
            <a:avLst/>
          </a:prstGeom>
          <a:solidFill>
            <a:srgbClr val="ffffff"/>
          </a:solidFill>
          <a:ln w="9525">
            <a:solidFill>
              <a:srgbClr val="000000"/>
            </a:solidFill>
            <a:round/>
          </a:ln>
        </p:spPr>
        <p:style>
          <a:lnRef idx="0"/>
          <a:fillRef idx="0"/>
          <a:effectRef idx="0"/>
          <a:fontRef idx="minor"/>
        </p:style>
        <p:txBody>
          <a:bodyPr lIns="0" rIns="0" tIns="10800" bIns="108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854" name="Oval 37"/>
          <p:cNvSpPr/>
          <p:nvPr/>
        </p:nvSpPr>
        <p:spPr>
          <a:xfrm>
            <a:off x="3801960" y="1805040"/>
            <a:ext cx="696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Lương</a:t>
            </a:r>
            <a:endParaRPr b="0" lang="vi-VN" sz="1100" spc="-1" strike="noStrike">
              <a:solidFill>
                <a:srgbClr val="000000"/>
              </a:solidFill>
              <a:latin typeface="Arial"/>
            </a:endParaRPr>
          </a:p>
        </p:txBody>
      </p:sp>
      <p:sp>
        <p:nvSpPr>
          <p:cNvPr id="855" name="Oval 38"/>
          <p:cNvSpPr/>
          <p:nvPr/>
        </p:nvSpPr>
        <p:spPr>
          <a:xfrm>
            <a:off x="3021120" y="1805040"/>
            <a:ext cx="78048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856" name="Oval 39"/>
          <p:cNvSpPr/>
          <p:nvPr/>
        </p:nvSpPr>
        <p:spPr>
          <a:xfrm>
            <a:off x="4498920" y="1805040"/>
            <a:ext cx="6930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Địachỉ</a:t>
            </a:r>
            <a:endParaRPr b="0" lang="vi-VN" sz="1100" spc="-1" strike="noStrike">
              <a:solidFill>
                <a:srgbClr val="000000"/>
              </a:solidFill>
              <a:latin typeface="Arial"/>
            </a:endParaRPr>
          </a:p>
        </p:txBody>
      </p:sp>
      <p:sp>
        <p:nvSpPr>
          <p:cNvPr id="857" name="Oval 42"/>
          <p:cNvSpPr/>
          <p:nvPr/>
        </p:nvSpPr>
        <p:spPr>
          <a:xfrm>
            <a:off x="654120" y="6070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858" name="Oval 43"/>
          <p:cNvSpPr/>
          <p:nvPr/>
        </p:nvSpPr>
        <p:spPr>
          <a:xfrm>
            <a:off x="1695600" y="6070680"/>
            <a:ext cx="10422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859" name="Oval 44"/>
          <p:cNvSpPr/>
          <p:nvPr/>
        </p:nvSpPr>
        <p:spPr>
          <a:xfrm>
            <a:off x="2867040" y="6070680"/>
            <a:ext cx="91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860" name="Oval 45"/>
          <p:cNvSpPr/>
          <p:nvPr/>
        </p:nvSpPr>
        <p:spPr>
          <a:xfrm>
            <a:off x="5483160" y="5881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861" name="Oval 46"/>
          <p:cNvSpPr/>
          <p:nvPr/>
        </p:nvSpPr>
        <p:spPr>
          <a:xfrm>
            <a:off x="6524640" y="5881680"/>
            <a:ext cx="9122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862" name="Oval 47"/>
          <p:cNvSpPr/>
          <p:nvPr/>
        </p:nvSpPr>
        <p:spPr>
          <a:xfrm>
            <a:off x="7566120" y="5881680"/>
            <a:ext cx="104220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r>
              <a:rPr b="0" lang="en-US" sz="1000" spc="-1" strike="noStrike">
                <a:solidFill>
                  <a:schemeClr val="dk1"/>
                </a:solidFill>
                <a:latin typeface="Times New Roman"/>
                <a:ea typeface="바탕"/>
              </a:rPr>
              <a:t> </a:t>
            </a:r>
            <a:endParaRPr b="0" lang="vi-VN" sz="1000" spc="-1" strike="noStrike">
              <a:solidFill>
                <a:srgbClr val="000000"/>
              </a:solidFill>
              <a:latin typeface="Arial"/>
            </a:endParaRPr>
          </a:p>
        </p:txBody>
      </p:sp>
      <p:sp>
        <p:nvSpPr>
          <p:cNvPr id="863" name="Line 48"/>
          <p:cNvSpPr/>
          <p:nvPr/>
        </p:nvSpPr>
        <p:spPr>
          <a:xfrm>
            <a:off x="1849320" y="2923920"/>
            <a:ext cx="649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864" name="Line 49"/>
          <p:cNvSpPr/>
          <p:nvPr/>
        </p:nvSpPr>
        <p:spPr>
          <a:xfrm>
            <a:off x="1326960" y="1600200"/>
            <a:ext cx="39204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65" name="Line 50"/>
          <p:cNvSpPr/>
          <p:nvPr/>
        </p:nvSpPr>
        <p:spPr>
          <a:xfrm flipH="1">
            <a:off x="1849320" y="1600200"/>
            <a:ext cx="2602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66" name="Line 51"/>
          <p:cNvSpPr/>
          <p:nvPr/>
        </p:nvSpPr>
        <p:spPr>
          <a:xfrm>
            <a:off x="2630160" y="2109600"/>
            <a:ext cx="13032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67" name="Line 52"/>
          <p:cNvSpPr/>
          <p:nvPr/>
        </p:nvSpPr>
        <p:spPr>
          <a:xfrm flipH="1">
            <a:off x="3020760" y="2211120"/>
            <a:ext cx="13176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68" name="Line 53"/>
          <p:cNvSpPr/>
          <p:nvPr/>
        </p:nvSpPr>
        <p:spPr>
          <a:xfrm flipH="1">
            <a:off x="3455640" y="2211120"/>
            <a:ext cx="52092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69" name="Line 54"/>
          <p:cNvSpPr/>
          <p:nvPr/>
        </p:nvSpPr>
        <p:spPr>
          <a:xfrm flipH="1">
            <a:off x="3628800" y="2109600"/>
            <a:ext cx="91296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0" name="Line 56"/>
          <p:cNvSpPr/>
          <p:nvPr/>
        </p:nvSpPr>
        <p:spPr>
          <a:xfrm>
            <a:off x="6669000" y="2414520"/>
            <a:ext cx="390600" cy="406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1" name="Line 57"/>
          <p:cNvSpPr/>
          <p:nvPr/>
        </p:nvSpPr>
        <p:spPr>
          <a:xfrm>
            <a:off x="7319880" y="2314440"/>
            <a:ext cx="3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2" name="Line 58"/>
          <p:cNvSpPr/>
          <p:nvPr/>
        </p:nvSpPr>
        <p:spPr>
          <a:xfrm flipH="1">
            <a:off x="7580160" y="2441520"/>
            <a:ext cx="473040" cy="379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3" name="Line 60"/>
          <p:cNvSpPr/>
          <p:nvPr/>
        </p:nvSpPr>
        <p:spPr>
          <a:xfrm flipH="1">
            <a:off x="1172880" y="5662440"/>
            <a:ext cx="6526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4" name="Line 61"/>
          <p:cNvSpPr/>
          <p:nvPr/>
        </p:nvSpPr>
        <p:spPr>
          <a:xfrm>
            <a:off x="2087280" y="5662440"/>
            <a:ext cx="128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5" name="Line 62"/>
          <p:cNvSpPr/>
          <p:nvPr/>
        </p:nvSpPr>
        <p:spPr>
          <a:xfrm>
            <a:off x="2215800" y="5662440"/>
            <a:ext cx="911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6" name="Line 63"/>
          <p:cNvSpPr/>
          <p:nvPr/>
        </p:nvSpPr>
        <p:spPr>
          <a:xfrm flipH="1">
            <a:off x="6134040" y="5576760"/>
            <a:ext cx="6523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7" name="Line 64"/>
          <p:cNvSpPr/>
          <p:nvPr/>
        </p:nvSpPr>
        <p:spPr>
          <a:xfrm flipH="1">
            <a:off x="7046640" y="5576760"/>
            <a:ext cx="1285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8" name="Line 65"/>
          <p:cNvSpPr/>
          <p:nvPr/>
        </p:nvSpPr>
        <p:spPr>
          <a:xfrm>
            <a:off x="7437240" y="5576760"/>
            <a:ext cx="52056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79" name="PlaceHolder 3"/>
          <p:cNvSpPr>
            <a:spLocks noGrp="1"/>
          </p:cNvSpPr>
          <p:nvPr>
            <p:ph type="dt" idx="15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365A72B3-D0E8-4863-8987-03F1CC55CCA9}"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80" name="PlaceHolder 4"/>
          <p:cNvSpPr>
            <a:spLocks noGrp="1"/>
          </p:cNvSpPr>
          <p:nvPr>
            <p:ph type="ftr" idx="15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81"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title"/>
          </p:nvPr>
        </p:nvSpPr>
        <p:spPr>
          <a:xfrm>
            <a:off x="228600" y="7632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r>
              <a:rPr b="0" i="1" lang="en-US" sz="2800" spc="-1" strike="noStrike">
                <a:solidFill>
                  <a:schemeClr val="dk2"/>
                </a:solidFill>
                <a:latin typeface="Calibri"/>
              </a:rPr>
              <a:t>Ví dụ </a:t>
            </a:r>
            <a:r>
              <a:rPr b="0" lang="en-US" sz="2800" spc="-1" strike="noStrike">
                <a:solidFill>
                  <a:schemeClr val="dk2"/>
                </a:solidFill>
                <a:latin typeface="Calibri"/>
              </a:rPr>
              <a:t>‘</a:t>
            </a:r>
            <a:r>
              <a:rPr b="1" lang="en-US" sz="2800" spc="-1" strike="noStrike">
                <a:solidFill>
                  <a:schemeClr val="dk2"/>
                </a:solidFill>
                <a:latin typeface="Calibri"/>
              </a:rPr>
              <a:t>Quản lý dự án công ty</a:t>
            </a:r>
            <a:r>
              <a:rPr b="0" lang="en-US" sz="2800" spc="-1" strike="noStrike">
                <a:solidFill>
                  <a:schemeClr val="dk2"/>
                </a:solidFill>
                <a:latin typeface="Calibri"/>
              </a:rPr>
              <a:t>’</a:t>
            </a:r>
            <a:endParaRPr b="0" lang="vi-VN" sz="2800" spc="-1" strike="noStrike">
              <a:solidFill>
                <a:srgbClr val="000000"/>
              </a:solidFill>
              <a:latin typeface="Arial"/>
            </a:endParaRPr>
          </a:p>
        </p:txBody>
      </p:sp>
      <p:sp>
        <p:nvSpPr>
          <p:cNvPr id="883" name="PlaceHolder 2"/>
          <p:cNvSpPr>
            <a:spLocks noGrp="1"/>
          </p:cNvSpPr>
          <p:nvPr>
            <p:ph/>
          </p:nvPr>
        </p:nvSpPr>
        <p:spPr>
          <a:xfrm>
            <a:off x="457200" y="1066680"/>
            <a:ext cx="8228880" cy="993240"/>
          </a:xfrm>
          <a:prstGeom prst="rect">
            <a:avLst/>
          </a:prstGeom>
          <a:noFill/>
          <a:ln w="9360">
            <a:noFill/>
          </a:ln>
        </p:spPr>
        <p:txBody>
          <a:bodyPr numCol="1" spcCol="0" lIns="91440" rIns="91440" tIns="45720" bIns="45720" anchor="t">
            <a:noAutofit/>
          </a:bodyPr>
          <a:p>
            <a:pPr marL="272880" indent="-272880">
              <a:lnSpc>
                <a:spcPct val="90000"/>
              </a:lnSpc>
              <a:spcBef>
                <a:spcPts val="519"/>
              </a:spcBef>
              <a:buClr>
                <a:srgbClr val="0bd0d9"/>
              </a:buClr>
              <a:buSzPct val="95000"/>
              <a:buFont typeface="Wingdings" charset="2"/>
              <a:buChar char=""/>
            </a:pPr>
            <a:r>
              <a:rPr b="0" lang="en-US" sz="2600" spc="-1" strike="noStrike">
                <a:solidFill>
                  <a:schemeClr val="dk1"/>
                </a:solidFill>
                <a:latin typeface="Constantia"/>
              </a:rPr>
              <a:t>CSDL  quản lý dự án công ty:  theo dõi các thông tin liên quan đến nhân viên, phòng ban và dự án</a:t>
            </a:r>
            <a:endParaRPr b="0" lang="vi-VN" sz="2600" spc="-1" strike="noStrike">
              <a:solidFill>
                <a:srgbClr val="000000"/>
              </a:solidFill>
              <a:latin typeface="Arial"/>
            </a:endParaRPr>
          </a:p>
        </p:txBody>
      </p:sp>
      <p:sp>
        <p:nvSpPr>
          <p:cNvPr id="884" name="PlaceHolder 3"/>
          <p:cNvSpPr>
            <a:spLocks noGrp="1"/>
          </p:cNvSpPr>
          <p:nvPr>
            <p:ph type="sldNum" idx="160"/>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F343482B-F3EF-4AAE-8CAD-D6AA01370E88}"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85" name="PlaceHolder 4"/>
          <p:cNvSpPr>
            <a:spLocks noGrp="1"/>
          </p:cNvSpPr>
          <p:nvPr>
            <p:ph type="dt" idx="161"/>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7E9D1D10-1C4F-417A-923C-2261094C094E}"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886" name="PlaceHolder 5"/>
          <p:cNvSpPr>
            <a:spLocks noGrp="1"/>
          </p:cNvSpPr>
          <p:nvPr>
            <p:ph type="ftr" idx="162"/>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887" name="Picture 3" descr=""/>
          <p:cNvPicPr/>
          <p:nvPr/>
        </p:nvPicPr>
        <p:blipFill>
          <a:blip r:embed="rId1"/>
          <a:stretch/>
        </p:blipFill>
        <p:spPr>
          <a:xfrm>
            <a:off x="0" y="838080"/>
            <a:ext cx="9071280" cy="53280"/>
          </a:xfrm>
          <a:prstGeom prst="rect">
            <a:avLst/>
          </a:prstGeom>
          <a:ln w="0">
            <a:noFill/>
          </a:ln>
        </p:spPr>
      </p:pic>
      <p:sp>
        <p:nvSpPr>
          <p:cNvPr id="888" name="Rectangle 3"/>
          <p:cNvSpPr/>
          <p:nvPr/>
        </p:nvSpPr>
        <p:spPr>
          <a:xfrm>
            <a:off x="539640" y="2543040"/>
            <a:ext cx="8228880" cy="543240"/>
          </a:xfrm>
          <a:prstGeom prst="rect">
            <a:avLst/>
          </a:prstGeom>
          <a:noFill/>
          <a:ln w="9525">
            <a:noFill/>
          </a:ln>
        </p:spPr>
        <p:style>
          <a:lnRef idx="0"/>
          <a:fillRef idx="0"/>
          <a:effectRef idx="0"/>
          <a:fontRef idx="minor"/>
        </p:style>
        <p:txBody>
          <a:bodyPr numCol="1" spcCol="0" lIns="90000" rIns="90000" tIns="45000" bIns="45000" anchor="t">
            <a:noAutofit/>
          </a:bodyPr>
          <a:p>
            <a:pPr marL="272880" indent="-272880">
              <a:lnSpc>
                <a:spcPct val="90000"/>
              </a:lnSpc>
              <a:spcBef>
                <a:spcPts val="519"/>
              </a:spcBef>
              <a:buClr>
                <a:srgbClr val="0bd0d9"/>
              </a:buClr>
              <a:buSzPct val="95000"/>
              <a:buFont typeface="Courier New"/>
              <a:buChar char="o"/>
            </a:pPr>
            <a:r>
              <a:rPr b="1" lang="en-US" sz="2600" spc="-1" strike="noStrike">
                <a:solidFill>
                  <a:schemeClr val="dk1"/>
                </a:solidFill>
                <a:latin typeface="Constantia"/>
              </a:rPr>
              <a:t>Bước 2</a:t>
            </a:r>
            <a:r>
              <a:rPr b="0" lang="en-US" sz="2600" spc="-1" strike="noStrike">
                <a:solidFill>
                  <a:schemeClr val="dk1"/>
                </a:solidFill>
                <a:latin typeface="Constantia"/>
              </a:rPr>
              <a:t>: Xác định các liên kết, rang buộc</a:t>
            </a:r>
            <a:endParaRPr b="0" lang="vi-VN" sz="2600" spc="-1" strike="noStrike">
              <a:solidFill>
                <a:srgbClr val="000000"/>
              </a:solidFill>
              <a:latin typeface="Arial"/>
            </a:endParaRPr>
          </a:p>
          <a:p>
            <a:pPr>
              <a:lnSpc>
                <a:spcPct val="90000"/>
              </a:lnSpc>
              <a:spcBef>
                <a:spcPts val="519"/>
              </a:spcBef>
              <a:tabLst>
                <a:tab algn="l" pos="0"/>
              </a:tabLst>
            </a:pPr>
            <a:endParaRPr b="0" lang="vi-VN" sz="2600" spc="-1" strike="noStrike">
              <a:solidFill>
                <a:srgbClr val="000000"/>
              </a:solidFill>
              <a:latin typeface="Arial"/>
            </a:endParaRPr>
          </a:p>
        </p:txBody>
      </p:sp>
      <p:sp>
        <p:nvSpPr>
          <p:cNvPr id="889" name="Rectangle 3"/>
          <p:cNvSpPr/>
          <p:nvPr/>
        </p:nvSpPr>
        <p:spPr>
          <a:xfrm>
            <a:off x="611640" y="3227040"/>
            <a:ext cx="8228880" cy="113724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 Liên kết làm việc : Nhân viên và đơn vị; ràng buộc: mỗi nhân viên chỉ làm việc ở 1 đơn vị, một đơn vị có nhiều nhân viên,</a:t>
            </a:r>
            <a:endParaRPr b="0" lang="vi-VN" sz="2600" spc="-1" strike="noStrike">
              <a:solidFill>
                <a:srgbClr val="000000"/>
              </a:solidFill>
              <a:latin typeface="Arial"/>
            </a:endParaRPr>
          </a:p>
        </p:txBody>
      </p:sp>
      <p:sp>
        <p:nvSpPr>
          <p:cNvPr id="890" name="Rectangle 3"/>
          <p:cNvSpPr/>
          <p:nvPr/>
        </p:nvSpPr>
        <p:spPr>
          <a:xfrm>
            <a:off x="539640" y="4618800"/>
            <a:ext cx="8228880" cy="1137240"/>
          </a:xfrm>
          <a:prstGeom prst="rect">
            <a:avLst/>
          </a:prstGeom>
          <a:noFill/>
          <a:ln w="9525">
            <a:noFill/>
          </a:ln>
        </p:spPr>
        <p:style>
          <a:lnRef idx="0"/>
          <a:fillRef idx="0"/>
          <a:effectRef idx="0"/>
          <a:fontRef idx="minor"/>
        </p:style>
        <p:txBody>
          <a:bodyPr numCol="1" spcCol="0" lIns="90000" rIns="90000" tIns="45000" bIns="45000" anchor="t">
            <a:noAutofit/>
          </a:bodyPr>
          <a:p>
            <a:pPr>
              <a:lnSpc>
                <a:spcPct val="90000"/>
              </a:lnSpc>
              <a:spcBef>
                <a:spcPts val="519"/>
              </a:spcBef>
              <a:tabLst>
                <a:tab algn="l" pos="0"/>
              </a:tabLst>
            </a:pPr>
            <a:r>
              <a:rPr b="0" lang="en-US" sz="2600" spc="-1" strike="noStrike">
                <a:solidFill>
                  <a:schemeClr val="dk1"/>
                </a:solidFill>
                <a:latin typeface="Constantia"/>
              </a:rPr>
              <a:t> </a:t>
            </a:r>
            <a:r>
              <a:rPr b="0" lang="en-US" sz="2600" spc="-1" strike="noStrike">
                <a:solidFill>
                  <a:schemeClr val="dk1"/>
                </a:solidFill>
                <a:latin typeface="Constantia"/>
              </a:rPr>
              <a:t>-….</a:t>
            </a:r>
            <a:endParaRPr b="0" lang="vi-VN" sz="2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92" dur="indefinite" restart="never" nodeType="tmRoot">
          <p:childTnLst>
            <p:seq>
              <p:cTn id="393" dur="indefinite" nodeType="mainSeq">
                <p:childTnLst>
                  <p:par>
                    <p:cTn id="394" fill="hold">
                      <p:stCondLst>
                        <p:cond delay="indefinite"/>
                      </p:stCondLst>
                      <p:childTnLst>
                        <p:par>
                          <p:cTn id="395" fill="hold">
                            <p:stCondLst>
                              <p:cond delay="0"/>
                            </p:stCondLst>
                            <p:childTnLst>
                              <p:par>
                                <p:cTn id="396" nodeType="clickEffect" fill="hold" presetClass="entr" presetID="1">
                                  <p:stCondLst>
                                    <p:cond delay="0"/>
                                  </p:stCondLst>
                                  <p:childTnLst>
                                    <p:set>
                                      <p:cBhvr>
                                        <p:cTn id="397" dur="1" fill="hold">
                                          <p:stCondLst>
                                            <p:cond delay="0"/>
                                          </p:stCondLst>
                                        </p:cTn>
                                        <p:tgtEl>
                                          <p:spTgt spid="888"/>
                                        </p:tgtEl>
                                        <p:attrNameLst>
                                          <p:attrName>style.visibility</p:attrName>
                                        </p:attrNameLst>
                                      </p:cBhvr>
                                      <p:to>
                                        <p:strVal val="visible"/>
                                      </p:to>
                                    </p:set>
                                  </p:childTnLst>
                                </p:cTn>
                              </p:par>
                            </p:childTnLst>
                          </p:cTn>
                        </p:par>
                      </p:childTnLst>
                    </p:cTn>
                  </p:par>
                  <p:par>
                    <p:cTn id="398" fill="hold">
                      <p:stCondLst>
                        <p:cond delay="indefinite"/>
                      </p:stCondLst>
                      <p:childTnLst>
                        <p:par>
                          <p:cTn id="399" fill="hold">
                            <p:stCondLst>
                              <p:cond delay="0"/>
                            </p:stCondLst>
                            <p:childTnLst>
                              <p:par>
                                <p:cTn id="400" nodeType="clickEffect" fill="hold" presetClass="entr" presetID="1">
                                  <p:stCondLst>
                                    <p:cond delay="0"/>
                                  </p:stCondLst>
                                  <p:childTnLst>
                                    <p:set>
                                      <p:cBhvr>
                                        <p:cTn id="401" dur="1" fill="hold">
                                          <p:stCondLst>
                                            <p:cond delay="0"/>
                                          </p:stCondLst>
                                        </p:cTn>
                                        <p:tgtEl>
                                          <p:spTgt spid="889"/>
                                        </p:tgtEl>
                                        <p:attrNameLst>
                                          <p:attrName>style.visibility</p:attrName>
                                        </p:attrNameLst>
                                      </p:cBhvr>
                                      <p:to>
                                        <p:strVal val="visible"/>
                                      </p:to>
                                    </p:set>
                                  </p:childTnLst>
                                </p:cTn>
                              </p:par>
                            </p:childTnLst>
                          </p:cTn>
                        </p:par>
                      </p:childTnLst>
                    </p:cTn>
                  </p:par>
                  <p:par>
                    <p:cTn id="402" fill="hold">
                      <p:stCondLst>
                        <p:cond delay="indefinite"/>
                      </p:stCondLst>
                      <p:childTnLst>
                        <p:par>
                          <p:cTn id="403" fill="hold">
                            <p:stCondLst>
                              <p:cond delay="0"/>
                            </p:stCondLst>
                            <p:childTnLst>
                              <p:par>
                                <p:cTn id="404" nodeType="clickEffect" fill="hold" presetClass="entr" presetID="1">
                                  <p:stCondLst>
                                    <p:cond delay="0"/>
                                  </p:stCondLst>
                                  <p:childTnLst>
                                    <p:set>
                                      <p:cBhvr>
                                        <p:cTn id="405"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type="title"/>
          </p:nvPr>
        </p:nvSpPr>
        <p:spPr>
          <a:xfrm>
            <a:off x="457200" y="380880"/>
            <a:ext cx="8228880" cy="532800"/>
          </a:xfrm>
          <a:prstGeom prst="rect">
            <a:avLst/>
          </a:prstGeom>
          <a:noFill/>
          <a:ln w="9360">
            <a:noFill/>
          </a:ln>
        </p:spPr>
        <p:txBody>
          <a:bodyPr numCol="1" spcCol="0" lIns="0" rIns="0" tIns="45720" bIns="0" anchor="b">
            <a:noAutofit/>
          </a:bodyPr>
          <a:p>
            <a:pPr indent="0">
              <a:lnSpc>
                <a:spcPct val="100000"/>
              </a:lnSpc>
              <a:buNone/>
              <a:tabLst>
                <a:tab algn="l" pos="0"/>
              </a:tabLst>
            </a:pPr>
            <a:r>
              <a:rPr b="0" lang="en-US" sz="3200" spc="-1" strike="noStrike">
                <a:solidFill>
                  <a:schemeClr val="dk2"/>
                </a:solidFill>
                <a:latin typeface="Calibri"/>
              </a:rPr>
              <a:t>Ví dụ </a:t>
            </a:r>
            <a:endParaRPr b="0" lang="vi-VN" sz="3200" spc="-1" strike="noStrike">
              <a:solidFill>
                <a:srgbClr val="000000"/>
              </a:solidFill>
              <a:latin typeface="Arial"/>
            </a:endParaRPr>
          </a:p>
        </p:txBody>
      </p:sp>
      <p:sp>
        <p:nvSpPr>
          <p:cNvPr id="892" name="PlaceHolder 2"/>
          <p:cNvSpPr>
            <a:spLocks noGrp="1"/>
          </p:cNvSpPr>
          <p:nvPr>
            <p:ph type="sldNum" idx="163"/>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AA0C65F7-0886-4861-82A2-8F4EB7F85CF4}"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893" name="Line 5"/>
          <p:cNvSpPr/>
          <p:nvPr/>
        </p:nvSpPr>
        <p:spPr>
          <a:xfrm>
            <a:off x="2109600" y="2314440"/>
            <a:ext cx="5205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894" name="Rectangle 6"/>
          <p:cNvSpPr/>
          <p:nvPr/>
        </p:nvSpPr>
        <p:spPr>
          <a:xfrm>
            <a:off x="2498760" y="2820960"/>
            <a:ext cx="156456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NHÂNVIÊN</a:t>
            </a:r>
            <a:endParaRPr b="0" lang="vi-VN" sz="1200" spc="-1" strike="noStrike">
              <a:solidFill>
                <a:srgbClr val="000000"/>
              </a:solidFill>
              <a:latin typeface="Arial"/>
            </a:endParaRPr>
          </a:p>
        </p:txBody>
      </p:sp>
      <p:sp>
        <p:nvSpPr>
          <p:cNvPr id="895" name="Rectangle 7"/>
          <p:cNvSpPr/>
          <p:nvPr/>
        </p:nvSpPr>
        <p:spPr>
          <a:xfrm>
            <a:off x="6669000" y="2820960"/>
            <a:ext cx="117072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ĐƠNVỊ</a:t>
            </a:r>
            <a:endParaRPr b="0" lang="vi-VN" sz="1200" spc="-1" strike="noStrike">
              <a:solidFill>
                <a:srgbClr val="000000"/>
              </a:solidFill>
              <a:latin typeface="Arial"/>
            </a:endParaRPr>
          </a:p>
        </p:txBody>
      </p:sp>
      <p:sp>
        <p:nvSpPr>
          <p:cNvPr id="896" name="Rectangle 8"/>
          <p:cNvSpPr/>
          <p:nvPr/>
        </p:nvSpPr>
        <p:spPr>
          <a:xfrm>
            <a:off x="1434960" y="5256360"/>
            <a:ext cx="1563120" cy="405720"/>
          </a:xfrm>
          <a:prstGeom prst="rect">
            <a:avLst/>
          </a:prstGeom>
          <a:solidFill>
            <a:srgbClr val="ffffff"/>
          </a:solidFill>
          <a:ln w="38100">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CON</a:t>
            </a:r>
            <a:endParaRPr b="0" lang="vi-VN" sz="1200" spc="-1" strike="noStrike">
              <a:solidFill>
                <a:srgbClr val="000000"/>
              </a:solidFill>
              <a:latin typeface="Arial"/>
            </a:endParaRPr>
          </a:p>
        </p:txBody>
      </p:sp>
      <p:sp>
        <p:nvSpPr>
          <p:cNvPr id="897" name="Rectangle 9"/>
          <p:cNvSpPr/>
          <p:nvPr/>
        </p:nvSpPr>
        <p:spPr>
          <a:xfrm>
            <a:off x="6654960" y="5168880"/>
            <a:ext cx="130248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DỰÁN</a:t>
            </a:r>
            <a:endParaRPr b="0" lang="vi-VN" sz="1200" spc="-1" strike="noStrike">
              <a:solidFill>
                <a:srgbClr val="000000"/>
              </a:solidFill>
              <a:latin typeface="Arial"/>
            </a:endParaRPr>
          </a:p>
        </p:txBody>
      </p:sp>
      <p:sp>
        <p:nvSpPr>
          <p:cNvPr id="898" name="AutoShape 10"/>
          <p:cNvSpPr/>
          <p:nvPr/>
        </p:nvSpPr>
        <p:spPr>
          <a:xfrm>
            <a:off x="4452840" y="2211480"/>
            <a:ext cx="1432800" cy="40716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Quảnlý</a:t>
            </a:r>
            <a:endParaRPr b="0" lang="vi-VN" sz="1100" spc="-1" strike="noStrike">
              <a:solidFill>
                <a:srgbClr val="000000"/>
              </a:solidFill>
              <a:latin typeface="Arial"/>
            </a:endParaRPr>
          </a:p>
        </p:txBody>
      </p:sp>
      <p:sp>
        <p:nvSpPr>
          <p:cNvPr id="899" name="AutoShape 11"/>
          <p:cNvSpPr/>
          <p:nvPr/>
        </p:nvSpPr>
        <p:spPr>
          <a:xfrm>
            <a:off x="4584600" y="3433680"/>
            <a:ext cx="1561320" cy="405720"/>
          </a:xfrm>
          <a:prstGeom prst="diamond">
            <a:avLst/>
          </a:prstGeom>
          <a:solidFill>
            <a:srgbClr val="ffffff"/>
          </a:solidFill>
          <a:ln w="9525">
            <a:solidFill>
              <a:srgbClr val="000000"/>
            </a:solidFill>
            <a:miter/>
          </a:ln>
        </p:spPr>
        <p:style>
          <a:lnRef idx="0"/>
          <a:fillRef idx="0"/>
          <a:effectRef idx="0"/>
          <a:fontRef idx="minor"/>
        </p:style>
        <p:txBody>
          <a:bodyPr lIns="0" rIns="0" tIns="45000" bIns="45000" anchor="t">
            <a:noAutofit/>
          </a:bodyPr>
          <a:p>
            <a:pPr algn="ctr">
              <a:lnSpc>
                <a:spcPct val="100000"/>
              </a:lnSpc>
              <a:spcBef>
                <a:spcPts val="499"/>
              </a:spcBef>
            </a:pPr>
            <a:r>
              <a:rPr b="0" lang="en-US" sz="1000" spc="-1" strike="noStrike">
                <a:solidFill>
                  <a:schemeClr val="dk1"/>
                </a:solidFill>
                <a:latin typeface="Times New Roman"/>
                <a:ea typeface="바탕"/>
              </a:rPr>
              <a:t>Làmviệccho</a:t>
            </a:r>
            <a:endParaRPr b="0" lang="vi-VN" sz="1000" spc="-1" strike="noStrike">
              <a:solidFill>
                <a:srgbClr val="000000"/>
              </a:solidFill>
              <a:latin typeface="Arial"/>
            </a:endParaRPr>
          </a:p>
        </p:txBody>
      </p:sp>
      <p:sp>
        <p:nvSpPr>
          <p:cNvPr id="900" name="AutoShape 12"/>
          <p:cNvSpPr/>
          <p:nvPr/>
        </p:nvSpPr>
        <p:spPr>
          <a:xfrm>
            <a:off x="6669000" y="4043520"/>
            <a:ext cx="1431360" cy="5090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Kiểm soát</a:t>
            </a:r>
            <a:endParaRPr b="0" lang="vi-VN" sz="1100" spc="-1" strike="noStrike">
              <a:solidFill>
                <a:srgbClr val="000000"/>
              </a:solidFill>
              <a:latin typeface="Arial"/>
            </a:endParaRPr>
          </a:p>
        </p:txBody>
      </p:sp>
      <p:sp>
        <p:nvSpPr>
          <p:cNvPr id="901" name="AutoShape 13"/>
          <p:cNvSpPr/>
          <p:nvPr/>
        </p:nvSpPr>
        <p:spPr>
          <a:xfrm>
            <a:off x="4606920" y="4654440"/>
            <a:ext cx="1564560" cy="6026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Làm việc    trên</a:t>
            </a:r>
            <a:endParaRPr b="0" lang="vi-VN" sz="1200" spc="-1" strike="noStrike">
              <a:solidFill>
                <a:srgbClr val="000000"/>
              </a:solidFill>
              <a:latin typeface="Arial"/>
            </a:endParaRPr>
          </a:p>
        </p:txBody>
      </p:sp>
      <p:sp>
        <p:nvSpPr>
          <p:cNvPr id="902" name="AutoShape 14"/>
          <p:cNvSpPr/>
          <p:nvPr/>
        </p:nvSpPr>
        <p:spPr>
          <a:xfrm>
            <a:off x="1198440" y="3738600"/>
            <a:ext cx="1561320" cy="5090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Giám sát</a:t>
            </a:r>
            <a:endParaRPr b="0" lang="vi-VN" sz="1100" spc="-1" strike="noStrike">
              <a:solidFill>
                <a:srgbClr val="000000"/>
              </a:solidFill>
              <a:latin typeface="Arial"/>
            </a:endParaRPr>
          </a:p>
        </p:txBody>
      </p:sp>
      <p:sp>
        <p:nvSpPr>
          <p:cNvPr id="903" name="AutoShape 15"/>
          <p:cNvSpPr/>
          <p:nvPr/>
        </p:nvSpPr>
        <p:spPr>
          <a:xfrm>
            <a:off x="2593800" y="3963960"/>
            <a:ext cx="1561320" cy="608760"/>
          </a:xfrm>
          <a:prstGeom prst="diamond">
            <a:avLst/>
          </a:prstGeom>
          <a:solidFill>
            <a:srgbClr val="ffffff"/>
          </a:solidFill>
          <a:ln w="38100">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Có</a:t>
            </a:r>
            <a:endParaRPr b="0" lang="vi-VN" sz="1200" spc="-1" strike="noStrike">
              <a:solidFill>
                <a:srgbClr val="000000"/>
              </a:solidFill>
              <a:latin typeface="Arial"/>
            </a:endParaRPr>
          </a:p>
        </p:txBody>
      </p:sp>
      <p:sp>
        <p:nvSpPr>
          <p:cNvPr id="904" name="Line 16"/>
          <p:cNvSpPr/>
          <p:nvPr/>
        </p:nvSpPr>
        <p:spPr>
          <a:xfrm>
            <a:off x="3281040" y="2820960"/>
            <a:ext cx="36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905" name="Line 17"/>
          <p:cNvSpPr/>
          <p:nvPr/>
        </p:nvSpPr>
        <p:spPr>
          <a:xfrm flipV="1">
            <a:off x="4063680" y="2414520"/>
            <a:ext cx="389160" cy="406440"/>
          </a:xfrm>
          <a:prstGeom prst="line">
            <a:avLst/>
          </a:prstGeom>
          <a:ln w="317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06" name="Line 18"/>
          <p:cNvSpPr/>
          <p:nvPr/>
        </p:nvSpPr>
        <p:spPr>
          <a:xfrm>
            <a:off x="5886360" y="2414520"/>
            <a:ext cx="78264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07" name="Line 19"/>
          <p:cNvSpPr/>
          <p:nvPr/>
        </p:nvSpPr>
        <p:spPr>
          <a:xfrm>
            <a:off x="4063680" y="3228840"/>
            <a:ext cx="52092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08" name="Line 20"/>
          <p:cNvSpPr/>
          <p:nvPr/>
        </p:nvSpPr>
        <p:spPr>
          <a:xfrm flipV="1">
            <a:off x="6146640" y="3228840"/>
            <a:ext cx="52236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09" name="Line 21"/>
          <p:cNvSpPr/>
          <p:nvPr/>
        </p:nvSpPr>
        <p:spPr>
          <a:xfrm>
            <a:off x="3673440" y="3228840"/>
            <a:ext cx="974520" cy="17240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0" name="Line 22"/>
          <p:cNvSpPr/>
          <p:nvPr/>
        </p:nvSpPr>
        <p:spPr>
          <a:xfrm>
            <a:off x="6095880" y="4952880"/>
            <a:ext cx="973080" cy="21600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1" name="Line 23"/>
          <p:cNvSpPr/>
          <p:nvPr/>
        </p:nvSpPr>
        <p:spPr>
          <a:xfrm flipV="1">
            <a:off x="1326960" y="3228840"/>
            <a:ext cx="1171440" cy="7142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2" name="Line 24"/>
          <p:cNvSpPr/>
          <p:nvPr/>
        </p:nvSpPr>
        <p:spPr>
          <a:xfrm flipV="1">
            <a:off x="2743200" y="3228840"/>
            <a:ext cx="17280" cy="7333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3" name="Line 25"/>
          <p:cNvSpPr/>
          <p:nvPr/>
        </p:nvSpPr>
        <p:spPr>
          <a:xfrm>
            <a:off x="3281040" y="3228840"/>
            <a:ext cx="59040" cy="7351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4" name="Line 26"/>
          <p:cNvSpPr/>
          <p:nvPr/>
        </p:nvSpPr>
        <p:spPr>
          <a:xfrm flipH="1">
            <a:off x="2179440" y="4566960"/>
            <a:ext cx="1160640" cy="6890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5" name="Line 27"/>
          <p:cNvSpPr/>
          <p:nvPr/>
        </p:nvSpPr>
        <p:spPr>
          <a:xfrm>
            <a:off x="7189560" y="3228840"/>
            <a:ext cx="130320" cy="8143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6" name="Line 28"/>
          <p:cNvSpPr/>
          <p:nvPr/>
        </p:nvSpPr>
        <p:spPr>
          <a:xfrm>
            <a:off x="7319880" y="4552920"/>
            <a:ext cx="81000" cy="61596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17" name="Oval 29"/>
          <p:cNvSpPr/>
          <p:nvPr/>
        </p:nvSpPr>
        <p:spPr>
          <a:xfrm>
            <a:off x="6316560" y="2009880"/>
            <a:ext cx="64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918" name="Oval 30"/>
          <p:cNvSpPr/>
          <p:nvPr/>
        </p:nvSpPr>
        <p:spPr>
          <a:xfrm>
            <a:off x="7010280" y="2008080"/>
            <a:ext cx="650160" cy="30564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919" name="Oval 31"/>
          <p:cNvSpPr/>
          <p:nvPr/>
        </p:nvSpPr>
        <p:spPr>
          <a:xfrm>
            <a:off x="7704000" y="2033640"/>
            <a:ext cx="905760" cy="407160"/>
          </a:xfrm>
          <a:prstGeom prst="ellipse">
            <a:avLst/>
          </a:prstGeom>
          <a:solidFill>
            <a:srgbClr val="ffffff"/>
          </a:solidFill>
          <a:ln w="38100">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endParaRPr b="0" lang="vi-VN" sz="1100" spc="-1" strike="noStrike">
              <a:solidFill>
                <a:srgbClr val="000000"/>
              </a:solidFill>
              <a:latin typeface="Arial"/>
            </a:endParaRPr>
          </a:p>
        </p:txBody>
      </p:sp>
      <p:sp>
        <p:nvSpPr>
          <p:cNvPr id="920" name="Oval 32"/>
          <p:cNvSpPr/>
          <p:nvPr/>
        </p:nvSpPr>
        <p:spPr>
          <a:xfrm>
            <a:off x="1459080" y="2008080"/>
            <a:ext cx="78048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Họtên</a:t>
            </a:r>
            <a:endParaRPr b="0" lang="vi-VN" sz="1100" spc="-1" strike="noStrike">
              <a:solidFill>
                <a:srgbClr val="000000"/>
              </a:solidFill>
              <a:latin typeface="Arial"/>
            </a:endParaRPr>
          </a:p>
        </p:txBody>
      </p:sp>
      <p:sp>
        <p:nvSpPr>
          <p:cNvPr id="921" name="Oval 33"/>
          <p:cNvSpPr/>
          <p:nvPr/>
        </p:nvSpPr>
        <p:spPr>
          <a:xfrm>
            <a:off x="1066680" y="2720880"/>
            <a:ext cx="781920" cy="40716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 số</a:t>
            </a:r>
            <a:endParaRPr b="0" lang="vi-VN" sz="1100" spc="-1" strike="noStrike">
              <a:solidFill>
                <a:srgbClr val="000000"/>
              </a:solidFill>
              <a:latin typeface="Arial"/>
            </a:endParaRPr>
          </a:p>
        </p:txBody>
      </p:sp>
      <p:sp>
        <p:nvSpPr>
          <p:cNvPr id="922" name="Oval 34"/>
          <p:cNvSpPr/>
          <p:nvPr/>
        </p:nvSpPr>
        <p:spPr>
          <a:xfrm>
            <a:off x="936720" y="1295280"/>
            <a:ext cx="91224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Họđệm</a:t>
            </a:r>
            <a:endParaRPr b="0" lang="vi-VN" sz="1100" spc="-1" strike="noStrike">
              <a:solidFill>
                <a:srgbClr val="000000"/>
              </a:solidFill>
              <a:latin typeface="Arial"/>
            </a:endParaRPr>
          </a:p>
        </p:txBody>
      </p:sp>
      <p:sp>
        <p:nvSpPr>
          <p:cNvPr id="923" name="Oval 35"/>
          <p:cNvSpPr/>
          <p:nvPr/>
        </p:nvSpPr>
        <p:spPr>
          <a:xfrm>
            <a:off x="1849320" y="1295280"/>
            <a:ext cx="78048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924" name="Oval 36"/>
          <p:cNvSpPr/>
          <p:nvPr/>
        </p:nvSpPr>
        <p:spPr>
          <a:xfrm>
            <a:off x="2066760" y="1701720"/>
            <a:ext cx="953280" cy="407160"/>
          </a:xfrm>
          <a:prstGeom prst="ellipse">
            <a:avLst/>
          </a:prstGeom>
          <a:solidFill>
            <a:srgbClr val="ffffff"/>
          </a:solidFill>
          <a:ln w="9525">
            <a:solidFill>
              <a:srgbClr val="000000"/>
            </a:solidFill>
            <a:round/>
          </a:ln>
        </p:spPr>
        <p:style>
          <a:lnRef idx="0"/>
          <a:fillRef idx="0"/>
          <a:effectRef idx="0"/>
          <a:fontRef idx="minor"/>
        </p:style>
        <p:txBody>
          <a:bodyPr lIns="0" rIns="0" tIns="10800" bIns="108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925" name="Oval 37"/>
          <p:cNvSpPr/>
          <p:nvPr/>
        </p:nvSpPr>
        <p:spPr>
          <a:xfrm>
            <a:off x="3801960" y="1805040"/>
            <a:ext cx="696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Lương</a:t>
            </a:r>
            <a:endParaRPr b="0" lang="vi-VN" sz="1100" spc="-1" strike="noStrike">
              <a:solidFill>
                <a:srgbClr val="000000"/>
              </a:solidFill>
              <a:latin typeface="Arial"/>
            </a:endParaRPr>
          </a:p>
        </p:txBody>
      </p:sp>
      <p:sp>
        <p:nvSpPr>
          <p:cNvPr id="926" name="Oval 38"/>
          <p:cNvSpPr/>
          <p:nvPr/>
        </p:nvSpPr>
        <p:spPr>
          <a:xfrm>
            <a:off x="3021120" y="1805040"/>
            <a:ext cx="78048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927" name="Oval 39"/>
          <p:cNvSpPr/>
          <p:nvPr/>
        </p:nvSpPr>
        <p:spPr>
          <a:xfrm>
            <a:off x="4498920" y="1805040"/>
            <a:ext cx="6930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Địachỉ</a:t>
            </a:r>
            <a:endParaRPr b="0" lang="vi-VN" sz="1100" spc="-1" strike="noStrike">
              <a:solidFill>
                <a:srgbClr val="000000"/>
              </a:solidFill>
              <a:latin typeface="Arial"/>
            </a:endParaRPr>
          </a:p>
        </p:txBody>
      </p:sp>
      <p:sp>
        <p:nvSpPr>
          <p:cNvPr id="928" name="Oval 40"/>
          <p:cNvSpPr/>
          <p:nvPr/>
        </p:nvSpPr>
        <p:spPr>
          <a:xfrm>
            <a:off x="5235480" y="1701720"/>
            <a:ext cx="1164600" cy="30564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Ngày bắt đầu</a:t>
            </a:r>
            <a:endParaRPr b="0" lang="vi-VN" sz="1100" spc="-1" strike="noStrike">
              <a:solidFill>
                <a:srgbClr val="000000"/>
              </a:solidFill>
              <a:latin typeface="Arial"/>
            </a:endParaRPr>
          </a:p>
        </p:txBody>
      </p:sp>
      <p:sp>
        <p:nvSpPr>
          <p:cNvPr id="929" name="Oval 41"/>
          <p:cNvSpPr/>
          <p:nvPr/>
        </p:nvSpPr>
        <p:spPr>
          <a:xfrm>
            <a:off x="4975200" y="4145040"/>
            <a:ext cx="78048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Sốgiờ</a:t>
            </a:r>
            <a:endParaRPr b="0" lang="vi-VN" sz="1100" spc="-1" strike="noStrike">
              <a:solidFill>
                <a:srgbClr val="000000"/>
              </a:solidFill>
              <a:latin typeface="Arial"/>
            </a:endParaRPr>
          </a:p>
        </p:txBody>
      </p:sp>
      <p:sp>
        <p:nvSpPr>
          <p:cNvPr id="930" name="Oval 42"/>
          <p:cNvSpPr/>
          <p:nvPr/>
        </p:nvSpPr>
        <p:spPr>
          <a:xfrm>
            <a:off x="654120" y="6070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931" name="Oval 43"/>
          <p:cNvSpPr/>
          <p:nvPr/>
        </p:nvSpPr>
        <p:spPr>
          <a:xfrm>
            <a:off x="1695600" y="6070680"/>
            <a:ext cx="10422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932" name="Oval 44"/>
          <p:cNvSpPr/>
          <p:nvPr/>
        </p:nvSpPr>
        <p:spPr>
          <a:xfrm>
            <a:off x="2867040" y="6070680"/>
            <a:ext cx="91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933" name="Oval 45"/>
          <p:cNvSpPr/>
          <p:nvPr/>
        </p:nvSpPr>
        <p:spPr>
          <a:xfrm>
            <a:off x="5483160" y="5881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934" name="Oval 46"/>
          <p:cNvSpPr/>
          <p:nvPr/>
        </p:nvSpPr>
        <p:spPr>
          <a:xfrm>
            <a:off x="6524640" y="5881680"/>
            <a:ext cx="9122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935" name="Oval 47"/>
          <p:cNvSpPr/>
          <p:nvPr/>
        </p:nvSpPr>
        <p:spPr>
          <a:xfrm>
            <a:off x="7566120" y="5881680"/>
            <a:ext cx="104220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r>
              <a:rPr b="0" lang="en-US" sz="1000" spc="-1" strike="noStrike">
                <a:solidFill>
                  <a:schemeClr val="dk1"/>
                </a:solidFill>
                <a:latin typeface="Times New Roman"/>
                <a:ea typeface="바탕"/>
              </a:rPr>
              <a:t> </a:t>
            </a:r>
            <a:endParaRPr b="0" lang="vi-VN" sz="1000" spc="-1" strike="noStrike">
              <a:solidFill>
                <a:srgbClr val="000000"/>
              </a:solidFill>
              <a:latin typeface="Arial"/>
            </a:endParaRPr>
          </a:p>
        </p:txBody>
      </p:sp>
      <p:sp>
        <p:nvSpPr>
          <p:cNvPr id="936" name="Line 48"/>
          <p:cNvSpPr/>
          <p:nvPr/>
        </p:nvSpPr>
        <p:spPr>
          <a:xfrm>
            <a:off x="1849320" y="2923920"/>
            <a:ext cx="649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937" name="Line 49"/>
          <p:cNvSpPr/>
          <p:nvPr/>
        </p:nvSpPr>
        <p:spPr>
          <a:xfrm>
            <a:off x="1326960" y="1600200"/>
            <a:ext cx="39204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38" name="Line 50"/>
          <p:cNvSpPr/>
          <p:nvPr/>
        </p:nvSpPr>
        <p:spPr>
          <a:xfrm flipH="1">
            <a:off x="1849320" y="1600200"/>
            <a:ext cx="2602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39" name="Line 51"/>
          <p:cNvSpPr/>
          <p:nvPr/>
        </p:nvSpPr>
        <p:spPr>
          <a:xfrm>
            <a:off x="2630160" y="2109600"/>
            <a:ext cx="13032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0" name="Line 52"/>
          <p:cNvSpPr/>
          <p:nvPr/>
        </p:nvSpPr>
        <p:spPr>
          <a:xfrm flipH="1">
            <a:off x="3020760" y="2211120"/>
            <a:ext cx="13176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1" name="Line 53"/>
          <p:cNvSpPr/>
          <p:nvPr/>
        </p:nvSpPr>
        <p:spPr>
          <a:xfrm flipH="1">
            <a:off x="3455640" y="2211120"/>
            <a:ext cx="52092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2" name="Line 54"/>
          <p:cNvSpPr/>
          <p:nvPr/>
        </p:nvSpPr>
        <p:spPr>
          <a:xfrm flipH="1">
            <a:off x="3628800" y="2109600"/>
            <a:ext cx="91296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3" name="Line 55"/>
          <p:cNvSpPr/>
          <p:nvPr/>
        </p:nvSpPr>
        <p:spPr>
          <a:xfrm flipH="1">
            <a:off x="5495760" y="2008080"/>
            <a:ext cx="260280" cy="306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4" name="Line 56"/>
          <p:cNvSpPr/>
          <p:nvPr/>
        </p:nvSpPr>
        <p:spPr>
          <a:xfrm>
            <a:off x="6669000" y="2414520"/>
            <a:ext cx="390600" cy="406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5" name="Line 57"/>
          <p:cNvSpPr/>
          <p:nvPr/>
        </p:nvSpPr>
        <p:spPr>
          <a:xfrm>
            <a:off x="7319880" y="2314440"/>
            <a:ext cx="3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6" name="Line 58"/>
          <p:cNvSpPr/>
          <p:nvPr/>
        </p:nvSpPr>
        <p:spPr>
          <a:xfrm flipH="1">
            <a:off x="7580160" y="2441520"/>
            <a:ext cx="473040" cy="379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7" name="Line 59"/>
          <p:cNvSpPr/>
          <p:nvPr/>
        </p:nvSpPr>
        <p:spPr>
          <a:xfrm>
            <a:off x="5367240" y="4449600"/>
            <a:ext cx="360" cy="204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8" name="Line 60"/>
          <p:cNvSpPr/>
          <p:nvPr/>
        </p:nvSpPr>
        <p:spPr>
          <a:xfrm flipH="1">
            <a:off x="1172880" y="5662440"/>
            <a:ext cx="6526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49" name="Line 61"/>
          <p:cNvSpPr/>
          <p:nvPr/>
        </p:nvSpPr>
        <p:spPr>
          <a:xfrm>
            <a:off x="2087280" y="5662440"/>
            <a:ext cx="128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50" name="Line 62"/>
          <p:cNvSpPr/>
          <p:nvPr/>
        </p:nvSpPr>
        <p:spPr>
          <a:xfrm>
            <a:off x="2215800" y="5662440"/>
            <a:ext cx="911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51" name="Line 63"/>
          <p:cNvSpPr/>
          <p:nvPr/>
        </p:nvSpPr>
        <p:spPr>
          <a:xfrm flipH="1">
            <a:off x="6134040" y="5576760"/>
            <a:ext cx="6523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52" name="Line 64"/>
          <p:cNvSpPr/>
          <p:nvPr/>
        </p:nvSpPr>
        <p:spPr>
          <a:xfrm flipH="1">
            <a:off x="7046640" y="5576760"/>
            <a:ext cx="1285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53" name="Line 65"/>
          <p:cNvSpPr/>
          <p:nvPr/>
        </p:nvSpPr>
        <p:spPr>
          <a:xfrm>
            <a:off x="7437240" y="5576760"/>
            <a:ext cx="52056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54" name="PlaceHolder 3"/>
          <p:cNvSpPr>
            <a:spLocks noGrp="1"/>
          </p:cNvSpPr>
          <p:nvPr>
            <p:ph type="dt" idx="164"/>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AB603787-2F71-4689-9896-2E376BF4F766}"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955" name="PlaceHolder 4"/>
          <p:cNvSpPr>
            <a:spLocks noGrp="1"/>
          </p:cNvSpPr>
          <p:nvPr>
            <p:ph type="ftr" idx="165"/>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956"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 name="PlaceHolder 1"/>
          <p:cNvSpPr>
            <a:spLocks noGrp="1"/>
          </p:cNvSpPr>
          <p:nvPr>
            <p:ph type="title"/>
          </p:nvPr>
        </p:nvSpPr>
        <p:spPr>
          <a:xfrm>
            <a:off x="457200" y="228600"/>
            <a:ext cx="8228880" cy="761400"/>
          </a:xfrm>
          <a:prstGeom prst="rect">
            <a:avLst/>
          </a:prstGeom>
          <a:noFill/>
          <a:ln w="9360">
            <a:noFill/>
          </a:ln>
        </p:spPr>
        <p:txBody>
          <a:bodyPr numCol="1" spcCol="0" lIns="0" rIns="0" tIns="45720" bIns="0" anchor="b">
            <a:noAutofit/>
          </a:bodyPr>
          <a:p>
            <a:pPr indent="0">
              <a:lnSpc>
                <a:spcPct val="100000"/>
              </a:lnSpc>
              <a:buNone/>
              <a:tabLst>
                <a:tab algn="l" pos="0"/>
              </a:tabLst>
            </a:pPr>
            <a:r>
              <a:rPr b="1" i="1" lang="en-US" sz="2400" spc="-1" strike="noStrike">
                <a:solidFill>
                  <a:schemeClr val="dk2"/>
                </a:solidFill>
                <a:latin typeface="Calibri"/>
              </a:rPr>
              <a:t>Ví dụ</a:t>
            </a:r>
            <a:endParaRPr b="0" lang="vi-VN" sz="2400" spc="-1" strike="noStrike">
              <a:solidFill>
                <a:srgbClr val="000000"/>
              </a:solidFill>
              <a:latin typeface="Arial"/>
            </a:endParaRPr>
          </a:p>
        </p:txBody>
      </p:sp>
      <p:sp>
        <p:nvSpPr>
          <p:cNvPr id="958" name="PlaceHolder 2"/>
          <p:cNvSpPr>
            <a:spLocks noGrp="1"/>
          </p:cNvSpPr>
          <p:nvPr>
            <p:ph type="sldNum" idx="166"/>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480648B8-86EB-422E-B89D-1AE78FF6D2D4}"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959" name="Line 3"/>
          <p:cNvSpPr/>
          <p:nvPr/>
        </p:nvSpPr>
        <p:spPr>
          <a:xfrm>
            <a:off x="2109600" y="2314440"/>
            <a:ext cx="5205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60" name="Rectangle 4"/>
          <p:cNvSpPr/>
          <p:nvPr/>
        </p:nvSpPr>
        <p:spPr>
          <a:xfrm>
            <a:off x="2498760" y="2820960"/>
            <a:ext cx="156456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NHÂNVIÊN</a:t>
            </a:r>
            <a:endParaRPr b="0" lang="vi-VN" sz="1200" spc="-1" strike="noStrike">
              <a:solidFill>
                <a:srgbClr val="000000"/>
              </a:solidFill>
              <a:latin typeface="Arial"/>
            </a:endParaRPr>
          </a:p>
        </p:txBody>
      </p:sp>
      <p:sp>
        <p:nvSpPr>
          <p:cNvPr id="961" name="Rectangle 5"/>
          <p:cNvSpPr/>
          <p:nvPr/>
        </p:nvSpPr>
        <p:spPr>
          <a:xfrm>
            <a:off x="6669000" y="2820960"/>
            <a:ext cx="117072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ĐƠNVỊ</a:t>
            </a:r>
            <a:endParaRPr b="0" lang="vi-VN" sz="1200" spc="-1" strike="noStrike">
              <a:solidFill>
                <a:srgbClr val="000000"/>
              </a:solidFill>
              <a:latin typeface="Arial"/>
            </a:endParaRPr>
          </a:p>
        </p:txBody>
      </p:sp>
      <p:sp>
        <p:nvSpPr>
          <p:cNvPr id="962" name="Rectangle 6"/>
          <p:cNvSpPr/>
          <p:nvPr/>
        </p:nvSpPr>
        <p:spPr>
          <a:xfrm>
            <a:off x="1447920" y="5257800"/>
            <a:ext cx="1563120" cy="405720"/>
          </a:xfrm>
          <a:prstGeom prst="rect">
            <a:avLst/>
          </a:prstGeom>
          <a:solidFill>
            <a:srgbClr val="ffffff"/>
          </a:solidFill>
          <a:ln w="38100">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CON</a:t>
            </a:r>
            <a:endParaRPr b="0" lang="vi-VN" sz="1200" spc="-1" strike="noStrike">
              <a:solidFill>
                <a:srgbClr val="000000"/>
              </a:solidFill>
              <a:latin typeface="Arial"/>
            </a:endParaRPr>
          </a:p>
        </p:txBody>
      </p:sp>
      <p:sp>
        <p:nvSpPr>
          <p:cNvPr id="963" name="Rectangle 7"/>
          <p:cNvSpPr/>
          <p:nvPr/>
        </p:nvSpPr>
        <p:spPr>
          <a:xfrm>
            <a:off x="6654960" y="5168880"/>
            <a:ext cx="1302480" cy="407160"/>
          </a:xfrm>
          <a:prstGeom prst="rect">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DỰÁN</a:t>
            </a:r>
            <a:endParaRPr b="0" lang="vi-VN" sz="1200" spc="-1" strike="noStrike">
              <a:solidFill>
                <a:srgbClr val="000000"/>
              </a:solidFill>
              <a:latin typeface="Arial"/>
            </a:endParaRPr>
          </a:p>
        </p:txBody>
      </p:sp>
      <p:sp>
        <p:nvSpPr>
          <p:cNvPr id="964" name="AutoShape 8"/>
          <p:cNvSpPr/>
          <p:nvPr/>
        </p:nvSpPr>
        <p:spPr>
          <a:xfrm>
            <a:off x="4452840" y="2211480"/>
            <a:ext cx="1432800" cy="40716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Quảnlý</a:t>
            </a:r>
            <a:endParaRPr b="0" lang="vi-VN" sz="1100" spc="-1" strike="noStrike">
              <a:solidFill>
                <a:srgbClr val="000000"/>
              </a:solidFill>
              <a:latin typeface="Arial"/>
            </a:endParaRPr>
          </a:p>
        </p:txBody>
      </p:sp>
      <p:sp>
        <p:nvSpPr>
          <p:cNvPr id="965" name="AutoShape 9"/>
          <p:cNvSpPr/>
          <p:nvPr/>
        </p:nvSpPr>
        <p:spPr>
          <a:xfrm>
            <a:off x="4584600" y="3433680"/>
            <a:ext cx="1561320" cy="405720"/>
          </a:xfrm>
          <a:prstGeom prst="diamond">
            <a:avLst/>
          </a:prstGeom>
          <a:solidFill>
            <a:srgbClr val="ffffff"/>
          </a:solidFill>
          <a:ln w="9525">
            <a:solidFill>
              <a:srgbClr val="000000"/>
            </a:solidFill>
            <a:miter/>
          </a:ln>
        </p:spPr>
        <p:style>
          <a:lnRef idx="0"/>
          <a:fillRef idx="0"/>
          <a:effectRef idx="0"/>
          <a:fontRef idx="minor"/>
        </p:style>
        <p:txBody>
          <a:bodyPr lIns="0" rIns="0" tIns="45000" bIns="45000" anchor="t">
            <a:noAutofit/>
          </a:bodyPr>
          <a:p>
            <a:pPr algn="ctr">
              <a:lnSpc>
                <a:spcPct val="100000"/>
              </a:lnSpc>
              <a:spcBef>
                <a:spcPts val="499"/>
              </a:spcBef>
            </a:pPr>
            <a:r>
              <a:rPr b="0" lang="en-US" sz="1000" spc="-1" strike="noStrike">
                <a:solidFill>
                  <a:schemeClr val="dk1"/>
                </a:solidFill>
                <a:latin typeface="Times New Roman"/>
                <a:ea typeface="바탕"/>
              </a:rPr>
              <a:t>Làmviệccho</a:t>
            </a:r>
            <a:endParaRPr b="0" lang="vi-VN" sz="1000" spc="-1" strike="noStrike">
              <a:solidFill>
                <a:srgbClr val="000000"/>
              </a:solidFill>
              <a:latin typeface="Arial"/>
            </a:endParaRPr>
          </a:p>
        </p:txBody>
      </p:sp>
      <p:sp>
        <p:nvSpPr>
          <p:cNvPr id="966" name="AutoShape 10"/>
          <p:cNvSpPr/>
          <p:nvPr/>
        </p:nvSpPr>
        <p:spPr>
          <a:xfrm>
            <a:off x="6477120" y="4038480"/>
            <a:ext cx="1635840" cy="5090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Kiểm soát</a:t>
            </a:r>
            <a:endParaRPr b="0" lang="vi-VN" sz="1100" spc="-1" strike="noStrike">
              <a:solidFill>
                <a:srgbClr val="000000"/>
              </a:solidFill>
              <a:latin typeface="Arial"/>
            </a:endParaRPr>
          </a:p>
        </p:txBody>
      </p:sp>
      <p:sp>
        <p:nvSpPr>
          <p:cNvPr id="967" name="AutoShape 11"/>
          <p:cNvSpPr/>
          <p:nvPr/>
        </p:nvSpPr>
        <p:spPr>
          <a:xfrm>
            <a:off x="4676760" y="4654440"/>
            <a:ext cx="1370880" cy="6026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499"/>
              </a:spcBef>
            </a:pPr>
            <a:r>
              <a:rPr b="0" lang="en-US" sz="1000" spc="-1" strike="noStrike">
                <a:solidFill>
                  <a:schemeClr val="dk1"/>
                </a:solidFill>
                <a:latin typeface="Times New Roman"/>
                <a:ea typeface="바탕"/>
              </a:rPr>
              <a:t>Làm việc trên</a:t>
            </a:r>
            <a:endParaRPr b="0" lang="vi-VN" sz="1000" spc="-1" strike="noStrike">
              <a:solidFill>
                <a:srgbClr val="000000"/>
              </a:solidFill>
              <a:latin typeface="Arial"/>
            </a:endParaRPr>
          </a:p>
        </p:txBody>
      </p:sp>
      <p:sp>
        <p:nvSpPr>
          <p:cNvPr id="968" name="AutoShape 12"/>
          <p:cNvSpPr/>
          <p:nvPr/>
        </p:nvSpPr>
        <p:spPr>
          <a:xfrm>
            <a:off x="457200" y="4038480"/>
            <a:ext cx="1561320" cy="509040"/>
          </a:xfrm>
          <a:prstGeom prst="diamond">
            <a:avLst/>
          </a:prstGeom>
          <a:solidFill>
            <a:srgbClr val="ffffff"/>
          </a:solidFill>
          <a:ln w="9525">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Giám sát</a:t>
            </a:r>
            <a:endParaRPr b="0" lang="vi-VN" sz="1100" spc="-1" strike="noStrike">
              <a:solidFill>
                <a:srgbClr val="000000"/>
              </a:solidFill>
              <a:latin typeface="Arial"/>
            </a:endParaRPr>
          </a:p>
        </p:txBody>
      </p:sp>
      <p:sp>
        <p:nvSpPr>
          <p:cNvPr id="969" name="AutoShape 13"/>
          <p:cNvSpPr/>
          <p:nvPr/>
        </p:nvSpPr>
        <p:spPr>
          <a:xfrm>
            <a:off x="2593800" y="3963960"/>
            <a:ext cx="1561320" cy="608760"/>
          </a:xfrm>
          <a:prstGeom prst="diamond">
            <a:avLst/>
          </a:prstGeom>
          <a:solidFill>
            <a:srgbClr val="ffffff"/>
          </a:solidFill>
          <a:ln w="38100">
            <a:solidFill>
              <a:srgbClr val="000000"/>
            </a:solidFill>
            <a:miter/>
          </a:ln>
        </p:spPr>
        <p:style>
          <a:lnRef idx="0"/>
          <a:fillRef idx="0"/>
          <a:effectRef idx="0"/>
          <a:fontRef idx="minor"/>
        </p:style>
        <p:txBody>
          <a:bodyPr lIns="90000" rIns="90000" tIns="45000" bIns="45000" anchor="t">
            <a:noAutofit/>
          </a:bodyPr>
          <a:p>
            <a:pPr algn="ctr">
              <a:lnSpc>
                <a:spcPct val="100000"/>
              </a:lnSpc>
              <a:spcBef>
                <a:spcPts val="601"/>
              </a:spcBef>
            </a:pPr>
            <a:r>
              <a:rPr b="0" lang="en-US" sz="1200" spc="-1" strike="noStrike">
                <a:solidFill>
                  <a:schemeClr val="dk1"/>
                </a:solidFill>
                <a:latin typeface="Times New Roman"/>
                <a:ea typeface="바탕"/>
              </a:rPr>
              <a:t>Có</a:t>
            </a:r>
            <a:endParaRPr b="0" lang="vi-VN" sz="1200" spc="-1" strike="noStrike">
              <a:solidFill>
                <a:srgbClr val="000000"/>
              </a:solidFill>
              <a:latin typeface="Arial"/>
            </a:endParaRPr>
          </a:p>
        </p:txBody>
      </p:sp>
      <p:sp>
        <p:nvSpPr>
          <p:cNvPr id="970" name="Line 14"/>
          <p:cNvSpPr/>
          <p:nvPr/>
        </p:nvSpPr>
        <p:spPr>
          <a:xfrm>
            <a:off x="3281040" y="2820960"/>
            <a:ext cx="36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971" name="Line 15"/>
          <p:cNvSpPr/>
          <p:nvPr/>
        </p:nvSpPr>
        <p:spPr>
          <a:xfrm flipV="1">
            <a:off x="4063680" y="2414520"/>
            <a:ext cx="389160" cy="406440"/>
          </a:xfrm>
          <a:prstGeom prst="line">
            <a:avLst/>
          </a:prstGeom>
          <a:ln w="317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2" name="Line 16"/>
          <p:cNvSpPr/>
          <p:nvPr/>
        </p:nvSpPr>
        <p:spPr>
          <a:xfrm>
            <a:off x="5886360" y="2414520"/>
            <a:ext cx="78264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3" name="Line 17"/>
          <p:cNvSpPr/>
          <p:nvPr/>
        </p:nvSpPr>
        <p:spPr>
          <a:xfrm>
            <a:off x="4063680" y="3228840"/>
            <a:ext cx="52092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4" name="Line 18"/>
          <p:cNvSpPr/>
          <p:nvPr/>
        </p:nvSpPr>
        <p:spPr>
          <a:xfrm flipV="1">
            <a:off x="6146640" y="3228840"/>
            <a:ext cx="522360" cy="4064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5" name="Line 19"/>
          <p:cNvSpPr/>
          <p:nvPr/>
        </p:nvSpPr>
        <p:spPr>
          <a:xfrm>
            <a:off x="3673440" y="3228840"/>
            <a:ext cx="1050840" cy="17240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6" name="Line 20"/>
          <p:cNvSpPr/>
          <p:nvPr/>
        </p:nvSpPr>
        <p:spPr>
          <a:xfrm>
            <a:off x="6019560" y="4952880"/>
            <a:ext cx="1049400" cy="21600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7" name="Line 21"/>
          <p:cNvSpPr/>
          <p:nvPr/>
        </p:nvSpPr>
        <p:spPr>
          <a:xfrm flipV="1">
            <a:off x="533160" y="3228840"/>
            <a:ext cx="1965240" cy="10382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8" name="Line 22"/>
          <p:cNvSpPr/>
          <p:nvPr/>
        </p:nvSpPr>
        <p:spPr>
          <a:xfrm flipV="1">
            <a:off x="1981080" y="3228840"/>
            <a:ext cx="779400" cy="111420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79" name="Line 23"/>
          <p:cNvSpPr/>
          <p:nvPr/>
        </p:nvSpPr>
        <p:spPr>
          <a:xfrm>
            <a:off x="3281040" y="3228840"/>
            <a:ext cx="59040" cy="7351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80" name="Line 24"/>
          <p:cNvSpPr/>
          <p:nvPr/>
        </p:nvSpPr>
        <p:spPr>
          <a:xfrm flipH="1">
            <a:off x="2179440" y="4566960"/>
            <a:ext cx="1160640" cy="68904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81" name="Line 25"/>
          <p:cNvSpPr/>
          <p:nvPr/>
        </p:nvSpPr>
        <p:spPr>
          <a:xfrm>
            <a:off x="7189560" y="3228840"/>
            <a:ext cx="130320" cy="8143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82" name="Line 26"/>
          <p:cNvSpPr/>
          <p:nvPr/>
        </p:nvSpPr>
        <p:spPr>
          <a:xfrm>
            <a:off x="7319880" y="4552920"/>
            <a:ext cx="81000" cy="615960"/>
          </a:xfrm>
          <a:prstGeom prst="line">
            <a:avLst/>
          </a:prstGeom>
          <a:ln w="38100">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983" name="Oval 27"/>
          <p:cNvSpPr/>
          <p:nvPr/>
        </p:nvSpPr>
        <p:spPr>
          <a:xfrm>
            <a:off x="6316560" y="2009880"/>
            <a:ext cx="64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984" name="Oval 28"/>
          <p:cNvSpPr/>
          <p:nvPr/>
        </p:nvSpPr>
        <p:spPr>
          <a:xfrm>
            <a:off x="7010280" y="2008080"/>
            <a:ext cx="650160" cy="30564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985" name="Oval 29"/>
          <p:cNvSpPr/>
          <p:nvPr/>
        </p:nvSpPr>
        <p:spPr>
          <a:xfrm>
            <a:off x="7704000" y="2033640"/>
            <a:ext cx="905760" cy="407160"/>
          </a:xfrm>
          <a:prstGeom prst="ellipse">
            <a:avLst/>
          </a:prstGeom>
          <a:solidFill>
            <a:srgbClr val="ffffff"/>
          </a:solidFill>
          <a:ln w="38100">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endParaRPr b="0" lang="vi-VN" sz="1100" spc="-1" strike="noStrike">
              <a:solidFill>
                <a:srgbClr val="000000"/>
              </a:solidFill>
              <a:latin typeface="Arial"/>
            </a:endParaRPr>
          </a:p>
        </p:txBody>
      </p:sp>
      <p:sp>
        <p:nvSpPr>
          <p:cNvPr id="986" name="Oval 30"/>
          <p:cNvSpPr/>
          <p:nvPr/>
        </p:nvSpPr>
        <p:spPr>
          <a:xfrm>
            <a:off x="1459080" y="2008080"/>
            <a:ext cx="78048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Họtên</a:t>
            </a:r>
            <a:endParaRPr b="0" lang="vi-VN" sz="1100" spc="-1" strike="noStrike">
              <a:solidFill>
                <a:srgbClr val="000000"/>
              </a:solidFill>
              <a:latin typeface="Arial"/>
            </a:endParaRPr>
          </a:p>
        </p:txBody>
      </p:sp>
      <p:sp>
        <p:nvSpPr>
          <p:cNvPr id="987" name="Oval 31"/>
          <p:cNvSpPr/>
          <p:nvPr/>
        </p:nvSpPr>
        <p:spPr>
          <a:xfrm>
            <a:off x="1066680" y="2720880"/>
            <a:ext cx="781920" cy="40716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 số</a:t>
            </a:r>
            <a:endParaRPr b="0" lang="vi-VN" sz="1100" spc="-1" strike="noStrike">
              <a:solidFill>
                <a:srgbClr val="000000"/>
              </a:solidFill>
              <a:latin typeface="Arial"/>
            </a:endParaRPr>
          </a:p>
        </p:txBody>
      </p:sp>
      <p:sp>
        <p:nvSpPr>
          <p:cNvPr id="988" name="Oval 32"/>
          <p:cNvSpPr/>
          <p:nvPr/>
        </p:nvSpPr>
        <p:spPr>
          <a:xfrm>
            <a:off x="936720" y="1295280"/>
            <a:ext cx="91224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Họđệm</a:t>
            </a:r>
            <a:endParaRPr b="0" lang="vi-VN" sz="1100" spc="-1" strike="noStrike">
              <a:solidFill>
                <a:srgbClr val="000000"/>
              </a:solidFill>
              <a:latin typeface="Arial"/>
            </a:endParaRPr>
          </a:p>
        </p:txBody>
      </p:sp>
      <p:sp>
        <p:nvSpPr>
          <p:cNvPr id="989" name="Oval 33"/>
          <p:cNvSpPr/>
          <p:nvPr/>
        </p:nvSpPr>
        <p:spPr>
          <a:xfrm>
            <a:off x="1849320" y="1295280"/>
            <a:ext cx="78048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990" name="Oval 34"/>
          <p:cNvSpPr/>
          <p:nvPr/>
        </p:nvSpPr>
        <p:spPr>
          <a:xfrm>
            <a:off x="2066760" y="1701720"/>
            <a:ext cx="953280" cy="407160"/>
          </a:xfrm>
          <a:prstGeom prst="ellipse">
            <a:avLst/>
          </a:prstGeom>
          <a:solidFill>
            <a:srgbClr val="ffffff"/>
          </a:solidFill>
          <a:ln w="9525">
            <a:solidFill>
              <a:srgbClr val="000000"/>
            </a:solidFill>
            <a:round/>
          </a:ln>
        </p:spPr>
        <p:style>
          <a:lnRef idx="0"/>
          <a:fillRef idx="0"/>
          <a:effectRef idx="0"/>
          <a:fontRef idx="minor"/>
        </p:style>
        <p:txBody>
          <a:bodyPr lIns="0" rIns="0" tIns="10800" bIns="108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991" name="Oval 35"/>
          <p:cNvSpPr/>
          <p:nvPr/>
        </p:nvSpPr>
        <p:spPr>
          <a:xfrm>
            <a:off x="3801960" y="1805040"/>
            <a:ext cx="696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Lương</a:t>
            </a:r>
            <a:endParaRPr b="0" lang="vi-VN" sz="1100" spc="-1" strike="noStrike">
              <a:solidFill>
                <a:srgbClr val="000000"/>
              </a:solidFill>
              <a:latin typeface="Arial"/>
            </a:endParaRPr>
          </a:p>
        </p:txBody>
      </p:sp>
      <p:sp>
        <p:nvSpPr>
          <p:cNvPr id="992" name="Oval 36"/>
          <p:cNvSpPr/>
          <p:nvPr/>
        </p:nvSpPr>
        <p:spPr>
          <a:xfrm>
            <a:off x="3021120" y="1805040"/>
            <a:ext cx="78048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993" name="Oval 37"/>
          <p:cNvSpPr/>
          <p:nvPr/>
        </p:nvSpPr>
        <p:spPr>
          <a:xfrm>
            <a:off x="4498920" y="1805040"/>
            <a:ext cx="6930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Địachỉ</a:t>
            </a:r>
            <a:endParaRPr b="0" lang="vi-VN" sz="1100" spc="-1" strike="noStrike">
              <a:solidFill>
                <a:srgbClr val="000000"/>
              </a:solidFill>
              <a:latin typeface="Arial"/>
            </a:endParaRPr>
          </a:p>
        </p:txBody>
      </p:sp>
      <p:sp>
        <p:nvSpPr>
          <p:cNvPr id="994" name="Oval 38"/>
          <p:cNvSpPr/>
          <p:nvPr/>
        </p:nvSpPr>
        <p:spPr>
          <a:xfrm>
            <a:off x="5235480" y="1701720"/>
            <a:ext cx="1164600" cy="30564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Ngày bắt đầu</a:t>
            </a:r>
            <a:endParaRPr b="0" lang="vi-VN" sz="1100" spc="-1" strike="noStrike">
              <a:solidFill>
                <a:srgbClr val="000000"/>
              </a:solidFill>
              <a:latin typeface="Arial"/>
            </a:endParaRPr>
          </a:p>
        </p:txBody>
      </p:sp>
      <p:sp>
        <p:nvSpPr>
          <p:cNvPr id="995" name="Oval 39"/>
          <p:cNvSpPr/>
          <p:nvPr/>
        </p:nvSpPr>
        <p:spPr>
          <a:xfrm>
            <a:off x="4975200" y="4145040"/>
            <a:ext cx="780480" cy="30420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Sốgiờ</a:t>
            </a:r>
            <a:endParaRPr b="0" lang="vi-VN" sz="1100" spc="-1" strike="noStrike">
              <a:solidFill>
                <a:srgbClr val="000000"/>
              </a:solidFill>
              <a:latin typeface="Arial"/>
            </a:endParaRPr>
          </a:p>
        </p:txBody>
      </p:sp>
      <p:sp>
        <p:nvSpPr>
          <p:cNvPr id="996" name="Oval 40"/>
          <p:cNvSpPr/>
          <p:nvPr/>
        </p:nvSpPr>
        <p:spPr>
          <a:xfrm>
            <a:off x="654120" y="6070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Tên</a:t>
            </a:r>
            <a:endParaRPr b="0" lang="vi-VN" sz="1100" spc="-1" strike="noStrike">
              <a:solidFill>
                <a:srgbClr val="000000"/>
              </a:solidFill>
              <a:latin typeface="Arial"/>
            </a:endParaRPr>
          </a:p>
        </p:txBody>
      </p:sp>
      <p:sp>
        <p:nvSpPr>
          <p:cNvPr id="997" name="Oval 41"/>
          <p:cNvSpPr/>
          <p:nvPr/>
        </p:nvSpPr>
        <p:spPr>
          <a:xfrm>
            <a:off x="1695600" y="6070680"/>
            <a:ext cx="104220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Ngàysinh</a:t>
            </a:r>
            <a:endParaRPr b="0" lang="vi-VN" sz="1100" spc="-1" strike="noStrike">
              <a:solidFill>
                <a:srgbClr val="000000"/>
              </a:solidFill>
              <a:latin typeface="Arial"/>
            </a:endParaRPr>
          </a:p>
        </p:txBody>
      </p:sp>
      <p:sp>
        <p:nvSpPr>
          <p:cNvPr id="998" name="Oval 42"/>
          <p:cNvSpPr/>
          <p:nvPr/>
        </p:nvSpPr>
        <p:spPr>
          <a:xfrm>
            <a:off x="2867040" y="6070680"/>
            <a:ext cx="912240" cy="405720"/>
          </a:xfrm>
          <a:prstGeom prst="ellipse">
            <a:avLst/>
          </a:prstGeom>
          <a:solidFill>
            <a:srgbClr val="ffffff"/>
          </a:solidFill>
          <a:ln w="9525">
            <a:solidFill>
              <a:srgbClr val="000000"/>
            </a:solidFill>
            <a:round/>
          </a:ln>
        </p:spPr>
        <p:style>
          <a:lnRef idx="0"/>
          <a:fillRef idx="0"/>
          <a:effectRef idx="0"/>
          <a:fontRef idx="minor"/>
        </p:style>
        <p:txBody>
          <a:bodyPr lIns="0" rIns="0" tIns="45000" bIns="45000" anchor="t">
            <a:noAutofit/>
          </a:bodyPr>
          <a:p>
            <a:pPr algn="ctr">
              <a:lnSpc>
                <a:spcPct val="100000"/>
              </a:lnSpc>
              <a:spcBef>
                <a:spcPts val="550"/>
              </a:spcBef>
            </a:pPr>
            <a:r>
              <a:rPr b="0" lang="en-US" sz="1100" spc="-1" strike="noStrike">
                <a:solidFill>
                  <a:schemeClr val="dk1"/>
                </a:solidFill>
                <a:latin typeface="Times New Roman"/>
                <a:ea typeface="바탕"/>
              </a:rPr>
              <a:t>Giớitính</a:t>
            </a:r>
            <a:endParaRPr b="0" lang="vi-VN" sz="1100" spc="-1" strike="noStrike">
              <a:solidFill>
                <a:srgbClr val="000000"/>
              </a:solidFill>
              <a:latin typeface="Arial"/>
            </a:endParaRPr>
          </a:p>
        </p:txBody>
      </p:sp>
      <p:sp>
        <p:nvSpPr>
          <p:cNvPr id="999" name="Oval 43"/>
          <p:cNvSpPr/>
          <p:nvPr/>
        </p:nvSpPr>
        <p:spPr>
          <a:xfrm>
            <a:off x="5483160" y="5881680"/>
            <a:ext cx="9104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Tên </a:t>
            </a:r>
            <a:endParaRPr b="0" lang="vi-VN" sz="1100" spc="-1" strike="noStrike">
              <a:solidFill>
                <a:srgbClr val="000000"/>
              </a:solidFill>
              <a:latin typeface="Arial"/>
            </a:endParaRPr>
          </a:p>
        </p:txBody>
      </p:sp>
      <p:sp>
        <p:nvSpPr>
          <p:cNvPr id="1000" name="Oval 44"/>
          <p:cNvSpPr/>
          <p:nvPr/>
        </p:nvSpPr>
        <p:spPr>
          <a:xfrm>
            <a:off x="6524640" y="5881680"/>
            <a:ext cx="91224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u="sng">
                <a:solidFill>
                  <a:schemeClr val="dk1"/>
                </a:solidFill>
                <a:uFillTx/>
                <a:latin typeface="Times New Roman"/>
                <a:ea typeface="바탕"/>
              </a:rPr>
              <a:t>Mãsố</a:t>
            </a:r>
            <a:endParaRPr b="0" lang="vi-VN" sz="1100" spc="-1" strike="noStrike">
              <a:solidFill>
                <a:srgbClr val="000000"/>
              </a:solidFill>
              <a:latin typeface="Arial"/>
            </a:endParaRPr>
          </a:p>
        </p:txBody>
      </p:sp>
      <p:sp>
        <p:nvSpPr>
          <p:cNvPr id="1001" name="Oval 45"/>
          <p:cNvSpPr/>
          <p:nvPr/>
        </p:nvSpPr>
        <p:spPr>
          <a:xfrm>
            <a:off x="7566120" y="5881680"/>
            <a:ext cx="1042200" cy="405720"/>
          </a:xfrm>
          <a:prstGeom prst="ellipse">
            <a:avLst/>
          </a:prstGeom>
          <a:solidFill>
            <a:srgbClr val="ffffff"/>
          </a:solidFill>
          <a:ln w="9525">
            <a:solidFill>
              <a:srgbClr val="000000"/>
            </a:solidFill>
            <a:round/>
          </a:ln>
        </p:spPr>
        <p:style>
          <a:lnRef idx="0"/>
          <a:fillRef idx="0"/>
          <a:effectRef idx="0"/>
          <a:fontRef idx="minor"/>
        </p:style>
        <p:txBody>
          <a:bodyPr lIns="90000" rIns="90000" tIns="45000" bIns="45000" anchor="t">
            <a:noAutofit/>
          </a:bodyPr>
          <a:p>
            <a:pPr algn="ctr">
              <a:lnSpc>
                <a:spcPct val="100000"/>
              </a:lnSpc>
              <a:spcBef>
                <a:spcPts val="550"/>
              </a:spcBef>
            </a:pPr>
            <a:r>
              <a:rPr b="0" lang="en-US" sz="1100" spc="-1" strike="noStrike">
                <a:solidFill>
                  <a:schemeClr val="dk1"/>
                </a:solidFill>
                <a:latin typeface="Times New Roman"/>
                <a:ea typeface="바탕"/>
              </a:rPr>
              <a:t>Địađiểm</a:t>
            </a:r>
            <a:r>
              <a:rPr b="0" lang="en-US" sz="1000" spc="-1" strike="noStrike">
                <a:solidFill>
                  <a:schemeClr val="dk1"/>
                </a:solidFill>
                <a:latin typeface="Times New Roman"/>
                <a:ea typeface="바탕"/>
              </a:rPr>
              <a:t> </a:t>
            </a:r>
            <a:endParaRPr b="0" lang="vi-VN" sz="1000" spc="-1" strike="noStrike">
              <a:solidFill>
                <a:srgbClr val="000000"/>
              </a:solidFill>
              <a:latin typeface="Arial"/>
            </a:endParaRPr>
          </a:p>
        </p:txBody>
      </p:sp>
      <p:sp>
        <p:nvSpPr>
          <p:cNvPr id="1002" name="Line 46"/>
          <p:cNvSpPr/>
          <p:nvPr/>
        </p:nvSpPr>
        <p:spPr>
          <a:xfrm>
            <a:off x="1849320" y="2923920"/>
            <a:ext cx="649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0" lang="zxx" sz="1800" spc="-1" strike="noStrike">
              <a:solidFill>
                <a:schemeClr val="dk1"/>
              </a:solidFill>
              <a:latin typeface="Tahoma"/>
            </a:endParaRPr>
          </a:p>
        </p:txBody>
      </p:sp>
      <p:sp>
        <p:nvSpPr>
          <p:cNvPr id="1003" name="Line 47"/>
          <p:cNvSpPr/>
          <p:nvPr/>
        </p:nvSpPr>
        <p:spPr>
          <a:xfrm>
            <a:off x="1326960" y="1600200"/>
            <a:ext cx="39204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4" name="Line 48"/>
          <p:cNvSpPr/>
          <p:nvPr/>
        </p:nvSpPr>
        <p:spPr>
          <a:xfrm flipH="1">
            <a:off x="1849320" y="1600200"/>
            <a:ext cx="2602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5" name="Line 49"/>
          <p:cNvSpPr/>
          <p:nvPr/>
        </p:nvSpPr>
        <p:spPr>
          <a:xfrm>
            <a:off x="2630160" y="2109600"/>
            <a:ext cx="13032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6" name="Line 50"/>
          <p:cNvSpPr/>
          <p:nvPr/>
        </p:nvSpPr>
        <p:spPr>
          <a:xfrm flipH="1">
            <a:off x="3020760" y="2211120"/>
            <a:ext cx="13176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7" name="Line 51"/>
          <p:cNvSpPr/>
          <p:nvPr/>
        </p:nvSpPr>
        <p:spPr>
          <a:xfrm flipH="1">
            <a:off x="3455640" y="2211120"/>
            <a:ext cx="520920" cy="609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8" name="Line 52"/>
          <p:cNvSpPr/>
          <p:nvPr/>
        </p:nvSpPr>
        <p:spPr>
          <a:xfrm flipH="1">
            <a:off x="3628800" y="2109600"/>
            <a:ext cx="912960" cy="711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09" name="Line 53"/>
          <p:cNvSpPr/>
          <p:nvPr/>
        </p:nvSpPr>
        <p:spPr>
          <a:xfrm flipH="1">
            <a:off x="5495760" y="2008080"/>
            <a:ext cx="260280" cy="30636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0" name="Line 54"/>
          <p:cNvSpPr/>
          <p:nvPr/>
        </p:nvSpPr>
        <p:spPr>
          <a:xfrm>
            <a:off x="6669000" y="2414520"/>
            <a:ext cx="390600" cy="406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1" name="Line 55"/>
          <p:cNvSpPr/>
          <p:nvPr/>
        </p:nvSpPr>
        <p:spPr>
          <a:xfrm>
            <a:off x="7319880" y="2314440"/>
            <a:ext cx="360" cy="5065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2" name="Line 56"/>
          <p:cNvSpPr/>
          <p:nvPr/>
        </p:nvSpPr>
        <p:spPr>
          <a:xfrm flipH="1">
            <a:off x="7580160" y="2441520"/>
            <a:ext cx="473040" cy="3794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3" name="Line 57"/>
          <p:cNvSpPr/>
          <p:nvPr/>
        </p:nvSpPr>
        <p:spPr>
          <a:xfrm>
            <a:off x="5367240" y="4449600"/>
            <a:ext cx="360" cy="2048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4" name="Line 58"/>
          <p:cNvSpPr/>
          <p:nvPr/>
        </p:nvSpPr>
        <p:spPr>
          <a:xfrm flipH="1">
            <a:off x="1172880" y="5662440"/>
            <a:ext cx="65268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5" name="Line 59"/>
          <p:cNvSpPr/>
          <p:nvPr/>
        </p:nvSpPr>
        <p:spPr>
          <a:xfrm>
            <a:off x="2087280" y="5662440"/>
            <a:ext cx="128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6" name="Line 60"/>
          <p:cNvSpPr/>
          <p:nvPr/>
        </p:nvSpPr>
        <p:spPr>
          <a:xfrm>
            <a:off x="2215800" y="5662440"/>
            <a:ext cx="911520" cy="4078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7" name="Line 61"/>
          <p:cNvSpPr/>
          <p:nvPr/>
        </p:nvSpPr>
        <p:spPr>
          <a:xfrm flipH="1">
            <a:off x="6134040" y="5576760"/>
            <a:ext cx="6523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8" name="Line 62"/>
          <p:cNvSpPr/>
          <p:nvPr/>
        </p:nvSpPr>
        <p:spPr>
          <a:xfrm flipH="1">
            <a:off x="7046640" y="5576760"/>
            <a:ext cx="12852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19" name="Line 63"/>
          <p:cNvSpPr/>
          <p:nvPr/>
        </p:nvSpPr>
        <p:spPr>
          <a:xfrm>
            <a:off x="7437240" y="5576760"/>
            <a:ext cx="520560" cy="30492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0" lang="zxx" sz="1800" spc="-1" strike="noStrike">
              <a:solidFill>
                <a:schemeClr val="dk1"/>
              </a:solidFill>
              <a:latin typeface="Tahoma"/>
            </a:endParaRPr>
          </a:p>
        </p:txBody>
      </p:sp>
      <p:sp>
        <p:nvSpPr>
          <p:cNvPr id="1020" name="Text Box 65"/>
          <p:cNvSpPr/>
          <p:nvPr/>
        </p:nvSpPr>
        <p:spPr>
          <a:xfrm>
            <a:off x="6332040" y="342900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(1,N)</a:t>
            </a:r>
            <a:endParaRPr b="0" lang="vi-VN" sz="1200" spc="-1" strike="noStrike">
              <a:solidFill>
                <a:srgbClr val="000000"/>
              </a:solidFill>
              <a:latin typeface="Arial"/>
            </a:endParaRPr>
          </a:p>
        </p:txBody>
      </p:sp>
      <p:sp>
        <p:nvSpPr>
          <p:cNvPr id="1021" name="Text Box 66"/>
          <p:cNvSpPr/>
          <p:nvPr/>
        </p:nvSpPr>
        <p:spPr>
          <a:xfrm>
            <a:off x="7403760" y="464832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(1,1)</a:t>
            </a:r>
            <a:endParaRPr b="0" lang="vi-VN" sz="1200" spc="-1" strike="noStrike">
              <a:solidFill>
                <a:srgbClr val="000000"/>
              </a:solidFill>
              <a:latin typeface="Arial"/>
            </a:endParaRPr>
          </a:p>
        </p:txBody>
      </p:sp>
      <p:sp>
        <p:nvSpPr>
          <p:cNvPr id="1022" name="Text Box 67"/>
          <p:cNvSpPr/>
          <p:nvPr/>
        </p:nvSpPr>
        <p:spPr>
          <a:xfrm>
            <a:off x="4279320" y="320040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(1,1)</a:t>
            </a:r>
            <a:endParaRPr b="0" lang="vi-VN" sz="1200" spc="-1" strike="noStrike">
              <a:solidFill>
                <a:srgbClr val="000000"/>
              </a:solidFill>
              <a:latin typeface="Arial"/>
            </a:endParaRPr>
          </a:p>
        </p:txBody>
      </p:sp>
      <p:sp>
        <p:nvSpPr>
          <p:cNvPr id="1023" name="Text Box 68"/>
          <p:cNvSpPr/>
          <p:nvPr/>
        </p:nvSpPr>
        <p:spPr>
          <a:xfrm>
            <a:off x="2450520" y="342900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(0,1)</a:t>
            </a:r>
            <a:endParaRPr b="0" lang="vi-VN" sz="1200" spc="-1" strike="noStrike">
              <a:solidFill>
                <a:srgbClr val="000000"/>
              </a:solidFill>
              <a:latin typeface="Arial"/>
            </a:endParaRPr>
          </a:p>
        </p:txBody>
      </p:sp>
      <p:sp>
        <p:nvSpPr>
          <p:cNvPr id="1024" name="Text Box 69"/>
          <p:cNvSpPr/>
          <p:nvPr/>
        </p:nvSpPr>
        <p:spPr>
          <a:xfrm>
            <a:off x="7246440" y="342900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(0,N)</a:t>
            </a:r>
            <a:endParaRPr b="0" lang="vi-VN" sz="1200" spc="-1" strike="noStrike">
              <a:solidFill>
                <a:srgbClr val="000000"/>
              </a:solidFill>
              <a:latin typeface="Arial"/>
            </a:endParaRPr>
          </a:p>
        </p:txBody>
      </p:sp>
      <p:sp>
        <p:nvSpPr>
          <p:cNvPr id="1025" name="Text Box 70"/>
          <p:cNvSpPr/>
          <p:nvPr/>
        </p:nvSpPr>
        <p:spPr>
          <a:xfrm>
            <a:off x="4122360" y="396252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(0,N)</a:t>
            </a:r>
            <a:endParaRPr b="0" lang="vi-VN" sz="1200" spc="-1" strike="noStrike">
              <a:solidFill>
                <a:srgbClr val="000000"/>
              </a:solidFill>
              <a:latin typeface="Arial"/>
            </a:endParaRPr>
          </a:p>
        </p:txBody>
      </p:sp>
      <p:sp>
        <p:nvSpPr>
          <p:cNvPr id="1026" name="Text Box 71"/>
          <p:cNvSpPr/>
          <p:nvPr/>
        </p:nvSpPr>
        <p:spPr>
          <a:xfrm>
            <a:off x="6179760" y="472428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(1,N)</a:t>
            </a:r>
            <a:endParaRPr b="0" lang="vi-VN" sz="1200" spc="-1" strike="noStrike">
              <a:solidFill>
                <a:srgbClr val="000000"/>
              </a:solidFill>
              <a:latin typeface="Arial"/>
            </a:endParaRPr>
          </a:p>
        </p:txBody>
      </p:sp>
      <p:sp>
        <p:nvSpPr>
          <p:cNvPr id="1027" name="Text Box 72"/>
          <p:cNvSpPr/>
          <p:nvPr/>
        </p:nvSpPr>
        <p:spPr>
          <a:xfrm>
            <a:off x="3207960" y="350532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(0,N)</a:t>
            </a:r>
            <a:endParaRPr b="0" lang="vi-VN" sz="1200" spc="-1" strike="noStrike">
              <a:solidFill>
                <a:srgbClr val="000000"/>
              </a:solidFill>
              <a:latin typeface="Arial"/>
            </a:endParaRPr>
          </a:p>
        </p:txBody>
      </p:sp>
      <p:sp>
        <p:nvSpPr>
          <p:cNvPr id="1028" name="Text Box 73"/>
          <p:cNvSpPr/>
          <p:nvPr/>
        </p:nvSpPr>
        <p:spPr>
          <a:xfrm>
            <a:off x="2755440" y="487692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(1,1)</a:t>
            </a:r>
            <a:endParaRPr b="0" lang="vi-VN" sz="1200" spc="-1" strike="noStrike">
              <a:solidFill>
                <a:srgbClr val="000000"/>
              </a:solidFill>
              <a:latin typeface="Arial"/>
            </a:endParaRPr>
          </a:p>
        </p:txBody>
      </p:sp>
      <p:sp>
        <p:nvSpPr>
          <p:cNvPr id="1029" name="Text Box 74"/>
          <p:cNvSpPr/>
          <p:nvPr/>
        </p:nvSpPr>
        <p:spPr>
          <a:xfrm>
            <a:off x="1988640" y="3124080"/>
            <a:ext cx="5158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(0,N)</a:t>
            </a:r>
            <a:endParaRPr b="0" lang="vi-VN" sz="1200" spc="-1" strike="noStrike">
              <a:solidFill>
                <a:srgbClr val="000000"/>
              </a:solidFill>
              <a:latin typeface="Arial"/>
            </a:endParaRPr>
          </a:p>
        </p:txBody>
      </p:sp>
      <p:sp>
        <p:nvSpPr>
          <p:cNvPr id="1030" name="Text Box 75"/>
          <p:cNvSpPr/>
          <p:nvPr/>
        </p:nvSpPr>
        <p:spPr>
          <a:xfrm>
            <a:off x="4203360" y="259092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(0,1)</a:t>
            </a:r>
            <a:endParaRPr b="0" lang="vi-VN" sz="1200" spc="-1" strike="noStrike">
              <a:solidFill>
                <a:srgbClr val="000000"/>
              </a:solidFill>
              <a:latin typeface="Arial"/>
            </a:endParaRPr>
          </a:p>
        </p:txBody>
      </p:sp>
      <p:sp>
        <p:nvSpPr>
          <p:cNvPr id="1031" name="Text Box 76"/>
          <p:cNvSpPr/>
          <p:nvPr/>
        </p:nvSpPr>
        <p:spPr>
          <a:xfrm>
            <a:off x="5879520" y="2590920"/>
            <a:ext cx="487080" cy="272520"/>
          </a:xfrm>
          <a:prstGeom prst="rect">
            <a:avLst/>
          </a:prstGeom>
          <a:noFill/>
          <a:ln w="1270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200" spc="-1" strike="noStrike">
                <a:solidFill>
                  <a:schemeClr val="dk1"/>
                </a:solidFill>
                <a:latin typeface="Tahoma"/>
              </a:rPr>
              <a:t>(1,1)</a:t>
            </a:r>
            <a:endParaRPr b="0" lang="vi-VN" sz="1200" spc="-1" strike="noStrike">
              <a:solidFill>
                <a:srgbClr val="000000"/>
              </a:solidFill>
              <a:latin typeface="Arial"/>
            </a:endParaRPr>
          </a:p>
        </p:txBody>
      </p:sp>
      <p:sp>
        <p:nvSpPr>
          <p:cNvPr id="1032" name="PlaceHolder 3"/>
          <p:cNvSpPr>
            <a:spLocks noGrp="1"/>
          </p:cNvSpPr>
          <p:nvPr>
            <p:ph type="dt" idx="167"/>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02B871F-65A0-4235-9955-6C3D8DB76E28}"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033" name="PlaceHolder 4"/>
          <p:cNvSpPr>
            <a:spLocks noGrp="1"/>
          </p:cNvSpPr>
          <p:nvPr>
            <p:ph type="ftr" idx="168"/>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034" name="Picture 3" descr=""/>
          <p:cNvPicPr/>
          <p:nvPr/>
        </p:nvPicPr>
        <p:blipFill>
          <a:blip r:embed="rId1"/>
          <a:stretch/>
        </p:blipFill>
        <p:spPr>
          <a:xfrm>
            <a:off x="0" y="990720"/>
            <a:ext cx="9071280" cy="53280"/>
          </a:xfrm>
          <a:prstGeom prst="rect">
            <a:avLst/>
          </a:prstGeom>
          <a:ln w="0">
            <a:noFill/>
          </a:ln>
        </p:spPr>
      </p:pic>
      <p:sp>
        <p:nvSpPr>
          <p:cNvPr id="1035" name="TextBox 81"/>
          <p:cNvSpPr/>
          <p:nvPr/>
        </p:nvSpPr>
        <p:spPr>
          <a:xfrm rot="20173800">
            <a:off x="928440" y="3407040"/>
            <a:ext cx="1214280" cy="2494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24"/>
              </a:spcBef>
            </a:pPr>
            <a:r>
              <a:rPr b="0" lang="en-US" sz="1050" spc="-1" strike="noStrike">
                <a:solidFill>
                  <a:schemeClr val="dk1"/>
                </a:solidFill>
                <a:latin typeface="Tahoma"/>
              </a:rPr>
              <a:t>(Người giám sát)</a:t>
            </a:r>
            <a:endParaRPr b="0" lang="vi-VN" sz="1050" spc="-1" strike="noStrike">
              <a:solidFill>
                <a:srgbClr val="000000"/>
              </a:solidFill>
              <a:latin typeface="Arial"/>
            </a:endParaRPr>
          </a:p>
        </p:txBody>
      </p:sp>
      <p:sp>
        <p:nvSpPr>
          <p:cNvPr id="1036" name="TextBox 83"/>
          <p:cNvSpPr/>
          <p:nvPr/>
        </p:nvSpPr>
        <p:spPr>
          <a:xfrm rot="18769200">
            <a:off x="1693800" y="3722040"/>
            <a:ext cx="991800" cy="2577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(Bị giám sát)</a:t>
            </a:r>
            <a:endParaRPr b="0" lang="vi-VN" sz="1100" spc="-1" strike="noStrike">
              <a:solidFill>
                <a:srgbClr val="000000"/>
              </a:solidFill>
              <a:latin typeface="Arial"/>
            </a:endParaRPr>
          </a:p>
        </p:txBody>
      </p:sp>
      <p:sp>
        <p:nvSpPr>
          <p:cNvPr id="1037" name="TextBox 1"/>
          <p:cNvSpPr/>
          <p:nvPr/>
        </p:nvSpPr>
        <p:spPr>
          <a:xfrm>
            <a:off x="264600" y="1052640"/>
            <a:ext cx="921960" cy="3639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601"/>
              </a:spcBef>
            </a:pPr>
            <a:r>
              <a:rPr b="0" lang="en-US" sz="1800" spc="-1" strike="noStrike">
                <a:solidFill>
                  <a:schemeClr val="dk1"/>
                </a:solidFill>
                <a:latin typeface="Tahoma"/>
              </a:rPr>
              <a:t>Bước 6</a:t>
            </a:r>
            <a:endParaRPr b="0" lang="vi-V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br>
              <a:rPr sz="2400"/>
            </a:br>
            <a:r>
              <a:rPr b="0" lang="en-US" sz="2000" spc="-1" strike="noStrike">
                <a:solidFill>
                  <a:schemeClr val="dk2"/>
                </a:solidFill>
                <a:latin typeface="Calibri"/>
              </a:rPr>
              <a:t>Bài tập 1: </a:t>
            </a:r>
            <a:r>
              <a:rPr b="1" lang="en-US" sz="2000" spc="-1" strike="noStrike">
                <a:solidFill>
                  <a:schemeClr val="dk2"/>
                </a:solidFill>
                <a:latin typeface="Calibri"/>
              </a:rPr>
              <a:t>Quản lý thi tuyển sinh</a:t>
            </a:r>
            <a:endParaRPr b="0" lang="vi-VN" sz="2000" spc="-1" strike="noStrike">
              <a:solidFill>
                <a:srgbClr val="000000"/>
              </a:solidFill>
              <a:latin typeface="Arial"/>
            </a:endParaRPr>
          </a:p>
        </p:txBody>
      </p:sp>
      <p:sp>
        <p:nvSpPr>
          <p:cNvPr id="1039" name="PlaceHolder 2"/>
          <p:cNvSpPr>
            <a:spLocks noGrp="1"/>
          </p:cNvSpPr>
          <p:nvPr>
            <p:ph/>
          </p:nvPr>
        </p:nvSpPr>
        <p:spPr>
          <a:xfrm>
            <a:off x="457200" y="1295280"/>
            <a:ext cx="8228880" cy="5104800"/>
          </a:xfrm>
          <a:prstGeom prst="rect">
            <a:avLst/>
          </a:prstGeom>
          <a:noFill/>
          <a:ln w="9360">
            <a:noFill/>
          </a:ln>
        </p:spPr>
        <p:txBody>
          <a:bodyPr numCol="1" spcCol="0" lIns="91440" rIns="91440" tIns="45720" bIns="45720" anchor="t">
            <a:noAutofit/>
          </a:bodyPr>
          <a:p>
            <a:pPr marL="615960" indent="-343080">
              <a:lnSpc>
                <a:spcPct val="100000"/>
              </a:lnSpc>
              <a:spcBef>
                <a:spcPts val="519"/>
              </a:spcBef>
              <a:buClr>
                <a:srgbClr val="0bd0d9"/>
              </a:buClr>
              <a:buSzPct val="95000"/>
              <a:buFont typeface="Wingdings" charset="2"/>
              <a:buChar char=""/>
            </a:pPr>
            <a:r>
              <a:rPr b="1" i="1" lang="en-US" sz="2600" spc="-1" strike="noStrike">
                <a:solidFill>
                  <a:schemeClr val="dk1"/>
                </a:solidFill>
                <a:latin typeface="Constantia"/>
              </a:rPr>
              <a:t>Hãy xác định các thực thể (thuộc tính, khóa) và các quan hệ, các ràng buộc; xây dựng lược đồ ER dựa trên mô tả sau về quản lý thi tuyển sinh:</a:t>
            </a:r>
            <a:endParaRPr b="0" lang="vi-VN" sz="2600" spc="-1" strike="noStrike">
              <a:solidFill>
                <a:srgbClr val="000000"/>
              </a:solidFill>
              <a:latin typeface="Arial"/>
            </a:endParaRPr>
          </a:p>
          <a:p>
            <a:pPr marL="914400" indent="0">
              <a:lnSpc>
                <a:spcPct val="100000"/>
              </a:lnSpc>
              <a:spcBef>
                <a:spcPts val="420"/>
              </a:spcBef>
              <a:buNone/>
              <a:tabLst>
                <a:tab algn="l" pos="0"/>
              </a:tabLst>
            </a:pP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thí sinh có thể đăng kí 2 nguyện vọng (2 ngành)</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trường có thể có một hoặc hơn 1 ngành</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ngành thuộc 1 khối thi</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khối có 3 môn thi</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phòng thi có 2 cán bộ là giám thị</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Một giám sát (cũng là cán bộ) giám sát tối đa 6 giám thị</a:t>
            </a:r>
            <a:endParaRPr b="0" lang="vi-VN" sz="2100" spc="-1" strike="noStrike">
              <a:solidFill>
                <a:srgbClr val="000000"/>
              </a:solidFill>
              <a:latin typeface="Arial"/>
            </a:endParaRPr>
          </a:p>
          <a:p>
            <a:pPr lvl="2" marL="914400" indent="-246240">
              <a:lnSpc>
                <a:spcPct val="100000"/>
              </a:lnSpc>
              <a:spcBef>
                <a:spcPts val="420"/>
              </a:spcBef>
              <a:buClr>
                <a:srgbClr val="009dd9"/>
              </a:buClr>
              <a:buSzPct val="70000"/>
              <a:buFont typeface="Wingdings 2" charset="2"/>
              <a:buChar char=""/>
              <a:tabLst>
                <a:tab algn="l" pos="0"/>
              </a:tabLst>
            </a:pPr>
            <a:r>
              <a:rPr b="0" lang="en-US" sz="2100" spc="-1" strike="noStrike">
                <a:solidFill>
                  <a:schemeClr val="dk1"/>
                </a:solidFill>
                <a:latin typeface="Constantia"/>
              </a:rPr>
              <a:t>Mỗi phòng thi không quá 30 thí sinh, có địa điểm xác định</a:t>
            </a:r>
            <a:endParaRPr b="0" lang="vi-VN" sz="2100" spc="-1" strike="noStrike">
              <a:solidFill>
                <a:srgbClr val="000000"/>
              </a:solidFill>
              <a:latin typeface="Arial"/>
            </a:endParaRPr>
          </a:p>
        </p:txBody>
      </p:sp>
      <p:sp>
        <p:nvSpPr>
          <p:cNvPr id="1040" name="PlaceHolder 3"/>
          <p:cNvSpPr>
            <a:spLocks noGrp="1"/>
          </p:cNvSpPr>
          <p:nvPr>
            <p:ph type="sldNum" idx="169"/>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77475DF6-5FD4-453E-A564-A4CB04483197}"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041" name="PlaceHolder 4"/>
          <p:cNvSpPr>
            <a:spLocks noGrp="1"/>
          </p:cNvSpPr>
          <p:nvPr>
            <p:ph type="dt" idx="170"/>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0817AA1-7286-49ED-AF09-77EA9EFED05B}"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042" name="PlaceHolder 5"/>
          <p:cNvSpPr>
            <a:spLocks noGrp="1"/>
          </p:cNvSpPr>
          <p:nvPr>
            <p:ph type="ftr" idx="171"/>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043" name="Picture 3" descr=""/>
          <p:cNvPicPr/>
          <p:nvPr/>
        </p:nvPicPr>
        <p:blipFill>
          <a:blip r:embed="rId1"/>
          <a:stretch/>
        </p:blipFill>
        <p:spPr>
          <a:xfrm>
            <a:off x="0" y="990720"/>
            <a:ext cx="9071280" cy="5328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br>
              <a:rPr sz="2400"/>
            </a:br>
            <a:r>
              <a:rPr b="0" lang="en-US" sz="2000" spc="-1" strike="noStrike">
                <a:solidFill>
                  <a:schemeClr val="dk2"/>
                </a:solidFill>
                <a:latin typeface="Calibri"/>
              </a:rPr>
              <a:t>Bài tập 1</a:t>
            </a:r>
            <a:r>
              <a:rPr b="0" lang="en-US" sz="3200" spc="-1" strike="noStrike">
                <a:solidFill>
                  <a:schemeClr val="dk2"/>
                </a:solidFill>
                <a:latin typeface="Calibri"/>
              </a:rPr>
              <a:t>: </a:t>
            </a:r>
            <a:r>
              <a:rPr b="1" lang="en-US" sz="2000" spc="-1" strike="noStrike">
                <a:solidFill>
                  <a:schemeClr val="dk2"/>
                </a:solidFill>
                <a:latin typeface="Calibri"/>
              </a:rPr>
              <a:t>Quản lý thi tuyển sinh</a:t>
            </a:r>
            <a:endParaRPr b="0" lang="vi-VN" sz="2000" spc="-1" strike="noStrike">
              <a:solidFill>
                <a:srgbClr val="000000"/>
              </a:solidFill>
              <a:latin typeface="Arial"/>
            </a:endParaRPr>
          </a:p>
        </p:txBody>
      </p:sp>
      <p:sp>
        <p:nvSpPr>
          <p:cNvPr id="1045" name="PlaceHolder 2"/>
          <p:cNvSpPr>
            <a:spLocks noGrp="1"/>
          </p:cNvSpPr>
          <p:nvPr>
            <p:ph type="sldNum" idx="172"/>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32571CA5-C014-48BD-AB28-83628CAFC421}"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046" name="PlaceHolder 3"/>
          <p:cNvSpPr>
            <a:spLocks noGrp="1"/>
          </p:cNvSpPr>
          <p:nvPr>
            <p:ph type="dt" idx="173"/>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D77985D4-A396-44E7-817B-3015FE47A0D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047" name="PlaceHolder 4"/>
          <p:cNvSpPr>
            <a:spLocks noGrp="1"/>
          </p:cNvSpPr>
          <p:nvPr>
            <p:ph type="ftr" idx="174"/>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048" name="Picture 3" descr=""/>
          <p:cNvPicPr/>
          <p:nvPr/>
        </p:nvPicPr>
        <p:blipFill>
          <a:blip r:embed="rId1"/>
          <a:stretch/>
        </p:blipFill>
        <p:spPr>
          <a:xfrm>
            <a:off x="0" y="990720"/>
            <a:ext cx="9071280" cy="53280"/>
          </a:xfrm>
          <a:prstGeom prst="rect">
            <a:avLst/>
          </a:prstGeom>
          <a:ln w="0">
            <a:noFill/>
          </a:ln>
        </p:spPr>
      </p:pic>
      <p:grpSp>
        <p:nvGrpSpPr>
          <p:cNvPr id="1049" name="Group 104"/>
          <p:cNvGrpSpPr/>
          <p:nvPr/>
        </p:nvGrpSpPr>
        <p:grpSpPr>
          <a:xfrm>
            <a:off x="304920" y="1143000"/>
            <a:ext cx="4342680" cy="1294920"/>
            <a:chOff x="304920" y="1143000"/>
            <a:chExt cx="4342680" cy="1294920"/>
          </a:xfrm>
        </p:grpSpPr>
        <p:sp>
          <p:nvSpPr>
            <p:cNvPr id="1050" name="Rectangle 9"/>
            <p:cNvSpPr/>
            <p:nvPr/>
          </p:nvSpPr>
          <p:spPr>
            <a:xfrm>
              <a:off x="2666880" y="1752480"/>
              <a:ext cx="114228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THISINH</a:t>
              </a:r>
              <a:endParaRPr b="0" lang="vi-VN" sz="1800" spc="-1" strike="noStrike">
                <a:solidFill>
                  <a:srgbClr val="000000"/>
                </a:solidFill>
                <a:latin typeface="Arial"/>
              </a:endParaRPr>
            </a:p>
          </p:txBody>
        </p:sp>
        <p:sp>
          <p:nvSpPr>
            <p:cNvPr id="1051" name="Oval 16"/>
            <p:cNvSpPr/>
            <p:nvPr/>
          </p:nvSpPr>
          <p:spPr>
            <a:xfrm>
              <a:off x="2438280" y="11430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SBD</a:t>
              </a:r>
              <a:endParaRPr b="0" lang="vi-VN" sz="1100" spc="-1" strike="noStrike">
                <a:solidFill>
                  <a:srgbClr val="000000"/>
                </a:solidFill>
                <a:latin typeface="Arial"/>
              </a:endParaRPr>
            </a:p>
          </p:txBody>
        </p:sp>
        <p:sp>
          <p:nvSpPr>
            <p:cNvPr id="1052" name="Oval 18"/>
            <p:cNvSpPr/>
            <p:nvPr/>
          </p:nvSpPr>
          <p:spPr>
            <a:xfrm>
              <a:off x="533520" y="1295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a:t>
              </a:r>
              <a:endParaRPr b="0" lang="vi-VN" sz="1100" spc="-1" strike="noStrike">
                <a:solidFill>
                  <a:srgbClr val="000000"/>
                </a:solidFill>
                <a:latin typeface="Arial"/>
              </a:endParaRPr>
            </a:p>
          </p:txBody>
        </p:sp>
        <p:sp>
          <p:nvSpPr>
            <p:cNvPr id="1053" name="Oval 19"/>
            <p:cNvSpPr/>
            <p:nvPr/>
          </p:nvSpPr>
          <p:spPr>
            <a:xfrm>
              <a:off x="304920" y="17524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Đệm</a:t>
              </a:r>
              <a:endParaRPr b="0" lang="vi-VN" sz="1100" spc="-1" strike="noStrike">
                <a:solidFill>
                  <a:srgbClr val="000000"/>
                </a:solidFill>
                <a:latin typeface="Arial"/>
              </a:endParaRPr>
            </a:p>
          </p:txBody>
        </p:sp>
        <p:sp>
          <p:nvSpPr>
            <p:cNvPr id="1054" name="Oval 20"/>
            <p:cNvSpPr/>
            <p:nvPr/>
          </p:nvSpPr>
          <p:spPr>
            <a:xfrm>
              <a:off x="533520" y="21337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055" name="Oval 21"/>
            <p:cNvSpPr/>
            <p:nvPr/>
          </p:nvSpPr>
          <p:spPr>
            <a:xfrm>
              <a:off x="1447920" y="182880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Họtên</a:t>
              </a:r>
              <a:endParaRPr b="0" lang="vi-VN" sz="1100" spc="-1" strike="noStrike">
                <a:solidFill>
                  <a:srgbClr val="000000"/>
                </a:solidFill>
                <a:latin typeface="Arial"/>
              </a:endParaRPr>
            </a:p>
          </p:txBody>
        </p:sp>
        <p:sp>
          <p:nvSpPr>
            <p:cNvPr id="1056" name="Oval 22"/>
            <p:cNvSpPr/>
            <p:nvPr/>
          </p:nvSpPr>
          <p:spPr>
            <a:xfrm>
              <a:off x="3505320" y="1143000"/>
              <a:ext cx="11422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Ngàysinh</a:t>
              </a:r>
              <a:endParaRPr b="0" lang="vi-VN" sz="1100" spc="-1" strike="noStrike">
                <a:solidFill>
                  <a:srgbClr val="000000"/>
                </a:solidFill>
                <a:latin typeface="Arial"/>
              </a:endParaRPr>
            </a:p>
          </p:txBody>
        </p:sp>
      </p:grpSp>
      <p:grpSp>
        <p:nvGrpSpPr>
          <p:cNvPr id="1057" name="Group 103"/>
          <p:cNvGrpSpPr/>
          <p:nvPr/>
        </p:nvGrpSpPr>
        <p:grpSpPr>
          <a:xfrm>
            <a:off x="609480" y="2819520"/>
            <a:ext cx="2895120" cy="1065960"/>
            <a:chOff x="609480" y="2819520"/>
            <a:chExt cx="2895120" cy="1065960"/>
          </a:xfrm>
        </p:grpSpPr>
        <p:sp>
          <p:nvSpPr>
            <p:cNvPr id="1058" name="Rectangle 12"/>
            <p:cNvSpPr/>
            <p:nvPr/>
          </p:nvSpPr>
          <p:spPr>
            <a:xfrm>
              <a:off x="2362320" y="3276720"/>
              <a:ext cx="114228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NGANH</a:t>
              </a:r>
              <a:endParaRPr b="0" lang="vi-VN" sz="1800" spc="-1" strike="noStrike">
                <a:solidFill>
                  <a:srgbClr val="000000"/>
                </a:solidFill>
                <a:latin typeface="Arial"/>
              </a:endParaRPr>
            </a:p>
          </p:txBody>
        </p:sp>
        <p:sp>
          <p:nvSpPr>
            <p:cNvPr id="1059" name="Oval 25"/>
            <p:cNvSpPr/>
            <p:nvPr/>
          </p:nvSpPr>
          <p:spPr>
            <a:xfrm>
              <a:off x="1295280" y="28195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060" name="Oval 26"/>
            <p:cNvSpPr/>
            <p:nvPr/>
          </p:nvSpPr>
          <p:spPr>
            <a:xfrm>
              <a:off x="1219320" y="35053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061" name="Oval 28"/>
            <p:cNvSpPr/>
            <p:nvPr/>
          </p:nvSpPr>
          <p:spPr>
            <a:xfrm>
              <a:off x="609480" y="312408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Môtả</a:t>
              </a:r>
              <a:endParaRPr b="0" lang="vi-VN" sz="1100" spc="-1" strike="noStrike">
                <a:solidFill>
                  <a:srgbClr val="000000"/>
                </a:solidFill>
                <a:latin typeface="Arial"/>
              </a:endParaRPr>
            </a:p>
          </p:txBody>
        </p:sp>
      </p:grpSp>
      <p:grpSp>
        <p:nvGrpSpPr>
          <p:cNvPr id="1062" name="Group 102"/>
          <p:cNvGrpSpPr/>
          <p:nvPr/>
        </p:nvGrpSpPr>
        <p:grpSpPr>
          <a:xfrm>
            <a:off x="304920" y="4191120"/>
            <a:ext cx="1523160" cy="1828080"/>
            <a:chOff x="304920" y="4191120"/>
            <a:chExt cx="1523160" cy="1828080"/>
          </a:xfrm>
        </p:grpSpPr>
        <p:sp>
          <p:nvSpPr>
            <p:cNvPr id="1063" name="Rectangle 14"/>
            <p:cNvSpPr/>
            <p:nvPr/>
          </p:nvSpPr>
          <p:spPr>
            <a:xfrm>
              <a:off x="457200" y="4191120"/>
              <a:ext cx="129456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TRUONG</a:t>
              </a:r>
              <a:endParaRPr b="0" lang="vi-VN" sz="1800" spc="-1" strike="noStrike">
                <a:solidFill>
                  <a:srgbClr val="000000"/>
                </a:solidFill>
                <a:latin typeface="Arial"/>
              </a:endParaRPr>
            </a:p>
          </p:txBody>
        </p:sp>
        <p:sp>
          <p:nvSpPr>
            <p:cNvPr id="1064" name="Oval 29"/>
            <p:cNvSpPr/>
            <p:nvPr/>
          </p:nvSpPr>
          <p:spPr>
            <a:xfrm>
              <a:off x="1143000" y="52578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065" name="Oval 30"/>
            <p:cNvSpPr/>
            <p:nvPr/>
          </p:nvSpPr>
          <p:spPr>
            <a:xfrm>
              <a:off x="304920" y="51814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066" name="Oval 31"/>
            <p:cNvSpPr/>
            <p:nvPr/>
          </p:nvSpPr>
          <p:spPr>
            <a:xfrm>
              <a:off x="609480" y="5791320"/>
              <a:ext cx="990000" cy="22788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Địa_chỉ</a:t>
              </a:r>
              <a:endParaRPr b="0" lang="vi-VN" sz="1100" spc="-1" strike="noStrike">
                <a:solidFill>
                  <a:srgbClr val="000000"/>
                </a:solidFill>
                <a:latin typeface="Arial"/>
              </a:endParaRPr>
            </a:p>
          </p:txBody>
        </p:sp>
      </p:grpSp>
      <p:grpSp>
        <p:nvGrpSpPr>
          <p:cNvPr id="1067" name="Group 100"/>
          <p:cNvGrpSpPr/>
          <p:nvPr/>
        </p:nvGrpSpPr>
        <p:grpSpPr>
          <a:xfrm>
            <a:off x="2209680" y="4800600"/>
            <a:ext cx="1523520" cy="1599480"/>
            <a:chOff x="2209680" y="4800600"/>
            <a:chExt cx="1523520" cy="1599480"/>
          </a:xfrm>
        </p:grpSpPr>
        <p:sp>
          <p:nvSpPr>
            <p:cNvPr id="1068" name="Rectangle 13"/>
            <p:cNvSpPr/>
            <p:nvPr/>
          </p:nvSpPr>
          <p:spPr>
            <a:xfrm>
              <a:off x="2514600" y="4800600"/>
              <a:ext cx="121860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KHOITHI</a:t>
              </a:r>
              <a:endParaRPr b="0" lang="vi-VN" sz="1800" spc="-1" strike="noStrike">
                <a:solidFill>
                  <a:srgbClr val="000000"/>
                </a:solidFill>
                <a:latin typeface="Arial"/>
              </a:endParaRPr>
            </a:p>
          </p:txBody>
        </p:sp>
        <p:sp>
          <p:nvSpPr>
            <p:cNvPr id="1069" name="Oval 32"/>
            <p:cNvSpPr/>
            <p:nvPr/>
          </p:nvSpPr>
          <p:spPr>
            <a:xfrm>
              <a:off x="2209680" y="5867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070" name="Oval 33"/>
            <p:cNvSpPr/>
            <p:nvPr/>
          </p:nvSpPr>
          <p:spPr>
            <a:xfrm>
              <a:off x="2895480" y="6095880"/>
              <a:ext cx="76140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Mô tả</a:t>
              </a:r>
              <a:endParaRPr b="0" lang="vi-VN" sz="1100" spc="-1" strike="noStrike">
                <a:solidFill>
                  <a:srgbClr val="000000"/>
                </a:solidFill>
                <a:latin typeface="Arial"/>
              </a:endParaRPr>
            </a:p>
          </p:txBody>
        </p:sp>
      </p:grpSp>
      <p:grpSp>
        <p:nvGrpSpPr>
          <p:cNvPr id="1071" name="Group 101"/>
          <p:cNvGrpSpPr/>
          <p:nvPr/>
        </p:nvGrpSpPr>
        <p:grpSpPr>
          <a:xfrm>
            <a:off x="4419720" y="4724280"/>
            <a:ext cx="2970720" cy="1828440"/>
            <a:chOff x="4419720" y="4724280"/>
            <a:chExt cx="2970720" cy="1828440"/>
          </a:xfrm>
        </p:grpSpPr>
        <p:sp>
          <p:nvSpPr>
            <p:cNvPr id="1072" name="Rectangle 15"/>
            <p:cNvSpPr/>
            <p:nvPr/>
          </p:nvSpPr>
          <p:spPr>
            <a:xfrm>
              <a:off x="5105520" y="4724280"/>
              <a:ext cx="121860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MONTHI</a:t>
              </a:r>
              <a:endParaRPr b="0" lang="vi-VN" sz="1800" spc="-1" strike="noStrike">
                <a:solidFill>
                  <a:srgbClr val="000000"/>
                </a:solidFill>
                <a:latin typeface="Arial"/>
              </a:endParaRPr>
            </a:p>
          </p:txBody>
        </p:sp>
        <p:sp>
          <p:nvSpPr>
            <p:cNvPr id="1073" name="Oval 34"/>
            <p:cNvSpPr/>
            <p:nvPr/>
          </p:nvSpPr>
          <p:spPr>
            <a:xfrm>
              <a:off x="4419720" y="57150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074" name="Oval 35"/>
            <p:cNvSpPr/>
            <p:nvPr/>
          </p:nvSpPr>
          <p:spPr>
            <a:xfrm>
              <a:off x="6324480" y="5638680"/>
              <a:ext cx="10659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Thờigian</a:t>
              </a:r>
              <a:endParaRPr b="0" lang="vi-VN" sz="1100" spc="-1" strike="noStrike">
                <a:solidFill>
                  <a:srgbClr val="000000"/>
                </a:solidFill>
                <a:latin typeface="Arial"/>
              </a:endParaRPr>
            </a:p>
          </p:txBody>
        </p:sp>
        <p:sp>
          <p:nvSpPr>
            <p:cNvPr id="1075" name="Oval 36"/>
            <p:cNvSpPr/>
            <p:nvPr/>
          </p:nvSpPr>
          <p:spPr>
            <a:xfrm>
              <a:off x="5181480" y="5867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076" name="Oval 37"/>
            <p:cNvSpPr/>
            <p:nvPr/>
          </p:nvSpPr>
          <p:spPr>
            <a:xfrm>
              <a:off x="5867280" y="6248520"/>
              <a:ext cx="144720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Hình_thức</a:t>
              </a:r>
              <a:endParaRPr b="0" lang="vi-VN" sz="1100" spc="-1" strike="noStrike">
                <a:solidFill>
                  <a:srgbClr val="000000"/>
                </a:solidFill>
                <a:latin typeface="Arial"/>
              </a:endParaRPr>
            </a:p>
          </p:txBody>
        </p:sp>
      </p:grpSp>
      <p:grpSp>
        <p:nvGrpSpPr>
          <p:cNvPr id="1077" name="Group 105"/>
          <p:cNvGrpSpPr/>
          <p:nvPr/>
        </p:nvGrpSpPr>
        <p:grpSpPr>
          <a:xfrm>
            <a:off x="5943600" y="2209680"/>
            <a:ext cx="2666160" cy="1142640"/>
            <a:chOff x="5943600" y="2209680"/>
            <a:chExt cx="2666160" cy="1142640"/>
          </a:xfrm>
        </p:grpSpPr>
        <p:sp>
          <p:nvSpPr>
            <p:cNvPr id="1078" name="Rectangle 11"/>
            <p:cNvSpPr/>
            <p:nvPr/>
          </p:nvSpPr>
          <p:spPr>
            <a:xfrm>
              <a:off x="5943600" y="2438280"/>
              <a:ext cx="152316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PHONGTHI</a:t>
              </a:r>
              <a:endParaRPr b="0" lang="vi-VN" sz="1800" spc="-1" strike="noStrike">
                <a:solidFill>
                  <a:srgbClr val="000000"/>
                </a:solidFill>
                <a:latin typeface="Arial"/>
              </a:endParaRPr>
            </a:p>
          </p:txBody>
        </p:sp>
        <p:sp>
          <p:nvSpPr>
            <p:cNvPr id="1079" name="Oval 38"/>
            <p:cNvSpPr/>
            <p:nvPr/>
          </p:nvSpPr>
          <p:spPr>
            <a:xfrm>
              <a:off x="7848720" y="22096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080" name="Oval 39"/>
            <p:cNvSpPr/>
            <p:nvPr/>
          </p:nvSpPr>
          <p:spPr>
            <a:xfrm>
              <a:off x="7924680" y="26668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Đ_Đ</a:t>
              </a:r>
              <a:endParaRPr b="0" lang="vi-VN" sz="1100" spc="-1" strike="noStrike">
                <a:solidFill>
                  <a:srgbClr val="000000"/>
                </a:solidFill>
                <a:latin typeface="Arial"/>
              </a:endParaRPr>
            </a:p>
          </p:txBody>
        </p:sp>
        <p:sp>
          <p:nvSpPr>
            <p:cNvPr id="1081" name="Oval 40"/>
            <p:cNvSpPr/>
            <p:nvPr/>
          </p:nvSpPr>
          <p:spPr>
            <a:xfrm>
              <a:off x="7924680" y="30481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SL</a:t>
              </a:r>
              <a:endParaRPr b="0" lang="vi-VN" sz="1100" spc="-1" strike="noStrike">
                <a:solidFill>
                  <a:srgbClr val="000000"/>
                </a:solidFill>
                <a:latin typeface="Arial"/>
              </a:endParaRPr>
            </a:p>
          </p:txBody>
        </p:sp>
      </p:grpSp>
      <p:grpSp>
        <p:nvGrpSpPr>
          <p:cNvPr id="1082" name="Group 106"/>
          <p:cNvGrpSpPr/>
          <p:nvPr/>
        </p:nvGrpSpPr>
        <p:grpSpPr>
          <a:xfrm>
            <a:off x="6324480" y="3581280"/>
            <a:ext cx="2590200" cy="1828440"/>
            <a:chOff x="6324480" y="3581280"/>
            <a:chExt cx="2590200" cy="1828440"/>
          </a:xfrm>
        </p:grpSpPr>
        <p:sp>
          <p:nvSpPr>
            <p:cNvPr id="1083" name="Rectangle 10"/>
            <p:cNvSpPr/>
            <p:nvPr/>
          </p:nvSpPr>
          <p:spPr>
            <a:xfrm>
              <a:off x="6324480" y="3581280"/>
              <a:ext cx="144720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CB_COITHI</a:t>
              </a:r>
              <a:endParaRPr b="0" lang="vi-VN" sz="1800" spc="-1" strike="noStrike">
                <a:solidFill>
                  <a:srgbClr val="000000"/>
                </a:solidFill>
                <a:latin typeface="Arial"/>
              </a:endParaRPr>
            </a:p>
          </p:txBody>
        </p:sp>
        <p:sp>
          <p:nvSpPr>
            <p:cNvPr id="1084" name="Oval 41"/>
            <p:cNvSpPr/>
            <p:nvPr/>
          </p:nvSpPr>
          <p:spPr>
            <a:xfrm>
              <a:off x="8001000" y="41911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a:t>
              </a:r>
              <a:endParaRPr b="0" lang="vi-VN" sz="1100" spc="-1" strike="noStrike">
                <a:solidFill>
                  <a:srgbClr val="000000"/>
                </a:solidFill>
                <a:latin typeface="Arial"/>
              </a:endParaRPr>
            </a:p>
          </p:txBody>
        </p:sp>
        <p:sp>
          <p:nvSpPr>
            <p:cNvPr id="1085" name="Oval 42"/>
            <p:cNvSpPr/>
            <p:nvPr/>
          </p:nvSpPr>
          <p:spPr>
            <a:xfrm>
              <a:off x="8229600" y="4724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Đệm</a:t>
              </a:r>
              <a:endParaRPr b="0" lang="vi-VN" sz="1100" spc="-1" strike="noStrike">
                <a:solidFill>
                  <a:srgbClr val="000000"/>
                </a:solidFill>
                <a:latin typeface="Arial"/>
              </a:endParaRPr>
            </a:p>
          </p:txBody>
        </p:sp>
        <p:sp>
          <p:nvSpPr>
            <p:cNvPr id="1086" name="Oval 43"/>
            <p:cNvSpPr/>
            <p:nvPr/>
          </p:nvSpPr>
          <p:spPr>
            <a:xfrm>
              <a:off x="7772400" y="51055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087" name="Oval 44"/>
            <p:cNvSpPr/>
            <p:nvPr/>
          </p:nvSpPr>
          <p:spPr>
            <a:xfrm>
              <a:off x="6781680" y="457200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Họtên</a:t>
              </a:r>
              <a:endParaRPr b="0" lang="vi-VN" sz="1100" spc="-1" strike="noStrike">
                <a:solidFill>
                  <a:srgbClr val="000000"/>
                </a:solidFill>
                <a:latin typeface="Arial"/>
              </a:endParaRPr>
            </a:p>
          </p:txBody>
        </p:sp>
        <p:sp>
          <p:nvSpPr>
            <p:cNvPr id="1088" name="Oval 45"/>
            <p:cNvSpPr/>
            <p:nvPr/>
          </p:nvSpPr>
          <p:spPr>
            <a:xfrm>
              <a:off x="8077320" y="3581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grpSp>
      <p:cxnSp>
        <p:nvCxnSpPr>
          <p:cNvPr id="1089" name="Straight Connector 47"/>
          <p:cNvCxnSpPr>
            <a:stCxn id="1050" idx="0"/>
            <a:endCxn id="1056" idx="4"/>
          </p:cNvCxnSpPr>
          <p:nvPr/>
        </p:nvCxnSpPr>
        <p:spPr>
          <a:xfrm flipV="1">
            <a:off x="3237840" y="1447200"/>
            <a:ext cx="839160" cy="305640"/>
          </a:xfrm>
          <a:prstGeom prst="straightConnector1">
            <a:avLst/>
          </a:prstGeom>
          <a:ln w="0">
            <a:solidFill>
              <a:srgbClr val="095294"/>
            </a:solidFill>
          </a:ln>
        </p:spPr>
      </p:cxnSp>
      <p:cxnSp>
        <p:nvCxnSpPr>
          <p:cNvPr id="1090" name="Straight Connector 49"/>
          <p:cNvCxnSpPr>
            <a:endCxn id="1051" idx="4"/>
          </p:cNvCxnSpPr>
          <p:nvPr/>
        </p:nvCxnSpPr>
        <p:spPr>
          <a:xfrm flipH="1" flipV="1">
            <a:off x="2781000" y="1447200"/>
            <a:ext cx="343800" cy="306000"/>
          </a:xfrm>
          <a:prstGeom prst="straightConnector1">
            <a:avLst/>
          </a:prstGeom>
          <a:ln w="0">
            <a:solidFill>
              <a:srgbClr val="095294"/>
            </a:solidFill>
          </a:ln>
        </p:spPr>
      </p:cxnSp>
      <p:cxnSp>
        <p:nvCxnSpPr>
          <p:cNvPr id="1091" name="Straight Connector 51"/>
          <p:cNvCxnSpPr>
            <a:stCxn id="1050" idx="1"/>
            <a:endCxn id="1055" idx="6"/>
          </p:cNvCxnSpPr>
          <p:nvPr/>
        </p:nvCxnSpPr>
        <p:spPr>
          <a:xfrm flipH="1" flipV="1">
            <a:off x="2285280" y="1981080"/>
            <a:ext cx="381960" cy="75960"/>
          </a:xfrm>
          <a:prstGeom prst="straightConnector1">
            <a:avLst/>
          </a:prstGeom>
          <a:ln w="0">
            <a:solidFill>
              <a:srgbClr val="095294"/>
            </a:solidFill>
          </a:ln>
        </p:spPr>
      </p:cxnSp>
      <p:cxnSp>
        <p:nvCxnSpPr>
          <p:cNvPr id="1092" name="Straight Connector 53"/>
          <p:cNvCxnSpPr>
            <a:stCxn id="1055" idx="2"/>
            <a:endCxn id="1052" idx="5"/>
          </p:cNvCxnSpPr>
          <p:nvPr/>
        </p:nvCxnSpPr>
        <p:spPr>
          <a:xfrm flipH="1" flipV="1">
            <a:off x="1118520" y="1555200"/>
            <a:ext cx="329760" cy="426240"/>
          </a:xfrm>
          <a:prstGeom prst="straightConnector1">
            <a:avLst/>
          </a:prstGeom>
          <a:ln w="0">
            <a:solidFill>
              <a:srgbClr val="095294"/>
            </a:solidFill>
          </a:ln>
        </p:spPr>
      </p:cxnSp>
      <p:cxnSp>
        <p:nvCxnSpPr>
          <p:cNvPr id="1093" name="Straight Connector 55"/>
          <p:cNvCxnSpPr>
            <a:stCxn id="1055" idx="2"/>
            <a:endCxn id="1053" idx="6"/>
          </p:cNvCxnSpPr>
          <p:nvPr/>
        </p:nvCxnSpPr>
        <p:spPr>
          <a:xfrm flipH="1" flipV="1">
            <a:off x="990000" y="1904760"/>
            <a:ext cx="458280" cy="76680"/>
          </a:xfrm>
          <a:prstGeom prst="straightConnector1">
            <a:avLst/>
          </a:prstGeom>
          <a:ln w="0">
            <a:solidFill>
              <a:srgbClr val="095294"/>
            </a:solidFill>
          </a:ln>
        </p:spPr>
      </p:cxnSp>
      <p:cxnSp>
        <p:nvCxnSpPr>
          <p:cNvPr id="1094" name="Straight Connector 57"/>
          <p:cNvCxnSpPr>
            <a:stCxn id="1055" idx="2"/>
            <a:endCxn id="1054" idx="7"/>
          </p:cNvCxnSpPr>
          <p:nvPr/>
        </p:nvCxnSpPr>
        <p:spPr>
          <a:xfrm flipH="1">
            <a:off x="1118520" y="1981080"/>
            <a:ext cx="329760" cy="197280"/>
          </a:xfrm>
          <a:prstGeom prst="straightConnector1">
            <a:avLst/>
          </a:prstGeom>
          <a:ln w="0">
            <a:solidFill>
              <a:srgbClr val="095294"/>
            </a:solidFill>
          </a:ln>
        </p:spPr>
      </p:cxnSp>
      <p:cxnSp>
        <p:nvCxnSpPr>
          <p:cNvPr id="1095" name="Straight Connector 59"/>
          <p:cNvCxnSpPr>
            <a:endCxn id="1059" idx="5"/>
          </p:cNvCxnSpPr>
          <p:nvPr/>
        </p:nvCxnSpPr>
        <p:spPr>
          <a:xfrm flipH="1" flipV="1">
            <a:off x="1880280" y="3079440"/>
            <a:ext cx="482400" cy="350280"/>
          </a:xfrm>
          <a:prstGeom prst="straightConnector1">
            <a:avLst/>
          </a:prstGeom>
          <a:ln w="0">
            <a:solidFill>
              <a:srgbClr val="095294"/>
            </a:solidFill>
          </a:ln>
        </p:spPr>
      </p:cxnSp>
      <p:cxnSp>
        <p:nvCxnSpPr>
          <p:cNvPr id="1096" name="Straight Connector 61"/>
          <p:cNvCxnSpPr>
            <a:stCxn id="1058" idx="1"/>
            <a:endCxn id="1061" idx="6"/>
          </p:cNvCxnSpPr>
          <p:nvPr/>
        </p:nvCxnSpPr>
        <p:spPr>
          <a:xfrm flipH="1" flipV="1">
            <a:off x="1446840" y="3276360"/>
            <a:ext cx="915840" cy="304920"/>
          </a:xfrm>
          <a:prstGeom prst="straightConnector1">
            <a:avLst/>
          </a:prstGeom>
          <a:ln w="0">
            <a:solidFill>
              <a:srgbClr val="095294"/>
            </a:solidFill>
          </a:ln>
        </p:spPr>
      </p:cxnSp>
      <p:cxnSp>
        <p:nvCxnSpPr>
          <p:cNvPr id="1097" name="Straight Connector 63"/>
          <p:cNvCxnSpPr>
            <a:stCxn id="1058" idx="1"/>
            <a:endCxn id="1060" idx="5"/>
          </p:cNvCxnSpPr>
          <p:nvPr/>
        </p:nvCxnSpPr>
        <p:spPr>
          <a:xfrm flipH="1">
            <a:off x="1804320" y="3580920"/>
            <a:ext cx="558360" cy="184680"/>
          </a:xfrm>
          <a:prstGeom prst="straightConnector1">
            <a:avLst/>
          </a:prstGeom>
          <a:ln w="0">
            <a:solidFill>
              <a:srgbClr val="095294"/>
            </a:solidFill>
          </a:ln>
        </p:spPr>
      </p:cxnSp>
      <p:cxnSp>
        <p:nvCxnSpPr>
          <p:cNvPr id="1098" name="Straight Connector 67"/>
          <p:cNvCxnSpPr>
            <a:endCxn id="1065" idx="0"/>
          </p:cNvCxnSpPr>
          <p:nvPr/>
        </p:nvCxnSpPr>
        <p:spPr>
          <a:xfrm flipH="1">
            <a:off x="647640" y="4800600"/>
            <a:ext cx="419760" cy="381240"/>
          </a:xfrm>
          <a:prstGeom prst="straightConnector1">
            <a:avLst/>
          </a:prstGeom>
          <a:ln w="0">
            <a:solidFill>
              <a:srgbClr val="095294"/>
            </a:solidFill>
          </a:ln>
        </p:spPr>
      </p:cxnSp>
      <p:cxnSp>
        <p:nvCxnSpPr>
          <p:cNvPr id="1099" name="Straight Connector 69"/>
          <p:cNvCxnSpPr>
            <a:stCxn id="1063" idx="2"/>
            <a:endCxn id="1064" idx="0"/>
          </p:cNvCxnSpPr>
          <p:nvPr/>
        </p:nvCxnSpPr>
        <p:spPr>
          <a:xfrm>
            <a:off x="1104480" y="4799880"/>
            <a:ext cx="381600" cy="458280"/>
          </a:xfrm>
          <a:prstGeom prst="straightConnector1">
            <a:avLst/>
          </a:prstGeom>
          <a:ln w="0">
            <a:solidFill>
              <a:srgbClr val="095294"/>
            </a:solidFill>
          </a:ln>
        </p:spPr>
      </p:cxnSp>
      <p:cxnSp>
        <p:nvCxnSpPr>
          <p:cNvPr id="1100" name="Straight Connector 71"/>
          <p:cNvCxnSpPr>
            <a:stCxn id="1063" idx="2"/>
            <a:endCxn id="1066" idx="0"/>
          </p:cNvCxnSpPr>
          <p:nvPr/>
        </p:nvCxnSpPr>
        <p:spPr>
          <a:xfrm>
            <a:off x="1104480" y="4799880"/>
            <a:ext cx="360" cy="991800"/>
          </a:xfrm>
          <a:prstGeom prst="straightConnector1">
            <a:avLst/>
          </a:prstGeom>
          <a:ln w="0">
            <a:solidFill>
              <a:srgbClr val="095294"/>
            </a:solidFill>
          </a:ln>
        </p:spPr>
      </p:cxnSp>
      <p:cxnSp>
        <p:nvCxnSpPr>
          <p:cNvPr id="1101" name="Straight Connector 73"/>
          <p:cNvCxnSpPr>
            <a:endCxn id="1069" idx="0"/>
          </p:cNvCxnSpPr>
          <p:nvPr/>
        </p:nvCxnSpPr>
        <p:spPr>
          <a:xfrm flipH="1">
            <a:off x="2552400" y="5410080"/>
            <a:ext cx="420120" cy="457560"/>
          </a:xfrm>
          <a:prstGeom prst="straightConnector1">
            <a:avLst/>
          </a:prstGeom>
          <a:ln w="0">
            <a:solidFill>
              <a:srgbClr val="095294"/>
            </a:solidFill>
          </a:ln>
        </p:spPr>
      </p:cxnSp>
      <p:cxnSp>
        <p:nvCxnSpPr>
          <p:cNvPr id="1102" name="Straight Connector 75"/>
          <p:cNvCxnSpPr>
            <a:stCxn id="1068" idx="2"/>
            <a:endCxn id="1070" idx="0"/>
          </p:cNvCxnSpPr>
          <p:nvPr/>
        </p:nvCxnSpPr>
        <p:spPr>
          <a:xfrm>
            <a:off x="3123720" y="5409360"/>
            <a:ext cx="153000" cy="686880"/>
          </a:xfrm>
          <a:prstGeom prst="straightConnector1">
            <a:avLst/>
          </a:prstGeom>
          <a:ln w="0">
            <a:solidFill>
              <a:srgbClr val="095294"/>
            </a:solidFill>
          </a:ln>
        </p:spPr>
      </p:cxnSp>
      <p:cxnSp>
        <p:nvCxnSpPr>
          <p:cNvPr id="1103" name="Straight Connector 77"/>
          <p:cNvCxnSpPr>
            <a:stCxn id="1072" idx="2"/>
            <a:endCxn id="1073" idx="7"/>
          </p:cNvCxnSpPr>
          <p:nvPr/>
        </p:nvCxnSpPr>
        <p:spPr>
          <a:xfrm flipH="1">
            <a:off x="5004720" y="5333040"/>
            <a:ext cx="710280" cy="426600"/>
          </a:xfrm>
          <a:prstGeom prst="straightConnector1">
            <a:avLst/>
          </a:prstGeom>
          <a:ln w="0">
            <a:solidFill>
              <a:srgbClr val="095294"/>
            </a:solidFill>
          </a:ln>
        </p:spPr>
      </p:cxnSp>
      <p:cxnSp>
        <p:nvCxnSpPr>
          <p:cNvPr id="1104" name="Straight Connector 79"/>
          <p:cNvCxnSpPr>
            <a:stCxn id="1072" idx="2"/>
            <a:endCxn id="1075" idx="0"/>
          </p:cNvCxnSpPr>
          <p:nvPr/>
        </p:nvCxnSpPr>
        <p:spPr>
          <a:xfrm flipH="1">
            <a:off x="5524200" y="5333040"/>
            <a:ext cx="190800" cy="534600"/>
          </a:xfrm>
          <a:prstGeom prst="straightConnector1">
            <a:avLst/>
          </a:prstGeom>
          <a:ln w="0">
            <a:solidFill>
              <a:srgbClr val="095294"/>
            </a:solidFill>
          </a:ln>
        </p:spPr>
      </p:cxnSp>
      <p:cxnSp>
        <p:nvCxnSpPr>
          <p:cNvPr id="1105" name="Straight Connector 81"/>
          <p:cNvCxnSpPr>
            <a:stCxn id="1072" idx="2"/>
            <a:endCxn id="1076" idx="0"/>
          </p:cNvCxnSpPr>
          <p:nvPr/>
        </p:nvCxnSpPr>
        <p:spPr>
          <a:xfrm>
            <a:off x="5714640" y="5333040"/>
            <a:ext cx="876600" cy="915840"/>
          </a:xfrm>
          <a:prstGeom prst="straightConnector1">
            <a:avLst/>
          </a:prstGeom>
          <a:ln w="0">
            <a:solidFill>
              <a:srgbClr val="095294"/>
            </a:solidFill>
          </a:ln>
        </p:spPr>
      </p:cxnSp>
      <p:cxnSp>
        <p:nvCxnSpPr>
          <p:cNvPr id="1106" name="Straight Connector 83"/>
          <p:cNvCxnSpPr>
            <a:stCxn id="1072" idx="2"/>
            <a:endCxn id="1074" idx="0"/>
          </p:cNvCxnSpPr>
          <p:nvPr/>
        </p:nvCxnSpPr>
        <p:spPr>
          <a:xfrm>
            <a:off x="5714640" y="5333040"/>
            <a:ext cx="1143360" cy="306000"/>
          </a:xfrm>
          <a:prstGeom prst="straightConnector1">
            <a:avLst/>
          </a:prstGeom>
          <a:ln w="0">
            <a:solidFill>
              <a:srgbClr val="095294"/>
            </a:solidFill>
          </a:ln>
        </p:spPr>
      </p:cxnSp>
      <p:cxnSp>
        <p:nvCxnSpPr>
          <p:cNvPr id="1107" name="Straight Connector 85"/>
          <p:cNvCxnSpPr>
            <a:stCxn id="1083" idx="2"/>
            <a:endCxn id="1087" idx="0"/>
          </p:cNvCxnSpPr>
          <p:nvPr/>
        </p:nvCxnSpPr>
        <p:spPr>
          <a:xfrm>
            <a:off x="7048080" y="4190040"/>
            <a:ext cx="152640" cy="382320"/>
          </a:xfrm>
          <a:prstGeom prst="straightConnector1">
            <a:avLst/>
          </a:prstGeom>
          <a:ln w="0">
            <a:solidFill>
              <a:srgbClr val="095294"/>
            </a:solidFill>
          </a:ln>
        </p:spPr>
      </p:cxnSp>
      <p:cxnSp>
        <p:nvCxnSpPr>
          <p:cNvPr id="1108" name="Straight Connector 87"/>
          <p:cNvCxnSpPr>
            <a:stCxn id="1087" idx="6"/>
            <a:endCxn id="1084" idx="3"/>
          </p:cNvCxnSpPr>
          <p:nvPr/>
        </p:nvCxnSpPr>
        <p:spPr>
          <a:xfrm flipV="1">
            <a:off x="7619040" y="4451040"/>
            <a:ext cx="482400" cy="273600"/>
          </a:xfrm>
          <a:prstGeom prst="straightConnector1">
            <a:avLst/>
          </a:prstGeom>
          <a:ln w="0">
            <a:solidFill>
              <a:srgbClr val="095294"/>
            </a:solidFill>
          </a:ln>
        </p:spPr>
      </p:cxnSp>
      <p:cxnSp>
        <p:nvCxnSpPr>
          <p:cNvPr id="1109" name="Straight Connector 89"/>
          <p:cNvCxnSpPr>
            <a:stCxn id="1087" idx="6"/>
            <a:endCxn id="1085" idx="2"/>
          </p:cNvCxnSpPr>
          <p:nvPr/>
        </p:nvCxnSpPr>
        <p:spPr>
          <a:xfrm>
            <a:off x="7619040" y="4724280"/>
            <a:ext cx="610920" cy="152640"/>
          </a:xfrm>
          <a:prstGeom prst="straightConnector1">
            <a:avLst/>
          </a:prstGeom>
          <a:ln w="0">
            <a:solidFill>
              <a:srgbClr val="095294"/>
            </a:solidFill>
          </a:ln>
        </p:spPr>
      </p:cxnSp>
      <p:cxnSp>
        <p:nvCxnSpPr>
          <p:cNvPr id="1110" name="Straight Connector 91"/>
          <p:cNvCxnSpPr>
            <a:stCxn id="1087" idx="6"/>
            <a:endCxn id="1086" idx="0"/>
          </p:cNvCxnSpPr>
          <p:nvPr/>
        </p:nvCxnSpPr>
        <p:spPr>
          <a:xfrm>
            <a:off x="7619040" y="4724280"/>
            <a:ext cx="496440" cy="381600"/>
          </a:xfrm>
          <a:prstGeom prst="straightConnector1">
            <a:avLst/>
          </a:prstGeom>
          <a:ln w="0">
            <a:solidFill>
              <a:srgbClr val="095294"/>
            </a:solidFill>
          </a:ln>
        </p:spPr>
      </p:cxnSp>
      <p:cxnSp>
        <p:nvCxnSpPr>
          <p:cNvPr id="1111" name="Straight Connector 93"/>
          <p:cNvCxnSpPr>
            <a:stCxn id="1083" idx="3"/>
            <a:endCxn id="1088" idx="3"/>
          </p:cNvCxnSpPr>
          <p:nvPr/>
        </p:nvCxnSpPr>
        <p:spPr>
          <a:xfrm flipV="1">
            <a:off x="7771680" y="3841200"/>
            <a:ext cx="406080" cy="44640"/>
          </a:xfrm>
          <a:prstGeom prst="straightConnector1">
            <a:avLst/>
          </a:prstGeom>
          <a:ln w="0">
            <a:solidFill>
              <a:srgbClr val="095294"/>
            </a:solidFill>
          </a:ln>
        </p:spPr>
      </p:cxnSp>
      <p:cxnSp>
        <p:nvCxnSpPr>
          <p:cNvPr id="1112" name="Straight Connector 95"/>
          <p:cNvCxnSpPr>
            <a:stCxn id="1078" idx="3"/>
            <a:endCxn id="1079" idx="3"/>
          </p:cNvCxnSpPr>
          <p:nvPr/>
        </p:nvCxnSpPr>
        <p:spPr>
          <a:xfrm flipV="1">
            <a:off x="7466760" y="2469600"/>
            <a:ext cx="482400" cy="273240"/>
          </a:xfrm>
          <a:prstGeom prst="straightConnector1">
            <a:avLst/>
          </a:prstGeom>
          <a:ln w="0">
            <a:solidFill>
              <a:srgbClr val="095294"/>
            </a:solidFill>
          </a:ln>
        </p:spPr>
      </p:cxnSp>
      <p:cxnSp>
        <p:nvCxnSpPr>
          <p:cNvPr id="1113" name="Straight Connector 97"/>
          <p:cNvCxnSpPr>
            <a:stCxn id="1078" idx="3"/>
            <a:endCxn id="1080" idx="2"/>
          </p:cNvCxnSpPr>
          <p:nvPr/>
        </p:nvCxnSpPr>
        <p:spPr>
          <a:xfrm>
            <a:off x="7466760" y="2742480"/>
            <a:ext cx="458280" cy="77040"/>
          </a:xfrm>
          <a:prstGeom prst="straightConnector1">
            <a:avLst/>
          </a:prstGeom>
          <a:ln w="0">
            <a:solidFill>
              <a:srgbClr val="095294"/>
            </a:solidFill>
          </a:ln>
        </p:spPr>
      </p:cxnSp>
      <p:cxnSp>
        <p:nvCxnSpPr>
          <p:cNvPr id="1114" name="Straight Connector 99"/>
          <p:cNvCxnSpPr>
            <a:stCxn id="1078" idx="3"/>
            <a:endCxn id="1081" idx="2"/>
          </p:cNvCxnSpPr>
          <p:nvPr/>
        </p:nvCxnSpPr>
        <p:spPr>
          <a:xfrm>
            <a:off x="7466760" y="2742480"/>
            <a:ext cx="458280" cy="458280"/>
          </a:xfrm>
          <a:prstGeom prst="straightConnector1">
            <a:avLst/>
          </a:prstGeom>
          <a:ln w="0">
            <a:solidFill>
              <a:srgbClr val="095294"/>
            </a:solidFill>
          </a:ln>
        </p:spPr>
      </p:cxnSp>
      <p:grpSp>
        <p:nvGrpSpPr>
          <p:cNvPr id="1115" name="Group 74"/>
          <p:cNvGrpSpPr/>
          <p:nvPr/>
        </p:nvGrpSpPr>
        <p:grpSpPr>
          <a:xfrm>
            <a:off x="4743360" y="1295280"/>
            <a:ext cx="2457000" cy="821520"/>
            <a:chOff x="4743360" y="1295280"/>
            <a:chExt cx="2457000" cy="821520"/>
          </a:xfrm>
        </p:grpSpPr>
        <p:sp>
          <p:nvSpPr>
            <p:cNvPr id="1116" name="Rectangle 76"/>
            <p:cNvSpPr/>
            <p:nvPr/>
          </p:nvSpPr>
          <p:spPr>
            <a:xfrm>
              <a:off x="4743360" y="1543680"/>
              <a:ext cx="1065240" cy="49572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799"/>
                </a:spcBef>
              </a:pPr>
              <a:r>
                <a:rPr b="0" lang="en-US" sz="1600" spc="-1" strike="noStrike">
                  <a:solidFill>
                    <a:schemeClr val="dk1"/>
                  </a:solidFill>
                  <a:latin typeface="Constantia"/>
                </a:rPr>
                <a:t>KHUVUC</a:t>
              </a:r>
              <a:endParaRPr b="0" lang="vi-VN" sz="1600" spc="-1" strike="noStrike">
                <a:solidFill>
                  <a:srgbClr val="000000"/>
                </a:solidFill>
                <a:latin typeface="Arial"/>
              </a:endParaRPr>
            </a:p>
          </p:txBody>
        </p:sp>
        <p:sp>
          <p:nvSpPr>
            <p:cNvPr id="1117" name="Oval 78"/>
            <p:cNvSpPr/>
            <p:nvPr/>
          </p:nvSpPr>
          <p:spPr>
            <a:xfrm>
              <a:off x="6075720" y="1295280"/>
              <a:ext cx="666360" cy="22464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451"/>
                </a:spcBef>
              </a:pPr>
              <a:r>
                <a:rPr b="0" lang="en-US" sz="900" spc="-1" strike="noStrike" u="sng">
                  <a:solidFill>
                    <a:schemeClr val="dk1"/>
                  </a:solidFill>
                  <a:uFillTx/>
                  <a:latin typeface="Constantia"/>
                </a:rPr>
                <a:t>Mã</a:t>
              </a:r>
              <a:endParaRPr b="0" lang="vi-VN" sz="900" spc="-1" strike="noStrike">
                <a:solidFill>
                  <a:srgbClr val="000000"/>
                </a:solidFill>
                <a:latin typeface="Arial"/>
              </a:endParaRPr>
            </a:p>
          </p:txBody>
        </p:sp>
        <p:sp>
          <p:nvSpPr>
            <p:cNvPr id="1118" name="Oval 80"/>
            <p:cNvSpPr/>
            <p:nvPr/>
          </p:nvSpPr>
          <p:spPr>
            <a:xfrm>
              <a:off x="6062400" y="1853640"/>
              <a:ext cx="679680" cy="26316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400"/>
                </a:spcBef>
              </a:pPr>
              <a:r>
                <a:rPr b="0" lang="en-US" sz="800" spc="-1" strike="noStrike">
                  <a:solidFill>
                    <a:schemeClr val="dk1"/>
                  </a:solidFill>
                  <a:latin typeface="Constantia"/>
                </a:rPr>
                <a:t>Tên</a:t>
              </a:r>
              <a:endParaRPr b="0" lang="vi-VN" sz="800" spc="-1" strike="noStrike">
                <a:solidFill>
                  <a:srgbClr val="000000"/>
                </a:solidFill>
                <a:latin typeface="Arial"/>
              </a:endParaRPr>
            </a:p>
          </p:txBody>
        </p:sp>
        <p:sp>
          <p:nvSpPr>
            <p:cNvPr id="1119" name="Oval 82"/>
            <p:cNvSpPr/>
            <p:nvPr/>
          </p:nvSpPr>
          <p:spPr>
            <a:xfrm>
              <a:off x="6568920" y="1534680"/>
              <a:ext cx="631440" cy="21744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a:t>
              </a:r>
              <a:endParaRPr b="0" lang="vi-VN" sz="1100" spc="-1" strike="noStrike">
                <a:solidFill>
                  <a:srgbClr val="000000"/>
                </a:solidFill>
                <a:latin typeface="Arial"/>
              </a:endParaRPr>
            </a:p>
          </p:txBody>
        </p:sp>
      </p:grpSp>
      <p:cxnSp>
        <p:nvCxnSpPr>
          <p:cNvPr id="1120" name="Straight Connector 2"/>
          <p:cNvCxnSpPr>
            <a:stCxn id="1116" idx="3"/>
            <a:endCxn id="1117" idx="3"/>
          </p:cNvCxnSpPr>
          <p:nvPr/>
        </p:nvCxnSpPr>
        <p:spPr>
          <a:xfrm flipV="1">
            <a:off x="5808600" y="1487160"/>
            <a:ext cx="365040" cy="304560"/>
          </a:xfrm>
          <a:prstGeom prst="straightConnector1">
            <a:avLst/>
          </a:prstGeom>
          <a:ln w="0">
            <a:solidFill>
              <a:srgbClr val="095294"/>
            </a:solidFill>
          </a:ln>
        </p:spPr>
      </p:cxnSp>
      <p:cxnSp>
        <p:nvCxnSpPr>
          <p:cNvPr id="1121" name="Straight Connector 4"/>
          <p:cNvCxnSpPr>
            <a:stCxn id="1116" idx="3"/>
            <a:endCxn id="1119" idx="2"/>
          </p:cNvCxnSpPr>
          <p:nvPr/>
        </p:nvCxnSpPr>
        <p:spPr>
          <a:xfrm flipV="1">
            <a:off x="5808600" y="1643400"/>
            <a:ext cx="760680" cy="148320"/>
          </a:xfrm>
          <a:prstGeom prst="straightConnector1">
            <a:avLst/>
          </a:prstGeom>
          <a:ln w="0">
            <a:solidFill>
              <a:srgbClr val="095294"/>
            </a:solidFill>
          </a:ln>
        </p:spPr>
      </p:cxnSp>
      <p:cxnSp>
        <p:nvCxnSpPr>
          <p:cNvPr id="1122" name="Straight Connector 23"/>
          <p:cNvCxnSpPr>
            <a:stCxn id="1116" idx="3"/>
            <a:endCxn id="1118" idx="1"/>
          </p:cNvCxnSpPr>
          <p:nvPr/>
        </p:nvCxnSpPr>
        <p:spPr>
          <a:xfrm>
            <a:off x="5808600" y="1791360"/>
            <a:ext cx="353520" cy="101160"/>
          </a:xfrm>
          <a:prstGeom prst="straightConnector1">
            <a:avLst/>
          </a:prstGeom>
          <a:ln w="0">
            <a:solidFill>
              <a:srgbClr val="095294"/>
            </a:solidFill>
          </a:ln>
        </p:spPr>
      </p:cxn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title"/>
          </p:nvPr>
        </p:nvSpPr>
        <p:spPr>
          <a:xfrm>
            <a:off x="457200" y="353880"/>
            <a:ext cx="8228880" cy="619920"/>
          </a:xfrm>
          <a:prstGeom prst="rect">
            <a:avLst/>
          </a:prstGeom>
          <a:noFill/>
          <a:ln w="9360">
            <a:noFill/>
          </a:ln>
        </p:spPr>
        <p:txBody>
          <a:bodyPr numCol="1" spcCol="0" lIns="0" rIns="0" tIns="45720" bIns="0" anchor="b">
            <a:noAutofit/>
          </a:bodyPr>
          <a:p>
            <a:pPr indent="0">
              <a:lnSpc>
                <a:spcPct val="100000"/>
              </a:lnSpc>
              <a:buNone/>
              <a:tabLst>
                <a:tab algn="l" pos="0"/>
              </a:tabLst>
            </a:pPr>
            <a:br>
              <a:rPr sz="2400"/>
            </a:br>
            <a:r>
              <a:rPr b="0" i="1" lang="en-US" sz="2400" spc="-1" strike="noStrike">
                <a:solidFill>
                  <a:schemeClr val="dk2"/>
                </a:solidFill>
                <a:latin typeface="Calibri"/>
              </a:rPr>
              <a:t>Bài tập 1: </a:t>
            </a:r>
            <a:r>
              <a:rPr b="1" lang="en-US" sz="2000" spc="-1" strike="noStrike">
                <a:solidFill>
                  <a:schemeClr val="dk2"/>
                </a:solidFill>
                <a:latin typeface="Calibri"/>
              </a:rPr>
              <a:t>Quản lý thi tuyển sinh</a:t>
            </a:r>
            <a:endParaRPr b="0" lang="vi-VN" sz="2000" spc="-1" strike="noStrike">
              <a:solidFill>
                <a:srgbClr val="000000"/>
              </a:solidFill>
              <a:latin typeface="Arial"/>
            </a:endParaRPr>
          </a:p>
        </p:txBody>
      </p:sp>
      <p:sp>
        <p:nvSpPr>
          <p:cNvPr id="1124" name="PlaceHolder 2"/>
          <p:cNvSpPr>
            <a:spLocks noGrp="1"/>
          </p:cNvSpPr>
          <p:nvPr>
            <p:ph/>
          </p:nvPr>
        </p:nvSpPr>
        <p:spPr>
          <a:xfrm>
            <a:off x="457200" y="1295280"/>
            <a:ext cx="8228880" cy="5104800"/>
          </a:xfrm>
          <a:prstGeom prst="rect">
            <a:avLst/>
          </a:prstGeom>
          <a:noFill/>
          <a:ln w="9360">
            <a:noFill/>
          </a:ln>
        </p:spPr>
        <p:txBody>
          <a:bodyPr numCol="1" spcCol="0" lIns="91440" rIns="91440" tIns="45720" bIns="45720" anchor="t">
            <a:noAutofit/>
          </a:bodyPr>
          <a:p>
            <a:pPr indent="0">
              <a:spcBef>
                <a:spcPts val="1417"/>
              </a:spcBef>
              <a:buNone/>
            </a:pPr>
            <a:endParaRPr b="0" lang="vi-VN" sz="1800" spc="-1" strike="noStrike">
              <a:solidFill>
                <a:srgbClr val="000000"/>
              </a:solidFill>
              <a:latin typeface="Arial"/>
            </a:endParaRPr>
          </a:p>
        </p:txBody>
      </p:sp>
      <p:sp>
        <p:nvSpPr>
          <p:cNvPr id="1125" name="PlaceHolder 3"/>
          <p:cNvSpPr>
            <a:spLocks noGrp="1"/>
          </p:cNvSpPr>
          <p:nvPr>
            <p:ph type="sldNum" idx="175"/>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18122609-B66A-4367-9DFA-2A4ECFE3FEDD}"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126" name="PlaceHolder 4"/>
          <p:cNvSpPr>
            <a:spLocks noGrp="1"/>
          </p:cNvSpPr>
          <p:nvPr>
            <p:ph type="dt" idx="176"/>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B2CE631C-448D-443B-A88F-CBF682026847}"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127" name="PlaceHolder 5"/>
          <p:cNvSpPr>
            <a:spLocks noGrp="1"/>
          </p:cNvSpPr>
          <p:nvPr>
            <p:ph type="ftr" idx="177"/>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128" name="Picture 3" descr=""/>
          <p:cNvPicPr/>
          <p:nvPr/>
        </p:nvPicPr>
        <p:blipFill>
          <a:blip r:embed="rId1"/>
          <a:stretch/>
        </p:blipFill>
        <p:spPr>
          <a:xfrm>
            <a:off x="0" y="990720"/>
            <a:ext cx="9071280" cy="53280"/>
          </a:xfrm>
          <a:prstGeom prst="rect">
            <a:avLst/>
          </a:prstGeom>
          <a:ln w="0">
            <a:noFill/>
          </a:ln>
        </p:spPr>
      </p:pic>
      <p:grpSp>
        <p:nvGrpSpPr>
          <p:cNvPr id="1129" name="Group 104"/>
          <p:cNvGrpSpPr/>
          <p:nvPr/>
        </p:nvGrpSpPr>
        <p:grpSpPr>
          <a:xfrm>
            <a:off x="304920" y="1143000"/>
            <a:ext cx="4342680" cy="1294920"/>
            <a:chOff x="304920" y="1143000"/>
            <a:chExt cx="4342680" cy="1294920"/>
          </a:xfrm>
        </p:grpSpPr>
        <p:sp>
          <p:nvSpPr>
            <p:cNvPr id="1130" name="Rectangle 9"/>
            <p:cNvSpPr/>
            <p:nvPr/>
          </p:nvSpPr>
          <p:spPr>
            <a:xfrm>
              <a:off x="2666880" y="1752480"/>
              <a:ext cx="114228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THISINH</a:t>
              </a:r>
              <a:endParaRPr b="0" lang="vi-VN" sz="1800" spc="-1" strike="noStrike">
                <a:solidFill>
                  <a:srgbClr val="000000"/>
                </a:solidFill>
                <a:latin typeface="Arial"/>
              </a:endParaRPr>
            </a:p>
          </p:txBody>
        </p:sp>
        <p:sp>
          <p:nvSpPr>
            <p:cNvPr id="1131" name="Oval 16"/>
            <p:cNvSpPr/>
            <p:nvPr/>
          </p:nvSpPr>
          <p:spPr>
            <a:xfrm>
              <a:off x="2438280" y="11430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SBD</a:t>
              </a:r>
              <a:endParaRPr b="0" lang="vi-VN" sz="1100" spc="-1" strike="noStrike">
                <a:solidFill>
                  <a:srgbClr val="000000"/>
                </a:solidFill>
                <a:latin typeface="Arial"/>
              </a:endParaRPr>
            </a:p>
          </p:txBody>
        </p:sp>
        <p:sp>
          <p:nvSpPr>
            <p:cNvPr id="1132" name="Oval 18"/>
            <p:cNvSpPr/>
            <p:nvPr/>
          </p:nvSpPr>
          <p:spPr>
            <a:xfrm>
              <a:off x="533520" y="1295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a:t>
              </a:r>
              <a:endParaRPr b="0" lang="vi-VN" sz="1100" spc="-1" strike="noStrike">
                <a:solidFill>
                  <a:srgbClr val="000000"/>
                </a:solidFill>
                <a:latin typeface="Arial"/>
              </a:endParaRPr>
            </a:p>
          </p:txBody>
        </p:sp>
        <p:sp>
          <p:nvSpPr>
            <p:cNvPr id="1133" name="Oval 19"/>
            <p:cNvSpPr/>
            <p:nvPr/>
          </p:nvSpPr>
          <p:spPr>
            <a:xfrm>
              <a:off x="304920" y="17524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Đệm</a:t>
              </a:r>
              <a:endParaRPr b="0" lang="vi-VN" sz="1100" spc="-1" strike="noStrike">
                <a:solidFill>
                  <a:srgbClr val="000000"/>
                </a:solidFill>
                <a:latin typeface="Arial"/>
              </a:endParaRPr>
            </a:p>
          </p:txBody>
        </p:sp>
        <p:sp>
          <p:nvSpPr>
            <p:cNvPr id="1134" name="Oval 20"/>
            <p:cNvSpPr/>
            <p:nvPr/>
          </p:nvSpPr>
          <p:spPr>
            <a:xfrm>
              <a:off x="533520" y="21337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135" name="Oval 21"/>
            <p:cNvSpPr/>
            <p:nvPr/>
          </p:nvSpPr>
          <p:spPr>
            <a:xfrm>
              <a:off x="1447920" y="182880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Họtên</a:t>
              </a:r>
              <a:endParaRPr b="0" lang="vi-VN" sz="1100" spc="-1" strike="noStrike">
                <a:solidFill>
                  <a:srgbClr val="000000"/>
                </a:solidFill>
                <a:latin typeface="Arial"/>
              </a:endParaRPr>
            </a:p>
          </p:txBody>
        </p:sp>
        <p:sp>
          <p:nvSpPr>
            <p:cNvPr id="1136" name="Oval 22"/>
            <p:cNvSpPr/>
            <p:nvPr/>
          </p:nvSpPr>
          <p:spPr>
            <a:xfrm>
              <a:off x="3505320" y="1143000"/>
              <a:ext cx="11422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Ngàysinh</a:t>
              </a:r>
              <a:endParaRPr b="0" lang="vi-VN" sz="1100" spc="-1" strike="noStrike">
                <a:solidFill>
                  <a:srgbClr val="000000"/>
                </a:solidFill>
                <a:latin typeface="Arial"/>
              </a:endParaRPr>
            </a:p>
          </p:txBody>
        </p:sp>
      </p:grpSp>
      <p:grpSp>
        <p:nvGrpSpPr>
          <p:cNvPr id="1137" name="Group 103"/>
          <p:cNvGrpSpPr/>
          <p:nvPr/>
        </p:nvGrpSpPr>
        <p:grpSpPr>
          <a:xfrm>
            <a:off x="609480" y="2819520"/>
            <a:ext cx="2895120" cy="1065960"/>
            <a:chOff x="609480" y="2819520"/>
            <a:chExt cx="2895120" cy="1065960"/>
          </a:xfrm>
        </p:grpSpPr>
        <p:sp>
          <p:nvSpPr>
            <p:cNvPr id="1138" name="Rectangle 12"/>
            <p:cNvSpPr/>
            <p:nvPr/>
          </p:nvSpPr>
          <p:spPr>
            <a:xfrm>
              <a:off x="2362320" y="3276720"/>
              <a:ext cx="114228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NGANH</a:t>
              </a:r>
              <a:endParaRPr b="0" lang="vi-VN" sz="1800" spc="-1" strike="noStrike">
                <a:solidFill>
                  <a:srgbClr val="000000"/>
                </a:solidFill>
                <a:latin typeface="Arial"/>
              </a:endParaRPr>
            </a:p>
          </p:txBody>
        </p:sp>
        <p:sp>
          <p:nvSpPr>
            <p:cNvPr id="1139" name="Oval 25"/>
            <p:cNvSpPr/>
            <p:nvPr/>
          </p:nvSpPr>
          <p:spPr>
            <a:xfrm>
              <a:off x="1295280" y="28195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140" name="Oval 26"/>
            <p:cNvSpPr/>
            <p:nvPr/>
          </p:nvSpPr>
          <p:spPr>
            <a:xfrm>
              <a:off x="1219320" y="35053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141" name="Oval 28"/>
            <p:cNvSpPr/>
            <p:nvPr/>
          </p:nvSpPr>
          <p:spPr>
            <a:xfrm>
              <a:off x="609480" y="312408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Môtả</a:t>
              </a:r>
              <a:endParaRPr b="0" lang="vi-VN" sz="1100" spc="-1" strike="noStrike">
                <a:solidFill>
                  <a:srgbClr val="000000"/>
                </a:solidFill>
                <a:latin typeface="Arial"/>
              </a:endParaRPr>
            </a:p>
          </p:txBody>
        </p:sp>
      </p:grpSp>
      <p:grpSp>
        <p:nvGrpSpPr>
          <p:cNvPr id="1142" name="Group 102"/>
          <p:cNvGrpSpPr/>
          <p:nvPr/>
        </p:nvGrpSpPr>
        <p:grpSpPr>
          <a:xfrm>
            <a:off x="380880" y="4800600"/>
            <a:ext cx="1523520" cy="1828080"/>
            <a:chOff x="380880" y="4800600"/>
            <a:chExt cx="1523520" cy="1828080"/>
          </a:xfrm>
        </p:grpSpPr>
        <p:sp>
          <p:nvSpPr>
            <p:cNvPr id="1143" name="Rectangle 14"/>
            <p:cNvSpPr/>
            <p:nvPr/>
          </p:nvSpPr>
          <p:spPr>
            <a:xfrm>
              <a:off x="533520" y="4800600"/>
              <a:ext cx="129456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TRUONG</a:t>
              </a:r>
              <a:endParaRPr b="0" lang="vi-VN" sz="1800" spc="-1" strike="noStrike">
                <a:solidFill>
                  <a:srgbClr val="000000"/>
                </a:solidFill>
                <a:latin typeface="Arial"/>
              </a:endParaRPr>
            </a:p>
          </p:txBody>
        </p:sp>
        <p:sp>
          <p:nvSpPr>
            <p:cNvPr id="1144" name="Oval 29"/>
            <p:cNvSpPr/>
            <p:nvPr/>
          </p:nvSpPr>
          <p:spPr>
            <a:xfrm>
              <a:off x="1219320" y="58672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145" name="Oval 30"/>
            <p:cNvSpPr/>
            <p:nvPr/>
          </p:nvSpPr>
          <p:spPr>
            <a:xfrm>
              <a:off x="380880" y="57913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146" name="Oval 31"/>
            <p:cNvSpPr/>
            <p:nvPr/>
          </p:nvSpPr>
          <p:spPr>
            <a:xfrm>
              <a:off x="685800" y="6400800"/>
              <a:ext cx="990000" cy="22788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Địa_chỉ</a:t>
              </a:r>
              <a:endParaRPr b="0" lang="vi-VN" sz="1100" spc="-1" strike="noStrike">
                <a:solidFill>
                  <a:srgbClr val="000000"/>
                </a:solidFill>
                <a:latin typeface="Arial"/>
              </a:endParaRPr>
            </a:p>
          </p:txBody>
        </p:sp>
      </p:grpSp>
      <p:grpSp>
        <p:nvGrpSpPr>
          <p:cNvPr id="1147" name="Group 100"/>
          <p:cNvGrpSpPr/>
          <p:nvPr/>
        </p:nvGrpSpPr>
        <p:grpSpPr>
          <a:xfrm>
            <a:off x="2666880" y="4952880"/>
            <a:ext cx="1523520" cy="1599840"/>
            <a:chOff x="2666880" y="4952880"/>
            <a:chExt cx="1523520" cy="1599840"/>
          </a:xfrm>
        </p:grpSpPr>
        <p:sp>
          <p:nvSpPr>
            <p:cNvPr id="1148" name="Rectangle 13"/>
            <p:cNvSpPr/>
            <p:nvPr/>
          </p:nvSpPr>
          <p:spPr>
            <a:xfrm>
              <a:off x="2971800" y="4952880"/>
              <a:ext cx="121860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KHOITHI</a:t>
              </a:r>
              <a:endParaRPr b="0" lang="vi-VN" sz="1800" spc="-1" strike="noStrike">
                <a:solidFill>
                  <a:srgbClr val="000000"/>
                </a:solidFill>
                <a:latin typeface="Arial"/>
              </a:endParaRPr>
            </a:p>
          </p:txBody>
        </p:sp>
        <p:sp>
          <p:nvSpPr>
            <p:cNvPr id="1149" name="Oval 32"/>
            <p:cNvSpPr/>
            <p:nvPr/>
          </p:nvSpPr>
          <p:spPr>
            <a:xfrm>
              <a:off x="2666880" y="60199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150" name="Oval 33"/>
            <p:cNvSpPr/>
            <p:nvPr/>
          </p:nvSpPr>
          <p:spPr>
            <a:xfrm>
              <a:off x="3352680" y="6248520"/>
              <a:ext cx="76140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Mô tả</a:t>
              </a:r>
              <a:endParaRPr b="0" lang="vi-VN" sz="1100" spc="-1" strike="noStrike">
                <a:solidFill>
                  <a:srgbClr val="000000"/>
                </a:solidFill>
                <a:latin typeface="Arial"/>
              </a:endParaRPr>
            </a:p>
          </p:txBody>
        </p:sp>
      </p:grpSp>
      <p:grpSp>
        <p:nvGrpSpPr>
          <p:cNvPr id="1151" name="Group 101"/>
          <p:cNvGrpSpPr/>
          <p:nvPr/>
        </p:nvGrpSpPr>
        <p:grpSpPr>
          <a:xfrm>
            <a:off x="4952880" y="4800600"/>
            <a:ext cx="3276000" cy="1828080"/>
            <a:chOff x="4952880" y="4800600"/>
            <a:chExt cx="3276000" cy="1828080"/>
          </a:xfrm>
        </p:grpSpPr>
        <p:sp>
          <p:nvSpPr>
            <p:cNvPr id="1152" name="Rectangle 15"/>
            <p:cNvSpPr/>
            <p:nvPr/>
          </p:nvSpPr>
          <p:spPr>
            <a:xfrm>
              <a:off x="6172200" y="4800600"/>
              <a:ext cx="121860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MONTHI</a:t>
              </a:r>
              <a:endParaRPr b="0" lang="vi-VN" sz="1800" spc="-1" strike="noStrike">
                <a:solidFill>
                  <a:srgbClr val="000000"/>
                </a:solidFill>
                <a:latin typeface="Arial"/>
              </a:endParaRPr>
            </a:p>
          </p:txBody>
        </p:sp>
        <p:sp>
          <p:nvSpPr>
            <p:cNvPr id="1153" name="Oval 34"/>
            <p:cNvSpPr/>
            <p:nvPr/>
          </p:nvSpPr>
          <p:spPr>
            <a:xfrm>
              <a:off x="4952880" y="579132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154" name="Oval 35"/>
            <p:cNvSpPr/>
            <p:nvPr/>
          </p:nvSpPr>
          <p:spPr>
            <a:xfrm>
              <a:off x="7086600" y="5715000"/>
              <a:ext cx="11422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Thờigian</a:t>
              </a:r>
              <a:endParaRPr b="0" lang="vi-VN" sz="1100" spc="-1" strike="noStrike">
                <a:solidFill>
                  <a:srgbClr val="000000"/>
                </a:solidFill>
                <a:latin typeface="Arial"/>
              </a:endParaRPr>
            </a:p>
          </p:txBody>
        </p:sp>
        <p:sp>
          <p:nvSpPr>
            <p:cNvPr id="1155" name="Oval 36"/>
            <p:cNvSpPr/>
            <p:nvPr/>
          </p:nvSpPr>
          <p:spPr>
            <a:xfrm>
              <a:off x="5715000" y="59436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156" name="Oval 37"/>
            <p:cNvSpPr/>
            <p:nvPr/>
          </p:nvSpPr>
          <p:spPr>
            <a:xfrm>
              <a:off x="6400800" y="6324480"/>
              <a:ext cx="144720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Hình_thức</a:t>
              </a:r>
              <a:endParaRPr b="0" lang="vi-VN" sz="1100" spc="-1" strike="noStrike">
                <a:solidFill>
                  <a:srgbClr val="000000"/>
                </a:solidFill>
                <a:latin typeface="Arial"/>
              </a:endParaRPr>
            </a:p>
          </p:txBody>
        </p:sp>
      </p:grpSp>
      <p:grpSp>
        <p:nvGrpSpPr>
          <p:cNvPr id="1157" name="Group 105"/>
          <p:cNvGrpSpPr/>
          <p:nvPr/>
        </p:nvGrpSpPr>
        <p:grpSpPr>
          <a:xfrm>
            <a:off x="5791320" y="914400"/>
            <a:ext cx="2666160" cy="1142280"/>
            <a:chOff x="5791320" y="914400"/>
            <a:chExt cx="2666160" cy="1142280"/>
          </a:xfrm>
        </p:grpSpPr>
        <p:sp>
          <p:nvSpPr>
            <p:cNvPr id="1158" name="Rectangle 11"/>
            <p:cNvSpPr/>
            <p:nvPr/>
          </p:nvSpPr>
          <p:spPr>
            <a:xfrm>
              <a:off x="5791320" y="1143000"/>
              <a:ext cx="152316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PHONGTHI</a:t>
              </a:r>
              <a:endParaRPr b="0" lang="vi-VN" sz="1800" spc="-1" strike="noStrike">
                <a:solidFill>
                  <a:srgbClr val="000000"/>
                </a:solidFill>
                <a:latin typeface="Arial"/>
              </a:endParaRPr>
            </a:p>
          </p:txBody>
        </p:sp>
        <p:sp>
          <p:nvSpPr>
            <p:cNvPr id="1159" name="Oval 38"/>
            <p:cNvSpPr/>
            <p:nvPr/>
          </p:nvSpPr>
          <p:spPr>
            <a:xfrm>
              <a:off x="7696080" y="9144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sp>
          <p:nvSpPr>
            <p:cNvPr id="1160" name="Oval 39"/>
            <p:cNvSpPr/>
            <p:nvPr/>
          </p:nvSpPr>
          <p:spPr>
            <a:xfrm>
              <a:off x="7772400" y="13716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Đ_Đ</a:t>
              </a:r>
              <a:endParaRPr b="0" lang="vi-VN" sz="1100" spc="-1" strike="noStrike">
                <a:solidFill>
                  <a:srgbClr val="000000"/>
                </a:solidFill>
                <a:latin typeface="Arial"/>
              </a:endParaRPr>
            </a:p>
          </p:txBody>
        </p:sp>
        <p:sp>
          <p:nvSpPr>
            <p:cNvPr id="1161" name="Oval 40"/>
            <p:cNvSpPr/>
            <p:nvPr/>
          </p:nvSpPr>
          <p:spPr>
            <a:xfrm>
              <a:off x="7772400" y="17524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SL</a:t>
              </a:r>
              <a:endParaRPr b="0" lang="vi-VN" sz="1100" spc="-1" strike="noStrike">
                <a:solidFill>
                  <a:srgbClr val="000000"/>
                </a:solidFill>
                <a:latin typeface="Arial"/>
              </a:endParaRPr>
            </a:p>
          </p:txBody>
        </p:sp>
      </p:grpSp>
      <p:grpSp>
        <p:nvGrpSpPr>
          <p:cNvPr id="1162" name="Group 106"/>
          <p:cNvGrpSpPr/>
          <p:nvPr/>
        </p:nvGrpSpPr>
        <p:grpSpPr>
          <a:xfrm>
            <a:off x="6705720" y="3429000"/>
            <a:ext cx="2513880" cy="1828080"/>
            <a:chOff x="6705720" y="3429000"/>
            <a:chExt cx="2513880" cy="1828080"/>
          </a:xfrm>
        </p:grpSpPr>
        <p:sp>
          <p:nvSpPr>
            <p:cNvPr id="1163" name="Rectangle 10"/>
            <p:cNvSpPr/>
            <p:nvPr/>
          </p:nvSpPr>
          <p:spPr>
            <a:xfrm>
              <a:off x="6705720" y="3429000"/>
              <a:ext cx="1370880" cy="60876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601"/>
                </a:spcBef>
              </a:pPr>
              <a:r>
                <a:rPr b="0" lang="en-US" sz="1800" spc="-1" strike="noStrike">
                  <a:solidFill>
                    <a:schemeClr val="dk1"/>
                  </a:solidFill>
                  <a:latin typeface="Constantia"/>
                </a:rPr>
                <a:t>CB_COTHI</a:t>
              </a:r>
              <a:endParaRPr b="0" lang="vi-VN" sz="1800" spc="-1" strike="noStrike">
                <a:solidFill>
                  <a:srgbClr val="000000"/>
                </a:solidFill>
                <a:latin typeface="Arial"/>
              </a:endParaRPr>
            </a:p>
          </p:txBody>
        </p:sp>
        <p:sp>
          <p:nvSpPr>
            <p:cNvPr id="1164" name="Oval 41"/>
            <p:cNvSpPr/>
            <p:nvPr/>
          </p:nvSpPr>
          <p:spPr>
            <a:xfrm>
              <a:off x="8305920" y="40384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a:t>
              </a:r>
              <a:endParaRPr b="0" lang="vi-VN" sz="1100" spc="-1" strike="noStrike">
                <a:solidFill>
                  <a:srgbClr val="000000"/>
                </a:solidFill>
                <a:latin typeface="Arial"/>
              </a:endParaRPr>
            </a:p>
          </p:txBody>
        </p:sp>
        <p:sp>
          <p:nvSpPr>
            <p:cNvPr id="1165" name="Oval 42"/>
            <p:cNvSpPr/>
            <p:nvPr/>
          </p:nvSpPr>
          <p:spPr>
            <a:xfrm>
              <a:off x="8534520" y="45720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Đệm</a:t>
              </a:r>
              <a:endParaRPr b="0" lang="vi-VN" sz="1100" spc="-1" strike="noStrike">
                <a:solidFill>
                  <a:srgbClr val="000000"/>
                </a:solidFill>
                <a:latin typeface="Arial"/>
              </a:endParaRPr>
            </a:p>
          </p:txBody>
        </p:sp>
        <p:sp>
          <p:nvSpPr>
            <p:cNvPr id="1166" name="Oval 43"/>
            <p:cNvSpPr/>
            <p:nvPr/>
          </p:nvSpPr>
          <p:spPr>
            <a:xfrm>
              <a:off x="8077320" y="495288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Tên</a:t>
              </a:r>
              <a:endParaRPr b="0" lang="vi-VN" sz="1100" spc="-1" strike="noStrike">
                <a:solidFill>
                  <a:srgbClr val="000000"/>
                </a:solidFill>
                <a:latin typeface="Arial"/>
              </a:endParaRPr>
            </a:p>
          </p:txBody>
        </p:sp>
        <p:sp>
          <p:nvSpPr>
            <p:cNvPr id="1167" name="Oval 44"/>
            <p:cNvSpPr/>
            <p:nvPr/>
          </p:nvSpPr>
          <p:spPr>
            <a:xfrm>
              <a:off x="7086600" y="4419720"/>
              <a:ext cx="83736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a:solidFill>
                    <a:schemeClr val="dk1"/>
                  </a:solidFill>
                  <a:latin typeface="Constantia"/>
                </a:rPr>
                <a:t>Họtên</a:t>
              </a:r>
              <a:endParaRPr b="0" lang="vi-VN" sz="1100" spc="-1" strike="noStrike">
                <a:solidFill>
                  <a:srgbClr val="000000"/>
                </a:solidFill>
                <a:latin typeface="Arial"/>
              </a:endParaRPr>
            </a:p>
          </p:txBody>
        </p:sp>
        <p:sp>
          <p:nvSpPr>
            <p:cNvPr id="1168" name="Oval 45"/>
            <p:cNvSpPr/>
            <p:nvPr/>
          </p:nvSpPr>
          <p:spPr>
            <a:xfrm>
              <a:off x="8229600" y="3429000"/>
              <a:ext cx="685080" cy="30420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550"/>
                </a:spcBef>
              </a:pPr>
              <a:r>
                <a:rPr b="0" lang="en-US" sz="1100" spc="-1" strike="noStrike" u="sng">
                  <a:solidFill>
                    <a:schemeClr val="dk1"/>
                  </a:solidFill>
                  <a:uFillTx/>
                  <a:latin typeface="Constantia"/>
                </a:rPr>
                <a:t>Mã</a:t>
              </a:r>
              <a:endParaRPr b="0" lang="vi-VN" sz="1100" spc="-1" strike="noStrike">
                <a:solidFill>
                  <a:srgbClr val="000000"/>
                </a:solidFill>
                <a:latin typeface="Arial"/>
              </a:endParaRPr>
            </a:p>
          </p:txBody>
        </p:sp>
      </p:grpSp>
      <p:cxnSp>
        <p:nvCxnSpPr>
          <p:cNvPr id="1169" name="Straight Connector 47"/>
          <p:cNvCxnSpPr>
            <a:stCxn id="1130" idx="0"/>
            <a:endCxn id="1136" idx="4"/>
          </p:cNvCxnSpPr>
          <p:nvPr/>
        </p:nvCxnSpPr>
        <p:spPr>
          <a:xfrm flipV="1">
            <a:off x="3237840" y="1447200"/>
            <a:ext cx="839160" cy="305640"/>
          </a:xfrm>
          <a:prstGeom prst="straightConnector1">
            <a:avLst/>
          </a:prstGeom>
          <a:ln w="0">
            <a:solidFill>
              <a:srgbClr val="095294"/>
            </a:solidFill>
          </a:ln>
        </p:spPr>
      </p:cxnSp>
      <p:cxnSp>
        <p:nvCxnSpPr>
          <p:cNvPr id="1170" name="Straight Connector 49"/>
          <p:cNvCxnSpPr>
            <a:endCxn id="1131" idx="4"/>
          </p:cNvCxnSpPr>
          <p:nvPr/>
        </p:nvCxnSpPr>
        <p:spPr>
          <a:xfrm flipH="1" flipV="1">
            <a:off x="2781000" y="1447200"/>
            <a:ext cx="343800" cy="306000"/>
          </a:xfrm>
          <a:prstGeom prst="straightConnector1">
            <a:avLst/>
          </a:prstGeom>
          <a:ln w="0">
            <a:solidFill>
              <a:srgbClr val="095294"/>
            </a:solidFill>
          </a:ln>
        </p:spPr>
      </p:cxnSp>
      <p:cxnSp>
        <p:nvCxnSpPr>
          <p:cNvPr id="1171" name="Straight Connector 51"/>
          <p:cNvCxnSpPr>
            <a:stCxn id="1130" idx="1"/>
            <a:endCxn id="1135" idx="6"/>
          </p:cNvCxnSpPr>
          <p:nvPr/>
        </p:nvCxnSpPr>
        <p:spPr>
          <a:xfrm flipH="1" flipV="1">
            <a:off x="2285280" y="1981080"/>
            <a:ext cx="381960" cy="75960"/>
          </a:xfrm>
          <a:prstGeom prst="straightConnector1">
            <a:avLst/>
          </a:prstGeom>
          <a:ln w="0">
            <a:solidFill>
              <a:srgbClr val="095294"/>
            </a:solidFill>
          </a:ln>
        </p:spPr>
      </p:cxnSp>
      <p:cxnSp>
        <p:nvCxnSpPr>
          <p:cNvPr id="1172" name="Straight Connector 53"/>
          <p:cNvCxnSpPr>
            <a:stCxn id="1135" idx="2"/>
            <a:endCxn id="1132" idx="5"/>
          </p:cNvCxnSpPr>
          <p:nvPr/>
        </p:nvCxnSpPr>
        <p:spPr>
          <a:xfrm flipH="1" flipV="1">
            <a:off x="1118520" y="1555200"/>
            <a:ext cx="329760" cy="426240"/>
          </a:xfrm>
          <a:prstGeom prst="straightConnector1">
            <a:avLst/>
          </a:prstGeom>
          <a:ln w="0">
            <a:solidFill>
              <a:srgbClr val="095294"/>
            </a:solidFill>
          </a:ln>
        </p:spPr>
      </p:cxnSp>
      <p:cxnSp>
        <p:nvCxnSpPr>
          <p:cNvPr id="1173" name="Straight Connector 55"/>
          <p:cNvCxnSpPr>
            <a:stCxn id="1135" idx="2"/>
            <a:endCxn id="1133" idx="6"/>
          </p:cNvCxnSpPr>
          <p:nvPr/>
        </p:nvCxnSpPr>
        <p:spPr>
          <a:xfrm flipH="1" flipV="1">
            <a:off x="990000" y="1904760"/>
            <a:ext cx="458280" cy="76680"/>
          </a:xfrm>
          <a:prstGeom prst="straightConnector1">
            <a:avLst/>
          </a:prstGeom>
          <a:ln w="0">
            <a:solidFill>
              <a:srgbClr val="095294"/>
            </a:solidFill>
          </a:ln>
        </p:spPr>
      </p:cxnSp>
      <p:cxnSp>
        <p:nvCxnSpPr>
          <p:cNvPr id="1174" name="Straight Connector 57"/>
          <p:cNvCxnSpPr>
            <a:stCxn id="1135" idx="2"/>
            <a:endCxn id="1134" idx="7"/>
          </p:cNvCxnSpPr>
          <p:nvPr/>
        </p:nvCxnSpPr>
        <p:spPr>
          <a:xfrm flipH="1">
            <a:off x="1118520" y="1981080"/>
            <a:ext cx="329760" cy="197280"/>
          </a:xfrm>
          <a:prstGeom prst="straightConnector1">
            <a:avLst/>
          </a:prstGeom>
          <a:ln w="0">
            <a:solidFill>
              <a:srgbClr val="095294"/>
            </a:solidFill>
          </a:ln>
        </p:spPr>
      </p:cxnSp>
      <p:cxnSp>
        <p:nvCxnSpPr>
          <p:cNvPr id="1175" name="Straight Connector 59"/>
          <p:cNvCxnSpPr>
            <a:endCxn id="1139" idx="5"/>
          </p:cNvCxnSpPr>
          <p:nvPr/>
        </p:nvCxnSpPr>
        <p:spPr>
          <a:xfrm flipH="1" flipV="1">
            <a:off x="1880280" y="3079440"/>
            <a:ext cx="482400" cy="350280"/>
          </a:xfrm>
          <a:prstGeom prst="straightConnector1">
            <a:avLst/>
          </a:prstGeom>
          <a:ln w="0">
            <a:solidFill>
              <a:srgbClr val="095294"/>
            </a:solidFill>
          </a:ln>
        </p:spPr>
      </p:cxnSp>
      <p:cxnSp>
        <p:nvCxnSpPr>
          <p:cNvPr id="1176" name="Straight Connector 61"/>
          <p:cNvCxnSpPr>
            <a:stCxn id="1138" idx="1"/>
            <a:endCxn id="1141" idx="6"/>
          </p:cNvCxnSpPr>
          <p:nvPr/>
        </p:nvCxnSpPr>
        <p:spPr>
          <a:xfrm flipH="1" flipV="1">
            <a:off x="1446840" y="3276360"/>
            <a:ext cx="915840" cy="304920"/>
          </a:xfrm>
          <a:prstGeom prst="straightConnector1">
            <a:avLst/>
          </a:prstGeom>
          <a:ln w="0">
            <a:solidFill>
              <a:srgbClr val="095294"/>
            </a:solidFill>
          </a:ln>
        </p:spPr>
      </p:cxnSp>
      <p:cxnSp>
        <p:nvCxnSpPr>
          <p:cNvPr id="1177" name="Straight Connector 63"/>
          <p:cNvCxnSpPr>
            <a:stCxn id="1138" idx="1"/>
            <a:endCxn id="1140" idx="5"/>
          </p:cNvCxnSpPr>
          <p:nvPr/>
        </p:nvCxnSpPr>
        <p:spPr>
          <a:xfrm flipH="1">
            <a:off x="1804320" y="3580920"/>
            <a:ext cx="558360" cy="184680"/>
          </a:xfrm>
          <a:prstGeom prst="straightConnector1">
            <a:avLst/>
          </a:prstGeom>
          <a:ln w="0">
            <a:solidFill>
              <a:srgbClr val="095294"/>
            </a:solidFill>
          </a:ln>
        </p:spPr>
      </p:cxnSp>
      <p:cxnSp>
        <p:nvCxnSpPr>
          <p:cNvPr id="1178" name="Straight Connector 67"/>
          <p:cNvCxnSpPr>
            <a:endCxn id="1145" idx="0"/>
          </p:cNvCxnSpPr>
          <p:nvPr/>
        </p:nvCxnSpPr>
        <p:spPr>
          <a:xfrm flipH="1">
            <a:off x="723600" y="5410080"/>
            <a:ext cx="420120" cy="381600"/>
          </a:xfrm>
          <a:prstGeom prst="straightConnector1">
            <a:avLst/>
          </a:prstGeom>
          <a:ln w="0">
            <a:solidFill>
              <a:srgbClr val="095294"/>
            </a:solidFill>
          </a:ln>
        </p:spPr>
      </p:cxnSp>
      <p:cxnSp>
        <p:nvCxnSpPr>
          <p:cNvPr id="1179" name="Straight Connector 69"/>
          <p:cNvCxnSpPr>
            <a:stCxn id="1143" idx="2"/>
            <a:endCxn id="1144" idx="0"/>
          </p:cNvCxnSpPr>
          <p:nvPr/>
        </p:nvCxnSpPr>
        <p:spPr>
          <a:xfrm>
            <a:off x="1180800" y="5409360"/>
            <a:ext cx="381600" cy="458280"/>
          </a:xfrm>
          <a:prstGeom prst="straightConnector1">
            <a:avLst/>
          </a:prstGeom>
          <a:ln w="0">
            <a:solidFill>
              <a:srgbClr val="095294"/>
            </a:solidFill>
          </a:ln>
        </p:spPr>
      </p:cxnSp>
      <p:cxnSp>
        <p:nvCxnSpPr>
          <p:cNvPr id="1180" name="Straight Connector 71"/>
          <p:cNvCxnSpPr>
            <a:stCxn id="1143" idx="2"/>
            <a:endCxn id="1146" idx="0"/>
          </p:cNvCxnSpPr>
          <p:nvPr/>
        </p:nvCxnSpPr>
        <p:spPr>
          <a:xfrm>
            <a:off x="1180800" y="5409360"/>
            <a:ext cx="360" cy="991800"/>
          </a:xfrm>
          <a:prstGeom prst="straightConnector1">
            <a:avLst/>
          </a:prstGeom>
          <a:ln w="0">
            <a:solidFill>
              <a:srgbClr val="095294"/>
            </a:solidFill>
          </a:ln>
        </p:spPr>
      </p:cxnSp>
      <p:cxnSp>
        <p:nvCxnSpPr>
          <p:cNvPr id="1181" name="Straight Connector 73"/>
          <p:cNvCxnSpPr>
            <a:endCxn id="1149" idx="0"/>
          </p:cNvCxnSpPr>
          <p:nvPr/>
        </p:nvCxnSpPr>
        <p:spPr>
          <a:xfrm flipH="1">
            <a:off x="3009600" y="5562360"/>
            <a:ext cx="420120" cy="457920"/>
          </a:xfrm>
          <a:prstGeom prst="straightConnector1">
            <a:avLst/>
          </a:prstGeom>
          <a:ln w="0">
            <a:solidFill>
              <a:srgbClr val="095294"/>
            </a:solidFill>
          </a:ln>
        </p:spPr>
      </p:cxnSp>
      <p:cxnSp>
        <p:nvCxnSpPr>
          <p:cNvPr id="1182" name="Straight Connector 75"/>
          <p:cNvCxnSpPr>
            <a:stCxn id="1148" idx="2"/>
            <a:endCxn id="1150" idx="0"/>
          </p:cNvCxnSpPr>
          <p:nvPr/>
        </p:nvCxnSpPr>
        <p:spPr>
          <a:xfrm>
            <a:off x="3580920" y="5561640"/>
            <a:ext cx="153000" cy="687240"/>
          </a:xfrm>
          <a:prstGeom prst="straightConnector1">
            <a:avLst/>
          </a:prstGeom>
          <a:ln w="0">
            <a:solidFill>
              <a:srgbClr val="095294"/>
            </a:solidFill>
          </a:ln>
        </p:spPr>
      </p:cxnSp>
      <p:cxnSp>
        <p:nvCxnSpPr>
          <p:cNvPr id="1183" name="Straight Connector 77"/>
          <p:cNvCxnSpPr>
            <a:stCxn id="1152" idx="2"/>
            <a:endCxn id="1153" idx="7"/>
          </p:cNvCxnSpPr>
          <p:nvPr/>
        </p:nvCxnSpPr>
        <p:spPr>
          <a:xfrm flipH="1">
            <a:off x="5537880" y="5409360"/>
            <a:ext cx="1243800" cy="426600"/>
          </a:xfrm>
          <a:prstGeom prst="straightConnector1">
            <a:avLst/>
          </a:prstGeom>
          <a:ln w="0">
            <a:solidFill>
              <a:srgbClr val="095294"/>
            </a:solidFill>
          </a:ln>
        </p:spPr>
      </p:cxnSp>
      <p:cxnSp>
        <p:nvCxnSpPr>
          <p:cNvPr id="1184" name="Straight Connector 79"/>
          <p:cNvCxnSpPr>
            <a:stCxn id="1152" idx="2"/>
            <a:endCxn id="1155" idx="0"/>
          </p:cNvCxnSpPr>
          <p:nvPr/>
        </p:nvCxnSpPr>
        <p:spPr>
          <a:xfrm flipH="1">
            <a:off x="6057720" y="5409360"/>
            <a:ext cx="723960" cy="534600"/>
          </a:xfrm>
          <a:prstGeom prst="straightConnector1">
            <a:avLst/>
          </a:prstGeom>
          <a:ln w="0">
            <a:solidFill>
              <a:srgbClr val="095294"/>
            </a:solidFill>
          </a:ln>
        </p:spPr>
      </p:cxnSp>
      <p:cxnSp>
        <p:nvCxnSpPr>
          <p:cNvPr id="1185" name="Straight Connector 81"/>
          <p:cNvCxnSpPr>
            <a:stCxn id="1152" idx="2"/>
            <a:endCxn id="1156" idx="0"/>
          </p:cNvCxnSpPr>
          <p:nvPr/>
        </p:nvCxnSpPr>
        <p:spPr>
          <a:xfrm>
            <a:off x="6781320" y="5409360"/>
            <a:ext cx="343440" cy="915480"/>
          </a:xfrm>
          <a:prstGeom prst="straightConnector1">
            <a:avLst/>
          </a:prstGeom>
          <a:ln w="0">
            <a:solidFill>
              <a:srgbClr val="095294"/>
            </a:solidFill>
          </a:ln>
        </p:spPr>
      </p:cxnSp>
      <p:cxnSp>
        <p:nvCxnSpPr>
          <p:cNvPr id="1186" name="Straight Connector 83"/>
          <p:cNvCxnSpPr>
            <a:stCxn id="1152" idx="2"/>
            <a:endCxn id="1154" idx="0"/>
          </p:cNvCxnSpPr>
          <p:nvPr/>
        </p:nvCxnSpPr>
        <p:spPr>
          <a:xfrm>
            <a:off x="6781320" y="5409360"/>
            <a:ext cx="876960" cy="306000"/>
          </a:xfrm>
          <a:prstGeom prst="straightConnector1">
            <a:avLst/>
          </a:prstGeom>
          <a:ln w="0">
            <a:solidFill>
              <a:srgbClr val="095294"/>
            </a:solidFill>
          </a:ln>
        </p:spPr>
      </p:cxnSp>
      <p:cxnSp>
        <p:nvCxnSpPr>
          <p:cNvPr id="1187" name="Straight Connector 85"/>
          <p:cNvCxnSpPr>
            <a:stCxn id="1163" idx="2"/>
            <a:endCxn id="1167" idx="0"/>
          </p:cNvCxnSpPr>
          <p:nvPr/>
        </p:nvCxnSpPr>
        <p:spPr>
          <a:xfrm>
            <a:off x="7391160" y="4037760"/>
            <a:ext cx="114480" cy="382320"/>
          </a:xfrm>
          <a:prstGeom prst="straightConnector1">
            <a:avLst/>
          </a:prstGeom>
          <a:ln w="0">
            <a:solidFill>
              <a:srgbClr val="095294"/>
            </a:solidFill>
          </a:ln>
        </p:spPr>
      </p:cxnSp>
      <p:cxnSp>
        <p:nvCxnSpPr>
          <p:cNvPr id="1188" name="Straight Connector 87"/>
          <p:cNvCxnSpPr>
            <a:stCxn id="1167" idx="6"/>
            <a:endCxn id="1164" idx="3"/>
          </p:cNvCxnSpPr>
          <p:nvPr/>
        </p:nvCxnSpPr>
        <p:spPr>
          <a:xfrm flipV="1">
            <a:off x="7923960" y="4298400"/>
            <a:ext cx="482400" cy="273960"/>
          </a:xfrm>
          <a:prstGeom prst="straightConnector1">
            <a:avLst/>
          </a:prstGeom>
          <a:ln w="0">
            <a:solidFill>
              <a:srgbClr val="095294"/>
            </a:solidFill>
          </a:ln>
        </p:spPr>
      </p:cxnSp>
      <p:cxnSp>
        <p:nvCxnSpPr>
          <p:cNvPr id="1189" name="Straight Connector 89"/>
          <p:cNvCxnSpPr>
            <a:stCxn id="1167" idx="6"/>
            <a:endCxn id="1165" idx="2"/>
          </p:cNvCxnSpPr>
          <p:nvPr/>
        </p:nvCxnSpPr>
        <p:spPr>
          <a:xfrm>
            <a:off x="7923960" y="4572000"/>
            <a:ext cx="610920" cy="152640"/>
          </a:xfrm>
          <a:prstGeom prst="straightConnector1">
            <a:avLst/>
          </a:prstGeom>
          <a:ln w="0">
            <a:solidFill>
              <a:srgbClr val="095294"/>
            </a:solidFill>
          </a:ln>
        </p:spPr>
      </p:cxnSp>
      <p:cxnSp>
        <p:nvCxnSpPr>
          <p:cNvPr id="1190" name="Straight Connector 91"/>
          <p:cNvCxnSpPr>
            <a:stCxn id="1167" idx="6"/>
            <a:endCxn id="1166" idx="0"/>
          </p:cNvCxnSpPr>
          <p:nvPr/>
        </p:nvCxnSpPr>
        <p:spPr>
          <a:xfrm>
            <a:off x="7923960" y="4572000"/>
            <a:ext cx="496440" cy="381240"/>
          </a:xfrm>
          <a:prstGeom prst="straightConnector1">
            <a:avLst/>
          </a:prstGeom>
          <a:ln w="0">
            <a:solidFill>
              <a:srgbClr val="095294"/>
            </a:solidFill>
          </a:ln>
        </p:spPr>
      </p:cxnSp>
      <p:cxnSp>
        <p:nvCxnSpPr>
          <p:cNvPr id="1191" name="Straight Connector 93"/>
          <p:cNvCxnSpPr>
            <a:stCxn id="1163" idx="3"/>
            <a:endCxn id="1168" idx="3"/>
          </p:cNvCxnSpPr>
          <p:nvPr/>
        </p:nvCxnSpPr>
        <p:spPr>
          <a:xfrm flipV="1">
            <a:off x="8076600" y="3688920"/>
            <a:ext cx="253440" cy="44640"/>
          </a:xfrm>
          <a:prstGeom prst="straightConnector1">
            <a:avLst/>
          </a:prstGeom>
          <a:ln w="0">
            <a:solidFill>
              <a:srgbClr val="095294"/>
            </a:solidFill>
          </a:ln>
        </p:spPr>
      </p:cxnSp>
      <p:cxnSp>
        <p:nvCxnSpPr>
          <p:cNvPr id="1192" name="Straight Connector 95"/>
          <p:cNvCxnSpPr>
            <a:stCxn id="1158" idx="3"/>
            <a:endCxn id="1159" idx="3"/>
          </p:cNvCxnSpPr>
          <p:nvPr/>
        </p:nvCxnSpPr>
        <p:spPr>
          <a:xfrm flipV="1">
            <a:off x="7314480" y="1174320"/>
            <a:ext cx="482040" cy="273240"/>
          </a:xfrm>
          <a:prstGeom prst="straightConnector1">
            <a:avLst/>
          </a:prstGeom>
          <a:ln w="0">
            <a:solidFill>
              <a:srgbClr val="095294"/>
            </a:solidFill>
          </a:ln>
        </p:spPr>
      </p:cxnSp>
      <p:cxnSp>
        <p:nvCxnSpPr>
          <p:cNvPr id="1193" name="Straight Connector 97"/>
          <p:cNvCxnSpPr>
            <a:stCxn id="1158" idx="3"/>
            <a:endCxn id="1160" idx="2"/>
          </p:cNvCxnSpPr>
          <p:nvPr/>
        </p:nvCxnSpPr>
        <p:spPr>
          <a:xfrm>
            <a:off x="7314480" y="1447200"/>
            <a:ext cx="458280" cy="77040"/>
          </a:xfrm>
          <a:prstGeom prst="straightConnector1">
            <a:avLst/>
          </a:prstGeom>
          <a:ln w="0">
            <a:solidFill>
              <a:srgbClr val="095294"/>
            </a:solidFill>
          </a:ln>
        </p:spPr>
      </p:cxnSp>
      <p:cxnSp>
        <p:nvCxnSpPr>
          <p:cNvPr id="1194" name="Straight Connector 99"/>
          <p:cNvCxnSpPr>
            <a:stCxn id="1158" idx="3"/>
            <a:endCxn id="1161" idx="2"/>
          </p:cNvCxnSpPr>
          <p:nvPr/>
        </p:nvCxnSpPr>
        <p:spPr>
          <a:xfrm>
            <a:off x="7314480" y="1447200"/>
            <a:ext cx="458280" cy="457920"/>
          </a:xfrm>
          <a:prstGeom prst="straightConnector1">
            <a:avLst/>
          </a:prstGeom>
          <a:ln w="0">
            <a:solidFill>
              <a:srgbClr val="095294"/>
            </a:solidFill>
          </a:ln>
        </p:spPr>
      </p:cxnSp>
      <p:sp>
        <p:nvSpPr>
          <p:cNvPr id="1195" name="Flowchart: Decision 74"/>
          <p:cNvSpPr/>
          <p:nvPr/>
        </p:nvSpPr>
        <p:spPr>
          <a:xfrm>
            <a:off x="4191120" y="1523880"/>
            <a:ext cx="1294560" cy="380160"/>
          </a:xfrm>
          <a:prstGeom prst="flowChartDecision">
            <a:avLst/>
          </a:prstGeom>
          <a:solidFill>
            <a:srgbClr val="0bd0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3"/>
          </a:fillRef>
          <a:effectRef idx="1">
            <a:schemeClr val="accent3"/>
          </a:effectRef>
          <a:fontRef idx="minor"/>
        </p:style>
        <p:txBody>
          <a:bodyPr lIns="90000" rIns="90000" tIns="45000" bIns="45000" anchor="ctr">
            <a:noAutofit/>
          </a:bodyPr>
          <a:p>
            <a:pPr algn="ctr">
              <a:lnSpc>
                <a:spcPct val="100000"/>
              </a:lnSpc>
              <a:spcBef>
                <a:spcPts val="499"/>
              </a:spcBef>
            </a:pPr>
            <a:r>
              <a:rPr b="0" lang="en-US" sz="1000" spc="-1" strike="noStrike">
                <a:solidFill>
                  <a:schemeClr val="dk1"/>
                </a:solidFill>
                <a:latin typeface="Constantia"/>
              </a:rPr>
              <a:t>THUOC</a:t>
            </a:r>
            <a:endParaRPr b="0" lang="vi-VN" sz="1000" spc="-1" strike="noStrike">
              <a:solidFill>
                <a:srgbClr val="ffffff"/>
              </a:solidFill>
              <a:latin typeface="Arial"/>
            </a:endParaRPr>
          </a:p>
        </p:txBody>
      </p:sp>
      <p:cxnSp>
        <p:nvCxnSpPr>
          <p:cNvPr id="1196" name="Straight Connector 78"/>
          <p:cNvCxnSpPr/>
          <p:nvPr/>
        </p:nvCxnSpPr>
        <p:spPr>
          <a:xfrm flipV="1">
            <a:off x="3796200" y="1778760"/>
            <a:ext cx="394560" cy="255960"/>
          </a:xfrm>
          <a:prstGeom prst="straightConnector1">
            <a:avLst/>
          </a:prstGeom>
          <a:ln w="57150">
            <a:solidFill>
              <a:srgbClr val="095294"/>
            </a:solidFill>
            <a:round/>
          </a:ln>
        </p:spPr>
      </p:cxnSp>
      <p:cxnSp>
        <p:nvCxnSpPr>
          <p:cNvPr id="1197" name="Straight Connector 80"/>
          <p:cNvCxnSpPr>
            <a:endCxn id="1158" idx="1"/>
          </p:cNvCxnSpPr>
          <p:nvPr/>
        </p:nvCxnSpPr>
        <p:spPr>
          <a:xfrm flipV="1">
            <a:off x="5562360" y="1447200"/>
            <a:ext cx="229320" cy="248760"/>
          </a:xfrm>
          <a:prstGeom prst="straightConnector1">
            <a:avLst/>
          </a:prstGeom>
          <a:ln w="57150">
            <a:solidFill>
              <a:srgbClr val="095294"/>
            </a:solidFill>
            <a:round/>
          </a:ln>
        </p:spPr>
      </p:cxnSp>
      <p:sp>
        <p:nvSpPr>
          <p:cNvPr id="1198" name="Flowchart: Decision 82"/>
          <p:cNvSpPr/>
          <p:nvPr/>
        </p:nvSpPr>
        <p:spPr>
          <a:xfrm>
            <a:off x="2438280" y="2640240"/>
            <a:ext cx="1294560" cy="380160"/>
          </a:xfrm>
          <a:prstGeom prst="flowChartDecision">
            <a:avLst/>
          </a:prstGeom>
          <a:gradFill rotWithShape="0">
            <a:gsLst>
              <a:gs pos="0">
                <a:srgbClr val="8da7e3"/>
              </a:gs>
              <a:gs pos="43000">
                <a:srgbClr val="bbcaf3"/>
              </a:gs>
              <a:gs pos="93000">
                <a:srgbClr val="eaeffa"/>
              </a:gs>
              <a:gs pos="100000">
                <a:srgbClr val="f7f9fe"/>
              </a:gs>
            </a:gsLst>
            <a:path path="circle">
              <a:fillToRect l="50000" t="100000" r="50000" b="0"/>
            </a:path>
          </a:gradFill>
          <a:ln>
            <a:solidFill>
              <a:srgbClr val="095294"/>
            </a:solidFill>
            <a:round/>
          </a:ln>
          <a:effectLst>
            <a:outerShdw algn="ctr" blurRad="57240" dir="5400000" dist="38160" rotWithShape="0">
              <a:schemeClr val="phClr">
                <a:shade val="9000"/>
                <a:satMod val="105000"/>
                <a:alpha val="48000"/>
              </a:schemeClr>
            </a:outerShdw>
          </a:effectLst>
        </p:spPr>
        <p:style>
          <a:lnRef idx="1">
            <a:schemeClr val="accent1"/>
          </a:lnRef>
          <a:fillRef idx="2">
            <a:schemeClr val="accent1"/>
          </a:fillRef>
          <a:effectRef idx="1">
            <a:schemeClr val="accent1"/>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ĐANGKI</a:t>
            </a:r>
            <a:endParaRPr b="0" lang="vi-VN" sz="900" spc="-1" strike="noStrike">
              <a:solidFill>
                <a:srgbClr val="000000"/>
              </a:solidFill>
              <a:latin typeface="Arial"/>
            </a:endParaRPr>
          </a:p>
        </p:txBody>
      </p:sp>
      <p:cxnSp>
        <p:nvCxnSpPr>
          <p:cNvPr id="1199" name="Straight Connector 86"/>
          <p:cNvCxnSpPr>
            <a:stCxn id="1130" idx="2"/>
          </p:cNvCxnSpPr>
          <p:nvPr/>
        </p:nvCxnSpPr>
        <p:spPr>
          <a:xfrm flipH="1">
            <a:off x="3124080" y="2361240"/>
            <a:ext cx="114120" cy="230040"/>
          </a:xfrm>
          <a:prstGeom prst="straightConnector1">
            <a:avLst/>
          </a:prstGeom>
          <a:ln w="47625">
            <a:solidFill>
              <a:srgbClr val="095294"/>
            </a:solidFill>
            <a:round/>
          </a:ln>
        </p:spPr>
      </p:cxnSp>
      <p:cxnSp>
        <p:nvCxnSpPr>
          <p:cNvPr id="1200" name="Straight Connector 88"/>
          <p:cNvCxnSpPr/>
          <p:nvPr/>
        </p:nvCxnSpPr>
        <p:spPr>
          <a:xfrm flipH="1">
            <a:off x="2971800" y="3047760"/>
            <a:ext cx="114840" cy="229320"/>
          </a:xfrm>
          <a:prstGeom prst="straightConnector1">
            <a:avLst/>
          </a:prstGeom>
          <a:ln w="12700">
            <a:solidFill>
              <a:srgbClr val="095294"/>
            </a:solidFill>
            <a:round/>
          </a:ln>
        </p:spPr>
      </p:cxnSp>
      <p:sp>
        <p:nvSpPr>
          <p:cNvPr id="1201" name="Flowchart: Decision 90"/>
          <p:cNvSpPr/>
          <p:nvPr/>
        </p:nvSpPr>
        <p:spPr>
          <a:xfrm>
            <a:off x="2514600" y="4191120"/>
            <a:ext cx="1294560" cy="380160"/>
          </a:xfrm>
          <a:prstGeom prst="flowChartDecision">
            <a:avLst/>
          </a:prstGeom>
          <a:gradFill rotWithShape="0">
            <a:gsLst>
              <a:gs pos="0">
                <a:srgbClr val="8da7e3"/>
              </a:gs>
              <a:gs pos="43000">
                <a:srgbClr val="bbcaf3"/>
              </a:gs>
              <a:gs pos="93000">
                <a:srgbClr val="eaeffa"/>
              </a:gs>
              <a:gs pos="100000">
                <a:srgbClr val="f7f9fe"/>
              </a:gs>
            </a:gsLst>
            <a:path path="circle">
              <a:fillToRect l="50000" t="100000" r="50000" b="0"/>
            </a:path>
          </a:gradFill>
          <a:ln>
            <a:solidFill>
              <a:srgbClr val="095294"/>
            </a:solidFill>
            <a:round/>
          </a:ln>
          <a:effectLst>
            <a:outerShdw algn="ctr" blurRad="57240" dir="5400000" dist="38160" rotWithShape="0">
              <a:schemeClr val="phClr">
                <a:shade val="9000"/>
                <a:satMod val="105000"/>
                <a:alpha val="48000"/>
              </a:schemeClr>
            </a:outerShdw>
          </a:effectLst>
        </p:spPr>
        <p:style>
          <a:lnRef idx="1">
            <a:schemeClr val="accent1"/>
          </a:lnRef>
          <a:fillRef idx="2">
            <a:schemeClr val="accent1"/>
          </a:fillRef>
          <a:effectRef idx="1">
            <a:schemeClr val="accent1"/>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THUOC</a:t>
            </a:r>
            <a:endParaRPr b="0" lang="vi-VN" sz="900" spc="-1" strike="noStrike">
              <a:solidFill>
                <a:srgbClr val="000000"/>
              </a:solidFill>
              <a:latin typeface="Arial"/>
            </a:endParaRPr>
          </a:p>
        </p:txBody>
      </p:sp>
      <p:cxnSp>
        <p:nvCxnSpPr>
          <p:cNvPr id="1202" name="Straight Connector 92"/>
          <p:cNvCxnSpPr>
            <a:endCxn id="1201" idx="0"/>
          </p:cNvCxnSpPr>
          <p:nvPr/>
        </p:nvCxnSpPr>
        <p:spPr>
          <a:xfrm>
            <a:off x="3009600" y="3912840"/>
            <a:ext cx="152640" cy="278640"/>
          </a:xfrm>
          <a:prstGeom prst="straightConnector1">
            <a:avLst/>
          </a:prstGeom>
          <a:ln w="47625">
            <a:solidFill>
              <a:srgbClr val="095294"/>
            </a:solidFill>
            <a:round/>
          </a:ln>
        </p:spPr>
      </p:cxnSp>
      <p:cxnSp>
        <p:nvCxnSpPr>
          <p:cNvPr id="1203" name="Straight Connector 94"/>
          <p:cNvCxnSpPr>
            <a:stCxn id="1201" idx="2"/>
            <a:endCxn id="1148" idx="0"/>
          </p:cNvCxnSpPr>
          <p:nvPr/>
        </p:nvCxnSpPr>
        <p:spPr>
          <a:xfrm>
            <a:off x="3161880" y="4571280"/>
            <a:ext cx="419400" cy="381960"/>
          </a:xfrm>
          <a:prstGeom prst="straightConnector1">
            <a:avLst/>
          </a:prstGeom>
          <a:ln w="47625">
            <a:solidFill>
              <a:srgbClr val="095294"/>
            </a:solidFill>
            <a:round/>
          </a:ln>
        </p:spPr>
      </p:cxnSp>
      <p:sp>
        <p:nvSpPr>
          <p:cNvPr id="1204" name="Flowchart: Decision 98"/>
          <p:cNvSpPr/>
          <p:nvPr/>
        </p:nvSpPr>
        <p:spPr>
          <a:xfrm>
            <a:off x="1066680" y="4114800"/>
            <a:ext cx="1294560" cy="380160"/>
          </a:xfrm>
          <a:prstGeom prst="flowChartDecision">
            <a:avLst/>
          </a:prstGeom>
          <a:gradFill rotWithShape="0">
            <a:gsLst>
              <a:gs pos="0">
                <a:srgbClr val="8da7e3"/>
              </a:gs>
              <a:gs pos="43000">
                <a:srgbClr val="bbcaf3"/>
              </a:gs>
              <a:gs pos="93000">
                <a:srgbClr val="eaeffa"/>
              </a:gs>
              <a:gs pos="100000">
                <a:srgbClr val="f7f9fe"/>
              </a:gs>
            </a:gsLst>
            <a:path path="circle">
              <a:fillToRect l="50000" t="100000" r="50000" b="0"/>
            </a:path>
          </a:gradFill>
          <a:ln>
            <a:solidFill>
              <a:srgbClr val="095294"/>
            </a:solidFill>
            <a:round/>
          </a:ln>
          <a:effectLst>
            <a:outerShdw algn="ctr" blurRad="57240" dir="5400000" dist="38160" rotWithShape="0">
              <a:schemeClr val="phClr">
                <a:shade val="9000"/>
                <a:satMod val="105000"/>
                <a:alpha val="48000"/>
              </a:schemeClr>
            </a:outerShdw>
          </a:effectLst>
        </p:spPr>
        <p:style>
          <a:lnRef idx="1">
            <a:schemeClr val="accent1"/>
          </a:lnRef>
          <a:fillRef idx="2">
            <a:schemeClr val="accent1"/>
          </a:fillRef>
          <a:effectRef idx="1">
            <a:schemeClr val="accent1"/>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THUOC</a:t>
            </a:r>
            <a:endParaRPr b="0" lang="vi-VN" sz="900" spc="-1" strike="noStrike">
              <a:solidFill>
                <a:srgbClr val="000000"/>
              </a:solidFill>
              <a:latin typeface="Arial"/>
            </a:endParaRPr>
          </a:p>
        </p:txBody>
      </p:sp>
      <p:cxnSp>
        <p:nvCxnSpPr>
          <p:cNvPr id="1205" name="Straight Connector 100"/>
          <p:cNvCxnSpPr>
            <a:endCxn id="1204" idx="0"/>
          </p:cNvCxnSpPr>
          <p:nvPr/>
        </p:nvCxnSpPr>
        <p:spPr>
          <a:xfrm flipH="1">
            <a:off x="1713960" y="3886200"/>
            <a:ext cx="610560" cy="228960"/>
          </a:xfrm>
          <a:prstGeom prst="straightConnector1">
            <a:avLst/>
          </a:prstGeom>
          <a:ln w="47625">
            <a:solidFill>
              <a:srgbClr val="095294"/>
            </a:solidFill>
            <a:round/>
          </a:ln>
        </p:spPr>
      </p:cxnSp>
      <p:cxnSp>
        <p:nvCxnSpPr>
          <p:cNvPr id="1206" name="Straight Connector 102"/>
          <p:cNvCxnSpPr/>
          <p:nvPr/>
        </p:nvCxnSpPr>
        <p:spPr>
          <a:xfrm flipH="1">
            <a:off x="1218960" y="4495680"/>
            <a:ext cx="457920" cy="305640"/>
          </a:xfrm>
          <a:prstGeom prst="straightConnector1">
            <a:avLst/>
          </a:prstGeom>
          <a:ln w="47625">
            <a:solidFill>
              <a:srgbClr val="095294"/>
            </a:solidFill>
            <a:round/>
          </a:ln>
        </p:spPr>
      </p:cxnSp>
      <p:sp>
        <p:nvSpPr>
          <p:cNvPr id="1207" name="Flowchart: Decision 107"/>
          <p:cNvSpPr/>
          <p:nvPr/>
        </p:nvSpPr>
        <p:spPr>
          <a:xfrm>
            <a:off x="4572000" y="5029200"/>
            <a:ext cx="990000" cy="380160"/>
          </a:xfrm>
          <a:prstGeom prst="flowChartDecision">
            <a:avLst/>
          </a:prstGeom>
          <a:gradFill rotWithShape="0">
            <a:gsLst>
              <a:gs pos="0">
                <a:srgbClr val="8da7e3"/>
              </a:gs>
              <a:gs pos="43000">
                <a:srgbClr val="bbcaf3"/>
              </a:gs>
              <a:gs pos="93000">
                <a:srgbClr val="eaeffa"/>
              </a:gs>
              <a:gs pos="100000">
                <a:srgbClr val="f7f9fe"/>
              </a:gs>
            </a:gsLst>
            <a:path path="circle">
              <a:fillToRect l="50000" t="100000" r="50000" b="0"/>
            </a:path>
          </a:gradFill>
          <a:ln>
            <a:solidFill>
              <a:srgbClr val="095294"/>
            </a:solidFill>
            <a:round/>
          </a:ln>
          <a:effectLst>
            <a:outerShdw algn="ctr" blurRad="57240" dir="5400000" dist="38160" rotWithShape="0">
              <a:schemeClr val="phClr">
                <a:shade val="9000"/>
                <a:satMod val="105000"/>
                <a:alpha val="48000"/>
              </a:schemeClr>
            </a:outerShdw>
          </a:effectLst>
        </p:spPr>
        <p:style>
          <a:lnRef idx="1">
            <a:schemeClr val="accent1"/>
          </a:lnRef>
          <a:fillRef idx="2">
            <a:schemeClr val="accent1"/>
          </a:fillRef>
          <a:effectRef idx="1">
            <a:schemeClr val="accent1"/>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CO</a:t>
            </a:r>
            <a:endParaRPr b="0" lang="vi-VN" sz="900" spc="-1" strike="noStrike">
              <a:solidFill>
                <a:srgbClr val="000000"/>
              </a:solidFill>
              <a:latin typeface="Arial"/>
            </a:endParaRPr>
          </a:p>
        </p:txBody>
      </p:sp>
      <p:cxnSp>
        <p:nvCxnSpPr>
          <p:cNvPr id="1208" name="Straight Connector 112"/>
          <p:cNvCxnSpPr/>
          <p:nvPr/>
        </p:nvCxnSpPr>
        <p:spPr>
          <a:xfrm flipH="1">
            <a:off x="4190040" y="5236200"/>
            <a:ext cx="383400" cy="5400"/>
          </a:xfrm>
          <a:prstGeom prst="straightConnector1">
            <a:avLst/>
          </a:prstGeom>
          <a:ln w="47625">
            <a:solidFill>
              <a:srgbClr val="095294"/>
            </a:solidFill>
            <a:round/>
          </a:ln>
        </p:spPr>
      </p:cxnSp>
      <p:cxnSp>
        <p:nvCxnSpPr>
          <p:cNvPr id="1209" name="Straight Connector 120"/>
          <p:cNvCxnSpPr/>
          <p:nvPr/>
        </p:nvCxnSpPr>
        <p:spPr>
          <a:xfrm flipH="1">
            <a:off x="5553720" y="5142960"/>
            <a:ext cx="627480" cy="102960"/>
          </a:xfrm>
          <a:prstGeom prst="straightConnector1">
            <a:avLst/>
          </a:prstGeom>
          <a:ln w="47625">
            <a:solidFill>
              <a:srgbClr val="095294"/>
            </a:solidFill>
            <a:round/>
          </a:ln>
        </p:spPr>
      </p:cxnSp>
      <p:sp>
        <p:nvSpPr>
          <p:cNvPr id="1210" name="Flowchart: Decision 122"/>
          <p:cNvSpPr/>
          <p:nvPr/>
        </p:nvSpPr>
        <p:spPr>
          <a:xfrm>
            <a:off x="6477120" y="2209680"/>
            <a:ext cx="1294560" cy="380160"/>
          </a:xfrm>
          <a:prstGeom prst="flowChartDecision">
            <a:avLst/>
          </a:prstGeom>
          <a:solidFill>
            <a:srgbClr val="0bd0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3"/>
          </a:fillRef>
          <a:effectRef idx="1">
            <a:schemeClr val="accent3"/>
          </a:effectRef>
          <a:fontRef idx="minor"/>
        </p:style>
        <p:txBody>
          <a:bodyPr lIns="90000" rIns="90000" tIns="45000" bIns="45000" anchor="ctr">
            <a:noAutofit/>
          </a:bodyPr>
          <a:p>
            <a:pPr algn="ctr">
              <a:lnSpc>
                <a:spcPct val="100000"/>
              </a:lnSpc>
              <a:spcBef>
                <a:spcPts val="499"/>
              </a:spcBef>
            </a:pPr>
            <a:r>
              <a:rPr b="0" lang="en-US" sz="1000" spc="-1" strike="noStrike">
                <a:solidFill>
                  <a:schemeClr val="dk1"/>
                </a:solidFill>
                <a:latin typeface="Constantia"/>
              </a:rPr>
              <a:t>COI</a:t>
            </a:r>
            <a:endParaRPr b="0" lang="vi-VN" sz="1000" spc="-1" strike="noStrike">
              <a:solidFill>
                <a:srgbClr val="ffffff"/>
              </a:solidFill>
              <a:latin typeface="Arial"/>
            </a:endParaRPr>
          </a:p>
        </p:txBody>
      </p:sp>
      <p:cxnSp>
        <p:nvCxnSpPr>
          <p:cNvPr id="1211" name="Straight Connector 131"/>
          <p:cNvCxnSpPr>
            <a:stCxn id="1158" idx="2"/>
            <a:endCxn id="1210" idx="0"/>
          </p:cNvCxnSpPr>
          <p:nvPr/>
        </p:nvCxnSpPr>
        <p:spPr>
          <a:xfrm>
            <a:off x="6552720" y="1751760"/>
            <a:ext cx="572040" cy="458280"/>
          </a:xfrm>
          <a:prstGeom prst="straightConnector1">
            <a:avLst/>
          </a:prstGeom>
          <a:ln w="41275">
            <a:solidFill>
              <a:srgbClr val="095294"/>
            </a:solidFill>
            <a:round/>
          </a:ln>
        </p:spPr>
      </p:cxnSp>
      <p:cxnSp>
        <p:nvCxnSpPr>
          <p:cNvPr id="1212" name="Straight Connector 133"/>
          <p:cNvCxnSpPr>
            <a:stCxn id="1210" idx="2"/>
            <a:endCxn id="1163" idx="0"/>
          </p:cNvCxnSpPr>
          <p:nvPr/>
        </p:nvCxnSpPr>
        <p:spPr>
          <a:xfrm>
            <a:off x="7124400" y="2589840"/>
            <a:ext cx="267120" cy="839520"/>
          </a:xfrm>
          <a:prstGeom prst="straightConnector1">
            <a:avLst/>
          </a:prstGeom>
          <a:ln w="0">
            <a:solidFill>
              <a:srgbClr val="095294"/>
            </a:solidFill>
          </a:ln>
        </p:spPr>
      </p:cxnSp>
      <p:sp>
        <p:nvSpPr>
          <p:cNvPr id="1213" name="Flowchart: Decision 136"/>
          <p:cNvSpPr/>
          <p:nvPr/>
        </p:nvSpPr>
        <p:spPr>
          <a:xfrm>
            <a:off x="3886200" y="3505320"/>
            <a:ext cx="1294560" cy="380160"/>
          </a:xfrm>
          <a:prstGeom prst="flowChartDecision">
            <a:avLst/>
          </a:prstGeom>
          <a:gradFill rotWithShape="0">
            <a:gsLst>
              <a:gs pos="0">
                <a:srgbClr val="8da7e3"/>
              </a:gs>
              <a:gs pos="43000">
                <a:srgbClr val="bbcaf3"/>
              </a:gs>
              <a:gs pos="93000">
                <a:srgbClr val="eaeffa"/>
              </a:gs>
              <a:gs pos="100000">
                <a:srgbClr val="f7f9fe"/>
              </a:gs>
            </a:gsLst>
            <a:path path="circle">
              <a:fillToRect l="50000" t="100000" r="50000" b="0"/>
            </a:path>
          </a:gradFill>
          <a:ln>
            <a:solidFill>
              <a:srgbClr val="095294"/>
            </a:solidFill>
            <a:round/>
          </a:ln>
          <a:effectLst>
            <a:outerShdw algn="ctr" blurRad="57240" dir="5400000" dist="38160" rotWithShape="0">
              <a:schemeClr val="phClr">
                <a:shade val="9000"/>
                <a:satMod val="105000"/>
                <a:alpha val="48000"/>
              </a:schemeClr>
            </a:outerShdw>
          </a:effectLst>
        </p:spPr>
        <p:style>
          <a:lnRef idx="1">
            <a:schemeClr val="accent1"/>
          </a:lnRef>
          <a:fillRef idx="2">
            <a:schemeClr val="accent1"/>
          </a:fillRef>
          <a:effectRef idx="1">
            <a:schemeClr val="accent1"/>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THI</a:t>
            </a:r>
            <a:endParaRPr b="0" lang="vi-VN" sz="900" spc="-1" strike="noStrike">
              <a:solidFill>
                <a:srgbClr val="000000"/>
              </a:solidFill>
              <a:latin typeface="Arial"/>
            </a:endParaRPr>
          </a:p>
        </p:txBody>
      </p:sp>
      <p:cxnSp>
        <p:nvCxnSpPr>
          <p:cNvPr id="1214" name="Straight Connector 138"/>
          <p:cNvCxnSpPr>
            <a:endCxn id="1213" idx="0"/>
          </p:cNvCxnSpPr>
          <p:nvPr/>
        </p:nvCxnSpPr>
        <p:spPr>
          <a:xfrm>
            <a:off x="3581280" y="2361960"/>
            <a:ext cx="952560" cy="1143720"/>
          </a:xfrm>
          <a:prstGeom prst="straightConnector1">
            <a:avLst/>
          </a:prstGeom>
          <a:ln w="0">
            <a:solidFill>
              <a:srgbClr val="095294"/>
            </a:solidFill>
          </a:ln>
        </p:spPr>
      </p:cxnSp>
      <p:cxnSp>
        <p:nvCxnSpPr>
          <p:cNvPr id="1215" name="Straight Connector 140"/>
          <p:cNvCxnSpPr>
            <a:stCxn id="1213" idx="2"/>
            <a:endCxn id="1152" idx="0"/>
          </p:cNvCxnSpPr>
          <p:nvPr/>
        </p:nvCxnSpPr>
        <p:spPr>
          <a:xfrm>
            <a:off x="4533480" y="3885480"/>
            <a:ext cx="2248200" cy="915480"/>
          </a:xfrm>
          <a:prstGeom prst="straightConnector1">
            <a:avLst/>
          </a:prstGeom>
          <a:ln w="0">
            <a:solidFill>
              <a:srgbClr val="095294"/>
            </a:solidFill>
          </a:ln>
        </p:spPr>
      </p:cxnSp>
      <p:sp>
        <p:nvSpPr>
          <p:cNvPr id="1216" name="Flowchart: Decision 141"/>
          <p:cNvSpPr/>
          <p:nvPr/>
        </p:nvSpPr>
        <p:spPr>
          <a:xfrm>
            <a:off x="5105520" y="3352680"/>
            <a:ext cx="1294560" cy="380160"/>
          </a:xfrm>
          <a:prstGeom prst="flowChartDecision">
            <a:avLst/>
          </a:prstGeom>
          <a:solidFill>
            <a:srgbClr val="0bd0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3"/>
          </a:fillRef>
          <a:effectRef idx="1">
            <a:schemeClr val="accent3"/>
          </a:effectRef>
          <a:fontRef idx="minor"/>
        </p:style>
        <p:txBody>
          <a:bodyPr lIns="90000" rIns="90000" tIns="45000" bIns="45000" anchor="ctr">
            <a:noAutofit/>
          </a:bodyPr>
          <a:p>
            <a:pPr algn="ctr">
              <a:lnSpc>
                <a:spcPct val="100000"/>
              </a:lnSpc>
              <a:spcBef>
                <a:spcPts val="499"/>
              </a:spcBef>
            </a:pPr>
            <a:r>
              <a:rPr b="0" lang="en-US" sz="1000" spc="-1" strike="noStrike">
                <a:solidFill>
                  <a:schemeClr val="dk1"/>
                </a:solidFill>
                <a:latin typeface="Constantia"/>
              </a:rPr>
              <a:t>GSAT</a:t>
            </a:r>
            <a:endParaRPr b="0" lang="vi-VN" sz="1000" spc="-1" strike="noStrike">
              <a:solidFill>
                <a:srgbClr val="ffffff"/>
              </a:solidFill>
              <a:latin typeface="Arial"/>
            </a:endParaRPr>
          </a:p>
        </p:txBody>
      </p:sp>
      <p:cxnSp>
        <p:nvCxnSpPr>
          <p:cNvPr id="1217" name="Straight Connector 143"/>
          <p:cNvCxnSpPr>
            <a:stCxn id="1216" idx="3"/>
          </p:cNvCxnSpPr>
          <p:nvPr/>
        </p:nvCxnSpPr>
        <p:spPr>
          <a:xfrm>
            <a:off x="6400080" y="3542760"/>
            <a:ext cx="306000" cy="39240"/>
          </a:xfrm>
          <a:prstGeom prst="straightConnector1">
            <a:avLst/>
          </a:prstGeom>
          <a:ln w="0">
            <a:solidFill>
              <a:srgbClr val="095294"/>
            </a:solidFill>
          </a:ln>
        </p:spPr>
      </p:cxnSp>
      <p:cxnSp>
        <p:nvCxnSpPr>
          <p:cNvPr id="1218" name="Shape 145"/>
          <p:cNvCxnSpPr>
            <a:stCxn id="1216" idx="2"/>
          </p:cNvCxnSpPr>
          <p:nvPr/>
        </p:nvCxnSpPr>
        <p:spPr>
          <a:xfrm flipH="1" rot="16200000">
            <a:off x="6114240" y="3371040"/>
            <a:ext cx="230040" cy="953280"/>
          </a:xfrm>
          <a:prstGeom prst="bentConnector3">
            <a:avLst>
              <a:gd name="adj1" fmla="val 100000"/>
            </a:avLst>
          </a:prstGeom>
          <a:ln w="0">
            <a:solidFill>
              <a:srgbClr val="095294"/>
            </a:solidFill>
          </a:ln>
        </p:spPr>
      </p:cxnSp>
      <p:sp>
        <p:nvSpPr>
          <p:cNvPr id="1219" name="TextBox 150"/>
          <p:cNvSpPr/>
          <p:nvPr/>
        </p:nvSpPr>
        <p:spPr>
          <a:xfrm>
            <a:off x="3899880" y="16765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(1,1)</a:t>
            </a:r>
            <a:endParaRPr b="0" lang="vi-VN" sz="1100" spc="-1" strike="noStrike">
              <a:solidFill>
                <a:srgbClr val="000000"/>
              </a:solidFill>
              <a:latin typeface="Arial"/>
            </a:endParaRPr>
          </a:p>
        </p:txBody>
      </p:sp>
      <p:sp>
        <p:nvSpPr>
          <p:cNvPr id="1220" name="TextBox 151"/>
          <p:cNvSpPr/>
          <p:nvPr/>
        </p:nvSpPr>
        <p:spPr>
          <a:xfrm>
            <a:off x="5118120" y="1523880"/>
            <a:ext cx="5418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(1,30)</a:t>
            </a:r>
            <a:endParaRPr b="0" lang="vi-VN" sz="1100" spc="-1" strike="noStrike">
              <a:solidFill>
                <a:srgbClr val="000000"/>
              </a:solidFill>
              <a:latin typeface="Arial"/>
            </a:endParaRPr>
          </a:p>
        </p:txBody>
      </p:sp>
      <p:sp>
        <p:nvSpPr>
          <p:cNvPr id="1221" name="TextBox 153"/>
          <p:cNvSpPr/>
          <p:nvPr/>
        </p:nvSpPr>
        <p:spPr>
          <a:xfrm>
            <a:off x="2451960" y="23623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(1,2)</a:t>
            </a:r>
            <a:endParaRPr b="0" lang="vi-VN" sz="1100" spc="-1" strike="noStrike">
              <a:solidFill>
                <a:srgbClr val="000000"/>
              </a:solidFill>
              <a:latin typeface="Arial"/>
            </a:endParaRPr>
          </a:p>
        </p:txBody>
      </p:sp>
      <p:sp>
        <p:nvSpPr>
          <p:cNvPr id="1222" name="TextBox 154"/>
          <p:cNvSpPr/>
          <p:nvPr/>
        </p:nvSpPr>
        <p:spPr>
          <a:xfrm>
            <a:off x="2449800" y="2971800"/>
            <a:ext cx="46872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(0,n)</a:t>
            </a:r>
            <a:endParaRPr b="0" lang="vi-VN" sz="1100" spc="-1" strike="noStrike">
              <a:solidFill>
                <a:srgbClr val="000000"/>
              </a:solidFill>
              <a:latin typeface="Arial"/>
            </a:endParaRPr>
          </a:p>
        </p:txBody>
      </p:sp>
      <p:sp>
        <p:nvSpPr>
          <p:cNvPr id="1223" name="TextBox 155"/>
          <p:cNvSpPr/>
          <p:nvPr/>
        </p:nvSpPr>
        <p:spPr>
          <a:xfrm>
            <a:off x="1994760" y="39625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(1,1)</a:t>
            </a:r>
            <a:endParaRPr b="0" lang="vi-VN" sz="1100" spc="-1" strike="noStrike">
              <a:solidFill>
                <a:srgbClr val="000000"/>
              </a:solidFill>
              <a:latin typeface="Arial"/>
            </a:endParaRPr>
          </a:p>
        </p:txBody>
      </p:sp>
      <p:sp>
        <p:nvSpPr>
          <p:cNvPr id="1224" name="TextBox 156"/>
          <p:cNvSpPr/>
          <p:nvPr/>
        </p:nvSpPr>
        <p:spPr>
          <a:xfrm>
            <a:off x="849600" y="4419720"/>
            <a:ext cx="46872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(1,n)</a:t>
            </a:r>
            <a:endParaRPr b="0" lang="vi-VN" sz="1100" spc="-1" strike="noStrike">
              <a:solidFill>
                <a:srgbClr val="000000"/>
              </a:solidFill>
              <a:latin typeface="Arial"/>
            </a:endParaRPr>
          </a:p>
        </p:txBody>
      </p:sp>
      <p:sp>
        <p:nvSpPr>
          <p:cNvPr id="1225" name="TextBox 157"/>
          <p:cNvSpPr/>
          <p:nvPr/>
        </p:nvSpPr>
        <p:spPr>
          <a:xfrm>
            <a:off x="2604600" y="388620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(1,1)</a:t>
            </a:r>
            <a:endParaRPr b="0" lang="vi-VN" sz="1100" spc="-1" strike="noStrike">
              <a:solidFill>
                <a:srgbClr val="000000"/>
              </a:solidFill>
              <a:latin typeface="Arial"/>
            </a:endParaRPr>
          </a:p>
        </p:txBody>
      </p:sp>
      <p:sp>
        <p:nvSpPr>
          <p:cNvPr id="1226" name="TextBox 158"/>
          <p:cNvSpPr/>
          <p:nvPr/>
        </p:nvSpPr>
        <p:spPr>
          <a:xfrm>
            <a:off x="2754720" y="4648320"/>
            <a:ext cx="46872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(1,n)</a:t>
            </a:r>
            <a:endParaRPr b="0" lang="vi-VN" sz="1100" spc="-1" strike="noStrike">
              <a:solidFill>
                <a:srgbClr val="000000"/>
              </a:solidFill>
              <a:latin typeface="Arial"/>
            </a:endParaRPr>
          </a:p>
        </p:txBody>
      </p:sp>
      <p:sp>
        <p:nvSpPr>
          <p:cNvPr id="1227" name="TextBox 159"/>
          <p:cNvSpPr/>
          <p:nvPr/>
        </p:nvSpPr>
        <p:spPr>
          <a:xfrm>
            <a:off x="4204800" y="48769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(3,3)</a:t>
            </a:r>
            <a:endParaRPr b="0" lang="vi-VN" sz="1100" spc="-1" strike="noStrike">
              <a:solidFill>
                <a:srgbClr val="000000"/>
              </a:solidFill>
              <a:latin typeface="Arial"/>
            </a:endParaRPr>
          </a:p>
        </p:txBody>
      </p:sp>
      <p:sp>
        <p:nvSpPr>
          <p:cNvPr id="1228" name="TextBox 160"/>
          <p:cNvSpPr/>
          <p:nvPr/>
        </p:nvSpPr>
        <p:spPr>
          <a:xfrm>
            <a:off x="5500080" y="48769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(1,1)</a:t>
            </a:r>
            <a:endParaRPr b="0" lang="vi-VN" sz="1100" spc="-1" strike="noStrike">
              <a:solidFill>
                <a:srgbClr val="000000"/>
              </a:solidFill>
              <a:latin typeface="Arial"/>
            </a:endParaRPr>
          </a:p>
        </p:txBody>
      </p:sp>
      <p:sp>
        <p:nvSpPr>
          <p:cNvPr id="1229" name="TextBox 161"/>
          <p:cNvSpPr/>
          <p:nvPr/>
        </p:nvSpPr>
        <p:spPr>
          <a:xfrm>
            <a:off x="3899880" y="251460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(0,6)</a:t>
            </a:r>
            <a:endParaRPr b="0" lang="vi-VN" sz="1100" spc="-1" strike="noStrike">
              <a:solidFill>
                <a:srgbClr val="000000"/>
              </a:solidFill>
              <a:latin typeface="Arial"/>
            </a:endParaRPr>
          </a:p>
        </p:txBody>
      </p:sp>
      <p:sp>
        <p:nvSpPr>
          <p:cNvPr id="1230" name="TextBox 162"/>
          <p:cNvSpPr/>
          <p:nvPr/>
        </p:nvSpPr>
        <p:spPr>
          <a:xfrm>
            <a:off x="5345640" y="3962520"/>
            <a:ext cx="46872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(0,n)</a:t>
            </a:r>
            <a:endParaRPr b="0" lang="vi-VN" sz="1100" spc="-1" strike="noStrike">
              <a:solidFill>
                <a:srgbClr val="000000"/>
              </a:solidFill>
              <a:latin typeface="Arial"/>
            </a:endParaRPr>
          </a:p>
        </p:txBody>
      </p:sp>
      <p:sp>
        <p:nvSpPr>
          <p:cNvPr id="1231" name="TextBox 163"/>
          <p:cNvSpPr/>
          <p:nvPr/>
        </p:nvSpPr>
        <p:spPr>
          <a:xfrm>
            <a:off x="6185880" y="190512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(2,2)</a:t>
            </a:r>
            <a:endParaRPr b="0" lang="vi-VN" sz="1100" spc="-1" strike="noStrike">
              <a:solidFill>
                <a:srgbClr val="000000"/>
              </a:solidFill>
              <a:latin typeface="Arial"/>
            </a:endParaRPr>
          </a:p>
        </p:txBody>
      </p:sp>
      <p:sp>
        <p:nvSpPr>
          <p:cNvPr id="1232" name="TextBox 164"/>
          <p:cNvSpPr/>
          <p:nvPr/>
        </p:nvSpPr>
        <p:spPr>
          <a:xfrm>
            <a:off x="7405200" y="266688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(0,1)</a:t>
            </a:r>
            <a:endParaRPr b="0" lang="vi-VN" sz="1100" spc="-1" strike="noStrike">
              <a:solidFill>
                <a:srgbClr val="000000"/>
              </a:solidFill>
              <a:latin typeface="Arial"/>
            </a:endParaRPr>
          </a:p>
        </p:txBody>
      </p:sp>
      <p:sp>
        <p:nvSpPr>
          <p:cNvPr id="1233" name="TextBox 165"/>
          <p:cNvSpPr/>
          <p:nvPr/>
        </p:nvSpPr>
        <p:spPr>
          <a:xfrm>
            <a:off x="6239520" y="321336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(0,1)</a:t>
            </a:r>
            <a:endParaRPr b="0" lang="vi-VN" sz="1100" spc="-1" strike="noStrike">
              <a:solidFill>
                <a:srgbClr val="000000"/>
              </a:solidFill>
              <a:latin typeface="Arial"/>
            </a:endParaRPr>
          </a:p>
        </p:txBody>
      </p:sp>
      <p:sp>
        <p:nvSpPr>
          <p:cNvPr id="1234" name="TextBox 166"/>
          <p:cNvSpPr/>
          <p:nvPr/>
        </p:nvSpPr>
        <p:spPr>
          <a:xfrm>
            <a:off x="5970960" y="3751560"/>
            <a:ext cx="462600" cy="257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550"/>
              </a:spcBef>
            </a:pPr>
            <a:r>
              <a:rPr b="0" lang="en-US" sz="1100" spc="-1" strike="noStrike">
                <a:solidFill>
                  <a:schemeClr val="dk1"/>
                </a:solidFill>
                <a:latin typeface="Tahoma"/>
              </a:rPr>
              <a:t>(0,6)</a:t>
            </a:r>
            <a:endParaRPr b="0" lang="vi-VN" sz="1100" spc="-1" strike="noStrike">
              <a:solidFill>
                <a:srgbClr val="000000"/>
              </a:solidFill>
              <a:latin typeface="Arial"/>
            </a:endParaRPr>
          </a:p>
        </p:txBody>
      </p:sp>
      <p:sp>
        <p:nvSpPr>
          <p:cNvPr id="1235" name="Oval 113"/>
          <p:cNvSpPr/>
          <p:nvPr/>
        </p:nvSpPr>
        <p:spPr>
          <a:xfrm>
            <a:off x="4114800" y="4343400"/>
            <a:ext cx="761400" cy="380160"/>
          </a:xfrm>
          <a:prstGeom prst="ellipse">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451"/>
              </a:spcBef>
            </a:pPr>
            <a:r>
              <a:rPr b="0" lang="en-US" sz="900" spc="-1" strike="noStrike">
                <a:solidFill>
                  <a:schemeClr val="dk1"/>
                </a:solidFill>
                <a:latin typeface="Constantia"/>
              </a:rPr>
              <a:t>Điểm</a:t>
            </a:r>
            <a:endParaRPr b="0" lang="vi-VN" sz="900" spc="-1" strike="noStrike">
              <a:solidFill>
                <a:srgbClr val="000000"/>
              </a:solidFill>
              <a:latin typeface="Arial"/>
            </a:endParaRPr>
          </a:p>
        </p:txBody>
      </p:sp>
      <p:cxnSp>
        <p:nvCxnSpPr>
          <p:cNvPr id="1236" name="Straight Connector 115"/>
          <p:cNvCxnSpPr>
            <a:endCxn id="1235" idx="0"/>
          </p:cNvCxnSpPr>
          <p:nvPr/>
        </p:nvCxnSpPr>
        <p:spPr>
          <a:xfrm>
            <a:off x="4343400" y="3809880"/>
            <a:ext cx="152640" cy="533880"/>
          </a:xfrm>
          <a:prstGeom prst="straightConnector1">
            <a:avLst/>
          </a:prstGeom>
          <a:ln w="0">
            <a:solidFill>
              <a:srgbClr val="095294"/>
            </a:solidFill>
          </a:ln>
        </p:spPr>
      </p:cxnSp>
      <p:sp>
        <p:nvSpPr>
          <p:cNvPr id="1237" name="Rectangle 123"/>
          <p:cNvSpPr/>
          <p:nvPr/>
        </p:nvSpPr>
        <p:spPr>
          <a:xfrm>
            <a:off x="5426640" y="2367000"/>
            <a:ext cx="821160" cy="357840"/>
          </a:xfrm>
          <a:prstGeom prst="rect">
            <a:avLst/>
          </a:prstGeom>
          <a:solidFill>
            <a:srgbClr val="ffffff"/>
          </a:solidFill>
          <a:ln>
            <a:solidFill>
              <a:srgbClr val="a5c249"/>
            </a:solidFill>
            <a:round/>
          </a:ln>
        </p:spPr>
        <p:style>
          <a:lnRef idx="2">
            <a:schemeClr val="accent6"/>
          </a:lnRef>
          <a:fillRef idx="1">
            <a:schemeClr val="lt1"/>
          </a:fillRef>
          <a:effectRef idx="0">
            <a:schemeClr val="accent6"/>
          </a:effectRef>
          <a:fontRef idx="minor"/>
        </p:style>
        <p:txBody>
          <a:bodyPr lIns="90000" rIns="90000" tIns="45000" bIns="45000" anchor="ctr">
            <a:noAutofit/>
          </a:bodyPr>
          <a:p>
            <a:pPr algn="ctr">
              <a:lnSpc>
                <a:spcPct val="100000"/>
              </a:lnSpc>
              <a:spcBef>
                <a:spcPts val="499"/>
              </a:spcBef>
            </a:pPr>
            <a:r>
              <a:rPr b="0" lang="en-US" sz="1000" spc="-1" strike="noStrike">
                <a:solidFill>
                  <a:schemeClr val="dk1"/>
                </a:solidFill>
                <a:latin typeface="Constantia"/>
              </a:rPr>
              <a:t>KHUVUC</a:t>
            </a:r>
            <a:endParaRPr b="0" lang="vi-VN" sz="1000" spc="-1" strike="noStrike">
              <a:solidFill>
                <a:srgbClr val="000000"/>
              </a:solidFill>
              <a:latin typeface="Arial"/>
            </a:endParaRPr>
          </a:p>
        </p:txBody>
      </p:sp>
      <p:sp>
        <p:nvSpPr>
          <p:cNvPr id="1238" name="Flowchart: Decision 127"/>
          <p:cNvSpPr/>
          <p:nvPr/>
        </p:nvSpPr>
        <p:spPr>
          <a:xfrm>
            <a:off x="4013280" y="2108160"/>
            <a:ext cx="1028160" cy="299160"/>
          </a:xfrm>
          <a:prstGeom prst="flowChartDecision">
            <a:avLst/>
          </a:prstGeom>
          <a:solidFill>
            <a:srgbClr val="0bd0d9"/>
          </a:solidFill>
          <a:ln>
            <a:solidFill>
              <a:srgbClr val="ffffff"/>
            </a:solidFill>
            <a:round/>
          </a:ln>
          <a:effectLst>
            <a:outerShdw algn="ctr" blurRad="57240" dir="5400000" dist="38160" rotWithShape="0">
              <a:schemeClr val="phClr">
                <a:shade val="9000"/>
                <a:satMod val="105000"/>
                <a:alpha val="48000"/>
              </a:schemeClr>
            </a:outerShdw>
          </a:effectLst>
        </p:spPr>
        <p:style>
          <a:lnRef idx="3">
            <a:schemeClr val="lt1"/>
          </a:lnRef>
          <a:fillRef idx="1">
            <a:schemeClr val="accent3"/>
          </a:fillRef>
          <a:effectRef idx="1">
            <a:schemeClr val="accent3"/>
          </a:effectRef>
          <a:fontRef idx="minor"/>
        </p:style>
        <p:txBody>
          <a:bodyPr lIns="90000" rIns="90000" tIns="45000" bIns="45000" anchor="ctr">
            <a:noAutofit/>
          </a:bodyPr>
          <a:p>
            <a:pPr algn="ctr">
              <a:lnSpc>
                <a:spcPct val="100000"/>
              </a:lnSpc>
              <a:spcBef>
                <a:spcPts val="349"/>
              </a:spcBef>
            </a:pPr>
            <a:r>
              <a:rPr b="0" lang="en-US" sz="700" spc="-1" strike="noStrike">
                <a:solidFill>
                  <a:schemeClr val="dk1"/>
                </a:solidFill>
                <a:latin typeface="Constantia"/>
              </a:rPr>
              <a:t>THUOC</a:t>
            </a:r>
            <a:endParaRPr b="0" lang="vi-VN" sz="700" spc="-1" strike="noStrike">
              <a:solidFill>
                <a:srgbClr val="ffffff"/>
              </a:solidFill>
              <a:latin typeface="Arial"/>
            </a:endParaRPr>
          </a:p>
        </p:txBody>
      </p:sp>
      <p:cxnSp>
        <p:nvCxnSpPr>
          <p:cNvPr id="1239" name="Straight Connector 56"/>
          <p:cNvCxnSpPr>
            <a:endCxn id="1238" idx="1"/>
          </p:cNvCxnSpPr>
          <p:nvPr/>
        </p:nvCxnSpPr>
        <p:spPr>
          <a:xfrm>
            <a:off x="3809880" y="2089080"/>
            <a:ext cx="203760" cy="168840"/>
          </a:xfrm>
          <a:prstGeom prst="straightConnector1">
            <a:avLst/>
          </a:prstGeom>
          <a:ln w="0">
            <a:solidFill>
              <a:srgbClr val="095294"/>
            </a:solidFill>
          </a:ln>
        </p:spPr>
      </p:cxnSp>
      <p:cxnSp>
        <p:nvCxnSpPr>
          <p:cNvPr id="1240" name="Straight Connector 60"/>
          <p:cNvCxnSpPr>
            <a:endCxn id="1237" idx="1"/>
          </p:cNvCxnSpPr>
          <p:nvPr/>
        </p:nvCxnSpPr>
        <p:spPr>
          <a:xfrm>
            <a:off x="5041800" y="2274120"/>
            <a:ext cx="385200" cy="272160"/>
          </a:xfrm>
          <a:prstGeom prst="straightConnector1">
            <a:avLst/>
          </a:prstGeom>
          <a:ln w="0">
            <a:solidFill>
              <a:srgbClr val="095294"/>
            </a:solidFill>
          </a:ln>
        </p:spPr>
      </p:cxnSp>
      <p:sp>
        <p:nvSpPr>
          <p:cNvPr id="1241" name="TextBox 64"/>
          <p:cNvSpPr/>
          <p:nvPr/>
        </p:nvSpPr>
        <p:spPr>
          <a:xfrm>
            <a:off x="3916440" y="1994400"/>
            <a:ext cx="433800" cy="2422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499"/>
              </a:spcBef>
            </a:pPr>
            <a:r>
              <a:rPr b="0" lang="en-US" sz="1000" spc="-1" strike="noStrike">
                <a:solidFill>
                  <a:schemeClr val="dk1"/>
                </a:solidFill>
                <a:latin typeface="Tahoma"/>
              </a:rPr>
              <a:t>(1,1)</a:t>
            </a:r>
            <a:endParaRPr b="0" lang="vi-VN" sz="1000" spc="-1" strike="noStrike">
              <a:solidFill>
                <a:srgbClr val="000000"/>
              </a:solidFill>
              <a:latin typeface="Arial"/>
            </a:endParaRPr>
          </a:p>
        </p:txBody>
      </p:sp>
      <p:sp>
        <p:nvSpPr>
          <p:cNvPr id="1242" name="TextBox 132"/>
          <p:cNvSpPr/>
          <p:nvPr/>
        </p:nvSpPr>
        <p:spPr>
          <a:xfrm>
            <a:off x="5059800" y="2107080"/>
            <a:ext cx="439920" cy="2422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spcBef>
                <a:spcPts val="499"/>
              </a:spcBef>
            </a:pPr>
            <a:r>
              <a:rPr b="0" lang="en-US" sz="1000" spc="-1" strike="noStrike">
                <a:solidFill>
                  <a:schemeClr val="dk1"/>
                </a:solidFill>
                <a:latin typeface="Tahoma"/>
              </a:rPr>
              <a:t>(0,n)</a:t>
            </a:r>
            <a:endParaRPr b="0" lang="vi-VN" sz="1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06" dur="indefinite" restart="never" nodeType="tmRoot">
          <p:childTnLst>
            <p:seq>
              <p:cTn id="407" dur="indefinite" nodeType="mainSeq">
                <p:childTnLst>
                  <p:par>
                    <p:cTn id="408" fill="hold">
                      <p:stCondLst>
                        <p:cond delay="indefinite"/>
                      </p:stCondLst>
                      <p:childTnLst>
                        <p:par>
                          <p:cTn id="409" fill="hold">
                            <p:stCondLst>
                              <p:cond delay="0"/>
                            </p:stCondLst>
                            <p:childTnLst>
                              <p:par>
                                <p:cTn id="410" nodeType="clickEffect" fill="hold" presetClass="entr" presetID="4" presetSubtype="16">
                                  <p:stCondLst>
                                    <p:cond delay="0"/>
                                  </p:stCondLst>
                                  <p:childTnLst>
                                    <p:set>
                                      <p:cBhvr>
                                        <p:cTn id="411" dur="1" fill="hold">
                                          <p:stCondLst>
                                            <p:cond delay="0"/>
                                          </p:stCondLst>
                                        </p:cTn>
                                        <p:tgtEl>
                                          <p:spTgt spid="1219"/>
                                        </p:tgtEl>
                                        <p:attrNameLst>
                                          <p:attrName>style.visibility</p:attrName>
                                        </p:attrNameLst>
                                      </p:cBhvr>
                                      <p:to>
                                        <p:strVal val="visible"/>
                                      </p:to>
                                    </p:set>
                                    <p:animEffect filter="box(in)" transition="in">
                                      <p:cBhvr additive="repl">
                                        <p:cTn id="412" dur="500"/>
                                        <p:tgtEl>
                                          <p:spTgt spid="1219"/>
                                        </p:tgtEl>
                                      </p:cBhvr>
                                    </p:animEffect>
                                  </p:childTnLst>
                                </p:cTn>
                              </p:par>
                            </p:childTnLst>
                          </p:cTn>
                        </p:par>
                      </p:childTnLst>
                    </p:cTn>
                  </p:par>
                  <p:par>
                    <p:cTn id="413" fill="hold">
                      <p:stCondLst>
                        <p:cond delay="indefinite"/>
                      </p:stCondLst>
                      <p:childTnLst>
                        <p:par>
                          <p:cTn id="414" fill="hold">
                            <p:stCondLst>
                              <p:cond delay="0"/>
                            </p:stCondLst>
                            <p:childTnLst>
                              <p:par>
                                <p:cTn id="415" nodeType="clickEffect" fill="hold" presetClass="entr" presetID="4" presetSubtype="16">
                                  <p:stCondLst>
                                    <p:cond delay="0"/>
                                  </p:stCondLst>
                                  <p:childTnLst>
                                    <p:set>
                                      <p:cBhvr>
                                        <p:cTn id="416" dur="1" fill="hold">
                                          <p:stCondLst>
                                            <p:cond delay="0"/>
                                          </p:stCondLst>
                                        </p:cTn>
                                        <p:tgtEl>
                                          <p:spTgt spid="1220"/>
                                        </p:tgtEl>
                                        <p:attrNameLst>
                                          <p:attrName>style.visibility</p:attrName>
                                        </p:attrNameLst>
                                      </p:cBhvr>
                                      <p:to>
                                        <p:strVal val="visible"/>
                                      </p:to>
                                    </p:set>
                                    <p:animEffect filter="box(in)" transition="in">
                                      <p:cBhvr additive="repl">
                                        <p:cTn id="417" dur="500"/>
                                        <p:tgtEl>
                                          <p:spTgt spid="1220"/>
                                        </p:tgtEl>
                                      </p:cBhvr>
                                    </p:animEffect>
                                  </p:childTnLst>
                                </p:cTn>
                              </p:par>
                            </p:childTnLst>
                          </p:cTn>
                        </p:par>
                      </p:childTnLst>
                    </p:cTn>
                  </p:par>
                  <p:par>
                    <p:cTn id="418" fill="hold">
                      <p:stCondLst>
                        <p:cond delay="indefinite"/>
                      </p:stCondLst>
                      <p:childTnLst>
                        <p:par>
                          <p:cTn id="419" fill="hold">
                            <p:stCondLst>
                              <p:cond delay="0"/>
                            </p:stCondLst>
                            <p:childTnLst>
                              <p:par>
                                <p:cTn id="420" nodeType="clickEffect" fill="hold" presetClass="entr" presetID="4" presetSubtype="16">
                                  <p:stCondLst>
                                    <p:cond delay="0"/>
                                  </p:stCondLst>
                                  <p:childTnLst>
                                    <p:set>
                                      <p:cBhvr>
                                        <p:cTn id="421" dur="1" fill="hold">
                                          <p:stCondLst>
                                            <p:cond delay="0"/>
                                          </p:stCondLst>
                                        </p:cTn>
                                        <p:tgtEl>
                                          <p:spTgt spid="1221"/>
                                        </p:tgtEl>
                                        <p:attrNameLst>
                                          <p:attrName>style.visibility</p:attrName>
                                        </p:attrNameLst>
                                      </p:cBhvr>
                                      <p:to>
                                        <p:strVal val="visible"/>
                                      </p:to>
                                    </p:set>
                                    <p:animEffect filter="box(in)" transition="in">
                                      <p:cBhvr additive="repl">
                                        <p:cTn id="422" dur="500"/>
                                        <p:tgtEl>
                                          <p:spTgt spid="1221"/>
                                        </p:tgtEl>
                                      </p:cBhvr>
                                    </p:animEffect>
                                  </p:childTnLst>
                                </p:cTn>
                              </p:par>
                            </p:childTnLst>
                          </p:cTn>
                        </p:par>
                      </p:childTnLst>
                    </p:cTn>
                  </p:par>
                  <p:par>
                    <p:cTn id="423" fill="hold">
                      <p:stCondLst>
                        <p:cond delay="indefinite"/>
                      </p:stCondLst>
                      <p:childTnLst>
                        <p:par>
                          <p:cTn id="424" fill="hold">
                            <p:stCondLst>
                              <p:cond delay="0"/>
                            </p:stCondLst>
                            <p:childTnLst>
                              <p:par>
                                <p:cTn id="425" nodeType="clickEffect" fill="hold" presetClass="entr" presetID="4" presetSubtype="16">
                                  <p:stCondLst>
                                    <p:cond delay="0"/>
                                  </p:stCondLst>
                                  <p:childTnLst>
                                    <p:set>
                                      <p:cBhvr>
                                        <p:cTn id="426" dur="1" fill="hold">
                                          <p:stCondLst>
                                            <p:cond delay="0"/>
                                          </p:stCondLst>
                                        </p:cTn>
                                        <p:tgtEl>
                                          <p:spTgt spid="1222"/>
                                        </p:tgtEl>
                                        <p:attrNameLst>
                                          <p:attrName>style.visibility</p:attrName>
                                        </p:attrNameLst>
                                      </p:cBhvr>
                                      <p:to>
                                        <p:strVal val="visible"/>
                                      </p:to>
                                    </p:set>
                                    <p:animEffect filter="box(in)" transition="in">
                                      <p:cBhvr additive="repl">
                                        <p:cTn id="427" dur="500"/>
                                        <p:tgtEl>
                                          <p:spTgt spid="1222"/>
                                        </p:tgtEl>
                                      </p:cBhvr>
                                    </p:animEffect>
                                  </p:childTnLst>
                                </p:cTn>
                              </p:par>
                            </p:childTnLst>
                          </p:cTn>
                        </p:par>
                      </p:childTnLst>
                    </p:cTn>
                  </p:par>
                  <p:par>
                    <p:cTn id="428" fill="hold">
                      <p:stCondLst>
                        <p:cond delay="indefinite"/>
                      </p:stCondLst>
                      <p:childTnLst>
                        <p:par>
                          <p:cTn id="429" fill="hold">
                            <p:stCondLst>
                              <p:cond delay="0"/>
                            </p:stCondLst>
                            <p:childTnLst>
                              <p:par>
                                <p:cTn id="430" nodeType="clickEffect" fill="hold" presetClass="entr" presetID="4" presetSubtype="16">
                                  <p:stCondLst>
                                    <p:cond delay="0"/>
                                  </p:stCondLst>
                                  <p:childTnLst>
                                    <p:set>
                                      <p:cBhvr>
                                        <p:cTn id="431" dur="1" fill="hold">
                                          <p:stCondLst>
                                            <p:cond delay="0"/>
                                          </p:stCondLst>
                                        </p:cTn>
                                        <p:tgtEl>
                                          <p:spTgt spid="1223"/>
                                        </p:tgtEl>
                                        <p:attrNameLst>
                                          <p:attrName>style.visibility</p:attrName>
                                        </p:attrNameLst>
                                      </p:cBhvr>
                                      <p:to>
                                        <p:strVal val="visible"/>
                                      </p:to>
                                    </p:set>
                                    <p:animEffect filter="box(in)" transition="in">
                                      <p:cBhvr additive="repl">
                                        <p:cTn id="432" dur="500"/>
                                        <p:tgtEl>
                                          <p:spTgt spid="1223"/>
                                        </p:tgtEl>
                                      </p:cBhvr>
                                    </p:animEffect>
                                  </p:childTnLst>
                                </p:cTn>
                              </p:par>
                            </p:childTnLst>
                          </p:cTn>
                        </p:par>
                      </p:childTnLst>
                    </p:cTn>
                  </p:par>
                  <p:par>
                    <p:cTn id="433" fill="hold">
                      <p:stCondLst>
                        <p:cond delay="indefinite"/>
                      </p:stCondLst>
                      <p:childTnLst>
                        <p:par>
                          <p:cTn id="434" fill="hold">
                            <p:stCondLst>
                              <p:cond delay="0"/>
                            </p:stCondLst>
                            <p:childTnLst>
                              <p:par>
                                <p:cTn id="435" nodeType="clickEffect" fill="hold" presetClass="entr" presetID="4" presetSubtype="16">
                                  <p:stCondLst>
                                    <p:cond delay="0"/>
                                  </p:stCondLst>
                                  <p:childTnLst>
                                    <p:set>
                                      <p:cBhvr>
                                        <p:cTn id="436" dur="1" fill="hold">
                                          <p:stCondLst>
                                            <p:cond delay="0"/>
                                          </p:stCondLst>
                                        </p:cTn>
                                        <p:tgtEl>
                                          <p:spTgt spid="1224"/>
                                        </p:tgtEl>
                                        <p:attrNameLst>
                                          <p:attrName>style.visibility</p:attrName>
                                        </p:attrNameLst>
                                      </p:cBhvr>
                                      <p:to>
                                        <p:strVal val="visible"/>
                                      </p:to>
                                    </p:set>
                                    <p:animEffect filter="box(in)" transition="in">
                                      <p:cBhvr additive="repl">
                                        <p:cTn id="437" dur="500"/>
                                        <p:tgtEl>
                                          <p:spTgt spid="1224"/>
                                        </p:tgtEl>
                                      </p:cBhvr>
                                    </p:animEffect>
                                  </p:childTnLst>
                                </p:cTn>
                              </p:par>
                            </p:childTnLst>
                          </p:cTn>
                        </p:par>
                      </p:childTnLst>
                    </p:cTn>
                  </p:par>
                  <p:par>
                    <p:cTn id="438" fill="hold">
                      <p:stCondLst>
                        <p:cond delay="indefinite"/>
                      </p:stCondLst>
                      <p:childTnLst>
                        <p:par>
                          <p:cTn id="439" fill="hold">
                            <p:stCondLst>
                              <p:cond delay="0"/>
                            </p:stCondLst>
                            <p:childTnLst>
                              <p:par>
                                <p:cTn id="440" nodeType="clickEffect" fill="hold" presetClass="entr" presetID="4" presetSubtype="16">
                                  <p:stCondLst>
                                    <p:cond delay="0"/>
                                  </p:stCondLst>
                                  <p:childTnLst>
                                    <p:set>
                                      <p:cBhvr>
                                        <p:cTn id="441" dur="1" fill="hold">
                                          <p:stCondLst>
                                            <p:cond delay="0"/>
                                          </p:stCondLst>
                                        </p:cTn>
                                        <p:tgtEl>
                                          <p:spTgt spid="1225"/>
                                        </p:tgtEl>
                                        <p:attrNameLst>
                                          <p:attrName>style.visibility</p:attrName>
                                        </p:attrNameLst>
                                      </p:cBhvr>
                                      <p:to>
                                        <p:strVal val="visible"/>
                                      </p:to>
                                    </p:set>
                                    <p:animEffect filter="box(in)" transition="in">
                                      <p:cBhvr additive="repl">
                                        <p:cTn id="442" dur="500"/>
                                        <p:tgtEl>
                                          <p:spTgt spid="1225"/>
                                        </p:tgtEl>
                                      </p:cBhvr>
                                    </p:animEffect>
                                  </p:childTnLst>
                                </p:cTn>
                              </p:par>
                            </p:childTnLst>
                          </p:cTn>
                        </p:par>
                      </p:childTnLst>
                    </p:cTn>
                  </p:par>
                  <p:par>
                    <p:cTn id="443" fill="hold">
                      <p:stCondLst>
                        <p:cond delay="indefinite"/>
                      </p:stCondLst>
                      <p:childTnLst>
                        <p:par>
                          <p:cTn id="444" fill="hold">
                            <p:stCondLst>
                              <p:cond delay="0"/>
                            </p:stCondLst>
                            <p:childTnLst>
                              <p:par>
                                <p:cTn id="445" nodeType="clickEffect" fill="hold" presetClass="entr" presetID="4" presetSubtype="16">
                                  <p:stCondLst>
                                    <p:cond delay="0"/>
                                  </p:stCondLst>
                                  <p:childTnLst>
                                    <p:set>
                                      <p:cBhvr>
                                        <p:cTn id="446" dur="1" fill="hold">
                                          <p:stCondLst>
                                            <p:cond delay="0"/>
                                          </p:stCondLst>
                                        </p:cTn>
                                        <p:tgtEl>
                                          <p:spTgt spid="1226"/>
                                        </p:tgtEl>
                                        <p:attrNameLst>
                                          <p:attrName>style.visibility</p:attrName>
                                        </p:attrNameLst>
                                      </p:cBhvr>
                                      <p:to>
                                        <p:strVal val="visible"/>
                                      </p:to>
                                    </p:set>
                                    <p:animEffect filter="box(in)" transition="in">
                                      <p:cBhvr additive="repl">
                                        <p:cTn id="447" dur="500"/>
                                        <p:tgtEl>
                                          <p:spTgt spid="1226"/>
                                        </p:tgtEl>
                                      </p:cBhvr>
                                    </p:animEffect>
                                  </p:childTnLst>
                                </p:cTn>
                              </p:par>
                            </p:childTnLst>
                          </p:cTn>
                        </p:par>
                      </p:childTnLst>
                    </p:cTn>
                  </p:par>
                  <p:par>
                    <p:cTn id="448" fill="hold">
                      <p:stCondLst>
                        <p:cond delay="indefinite"/>
                      </p:stCondLst>
                      <p:childTnLst>
                        <p:par>
                          <p:cTn id="449" fill="hold">
                            <p:stCondLst>
                              <p:cond delay="0"/>
                            </p:stCondLst>
                            <p:childTnLst>
                              <p:par>
                                <p:cTn id="450" nodeType="clickEffect" fill="hold" presetClass="entr" presetID="4" presetSubtype="16">
                                  <p:stCondLst>
                                    <p:cond delay="0"/>
                                  </p:stCondLst>
                                  <p:childTnLst>
                                    <p:set>
                                      <p:cBhvr>
                                        <p:cTn id="451" dur="1" fill="hold">
                                          <p:stCondLst>
                                            <p:cond delay="0"/>
                                          </p:stCondLst>
                                        </p:cTn>
                                        <p:tgtEl>
                                          <p:spTgt spid="1227"/>
                                        </p:tgtEl>
                                        <p:attrNameLst>
                                          <p:attrName>style.visibility</p:attrName>
                                        </p:attrNameLst>
                                      </p:cBhvr>
                                      <p:to>
                                        <p:strVal val="visible"/>
                                      </p:to>
                                    </p:set>
                                    <p:animEffect filter="box(in)" transition="in">
                                      <p:cBhvr additive="repl">
                                        <p:cTn id="452" dur="500"/>
                                        <p:tgtEl>
                                          <p:spTgt spid="1227"/>
                                        </p:tgtEl>
                                      </p:cBhvr>
                                    </p:animEffect>
                                  </p:childTnLst>
                                </p:cTn>
                              </p:par>
                            </p:childTnLst>
                          </p:cTn>
                        </p:par>
                      </p:childTnLst>
                    </p:cTn>
                  </p:par>
                  <p:par>
                    <p:cTn id="453" fill="hold">
                      <p:stCondLst>
                        <p:cond delay="indefinite"/>
                      </p:stCondLst>
                      <p:childTnLst>
                        <p:par>
                          <p:cTn id="454" fill="hold">
                            <p:stCondLst>
                              <p:cond delay="0"/>
                            </p:stCondLst>
                            <p:childTnLst>
                              <p:par>
                                <p:cTn id="455" nodeType="clickEffect" fill="hold" presetClass="entr" presetID="4" presetSubtype="16">
                                  <p:stCondLst>
                                    <p:cond delay="0"/>
                                  </p:stCondLst>
                                  <p:childTnLst>
                                    <p:set>
                                      <p:cBhvr>
                                        <p:cTn id="456" dur="1" fill="hold">
                                          <p:stCondLst>
                                            <p:cond delay="0"/>
                                          </p:stCondLst>
                                        </p:cTn>
                                        <p:tgtEl>
                                          <p:spTgt spid="1228"/>
                                        </p:tgtEl>
                                        <p:attrNameLst>
                                          <p:attrName>style.visibility</p:attrName>
                                        </p:attrNameLst>
                                      </p:cBhvr>
                                      <p:to>
                                        <p:strVal val="visible"/>
                                      </p:to>
                                    </p:set>
                                    <p:animEffect filter="box(in)" transition="in">
                                      <p:cBhvr additive="repl">
                                        <p:cTn id="457" dur="500"/>
                                        <p:tgtEl>
                                          <p:spTgt spid="1228"/>
                                        </p:tgtEl>
                                      </p:cBhvr>
                                    </p:animEffect>
                                  </p:childTnLst>
                                </p:cTn>
                              </p:par>
                            </p:childTnLst>
                          </p:cTn>
                        </p:par>
                      </p:childTnLst>
                    </p:cTn>
                  </p:par>
                  <p:par>
                    <p:cTn id="458" fill="hold">
                      <p:stCondLst>
                        <p:cond delay="indefinite"/>
                      </p:stCondLst>
                      <p:childTnLst>
                        <p:par>
                          <p:cTn id="459" fill="hold">
                            <p:stCondLst>
                              <p:cond delay="0"/>
                            </p:stCondLst>
                            <p:childTnLst>
                              <p:par>
                                <p:cTn id="460" nodeType="clickEffect" fill="hold" presetClass="entr" presetID="4" presetSubtype="16">
                                  <p:stCondLst>
                                    <p:cond delay="0"/>
                                  </p:stCondLst>
                                  <p:childTnLst>
                                    <p:set>
                                      <p:cBhvr>
                                        <p:cTn id="461" dur="1" fill="hold">
                                          <p:stCondLst>
                                            <p:cond delay="0"/>
                                          </p:stCondLst>
                                        </p:cTn>
                                        <p:tgtEl>
                                          <p:spTgt spid="1229"/>
                                        </p:tgtEl>
                                        <p:attrNameLst>
                                          <p:attrName>style.visibility</p:attrName>
                                        </p:attrNameLst>
                                      </p:cBhvr>
                                      <p:to>
                                        <p:strVal val="visible"/>
                                      </p:to>
                                    </p:set>
                                    <p:animEffect filter="box(in)" transition="in">
                                      <p:cBhvr additive="repl">
                                        <p:cTn id="462" dur="500"/>
                                        <p:tgtEl>
                                          <p:spTgt spid="1229"/>
                                        </p:tgtEl>
                                      </p:cBhvr>
                                    </p:animEffect>
                                  </p:childTnLst>
                                </p:cTn>
                              </p:par>
                            </p:childTnLst>
                          </p:cTn>
                        </p:par>
                      </p:childTnLst>
                    </p:cTn>
                  </p:par>
                  <p:par>
                    <p:cTn id="463" fill="hold">
                      <p:stCondLst>
                        <p:cond delay="indefinite"/>
                      </p:stCondLst>
                      <p:childTnLst>
                        <p:par>
                          <p:cTn id="464" fill="hold">
                            <p:stCondLst>
                              <p:cond delay="0"/>
                            </p:stCondLst>
                            <p:childTnLst>
                              <p:par>
                                <p:cTn id="465" nodeType="clickEffect" fill="hold" presetClass="entr" presetID="4" presetSubtype="16">
                                  <p:stCondLst>
                                    <p:cond delay="0"/>
                                  </p:stCondLst>
                                  <p:childTnLst>
                                    <p:set>
                                      <p:cBhvr>
                                        <p:cTn id="466" dur="1" fill="hold">
                                          <p:stCondLst>
                                            <p:cond delay="0"/>
                                          </p:stCondLst>
                                        </p:cTn>
                                        <p:tgtEl>
                                          <p:spTgt spid="1230"/>
                                        </p:tgtEl>
                                        <p:attrNameLst>
                                          <p:attrName>style.visibility</p:attrName>
                                        </p:attrNameLst>
                                      </p:cBhvr>
                                      <p:to>
                                        <p:strVal val="visible"/>
                                      </p:to>
                                    </p:set>
                                    <p:animEffect filter="box(in)" transition="in">
                                      <p:cBhvr additive="repl">
                                        <p:cTn id="467" dur="500"/>
                                        <p:tgtEl>
                                          <p:spTgt spid="1230"/>
                                        </p:tgtEl>
                                      </p:cBhvr>
                                    </p:animEffect>
                                  </p:childTnLst>
                                </p:cTn>
                              </p:par>
                            </p:childTnLst>
                          </p:cTn>
                        </p:par>
                      </p:childTnLst>
                    </p:cTn>
                  </p:par>
                  <p:par>
                    <p:cTn id="468" fill="hold">
                      <p:stCondLst>
                        <p:cond delay="indefinite"/>
                      </p:stCondLst>
                      <p:childTnLst>
                        <p:par>
                          <p:cTn id="469" fill="hold">
                            <p:stCondLst>
                              <p:cond delay="0"/>
                            </p:stCondLst>
                            <p:childTnLst>
                              <p:par>
                                <p:cTn id="470" nodeType="clickEffect" fill="hold" presetClass="entr" presetID="4" presetSubtype="16">
                                  <p:stCondLst>
                                    <p:cond delay="0"/>
                                  </p:stCondLst>
                                  <p:childTnLst>
                                    <p:set>
                                      <p:cBhvr>
                                        <p:cTn id="471" dur="1" fill="hold">
                                          <p:stCondLst>
                                            <p:cond delay="0"/>
                                          </p:stCondLst>
                                        </p:cTn>
                                        <p:tgtEl>
                                          <p:spTgt spid="1231"/>
                                        </p:tgtEl>
                                        <p:attrNameLst>
                                          <p:attrName>style.visibility</p:attrName>
                                        </p:attrNameLst>
                                      </p:cBhvr>
                                      <p:to>
                                        <p:strVal val="visible"/>
                                      </p:to>
                                    </p:set>
                                    <p:animEffect filter="box(in)" transition="in">
                                      <p:cBhvr additive="repl">
                                        <p:cTn id="472" dur="500"/>
                                        <p:tgtEl>
                                          <p:spTgt spid="1231"/>
                                        </p:tgtEl>
                                      </p:cBhvr>
                                    </p:animEffect>
                                  </p:childTnLst>
                                </p:cTn>
                              </p:par>
                            </p:childTnLst>
                          </p:cTn>
                        </p:par>
                      </p:childTnLst>
                    </p:cTn>
                  </p:par>
                  <p:par>
                    <p:cTn id="473" fill="hold">
                      <p:stCondLst>
                        <p:cond delay="indefinite"/>
                      </p:stCondLst>
                      <p:childTnLst>
                        <p:par>
                          <p:cTn id="474" fill="hold">
                            <p:stCondLst>
                              <p:cond delay="0"/>
                            </p:stCondLst>
                            <p:childTnLst>
                              <p:par>
                                <p:cTn id="475" nodeType="clickEffect" fill="hold" presetClass="entr" presetID="4" presetSubtype="16">
                                  <p:stCondLst>
                                    <p:cond delay="0"/>
                                  </p:stCondLst>
                                  <p:childTnLst>
                                    <p:set>
                                      <p:cBhvr>
                                        <p:cTn id="476" dur="1" fill="hold">
                                          <p:stCondLst>
                                            <p:cond delay="0"/>
                                          </p:stCondLst>
                                        </p:cTn>
                                        <p:tgtEl>
                                          <p:spTgt spid="1232"/>
                                        </p:tgtEl>
                                        <p:attrNameLst>
                                          <p:attrName>style.visibility</p:attrName>
                                        </p:attrNameLst>
                                      </p:cBhvr>
                                      <p:to>
                                        <p:strVal val="visible"/>
                                      </p:to>
                                    </p:set>
                                    <p:animEffect filter="box(in)" transition="in">
                                      <p:cBhvr additive="repl">
                                        <p:cTn id="477" dur="500"/>
                                        <p:tgtEl>
                                          <p:spTgt spid="1232"/>
                                        </p:tgtEl>
                                      </p:cBhvr>
                                    </p:animEffect>
                                  </p:childTnLst>
                                </p:cTn>
                              </p:par>
                            </p:childTnLst>
                          </p:cTn>
                        </p:par>
                      </p:childTnLst>
                    </p:cTn>
                  </p:par>
                  <p:par>
                    <p:cTn id="478" fill="hold">
                      <p:stCondLst>
                        <p:cond delay="indefinite"/>
                      </p:stCondLst>
                      <p:childTnLst>
                        <p:par>
                          <p:cTn id="479" fill="hold">
                            <p:stCondLst>
                              <p:cond delay="0"/>
                            </p:stCondLst>
                            <p:childTnLst>
                              <p:par>
                                <p:cTn id="480" nodeType="clickEffect" fill="hold" presetClass="entr" presetID="4" presetSubtype="16">
                                  <p:stCondLst>
                                    <p:cond delay="0"/>
                                  </p:stCondLst>
                                  <p:childTnLst>
                                    <p:set>
                                      <p:cBhvr>
                                        <p:cTn id="481" dur="1" fill="hold">
                                          <p:stCondLst>
                                            <p:cond delay="0"/>
                                          </p:stCondLst>
                                        </p:cTn>
                                        <p:tgtEl>
                                          <p:spTgt spid="1233"/>
                                        </p:tgtEl>
                                        <p:attrNameLst>
                                          <p:attrName>style.visibility</p:attrName>
                                        </p:attrNameLst>
                                      </p:cBhvr>
                                      <p:to>
                                        <p:strVal val="visible"/>
                                      </p:to>
                                    </p:set>
                                    <p:animEffect filter="box(in)" transition="in">
                                      <p:cBhvr additive="repl">
                                        <p:cTn id="482" dur="500"/>
                                        <p:tgtEl>
                                          <p:spTgt spid="1233"/>
                                        </p:tgtEl>
                                      </p:cBhvr>
                                    </p:animEffect>
                                  </p:childTnLst>
                                </p:cTn>
                              </p:par>
                            </p:childTnLst>
                          </p:cTn>
                        </p:par>
                      </p:childTnLst>
                    </p:cTn>
                  </p:par>
                  <p:par>
                    <p:cTn id="483" fill="hold">
                      <p:stCondLst>
                        <p:cond delay="indefinite"/>
                      </p:stCondLst>
                      <p:childTnLst>
                        <p:par>
                          <p:cTn id="484" fill="hold">
                            <p:stCondLst>
                              <p:cond delay="0"/>
                            </p:stCondLst>
                            <p:childTnLst>
                              <p:par>
                                <p:cTn id="485" nodeType="clickEffect" fill="hold" presetClass="entr" presetID="4" presetSubtype="16">
                                  <p:stCondLst>
                                    <p:cond delay="0"/>
                                  </p:stCondLst>
                                  <p:childTnLst>
                                    <p:set>
                                      <p:cBhvr>
                                        <p:cTn id="486" dur="1" fill="hold">
                                          <p:stCondLst>
                                            <p:cond delay="0"/>
                                          </p:stCondLst>
                                        </p:cTn>
                                        <p:tgtEl>
                                          <p:spTgt spid="1234"/>
                                        </p:tgtEl>
                                        <p:attrNameLst>
                                          <p:attrName>style.visibility</p:attrName>
                                        </p:attrNameLst>
                                      </p:cBhvr>
                                      <p:to>
                                        <p:strVal val="visible"/>
                                      </p:to>
                                    </p:set>
                                    <p:animEffect filter="box(in)" transition="in">
                                      <p:cBhvr additive="repl">
                                        <p:cTn id="487" dur="500"/>
                                        <p:tgtEl>
                                          <p:spTgt spid="1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3" name="PlaceHolder 1"/>
          <p:cNvSpPr>
            <a:spLocks noGrp="1"/>
          </p:cNvSpPr>
          <p:nvPr>
            <p:ph type="title"/>
          </p:nvPr>
        </p:nvSpPr>
        <p:spPr>
          <a:xfrm>
            <a:off x="457200" y="353880"/>
            <a:ext cx="8533800" cy="61992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Bài tập</a:t>
            </a:r>
            <a:endParaRPr b="0" lang="vi-VN" sz="2800" spc="-1" strike="noStrike">
              <a:solidFill>
                <a:srgbClr val="000000"/>
              </a:solidFill>
              <a:latin typeface="Arial"/>
            </a:endParaRPr>
          </a:p>
        </p:txBody>
      </p:sp>
      <p:sp>
        <p:nvSpPr>
          <p:cNvPr id="1244" name="PlaceHolder 2"/>
          <p:cNvSpPr>
            <a:spLocks noGrp="1"/>
          </p:cNvSpPr>
          <p:nvPr>
            <p:ph/>
          </p:nvPr>
        </p:nvSpPr>
        <p:spPr>
          <a:xfrm>
            <a:off x="304920" y="1295280"/>
            <a:ext cx="8533800" cy="4834800"/>
          </a:xfrm>
          <a:prstGeom prst="rect">
            <a:avLst/>
          </a:prstGeom>
          <a:noFill/>
          <a:ln w="9360">
            <a:noFill/>
          </a:ln>
        </p:spPr>
        <p:txBody>
          <a:bodyPr numCol="1" spcCol="0" lIns="91440" rIns="91440" tIns="45720" bIns="45720" anchor="t">
            <a:noAutofit/>
          </a:bodyPr>
          <a:p>
            <a:pPr marL="914400" indent="-246240">
              <a:lnSpc>
                <a:spcPct val="100000"/>
              </a:lnSpc>
              <a:spcBef>
                <a:spcPts val="420"/>
              </a:spcBef>
              <a:buNone/>
              <a:tabLst>
                <a:tab algn="l" pos="0"/>
              </a:tabLst>
            </a:pPr>
            <a:r>
              <a:rPr b="0" lang="en-US" sz="2100" spc="-1" strike="noStrike" u="sng">
                <a:solidFill>
                  <a:schemeClr val="dk1"/>
                </a:solidFill>
                <a:uFillTx/>
                <a:latin typeface="Constantia"/>
                <a:hlinkClick r:id="rId1" action="ppaction://hlinksldjump"/>
              </a:rPr>
              <a:t>Bài 2</a:t>
            </a:r>
            <a:r>
              <a:rPr b="0" lang="en-US" sz="2100" spc="-1" strike="noStrike">
                <a:solidFill>
                  <a:schemeClr val="dk1"/>
                </a:solidFill>
                <a:latin typeface="Constantia"/>
              </a:rPr>
              <a:t>. Xây dựng lược đồ theo mô hình ER cho CSDL TRƯỜNG</a:t>
            </a:r>
            <a:endParaRPr b="0" lang="vi-VN" sz="2100" spc="-1" strike="noStrike">
              <a:solidFill>
                <a:srgbClr val="000000"/>
              </a:solidFill>
              <a:latin typeface="Arial"/>
            </a:endParaRPr>
          </a:p>
          <a:p>
            <a:pPr marL="914400" indent="-246240">
              <a:lnSpc>
                <a:spcPct val="100000"/>
              </a:lnSpc>
              <a:spcBef>
                <a:spcPts val="420"/>
              </a:spcBef>
              <a:buNone/>
              <a:tabLst>
                <a:tab algn="l" pos="0"/>
              </a:tabLst>
            </a:pPr>
            <a:r>
              <a:rPr b="0" lang="en-US" sz="2100" spc="-1" strike="noStrike" u="sng">
                <a:solidFill>
                  <a:schemeClr val="dk1"/>
                </a:solidFill>
                <a:uFillTx/>
                <a:latin typeface="Constantia"/>
                <a:hlinkClick r:id="rId2" action="ppaction://hlinksldjump"/>
              </a:rPr>
              <a:t>Bài 3</a:t>
            </a:r>
            <a:r>
              <a:rPr b="0" lang="en-US" sz="2100" spc="-1" strike="noStrike">
                <a:solidFill>
                  <a:schemeClr val="dk1"/>
                </a:solidFill>
                <a:latin typeface="Constantia"/>
              </a:rPr>
              <a:t>. Xây dựng lược đồ theo mô hình ER cho CSDL THƯ VIỆN</a:t>
            </a:r>
            <a:endParaRPr b="0" lang="vi-VN" sz="2100" spc="-1" strike="noStrike">
              <a:solidFill>
                <a:srgbClr val="000000"/>
              </a:solidFill>
              <a:latin typeface="Arial"/>
            </a:endParaRPr>
          </a:p>
          <a:p>
            <a:pPr marL="914400" indent="-246240">
              <a:lnSpc>
                <a:spcPct val="100000"/>
              </a:lnSpc>
              <a:spcBef>
                <a:spcPts val="420"/>
              </a:spcBef>
              <a:buNone/>
              <a:tabLst>
                <a:tab algn="l" pos="0"/>
              </a:tabLst>
            </a:pPr>
            <a:r>
              <a:rPr b="0" lang="en-US" sz="2100" spc="-1" strike="noStrike" u="sng">
                <a:solidFill>
                  <a:schemeClr val="dk1"/>
                </a:solidFill>
                <a:uFillTx/>
                <a:latin typeface="Constantia"/>
                <a:hlinkClick r:id="rId3" action="ppaction://hlinksldjump"/>
              </a:rPr>
              <a:t>Bài 4</a:t>
            </a:r>
            <a:r>
              <a:rPr b="0" lang="en-US" sz="2100" spc="-1" strike="noStrike">
                <a:solidFill>
                  <a:schemeClr val="dk1"/>
                </a:solidFill>
                <a:latin typeface="Constantia"/>
              </a:rPr>
              <a:t>. Xây dựng lược đồ theo mô hình ER cho CSDL BÁN HÀNG</a:t>
            </a:r>
            <a:endParaRPr b="0" lang="vi-VN" sz="2100" spc="-1" strike="noStrike">
              <a:solidFill>
                <a:srgbClr val="000000"/>
              </a:solidFill>
              <a:latin typeface="Arial"/>
            </a:endParaRPr>
          </a:p>
          <a:p>
            <a:pPr marL="914400" indent="0">
              <a:lnSpc>
                <a:spcPct val="100000"/>
              </a:lnSpc>
              <a:spcBef>
                <a:spcPts val="479"/>
              </a:spcBef>
              <a:buNone/>
              <a:tabLst>
                <a:tab algn="l" pos="0"/>
              </a:tabLst>
            </a:pPr>
            <a:endParaRPr b="0" lang="vi-VN" sz="2400" spc="-1" strike="noStrike">
              <a:solidFill>
                <a:srgbClr val="000000"/>
              </a:solidFill>
              <a:latin typeface="Arial"/>
            </a:endParaRPr>
          </a:p>
        </p:txBody>
      </p:sp>
      <p:sp>
        <p:nvSpPr>
          <p:cNvPr id="1245" name="PlaceHolder 3"/>
          <p:cNvSpPr>
            <a:spLocks noGrp="1"/>
          </p:cNvSpPr>
          <p:nvPr>
            <p:ph type="sldNum" idx="178"/>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91C944D0-29CD-45FA-A2C6-CDEBCEAC8496}"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246" name="PlaceHolder 4"/>
          <p:cNvSpPr>
            <a:spLocks noGrp="1"/>
          </p:cNvSpPr>
          <p:nvPr>
            <p:ph type="dt" idx="179"/>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6D7A2D7-9AA4-4009-AB81-987DA8DE810C}"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247" name="PlaceHolder 5"/>
          <p:cNvSpPr>
            <a:spLocks noGrp="1"/>
          </p:cNvSpPr>
          <p:nvPr>
            <p:ph type="ftr" idx="180"/>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8" name="PlaceHolder 1"/>
          <p:cNvSpPr>
            <a:spLocks noGrp="1"/>
          </p:cNvSpPr>
          <p:nvPr>
            <p:ph type="title"/>
          </p:nvPr>
        </p:nvSpPr>
        <p:spPr>
          <a:xfrm>
            <a:off x="457200" y="0"/>
            <a:ext cx="8228880" cy="608760"/>
          </a:xfrm>
          <a:prstGeom prst="rect">
            <a:avLst/>
          </a:prstGeom>
          <a:noFill/>
          <a:ln w="9360">
            <a:noFill/>
          </a:ln>
        </p:spPr>
        <p:txBody>
          <a:bodyPr numCol="1" spcCol="0" lIns="0" rIns="0" tIns="45720" bIns="0" anchor="b">
            <a:noAutofit/>
          </a:bodyPr>
          <a:p>
            <a:pPr indent="0">
              <a:lnSpc>
                <a:spcPct val="100000"/>
              </a:lnSpc>
              <a:buNone/>
              <a:tabLst>
                <a:tab algn="l" pos="0"/>
              </a:tabLst>
            </a:pPr>
            <a:r>
              <a:rPr b="1" lang="en-US" sz="2800" spc="-1" strike="noStrike">
                <a:solidFill>
                  <a:schemeClr val="dk2"/>
                </a:solidFill>
                <a:latin typeface="Calibri"/>
              </a:rPr>
              <a:t>Bài tập</a:t>
            </a:r>
            <a:r>
              <a:rPr b="1" lang="vi-VN" sz="2800" spc="-1" strike="noStrike">
                <a:solidFill>
                  <a:schemeClr val="dk2"/>
                </a:solidFill>
                <a:latin typeface="Calibri"/>
              </a:rPr>
              <a:t> – Kiểm tra - đề 2</a:t>
            </a:r>
            <a:endParaRPr b="0" lang="vi-VN" sz="2800" spc="-1" strike="noStrike">
              <a:solidFill>
                <a:srgbClr val="000000"/>
              </a:solidFill>
              <a:latin typeface="Arial"/>
            </a:endParaRPr>
          </a:p>
        </p:txBody>
      </p:sp>
      <p:sp>
        <p:nvSpPr>
          <p:cNvPr id="1249" name="PlaceHolder 2"/>
          <p:cNvSpPr>
            <a:spLocks noGrp="1"/>
          </p:cNvSpPr>
          <p:nvPr>
            <p:ph/>
          </p:nvPr>
        </p:nvSpPr>
        <p:spPr>
          <a:xfrm>
            <a:off x="457200" y="838080"/>
            <a:ext cx="8228880" cy="5637960"/>
          </a:xfrm>
          <a:prstGeom prst="rect">
            <a:avLst/>
          </a:prstGeom>
          <a:noFill/>
          <a:ln w="9360">
            <a:noFill/>
          </a:ln>
        </p:spPr>
        <p:txBody>
          <a:bodyPr numCol="1" spcCol="0" lIns="91440" rIns="91440" tIns="45720" bIns="45720" anchor="t">
            <a:noAutofit/>
          </a:bodyPr>
          <a:p>
            <a:pPr marL="272880" indent="-272880">
              <a:lnSpc>
                <a:spcPct val="80000"/>
              </a:lnSpc>
              <a:spcBef>
                <a:spcPts val="400"/>
              </a:spcBef>
              <a:buNone/>
              <a:tabLst>
                <a:tab algn="l" pos="0"/>
              </a:tabLst>
            </a:pPr>
            <a:r>
              <a:rPr b="0" i="1" lang="en-US" sz="2000" spc="-1" strike="noStrike">
                <a:solidFill>
                  <a:schemeClr val="dk1"/>
                </a:solidFill>
                <a:latin typeface="Constantia"/>
              </a:rPr>
              <a:t>Bài tập 2: </a:t>
            </a:r>
            <a:r>
              <a:rPr b="0" lang="en-US" sz="1700" spc="-1" strike="noStrike">
                <a:solidFill>
                  <a:schemeClr val="dk1"/>
                </a:solidFill>
                <a:latin typeface="Constantia"/>
              </a:rPr>
              <a:t>Hãy xây dựng lược đồ ER cho CSDL “TRƯỜNG”, dựa trên các ghi chép sau:</a:t>
            </a:r>
            <a:endParaRPr b="0" lang="vi-VN" sz="17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Trường được chia thành các trường con: Trường KHTN, Trường KHXH, Trường Công nghệ,…. Mỗi trường có một hiệu trưởng quản lý. Mỗi hiệu trưởng quản lý một trường.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trường có nhiều khoa. Chẳng hạn, trường KHTN có các khoa Toán, Lý, Hoá,… Mỗi một khoa chỉ thuộc về một trường. Thông tin về Khoa gồm Mã khoa, tên khoa, địa chỉ, số điện thoại, tên trường.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Khoa cung cấp nhiều môn học. Mỗi môn học gồm có Tên môn học, mã số, số số tín chỉ,  Khoa quản lý.</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môn học có thể có nhiều học phần.Mỗi học phần được lưu giữ bằng các thông tin: Mã học phần, Tên môn học, Tên giáo viên dạy, học kỳ.</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khoa có nhiều giáo viên làm việc, nhưng mỗi giáo viên chỉ làm việc cho một khoa. Mỗi một khoa có một chủ nhiệm khoa, đó là một giáo viên.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giáo viên có thể dạy nhiều nhất là 4 học phần và cũng có thể không dạy học phần nào.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sinh viên phải học nhiều học phần.</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một khoa có nhiều sinh viên, mỗi sinh viên chỉ thuộc về một khoa. Thông tin về mỗi sinh viên gồm: Mã sinh viên, Họ tên, địa chỉ, ngày sinh, giới tính, Lớp (khóa học), Tên Khoa.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Mỗi sinh viên có một người giám sát (giáo viên chủ nhiệm), người đó là một giáo viên. </a:t>
            </a:r>
            <a:endParaRPr b="0" lang="vi-VN" sz="1600" spc="-1" strike="noStrike">
              <a:solidFill>
                <a:srgbClr val="000000"/>
              </a:solidFill>
              <a:latin typeface="Arial"/>
            </a:endParaRPr>
          </a:p>
          <a:p>
            <a:pPr lvl="1" marL="639720" indent="-246240">
              <a:lnSpc>
                <a:spcPct val="80000"/>
              </a:lnSpc>
              <a:spcBef>
                <a:spcPts val="320"/>
              </a:spcBef>
              <a:buClr>
                <a:srgbClr val="0f6fc6"/>
              </a:buClr>
              <a:buSzPct val="85000"/>
              <a:buFont typeface="Wingdings 2" charset="2"/>
              <a:buChar char=""/>
              <a:tabLst>
                <a:tab algn="l" pos="0"/>
              </a:tabLst>
            </a:pPr>
            <a:r>
              <a:rPr b="0" lang="en-US" sz="1600" spc="-1" strike="noStrike">
                <a:solidFill>
                  <a:schemeClr val="dk1"/>
                </a:solidFill>
                <a:latin typeface="Constantia"/>
              </a:rPr>
              <a:t>Sau mỗi học kỳ sẽ có một danh sách điểm để phân loại. Nó gồm các thông tin: Mã sinh viên, mã học phần,  điểm của học phần. </a:t>
            </a:r>
            <a:endParaRPr b="0" lang="vi-VN" sz="1600" spc="-1" strike="noStrike">
              <a:solidFill>
                <a:srgbClr val="000000"/>
              </a:solidFill>
              <a:latin typeface="Arial"/>
            </a:endParaRPr>
          </a:p>
        </p:txBody>
      </p:sp>
      <p:sp>
        <p:nvSpPr>
          <p:cNvPr id="1250" name="PlaceHolder 3"/>
          <p:cNvSpPr>
            <a:spLocks noGrp="1"/>
          </p:cNvSpPr>
          <p:nvPr>
            <p:ph type="sldNum" idx="181"/>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2D69220E-2DAE-4061-99B6-798624D9C925}"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251" name="PlaceHolder 4"/>
          <p:cNvSpPr>
            <a:spLocks noGrp="1"/>
          </p:cNvSpPr>
          <p:nvPr>
            <p:ph type="dt" idx="182"/>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787C75E5-6FC8-4882-8799-E5F4EEA85946}"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252" name="PlaceHolder 5"/>
          <p:cNvSpPr>
            <a:spLocks noGrp="1"/>
          </p:cNvSpPr>
          <p:nvPr>
            <p:ph type="ftr" idx="183"/>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p:nvPr>
        </p:nvSpPr>
        <p:spPr>
          <a:xfrm>
            <a:off x="457200" y="1219320"/>
            <a:ext cx="8228880" cy="5104800"/>
          </a:xfrm>
          <a:prstGeom prst="rect">
            <a:avLst/>
          </a:prstGeom>
          <a:noFill/>
          <a:ln w="9360">
            <a:noFill/>
          </a:ln>
        </p:spPr>
        <p:txBody>
          <a:bodyPr numCol="1" spcCol="0" lIns="91440" rIns="91440" tIns="45720" bIns="45720" anchor="t">
            <a:noAutofit/>
          </a:bodyPr>
          <a:p>
            <a:pPr marL="272880" indent="-272880">
              <a:lnSpc>
                <a:spcPct val="90000"/>
              </a:lnSpc>
              <a:spcBef>
                <a:spcPts val="400"/>
              </a:spcBef>
              <a:buNone/>
              <a:tabLst>
                <a:tab algn="l" pos="0"/>
              </a:tabLst>
            </a:pPr>
            <a:r>
              <a:rPr b="0" i="1" lang="en-US" sz="2000" spc="-1" strike="noStrike">
                <a:solidFill>
                  <a:schemeClr val="dk1"/>
                </a:solidFill>
                <a:latin typeface="Constantia"/>
              </a:rPr>
              <a:t>Bài tập 3: </a:t>
            </a:r>
            <a:r>
              <a:rPr b="0" lang="en-US" sz="2000" spc="-1" strike="noStrike">
                <a:solidFill>
                  <a:schemeClr val="dk1"/>
                </a:solidFill>
                <a:latin typeface="Constantia"/>
              </a:rPr>
              <a:t>Hãy xây dựng lược đồ ER cho CSDL “THƯ VIỆN”, dựa trên mô tả  sau:</a:t>
            </a:r>
            <a:endParaRPr b="0" lang="vi-VN" sz="20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Thư viện được chia ra thành các nhánh. Thông tin về mỗi nhánh gồm có Mã nhánh, Tên nhánh và Địa chỉ.</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Mỗi cuốn sách trong thư viện có các thông tin về Mã sách, Tên sách Nhà xuất bản và Tác giả…</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tác giả có thể viết nhiều cuốn sách. Một cuốn sách có thể có nhiều tác giả viết.</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nhà xuất bản xuất bản nhiều cuốn sách. Một cuốn sách do một nhà xuất bản xuất bản. Thông tin về Nhà xuất bản gồm có Tên, Địachỉ và Sốđiệnthoại.</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Một cuốn sách có thể có nhiều bản sao được lưu trữ tại các nhánh. Thông tin về bản sao sách gồm Mã sách, số các bản sao.</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Thư viện có những người mượn sách. Thông tin về những người mượn sách gồm có Số thẻ, Họ tên, Địa chỉ  và Số điện thoại.</a:t>
            </a:r>
            <a:endParaRPr b="0" lang="vi-VN" sz="1800" spc="-1" strike="noStrike">
              <a:solidFill>
                <a:srgbClr val="000000"/>
              </a:solidFill>
              <a:latin typeface="Arial"/>
            </a:endParaRPr>
          </a:p>
          <a:p>
            <a:pPr lvl="1" marL="639720" indent="-246240">
              <a:lnSpc>
                <a:spcPct val="90000"/>
              </a:lnSpc>
              <a:spcBef>
                <a:spcPts val="360"/>
              </a:spcBef>
              <a:buClr>
                <a:srgbClr val="0f6fc6"/>
              </a:buClr>
              <a:buSzPct val="85000"/>
              <a:buFont typeface="Wingdings 2" charset="2"/>
              <a:buChar char=""/>
              <a:tabLst>
                <a:tab algn="l" pos="0"/>
              </a:tabLst>
            </a:pPr>
            <a:r>
              <a:rPr b="0" lang="en-US" sz="1800" spc="-1" strike="noStrike">
                <a:solidFill>
                  <a:schemeClr val="dk1"/>
                </a:solidFill>
                <a:latin typeface="Constantia"/>
              </a:rPr>
              <a:t>Sách được cho các người mượn mượn tại các nhánh. Thông tin về một lần mượn gồm có Ngày mượn và ngày trả. </a:t>
            </a:r>
            <a:endParaRPr b="0" lang="vi-VN" sz="1800" spc="-1" strike="noStrike">
              <a:solidFill>
                <a:srgbClr val="000000"/>
              </a:solidFill>
              <a:latin typeface="Arial"/>
            </a:endParaRPr>
          </a:p>
        </p:txBody>
      </p:sp>
      <p:sp>
        <p:nvSpPr>
          <p:cNvPr id="1254" name="PlaceHolder 2"/>
          <p:cNvSpPr>
            <a:spLocks noGrp="1"/>
          </p:cNvSpPr>
          <p:nvPr>
            <p:ph type="sldNum" idx="184"/>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3686B805-65A1-420B-B003-68D2F03D81EE}"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255" name="PlaceHolder 3"/>
          <p:cNvSpPr>
            <a:spLocks noGrp="1"/>
          </p:cNvSpPr>
          <p:nvPr>
            <p:ph type="dt" idx="185"/>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0EA3957C-3A89-4F0A-828D-F2C3EF82B178}"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256" name="PlaceHolder 4"/>
          <p:cNvSpPr>
            <a:spLocks noGrp="1"/>
          </p:cNvSpPr>
          <p:nvPr>
            <p:ph type="ftr" idx="186"/>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257" name="Picture 3" descr=""/>
          <p:cNvPicPr/>
          <p:nvPr/>
        </p:nvPicPr>
        <p:blipFill>
          <a:blip r:embed="rId1"/>
          <a:stretch/>
        </p:blipFill>
        <p:spPr>
          <a:xfrm>
            <a:off x="0" y="990720"/>
            <a:ext cx="9071280" cy="53280"/>
          </a:xfrm>
          <a:prstGeom prst="rect">
            <a:avLst/>
          </a:prstGeom>
          <a:ln w="0">
            <a:noFill/>
          </a:ln>
        </p:spPr>
      </p:pic>
      <p:sp>
        <p:nvSpPr>
          <p:cNvPr id="1258" name="TextBox 9"/>
          <p:cNvSpPr/>
          <p:nvPr/>
        </p:nvSpPr>
        <p:spPr>
          <a:xfrm>
            <a:off x="533520" y="304920"/>
            <a:ext cx="44190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pc="-1" strike="noStrike">
                <a:solidFill>
                  <a:schemeClr val="dk1"/>
                </a:solidFill>
                <a:latin typeface="Tahoma"/>
              </a:rPr>
              <a:t>Bài tập</a:t>
            </a:r>
            <a:r>
              <a:rPr b="0" lang="vi-VN" sz="2400" spc="-1" strike="noStrike">
                <a:solidFill>
                  <a:schemeClr val="dk1"/>
                </a:solidFill>
                <a:latin typeface="Tahoma"/>
              </a:rPr>
              <a:t> – Kiểm tra, Đề số 3</a:t>
            </a:r>
            <a:endParaRPr b="0" lang="vi-V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p:nvPr>
        </p:nvSpPr>
        <p:spPr>
          <a:xfrm>
            <a:off x="457200" y="1219320"/>
            <a:ext cx="8228880" cy="5104800"/>
          </a:xfrm>
          <a:prstGeom prst="rect">
            <a:avLst/>
          </a:prstGeom>
          <a:noFill/>
          <a:ln w="9360">
            <a:noFill/>
          </a:ln>
        </p:spPr>
        <p:txBody>
          <a:bodyPr numCol="1" spcCol="0" lIns="91440" rIns="91440" tIns="45720" bIns="45720" anchor="t">
            <a:noAutofit/>
          </a:bodyPr>
          <a:p>
            <a:pPr marL="272880" indent="-272880">
              <a:lnSpc>
                <a:spcPct val="100000"/>
              </a:lnSpc>
              <a:spcBef>
                <a:spcPts val="360"/>
              </a:spcBef>
              <a:buNone/>
              <a:tabLst>
                <a:tab algn="l" pos="0"/>
              </a:tabLst>
            </a:pPr>
            <a:r>
              <a:rPr b="0" i="1" lang="en-US" sz="1800" spc="-1" strike="noStrike">
                <a:solidFill>
                  <a:schemeClr val="dk1"/>
                </a:solidFill>
                <a:latin typeface="Constantia"/>
              </a:rPr>
              <a:t>Bài 4</a:t>
            </a:r>
            <a:r>
              <a:rPr b="0" lang="vi-VN" sz="1800" spc="-1" strike="noStrike">
                <a:solidFill>
                  <a:schemeClr val="dk1"/>
                </a:solidFill>
                <a:latin typeface="Constantia"/>
              </a:rPr>
              <a:t>: Hãy xây dựng lược đồ Thực thể - liên kết  cho cơ sở dữ liệu BÁN_HÀNG của một công ty, dựa trên mô tả  sau :</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Thông tin về </a:t>
            </a:r>
            <a:r>
              <a:rPr b="1" lang="vi-VN" sz="1800" spc="-1" strike="noStrike">
                <a:solidFill>
                  <a:schemeClr val="dk1"/>
                </a:solidFill>
                <a:latin typeface="Constantia"/>
              </a:rPr>
              <a:t>HÀNG_HÓA</a:t>
            </a:r>
            <a:r>
              <a:rPr b="0" lang="vi-VN" sz="1800" spc="-1" strike="noStrike">
                <a:solidFill>
                  <a:schemeClr val="dk1"/>
                </a:solidFill>
                <a:latin typeface="Constantia"/>
              </a:rPr>
              <a:t> bao gồm </a:t>
            </a:r>
            <a:r>
              <a:rPr b="1" lang="vi-VN" sz="1800" spc="-1" strike="noStrike">
                <a:solidFill>
                  <a:schemeClr val="dk1"/>
                </a:solidFill>
                <a:latin typeface="Constantia"/>
              </a:rPr>
              <a:t>Mã hàng, Tên mặt hàng, Nhà cung cấp, Đơn giá</a:t>
            </a:r>
            <a:r>
              <a:rPr b="0" lang="vi-VN" sz="1800" spc="-1" strike="noStrike">
                <a:solidFill>
                  <a:schemeClr val="dk1"/>
                </a:solidFill>
                <a:latin typeface="Constantia"/>
              </a:rPr>
              <a:t>.</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Thông tin về NHÀ_CUNG_CẤP gồm </a:t>
            </a:r>
            <a:r>
              <a:rPr b="1" lang="vi-VN" sz="1800" spc="-1" strike="noStrike">
                <a:solidFill>
                  <a:schemeClr val="dk1"/>
                </a:solidFill>
                <a:latin typeface="Constantia"/>
              </a:rPr>
              <a:t>Mã nhà cung cấp, Tên nhà cung cấp, Địa chỉ, Số điện thoại</a:t>
            </a:r>
            <a:r>
              <a:rPr b="0" lang="vi-VN" sz="1800" spc="-1" strike="noStrike">
                <a:solidFill>
                  <a:schemeClr val="dk1"/>
                </a:solidFill>
                <a:latin typeface="Constantia"/>
              </a:rPr>
              <a:t> (</a:t>
            </a:r>
            <a:r>
              <a:rPr b="0" i="1" lang="vi-VN" sz="1800" spc="-1" strike="noStrike">
                <a:solidFill>
                  <a:schemeClr val="dk1"/>
                </a:solidFill>
                <a:latin typeface="Constantia"/>
              </a:rPr>
              <a:t>có  nhiều số</a:t>
            </a:r>
            <a:r>
              <a:rPr b="0" lang="vi-VN" sz="1800" spc="-1" strike="noStrike">
                <a:solidFill>
                  <a:schemeClr val="dk1"/>
                </a:solidFill>
                <a:latin typeface="Constantia"/>
              </a:rPr>
              <a:t>), </a:t>
            </a:r>
            <a:r>
              <a:rPr b="1" lang="vi-VN" sz="1800" spc="-1" strike="noStrike">
                <a:solidFill>
                  <a:schemeClr val="dk1"/>
                </a:solidFill>
                <a:latin typeface="Constantia"/>
              </a:rPr>
              <a:t>Họ và tên người đại diện</a:t>
            </a:r>
            <a:r>
              <a:rPr b="0" lang="vi-VN" sz="1800" spc="-1" strike="noStrike">
                <a:solidFill>
                  <a:schemeClr val="dk1"/>
                </a:solidFill>
                <a:latin typeface="Constantia"/>
              </a:rPr>
              <a:t>.</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Một mặt hàng được cung cấp bởi một nhà cung cấp, nhưng một nhà cung cấp có thể cung cấp nhiều mặt hàng (lưu ý các mặt hàng của các nhà cung cấp có thể trùng tên)</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Công ty có nhiều NHÂN_VIÊN bán hàng, mỗi Nhân viên có các thông tin : </a:t>
            </a:r>
            <a:r>
              <a:rPr b="1" lang="vi-VN" sz="1800" spc="-1" strike="noStrike">
                <a:solidFill>
                  <a:schemeClr val="dk1"/>
                </a:solidFill>
                <a:latin typeface="Constantia"/>
              </a:rPr>
              <a:t>Mã nhân viên, Họ và tên, ngày sinh, Số điện thoại di động</a:t>
            </a:r>
            <a:r>
              <a:rPr b="0" lang="vi-VN" sz="1800" spc="-1" strike="noStrike">
                <a:solidFill>
                  <a:schemeClr val="dk1"/>
                </a:solidFill>
                <a:latin typeface="Constantia"/>
              </a:rPr>
              <a:t> (1 số).</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Cứ 5 nhân viên bán hàng thì có một người nhóm trưởng (cũng là nhân viên bán hàng).</a:t>
            </a:r>
            <a:endParaRPr b="0" lang="vi-VN" sz="1800" spc="-1" strike="noStrike">
              <a:solidFill>
                <a:srgbClr val="000000"/>
              </a:solidFill>
              <a:latin typeface="Arial"/>
            </a:endParaRPr>
          </a:p>
          <a:p>
            <a:pPr marL="272880" indent="-272880">
              <a:lnSpc>
                <a:spcPct val="100000"/>
              </a:lnSpc>
              <a:spcBef>
                <a:spcPts val="360"/>
              </a:spcBef>
              <a:buClr>
                <a:srgbClr val="0bd0d9"/>
              </a:buClr>
              <a:buSzPct val="95000"/>
              <a:buFont typeface="Wingdings 2" charset="2"/>
              <a:buChar char=""/>
              <a:tabLst>
                <a:tab algn="l" pos="0"/>
              </a:tabLst>
            </a:pPr>
            <a:r>
              <a:rPr b="0" lang="vi-VN" sz="1800" spc="-1" strike="noStrike">
                <a:solidFill>
                  <a:schemeClr val="dk1"/>
                </a:solidFill>
                <a:latin typeface="Constantia"/>
              </a:rPr>
              <a:t>Khi bán hàng, nhân viên phải ghi các thông tin: Mã nhân viên, Mã hàng, Số lượng, Ngày bán</a:t>
            </a:r>
            <a:endParaRPr b="0" lang="vi-VN" sz="1800" spc="-1" strike="noStrike">
              <a:solidFill>
                <a:srgbClr val="000000"/>
              </a:solidFill>
              <a:latin typeface="Arial"/>
            </a:endParaRPr>
          </a:p>
          <a:p>
            <a:pPr marL="272880" indent="-272880">
              <a:lnSpc>
                <a:spcPct val="90000"/>
              </a:lnSpc>
              <a:spcBef>
                <a:spcPts val="360"/>
              </a:spcBef>
              <a:buNone/>
              <a:tabLst>
                <a:tab algn="l" pos="0"/>
              </a:tabLst>
            </a:pPr>
            <a:endParaRPr b="0" lang="vi-VN" sz="1800" spc="-1" strike="noStrike">
              <a:solidFill>
                <a:srgbClr val="000000"/>
              </a:solidFill>
              <a:latin typeface="Arial"/>
            </a:endParaRPr>
          </a:p>
        </p:txBody>
      </p:sp>
      <p:sp>
        <p:nvSpPr>
          <p:cNvPr id="1260" name="PlaceHolder 2"/>
          <p:cNvSpPr>
            <a:spLocks noGrp="1"/>
          </p:cNvSpPr>
          <p:nvPr>
            <p:ph type="sldNum" idx="187"/>
          </p:nvPr>
        </p:nvSpPr>
        <p:spPr>
          <a:xfrm>
            <a:off x="7924680" y="6356520"/>
            <a:ext cx="761400" cy="364320"/>
          </a:xfrm>
          <a:prstGeom prst="rect">
            <a:avLst/>
          </a:prstGeom>
          <a:noFill/>
          <a:ln w="0">
            <a:noFill/>
          </a:ln>
        </p:spPr>
        <p:txBody>
          <a:bodyPr lIns="0" rIns="0" tIns="0" bIns="0" anchor="b">
            <a:noAutofit/>
          </a:bodyPr>
          <a:lstStyle>
            <a:lvl1pPr indent="0" algn="r">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gn="r">
              <a:lnSpc>
                <a:spcPct val="100000"/>
              </a:lnSpc>
              <a:spcBef>
                <a:spcPts val="601"/>
              </a:spcBef>
              <a:buNone/>
              <a:tabLst>
                <a:tab algn="l" pos="0"/>
              </a:tabLst>
            </a:pPr>
            <a:fld id="{4D03B8FC-16B5-4A53-9B53-B6923F60FC2E}" type="slidenum">
              <a:rPr b="0" lang="en-US" sz="1200" spc="-1" strike="noStrike">
                <a:solidFill>
                  <a:schemeClr val="dk2">
                    <a:shade val="90000"/>
                  </a:schemeClr>
                </a:solidFill>
                <a:latin typeface="Tahoma"/>
              </a:rPr>
              <a:t>28</a:t>
            </a:fld>
            <a:endParaRPr b="0" lang="vi-VN" sz="1200" spc="-1" strike="noStrike">
              <a:solidFill>
                <a:srgbClr val="000000"/>
              </a:solidFill>
              <a:latin typeface="Times New Roman"/>
            </a:endParaRPr>
          </a:p>
        </p:txBody>
      </p:sp>
      <p:sp>
        <p:nvSpPr>
          <p:cNvPr id="1261" name="PlaceHolder 3"/>
          <p:cNvSpPr>
            <a:spLocks noGrp="1"/>
          </p:cNvSpPr>
          <p:nvPr>
            <p:ph type="dt" idx="188"/>
          </p:nvPr>
        </p:nvSpPr>
        <p:spPr>
          <a:xfrm>
            <a:off x="457200" y="6356520"/>
            <a:ext cx="213300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vi-VN" sz="1200" spc="-1" strike="noStrike">
                <a:solidFill>
                  <a:schemeClr val="dk2">
                    <a:shade val="90000"/>
                  </a:schemeClr>
                </a:solidFill>
                <a:latin typeface="Tahoma"/>
              </a:defRPr>
            </a:lvl1pPr>
          </a:lstStyle>
          <a:p>
            <a:pPr indent="0">
              <a:lnSpc>
                <a:spcPct val="100000"/>
              </a:lnSpc>
              <a:spcBef>
                <a:spcPts val="601"/>
              </a:spcBef>
              <a:buNone/>
              <a:tabLst>
                <a:tab algn="l" pos="0"/>
              </a:tabLst>
            </a:pPr>
            <a:fld id="{8FB14732-7C8F-40A5-B275-D80F328E6E0F}" type="datetime12">
              <a:rPr b="0" lang="vi-VN" sz="1200" spc="-1" strike="noStrike">
                <a:solidFill>
                  <a:schemeClr val="dk2">
                    <a:shade val="90000"/>
                  </a:schemeClr>
                </a:solidFill>
                <a:latin typeface="Tahoma"/>
              </a:rPr>
              <a:t>11:51 sáng</a:t>
            </a:fld>
            <a:endParaRPr b="0" lang="vi-VN" sz="1200" spc="-1" strike="noStrike">
              <a:solidFill>
                <a:srgbClr val="000000"/>
              </a:solidFill>
              <a:latin typeface="Times New Roman"/>
            </a:endParaRPr>
          </a:p>
        </p:txBody>
      </p:sp>
      <p:sp>
        <p:nvSpPr>
          <p:cNvPr id="1262" name="PlaceHolder 4"/>
          <p:cNvSpPr>
            <a:spLocks noGrp="1"/>
          </p:cNvSpPr>
          <p:nvPr>
            <p:ph type="ftr" idx="189"/>
          </p:nvPr>
        </p:nvSpPr>
        <p:spPr>
          <a:xfrm>
            <a:off x="2666880" y="6356520"/>
            <a:ext cx="3351960" cy="364320"/>
          </a:xfrm>
          <a:prstGeom prst="rect">
            <a:avLst/>
          </a:prstGeom>
          <a:noFill/>
          <a:ln w="0">
            <a:noFill/>
          </a:ln>
        </p:spPr>
        <p:txBody>
          <a:bodyPr lIns="0" rIns="0" tIns="0" bIns="0" anchor="b">
            <a:noAutofit/>
          </a:bodyPr>
          <a:lstStyle>
            <a:lvl1pPr indent="0">
              <a:lnSpc>
                <a:spcPct val="100000"/>
              </a:lnSpc>
              <a:spcBef>
                <a:spcPts val="601"/>
              </a:spcBef>
              <a:buNone/>
              <a:tabLst>
                <a:tab algn="l" pos="0"/>
              </a:tabLst>
              <a:defRPr b="0" lang="en-US" sz="1200" spc="-1" strike="noStrike">
                <a:solidFill>
                  <a:schemeClr val="dk2">
                    <a:shade val="90000"/>
                  </a:schemeClr>
                </a:solidFill>
                <a:latin typeface="Tahoma"/>
              </a:defRPr>
            </a:lvl1pPr>
          </a:lstStyle>
          <a:p>
            <a:pPr indent="0">
              <a:lnSpc>
                <a:spcPct val="100000"/>
              </a:lnSpc>
              <a:spcBef>
                <a:spcPts val="601"/>
              </a:spcBef>
              <a:buNone/>
              <a:tabLst>
                <a:tab algn="l" pos="0"/>
              </a:tabLst>
            </a:pPr>
            <a:r>
              <a:rPr b="0" lang="en-US" sz="1200" spc="-1" strike="noStrike">
                <a:solidFill>
                  <a:schemeClr val="dk2">
                    <a:shade val="90000"/>
                  </a:schemeClr>
                </a:solidFill>
                <a:latin typeface="Tahoma"/>
              </a:rPr>
              <a:t>Khoa CNTT</a:t>
            </a:r>
            <a:endParaRPr b="0" lang="vi-VN" sz="1200" spc="-1" strike="noStrike">
              <a:solidFill>
                <a:srgbClr val="000000"/>
              </a:solidFill>
              <a:latin typeface="Times New Roman"/>
            </a:endParaRPr>
          </a:p>
        </p:txBody>
      </p:sp>
      <p:pic>
        <p:nvPicPr>
          <p:cNvPr id="1263" name="Picture 3" descr=""/>
          <p:cNvPicPr/>
          <p:nvPr/>
        </p:nvPicPr>
        <p:blipFill>
          <a:blip r:embed="rId1"/>
          <a:stretch/>
        </p:blipFill>
        <p:spPr>
          <a:xfrm>
            <a:off x="0" y="990720"/>
            <a:ext cx="9071280" cy="53280"/>
          </a:xfrm>
          <a:prstGeom prst="rect">
            <a:avLst/>
          </a:prstGeom>
          <a:ln w="0">
            <a:noFill/>
          </a:ln>
        </p:spPr>
      </p:pic>
      <p:sp>
        <p:nvSpPr>
          <p:cNvPr id="1264" name="TextBox 9"/>
          <p:cNvSpPr/>
          <p:nvPr/>
        </p:nvSpPr>
        <p:spPr>
          <a:xfrm>
            <a:off x="533520" y="304920"/>
            <a:ext cx="36428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9"/>
              </a:spcBef>
            </a:pPr>
            <a:r>
              <a:rPr b="0" lang="en-US" sz="2400" spc="-1" strike="noStrike">
                <a:solidFill>
                  <a:schemeClr val="dk1"/>
                </a:solidFill>
                <a:latin typeface="Tahoma"/>
              </a:rPr>
              <a:t>Bài tập</a:t>
            </a:r>
            <a:r>
              <a:rPr b="0" lang="vi-VN" sz="2400" spc="-1" strike="noStrike">
                <a:solidFill>
                  <a:schemeClr val="dk1"/>
                </a:solidFill>
                <a:latin typeface="Tahoma"/>
              </a:rPr>
              <a:t>-Kiểm tra đề số 4</a:t>
            </a:r>
            <a:endParaRPr b="0" lang="vi-V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_rels/theme3.xml.rels><?xml version="1.0" encoding="UTF-8"?>
<Relationships xmlns="http://schemas.openxmlformats.org/package/2006/relationships"><Relationship Id="rId1" Type="http://schemas.openxmlformats.org/officeDocument/2006/relationships/image" Target="../media/image1.jpeg"/>
</Relationships>
</file>

<file path=ppt/theme/_rels/theme4.xml.rels><?xml version="1.0" encoding="UTF-8"?>
<Relationships xmlns="http://schemas.openxmlformats.org/package/2006/relationships"><Relationship Id="rId1" Type="http://schemas.openxmlformats.org/officeDocument/2006/relationships/image" Target="../media/image1.jpeg"/>
</Relationships>
</file>

<file path=ppt/theme/_rels/theme5.xml.rels><?xml version="1.0" encoding="UTF-8"?>
<Relationships xmlns="http://schemas.openxmlformats.org/package/2006/relationships"><Relationship Id="rId1" Type="http://schemas.openxmlformats.org/officeDocument/2006/relationships/image" Target="../media/image1.jpeg"/>
</Relationships>
</file>

<file path=ppt/theme/_rels/theme6.xml.rels><?xml version="1.0" encoding="UTF-8"?>
<Relationships xmlns="http://schemas.openxmlformats.org/package/2006/relationships"><Relationship Id="rId1" Type="http://schemas.openxmlformats.org/officeDocument/2006/relationships/image" Target="../media/image1.jpeg"/>
</Relationships>
</file>

<file path=ppt/theme/_rels/theme7.xml.rels><?xml version="1.0" encoding="UTF-8"?>
<Relationships xmlns="http://schemas.openxmlformats.org/package/2006/relationships"><Relationship Id="rId1" Type="http://schemas.openxmlformats.org/officeDocument/2006/relationships/image" Target="../media/image1.jpeg"/>
</Relationships>
</file>

<file path=ppt/theme/_rels/theme8.xml.rels><?xml version="1.0" encoding="UTF-8"?>
<Relationships xmlns="http://schemas.openxmlformats.org/package/2006/relationships"><Relationship Id="rId1" Type="http://schemas.openxmlformats.org/officeDocument/2006/relationships/image" Target="../media/image1.jpeg"/>
</Relationships>
</file>

<file path=ppt/theme/_rels/theme9.xml.rels><?xml version="1.0" encoding="UTF-8"?>
<Relationships xmlns="http://schemas.openxmlformats.org/package/2006/relationships"><Relationship Id="rId1" Type="http://schemas.openxmlformats.org/officeDocument/2006/relationships/image" Target="../media/image1.jpeg"/>
</Relationships>
</file>

<file path=ppt/theme/_rels/theme10.xml.rels><?xml version="1.0" encoding="UTF-8"?>
<Relationships xmlns="http://schemas.openxmlformats.org/package/2006/relationships"><Relationship Id="rId1" Type="http://schemas.openxmlformats.org/officeDocument/2006/relationships/image" Target="../media/image1.jpeg"/>
</Relationships>
</file>

<file path=ppt/theme/_rels/theme1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4.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5.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6.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7.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8.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9.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10.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1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pitchFamily="0" charset="1"/>
        <a:ea typeface=""/>
        <a:cs typeface=""/>
      </a:majorFont>
      <a:minorFont>
        <a:latin typeface="Constantia" pitchFamily="0" charset="1"/>
        <a:ea typeface=""/>
        <a:cs typeface=""/>
      </a:minorFont>
    </a:fontScheme>
    <a:fmtScheme>
      <a:fillStyleLst>
        <a:solidFill>
          <a:schemeClr val="phClr"/>
        </a:solidFill>
        <a:gradFill>
          <a:gsLst>
            <a:gs pos="0">
              <a:schemeClr val="phClr">
                <a:tint val="70000"/>
              </a:schemeClr>
            </a:gs>
            <a:gs pos="43000">
              <a:schemeClr val="phClr">
                <a:tint val="44000"/>
              </a:schemeClr>
            </a:gs>
            <a:gs pos="93000">
              <a:schemeClr val="phClr">
                <a:tint val="15000"/>
              </a:schemeClr>
            </a:gs>
            <a:gs pos="100000">
              <a:schemeClr val="phClr">
                <a:tint val="5000"/>
              </a:schemeClr>
            </a:gs>
          </a:gsLst>
          <a:path path="circle">
            <a:fillToRect l="50000" t="130000" r="50000" b="-30000"/>
          </a:path>
          <a:tileRect l="0" t="0" r="0" b="0"/>
        </a:gradFill>
        <a:gradFill>
          <a:gsLst>
            <a:gs pos="0">
              <a:schemeClr val="phClr">
                <a:tint val="98000"/>
                <a:shade val="25000"/>
              </a:schemeClr>
            </a:gs>
            <a:gs pos="68000">
              <a:schemeClr val="phClr">
                <a:tint val="86000"/>
              </a:schemeClr>
            </a:gs>
            <a:gs pos="100000">
              <a:schemeClr val="phClr">
                <a:tint val="50000"/>
              </a:schemeClr>
            </a:gs>
          </a:gsLst>
          <a:path path="circle">
            <a:fillToRect l="50000" t="130000" r="50000" b="-30000"/>
          </a:path>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80000"/>
              </a:schemeClr>
            </a:gs>
            <a:gs pos="25000">
              <a:schemeClr val="phClr">
                <a:tint val="83000"/>
              </a:schemeClr>
            </a:gs>
            <a:gs pos="100000">
              <a:schemeClr val="phClr">
                <a:shade val="15000"/>
              </a:schemeClr>
            </a:gs>
          </a:gsLst>
          <a:path path="circle">
            <a:fillToRect l="10000" t="110000" r="10000" b="100000"/>
          </a:path>
          <a:tileRect l="0" t="0" r="0" b="0"/>
        </a:gradFill>
        <a:blipFill rotWithShape="0">
          <a:blip r:embed="rId1"/>
          <a:srcRect l="0" t="0" r="0" b="0"/>
          <a:tile tx="0" ty="0" sx="65000" sy="65000" flip="none" algn="tl"/>
        </a:blip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Flow</Template>
  <TotalTime>16412</TotalTime>
  <Application>LibreOffice/24.2.7.2$Linux_X86_64 LibreOffice_project/420$Build-2</Application>
  <AppVersion>15.0000</AppVersion>
  <Words>5098</Words>
  <Paragraphs>933</Paragraphs>
  <Company>SRDC METU</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2003-05-25T12:47:52Z</dcterms:created>
  <dc:creator>Asuman Dogac</dc:creator>
  <dc:description/>
  <dc:language>en-US</dc:language>
  <cp:lastModifiedBy/>
  <dcterms:modified xsi:type="dcterms:W3CDTF">2025-10-03T11:51:25Z</dcterms:modified>
  <cp:revision>588</cp:revision>
  <dc:subject/>
  <dc:title>Semantics of Web Services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44</vt:i4>
  </property>
  <property fmtid="{D5CDD505-2E9C-101B-9397-08002B2CF9AE}" pid="3" name="PresentationFormat">
    <vt:lpwstr>On-screen Show (4:3)</vt:lpwstr>
  </property>
  <property fmtid="{D5CDD505-2E9C-101B-9397-08002B2CF9AE}" pid="4" name="Slides">
    <vt:i4>52</vt:i4>
  </property>
</Properties>
</file>