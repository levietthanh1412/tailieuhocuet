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54"/>
  </p:notesMasterIdLst>
  <p:handoutMasterIdLst>
    <p:handoutMasterId r:id="rId55"/>
  </p:handoutMasterIdLst>
  <p:sldIdLst>
    <p:sldId id="256" r:id="rId2"/>
    <p:sldId id="320" r:id="rId3"/>
    <p:sldId id="338" r:id="rId4"/>
    <p:sldId id="337" r:id="rId5"/>
    <p:sldId id="335" r:id="rId6"/>
    <p:sldId id="258" r:id="rId7"/>
    <p:sldId id="259" r:id="rId8"/>
    <p:sldId id="265" r:id="rId9"/>
    <p:sldId id="321" r:id="rId10"/>
    <p:sldId id="266" r:id="rId11"/>
    <p:sldId id="267" r:id="rId12"/>
    <p:sldId id="333" r:id="rId13"/>
    <p:sldId id="268" r:id="rId14"/>
    <p:sldId id="334" r:id="rId15"/>
    <p:sldId id="332" r:id="rId16"/>
    <p:sldId id="260" r:id="rId17"/>
    <p:sldId id="298" r:id="rId18"/>
    <p:sldId id="271" r:id="rId19"/>
    <p:sldId id="269" r:id="rId20"/>
    <p:sldId id="270" r:id="rId21"/>
    <p:sldId id="331" r:id="rId22"/>
    <p:sldId id="299" r:id="rId23"/>
    <p:sldId id="273" r:id="rId24"/>
    <p:sldId id="274" r:id="rId25"/>
    <p:sldId id="277" r:id="rId26"/>
    <p:sldId id="276" r:id="rId27"/>
    <p:sldId id="300" r:id="rId28"/>
    <p:sldId id="279" r:id="rId29"/>
    <p:sldId id="281" r:id="rId30"/>
    <p:sldId id="306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07" r:id="rId41"/>
    <p:sldId id="308" r:id="rId42"/>
    <p:sldId id="309" r:id="rId43"/>
    <p:sldId id="301" r:id="rId44"/>
    <p:sldId id="283" r:id="rId45"/>
    <p:sldId id="261" r:id="rId46"/>
    <p:sldId id="284" r:id="rId47"/>
    <p:sldId id="336" r:id="rId48"/>
    <p:sldId id="303" r:id="rId49"/>
    <p:sldId id="288" r:id="rId50"/>
    <p:sldId id="317" r:id="rId51"/>
    <p:sldId id="319" r:id="rId52"/>
    <p:sldId id="305" r:id="rId5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777777"/>
    <a:srgbClr val="FF3333"/>
    <a:srgbClr val="CC0000"/>
    <a:srgbClr val="FF3300"/>
    <a:srgbClr val="800000"/>
    <a:srgbClr val="FFCC9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9" autoAdjust="0"/>
    <p:restoredTop sz="97128" autoAdjust="0"/>
  </p:normalViewPr>
  <p:slideViewPr>
    <p:cSldViewPr>
      <p:cViewPr varScale="1">
        <p:scale>
          <a:sx n="101" d="100"/>
          <a:sy n="101" d="100"/>
        </p:scale>
        <p:origin x="16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0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r>
              <a:rPr lang="vi-VN"/>
              <a:t>Nhập môn Cơ sở dữ liệu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1B5297E-955C-4953-9C84-B711793BEFE5}" type="datetime12">
              <a:rPr lang="vi-VN" smtClean="0"/>
              <a:pPr>
                <a:defRPr/>
              </a:pPr>
              <a:t>11:21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B8AC9598-629A-494F-A114-3808FC2BEE1A}" type="slidenum">
              <a:rPr lang="vi-VN"/>
              <a:pPr>
                <a:defRPr/>
              </a:pPr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364522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A1A584A7-0D18-4AB2-9A4A-B06E466AA956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dirty="0" err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Nhập môn CSDL</a:t>
            </a:r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F5EAEB4B-D58B-46FC-9842-6B99B09318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5414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AF6DF3FC-9A5C-4538-B554-DA0FFA72E967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826566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6A7A0ADE-5452-49CB-A7F0-32B336EFD221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654400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Trong vô số thông tin ta chọn lọc ra những sự kiện, khái niệm, số liệu, … để tổ chức lưu trữ, gọi là dữ liệu.</a:t>
            </a:r>
          </a:p>
          <a:p>
            <a:pPr eaLnBrk="1" hangingPunct="1"/>
            <a:r>
              <a:rPr lang="en-US"/>
              <a:t>Dữ liệu được mô tả dưới nhiều dạng, ví dụ như ký tự hay ký số gắn liền với 1 ngữ nghĩa nào đó.</a:t>
            </a:r>
          </a:p>
          <a:p>
            <a:pPr eaLnBrk="1" hangingPunct="1"/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B1D3C3F6-5BA2-4124-BE21-440778150A12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485647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59713E1F-91CD-4692-BF05-0D311129A071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586146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E66130BE-6254-4FEF-AF4B-7B66C6A12241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508652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2F1E56F4-8EA0-4B34-8CC5-BB072602BFA4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174723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5FF1A538-91C1-4EE2-83BE-813AC40BE032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546645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4A6D677E-1741-4D1C-970F-F566E8C7E148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160746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EEB1545-5626-4C16-AB9B-BC676E4DE814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595122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34A61CA-2F5C-4424-88E3-856BB080FEC4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593777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A9F50A99-73D3-4627-AB44-57E354558E2A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858741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980DDFE-E83C-43BB-A458-438BE5F3B2C5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225105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889B0B6B-2D60-40D8-8A7E-D2CC92C1181E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836275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A698DC90-62EB-4E63-B78A-B961FC83C2D9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963242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Trùng lắp: mỗi chương trình ứng dụng truy xuất 1 tập tin, một thông tin sẽ được lưu ở nhiều tập tin.</a:t>
            </a:r>
          </a:p>
          <a:p>
            <a:pPr eaLnBrk="1" hangingPunct="1"/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33789A27-7EA0-4876-9CC1-C424501C3FD9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441148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223E27E3-4C36-4A01-8D61-5CBA06BE10E5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323977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479BC6F8-C4F1-4127-B392-FB98A442920B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359452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728DE564-EADA-4C13-BCA7-BF831634F717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150048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D8505A7E-AB73-46C3-81DB-2B0BCC126322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1060709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3580AF06-95C5-4E9A-B4D4-A1A8E9887CAF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106457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483F0FF7-2EA2-4F11-9CBF-A8E5972778C1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5760713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302A563-DCC3-4829-9407-7E6EC3EAE0CD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2878175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5809400-E0E3-46F7-9D28-79C6432F308D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583951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Bất kỳ tổ chức nào cũng có sự dùng chung tài nguyên.</a:t>
            </a:r>
          </a:p>
          <a:p>
            <a:pPr eaLnBrk="1" hangingPunct="1"/>
            <a:r>
              <a:rPr lang="en-US"/>
              <a:t>Cần có người để theo dõi và quản lý tài nguyên đó.</a:t>
            </a:r>
          </a:p>
          <a:p>
            <a:pPr eaLnBrk="1" hangingPunct="1"/>
            <a:r>
              <a:rPr lang="en-US"/>
              <a:t>Ở đây tài nguyên là CSDL, hệ quản trị CSDL và các chương trình khai thác CSDL.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BCC4EF09-A4A7-4AE7-90A7-C479D8690D5A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9329269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3379B191-4143-4914-8632-B4424E161019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5622874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4157E88-8571-4CD7-A500-7274623E83E7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6386327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286D8A8A-2F00-4038-81C0-7D5335D248BB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41070073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5544F4E6-ADAA-40B5-BFD9-2EF2F7612367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7956203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FDBEA235-ED85-411B-823F-0B89F4D1C3F9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8698970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6DE900B4-F4A4-4FC1-B807-9FDB4018F5BA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0560190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DD3166BB-FE1A-4E1D-A438-754CBB6109F7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0439534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B380428D-820E-458E-B936-39A428EB9E52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19542723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1714D1C-A848-46CD-BB43-28D5E691B38D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926551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774EB0B0-AD42-4BAD-B2E5-BC3DE366005F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2661484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636032FD-3450-42D2-94A0-9D894F565946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9011756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FFED942-2FCF-4AD9-B125-37CC233F2B47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0450901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AD072462-A877-43F5-BD2A-4A428D5A44EB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15487947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7C1EC467-8B47-4595-9723-3CECEF6D3C2E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1379268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C59C4D9-EDAF-49CA-98E5-D1049B581106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9453949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F3E3D86D-9AE1-42A5-B2EE-8E842C29DD24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4355978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5C03499-ADBB-423F-A39E-D5BD96D362CE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23042014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70DE0080-62D1-488F-9607-DE62AB3F5180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0443001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70DE0080-62D1-488F-9607-DE62AB3F5180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7316715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E71A402F-14F8-43A5-A649-63B2FA77545E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41097274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B647088-2BFD-4EDC-91F0-13332BA24FCC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19824464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EB780863-3CAB-481B-B50F-38667DA519A1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7132899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Nhập môn Cơ sở dữ liệu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83D71E0F-FDE6-47CB-8D12-11E9324BA195}" type="datetime12">
              <a:rPr lang="vi-VN" smtClean="0"/>
              <a:pPr>
                <a:defRPr/>
              </a:pPr>
              <a:t>11:20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AEB4B-D58B-46FC-9842-6B99B09318D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môn CSDL</a:t>
            </a:r>
          </a:p>
        </p:txBody>
      </p:sp>
    </p:spTree>
    <p:extLst>
      <p:ext uri="{BB962C8B-B14F-4D97-AF65-F5344CB8AC3E}">
        <p14:creationId xmlns:p14="http://schemas.microsoft.com/office/powerpoint/2010/main" val="350538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D5EEF-CB14-4F6E-8CC7-241C8E841795}" type="datetime13">
              <a:rPr lang="vi-VN" altLang="en-US" smtClean="0"/>
              <a:pPr>
                <a:defRPr/>
              </a:pPr>
              <a:t>11:20:48</a:t>
            </a:fld>
            <a:endParaRPr lang="en-US" alt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1AA61-E24D-4DAF-B275-5AB0E894CC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09705-0FB5-4D2B-929D-1D1FA9223315}" type="datetime13">
              <a:rPr lang="vi-VN" altLang="en-US" smtClean="0"/>
              <a:pPr>
                <a:defRPr/>
              </a:pPr>
              <a:t>11:20:50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6126A-E693-49E3-9959-396E52CEBB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8A919-4C60-4613-A9CD-EF017081247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49089-FA76-4D47-9DB2-3CC54CC4D1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BE60B-A70E-4887-9232-265BB85D761E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00CB9-D652-471C-A789-08761A5F52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1BF77-6F7E-45F5-B4B9-3559258305F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E00AB-2CE4-4390-BB4E-4438F4A515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A81FB-DF76-494C-8C9E-95B9AFDD6A8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CBDCA-C436-4DD4-9937-F572030AC0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7AF5F-376B-4EAF-84D7-E01AEA3BDE62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718FA-33BF-4128-8E23-0E359EDCE4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34EC9-9385-4B03-854E-D0A0A2D5D260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128A4-0F7F-4AA1-8788-43F4468CE3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E4C53-5F9D-47B6-84F2-9B09C8AB73A5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0C2B5-5F70-4F1F-A2BE-2E4097896D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DFE7E-C8CD-4552-98C7-5C683024610C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7D4F-5A02-4189-A0B6-5B8FA31029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14BF4-61A1-4ACA-8469-C4AC012BCFB9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14533-513C-421B-BF32-3C2BCB714D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4911725"/>
          </a:xfrm>
        </p:spPr>
        <p:txBody>
          <a:bodyPr>
            <a:normAutofit/>
          </a:bodyPr>
          <a:lstStyle/>
          <a:p>
            <a:pPr lvl="0"/>
            <a:endParaRPr lang="vi-VN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E81F5-2EC7-423E-9221-978591FD6CA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48061-BE63-4667-8076-74496DFD78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dirty="0" err="1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E655596A-C850-4E6F-A1D7-C34C12B9E454}" type="datetime13">
              <a:rPr lang="vi-VN" altLang="en-US" smtClean="0"/>
              <a:pPr>
                <a:defRPr/>
              </a:pPr>
              <a:t>11:20:48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dirty="0" err="1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3248F4FE-C6D3-4C04-B2AC-2ECDEBBDBD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ransition>
    <p:wip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harles_Bachman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en.wikipedia.org/wiki/General_Electric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52400"/>
            <a:ext cx="8915400" cy="990600"/>
          </a:xfrm>
        </p:spPr>
        <p:txBody>
          <a:bodyPr/>
          <a:lstStyle/>
          <a:p>
            <a:pPr marR="0" algn="ctr"/>
            <a:r>
              <a:rPr lang="en-US" dirty="0"/>
              <a:t>NHẬP </a:t>
            </a:r>
            <a:r>
              <a:rPr lang="en-US"/>
              <a:t>MÔN HỆ CƠ </a:t>
            </a:r>
            <a:r>
              <a:rPr lang="en-US" dirty="0"/>
              <a:t>SỞ DỮ LIỆU</a:t>
            </a:r>
          </a:p>
          <a:p>
            <a:pPr marR="0" algn="ctr"/>
            <a:r>
              <a:rPr lang="en-US" dirty="0"/>
              <a:t>--------------------------------------</a:t>
            </a:r>
            <a:endParaRPr lang="vi-VN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90600" y="1143000"/>
            <a:ext cx="7772400" cy="3124200"/>
          </a:xfrm>
        </p:spPr>
        <p:txBody>
          <a:bodyPr>
            <a:normAutofit fontScale="9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sz="3200" u="sng" dirty="0" err="1">
                <a:solidFill>
                  <a:srgbClr val="FFFF00"/>
                </a:solidFill>
              </a:rPr>
              <a:t>Nội</a:t>
            </a:r>
            <a:r>
              <a:rPr lang="en-US" sz="3200" u="sng" dirty="0">
                <a:solidFill>
                  <a:srgbClr val="FFFF00"/>
                </a:solidFill>
              </a:rPr>
              <a:t> dung </a:t>
            </a:r>
            <a:r>
              <a:rPr lang="en-US" sz="3200" u="sng" dirty="0" err="1">
                <a:solidFill>
                  <a:srgbClr val="FFFF00"/>
                </a:solidFill>
              </a:rPr>
              <a:t>lý</a:t>
            </a:r>
            <a:r>
              <a:rPr lang="en-US" sz="3200" u="sng" dirty="0">
                <a:solidFill>
                  <a:srgbClr val="FFFF00"/>
                </a:solidFill>
              </a:rPr>
              <a:t> </a:t>
            </a:r>
            <a:r>
              <a:rPr lang="en-US" sz="3200" u="sng" err="1">
                <a:solidFill>
                  <a:srgbClr val="FFFF00"/>
                </a:solidFill>
              </a:rPr>
              <a:t>thuyết</a:t>
            </a:r>
            <a:r>
              <a:rPr lang="en-US" sz="3200" u="sng">
                <a:solidFill>
                  <a:srgbClr val="FFFF00"/>
                </a:solidFill>
              </a:rPr>
              <a:t> 45 </a:t>
            </a:r>
            <a:r>
              <a:rPr lang="en-US" sz="3200" u="sng" err="1">
                <a:solidFill>
                  <a:srgbClr val="FFFF00"/>
                </a:solidFill>
              </a:rPr>
              <a:t>giờ</a:t>
            </a:r>
            <a:r>
              <a:rPr lang="en-US" sz="3200" u="sng">
                <a:solidFill>
                  <a:srgbClr val="FFFF00"/>
                </a:solidFill>
              </a:rPr>
              <a:t> (lt </a:t>
            </a:r>
            <a:r>
              <a:rPr lang="en-US" sz="3200" u="sng" dirty="0">
                <a:solidFill>
                  <a:srgbClr val="FFFF00"/>
                </a:solidFill>
              </a:rPr>
              <a:t>+ </a:t>
            </a:r>
            <a:r>
              <a:rPr lang="en-US" sz="3200" u="sng" dirty="0" err="1">
                <a:solidFill>
                  <a:srgbClr val="FFFF00"/>
                </a:solidFill>
              </a:rPr>
              <a:t>bt</a:t>
            </a:r>
            <a:r>
              <a:rPr lang="en-US" sz="3200" u="sng" dirty="0">
                <a:solidFill>
                  <a:srgbClr val="FFFF00"/>
                </a:solidFill>
              </a:rPr>
              <a:t> + </a:t>
            </a:r>
            <a:r>
              <a:rPr lang="en-US" sz="3200" u="sng" dirty="0" err="1">
                <a:solidFill>
                  <a:srgbClr val="FFFF00"/>
                </a:solidFill>
              </a:rPr>
              <a:t>tự</a:t>
            </a:r>
            <a:r>
              <a:rPr lang="en-US" sz="3200" u="sng" dirty="0">
                <a:solidFill>
                  <a:srgbClr val="FFFF00"/>
                </a:solidFill>
              </a:rPr>
              <a:t> </a:t>
            </a:r>
            <a:r>
              <a:rPr lang="en-US" sz="3200" u="sng" dirty="0" err="1">
                <a:solidFill>
                  <a:srgbClr val="FFFF00"/>
                </a:solidFill>
              </a:rPr>
              <a:t>học</a:t>
            </a:r>
            <a:r>
              <a:rPr lang="en-US" sz="3200" u="sng" dirty="0">
                <a:solidFill>
                  <a:srgbClr val="FFFF00"/>
                </a:solidFill>
              </a:rPr>
              <a:t>)</a:t>
            </a:r>
            <a:r>
              <a:rPr lang="en-US" sz="3200" dirty="0">
                <a:solidFill>
                  <a:srgbClr val="FFFF00"/>
                </a:solidFill>
              </a:rPr>
              <a:t>: 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1. </a:t>
            </a:r>
            <a:r>
              <a:rPr lang="en-US" sz="2400" i="1" dirty="0" err="1">
                <a:solidFill>
                  <a:schemeClr val="tx1"/>
                </a:solidFill>
              </a:rPr>
              <a:t>Mở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  <a:r>
              <a:rPr lang="en-US" sz="2400" i="1" dirty="0" err="1">
                <a:solidFill>
                  <a:schemeClr val="tx1"/>
                </a:solidFill>
              </a:rPr>
              <a:t>đầu</a:t>
            </a:r>
            <a:r>
              <a:rPr lang="en-US" sz="2400" i="1" dirty="0">
                <a:solidFill>
                  <a:schemeClr val="tx1"/>
                </a:solidFill>
              </a:rPr>
              <a:t>: </a:t>
            </a:r>
            <a:r>
              <a:rPr lang="en-US" sz="2400" dirty="0" err="1">
                <a:solidFill>
                  <a:schemeClr val="tx1"/>
                </a:solidFill>
              </a:rPr>
              <a:t>Một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số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khái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niệm</a:t>
            </a:r>
            <a:br>
              <a:rPr lang="en-US" sz="2400" i="1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2. KN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lược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đồ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3.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thực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- </a:t>
            </a:r>
            <a:r>
              <a:rPr lang="en-US" sz="2400" dirty="0" err="1">
                <a:solidFill>
                  <a:schemeClr val="tx1"/>
                </a:solidFill>
              </a:rPr>
              <a:t>liên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kết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4.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hệ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5. </a:t>
            </a:r>
            <a:r>
              <a:rPr lang="en-US" sz="2400" dirty="0" err="1">
                <a:solidFill>
                  <a:schemeClr val="tx1"/>
                </a:solidFill>
              </a:rPr>
              <a:t>Phụ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thuộc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hàm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6. </a:t>
            </a:r>
            <a:r>
              <a:rPr lang="en-US" sz="2400" dirty="0" err="1">
                <a:solidFill>
                  <a:schemeClr val="tx1"/>
                </a:solidFill>
              </a:rPr>
              <a:t>Đại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số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hệ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7. </a:t>
            </a: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dạng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chuẩn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chuẩn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hóa</a:t>
            </a:r>
            <a:endParaRPr lang="vi-VN" sz="3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1AA61-E24D-4DAF-B275-5AB0E894CC3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F17D46-916B-424D-9DC4-FDB07F881C51}" type="datetime13">
              <a:rPr lang="vi-VN" altLang="en-US" smtClean="0"/>
              <a:pPr>
                <a:defRPr/>
              </a:pPr>
              <a:t>11:20:48</a:t>
            </a:fld>
            <a:endParaRPr lang="en-US" altLang="en-US"/>
          </a:p>
        </p:txBody>
      </p:sp>
      <p:sp>
        <p:nvSpPr>
          <p:cNvPr id="8" name="Title 4"/>
          <p:cNvSpPr txBox="1">
            <a:spLocks/>
          </p:cNvSpPr>
          <p:nvPr/>
        </p:nvSpPr>
        <p:spPr bwMode="auto">
          <a:xfrm>
            <a:off x="838200" y="4495800"/>
            <a:ext cx="7772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Nội dung </a:t>
            </a:r>
            <a:r>
              <a:rPr kumimoji="0" lang="en-US" sz="2800" b="1" i="0" u="sng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thực</a:t>
            </a:r>
            <a:r>
              <a:rPr kumimoji="0" lang="en-US" sz="2800" b="1" i="0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hành</a:t>
            </a:r>
            <a:r>
              <a:rPr kumimoji="0" lang="en-US" sz="2800" b="1" i="0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15 giờ x 2)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1371600" lvl="2" indent="-457200" algn="l"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Thực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hành trên máy,  sử </a:t>
            </a:r>
            <a:r>
              <a:rPr kumimoji="0" lang="en-US" sz="2000" b="1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dụng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MySQL</a:t>
            </a:r>
          </a:p>
          <a:p>
            <a:pPr marL="1371600" lvl="2" indent="-457200" algn="l"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10 bài thực hành</a:t>
            </a:r>
          </a:p>
          <a:p>
            <a:pPr marL="1371600" lvl="2" indent="-457200" algn="l"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000" b="1" baseline="0" dirty="0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Bắt</a:t>
            </a:r>
            <a:r>
              <a:rPr lang="en-US" sz="2000" b="1" dirty="0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đầu </a:t>
            </a:r>
            <a:r>
              <a:rPr lang="en-US" sz="2000" b="1" dirty="0" err="1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từ</a:t>
            </a:r>
            <a:r>
              <a:rPr lang="en-US" sz="2000" b="1" dirty="0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2000" b="1" err="1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tuần</a:t>
            </a:r>
            <a:r>
              <a:rPr lang="en-US" sz="2000" b="1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 2</a:t>
            </a:r>
            <a:endParaRPr kumimoji="0" lang="vi-V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1AA61-E24D-4DAF-B275-5AB0E894CC3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862A7C-3697-4B49-ACF2-7AF279870294}" type="datetime13">
              <a:rPr lang="vi-VN" altLang="en-US" smtClean="0"/>
              <a:pPr>
                <a:defRPr/>
              </a:pPr>
              <a:t>11:20:50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Cơ sở dữ liệu</a:t>
            </a:r>
            <a:endParaRPr lang="vi-VN"/>
          </a:p>
        </p:txBody>
      </p:sp>
      <p:sp>
        <p:nvSpPr>
          <p:cNvPr id="3" name="Rectangle 2"/>
          <p:cNvSpPr/>
          <p:nvPr/>
        </p:nvSpPr>
        <p:spPr>
          <a:xfrm>
            <a:off x="451513" y="1216837"/>
            <a:ext cx="8229600" cy="500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Mục tiêu môn học: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Trang bị cho sinh viên kiến thức cơ bản về cơ sở dữ liệu (CSDL), thiết </a:t>
            </a:r>
            <a:r>
              <a:rPr lang="vi-VN" sz="240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kế csdl</a:t>
            </a: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trọng tâm với mô hình QH</a:t>
            </a:r>
            <a:r>
              <a:rPr lang="vi-VN" sz="240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vi-VN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Mô hình thực thể - liên kết (ER); Mô hình quan hệ. </a:t>
            </a:r>
          </a:p>
          <a:p>
            <a:pPr marL="342900" marR="0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Đại số quan hệ, </a:t>
            </a:r>
          </a:p>
          <a:p>
            <a:pPr marL="342900" marR="0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Chuyển lược đồ thực thể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liên kết sang lược đồ quan hệ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Phụ thuộc hàm,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diễn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đóng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phủ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tối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thiểu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chuẩn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chuẩn hóa CSDL quan hệ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marR="0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Thực hành, sinh viên được học ngôn ngữ SQL và thực hành trên một hệ quản trị CSDL cụ thể.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1AA61-E24D-4DAF-B275-5AB0E894CC3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862A7C-3697-4B49-ACF2-7AF279870294}" type="datetime13">
              <a:rPr lang="vi-VN" altLang="en-US" smtClean="0"/>
              <a:pPr>
                <a:defRPr/>
              </a:pPr>
              <a:t>11:20:50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Cơ sở dữ liệu</a:t>
            </a:r>
            <a:endParaRPr lang="vi-V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558792"/>
              </p:ext>
            </p:extLst>
          </p:nvPr>
        </p:nvGraphicFramePr>
        <p:xfrm>
          <a:off x="304800" y="1295400"/>
          <a:ext cx="8610601" cy="4848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0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549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Mục</a:t>
                      </a:r>
                      <a:r>
                        <a:rPr lang="en-US" sz="1800" dirty="0">
                          <a:effectLst/>
                        </a:rPr>
                        <a:t>  </a:t>
                      </a:r>
                      <a:r>
                        <a:rPr lang="en-US" sz="1800" dirty="0" err="1">
                          <a:effectLst/>
                        </a:rPr>
                        <a:t>tiêu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Nội</a:t>
                      </a:r>
                      <a:r>
                        <a:rPr lang="en-US" sz="1800" dirty="0">
                          <a:effectLst/>
                        </a:rPr>
                        <a:t> dung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Bậc 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548640" marR="0" indent="-54864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Bậc 2</a:t>
                      </a:r>
                      <a:endParaRPr lang="en-US" sz="1800" b="1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Bậc 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Bậc 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342900" marR="0" lvl="0" indent="-34290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+mj-lt"/>
                        <a:buAutoNum type="arabicPeriod"/>
                        <a:tabLst>
                          <a:tab pos="0" algn="l"/>
                        </a:tabLst>
                      </a:pPr>
                      <a:r>
                        <a:rPr lang="en-US" sz="2000">
                          <a:effectLst/>
                        </a:rPr>
                        <a:t>Kiến thức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Mô hình thực thể - liên kết (ER)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Mô hình quan hệ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Đại số quan hệ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Phụ thuộc hàm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Các dạng chuẩn 1, 2, 3, Boyce-Codd, 4, 5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Các thuật toán thiết kế CSDL quan hệ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342900" marR="0" lvl="0" indent="-34290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+mj-lt"/>
                        <a:buAutoNum type="arabicPeriod" startAt="2"/>
                        <a:tabLst>
                          <a:tab pos="0" algn="l"/>
                        </a:tabLst>
                      </a:pPr>
                      <a:r>
                        <a:rPr lang="en-US" sz="2000" dirty="0" err="1">
                          <a:effectLst/>
                        </a:rPr>
                        <a:t>Kỹ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năng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054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Cài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đặt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được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và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sử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dụng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một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hệ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quản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trị</a:t>
                      </a:r>
                      <a:r>
                        <a:rPr lang="en-US" sz="2000" dirty="0">
                          <a:effectLst/>
                        </a:rPr>
                        <a:t> CSDL (</a:t>
                      </a:r>
                      <a:r>
                        <a:rPr lang="en-US" sz="2000" dirty="0" err="1">
                          <a:effectLst/>
                        </a:rPr>
                        <a:t>Ví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dụ</a:t>
                      </a:r>
                      <a:r>
                        <a:rPr lang="en-US" sz="2000" dirty="0">
                          <a:effectLst/>
                        </a:rPr>
                        <a:t> MySQL, MS SQL, PostgreSQL)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054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Sử dụng được ngôn ngữ SQL để thực hiện các bài tập cơ bản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342900" marR="0" lvl="0" indent="-34290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+mj-lt"/>
                        <a:buAutoNum type="arabicPeriod" startAt="3"/>
                        <a:tabLst>
                          <a:tab pos="0" algn="l"/>
                        </a:tabLst>
                      </a:pPr>
                      <a:r>
                        <a:rPr lang="en-US" sz="2000" dirty="0" err="1">
                          <a:effectLst/>
                        </a:rPr>
                        <a:t>Phẩm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chất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đạo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đức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228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408DA0-C188-4E1C-B851-7D548188C7B8}"/>
              </a:ext>
            </a:extLst>
          </p:cNvPr>
          <p:cNvCxnSpPr/>
          <p:nvPr/>
        </p:nvCxnSpPr>
        <p:spPr>
          <a:xfrm>
            <a:off x="304800" y="1295400"/>
            <a:ext cx="51054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811284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8200" y="1524000"/>
            <a:ext cx="75438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sng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Tài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liệu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tham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khảo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  <a:endParaRPr kumimoji="0" lang="en-US" sz="3200" b="1" i="0" u="none" strike="noStrike" kern="1200" cap="none" spc="0" normalizeH="0" noProof="0" dirty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Nguyễn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Tuệ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	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Giáo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trình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Nhập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môn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Hệ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cơ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sở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dữ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liệu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 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NXBGD 2008.</a:t>
            </a:r>
          </a:p>
          <a:p>
            <a:pPr marL="342900" lvl="0" indent="-342900" algn="l" fontAlgn="auto">
              <a:spcBef>
                <a:spcPct val="0"/>
              </a:spcBef>
              <a:spcAft>
                <a:spcPts val="0"/>
              </a:spcAft>
              <a:buFontTx/>
              <a:buAutoNum type="arabicPeriod" startAt="2"/>
              <a:defRPr/>
            </a:pP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Hồ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Thuần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Hồ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Cẩm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Hà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marL="342900" lvl="0" indent="-342900" algn="l" fontAlgn="auto">
              <a:spcBef>
                <a:spcPct val="0"/>
              </a:spcBef>
              <a:spcAft>
                <a:spcPts val="0"/>
              </a:spcAft>
              <a:defRPr/>
            </a:pP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NXBGD 2009.</a:t>
            </a:r>
          </a:p>
          <a:p>
            <a:pPr marL="342000" indent="-342000" algn="l" fontAlgn="auto">
              <a:spcBef>
                <a:spcPct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Ramez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Elmasri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Shamkant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B.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Navathe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 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Fundamentals of database system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 </a:t>
            </a:r>
            <a:r>
              <a:rPr lang="en-US" sz="25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Addision-Wasley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marL="342900" indent="-342900" algn="l" fontAlgn="auto">
              <a:spcBef>
                <a:spcPct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Jeffrey  D. Ullman,</a:t>
            </a: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marL="342900" indent="-342900" algn="l" fontAlgn="auto">
              <a:spcBef>
                <a:spcPct val="0"/>
              </a:spcBef>
              <a:spcAft>
                <a:spcPts val="0"/>
              </a:spcAft>
              <a:defRPr/>
            </a:pPr>
            <a:r>
              <a:rPr lang="en-US" sz="25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    Principles of Database Systems, </a:t>
            </a:r>
            <a:r>
              <a:rPr lang="en-US" sz="25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Computer science Press, 1980</a:t>
            </a:r>
          </a:p>
          <a:p>
            <a:pPr marL="457200" lvl="0" indent="-457200" algn="l" fontAlgn="auto">
              <a:spcBef>
                <a:spcPct val="0"/>
              </a:spcBef>
              <a:spcAft>
                <a:spcPts val="0"/>
              </a:spcAft>
              <a:defRPr/>
            </a:pPr>
            <a:endParaRPr 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1AA61-E24D-4DAF-B275-5AB0E894CC3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862A7C-3697-4B49-ACF2-7AF279870294}" type="datetime13">
              <a:rPr lang="vi-VN" altLang="en-US" smtClean="0"/>
              <a:pPr>
                <a:defRPr/>
              </a:pPr>
              <a:t>11:20:50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Cơ sở dữ liệu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5395826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23900" y="2454275"/>
            <a:ext cx="81915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1" u="sng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sng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Yêu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cầu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chung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của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môn</a:t>
            </a:r>
            <a:r>
              <a:rPr kumimoji="0" lang="en-US" sz="2800" b="1" i="1" u="sng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1" u="sng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học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Sinh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viên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cần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tham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dự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đầy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đủ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buổi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học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Lý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thuyết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hành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số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buổi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vắng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mặt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quá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20%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sẽ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không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dự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2.</a:t>
            </a:r>
            <a:r>
              <a:rPr lang="en-US" sz="2400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	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khảo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342900" lvl="0" indent="-342900" algn="l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400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và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kiểm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tra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:</a:t>
            </a:r>
          </a:p>
          <a:p>
            <a:pPr marL="800100" lvl="1" indent="-342900" algn="l" fontAlgn="auto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Kiểm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tra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giữa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kỳ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(0.4/0.3): </a:t>
            </a:r>
          </a:p>
          <a:p>
            <a:pPr marL="1257300" lvl="2" indent="-342900" algn="l" fontAlgn="auto">
              <a:spcBef>
                <a:spcPts val="12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Điểm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từ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bài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kiểm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tra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lý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thuyết</a:t>
            </a:r>
            <a:endParaRPr lang="en-US" sz="24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1257300" lvl="2" indent="-342900" algn="l" fontAlgn="auto">
              <a:spcBef>
                <a:spcPts val="12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Điểm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từ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bài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hành</a:t>
            </a:r>
            <a:endParaRPr lang="en-US" sz="24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800100" lvl="1" indent="-342900" algn="l" fontAlgn="auto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Chuyên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cần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(10 %) :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tham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dự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trên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lớp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làm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bài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hành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,… </a:t>
            </a:r>
          </a:p>
          <a:p>
            <a:pPr marL="800100" lvl="1" indent="-342900" algn="l" fontAlgn="auto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Thi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(0.6):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Thi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viết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máy</a:t>
            </a:r>
            <a:endParaRPr lang="en-US" sz="24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l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1AA61-E24D-4DAF-B275-5AB0E894CC3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862A7C-3697-4B49-ACF2-7AF279870294}" type="datetime13">
              <a:rPr lang="vi-VN" altLang="en-US" smtClean="0"/>
              <a:pPr>
                <a:defRPr/>
              </a:pPr>
              <a:t>11:20:50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" y="685800"/>
            <a:ext cx="9144000" cy="360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812800" y="196377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Cơ sở dữ liệu</a:t>
            </a:r>
            <a:endParaRPr lang="vi-VN"/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04800"/>
            <a:ext cx="8229600" cy="5826125"/>
          </a:xfrm>
        </p:spPr>
        <p:txBody>
          <a:bodyPr/>
          <a:lstStyle/>
          <a:p>
            <a:pPr>
              <a:buNone/>
            </a:pP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Chương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1.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Tổng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quan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về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Hệ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CSDL</a:t>
            </a:r>
          </a:p>
          <a:p>
            <a:endParaRPr lang="en-US" dirty="0"/>
          </a:p>
          <a:p>
            <a:pPr lvl="1">
              <a:buSzPct val="90000"/>
              <a:buFont typeface="Wingdings" panose="05000000000000000000" pitchFamily="2" charset="2"/>
              <a:buChar char="§"/>
            </a:pPr>
            <a:r>
              <a:rPr lang="en-US" sz="2800" dirty="0" err="1">
                <a:solidFill>
                  <a:srgbClr val="000066"/>
                </a:solidFill>
                <a:hlinkClick r:id="rId3" action="ppaction://hlinksldjump"/>
              </a:rPr>
              <a:t>Mở</a:t>
            </a:r>
            <a:r>
              <a:rPr lang="en-US" sz="2800" dirty="0">
                <a:solidFill>
                  <a:srgbClr val="000066"/>
                </a:solidFill>
                <a:hlinkClick r:id="rId3" action="ppaction://hlinksldjump"/>
              </a:rPr>
              <a:t> </a:t>
            </a:r>
            <a:r>
              <a:rPr lang="en-US" sz="2800" dirty="0" err="1">
                <a:solidFill>
                  <a:srgbClr val="000066"/>
                </a:solidFill>
                <a:hlinkClick r:id="rId3" action="ppaction://hlinksldjump"/>
              </a:rPr>
              <a:t>đầu</a:t>
            </a:r>
            <a:r>
              <a:rPr lang="en-US" sz="2800" dirty="0">
                <a:solidFill>
                  <a:srgbClr val="000066"/>
                </a:solidFill>
              </a:rPr>
              <a:t>: </a:t>
            </a:r>
            <a:r>
              <a:rPr lang="en-US" sz="2800" dirty="0" err="1">
                <a:solidFill>
                  <a:srgbClr val="000066"/>
                </a:solidFill>
              </a:rPr>
              <a:t>Một</a:t>
            </a:r>
            <a:r>
              <a:rPr lang="en-US" sz="2800" dirty="0">
                <a:solidFill>
                  <a:srgbClr val="000066"/>
                </a:solidFill>
              </a:rPr>
              <a:t> </a:t>
            </a:r>
            <a:r>
              <a:rPr lang="en-US" sz="2800" dirty="0" err="1">
                <a:solidFill>
                  <a:srgbClr val="000066"/>
                </a:solidFill>
              </a:rPr>
              <a:t>số</a:t>
            </a:r>
            <a:r>
              <a:rPr lang="en-US" sz="2800" dirty="0">
                <a:solidFill>
                  <a:srgbClr val="000066"/>
                </a:solidFill>
              </a:rPr>
              <a:t> </a:t>
            </a:r>
            <a:r>
              <a:rPr lang="en-US" sz="2800" dirty="0" err="1">
                <a:solidFill>
                  <a:srgbClr val="000066"/>
                </a:solidFill>
              </a:rPr>
              <a:t>khái</a:t>
            </a:r>
            <a:r>
              <a:rPr lang="en-US" sz="2800" dirty="0">
                <a:solidFill>
                  <a:srgbClr val="000066"/>
                </a:solidFill>
              </a:rPr>
              <a:t> </a:t>
            </a:r>
            <a:r>
              <a:rPr lang="en-US" sz="2800" dirty="0" err="1">
                <a:solidFill>
                  <a:srgbClr val="000066"/>
                </a:solidFill>
              </a:rPr>
              <a:t>niệm</a:t>
            </a:r>
            <a:endParaRPr lang="en-US" sz="2800" dirty="0">
              <a:solidFill>
                <a:srgbClr val="000066"/>
              </a:solidFill>
            </a:endParaRPr>
          </a:p>
          <a:p>
            <a:pPr lvl="2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sz="2500" dirty="0" err="1"/>
              <a:t>Quá</a:t>
            </a:r>
            <a:r>
              <a:rPr lang="en-US" sz="2500" dirty="0"/>
              <a:t> </a:t>
            </a:r>
            <a:r>
              <a:rPr lang="en-US" sz="2500" dirty="0" err="1"/>
              <a:t>trình</a:t>
            </a:r>
            <a:r>
              <a:rPr lang="en-US" sz="2500" dirty="0"/>
              <a:t> </a:t>
            </a:r>
            <a:r>
              <a:rPr lang="en-US" sz="2500" dirty="0" err="1"/>
              <a:t>phát</a:t>
            </a:r>
            <a:r>
              <a:rPr lang="en-US" sz="2500" dirty="0"/>
              <a:t> </a:t>
            </a:r>
            <a:r>
              <a:rPr lang="en-US" sz="2500" dirty="0" err="1"/>
              <a:t>triển</a:t>
            </a:r>
            <a:endParaRPr lang="en-US" sz="2500" dirty="0"/>
          </a:p>
          <a:p>
            <a:pPr lvl="2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sz="2500" dirty="0" err="1"/>
              <a:t>Một</a:t>
            </a:r>
            <a:r>
              <a:rPr lang="en-US" sz="2500" dirty="0"/>
              <a:t> </a:t>
            </a:r>
            <a:r>
              <a:rPr lang="en-US" sz="2500" dirty="0" err="1"/>
              <a:t>số</a:t>
            </a:r>
            <a:r>
              <a:rPr lang="en-US" sz="2500" dirty="0"/>
              <a:t> </a:t>
            </a:r>
            <a:r>
              <a:rPr lang="en-US" sz="2500" dirty="0" err="1"/>
              <a:t>đặc</a:t>
            </a:r>
            <a:r>
              <a:rPr lang="en-US" sz="2500" dirty="0"/>
              <a:t> </a:t>
            </a:r>
            <a:r>
              <a:rPr lang="en-US" sz="2500" dirty="0" err="1"/>
              <a:t>tính</a:t>
            </a:r>
            <a:r>
              <a:rPr lang="en-US" sz="2500" dirty="0"/>
              <a:t> </a:t>
            </a:r>
            <a:r>
              <a:rPr lang="en-US" sz="2500" dirty="0" err="1"/>
              <a:t>của</a:t>
            </a:r>
            <a:r>
              <a:rPr lang="en-US" sz="2500" dirty="0"/>
              <a:t> CSDL</a:t>
            </a:r>
          </a:p>
          <a:p>
            <a:pPr lvl="2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sz="2500" dirty="0" err="1"/>
              <a:t>Người</a:t>
            </a:r>
            <a:r>
              <a:rPr lang="en-US" sz="2500" dirty="0"/>
              <a:t> </a:t>
            </a:r>
            <a:r>
              <a:rPr lang="en-US" sz="2500" dirty="0" err="1"/>
              <a:t>sử</a:t>
            </a:r>
            <a:r>
              <a:rPr lang="en-US" sz="2500" dirty="0"/>
              <a:t> </a:t>
            </a:r>
            <a:r>
              <a:rPr lang="en-US" sz="2500" dirty="0" err="1"/>
              <a:t>dụng</a:t>
            </a:r>
            <a:r>
              <a:rPr lang="en-US" sz="2500" dirty="0"/>
              <a:t> CSDL</a:t>
            </a:r>
          </a:p>
          <a:p>
            <a:pPr lvl="2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sz="2500" dirty="0" err="1"/>
              <a:t>Kiến</a:t>
            </a:r>
            <a:r>
              <a:rPr lang="en-US" sz="2500" dirty="0"/>
              <a:t> </a:t>
            </a:r>
            <a:r>
              <a:rPr lang="en-US" sz="2500" dirty="0" err="1"/>
              <a:t>trúc</a:t>
            </a:r>
            <a:r>
              <a:rPr lang="en-US" sz="2500" dirty="0"/>
              <a:t> </a:t>
            </a:r>
            <a:r>
              <a:rPr lang="en-US" sz="2500" dirty="0" err="1"/>
              <a:t>của</a:t>
            </a:r>
            <a:r>
              <a:rPr lang="en-US" sz="2500" dirty="0"/>
              <a:t> HQT CSDL </a:t>
            </a:r>
          </a:p>
          <a:p>
            <a:pPr lvl="2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sz="2500" dirty="0" err="1"/>
              <a:t>Các</a:t>
            </a:r>
            <a:r>
              <a:rPr lang="en-US" sz="2500" dirty="0"/>
              <a:t> </a:t>
            </a:r>
            <a:r>
              <a:rPr lang="en-US" sz="2500" dirty="0" err="1"/>
              <a:t>tính</a:t>
            </a:r>
            <a:r>
              <a:rPr lang="en-US" sz="2500" dirty="0"/>
              <a:t> </a:t>
            </a:r>
            <a:r>
              <a:rPr lang="en-US" sz="2500" dirty="0" err="1"/>
              <a:t>năng</a:t>
            </a:r>
            <a:r>
              <a:rPr lang="en-US" sz="2500" dirty="0"/>
              <a:t> </a:t>
            </a:r>
            <a:r>
              <a:rPr lang="en-US" sz="2500" dirty="0" err="1"/>
              <a:t>của</a:t>
            </a:r>
            <a:r>
              <a:rPr lang="en-US" sz="2500" dirty="0"/>
              <a:t> HQT CSDL</a:t>
            </a:r>
          </a:p>
          <a:p>
            <a:pPr lvl="2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sz="2500" dirty="0" err="1"/>
              <a:t>Khái</a:t>
            </a:r>
            <a:r>
              <a:rPr lang="en-US" sz="2500" dirty="0"/>
              <a:t> </a:t>
            </a:r>
            <a:r>
              <a:rPr lang="en-US" sz="2500" dirty="0" err="1"/>
              <a:t>niệm</a:t>
            </a:r>
            <a:r>
              <a:rPr lang="en-US" sz="2500" dirty="0"/>
              <a:t>: </a:t>
            </a:r>
            <a:r>
              <a:rPr lang="en-US" sz="2500" dirty="0" err="1">
                <a:solidFill>
                  <a:srgbClr val="777777"/>
                </a:solidFill>
              </a:rPr>
              <a:t>Mô</a:t>
            </a:r>
            <a:r>
              <a:rPr lang="en-US" sz="2500" dirty="0">
                <a:solidFill>
                  <a:srgbClr val="777777"/>
                </a:solidFill>
              </a:rPr>
              <a:t> </a:t>
            </a:r>
            <a:r>
              <a:rPr lang="en-US" sz="2500" dirty="0" err="1">
                <a:solidFill>
                  <a:srgbClr val="777777"/>
                </a:solidFill>
              </a:rPr>
              <a:t>hình</a:t>
            </a:r>
            <a:r>
              <a:rPr lang="en-US" sz="2500" dirty="0">
                <a:solidFill>
                  <a:srgbClr val="777777"/>
                </a:solidFill>
              </a:rPr>
              <a:t>, </a:t>
            </a:r>
            <a:r>
              <a:rPr lang="en-US" sz="2500" dirty="0" err="1">
                <a:solidFill>
                  <a:srgbClr val="777777"/>
                </a:solidFill>
              </a:rPr>
              <a:t>Lược</a:t>
            </a:r>
            <a:r>
              <a:rPr lang="en-US" sz="2500" dirty="0">
                <a:solidFill>
                  <a:srgbClr val="777777"/>
                </a:solidFill>
              </a:rPr>
              <a:t> </a:t>
            </a:r>
            <a:r>
              <a:rPr lang="en-US" sz="2500" dirty="0" err="1">
                <a:solidFill>
                  <a:srgbClr val="777777"/>
                </a:solidFill>
              </a:rPr>
              <a:t>đồ</a:t>
            </a:r>
            <a:r>
              <a:rPr lang="en-US" sz="2500" dirty="0">
                <a:solidFill>
                  <a:srgbClr val="777777"/>
                </a:solidFill>
              </a:rPr>
              <a:t>, </a:t>
            </a:r>
            <a:r>
              <a:rPr lang="en-US" sz="2500" dirty="0" err="1">
                <a:solidFill>
                  <a:srgbClr val="777777"/>
                </a:solidFill>
              </a:rPr>
              <a:t>Thể</a:t>
            </a:r>
            <a:r>
              <a:rPr lang="en-US" sz="2500" dirty="0">
                <a:solidFill>
                  <a:srgbClr val="777777"/>
                </a:solidFill>
              </a:rPr>
              <a:t> </a:t>
            </a:r>
            <a:r>
              <a:rPr lang="en-US" sz="2500" dirty="0" err="1">
                <a:solidFill>
                  <a:srgbClr val="777777"/>
                </a:solidFill>
              </a:rPr>
              <a:t>hiện</a:t>
            </a:r>
            <a:endParaRPr lang="en-US" sz="2500" dirty="0"/>
          </a:p>
          <a:p>
            <a:pPr lvl="2">
              <a:spcBef>
                <a:spcPts val="12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sz="2500" dirty="0" err="1"/>
              <a:t>Ngôn</a:t>
            </a:r>
            <a:r>
              <a:rPr lang="en-US" sz="2500" dirty="0"/>
              <a:t> </a:t>
            </a:r>
            <a:r>
              <a:rPr lang="en-US" sz="2500" dirty="0" err="1"/>
              <a:t>ngữ</a:t>
            </a:r>
            <a:r>
              <a:rPr lang="en-US" sz="2500" dirty="0"/>
              <a:t> CSDL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E616CD-B8F0-4478-AA32-34611F6E2F67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69E0C8-C2ED-437C-B329-F53341A57C7F}" type="datetime13">
              <a:rPr lang="vi-VN" altLang="en-US" smtClean="0"/>
              <a:pPr>
                <a:defRPr/>
              </a:pPr>
              <a:t>11:20:50</a:t>
            </a:fld>
            <a:endParaRPr lang="en-US" altLang="en-US"/>
          </a:p>
        </p:txBody>
      </p: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solidFill>
                  <a:schemeClr val="accent2"/>
                </a:solidFill>
              </a:rPr>
              <a:t>1.1 </a:t>
            </a:r>
            <a:r>
              <a:rPr lang="en-US" sz="3500" dirty="0" err="1">
                <a:solidFill>
                  <a:schemeClr val="accent2"/>
                </a:solidFill>
              </a:rPr>
              <a:t>Mở</a:t>
            </a:r>
            <a:r>
              <a:rPr lang="en-US" sz="3500" dirty="0">
                <a:solidFill>
                  <a:schemeClr val="accent2"/>
                </a:solidFill>
              </a:rPr>
              <a:t> </a:t>
            </a:r>
            <a:r>
              <a:rPr lang="en-US" sz="3500" dirty="0" err="1">
                <a:solidFill>
                  <a:schemeClr val="accent2"/>
                </a:solidFill>
              </a:rPr>
              <a:t>đầu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b="1" dirty="0"/>
          </a:p>
          <a:p>
            <a:pPr marL="640080" lvl="1" indent="-246888"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200" b="1" dirty="0" err="1"/>
              <a:t>Thông</a:t>
            </a:r>
            <a:r>
              <a:rPr lang="en-US" sz="2200" b="1" dirty="0"/>
              <a:t> tin </a:t>
            </a:r>
            <a:r>
              <a:rPr lang="en-US" sz="1800" dirty="0"/>
              <a:t>(information)</a:t>
            </a:r>
            <a:r>
              <a:rPr lang="en-US" dirty="0"/>
              <a:t>:</a:t>
            </a:r>
          </a:p>
          <a:p>
            <a:pPr marL="914717" lvl="2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endParaRPr lang="en-US" dirty="0"/>
          </a:p>
          <a:p>
            <a:pPr marL="914717" lvl="2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tiết</a:t>
            </a:r>
            <a:endParaRPr lang="en-US" dirty="0"/>
          </a:p>
          <a:p>
            <a:pPr marL="914717" lvl="2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dục</a:t>
            </a:r>
            <a:endParaRPr lang="en-US" dirty="0"/>
          </a:p>
          <a:p>
            <a:pPr marL="914717" lvl="2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</a:p>
          <a:p>
            <a:pPr marL="914717" lvl="2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…..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dirty="0"/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§"/>
              <a:defRPr/>
            </a:pPr>
            <a:r>
              <a:rPr lang="en-US" sz="2200" b="1" dirty="0" err="1"/>
              <a:t>Dữ</a:t>
            </a:r>
            <a:r>
              <a:rPr lang="en-US" sz="2200" b="1" dirty="0"/>
              <a:t> </a:t>
            </a:r>
            <a:r>
              <a:rPr lang="en-US" sz="2200" b="1" dirty="0" err="1"/>
              <a:t>liệu</a:t>
            </a:r>
            <a:r>
              <a:rPr lang="en-US" sz="2200" b="1" dirty="0"/>
              <a:t> </a:t>
            </a:r>
            <a:r>
              <a:rPr lang="en-US" sz="1800" dirty="0"/>
              <a:t>(Data):</a:t>
            </a:r>
          </a:p>
          <a:p>
            <a:pPr lvl="2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: </a:t>
            </a:r>
            <a:r>
              <a:rPr lang="en-US" sz="2000" dirty="0" err="1"/>
              <a:t>Tên</a:t>
            </a:r>
            <a:r>
              <a:rPr lang="en-US" sz="2000" dirty="0"/>
              <a:t>, </a:t>
            </a:r>
            <a:r>
              <a:rPr lang="en-US" sz="2000" dirty="0" err="1"/>
              <a:t>địa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,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điện</a:t>
            </a:r>
            <a:r>
              <a:rPr lang="en-US" sz="2000" dirty="0"/>
              <a:t> </a:t>
            </a:r>
            <a:r>
              <a:rPr lang="en-US" sz="2000" dirty="0" err="1"/>
              <a:t>thoại</a:t>
            </a:r>
            <a:endParaRPr lang="en-US" sz="2000" dirty="0"/>
          </a:p>
          <a:p>
            <a:pPr lvl="2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: </a:t>
            </a:r>
            <a:r>
              <a:rPr lang="en-US" sz="2000" dirty="0" err="1"/>
              <a:t>Họ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, </a:t>
            </a:r>
            <a:r>
              <a:rPr lang="en-US" sz="2000" dirty="0" err="1"/>
              <a:t>masv</a:t>
            </a:r>
            <a:r>
              <a:rPr lang="en-US" sz="2000" dirty="0"/>
              <a:t>, </a:t>
            </a:r>
            <a:r>
              <a:rPr lang="en-US" sz="2000" dirty="0" err="1"/>
              <a:t>địa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endParaRPr lang="vi-VN" sz="2000" dirty="0"/>
          </a:p>
          <a:p>
            <a:pPr marL="648000" lvl="1" indent="0" fontAlgn="auto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-VN" b="1" i="1" dirty="0">
                <a:solidFill>
                  <a:schemeClr val="accent1"/>
                </a:solidFill>
              </a:rPr>
              <a:t>Dữ liệu là những thông tin có thể ghi lại được</a:t>
            </a:r>
            <a:r>
              <a:rPr lang="en-US" b="1" i="1" dirty="0">
                <a:solidFill>
                  <a:schemeClr val="accent1"/>
                </a:solidFill>
              </a:rPr>
              <a:t>,</a:t>
            </a:r>
            <a:r>
              <a:rPr lang="vi-VN" b="1" i="1" dirty="0">
                <a:solidFill>
                  <a:schemeClr val="accent1"/>
                </a:solidFill>
              </a:rPr>
              <a:t> có </a:t>
            </a:r>
            <a:r>
              <a:rPr lang="en-US" b="1" i="1" dirty="0">
                <a:solidFill>
                  <a:schemeClr val="accent1"/>
                </a:solidFill>
              </a:rPr>
              <a:t>ý </a:t>
            </a:r>
            <a:r>
              <a:rPr lang="vi-VN" b="1" i="1" dirty="0">
                <a:solidFill>
                  <a:schemeClr val="accent1"/>
                </a:solidFill>
              </a:rPr>
              <a:t>nghĩa, có mục đích sử dụng. </a:t>
            </a:r>
            <a:endParaRPr lang="en-US" b="1" i="1" dirty="0">
              <a:solidFill>
                <a:schemeClr val="accent1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E9A1A7-2E93-4CF6-BD46-914E2E8F9AA3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grpSp>
        <p:nvGrpSpPr>
          <p:cNvPr id="17414" name="Group 9"/>
          <p:cNvGrpSpPr>
            <a:grpSpLocks/>
          </p:cNvGrpSpPr>
          <p:nvPr/>
        </p:nvGrpSpPr>
        <p:grpSpPr bwMode="auto">
          <a:xfrm>
            <a:off x="5943600" y="1752600"/>
            <a:ext cx="1905000" cy="1903413"/>
            <a:chOff x="3360" y="1249"/>
            <a:chExt cx="1200" cy="1199"/>
          </a:xfrm>
        </p:grpSpPr>
        <p:sp>
          <p:nvSpPr>
            <p:cNvPr id="17415" name="Text Box 4"/>
            <p:cNvSpPr txBox="1">
              <a:spLocks noChangeArrowheads="1"/>
            </p:cNvSpPr>
            <p:nvPr/>
          </p:nvSpPr>
          <p:spPr bwMode="auto">
            <a:xfrm>
              <a:off x="3360" y="1249"/>
              <a:ext cx="912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1" dirty="0" err="1"/>
                <a:t>Thông</a:t>
              </a:r>
              <a:r>
                <a:rPr lang="en-US" b="1" dirty="0"/>
                <a:t> tin</a:t>
              </a:r>
            </a:p>
          </p:txBody>
        </p:sp>
        <p:sp>
          <p:nvSpPr>
            <p:cNvPr id="17416" name="Text Box 5"/>
            <p:cNvSpPr txBox="1">
              <a:spLocks noChangeArrowheads="1"/>
            </p:cNvSpPr>
            <p:nvPr/>
          </p:nvSpPr>
          <p:spPr bwMode="auto">
            <a:xfrm>
              <a:off x="3408" y="2209"/>
              <a:ext cx="768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1" dirty="0" err="1"/>
                <a:t>Dữ</a:t>
              </a:r>
              <a:r>
                <a:rPr lang="en-US" b="1" dirty="0"/>
                <a:t> </a:t>
              </a:r>
              <a:r>
                <a:rPr lang="en-US" b="1" dirty="0" err="1"/>
                <a:t>liệu</a:t>
              </a:r>
              <a:endParaRPr lang="en-US" b="1" dirty="0"/>
            </a:p>
          </p:txBody>
        </p:sp>
        <p:sp>
          <p:nvSpPr>
            <p:cNvPr id="17417" name="Line 6"/>
            <p:cNvSpPr>
              <a:spLocks noChangeShapeType="1"/>
            </p:cNvSpPr>
            <p:nvPr/>
          </p:nvSpPr>
          <p:spPr bwMode="auto">
            <a:xfrm>
              <a:off x="3792" y="1489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7418" name="Text Box 7"/>
            <p:cNvSpPr txBox="1">
              <a:spLocks noChangeArrowheads="1"/>
            </p:cNvSpPr>
            <p:nvPr/>
          </p:nvSpPr>
          <p:spPr bwMode="auto">
            <a:xfrm>
              <a:off x="3840" y="1777"/>
              <a:ext cx="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600" err="1"/>
                <a:t>Chọn</a:t>
              </a:r>
              <a:r>
                <a:rPr lang="en-US" sz="1600"/>
                <a:t> </a:t>
              </a:r>
              <a:r>
                <a:rPr lang="en-US" sz="1600" err="1"/>
                <a:t>lọc</a:t>
              </a:r>
              <a:endParaRPr lang="en-US" sz="1600"/>
            </a:p>
          </p:txBody>
        </p:sp>
      </p:grp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F28656-B40F-48D1-8CAD-70CC31745FB1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14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8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8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8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8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8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20712"/>
          </a:xfrm>
        </p:spPr>
        <p:txBody>
          <a:bodyPr/>
          <a:lstStyle/>
          <a:p>
            <a:r>
              <a:rPr lang="en-US" sz="3500" dirty="0">
                <a:solidFill>
                  <a:schemeClr val="accent2"/>
                </a:solidFill>
              </a:rPr>
              <a:t>1.1 </a:t>
            </a:r>
            <a:r>
              <a:rPr lang="en-US" sz="3500" dirty="0" err="1">
                <a:solidFill>
                  <a:schemeClr val="accent2"/>
                </a:solidFill>
              </a:rPr>
              <a:t>Mở</a:t>
            </a:r>
            <a:r>
              <a:rPr lang="en-US" sz="3500" dirty="0">
                <a:solidFill>
                  <a:schemeClr val="accent2"/>
                </a:solidFill>
              </a:rPr>
              <a:t> </a:t>
            </a:r>
            <a:r>
              <a:rPr lang="en-US" sz="3500" dirty="0" err="1">
                <a:solidFill>
                  <a:schemeClr val="accent2"/>
                </a:solidFill>
              </a:rPr>
              <a:t>đầu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610600" cy="51054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Char char="q"/>
              <a:defRPr/>
            </a:pP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sở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sz="2500" dirty="0"/>
              <a:t>(Database)</a:t>
            </a:r>
            <a:r>
              <a:rPr lang="en-US" dirty="0"/>
              <a:t>: </a:t>
            </a:r>
            <a:r>
              <a:rPr lang="en-US" i="1" dirty="0" err="1"/>
              <a:t>Là</a:t>
            </a:r>
            <a:r>
              <a:rPr lang="en-US" i="1" dirty="0"/>
              <a:t> </a:t>
            </a: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tập</a:t>
            </a:r>
            <a:r>
              <a:rPr lang="en-US" i="1" dirty="0"/>
              <a:t> </a:t>
            </a:r>
            <a:r>
              <a:rPr lang="en-US" i="1" dirty="0" err="1"/>
              <a:t>hợp</a:t>
            </a:r>
            <a:r>
              <a:rPr lang="en-US" i="1" dirty="0"/>
              <a:t> </a:t>
            </a:r>
            <a:r>
              <a:rPr lang="en-US" i="1" dirty="0" err="1"/>
              <a:t>dữ</a:t>
            </a:r>
            <a:r>
              <a:rPr lang="en-US" i="1" dirty="0"/>
              <a:t> </a:t>
            </a:r>
            <a:r>
              <a:rPr lang="en-US" i="1" err="1"/>
              <a:t>liệu</a:t>
            </a:r>
            <a:r>
              <a:rPr lang="en-US" i="1"/>
              <a:t> :</a:t>
            </a:r>
            <a:endParaRPr lang="en-US" i="1" dirty="0"/>
          </a:p>
          <a:p>
            <a:pPr lvl="2" fontAlgn="auto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liên</a:t>
            </a:r>
            <a:r>
              <a:rPr lang="en-US" sz="2400" i="1" dirty="0"/>
              <a:t> </a:t>
            </a:r>
            <a:r>
              <a:rPr lang="en-US" sz="2400" i="1" dirty="0" err="1"/>
              <a:t>quan</a:t>
            </a:r>
            <a:r>
              <a:rPr lang="en-US" sz="2400" i="1" dirty="0"/>
              <a:t> </a:t>
            </a:r>
            <a:r>
              <a:rPr lang="en-US" sz="2400" i="1" dirty="0" err="1"/>
              <a:t>với</a:t>
            </a:r>
            <a:r>
              <a:rPr lang="en-US" sz="2400" i="1" dirty="0"/>
              <a:t> </a:t>
            </a:r>
            <a:r>
              <a:rPr lang="en-US" sz="2400" i="1" dirty="0" err="1"/>
              <a:t>nhau</a:t>
            </a:r>
            <a:r>
              <a:rPr lang="en-US" sz="2400" i="1" dirty="0"/>
              <a:t>, </a:t>
            </a:r>
          </a:p>
          <a:p>
            <a:pPr lvl="2" fontAlgn="auto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sz="2400" i="1" dirty="0" err="1"/>
              <a:t>Được</a:t>
            </a:r>
            <a:r>
              <a:rPr lang="en-US" sz="2400" i="1" dirty="0"/>
              <a:t> </a:t>
            </a:r>
            <a:r>
              <a:rPr lang="en-US" sz="2400" i="1" dirty="0" err="1"/>
              <a:t>lưu</a:t>
            </a:r>
            <a:r>
              <a:rPr lang="en-US" sz="2400" i="1" dirty="0"/>
              <a:t> </a:t>
            </a:r>
            <a:r>
              <a:rPr lang="en-US" sz="2400" i="1" dirty="0" err="1"/>
              <a:t>trữ</a:t>
            </a:r>
            <a:r>
              <a:rPr lang="en-US" sz="2400" i="1" dirty="0"/>
              <a:t> </a:t>
            </a:r>
            <a:r>
              <a:rPr lang="en-US" sz="2400" i="1" dirty="0" err="1"/>
              <a:t>trong</a:t>
            </a:r>
            <a:r>
              <a:rPr lang="en-US" sz="2400" i="1" dirty="0"/>
              <a:t> </a:t>
            </a:r>
            <a:r>
              <a:rPr lang="en-US" sz="2400" i="1" dirty="0" err="1"/>
              <a:t>máy</a:t>
            </a:r>
            <a:r>
              <a:rPr lang="en-US" sz="2400" i="1" dirty="0"/>
              <a:t> </a:t>
            </a:r>
            <a:r>
              <a:rPr lang="en-US" sz="2400" i="1" dirty="0" err="1"/>
              <a:t>tính</a:t>
            </a:r>
            <a:r>
              <a:rPr lang="en-US" sz="2400" i="1" dirty="0"/>
              <a:t>,</a:t>
            </a:r>
          </a:p>
          <a:p>
            <a:pPr lvl="2" fontAlgn="auto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mục</a:t>
            </a:r>
            <a:r>
              <a:rPr lang="en-US" sz="2400" i="1" dirty="0"/>
              <a:t> </a:t>
            </a:r>
            <a:r>
              <a:rPr lang="en-US" sz="2400" i="1" dirty="0" err="1"/>
              <a:t>đích</a:t>
            </a:r>
            <a:r>
              <a:rPr lang="en-US" sz="2400" i="1" dirty="0"/>
              <a:t> </a:t>
            </a:r>
            <a:r>
              <a:rPr lang="en-US" sz="2400" i="1" dirty="0" err="1"/>
              <a:t>xác</a:t>
            </a:r>
            <a:r>
              <a:rPr lang="en-US" sz="2400" i="1" dirty="0"/>
              <a:t> </a:t>
            </a:r>
            <a:r>
              <a:rPr lang="en-US" sz="2400" i="1" dirty="0" err="1"/>
              <a:t>định</a:t>
            </a:r>
            <a:r>
              <a:rPr lang="en-US" sz="2400" i="1" dirty="0"/>
              <a:t>,</a:t>
            </a:r>
          </a:p>
          <a:p>
            <a:pPr lvl="2" fontAlgn="auto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sz="2400" i="1" dirty="0" err="1"/>
              <a:t>Đáp</a:t>
            </a:r>
            <a:r>
              <a:rPr lang="en-US" sz="2400" i="1" dirty="0"/>
              <a:t> </a:t>
            </a:r>
            <a:r>
              <a:rPr lang="en-US" sz="2400" i="1" dirty="0" err="1"/>
              <a:t>ứng</a:t>
            </a:r>
            <a:r>
              <a:rPr lang="en-US" sz="2400" i="1" dirty="0"/>
              <a:t> </a:t>
            </a:r>
            <a:r>
              <a:rPr lang="en-US" sz="2400" i="1" dirty="0" err="1"/>
              <a:t>nhu</a:t>
            </a:r>
            <a:r>
              <a:rPr lang="en-US" sz="2400" i="1" dirty="0"/>
              <a:t> </a:t>
            </a:r>
            <a:r>
              <a:rPr lang="en-US" sz="2400" i="1" dirty="0" err="1"/>
              <a:t>cầu</a:t>
            </a:r>
            <a:r>
              <a:rPr lang="en-US" sz="2400" i="1" dirty="0"/>
              <a:t> </a:t>
            </a:r>
            <a:r>
              <a:rPr lang="en-US" sz="2400" i="1" dirty="0" err="1"/>
              <a:t>khai</a:t>
            </a:r>
            <a:r>
              <a:rPr lang="en-US" sz="2400" i="1" dirty="0"/>
              <a:t> </a:t>
            </a:r>
            <a:r>
              <a:rPr lang="en-US" sz="2400" i="1" dirty="0" err="1"/>
              <a:t>thác</a:t>
            </a:r>
            <a:r>
              <a:rPr lang="en-US" sz="2400" i="1" dirty="0"/>
              <a:t> </a:t>
            </a:r>
            <a:r>
              <a:rPr lang="en-US" sz="2400" i="1" dirty="0" err="1"/>
              <a:t>của</a:t>
            </a:r>
            <a:r>
              <a:rPr lang="en-US" sz="2400" i="1" dirty="0"/>
              <a:t> </a:t>
            </a:r>
            <a:r>
              <a:rPr lang="en-US" sz="2400" i="1" dirty="0" err="1"/>
              <a:t>nhóm</a:t>
            </a:r>
            <a:r>
              <a:rPr lang="en-US" sz="2400" i="1" dirty="0"/>
              <a:t> </a:t>
            </a:r>
            <a:r>
              <a:rPr lang="en-US" sz="2400" i="1" dirty="0" err="1"/>
              <a:t>người</a:t>
            </a:r>
            <a:r>
              <a:rPr lang="en-US" sz="2400" i="1" dirty="0"/>
              <a:t> </a:t>
            </a:r>
            <a:r>
              <a:rPr lang="en-US" sz="2400" i="1" dirty="0" err="1"/>
              <a:t>sử</a:t>
            </a:r>
            <a:r>
              <a:rPr lang="en-US" sz="2400" i="1" dirty="0"/>
              <a:t> </a:t>
            </a:r>
            <a:r>
              <a:rPr lang="en-US" sz="2400" i="1" dirty="0" err="1"/>
              <a:t>dụng</a:t>
            </a:r>
            <a:r>
              <a:rPr lang="en-US" sz="2400" i="1" dirty="0"/>
              <a:t>.</a:t>
            </a:r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v"/>
              <a:defRPr/>
            </a:pPr>
            <a:r>
              <a:rPr lang="en-US" i="1" dirty="0">
                <a:solidFill>
                  <a:srgbClr val="00B0F0"/>
                </a:solidFill>
              </a:rPr>
              <a:t> </a:t>
            </a:r>
            <a:r>
              <a:rPr lang="en-US" b="1" i="1" dirty="0" err="1">
                <a:solidFill>
                  <a:srgbClr val="00B0F0"/>
                </a:solidFill>
              </a:rPr>
              <a:t>Các</a:t>
            </a:r>
            <a:r>
              <a:rPr lang="en-US" b="1" i="1" dirty="0">
                <a:solidFill>
                  <a:srgbClr val="00B0F0"/>
                </a:solidFill>
              </a:rPr>
              <a:t> </a:t>
            </a:r>
            <a:r>
              <a:rPr lang="en-US" b="1" i="1" dirty="0" err="1">
                <a:solidFill>
                  <a:srgbClr val="00B0F0"/>
                </a:solidFill>
              </a:rPr>
              <a:t>tính</a:t>
            </a:r>
            <a:r>
              <a:rPr lang="en-US" b="1" i="1" dirty="0">
                <a:solidFill>
                  <a:srgbClr val="00B0F0"/>
                </a:solidFill>
              </a:rPr>
              <a:t> </a:t>
            </a:r>
            <a:r>
              <a:rPr lang="en-US" b="1" i="1" dirty="0" err="1">
                <a:solidFill>
                  <a:srgbClr val="00B0F0"/>
                </a:solidFill>
              </a:rPr>
              <a:t>chất</a:t>
            </a:r>
            <a:r>
              <a:rPr lang="en-US" i="1" dirty="0">
                <a:solidFill>
                  <a:srgbClr val="00B0F0"/>
                </a:solidFill>
              </a:rPr>
              <a:t>:</a:t>
            </a:r>
          </a:p>
          <a:p>
            <a:pPr marL="914717" lvl="2" indent="-246888" fontAlgn="auto"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en-US" sz="2400" dirty="0"/>
              <a:t>CSDL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(</a:t>
            </a:r>
            <a:r>
              <a:rPr lang="en-US" sz="2400" dirty="0" err="1"/>
              <a:t>miniworld</a:t>
            </a:r>
            <a:r>
              <a:rPr lang="en-US" sz="2400" dirty="0"/>
              <a:t>),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phản</a:t>
            </a:r>
            <a:r>
              <a:rPr lang="en-US" sz="2400" dirty="0"/>
              <a:t>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nó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.</a:t>
            </a:r>
          </a:p>
          <a:p>
            <a:pPr lvl="2">
              <a:buFont typeface="Courier New" pitchFamily="49" charset="0"/>
              <a:buChar char="o"/>
            </a:pPr>
            <a:r>
              <a:rPr lang="vi-VN" sz="2400" dirty="0"/>
              <a:t>Một cơ sở dữ liệu là một tập hợp dữ liệu liên kết với nhau một cách logic và mang một nghĩa nào đó.</a:t>
            </a:r>
          </a:p>
          <a:p>
            <a:pPr lvl="2">
              <a:buFont typeface="Courier New" pitchFamily="49" charset="0"/>
              <a:buChar char="o"/>
            </a:pPr>
            <a:r>
              <a:rPr lang="vi-VN" sz="2400" dirty="0"/>
              <a:t>Một cơ sở dữ liệu được thiết kế và được phổ biến cho một mục đích riêng, có nhóm người sử dụng.</a:t>
            </a:r>
          </a:p>
          <a:p>
            <a:pPr lvl="1">
              <a:buFont typeface="Courier New" pitchFamily="49" charset="0"/>
              <a:buChar char="o"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59EBA3-38E8-432A-A468-0984240566B5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B80E5D-3D77-49C5-86D7-B07D6151CF15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382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>
                <a:solidFill>
                  <a:schemeClr val="accent2"/>
                </a:solidFill>
              </a:rPr>
              <a:t>1.1 </a:t>
            </a:r>
            <a:r>
              <a:rPr lang="en-US" sz="3500" dirty="0" err="1">
                <a:solidFill>
                  <a:schemeClr val="accent2"/>
                </a:solidFill>
              </a:rPr>
              <a:t>Mở</a:t>
            </a:r>
            <a:r>
              <a:rPr lang="en-US" sz="3500" dirty="0">
                <a:solidFill>
                  <a:schemeClr val="accent2"/>
                </a:solidFill>
              </a:rPr>
              <a:t> </a:t>
            </a:r>
            <a:r>
              <a:rPr lang="en-US" sz="3500" dirty="0" err="1">
                <a:solidFill>
                  <a:schemeClr val="accent2"/>
                </a:solidFill>
              </a:rPr>
              <a:t>đầu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274320" indent="-274320" fontAlgn="auto">
              <a:spcBef>
                <a:spcPts val="1800"/>
              </a:spcBef>
              <a:spcAft>
                <a:spcPts val="1200"/>
              </a:spcAft>
              <a:buClr>
                <a:schemeClr val="accent3"/>
              </a:buClr>
              <a:buFont typeface="Wingdings" pitchFamily="2" charset="2"/>
              <a:buChar char="v"/>
              <a:defRPr/>
            </a:pPr>
            <a:r>
              <a:rPr lang="en-US" sz="3200" dirty="0"/>
              <a:t> </a:t>
            </a:r>
            <a:r>
              <a:rPr lang="en-US" sz="2400" b="1" dirty="0" err="1"/>
              <a:t>Tại</a:t>
            </a:r>
            <a:r>
              <a:rPr lang="en-US" sz="2400" b="1" dirty="0"/>
              <a:t> </a:t>
            </a:r>
            <a:r>
              <a:rPr lang="en-US" sz="2400" b="1" dirty="0" err="1"/>
              <a:t>sao</a:t>
            </a:r>
            <a:r>
              <a:rPr lang="en-US" sz="2400" b="1" dirty="0"/>
              <a:t> </a:t>
            </a:r>
            <a:r>
              <a:rPr lang="en-US" sz="2400" b="1" dirty="0" err="1"/>
              <a:t>cần</a:t>
            </a:r>
            <a:r>
              <a:rPr lang="en-US" sz="2400" b="1" dirty="0"/>
              <a:t> CSDL </a:t>
            </a:r>
            <a:r>
              <a:rPr lang="en-US" sz="4800" b="1" dirty="0"/>
              <a:t>? </a:t>
            </a:r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Courier New" pitchFamily="49" charset="0"/>
              <a:buChar char="o"/>
              <a:defRPr/>
            </a:pPr>
            <a:r>
              <a:rPr lang="vi-VN" dirty="0"/>
              <a:t>Dư thừa dữ liệu và không nhất quán,</a:t>
            </a:r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Courier New" pitchFamily="49" charset="0"/>
              <a:buChar char="o"/>
              <a:defRPr/>
            </a:pPr>
            <a:r>
              <a:rPr lang="vi-VN" dirty="0"/>
              <a:t>Nhu cầu truy cập </a:t>
            </a:r>
            <a:r>
              <a:rPr lang="vi-VN"/>
              <a:t>dữ liệu</a:t>
            </a:r>
            <a:r>
              <a:rPr lang="en-US"/>
              <a:t> ngày càng cao hơn</a:t>
            </a:r>
            <a:r>
              <a:rPr lang="vi-VN"/>
              <a:t>,</a:t>
            </a:r>
            <a:endParaRPr lang="vi-VN" dirty="0"/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Courier New" pitchFamily="49" charset="0"/>
              <a:buChar char="o"/>
              <a:defRPr/>
            </a:pPr>
            <a:r>
              <a:rPr lang="en-US"/>
              <a:t>Sự t</a:t>
            </a:r>
            <a:r>
              <a:rPr lang="vi-VN"/>
              <a:t>oàn </a:t>
            </a:r>
            <a:r>
              <a:rPr lang="vi-VN" dirty="0"/>
              <a:t>vẹn dữ liệu,</a:t>
            </a:r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Courier New" pitchFamily="49" charset="0"/>
              <a:buChar char="o"/>
              <a:defRPr/>
            </a:pPr>
            <a:r>
              <a:rPr lang="en-US"/>
              <a:t>Đảo bảo </a:t>
            </a:r>
            <a:r>
              <a:rPr lang="vi-VN"/>
              <a:t>Tính </a:t>
            </a:r>
            <a:r>
              <a:rPr lang="vi-VN" dirty="0"/>
              <a:t>nguyên tố của giao tác,</a:t>
            </a:r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Courier New" pitchFamily="49" charset="0"/>
              <a:buChar char="o"/>
              <a:defRPr/>
            </a:pPr>
            <a:r>
              <a:rPr lang="en-US"/>
              <a:t>Đáp ứng </a:t>
            </a:r>
            <a:r>
              <a:rPr lang="vi-VN"/>
              <a:t>Nhiều </a:t>
            </a:r>
            <a:r>
              <a:rPr lang="vi-VN" dirty="0"/>
              <a:t>người dùng</a:t>
            </a:r>
            <a:r>
              <a:rPr lang="en-US" dirty="0"/>
              <a:t>,</a:t>
            </a:r>
            <a:r>
              <a:rPr lang="vi-VN" dirty="0"/>
              <a:t> tương tranh,</a:t>
            </a:r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Courier New" pitchFamily="49" charset="0"/>
              <a:buChar char="o"/>
              <a:defRPr/>
            </a:pPr>
            <a:r>
              <a:rPr lang="vi-VN" dirty="0"/>
              <a:t>Sự an toàn...  </a:t>
            </a:r>
          </a:p>
          <a:p>
            <a:pPr lvl="1">
              <a:buFont typeface="Courier New" pitchFamily="49" charset="0"/>
              <a:buChar char="o"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59EBA3-38E8-432A-A468-0984240566B5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35F2E7-814C-452A-BBF0-DAB34ADA01E6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2800" dirty="0">
                <a:solidFill>
                  <a:schemeClr val="accent2"/>
                </a:solidFill>
              </a:rPr>
              <a:t>1.1 </a:t>
            </a:r>
            <a:r>
              <a:rPr lang="en-US" sz="2800" dirty="0" err="1">
                <a:solidFill>
                  <a:schemeClr val="accent2"/>
                </a:solidFill>
              </a:rPr>
              <a:t>Mở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 err="1">
                <a:solidFill>
                  <a:schemeClr val="accent2"/>
                </a:solidFill>
              </a:rPr>
              <a:t>đầu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05800" cy="51054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b="1" i="1" dirty="0" err="1"/>
              <a:t>Hệ</a:t>
            </a:r>
            <a:r>
              <a:rPr lang="en-US" b="1" i="1" dirty="0"/>
              <a:t> </a:t>
            </a:r>
            <a:r>
              <a:rPr lang="en-US" b="1" i="1" dirty="0" err="1"/>
              <a:t>quản</a:t>
            </a:r>
            <a:r>
              <a:rPr lang="en-US" b="1" i="1" dirty="0"/>
              <a:t> </a:t>
            </a:r>
            <a:r>
              <a:rPr lang="en-US" b="1" i="1" dirty="0" err="1"/>
              <a:t>trị</a:t>
            </a:r>
            <a:r>
              <a:rPr lang="en-US" b="1" i="1" dirty="0"/>
              <a:t> </a:t>
            </a:r>
            <a:r>
              <a:rPr lang="en-US" sz="2400" b="1" i="1" dirty="0"/>
              <a:t>CSDL (Database Management System)</a:t>
            </a:r>
            <a:endParaRPr lang="en-US" b="1" i="1" dirty="0"/>
          </a:p>
          <a:p>
            <a:pPr lvl="1"/>
            <a:r>
              <a:rPr lang="en-US" sz="2700" dirty="0" err="1"/>
              <a:t>Tập</a:t>
            </a:r>
            <a:r>
              <a:rPr lang="en-US" sz="2700" dirty="0"/>
              <a:t> </a:t>
            </a:r>
            <a:r>
              <a:rPr lang="en-US" sz="2700" dirty="0" err="1"/>
              <a:t>hợp</a:t>
            </a:r>
            <a:r>
              <a:rPr lang="en-US" sz="2700" dirty="0"/>
              <a:t> </a:t>
            </a:r>
            <a:r>
              <a:rPr lang="en-US" sz="2700" dirty="0" err="1"/>
              <a:t>các</a:t>
            </a:r>
            <a:r>
              <a:rPr lang="en-US" sz="2700" dirty="0"/>
              <a:t> </a:t>
            </a:r>
            <a:r>
              <a:rPr lang="en-US" sz="2700" dirty="0" err="1"/>
              <a:t>chương</a:t>
            </a:r>
            <a:r>
              <a:rPr lang="en-US" sz="2700" dirty="0"/>
              <a:t> </a:t>
            </a:r>
            <a:r>
              <a:rPr lang="en-US" sz="2700" dirty="0" err="1"/>
              <a:t>trình</a:t>
            </a:r>
            <a:r>
              <a:rPr lang="en-US" sz="2700" dirty="0"/>
              <a:t> </a:t>
            </a:r>
            <a:r>
              <a:rPr lang="en-US" sz="2700" dirty="0" err="1"/>
              <a:t>cho</a:t>
            </a:r>
            <a:r>
              <a:rPr lang="en-US" sz="2700" dirty="0"/>
              <a:t> </a:t>
            </a:r>
            <a:r>
              <a:rPr lang="en-US" sz="2700" dirty="0" err="1"/>
              <a:t>phép</a:t>
            </a:r>
            <a:r>
              <a:rPr lang="vi-VN" sz="2700" dirty="0"/>
              <a:t>: </a:t>
            </a:r>
            <a:r>
              <a:rPr lang="en-US" sz="2700" b="1" dirty="0" err="1"/>
              <a:t>tạo</a:t>
            </a:r>
            <a:r>
              <a:rPr lang="en-US" sz="2700" dirty="0"/>
              <a:t>, </a:t>
            </a:r>
            <a:r>
              <a:rPr lang="en-US" sz="2700" b="1" dirty="0" err="1"/>
              <a:t>bảo</a:t>
            </a:r>
            <a:r>
              <a:rPr lang="en-US" sz="2700" b="1" dirty="0"/>
              <a:t> </a:t>
            </a:r>
            <a:r>
              <a:rPr lang="en-US" sz="2700" b="1" dirty="0" err="1"/>
              <a:t>trì</a:t>
            </a:r>
            <a:r>
              <a:rPr lang="en-US" sz="2700" b="1" dirty="0"/>
              <a:t> </a:t>
            </a:r>
            <a:r>
              <a:rPr lang="en-US" sz="2700" dirty="0" err="1"/>
              <a:t>và</a:t>
            </a:r>
            <a:r>
              <a:rPr lang="en-US" sz="2700" dirty="0"/>
              <a:t> </a:t>
            </a:r>
            <a:r>
              <a:rPr lang="en-US" sz="2700" b="1" dirty="0" err="1"/>
              <a:t>khai</a:t>
            </a:r>
            <a:r>
              <a:rPr lang="en-US" sz="2700" b="1" dirty="0"/>
              <a:t> </a:t>
            </a:r>
            <a:r>
              <a:rPr lang="en-US" sz="2700" b="1" dirty="0" err="1"/>
              <a:t>thác</a:t>
            </a:r>
            <a:r>
              <a:rPr lang="en-US" sz="2700" b="1" dirty="0"/>
              <a:t> </a:t>
            </a:r>
            <a:r>
              <a:rPr lang="en-US" sz="2700" dirty="0"/>
              <a:t>CSDL; </a:t>
            </a:r>
            <a:endParaRPr lang="vi-VN" sz="2700" dirty="0"/>
          </a:p>
          <a:p>
            <a:pPr marL="393700" lvl="1" indent="0">
              <a:buNone/>
            </a:pPr>
            <a:r>
              <a:rPr lang="vi-VN" sz="2700" dirty="0"/>
              <a:t>   </a:t>
            </a:r>
            <a:r>
              <a:rPr lang="en-US" sz="2700" dirty="0" err="1"/>
              <a:t>tức</a:t>
            </a:r>
            <a:r>
              <a:rPr lang="en-US" sz="2700" dirty="0"/>
              <a:t> </a:t>
            </a:r>
            <a:r>
              <a:rPr lang="en-US" sz="2700" dirty="0" err="1"/>
              <a:t>là</a:t>
            </a:r>
            <a:r>
              <a:rPr lang="en-US" sz="2700" dirty="0"/>
              <a:t> </a:t>
            </a:r>
            <a:r>
              <a:rPr lang="en-US" sz="2700" dirty="0" err="1"/>
              <a:t>phần</a:t>
            </a:r>
            <a:r>
              <a:rPr lang="en-US" sz="2700" dirty="0"/>
              <a:t> </a:t>
            </a:r>
            <a:r>
              <a:rPr lang="en-US" sz="2700" dirty="0" err="1"/>
              <a:t>mềm</a:t>
            </a:r>
            <a:r>
              <a:rPr lang="en-US" sz="2700" dirty="0"/>
              <a:t> </a:t>
            </a:r>
            <a:r>
              <a:rPr lang="en-US" sz="2700" dirty="0" err="1"/>
              <a:t>cho</a:t>
            </a:r>
            <a:r>
              <a:rPr lang="en-US" sz="2700" dirty="0"/>
              <a:t> </a:t>
            </a:r>
            <a:r>
              <a:rPr lang="en-US" sz="2700" dirty="0" err="1"/>
              <a:t>phép</a:t>
            </a:r>
            <a:r>
              <a:rPr lang="en-US" sz="2700" dirty="0"/>
              <a:t> </a:t>
            </a:r>
            <a:r>
              <a:rPr lang="en-US" sz="2700" b="1" i="1" dirty="0" err="1"/>
              <a:t>định</a:t>
            </a:r>
            <a:r>
              <a:rPr lang="en-US" sz="2700" b="1" i="1" dirty="0"/>
              <a:t> </a:t>
            </a:r>
            <a:r>
              <a:rPr lang="en-US" sz="2700" b="1" i="1" dirty="0" err="1"/>
              <a:t>nghĩa</a:t>
            </a:r>
            <a:r>
              <a:rPr lang="en-US" sz="2700" dirty="0"/>
              <a:t>, </a:t>
            </a:r>
            <a:r>
              <a:rPr lang="en-US" sz="2700" b="1" i="1" err="1"/>
              <a:t>xây</a:t>
            </a:r>
            <a:r>
              <a:rPr lang="en-US" sz="2700" b="1" i="1"/>
              <a:t> </a:t>
            </a:r>
          </a:p>
          <a:p>
            <a:pPr marL="393700" lvl="1" indent="0">
              <a:buNone/>
            </a:pPr>
            <a:r>
              <a:rPr lang="en-US" sz="2700" b="1" i="1"/>
              <a:t>   dựng </a:t>
            </a:r>
            <a:r>
              <a:rPr lang="en-US" sz="2700" dirty="0" err="1"/>
              <a:t>và</a:t>
            </a:r>
            <a:r>
              <a:rPr lang="en-US" sz="2700" dirty="0"/>
              <a:t> </a:t>
            </a:r>
            <a:r>
              <a:rPr lang="en-US" sz="2700" b="1" i="1" dirty="0" err="1"/>
              <a:t>thao</a:t>
            </a:r>
            <a:r>
              <a:rPr lang="en-US" sz="2700" b="1" i="1" dirty="0"/>
              <a:t> </a:t>
            </a:r>
            <a:r>
              <a:rPr lang="en-US" sz="2700" b="1" i="1" dirty="0" err="1"/>
              <a:t>tác</a:t>
            </a:r>
            <a:r>
              <a:rPr lang="en-US" sz="2700" b="1" i="1" dirty="0"/>
              <a:t> </a:t>
            </a:r>
            <a:r>
              <a:rPr lang="en-US" sz="2700" dirty="0" err="1"/>
              <a:t>với</a:t>
            </a:r>
            <a:r>
              <a:rPr lang="en-US" sz="2700" dirty="0"/>
              <a:t> </a:t>
            </a:r>
            <a:r>
              <a:rPr lang="en-US" sz="2700" dirty="0" err="1"/>
              <a:t>cơ</a:t>
            </a:r>
            <a:r>
              <a:rPr lang="en-US" sz="2700" dirty="0"/>
              <a:t> </a:t>
            </a:r>
            <a:r>
              <a:rPr lang="en-US" sz="2700" dirty="0" err="1"/>
              <a:t>sở</a:t>
            </a:r>
            <a:r>
              <a:rPr lang="en-US" sz="2700" dirty="0"/>
              <a:t> </a:t>
            </a:r>
            <a:r>
              <a:rPr lang="en-US" sz="2700" dirty="0" err="1"/>
              <a:t>dữ</a:t>
            </a:r>
            <a:r>
              <a:rPr lang="en-US" sz="2700" dirty="0"/>
              <a:t> </a:t>
            </a:r>
            <a:r>
              <a:rPr lang="en-US" sz="2700" dirty="0" err="1"/>
              <a:t>liệu</a:t>
            </a:r>
            <a:r>
              <a:rPr lang="en-US" sz="2700" dirty="0"/>
              <a:t>.</a:t>
            </a:r>
          </a:p>
          <a:p>
            <a:pPr lvl="3">
              <a:buFont typeface="Courier New" pitchFamily="49" charset="0"/>
              <a:buChar char="o"/>
            </a:pPr>
            <a:r>
              <a:rPr lang="en-US" sz="2300" b="1" i="1" dirty="0" err="1"/>
              <a:t>Định</a:t>
            </a:r>
            <a:r>
              <a:rPr lang="en-US" sz="2300" b="1" i="1" dirty="0"/>
              <a:t> </a:t>
            </a:r>
            <a:r>
              <a:rPr lang="en-US" sz="2300" b="1" i="1" dirty="0" err="1"/>
              <a:t>nghĩa</a:t>
            </a:r>
            <a:r>
              <a:rPr lang="en-US" sz="2300" b="1" i="1" dirty="0"/>
              <a:t> </a:t>
            </a:r>
            <a:r>
              <a:rPr lang="en-US" sz="2300" dirty="0"/>
              <a:t>CSDL: </a:t>
            </a:r>
            <a:r>
              <a:rPr lang="en-US" sz="2300" dirty="0" err="1"/>
              <a:t>đặc</a:t>
            </a:r>
            <a:r>
              <a:rPr lang="en-US" sz="2300" dirty="0"/>
              <a:t> </a:t>
            </a:r>
            <a:r>
              <a:rPr lang="en-US" sz="2300" dirty="0" err="1"/>
              <a:t>tả</a:t>
            </a:r>
            <a:r>
              <a:rPr lang="en-US" sz="2300" dirty="0"/>
              <a:t> </a:t>
            </a:r>
            <a:r>
              <a:rPr lang="en-US" sz="2300" dirty="0" err="1"/>
              <a:t>các</a:t>
            </a:r>
            <a:r>
              <a:rPr lang="en-US" sz="2300" dirty="0"/>
              <a:t> </a:t>
            </a:r>
            <a:r>
              <a:rPr lang="en-US" sz="2300" dirty="0" err="1"/>
              <a:t>kiểu</a:t>
            </a:r>
            <a:r>
              <a:rPr lang="en-US" sz="2300" dirty="0"/>
              <a:t> </a:t>
            </a:r>
            <a:r>
              <a:rPr lang="en-US" sz="2300" dirty="0" err="1"/>
              <a:t>dữ</a:t>
            </a:r>
            <a:r>
              <a:rPr lang="en-US" sz="2300" dirty="0"/>
              <a:t> </a:t>
            </a:r>
            <a:r>
              <a:rPr lang="en-US" sz="2300" dirty="0" err="1"/>
              <a:t>liệu</a:t>
            </a:r>
            <a:r>
              <a:rPr lang="en-US" sz="2300" dirty="0"/>
              <a:t>, </a:t>
            </a:r>
            <a:r>
              <a:rPr lang="en-US" sz="2300" dirty="0" err="1"/>
              <a:t>cấu</a:t>
            </a:r>
            <a:r>
              <a:rPr lang="en-US" sz="2300" dirty="0"/>
              <a:t> </a:t>
            </a:r>
            <a:r>
              <a:rPr lang="en-US" sz="2300" dirty="0" err="1"/>
              <a:t>trúc</a:t>
            </a:r>
            <a:r>
              <a:rPr lang="en-US" sz="2300" dirty="0"/>
              <a:t> </a:t>
            </a:r>
            <a:r>
              <a:rPr lang="en-US" sz="2300" dirty="0" err="1"/>
              <a:t>mô</a:t>
            </a:r>
            <a:r>
              <a:rPr lang="en-US" sz="2300" dirty="0"/>
              <a:t> </a:t>
            </a:r>
            <a:r>
              <a:rPr lang="en-US" sz="2300" dirty="0" err="1"/>
              <a:t>tả</a:t>
            </a:r>
            <a:r>
              <a:rPr lang="en-US" sz="2300" dirty="0"/>
              <a:t> chi </a:t>
            </a:r>
            <a:r>
              <a:rPr lang="en-US" sz="2300" dirty="0" err="1"/>
              <a:t>tiết</a:t>
            </a:r>
            <a:r>
              <a:rPr lang="en-US" sz="2300" dirty="0"/>
              <a:t> </a:t>
            </a:r>
            <a:r>
              <a:rPr lang="en-US" sz="2300" dirty="0" err="1"/>
              <a:t>về</a:t>
            </a:r>
            <a:r>
              <a:rPr lang="en-US" sz="2300" dirty="0"/>
              <a:t> </a:t>
            </a:r>
            <a:r>
              <a:rPr lang="en-US" sz="2300" dirty="0" err="1"/>
              <a:t>dữ</a:t>
            </a:r>
            <a:r>
              <a:rPr lang="en-US" sz="2300" dirty="0"/>
              <a:t> </a:t>
            </a:r>
            <a:r>
              <a:rPr lang="en-US" sz="2300" dirty="0" err="1"/>
              <a:t>liệu</a:t>
            </a:r>
            <a:r>
              <a:rPr lang="en-US" sz="2300" dirty="0"/>
              <a:t>, </a:t>
            </a:r>
            <a:r>
              <a:rPr lang="en-US" sz="2300" dirty="0" err="1"/>
              <a:t>các</a:t>
            </a:r>
            <a:r>
              <a:rPr lang="en-US" sz="2300" dirty="0"/>
              <a:t> </a:t>
            </a:r>
            <a:r>
              <a:rPr lang="en-US" sz="2300" dirty="0" err="1"/>
              <a:t>ràng</a:t>
            </a:r>
            <a:r>
              <a:rPr lang="en-US" sz="2300" dirty="0"/>
              <a:t> </a:t>
            </a:r>
            <a:r>
              <a:rPr lang="en-US" sz="2300" dirty="0" err="1"/>
              <a:t>buộc</a:t>
            </a:r>
            <a:r>
              <a:rPr lang="en-US" sz="2300" dirty="0"/>
              <a:t> </a:t>
            </a:r>
            <a:r>
              <a:rPr lang="en-US" sz="2300" dirty="0" err="1"/>
              <a:t>của</a:t>
            </a:r>
            <a:r>
              <a:rPr lang="en-US" sz="2300" dirty="0"/>
              <a:t> </a:t>
            </a:r>
            <a:r>
              <a:rPr lang="en-US" sz="2300" dirty="0" err="1"/>
              <a:t>dữ</a:t>
            </a:r>
            <a:r>
              <a:rPr lang="en-US" sz="2300" dirty="0"/>
              <a:t> </a:t>
            </a:r>
            <a:r>
              <a:rPr lang="en-US" sz="2300" dirty="0" err="1"/>
              <a:t>liệu</a:t>
            </a:r>
            <a:r>
              <a:rPr lang="en-US" sz="2300" dirty="0"/>
              <a:t> </a:t>
            </a:r>
            <a:r>
              <a:rPr lang="en-US" sz="2300" dirty="0" err="1"/>
              <a:t>trong</a:t>
            </a:r>
            <a:r>
              <a:rPr lang="en-US" sz="2300" dirty="0"/>
              <a:t> CSDL.</a:t>
            </a:r>
          </a:p>
          <a:p>
            <a:pPr lvl="3">
              <a:buFont typeface="Courier New" pitchFamily="49" charset="0"/>
              <a:buChar char="o"/>
            </a:pPr>
            <a:r>
              <a:rPr lang="en-US" sz="2300" b="1" i="1" dirty="0" err="1"/>
              <a:t>Xây</a:t>
            </a:r>
            <a:r>
              <a:rPr lang="en-US" sz="2300" b="1" i="1" dirty="0"/>
              <a:t> </a:t>
            </a:r>
            <a:r>
              <a:rPr lang="en-US" sz="2300" b="1" i="1" dirty="0" err="1"/>
              <a:t>dựng</a:t>
            </a:r>
            <a:r>
              <a:rPr lang="en-US" sz="2300" b="1" i="1" dirty="0"/>
              <a:t> </a:t>
            </a:r>
            <a:r>
              <a:rPr lang="en-US" sz="2300" dirty="0"/>
              <a:t>CSDL:  </a:t>
            </a:r>
            <a:r>
              <a:rPr lang="en-US" sz="2300" dirty="0" err="1"/>
              <a:t>lưu</a:t>
            </a:r>
            <a:r>
              <a:rPr lang="en-US" sz="2300" dirty="0"/>
              <a:t> </a:t>
            </a:r>
            <a:r>
              <a:rPr lang="en-US" sz="2300" dirty="0" err="1"/>
              <a:t>trữ</a:t>
            </a:r>
            <a:r>
              <a:rPr lang="en-US" sz="2300" dirty="0"/>
              <a:t> </a:t>
            </a:r>
            <a:r>
              <a:rPr lang="en-US" sz="2300" dirty="0" err="1"/>
              <a:t>dữ</a:t>
            </a:r>
            <a:r>
              <a:rPr lang="en-US" sz="2300" dirty="0"/>
              <a:t> </a:t>
            </a:r>
            <a:r>
              <a:rPr lang="en-US" sz="2300" dirty="0" err="1"/>
              <a:t>liệu</a:t>
            </a:r>
            <a:r>
              <a:rPr lang="en-US" sz="2300" dirty="0"/>
              <a:t> </a:t>
            </a:r>
            <a:r>
              <a:rPr lang="en-US" sz="2300" dirty="0" err="1"/>
              <a:t>trên</a:t>
            </a:r>
            <a:r>
              <a:rPr lang="en-US" sz="2300" dirty="0"/>
              <a:t> </a:t>
            </a:r>
            <a:r>
              <a:rPr lang="en-US" sz="2300" dirty="0" err="1"/>
              <a:t>thiết</a:t>
            </a:r>
            <a:r>
              <a:rPr lang="en-US" sz="2300" dirty="0"/>
              <a:t> </a:t>
            </a:r>
            <a:r>
              <a:rPr lang="en-US" sz="2300" dirty="0" err="1"/>
              <a:t>bị</a:t>
            </a:r>
            <a:r>
              <a:rPr lang="en-US" sz="2300" dirty="0"/>
              <a:t> </a:t>
            </a:r>
            <a:r>
              <a:rPr lang="en-US" sz="2300" dirty="0" err="1"/>
              <a:t>bộ</a:t>
            </a:r>
            <a:r>
              <a:rPr lang="en-US" sz="2300" dirty="0"/>
              <a:t> </a:t>
            </a:r>
            <a:r>
              <a:rPr lang="en-US" sz="2300" dirty="0" err="1"/>
              <a:t>nhớ</a:t>
            </a:r>
            <a:r>
              <a:rPr lang="en-US" sz="2300" dirty="0"/>
              <a:t> </a:t>
            </a:r>
          </a:p>
          <a:p>
            <a:pPr lvl="3">
              <a:buFont typeface="Courier New" pitchFamily="49" charset="0"/>
              <a:buChar char="o"/>
            </a:pPr>
            <a:r>
              <a:rPr lang="en-US" sz="2300" b="1" i="1" dirty="0" err="1"/>
              <a:t>Thao</a:t>
            </a:r>
            <a:r>
              <a:rPr lang="en-US" sz="2300" b="1" i="1" dirty="0"/>
              <a:t> </a:t>
            </a:r>
            <a:r>
              <a:rPr lang="en-US" sz="2300" b="1" i="1" dirty="0" err="1"/>
              <a:t>tác</a:t>
            </a:r>
            <a:r>
              <a:rPr lang="en-US" sz="2300" dirty="0"/>
              <a:t>:  </a:t>
            </a:r>
            <a:r>
              <a:rPr lang="en-US" sz="2300" dirty="0" err="1"/>
              <a:t>truy</a:t>
            </a:r>
            <a:r>
              <a:rPr lang="en-US" sz="2300" dirty="0"/>
              <a:t> </a:t>
            </a:r>
            <a:r>
              <a:rPr lang="en-US" sz="2300" dirty="0" err="1"/>
              <a:t>vấn</a:t>
            </a:r>
            <a:r>
              <a:rPr lang="en-US" sz="2300" dirty="0"/>
              <a:t>, </a:t>
            </a:r>
            <a:r>
              <a:rPr lang="en-US" sz="2300" dirty="0" err="1"/>
              <a:t>cập</a:t>
            </a:r>
            <a:r>
              <a:rPr lang="en-US" sz="2300" dirty="0"/>
              <a:t> </a:t>
            </a:r>
            <a:r>
              <a:rPr lang="en-US" sz="2300" dirty="0" err="1"/>
              <a:t>nhật</a:t>
            </a:r>
            <a:r>
              <a:rPr lang="en-US" sz="2300" dirty="0"/>
              <a:t> </a:t>
            </a:r>
            <a:r>
              <a:rPr lang="en-US" sz="2300" dirty="0" err="1"/>
              <a:t>và</a:t>
            </a:r>
            <a:r>
              <a:rPr lang="en-US" sz="2300" dirty="0"/>
              <a:t>  </a:t>
            </a:r>
            <a:r>
              <a:rPr lang="en-US" sz="2300" dirty="0" err="1"/>
              <a:t>sinh</a:t>
            </a:r>
            <a:r>
              <a:rPr lang="en-US" sz="2300" dirty="0"/>
              <a:t> </a:t>
            </a:r>
            <a:r>
              <a:rPr lang="en-US" sz="2300" dirty="0" err="1"/>
              <a:t>báo</a:t>
            </a:r>
            <a:r>
              <a:rPr lang="en-US" sz="2300" dirty="0"/>
              <a:t> </a:t>
            </a:r>
            <a:r>
              <a:rPr lang="en-US" sz="2300" dirty="0" err="1"/>
              <a:t>cáo</a:t>
            </a:r>
            <a:r>
              <a:rPr lang="en-US" sz="2300" dirty="0"/>
              <a:t>.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08F064-05C5-4820-9366-DD37540BDB25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CE6B39-E75C-426B-BEDF-CD8958738DE1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200" dirty="0">
                <a:solidFill>
                  <a:schemeClr val="accent2"/>
                </a:solidFill>
              </a:rPr>
              <a:t>1.1 </a:t>
            </a:r>
            <a:r>
              <a:rPr lang="en-US" sz="3200" dirty="0" err="1">
                <a:solidFill>
                  <a:schemeClr val="accent2"/>
                </a:solidFill>
              </a:rPr>
              <a:t>Mở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đầu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i="1"/>
              <a:t> Hệ CSDL (Database System)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0CAFAB-E460-4495-8380-A31EFBB6D755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3124200" y="4724400"/>
            <a:ext cx="2438400" cy="1371600"/>
            <a:chOff x="1968" y="2976"/>
            <a:chExt cx="1536" cy="864"/>
          </a:xfrm>
        </p:grpSpPr>
        <p:sp>
          <p:nvSpPr>
            <p:cNvPr id="20497" name="AutoShape 12"/>
            <p:cNvSpPr>
              <a:spLocks noChangeArrowheads="1"/>
            </p:cNvSpPr>
            <p:nvPr/>
          </p:nvSpPr>
          <p:spPr bwMode="auto">
            <a:xfrm>
              <a:off x="2784" y="3264"/>
              <a:ext cx="720" cy="576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600" b="1"/>
                <a:t>CSDL</a:t>
              </a:r>
            </a:p>
          </p:txBody>
        </p:sp>
        <p:sp>
          <p:nvSpPr>
            <p:cNvPr id="20498" name="AutoShape 13"/>
            <p:cNvSpPr>
              <a:spLocks noChangeArrowheads="1"/>
            </p:cNvSpPr>
            <p:nvPr/>
          </p:nvSpPr>
          <p:spPr bwMode="auto">
            <a:xfrm>
              <a:off x="1968" y="3264"/>
              <a:ext cx="768" cy="576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100" b="1" err="1"/>
                <a:t>Định</a:t>
              </a:r>
              <a:r>
                <a:rPr lang="en-US" sz="1100" b="1"/>
                <a:t> </a:t>
              </a:r>
              <a:r>
                <a:rPr lang="en-US" sz="1100" b="1" err="1"/>
                <a:t>nghĩa</a:t>
              </a:r>
              <a:endParaRPr lang="en-US" sz="1100" b="1"/>
            </a:p>
            <a:p>
              <a:pPr>
                <a:spcBef>
                  <a:spcPct val="0"/>
                </a:spcBef>
              </a:pPr>
              <a:r>
                <a:rPr lang="en-US" sz="1100" b="1"/>
                <a:t>CSDL </a:t>
              </a:r>
              <a:r>
                <a:rPr lang="en-US" sz="1050" b="1"/>
                <a:t>(meta data)</a:t>
              </a:r>
              <a:endParaRPr lang="en-US" sz="1600" b="1"/>
            </a:p>
          </p:txBody>
        </p:sp>
        <p:sp>
          <p:nvSpPr>
            <p:cNvPr id="20499" name="Line 23"/>
            <p:cNvSpPr>
              <a:spLocks noChangeShapeType="1"/>
            </p:cNvSpPr>
            <p:nvPr/>
          </p:nvSpPr>
          <p:spPr bwMode="auto">
            <a:xfrm>
              <a:off x="2352" y="297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0" name="Line 24"/>
            <p:cNvSpPr>
              <a:spLocks noChangeShapeType="1"/>
            </p:cNvSpPr>
            <p:nvPr/>
          </p:nvSpPr>
          <p:spPr bwMode="auto">
            <a:xfrm>
              <a:off x="3120" y="297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20493" name="Text Box 10"/>
          <p:cNvSpPr txBox="1">
            <a:spLocks noChangeArrowheads="1"/>
          </p:cNvSpPr>
          <p:nvPr/>
        </p:nvSpPr>
        <p:spPr bwMode="auto">
          <a:xfrm>
            <a:off x="2590800" y="1981200"/>
            <a:ext cx="3733800" cy="3365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err="1"/>
              <a:t>Người</a:t>
            </a:r>
            <a:r>
              <a:rPr lang="en-US" sz="1600" b="1"/>
              <a:t> </a:t>
            </a:r>
            <a:r>
              <a:rPr lang="en-US" sz="1600" b="1" err="1"/>
              <a:t>sử</a:t>
            </a:r>
            <a:r>
              <a:rPr lang="en-US" sz="1600" b="1"/>
              <a:t> </a:t>
            </a:r>
            <a:r>
              <a:rPr lang="en-US" sz="1600" b="1" err="1"/>
              <a:t>dụng</a:t>
            </a:r>
            <a:r>
              <a:rPr lang="en-US" sz="1600" b="1"/>
              <a:t>/</a:t>
            </a:r>
            <a:r>
              <a:rPr lang="en-US" sz="1600" b="1" err="1"/>
              <a:t>Lập</a:t>
            </a:r>
            <a:r>
              <a:rPr lang="en-US" sz="1600" b="1"/>
              <a:t> </a:t>
            </a:r>
            <a:r>
              <a:rPr lang="en-US" sz="1600" b="1" err="1"/>
              <a:t>trình</a:t>
            </a:r>
            <a:r>
              <a:rPr lang="en-US" sz="1600" b="1"/>
              <a:t> </a:t>
            </a:r>
            <a:r>
              <a:rPr lang="en-US" sz="1600" b="1" err="1"/>
              <a:t>viên</a:t>
            </a:r>
            <a:endParaRPr lang="en-US" sz="1600" b="1"/>
          </a:p>
        </p:txBody>
      </p:sp>
      <p:grpSp>
        <p:nvGrpSpPr>
          <p:cNvPr id="27" name="Group 26"/>
          <p:cNvGrpSpPr/>
          <p:nvPr/>
        </p:nvGrpSpPr>
        <p:grpSpPr>
          <a:xfrm>
            <a:off x="2362200" y="2743200"/>
            <a:ext cx="3810000" cy="2286000"/>
            <a:chOff x="2362200" y="2743200"/>
            <a:chExt cx="3810000" cy="2286000"/>
          </a:xfrm>
        </p:grpSpPr>
        <p:grpSp>
          <p:nvGrpSpPr>
            <p:cNvPr id="2" name="Group 28"/>
            <p:cNvGrpSpPr>
              <a:grpSpLocks/>
            </p:cNvGrpSpPr>
            <p:nvPr/>
          </p:nvGrpSpPr>
          <p:grpSpPr bwMode="auto">
            <a:xfrm>
              <a:off x="2362200" y="3429000"/>
              <a:ext cx="3810000" cy="1600200"/>
              <a:chOff x="1488" y="2160"/>
              <a:chExt cx="2400" cy="1008"/>
            </a:xfrm>
          </p:grpSpPr>
          <p:sp>
            <p:nvSpPr>
              <p:cNvPr id="20501" name="Rectangle 14"/>
              <p:cNvSpPr>
                <a:spLocks noChangeArrowheads="1"/>
              </p:cNvSpPr>
              <p:nvPr/>
            </p:nvSpPr>
            <p:spPr bwMode="auto">
              <a:xfrm>
                <a:off x="1536" y="2160"/>
                <a:ext cx="2352" cy="1008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0502" name="Text Box 15"/>
              <p:cNvSpPr txBox="1">
                <a:spLocks noChangeArrowheads="1"/>
              </p:cNvSpPr>
              <p:nvPr/>
            </p:nvSpPr>
            <p:spPr bwMode="auto">
              <a:xfrm>
                <a:off x="2064" y="2352"/>
                <a:ext cx="1344" cy="220"/>
              </a:xfrm>
              <a:prstGeom prst="rect">
                <a:avLst/>
              </a:prstGeom>
              <a:solidFill>
                <a:srgbClr val="99CCFF"/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b="1"/>
                  <a:t>Xử lý truy vấn</a:t>
                </a:r>
              </a:p>
            </p:txBody>
          </p:sp>
          <p:sp>
            <p:nvSpPr>
              <p:cNvPr id="20503" name="Text Box 17"/>
              <p:cNvSpPr txBox="1">
                <a:spLocks noChangeArrowheads="1"/>
              </p:cNvSpPr>
              <p:nvPr/>
            </p:nvSpPr>
            <p:spPr bwMode="auto">
              <a:xfrm>
                <a:off x="1488" y="2160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HQT CSDL</a:t>
                </a:r>
              </a:p>
            </p:txBody>
          </p:sp>
          <p:sp>
            <p:nvSpPr>
              <p:cNvPr id="20504" name="Text Box 18"/>
              <p:cNvSpPr txBox="1">
                <a:spLocks noChangeArrowheads="1"/>
              </p:cNvSpPr>
              <p:nvPr/>
            </p:nvSpPr>
            <p:spPr bwMode="auto">
              <a:xfrm>
                <a:off x="2064" y="2756"/>
                <a:ext cx="1344" cy="220"/>
              </a:xfrm>
              <a:prstGeom prst="rect">
                <a:avLst/>
              </a:prstGeom>
              <a:solidFill>
                <a:srgbClr val="99CCFF"/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b="1" err="1"/>
                  <a:t>Truy</a:t>
                </a:r>
                <a:r>
                  <a:rPr lang="en-US" sz="1600" b="1"/>
                  <a:t> </a:t>
                </a:r>
                <a:r>
                  <a:rPr lang="en-US" sz="1600" b="1" err="1"/>
                  <a:t>xuất</a:t>
                </a:r>
                <a:r>
                  <a:rPr lang="en-US" sz="1600" b="1"/>
                  <a:t> </a:t>
                </a:r>
                <a:r>
                  <a:rPr lang="en-US" sz="1600" b="1" err="1"/>
                  <a:t>dữ</a:t>
                </a:r>
                <a:r>
                  <a:rPr lang="en-US" sz="1600" b="1"/>
                  <a:t> </a:t>
                </a:r>
                <a:r>
                  <a:rPr lang="en-US" sz="1600" b="1" err="1"/>
                  <a:t>liệu</a:t>
                </a:r>
                <a:endParaRPr lang="en-US" sz="1600" b="1"/>
              </a:p>
            </p:txBody>
          </p:sp>
          <p:sp>
            <p:nvSpPr>
              <p:cNvPr id="20505" name="Line 20"/>
              <p:cNvSpPr>
                <a:spLocks noChangeShapeType="1"/>
              </p:cNvSpPr>
              <p:nvPr/>
            </p:nvSpPr>
            <p:spPr bwMode="auto">
              <a:xfrm>
                <a:off x="2736" y="259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lg" len="lg"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sp>
          <p:nvSpPr>
            <p:cNvPr id="20494" name="Text Box 11"/>
            <p:cNvSpPr txBox="1">
              <a:spLocks noChangeArrowheads="1"/>
            </p:cNvSpPr>
            <p:nvPr/>
          </p:nvSpPr>
          <p:spPr bwMode="auto">
            <a:xfrm>
              <a:off x="2514600" y="2743200"/>
              <a:ext cx="3657600" cy="349250"/>
            </a:xfrm>
            <a:prstGeom prst="rect">
              <a:avLst/>
            </a:prstGeom>
            <a:solidFill>
              <a:srgbClr val="FF99CC"/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b="1" err="1"/>
                <a:t>Chương</a:t>
              </a:r>
              <a:r>
                <a:rPr lang="en-US" sz="1600" b="1"/>
                <a:t> </a:t>
              </a:r>
              <a:r>
                <a:rPr lang="en-US" sz="1600" b="1" err="1"/>
                <a:t>trình</a:t>
              </a:r>
              <a:r>
                <a:rPr lang="en-US" sz="1600" b="1"/>
                <a:t> </a:t>
              </a:r>
              <a:r>
                <a:rPr lang="en-US" sz="1600" b="1" err="1"/>
                <a:t>ứng</a:t>
              </a:r>
              <a:r>
                <a:rPr lang="en-US" sz="1600" b="1"/>
                <a:t> </a:t>
              </a:r>
              <a:r>
                <a:rPr lang="en-US" sz="1600" b="1" err="1"/>
                <a:t>dụng</a:t>
              </a:r>
              <a:r>
                <a:rPr lang="en-US" sz="1600" b="1"/>
                <a:t>/</a:t>
              </a:r>
              <a:r>
                <a:rPr lang="en-US" sz="1600" b="1" err="1"/>
                <a:t>Truy</a:t>
              </a:r>
              <a:r>
                <a:rPr lang="en-US" sz="1600" b="1"/>
                <a:t> </a:t>
              </a:r>
              <a:r>
                <a:rPr lang="en-US" sz="1600" b="1" err="1"/>
                <a:t>vấn</a:t>
              </a:r>
              <a:endParaRPr lang="en-US" sz="1600" b="1"/>
            </a:p>
          </p:txBody>
        </p:sp>
      </p:grpSp>
      <p:sp>
        <p:nvSpPr>
          <p:cNvPr id="20495" name="Line 22"/>
          <p:cNvSpPr>
            <a:spLocks noChangeShapeType="1"/>
          </p:cNvSpPr>
          <p:nvPr/>
        </p:nvSpPr>
        <p:spPr bwMode="auto">
          <a:xfrm>
            <a:off x="4343400" y="3124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0496" name="Line 25"/>
          <p:cNvSpPr>
            <a:spLocks noChangeShapeType="1"/>
          </p:cNvSpPr>
          <p:nvPr/>
        </p:nvSpPr>
        <p:spPr bwMode="auto">
          <a:xfrm>
            <a:off x="4343400" y="2362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1524000" y="2514600"/>
            <a:ext cx="5486400" cy="3810000"/>
            <a:chOff x="960" y="1200"/>
            <a:chExt cx="3456" cy="2784"/>
          </a:xfrm>
        </p:grpSpPr>
        <p:sp>
          <p:nvSpPr>
            <p:cNvPr id="20491" name="Rectangle 16"/>
            <p:cNvSpPr>
              <a:spLocks noChangeArrowheads="1"/>
            </p:cNvSpPr>
            <p:nvPr/>
          </p:nvSpPr>
          <p:spPr bwMode="auto">
            <a:xfrm>
              <a:off x="960" y="1200"/>
              <a:ext cx="3456" cy="2784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492" name="Text Box 26"/>
            <p:cNvSpPr txBox="1">
              <a:spLocks noChangeArrowheads="1"/>
            </p:cNvSpPr>
            <p:nvPr/>
          </p:nvSpPr>
          <p:spPr bwMode="auto">
            <a:xfrm>
              <a:off x="960" y="379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err="1"/>
                <a:t>Hệ</a:t>
              </a:r>
              <a:r>
                <a:rPr lang="en-US" sz="1400"/>
                <a:t> CSDL </a:t>
              </a:r>
            </a:p>
          </p:txBody>
        </p:sp>
      </p:grp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29" name="Date Placeholder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EC3DC3-4C25-4FC0-8EE7-6713FFC10DA8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30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/>
          <a:lstStyle/>
          <a:p>
            <a:r>
              <a:rPr lang="en-US" sz="3200" dirty="0" err="1">
                <a:solidFill>
                  <a:schemeClr val="accent1"/>
                </a:solidFill>
              </a:rPr>
              <a:t>Một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ví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dụ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về</a:t>
            </a:r>
            <a:r>
              <a:rPr lang="en-US" sz="3200" dirty="0">
                <a:solidFill>
                  <a:schemeClr val="accent1"/>
                </a:solidFill>
              </a:rPr>
              <a:t> CSDL: </a:t>
            </a:r>
            <a:r>
              <a:rPr lang="en-US" sz="3200" dirty="0" err="1">
                <a:solidFill>
                  <a:schemeClr val="accent1"/>
                </a:solidFill>
              </a:rPr>
              <a:t>Quản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lý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Đào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tạo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1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BB0F4-CFC3-4860-899C-CF0CE9852783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57200" y="1066800"/>
            <a:ext cx="8305800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Courier New" pitchFamily="49" charset="0"/>
              <a:buChar char="o"/>
            </a:pPr>
            <a:r>
              <a:rPr lang="en-US" sz="2800" i="1"/>
              <a:t> </a:t>
            </a:r>
            <a:r>
              <a:rPr lang="en-US" sz="2400" i="1"/>
              <a:t>Các đối tượng: </a:t>
            </a:r>
            <a:r>
              <a:rPr lang="en-US" sz="2000"/>
              <a:t>Sinh viên, Môn học, Học phần, Ngành..</a:t>
            </a:r>
            <a:endParaRPr lang="en-US" sz="2400"/>
          </a:p>
          <a:p>
            <a:pPr algn="l">
              <a:buFont typeface="Courier New" pitchFamily="49" charset="0"/>
              <a:buChar char="o"/>
            </a:pPr>
            <a:r>
              <a:rPr lang="en-US" sz="2400" i="1"/>
              <a:t> Mối quan hệ: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/>
              <a:t> Mỗi sinh viên có thể học một số học phần trong mỗi kỳ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/>
              <a:t> Mỗi môn học </a:t>
            </a:r>
            <a:r>
              <a:rPr lang="vi-VN" sz="2000"/>
              <a:t>đượ</a:t>
            </a:r>
            <a:r>
              <a:rPr lang="en-US" sz="2000"/>
              <a:t>c dạy trong một hoặc nhiều học phần xác  định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/>
              <a:t> Mỗi môn học có thể có các môn điều kiện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/>
              <a:t> Mỗi học phần do một giáo viên giảng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/>
              <a:t> Mỗi môn học do một khoa quản lý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/>
              <a:t> Mỗi sinh viên thuộc một ngành nào đó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/>
              <a:t> Mỗi ngành do một khoa quản lý.</a:t>
            </a:r>
          </a:p>
          <a:p>
            <a:pPr algn="l"/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971412-1B8E-4B7C-9745-BDA9AF8A2E17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8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/>
          <a:lstStyle/>
          <a:p>
            <a:r>
              <a:rPr lang="en-US" sz="3200" dirty="0" err="1">
                <a:solidFill>
                  <a:schemeClr val="accent1"/>
                </a:solidFill>
              </a:rPr>
              <a:t>Một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ví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dụ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về</a:t>
            </a:r>
            <a:r>
              <a:rPr lang="en-US" sz="3200" dirty="0">
                <a:solidFill>
                  <a:schemeClr val="accent1"/>
                </a:solidFill>
              </a:rPr>
              <a:t> CSDL: </a:t>
            </a:r>
            <a:r>
              <a:rPr lang="en-US" sz="3200" dirty="0" err="1">
                <a:solidFill>
                  <a:schemeClr val="accent1"/>
                </a:solidFill>
              </a:rPr>
              <a:t>Quản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lý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Đào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tạo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1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BB0F4-CFC3-4860-899C-CF0CE9852783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99156" y="1371600"/>
          <a:ext cx="43434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SINHVIEN</a:t>
                      </a:r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MaSv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Hoten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Lop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MaNganh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00200" y="2514600"/>
          <a:ext cx="43433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MONHOC</a:t>
                      </a:r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MaMH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TenMH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SoTC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MaKhoa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600200" y="3505200"/>
          <a:ext cx="43434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HOCPHAN</a:t>
                      </a:r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MaHP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MaMH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Hocky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Giaovien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600200" y="5562600"/>
          <a:ext cx="43434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DIEM</a:t>
                      </a:r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MaSv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MaHP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Diem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514600"/>
          <a:ext cx="2362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MONDK</a:t>
                      </a:r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MaMH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MaMonDK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600200" y="4648200"/>
          <a:ext cx="43434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KHOA</a:t>
                      </a:r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MaKhoa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TenKhoa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MaNganh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AAC262-B112-40C1-91E0-70B994B8ADC8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15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3505200"/>
          <a:ext cx="2362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NGANH</a:t>
                      </a:r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MaNg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TenNg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/>
          <a:lstStyle/>
          <a:p>
            <a:r>
              <a:rPr lang="en-US" sz="3200" dirty="0" err="1">
                <a:solidFill>
                  <a:schemeClr val="accent1"/>
                </a:solidFill>
              </a:rPr>
              <a:t>Một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ví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dụ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về</a:t>
            </a:r>
            <a:r>
              <a:rPr lang="en-US" sz="3200" dirty="0">
                <a:solidFill>
                  <a:schemeClr val="accent1"/>
                </a:solidFill>
              </a:rPr>
              <a:t> CSDL: </a:t>
            </a:r>
            <a:r>
              <a:rPr lang="en-US" sz="3200" dirty="0" err="1">
                <a:solidFill>
                  <a:schemeClr val="accent1"/>
                </a:solidFill>
              </a:rPr>
              <a:t>Quản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lý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Đào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tạo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1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BB0F4-CFC3-4860-899C-CF0CE9852783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57200" y="1066800"/>
            <a:ext cx="8305800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i="1"/>
          </a:p>
          <a:p>
            <a:pPr algn="l"/>
            <a:r>
              <a:rPr lang="en-US" sz="2800" b="1" i="1"/>
              <a:t>Định </a:t>
            </a:r>
            <a:r>
              <a:rPr lang="en-US" sz="2800" b="1" i="1" dirty="0" err="1"/>
              <a:t>nghĩa</a:t>
            </a:r>
            <a:r>
              <a:rPr lang="en-US" sz="2800" b="1" i="1" dirty="0"/>
              <a:t> CSDL</a:t>
            </a:r>
            <a:r>
              <a:rPr lang="en-US" sz="2800" i="1" dirty="0"/>
              <a:t>:</a:t>
            </a:r>
            <a:r>
              <a:rPr lang="en-US" sz="2400" i="1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bảng</a:t>
            </a:r>
            <a:r>
              <a:rPr lang="en-US" sz="2400" dirty="0"/>
              <a:t>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err="1"/>
              <a:t>các</a:t>
            </a:r>
            <a:r>
              <a:rPr lang="en-US" sz="2400"/>
              <a:t> trường,</a:t>
            </a:r>
            <a:r>
              <a:rPr lang="vi-VN" sz="2400"/>
              <a:t> các mối liên kết</a:t>
            </a:r>
            <a:r>
              <a:rPr lang="en-US" sz="2400"/>
              <a:t>..</a:t>
            </a:r>
            <a:endParaRPr lang="en-US" sz="2400" dirty="0"/>
          </a:p>
          <a:p>
            <a:pPr algn="l"/>
            <a:r>
              <a:rPr lang="en-US" sz="2800" b="1" i="1" dirty="0" err="1"/>
              <a:t>Xây</a:t>
            </a:r>
            <a:r>
              <a:rPr lang="en-US" sz="2800" b="1" i="1" dirty="0"/>
              <a:t> </a:t>
            </a:r>
            <a:r>
              <a:rPr lang="en-US" sz="2800" b="1" i="1" dirty="0" err="1"/>
              <a:t>dựng</a:t>
            </a:r>
            <a:r>
              <a:rPr lang="en-US" sz="2800" b="1" i="1" dirty="0"/>
              <a:t> CSDL</a:t>
            </a:r>
            <a:r>
              <a:rPr lang="en-US" sz="2800" i="1" dirty="0"/>
              <a:t>: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vi-VN" sz="2400" dirty="0"/>
              <a:t>đượ</a:t>
            </a:r>
            <a:r>
              <a:rPr lang="en-US" sz="2400" dirty="0"/>
              <a:t>c </a:t>
            </a:r>
            <a:r>
              <a:rPr lang="en-US" sz="2400" dirty="0" err="1"/>
              <a:t>ghi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tệp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ghi</a:t>
            </a:r>
            <a:r>
              <a:rPr lang="en-US" sz="2400" dirty="0"/>
              <a:t>,</a:t>
            </a:r>
          </a:p>
          <a:p>
            <a:pPr algn="l"/>
            <a:r>
              <a:rPr lang="en-US" sz="2800" b="1" i="1" dirty="0" err="1"/>
              <a:t>Thao</a:t>
            </a:r>
            <a:r>
              <a:rPr lang="en-US" sz="2800" b="1" i="1" dirty="0"/>
              <a:t> </a:t>
            </a:r>
            <a:r>
              <a:rPr lang="en-US" sz="2800" b="1" i="1" dirty="0" err="1"/>
              <a:t>tác</a:t>
            </a:r>
            <a:r>
              <a:rPr lang="en-US" sz="2800" b="1" i="1" dirty="0"/>
              <a:t> CSDL</a:t>
            </a:r>
            <a:r>
              <a:rPr lang="en-US" sz="2800" i="1" dirty="0"/>
              <a:t>: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thác</a:t>
            </a:r>
            <a:r>
              <a:rPr lang="en-US" sz="2400" dirty="0"/>
              <a:t> </a:t>
            </a:r>
            <a:r>
              <a:rPr lang="en-US" sz="2400" err="1"/>
              <a:t>dữ</a:t>
            </a:r>
            <a:r>
              <a:rPr lang="en-US" sz="2400"/>
              <a:t> liệu</a:t>
            </a:r>
            <a:r>
              <a:rPr lang="en-US" sz="2400" u="sng" dirty="0"/>
              <a:t>.</a:t>
            </a:r>
          </a:p>
          <a:p>
            <a:pPr algn="l"/>
            <a:endParaRPr lang="en-US" sz="2400" u="sng" dirty="0"/>
          </a:p>
          <a:p>
            <a:pPr lvl="1" algn="l">
              <a:buFont typeface="Arial" pitchFamily="34" charset="0"/>
              <a:buChar char="•"/>
            </a:pPr>
            <a:endParaRPr lang="en-US" sz="2400" dirty="0"/>
          </a:p>
          <a:p>
            <a:pPr algn="l"/>
            <a:endParaRPr lang="vi-V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3E3C25-9480-4BF3-8E67-4E1EF0AE8E72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8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/>
          <a:lstStyle/>
          <a:p>
            <a:r>
              <a:rPr lang="en-US" sz="3600">
                <a:solidFill>
                  <a:schemeClr val="accent1"/>
                </a:solidFill>
              </a:rPr>
              <a:t>Một ví dụ về CSDL: Quản lý Dự án</a:t>
            </a:r>
          </a:p>
        </p:txBody>
      </p:sp>
      <p:sp>
        <p:nvSpPr>
          <p:cNvPr id="1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BB0F4-CFC3-4860-899C-CF0CE9852783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157200" name="Group 528"/>
          <p:cNvGraphicFramePr>
            <a:graphicFrameLocks noGrp="1"/>
          </p:cNvGraphicFramePr>
          <p:nvPr/>
        </p:nvGraphicFramePr>
        <p:xfrm>
          <a:off x="4343400" y="4800600"/>
          <a:ext cx="4440238" cy="1616075"/>
        </p:xfrm>
        <a:graphic>
          <a:graphicData uri="http://schemas.openxmlformats.org/drawingml/2006/table">
            <a:tbl>
              <a:tblPr/>
              <a:tblGrid>
                <a:gridCol w="1344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PHANCONG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MA_NVIEN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SODA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THOIGIAN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123456789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32.5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123456789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666884444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40.0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453453453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20.0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7204" name="Group 532"/>
          <p:cNvGraphicFramePr>
            <a:graphicFrameLocks noGrp="1"/>
          </p:cNvGraphicFramePr>
          <p:nvPr/>
        </p:nvGraphicFramePr>
        <p:xfrm>
          <a:off x="503238" y="3048000"/>
          <a:ext cx="5135562" cy="1612900"/>
        </p:xfrm>
        <a:graphic>
          <a:graphicData uri="http://schemas.openxmlformats.org/drawingml/2006/table">
            <a:tbl>
              <a:tblPr/>
              <a:tblGrid>
                <a:gridCol w="75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DEAN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TENDA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MADA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DDIEM_DA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PHONG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San </a:t>
                      </a:r>
                      <a:r>
                        <a:rPr kumimoji="0" lang="en-US" sz="1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pham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VUNG TAU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San pham 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NHA TRANG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San pham 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TP HCM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Tin hoc hoa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HA NOI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7202" name="Group 530"/>
          <p:cNvGraphicFramePr>
            <a:graphicFrameLocks noGrp="1"/>
          </p:cNvGraphicFramePr>
          <p:nvPr/>
        </p:nvGraphicFramePr>
        <p:xfrm>
          <a:off x="457200" y="1295400"/>
          <a:ext cx="8066087" cy="1524000"/>
        </p:xfrm>
        <a:graphic>
          <a:graphicData uri="http://schemas.openxmlformats.org/drawingml/2006/table">
            <a:tbl>
              <a:tblPr/>
              <a:tblGrid>
                <a:gridCol w="1220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NHANVIEN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HONV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TENDEM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TENNV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MANV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NGSINH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MA_NQL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PHG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Tran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Hong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Quang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987987987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03/09/1969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987654321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Nguyen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Thanh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Tung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333445555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12/08/1955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888665555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Nguyen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Manh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Hung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666884444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09/15/1962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333445555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Tran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Thanh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Tam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453453453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07/31/1972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333445555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BAC23D-0848-4833-8482-94A9071AE599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10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lvl="1"/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CSDL: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,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endParaRPr lang="en-US" dirty="0"/>
          </a:p>
          <a:p>
            <a:pPr lvl="1"/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CSDL: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endParaRPr lang="en-US" dirty="0"/>
          </a:p>
          <a:p>
            <a:pPr lvl="1"/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CSDL: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: “Cho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”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: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 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,..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2F79DA-F4BA-4578-915D-C272AB6B387B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3048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Một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ví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dụ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về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CSDL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E3D788-F2D7-452A-8A1A-9F9966939260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10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 dirty="0" err="1"/>
              <a:t>Nội</a:t>
            </a:r>
            <a:r>
              <a:rPr lang="en-US" sz="3500" dirty="0"/>
              <a:t> dung chi </a:t>
            </a:r>
            <a:r>
              <a:rPr lang="en-US" sz="3500" dirty="0" err="1"/>
              <a:t>tiết</a:t>
            </a:r>
            <a:endParaRPr lang="en-US" sz="35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dirty="0" err="1">
                <a:solidFill>
                  <a:srgbClr val="777777"/>
                </a:solidFill>
              </a:rPr>
              <a:t>Mở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đầu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b="1" dirty="0" err="1"/>
              <a:t>Quá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endParaRPr lang="en-US" b="1" dirty="0"/>
          </a:p>
          <a:p>
            <a:r>
              <a:rPr lang="en-US" dirty="0" err="1">
                <a:solidFill>
                  <a:srgbClr val="777777"/>
                </a:solidFill>
              </a:rPr>
              <a:t>Một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số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đặc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tính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Người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sử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dụng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Kiến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trúc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HQT CSDL </a:t>
            </a:r>
          </a:p>
          <a:p>
            <a:r>
              <a:rPr lang="en-US" dirty="0" err="1">
                <a:solidFill>
                  <a:srgbClr val="777777"/>
                </a:solidFill>
              </a:rPr>
              <a:t>Các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tính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năng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HQT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Một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số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khái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niệm</a:t>
            </a:r>
            <a:r>
              <a:rPr lang="en-US" dirty="0">
                <a:solidFill>
                  <a:srgbClr val="777777"/>
                </a:solidFill>
              </a:rPr>
              <a:t>: </a:t>
            </a:r>
            <a:r>
              <a:rPr lang="en-US" dirty="0" err="1">
                <a:solidFill>
                  <a:srgbClr val="777777"/>
                </a:solidFill>
              </a:rPr>
              <a:t>Mô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hình</a:t>
            </a:r>
            <a:r>
              <a:rPr lang="en-US" dirty="0">
                <a:solidFill>
                  <a:srgbClr val="777777"/>
                </a:solidFill>
              </a:rPr>
              <a:t>, </a:t>
            </a:r>
            <a:r>
              <a:rPr lang="en-US" dirty="0" err="1">
                <a:solidFill>
                  <a:srgbClr val="777777"/>
                </a:solidFill>
              </a:rPr>
              <a:t>Lược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đồ</a:t>
            </a:r>
            <a:r>
              <a:rPr lang="en-US" dirty="0">
                <a:solidFill>
                  <a:srgbClr val="777777"/>
                </a:solidFill>
              </a:rPr>
              <a:t>, </a:t>
            </a:r>
            <a:r>
              <a:rPr lang="en-US" dirty="0" err="1">
                <a:solidFill>
                  <a:srgbClr val="777777"/>
                </a:solidFill>
              </a:rPr>
              <a:t>Thể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hiện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dirty="0" err="1">
                <a:solidFill>
                  <a:srgbClr val="777777"/>
                </a:solidFill>
              </a:rPr>
              <a:t>Ngôn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ngữ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37A737-67FF-48E1-994D-C57F4EF26AE8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1B326E-C4E2-438A-ADC4-175856C7097C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1.2 Quá trình phát triển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b="1"/>
              <a:t>Tập tin (trước 1960)</a:t>
            </a: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3BDEB7-F47A-4463-95C1-DF858BCE4E87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66800" y="2057400"/>
            <a:ext cx="6629400" cy="3276600"/>
            <a:chOff x="672" y="1296"/>
            <a:chExt cx="4176" cy="2064"/>
          </a:xfrm>
        </p:grpSpPr>
        <p:grpSp>
          <p:nvGrpSpPr>
            <p:cNvPr id="24583" name="Group 5"/>
            <p:cNvGrpSpPr>
              <a:grpSpLocks/>
            </p:cNvGrpSpPr>
            <p:nvPr/>
          </p:nvGrpSpPr>
          <p:grpSpPr bwMode="auto">
            <a:xfrm>
              <a:off x="672" y="1296"/>
              <a:ext cx="3984" cy="2064"/>
              <a:chOff x="624" y="1152"/>
              <a:chExt cx="3984" cy="2064"/>
            </a:xfrm>
          </p:grpSpPr>
          <p:sp>
            <p:nvSpPr>
              <p:cNvPr id="24585" name="Rectangle 6"/>
              <p:cNvSpPr>
                <a:spLocks noChangeArrowheads="1"/>
              </p:cNvSpPr>
              <p:nvPr/>
            </p:nvSpPr>
            <p:spPr bwMode="auto">
              <a:xfrm>
                <a:off x="2640" y="1152"/>
                <a:ext cx="480" cy="1968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sz="1400" b="1"/>
                  <a:t>Hệ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 b="1"/>
                  <a:t>Thống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 b="1"/>
                  <a:t>Quản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 b="1"/>
                  <a:t>Lý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 b="1"/>
                  <a:t>Tập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 b="1"/>
                  <a:t>Tin </a:t>
                </a:r>
              </a:p>
            </p:txBody>
          </p:sp>
          <p:grpSp>
            <p:nvGrpSpPr>
              <p:cNvPr id="24586" name="Group 7"/>
              <p:cNvGrpSpPr>
                <a:grpSpLocks/>
              </p:cNvGrpSpPr>
              <p:nvPr/>
            </p:nvGrpSpPr>
            <p:grpSpPr bwMode="auto">
              <a:xfrm>
                <a:off x="624" y="1296"/>
                <a:ext cx="1584" cy="384"/>
                <a:chOff x="480" y="1632"/>
                <a:chExt cx="1584" cy="384"/>
              </a:xfrm>
            </p:grpSpPr>
            <p:sp>
              <p:nvSpPr>
                <p:cNvPr id="24605" name="Rectangle 8"/>
                <p:cNvSpPr>
                  <a:spLocks noChangeArrowheads="1"/>
                </p:cNvSpPr>
                <p:nvPr/>
              </p:nvSpPr>
              <p:spPr bwMode="auto">
                <a:xfrm>
                  <a:off x="480" y="1632"/>
                  <a:ext cx="1536" cy="384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4606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0" y="1632"/>
                  <a:ext cx="1584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 b="1"/>
                    <a:t>Chương trình ứng dụng 1</a:t>
                  </a:r>
                </a:p>
              </p:txBody>
            </p:sp>
            <p:sp>
              <p:nvSpPr>
                <p:cNvPr id="24607" name="Rectangle 10"/>
                <p:cNvSpPr>
                  <a:spLocks noChangeArrowheads="1"/>
                </p:cNvSpPr>
                <p:nvPr/>
              </p:nvSpPr>
              <p:spPr bwMode="auto">
                <a:xfrm>
                  <a:off x="864" y="1824"/>
                  <a:ext cx="1152" cy="192"/>
                </a:xfrm>
                <a:prstGeom prst="rect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/>
                    <a:t>Quản lý dữ liệu</a:t>
                  </a:r>
                </a:p>
              </p:txBody>
            </p:sp>
          </p:grpSp>
          <p:grpSp>
            <p:nvGrpSpPr>
              <p:cNvPr id="24587" name="Group 11"/>
              <p:cNvGrpSpPr>
                <a:grpSpLocks/>
              </p:cNvGrpSpPr>
              <p:nvPr/>
            </p:nvGrpSpPr>
            <p:grpSpPr bwMode="auto">
              <a:xfrm>
                <a:off x="624" y="1920"/>
                <a:ext cx="1584" cy="384"/>
                <a:chOff x="480" y="2256"/>
                <a:chExt cx="1584" cy="384"/>
              </a:xfrm>
            </p:grpSpPr>
            <p:sp>
              <p:nvSpPr>
                <p:cNvPr id="24602" name="Rectangle 12"/>
                <p:cNvSpPr>
                  <a:spLocks noChangeArrowheads="1"/>
                </p:cNvSpPr>
                <p:nvPr/>
              </p:nvSpPr>
              <p:spPr bwMode="auto">
                <a:xfrm>
                  <a:off x="480" y="2256"/>
                  <a:ext cx="1536" cy="384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460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80" y="2256"/>
                  <a:ext cx="1584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 b="1"/>
                    <a:t>Chương trình ứng dụng 2</a:t>
                  </a:r>
                </a:p>
              </p:txBody>
            </p:sp>
            <p:sp>
              <p:nvSpPr>
                <p:cNvPr id="24604" name="Rectangle 14"/>
                <p:cNvSpPr>
                  <a:spLocks noChangeArrowheads="1"/>
                </p:cNvSpPr>
                <p:nvPr/>
              </p:nvSpPr>
              <p:spPr bwMode="auto">
                <a:xfrm>
                  <a:off x="864" y="2448"/>
                  <a:ext cx="1152" cy="192"/>
                </a:xfrm>
                <a:prstGeom prst="rect">
                  <a:avLst/>
                </a:prstGeom>
                <a:solidFill>
                  <a:srgbClr val="FF99CC"/>
                </a:solidFill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/>
                    <a:t>Quản lý dữ liệu</a:t>
                  </a:r>
                </a:p>
              </p:txBody>
            </p:sp>
          </p:grpSp>
          <p:grpSp>
            <p:nvGrpSpPr>
              <p:cNvPr id="24588" name="Group 15"/>
              <p:cNvGrpSpPr>
                <a:grpSpLocks/>
              </p:cNvGrpSpPr>
              <p:nvPr/>
            </p:nvGrpSpPr>
            <p:grpSpPr bwMode="auto">
              <a:xfrm>
                <a:off x="624" y="2544"/>
                <a:ext cx="1584" cy="384"/>
                <a:chOff x="480" y="2928"/>
                <a:chExt cx="1584" cy="384"/>
              </a:xfrm>
            </p:grpSpPr>
            <p:sp>
              <p:nvSpPr>
                <p:cNvPr id="24599" name="Rectangle 16"/>
                <p:cNvSpPr>
                  <a:spLocks noChangeArrowheads="1"/>
                </p:cNvSpPr>
                <p:nvPr/>
              </p:nvSpPr>
              <p:spPr bwMode="auto">
                <a:xfrm>
                  <a:off x="480" y="2928"/>
                  <a:ext cx="1536" cy="384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460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80" y="2928"/>
                  <a:ext cx="1584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 b="1"/>
                    <a:t>Chương trình ứng dụng 3</a:t>
                  </a:r>
                </a:p>
              </p:txBody>
            </p:sp>
            <p:sp>
              <p:nvSpPr>
                <p:cNvPr id="24601" name="Rectangle 18"/>
                <p:cNvSpPr>
                  <a:spLocks noChangeArrowheads="1"/>
                </p:cNvSpPr>
                <p:nvPr/>
              </p:nvSpPr>
              <p:spPr bwMode="auto">
                <a:xfrm>
                  <a:off x="864" y="3120"/>
                  <a:ext cx="1152" cy="192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/>
                    <a:t>Quản lý dữ liệu</a:t>
                  </a:r>
                </a:p>
              </p:txBody>
            </p:sp>
          </p:grpSp>
          <p:grpSp>
            <p:nvGrpSpPr>
              <p:cNvPr id="24589" name="Group 19"/>
              <p:cNvGrpSpPr>
                <a:grpSpLocks/>
              </p:cNvGrpSpPr>
              <p:nvPr/>
            </p:nvGrpSpPr>
            <p:grpSpPr bwMode="auto">
              <a:xfrm>
                <a:off x="3648" y="1200"/>
                <a:ext cx="960" cy="2016"/>
                <a:chOff x="4176" y="1248"/>
                <a:chExt cx="960" cy="2016"/>
              </a:xfrm>
            </p:grpSpPr>
            <p:sp>
              <p:nvSpPr>
                <p:cNvPr id="24596" name="AutoShape 20"/>
                <p:cNvSpPr>
                  <a:spLocks noChangeArrowheads="1"/>
                </p:cNvSpPr>
                <p:nvPr/>
              </p:nvSpPr>
              <p:spPr bwMode="auto">
                <a:xfrm>
                  <a:off x="4704" y="1728"/>
                  <a:ext cx="432" cy="912"/>
                </a:xfrm>
                <a:prstGeom prst="flowChartMultidocumen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 b="1"/>
                    <a:t>Tập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400" b="1"/>
                    <a:t>tin</a:t>
                  </a:r>
                </a:p>
              </p:txBody>
            </p:sp>
            <p:sp>
              <p:nvSpPr>
                <p:cNvPr id="24597" name="AutoShape 21"/>
                <p:cNvSpPr>
                  <a:spLocks noChangeArrowheads="1"/>
                </p:cNvSpPr>
                <p:nvPr/>
              </p:nvSpPr>
              <p:spPr bwMode="auto">
                <a:xfrm>
                  <a:off x="4224" y="1248"/>
                  <a:ext cx="432" cy="912"/>
                </a:xfrm>
                <a:prstGeom prst="flowChartMultidocument">
                  <a:avLst/>
                </a:prstGeom>
                <a:solidFill>
                  <a:srgbClr val="99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 b="1"/>
                    <a:t>Tập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400" b="1"/>
                    <a:t>tin</a:t>
                  </a:r>
                </a:p>
              </p:txBody>
            </p:sp>
            <p:sp>
              <p:nvSpPr>
                <p:cNvPr id="24598" name="AutoShape 22"/>
                <p:cNvSpPr>
                  <a:spLocks noChangeArrowheads="1"/>
                </p:cNvSpPr>
                <p:nvPr/>
              </p:nvSpPr>
              <p:spPr bwMode="auto">
                <a:xfrm>
                  <a:off x="4176" y="2352"/>
                  <a:ext cx="432" cy="912"/>
                </a:xfrm>
                <a:prstGeom prst="flowChartMultidocument">
                  <a:avLst/>
                </a:prstGeom>
                <a:solidFill>
                  <a:srgbClr val="FFFF9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 b="1"/>
                    <a:t>Tập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400" b="1"/>
                    <a:t>tin</a:t>
                  </a:r>
                </a:p>
              </p:txBody>
            </p:sp>
          </p:grpSp>
          <p:sp>
            <p:nvSpPr>
              <p:cNvPr id="24590" name="Line 23"/>
              <p:cNvSpPr>
                <a:spLocks noChangeShapeType="1"/>
              </p:cNvSpPr>
              <p:nvPr/>
            </p:nvSpPr>
            <p:spPr bwMode="auto">
              <a:xfrm>
                <a:off x="2160" y="1440"/>
                <a:ext cx="48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4591" name="Line 24"/>
              <p:cNvSpPr>
                <a:spLocks noChangeShapeType="1"/>
              </p:cNvSpPr>
              <p:nvPr/>
            </p:nvSpPr>
            <p:spPr bwMode="auto">
              <a:xfrm flipV="1">
                <a:off x="2160" y="2448"/>
                <a:ext cx="48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4592" name="Line 25"/>
              <p:cNvSpPr>
                <a:spLocks noChangeShapeType="1"/>
              </p:cNvSpPr>
              <p:nvPr/>
            </p:nvSpPr>
            <p:spPr bwMode="auto">
              <a:xfrm flipV="1">
                <a:off x="2160" y="2112"/>
                <a:ext cx="48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4593" name="Line 26"/>
              <p:cNvSpPr>
                <a:spLocks noChangeShapeType="1"/>
              </p:cNvSpPr>
              <p:nvPr/>
            </p:nvSpPr>
            <p:spPr bwMode="auto">
              <a:xfrm>
                <a:off x="3120" y="1776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4594" name="Line 27"/>
              <p:cNvSpPr>
                <a:spLocks noChangeShapeType="1"/>
              </p:cNvSpPr>
              <p:nvPr/>
            </p:nvSpPr>
            <p:spPr bwMode="auto">
              <a:xfrm>
                <a:off x="3120" y="2736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4595" name="Line 28"/>
              <p:cNvSpPr>
                <a:spLocks noChangeShapeType="1"/>
              </p:cNvSpPr>
              <p:nvPr/>
            </p:nvSpPr>
            <p:spPr bwMode="auto">
              <a:xfrm>
                <a:off x="3120" y="2208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sp>
          <p:nvSpPr>
            <p:cNvPr id="24584" name="Text Box 29"/>
            <p:cNvSpPr txBox="1">
              <a:spLocks noChangeArrowheads="1"/>
            </p:cNvSpPr>
            <p:nvPr/>
          </p:nvSpPr>
          <p:spPr bwMode="auto">
            <a:xfrm>
              <a:off x="4224" y="2832"/>
              <a:ext cx="624" cy="2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Dữ liệu</a:t>
              </a:r>
            </a:p>
          </p:txBody>
        </p:sp>
      </p:grp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C2DED3-1798-4411-AF20-27651478DEFD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35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1.2 Quá trình phát triển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i="1"/>
              <a:t>Hạn chế:</a:t>
            </a:r>
          </a:p>
          <a:p>
            <a:pPr lvl="1"/>
            <a:r>
              <a:rPr lang="en-US"/>
              <a:t>Dữ liệu bị trùng lặp và dư thừa</a:t>
            </a:r>
          </a:p>
          <a:p>
            <a:pPr lvl="1"/>
            <a:r>
              <a:rPr lang="en-US"/>
              <a:t>Thiếu tính nhất quán giữa các dữ liệu</a:t>
            </a:r>
          </a:p>
          <a:p>
            <a:pPr lvl="1"/>
            <a:r>
              <a:rPr lang="en-US"/>
              <a:t>Khó khăn trong việc truy xuất</a:t>
            </a:r>
          </a:p>
          <a:p>
            <a:pPr lvl="1"/>
            <a:r>
              <a:rPr lang="en-US"/>
              <a:t>Việc chia sẻ dữ liệu bị hạn chế</a:t>
            </a:r>
          </a:p>
          <a:p>
            <a:pPr lvl="1"/>
            <a:r>
              <a:rPr lang="en-US"/>
              <a:t>Khó khôi phục khi có sự cố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1F5573-CF63-46AA-A0A3-758386054BDA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8CCAC2-054D-4C25-A88F-8CF4B88E0DC9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1.2 Quá trình phát triển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b="1"/>
              <a:t>Cơ sở dữ liệu (Database)</a:t>
            </a:r>
          </a:p>
          <a:p>
            <a:endParaRPr lang="en-US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D30FFF-47D9-40E2-AE32-52D1A074A9EF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  <p:grpSp>
        <p:nvGrpSpPr>
          <p:cNvPr id="26630" name="Group 34"/>
          <p:cNvGrpSpPr>
            <a:grpSpLocks/>
          </p:cNvGrpSpPr>
          <p:nvPr/>
        </p:nvGrpSpPr>
        <p:grpSpPr bwMode="auto">
          <a:xfrm>
            <a:off x="1219200" y="2209800"/>
            <a:ext cx="6172200" cy="3124200"/>
            <a:chOff x="672" y="1296"/>
            <a:chExt cx="3888" cy="1968"/>
          </a:xfrm>
        </p:grpSpPr>
        <p:sp>
          <p:nvSpPr>
            <p:cNvPr id="26631" name="Rectangle 6"/>
            <p:cNvSpPr>
              <a:spLocks noChangeArrowheads="1"/>
            </p:cNvSpPr>
            <p:nvPr/>
          </p:nvSpPr>
          <p:spPr bwMode="auto">
            <a:xfrm>
              <a:off x="2688" y="1296"/>
              <a:ext cx="624" cy="196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400" b="1"/>
                <a:t>Hệ</a:t>
              </a:r>
            </a:p>
            <a:p>
              <a:pPr>
                <a:spcBef>
                  <a:spcPct val="0"/>
                </a:spcBef>
              </a:pPr>
              <a:r>
                <a:rPr lang="en-US" sz="1400" b="1"/>
                <a:t>Quản</a:t>
              </a:r>
            </a:p>
            <a:p>
              <a:pPr>
                <a:spcBef>
                  <a:spcPct val="0"/>
                </a:spcBef>
              </a:pPr>
              <a:r>
                <a:rPr lang="en-US" sz="1400" b="1"/>
                <a:t>Trị</a:t>
              </a:r>
            </a:p>
            <a:p>
              <a:pPr>
                <a:spcBef>
                  <a:spcPct val="0"/>
                </a:spcBef>
              </a:pPr>
              <a:r>
                <a:rPr lang="en-US" sz="1400" b="1"/>
                <a:t>CSDL </a:t>
              </a:r>
            </a:p>
          </p:txBody>
        </p:sp>
        <p:grpSp>
          <p:nvGrpSpPr>
            <p:cNvPr id="26632" name="Group 7"/>
            <p:cNvGrpSpPr>
              <a:grpSpLocks/>
            </p:cNvGrpSpPr>
            <p:nvPr/>
          </p:nvGrpSpPr>
          <p:grpSpPr bwMode="auto">
            <a:xfrm>
              <a:off x="672" y="1440"/>
              <a:ext cx="1584" cy="384"/>
              <a:chOff x="480" y="1632"/>
              <a:chExt cx="1584" cy="384"/>
            </a:xfrm>
          </p:grpSpPr>
          <p:sp>
            <p:nvSpPr>
              <p:cNvPr id="26647" name="Rectangle 8"/>
              <p:cNvSpPr>
                <a:spLocks noChangeArrowheads="1"/>
              </p:cNvSpPr>
              <p:nvPr/>
            </p:nvSpPr>
            <p:spPr bwMode="auto">
              <a:xfrm>
                <a:off x="480" y="1632"/>
                <a:ext cx="1536" cy="384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6648" name="Text Box 9"/>
              <p:cNvSpPr txBox="1">
                <a:spLocks noChangeArrowheads="1"/>
              </p:cNvSpPr>
              <p:nvPr/>
            </p:nvSpPr>
            <p:spPr bwMode="auto">
              <a:xfrm>
                <a:off x="480" y="1632"/>
                <a:ext cx="158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b="1"/>
                  <a:t>Chương trình ứng dụng 1</a:t>
                </a:r>
              </a:p>
            </p:txBody>
          </p:sp>
          <p:sp>
            <p:nvSpPr>
              <p:cNvPr id="26649" name="Rectangle 10"/>
              <p:cNvSpPr>
                <a:spLocks noChangeArrowheads="1"/>
              </p:cNvSpPr>
              <p:nvPr/>
            </p:nvSpPr>
            <p:spPr bwMode="auto">
              <a:xfrm>
                <a:off x="864" y="1824"/>
                <a:ext cx="1152" cy="192"/>
              </a:xfrm>
              <a:prstGeom prst="rect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sz="1400"/>
                  <a:t>Quản lý dữ liệu</a:t>
                </a:r>
              </a:p>
            </p:txBody>
          </p:sp>
        </p:grpSp>
        <p:grpSp>
          <p:nvGrpSpPr>
            <p:cNvPr id="26633" name="Group 11"/>
            <p:cNvGrpSpPr>
              <a:grpSpLocks/>
            </p:cNvGrpSpPr>
            <p:nvPr/>
          </p:nvGrpSpPr>
          <p:grpSpPr bwMode="auto">
            <a:xfrm>
              <a:off x="672" y="2064"/>
              <a:ext cx="1584" cy="384"/>
              <a:chOff x="480" y="2256"/>
              <a:chExt cx="1584" cy="384"/>
            </a:xfrm>
          </p:grpSpPr>
          <p:sp>
            <p:nvSpPr>
              <p:cNvPr id="26644" name="Rectangle 12"/>
              <p:cNvSpPr>
                <a:spLocks noChangeArrowheads="1"/>
              </p:cNvSpPr>
              <p:nvPr/>
            </p:nvSpPr>
            <p:spPr bwMode="auto">
              <a:xfrm>
                <a:off x="480" y="2256"/>
                <a:ext cx="1536" cy="384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6645" name="Text Box 13"/>
              <p:cNvSpPr txBox="1">
                <a:spLocks noChangeArrowheads="1"/>
              </p:cNvSpPr>
              <p:nvPr/>
            </p:nvSpPr>
            <p:spPr bwMode="auto">
              <a:xfrm>
                <a:off x="480" y="2256"/>
                <a:ext cx="158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b="1"/>
                  <a:t>Chương trình ứng dụng 2</a:t>
                </a:r>
              </a:p>
            </p:txBody>
          </p:sp>
          <p:sp>
            <p:nvSpPr>
              <p:cNvPr id="26646" name="Rectangle 14"/>
              <p:cNvSpPr>
                <a:spLocks noChangeArrowheads="1"/>
              </p:cNvSpPr>
              <p:nvPr/>
            </p:nvSpPr>
            <p:spPr bwMode="auto">
              <a:xfrm>
                <a:off x="864" y="2448"/>
                <a:ext cx="1152" cy="192"/>
              </a:xfrm>
              <a:prstGeom prst="rect">
                <a:avLst/>
              </a:prstGeom>
              <a:solidFill>
                <a:srgbClr val="FF99CC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sz="1400"/>
                  <a:t>Quản lý dữ liệu</a:t>
                </a:r>
              </a:p>
            </p:txBody>
          </p:sp>
        </p:grpSp>
        <p:grpSp>
          <p:nvGrpSpPr>
            <p:cNvPr id="26634" name="Group 15"/>
            <p:cNvGrpSpPr>
              <a:grpSpLocks/>
            </p:cNvGrpSpPr>
            <p:nvPr/>
          </p:nvGrpSpPr>
          <p:grpSpPr bwMode="auto">
            <a:xfrm>
              <a:off x="672" y="2688"/>
              <a:ext cx="1584" cy="384"/>
              <a:chOff x="480" y="2928"/>
              <a:chExt cx="1584" cy="384"/>
            </a:xfrm>
          </p:grpSpPr>
          <p:sp>
            <p:nvSpPr>
              <p:cNvPr id="26641" name="Rectangle 16"/>
              <p:cNvSpPr>
                <a:spLocks noChangeArrowheads="1"/>
              </p:cNvSpPr>
              <p:nvPr/>
            </p:nvSpPr>
            <p:spPr bwMode="auto">
              <a:xfrm>
                <a:off x="480" y="2928"/>
                <a:ext cx="1536" cy="384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26642" name="Text Box 17"/>
              <p:cNvSpPr txBox="1">
                <a:spLocks noChangeArrowheads="1"/>
              </p:cNvSpPr>
              <p:nvPr/>
            </p:nvSpPr>
            <p:spPr bwMode="auto">
              <a:xfrm>
                <a:off x="480" y="2928"/>
                <a:ext cx="158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b="1"/>
                  <a:t>Chương trình ứng dụng 3</a:t>
                </a:r>
              </a:p>
            </p:txBody>
          </p:sp>
          <p:sp>
            <p:nvSpPr>
              <p:cNvPr id="26643" name="Rectangle 18"/>
              <p:cNvSpPr>
                <a:spLocks noChangeArrowheads="1"/>
              </p:cNvSpPr>
              <p:nvPr/>
            </p:nvSpPr>
            <p:spPr bwMode="auto">
              <a:xfrm>
                <a:off x="864" y="3120"/>
                <a:ext cx="1152" cy="192"/>
              </a:xfrm>
              <a:prstGeom prst="rect">
                <a:avLst/>
              </a:prstGeom>
              <a:solidFill>
                <a:srgbClr val="FFFF99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sz="1400"/>
                  <a:t>Quản lý dữ liệu</a:t>
                </a:r>
              </a:p>
            </p:txBody>
          </p:sp>
        </p:grpSp>
        <p:sp>
          <p:nvSpPr>
            <p:cNvPr id="26635" name="Line 23"/>
            <p:cNvSpPr>
              <a:spLocks noChangeShapeType="1"/>
            </p:cNvSpPr>
            <p:nvPr/>
          </p:nvSpPr>
          <p:spPr bwMode="auto">
            <a:xfrm>
              <a:off x="2208" y="1584"/>
              <a:ext cx="48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6636" name="Line 24"/>
            <p:cNvSpPr>
              <a:spLocks noChangeShapeType="1"/>
            </p:cNvSpPr>
            <p:nvPr/>
          </p:nvSpPr>
          <p:spPr bwMode="auto">
            <a:xfrm flipV="1">
              <a:off x="2208" y="2592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6637" name="Line 25"/>
            <p:cNvSpPr>
              <a:spLocks noChangeShapeType="1"/>
            </p:cNvSpPr>
            <p:nvPr/>
          </p:nvSpPr>
          <p:spPr bwMode="auto">
            <a:xfrm flipV="1">
              <a:off x="2208" y="2256"/>
              <a:ext cx="48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6638" name="Line 27"/>
            <p:cNvSpPr>
              <a:spLocks noChangeShapeType="1"/>
            </p:cNvSpPr>
            <p:nvPr/>
          </p:nvSpPr>
          <p:spPr bwMode="auto">
            <a:xfrm>
              <a:off x="3312" y="225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6639" name="AutoShape 32"/>
            <p:cNvSpPr>
              <a:spLocks noChangeArrowheads="1"/>
            </p:cNvSpPr>
            <p:nvPr/>
          </p:nvSpPr>
          <p:spPr bwMode="auto">
            <a:xfrm>
              <a:off x="3840" y="1776"/>
              <a:ext cx="720" cy="1008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26640" name="Text Box 33"/>
            <p:cNvSpPr txBox="1">
              <a:spLocks noChangeArrowheads="1"/>
            </p:cNvSpPr>
            <p:nvPr/>
          </p:nvSpPr>
          <p:spPr bwMode="auto">
            <a:xfrm>
              <a:off x="3840" y="225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/>
                <a:t>CSDL</a:t>
              </a:r>
            </a:p>
          </p:txBody>
        </p:sp>
      </p:grp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4F991B-BB8E-48DB-93E5-50762FA25331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2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1.2 Quá trình phát triển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dirty="0"/>
              <a:t>1960: </a:t>
            </a:r>
            <a:r>
              <a:rPr lang="en-US" dirty="0" err="1"/>
              <a:t>Hệ</a:t>
            </a:r>
            <a:r>
              <a:rPr lang="en-US" dirty="0"/>
              <a:t> QTCSDL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,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: IMS </a:t>
            </a:r>
            <a:r>
              <a:rPr lang="en-US" sz="1600" dirty="0"/>
              <a:t>(Information Management System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IBM; IDS </a:t>
            </a:r>
            <a:r>
              <a:rPr lang="en-US" sz="2000" dirty="0"/>
              <a:t>(</a:t>
            </a:r>
            <a:r>
              <a:rPr lang="en-US" sz="2000" dirty="0" err="1"/>
              <a:t>Integated</a:t>
            </a:r>
            <a:r>
              <a:rPr lang="en-US" sz="2000" dirty="0"/>
              <a:t> Data Store -  </a:t>
            </a:r>
            <a:r>
              <a:rPr lang="en-US" sz="2000" dirty="0">
                <a:solidFill>
                  <a:schemeClr val="tx2"/>
                </a:solidFill>
                <a:hlinkClick r:id="rId3" tooltip="Charles Bachm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Charles Bachman</a:t>
            </a:r>
            <a:r>
              <a:rPr lang="en-US" sz="2000" dirty="0">
                <a:solidFill>
                  <a:schemeClr val="tx2"/>
                </a:solidFill>
              </a:rPr>
              <a:t>, </a:t>
            </a:r>
            <a:r>
              <a:rPr lang="en-US" sz="2000" dirty="0">
                <a:solidFill>
                  <a:schemeClr val="tx2"/>
                </a:solidFill>
                <a:hlinkClick r:id="rId4" tooltip="General Electri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General Electric</a:t>
            </a:r>
            <a:r>
              <a:rPr lang="en-US" sz="2000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, 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 Turing 1973</a:t>
            </a:r>
            <a:r>
              <a:rPr lang="vi-VN" altLang="en-US" sz="2800" dirty="0"/>
              <a:t>; </a:t>
            </a:r>
            <a:endParaRPr lang="en-US" altLang="en-US" sz="2800" dirty="0"/>
          </a:p>
          <a:p>
            <a:r>
              <a:rPr lang="en-US" dirty="0"/>
              <a:t>1976: HQTCSDL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(System – R) </a:t>
            </a:r>
            <a:r>
              <a:rPr lang="en-US" dirty="0" err="1"/>
              <a:t>của</a:t>
            </a:r>
            <a:r>
              <a:rPr lang="en-US" dirty="0"/>
              <a:t> IBM, do Codd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; </a:t>
            </a:r>
            <a:r>
              <a:rPr lang="en-US" dirty="0" err="1"/>
              <a:t>giải</a:t>
            </a:r>
            <a:r>
              <a:rPr lang="en-US" dirty="0"/>
              <a:t> Turing 1981; </a:t>
            </a:r>
          </a:p>
          <a:p>
            <a:r>
              <a:rPr lang="en-US" dirty="0" err="1"/>
              <a:t>Từ</a:t>
            </a:r>
            <a:r>
              <a:rPr lang="en-US" dirty="0"/>
              <a:t> 1980 </a:t>
            </a:r>
            <a:r>
              <a:rPr lang="en-US" dirty="0" err="1"/>
              <a:t>nhiều</a:t>
            </a:r>
            <a:r>
              <a:rPr lang="en-US" dirty="0"/>
              <a:t> HQTCSDL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: Oracle, DB2, Access, </a:t>
            </a:r>
            <a:r>
              <a:rPr lang="en-US" dirty="0" err="1"/>
              <a:t>Foxpro</a:t>
            </a:r>
            <a:r>
              <a:rPr lang="en-US" dirty="0"/>
              <a:t>, Paradox, </a:t>
            </a:r>
            <a:r>
              <a:rPr lang="vi-VN" dirty="0"/>
              <a:t>MySQL,</a:t>
            </a:r>
            <a:r>
              <a:rPr lang="en-US" dirty="0"/>
              <a:t>..</a:t>
            </a:r>
          </a:p>
          <a:p>
            <a:r>
              <a:rPr lang="en-US" dirty="0" err="1"/>
              <a:t>Từ</a:t>
            </a:r>
            <a:r>
              <a:rPr lang="en-US" dirty="0"/>
              <a:t> 1990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HQTCSDL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CSDL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NoSQL</a:t>
            </a:r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D30FFF-47D9-40E2-AE32-52D1A074A9EF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1B938B-E9C0-48DA-BBF5-3D4FA07DF8E1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8" name="Picture 3"/>
          <p:cNvPicPr preferRelativeResize="0"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Nội dung chi tiết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305800" cy="556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777777"/>
                </a:solidFill>
              </a:rPr>
              <a:t>Mở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đầu</a:t>
            </a:r>
            <a:endParaRPr lang="en-US" dirty="0">
              <a:solidFill>
                <a:srgbClr val="777777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777777"/>
                </a:solidFill>
              </a:rPr>
              <a:t>Quá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trình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phát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triển</a:t>
            </a:r>
            <a:endParaRPr lang="en-US" dirty="0">
              <a:solidFill>
                <a:srgbClr val="777777"/>
              </a:solidFill>
            </a:endParaRPr>
          </a:p>
          <a:p>
            <a:pPr>
              <a:lnSpc>
                <a:spcPct val="90000"/>
              </a:lnSpc>
            </a:pP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CSDL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quán</a:t>
            </a:r>
            <a:endParaRPr lang="en-US" dirty="0"/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endParaRPr lang="en-US" dirty="0"/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 dirty="0" err="1"/>
              <a:t>Chia</a:t>
            </a:r>
            <a:r>
              <a:rPr lang="en-US" dirty="0"/>
              <a:t>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777777"/>
                </a:solidFill>
              </a:rPr>
              <a:t>Người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sử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dụng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777777"/>
                </a:solidFill>
              </a:rPr>
              <a:t>Kiến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trúc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HQT CSDL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777777"/>
                </a:solidFill>
              </a:rPr>
              <a:t>Các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tính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năng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HQT CSDL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777777"/>
                </a:solidFill>
              </a:rPr>
              <a:t>Ngôn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ngữ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3E3E12-84E6-47FD-B13C-4066643C542F}" type="slidenum">
              <a:rPr lang="en-US" altLang="en-US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4DF9BC-D5C2-45F6-9852-07B669008F3E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</p:spTree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838200"/>
          </a:xfrm>
        </p:spPr>
        <p:txBody>
          <a:bodyPr/>
          <a:lstStyle/>
          <a:p>
            <a:r>
              <a:rPr lang="en-US" sz="3200" b="1"/>
              <a:t>1.3- Một số đặc tính của CSDL</a:t>
            </a:r>
            <a:endParaRPr lang="en-US" sz="3500">
              <a:solidFill>
                <a:schemeClr val="accent1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err="1"/>
              <a:t>Hệ</a:t>
            </a:r>
            <a:r>
              <a:rPr lang="en-US" dirty="0"/>
              <a:t> CSDL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CSDL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i="1" dirty="0" err="1"/>
              <a:t>định</a:t>
            </a:r>
            <a:r>
              <a:rPr lang="en-US" i="1" dirty="0"/>
              <a:t> </a:t>
            </a:r>
            <a:r>
              <a:rPr lang="en-US" i="1" dirty="0" err="1"/>
              <a:t>nghĩa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CSDL</a:t>
            </a:r>
          </a:p>
          <a:p>
            <a:pPr>
              <a:buFont typeface="Arial" pitchFamily="34" charset="0"/>
              <a:buChar char="•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i="1" dirty="0"/>
              <a:t>catalog </a:t>
            </a:r>
            <a:r>
              <a:rPr lang="en-US" dirty="0"/>
              <a:t>: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tin,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catalog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i="1" dirty="0"/>
              <a:t>meta-data</a:t>
            </a:r>
            <a:r>
              <a:rPr lang="en-US" dirty="0"/>
              <a:t> (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  <a:endParaRPr lang="en-US" u="sng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CSDL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catalog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D948D4-8106-4307-ABDC-3FFE32839A62}" type="slidenum">
              <a:rPr lang="en-US" altLang="en-US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2B3D68-0ED8-4207-877A-B8A59E0A79E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04800" y="1066800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35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</a:t>
            </a:r>
            <a:r>
              <a:rPr kumimoji="0" lang="en-US" sz="3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ính tự mô tả</a:t>
            </a:r>
          </a:p>
        </p:txBody>
      </p:sp>
    </p:spTree>
  </p:cSld>
  <p:clrMapOvr>
    <a:masterClrMapping/>
  </p:clrMapOvr>
  <p:transition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90600"/>
            <a:ext cx="8229600" cy="62071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000">
                <a:solidFill>
                  <a:schemeClr val="accent1"/>
                </a:solidFill>
              </a:rPr>
              <a:t>   </a:t>
            </a:r>
            <a:r>
              <a:rPr lang="en-US" sz="3500" b="1" i="1">
                <a:solidFill>
                  <a:schemeClr val="accent1"/>
                </a:solidFill>
              </a:rPr>
              <a:t>Tính độc lập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6482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err="1"/>
              <a:t>đối</a:t>
            </a:r>
            <a:r>
              <a:rPr lang="en-US"/>
              <a:t> (</a:t>
            </a:r>
            <a:r>
              <a:rPr lang="en-US" dirty="0"/>
              <a:t>v</a:t>
            </a:r>
            <a:r>
              <a:rPr lang="en-US"/>
              <a:t>ì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CSDL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catalog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u="sng" dirty="0" err="1"/>
              <a:t>nhỏ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ta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A779F4-6885-4207-BD2B-E0C1853AA384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  <p:grpSp>
        <p:nvGrpSpPr>
          <p:cNvPr id="29702" name="Group 13"/>
          <p:cNvGrpSpPr>
            <a:grpSpLocks/>
          </p:cNvGrpSpPr>
          <p:nvPr/>
        </p:nvGrpSpPr>
        <p:grpSpPr bwMode="auto">
          <a:xfrm>
            <a:off x="2209800" y="3962400"/>
            <a:ext cx="3429000" cy="1293812"/>
            <a:chOff x="1872" y="2352"/>
            <a:chExt cx="2160" cy="815"/>
          </a:xfrm>
        </p:grpSpPr>
        <p:sp>
          <p:nvSpPr>
            <p:cNvPr id="29703" name="Text Box 8"/>
            <p:cNvSpPr txBox="1">
              <a:spLocks noChangeArrowheads="1"/>
            </p:cNvSpPr>
            <p:nvPr/>
          </p:nvSpPr>
          <p:spPr bwMode="auto">
            <a:xfrm>
              <a:off x="1872" y="2640"/>
              <a:ext cx="67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Độc lập</a:t>
              </a:r>
            </a:p>
          </p:txBody>
        </p:sp>
        <p:sp>
          <p:nvSpPr>
            <p:cNvPr id="29704" name="Text Box 9"/>
            <p:cNvSpPr txBox="1">
              <a:spLocks noChangeArrowheads="1"/>
            </p:cNvSpPr>
            <p:nvPr/>
          </p:nvSpPr>
          <p:spPr bwMode="auto">
            <a:xfrm>
              <a:off x="2784" y="2352"/>
              <a:ext cx="1056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Chương trình</a:t>
              </a:r>
            </a:p>
          </p:txBody>
        </p:sp>
        <p:sp>
          <p:nvSpPr>
            <p:cNvPr id="29705" name="Text Box 10"/>
            <p:cNvSpPr txBox="1">
              <a:spLocks noChangeArrowheads="1"/>
            </p:cNvSpPr>
            <p:nvPr/>
          </p:nvSpPr>
          <p:spPr bwMode="auto">
            <a:xfrm>
              <a:off x="2784" y="2928"/>
              <a:ext cx="1056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dirty="0" err="1"/>
                <a:t>Dữ</a:t>
              </a:r>
              <a:r>
                <a:rPr lang="en-US" dirty="0"/>
                <a:t> </a:t>
              </a:r>
              <a:r>
                <a:rPr lang="en-US" dirty="0" err="1"/>
                <a:t>liệu</a:t>
              </a:r>
              <a:endParaRPr lang="en-US" dirty="0"/>
            </a:p>
          </p:txBody>
        </p:sp>
        <p:sp>
          <p:nvSpPr>
            <p:cNvPr id="29706" name="Line 12"/>
            <p:cNvSpPr>
              <a:spLocks noChangeShapeType="1"/>
            </p:cNvSpPr>
            <p:nvPr/>
          </p:nvSpPr>
          <p:spPr bwMode="auto">
            <a:xfrm>
              <a:off x="2592" y="2784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8A016A-8BF7-4F1C-BBC8-CED2014E504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14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457200" y="1524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1.3 - Một số đặc tính của CSDL</a:t>
            </a: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800" b="1" i="1" dirty="0" err="1"/>
              <a:t>Tính</a:t>
            </a:r>
            <a:r>
              <a:rPr lang="en-US" sz="2800" b="1" i="1" dirty="0"/>
              <a:t> </a:t>
            </a:r>
            <a:r>
              <a:rPr lang="en-US" sz="2800" b="1" i="1" dirty="0" err="1"/>
              <a:t>trừu</a:t>
            </a:r>
            <a:r>
              <a:rPr lang="en-US" sz="2800" b="1" i="1" dirty="0"/>
              <a:t> </a:t>
            </a:r>
            <a:r>
              <a:rPr lang="en-US" sz="2800" b="1" i="1" dirty="0" err="1"/>
              <a:t>tượng</a:t>
            </a:r>
            <a:r>
              <a:rPr lang="en-US" sz="2800" dirty="0"/>
              <a:t>: 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Cho phép trình bày dữ liệu ở một mức trừu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nhằm che bớt những chi tiết lưu trữ vật lý của dữ liệu.</a:t>
            </a:r>
            <a:endParaRPr lang="en-US" sz="3200" dirty="0"/>
          </a:p>
          <a:p>
            <a:pPr>
              <a:buFont typeface="Wingdings" pitchFamily="2" charset="2"/>
              <a:buChar char="§"/>
            </a:pPr>
            <a:r>
              <a:rPr lang="en-US" sz="2800" b="1" i="1" dirty="0" err="1"/>
              <a:t>Tính</a:t>
            </a:r>
            <a:r>
              <a:rPr lang="en-US" sz="2800" b="1" i="1" dirty="0"/>
              <a:t> </a:t>
            </a:r>
            <a:r>
              <a:rPr lang="en-US" sz="2800" b="1" i="1" dirty="0" err="1"/>
              <a:t>nhất</a:t>
            </a:r>
            <a:r>
              <a:rPr lang="en-US" sz="2800" b="1" i="1" dirty="0"/>
              <a:t> </a:t>
            </a:r>
            <a:r>
              <a:rPr lang="en-US" sz="2800" b="1" i="1" dirty="0" err="1"/>
              <a:t>quán</a:t>
            </a:r>
            <a:r>
              <a:rPr lang="en-US" sz="2800" dirty="0"/>
              <a:t>: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lvl="2">
              <a:buFont typeface="Wingdings" pitchFamily="2" charset="2"/>
              <a:buChar char="ü"/>
            </a:pPr>
            <a:r>
              <a:rPr lang="en-US" sz="1700" dirty="0" err="1"/>
              <a:t>Tránh</a:t>
            </a:r>
            <a:r>
              <a:rPr lang="en-US" sz="1700" dirty="0"/>
              <a:t> </a:t>
            </a:r>
            <a:r>
              <a:rPr lang="en-US" sz="1700" dirty="0" err="1"/>
              <a:t>được</a:t>
            </a:r>
            <a:r>
              <a:rPr lang="en-US" sz="1700" dirty="0"/>
              <a:t> </a:t>
            </a:r>
            <a:r>
              <a:rPr lang="en-US" sz="1700" dirty="0" err="1"/>
              <a:t>việc</a:t>
            </a:r>
            <a:r>
              <a:rPr lang="en-US" sz="1700" dirty="0"/>
              <a:t> </a:t>
            </a:r>
            <a:r>
              <a:rPr lang="en-US" sz="1700" dirty="0" err="1"/>
              <a:t>tranh</a:t>
            </a:r>
            <a:r>
              <a:rPr lang="en-US" sz="1700" dirty="0"/>
              <a:t> </a:t>
            </a:r>
            <a:r>
              <a:rPr lang="en-US" sz="1700" dirty="0" err="1"/>
              <a:t>chấp</a:t>
            </a:r>
            <a:r>
              <a:rPr lang="en-US" sz="1700" dirty="0"/>
              <a:t> </a:t>
            </a:r>
            <a:r>
              <a:rPr lang="en-US" sz="1700" dirty="0" err="1"/>
              <a:t>dữ</a:t>
            </a:r>
            <a:r>
              <a:rPr lang="en-US" sz="1700" dirty="0"/>
              <a:t> </a:t>
            </a:r>
            <a:r>
              <a:rPr lang="en-US" sz="1700" dirty="0" err="1"/>
              <a:t>liệu</a:t>
            </a:r>
            <a:endParaRPr lang="en-US" sz="1700" dirty="0"/>
          </a:p>
          <a:p>
            <a:pPr lvl="2">
              <a:buFont typeface="Wingdings" pitchFamily="2" charset="2"/>
              <a:buChar char="ü"/>
            </a:pPr>
            <a:r>
              <a:rPr lang="en-US" sz="1700" dirty="0" err="1"/>
              <a:t>Bảo</a:t>
            </a:r>
            <a:r>
              <a:rPr lang="en-US" sz="1700" dirty="0"/>
              <a:t> </a:t>
            </a:r>
            <a:r>
              <a:rPr lang="en-US" sz="1700" dirty="0" err="1"/>
              <a:t>đảm</a:t>
            </a:r>
            <a:r>
              <a:rPr lang="en-US" sz="1700" dirty="0"/>
              <a:t> </a:t>
            </a:r>
            <a:r>
              <a:rPr lang="en-US" sz="1700" dirty="0" err="1"/>
              <a:t>dữ</a:t>
            </a:r>
            <a:r>
              <a:rPr lang="en-US" sz="1700" dirty="0"/>
              <a:t> </a:t>
            </a:r>
            <a:r>
              <a:rPr lang="en-US" sz="1700" dirty="0" err="1"/>
              <a:t>liệu</a:t>
            </a:r>
            <a:r>
              <a:rPr lang="en-US" sz="1700" dirty="0"/>
              <a:t> </a:t>
            </a:r>
            <a:r>
              <a:rPr lang="en-US" sz="1700" dirty="0" err="1"/>
              <a:t>luôn</a:t>
            </a:r>
            <a:r>
              <a:rPr lang="en-US" sz="1700" dirty="0"/>
              <a:t> </a:t>
            </a:r>
            <a:r>
              <a:rPr lang="en-US" sz="1700" dirty="0" err="1"/>
              <a:t>đúng</a:t>
            </a:r>
            <a:r>
              <a:rPr lang="en-US" sz="1700" dirty="0"/>
              <a:t> </a:t>
            </a:r>
            <a:r>
              <a:rPr lang="en-US" sz="1700" dirty="0" err="1"/>
              <a:t>tại</a:t>
            </a:r>
            <a:r>
              <a:rPr lang="en-US" sz="1700" dirty="0"/>
              <a:t> </a:t>
            </a:r>
            <a:r>
              <a:rPr lang="en-US" sz="1700" dirty="0" err="1"/>
              <a:t>mọi</a:t>
            </a:r>
            <a:r>
              <a:rPr lang="en-US" sz="1700" dirty="0"/>
              <a:t> </a:t>
            </a:r>
            <a:r>
              <a:rPr lang="en-US" sz="1700" dirty="0" err="1"/>
              <a:t>thời</a:t>
            </a:r>
            <a:r>
              <a:rPr lang="en-US" sz="1700" dirty="0"/>
              <a:t> </a:t>
            </a:r>
            <a:r>
              <a:rPr lang="en-US" sz="1700" dirty="0" err="1"/>
              <a:t>điểm</a:t>
            </a:r>
            <a:endParaRPr lang="en-US" sz="1700" dirty="0"/>
          </a:p>
          <a:p>
            <a:pPr>
              <a:buFont typeface="Wingdings" pitchFamily="2" charset="2"/>
              <a:buChar char="§"/>
            </a:pPr>
            <a:r>
              <a:rPr lang="en-US" b="1" i="1" dirty="0" err="1"/>
              <a:t>Chia</a:t>
            </a:r>
            <a:r>
              <a:rPr lang="en-US" b="1" i="1" dirty="0"/>
              <a:t> </a:t>
            </a:r>
            <a:r>
              <a:rPr lang="en-US" b="1" i="1" dirty="0" err="1"/>
              <a:t>sẻ</a:t>
            </a:r>
            <a:r>
              <a:rPr lang="en-US" b="1" i="1" dirty="0"/>
              <a:t> </a:t>
            </a:r>
            <a:r>
              <a:rPr lang="en-US" b="1" i="1" dirty="0" err="1"/>
              <a:t>dữ</a:t>
            </a:r>
            <a:r>
              <a:rPr lang="en-US" b="1" i="1" dirty="0"/>
              <a:t> </a:t>
            </a:r>
            <a:r>
              <a:rPr lang="en-US" b="1" i="1" dirty="0" err="1"/>
              <a:t>liệu</a:t>
            </a:r>
            <a:r>
              <a:rPr lang="en-US" b="1" i="1" dirty="0"/>
              <a:t> </a:t>
            </a:r>
            <a:r>
              <a:rPr lang="en-US" b="1" i="1" dirty="0" err="1"/>
              <a:t>và</a:t>
            </a:r>
            <a:r>
              <a:rPr lang="en-US" b="1" i="1" dirty="0"/>
              <a:t> </a:t>
            </a:r>
            <a:r>
              <a:rPr lang="en-US" b="1" i="1" dirty="0" err="1"/>
              <a:t>nhiều</a:t>
            </a:r>
            <a:r>
              <a:rPr lang="en-US" b="1" i="1" dirty="0"/>
              <a:t> </a:t>
            </a:r>
            <a:r>
              <a:rPr lang="en-US" b="1" i="1" dirty="0" err="1"/>
              <a:t>người</a:t>
            </a:r>
            <a:r>
              <a:rPr lang="en-US" b="1" i="1" dirty="0"/>
              <a:t> </a:t>
            </a:r>
            <a:r>
              <a:rPr lang="en-US" b="1" i="1" dirty="0" err="1"/>
              <a:t>dùng</a:t>
            </a:r>
            <a:endParaRPr lang="en-US" b="1" i="1" dirty="0"/>
          </a:p>
          <a:p>
            <a:pPr lvl="1">
              <a:buFont typeface="Courier New" pitchFamily="49" charset="0"/>
              <a:buChar char="o"/>
            </a:pP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,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tương</a:t>
            </a:r>
            <a:r>
              <a:rPr lang="en-US" sz="2000" dirty="0"/>
              <a:t> </a:t>
            </a:r>
            <a:r>
              <a:rPr lang="en-US" sz="2000" dirty="0" err="1"/>
              <a:t>tranh</a:t>
            </a:r>
            <a:endParaRPr lang="en-US" sz="2000" dirty="0"/>
          </a:p>
          <a:p>
            <a:pPr lvl="1">
              <a:buFont typeface="Courier New" pitchFamily="49" charset="0"/>
              <a:buChar char="o"/>
            </a:pPr>
            <a:r>
              <a:rPr lang="en-US" sz="2000" dirty="0" err="1"/>
              <a:t>Đảm</a:t>
            </a:r>
            <a:r>
              <a:rPr lang="en-US" sz="2000" dirty="0"/>
              <a:t>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đúng</a:t>
            </a:r>
            <a:r>
              <a:rPr lang="en-US" sz="2000" dirty="0"/>
              <a:t> </a:t>
            </a:r>
            <a:r>
              <a:rPr lang="en-US" sz="2000" dirty="0" err="1"/>
              <a:t>đắn</a:t>
            </a:r>
            <a:r>
              <a:rPr lang="en-US" sz="2000" dirty="0"/>
              <a:t> </a:t>
            </a:r>
            <a:r>
              <a:rPr lang="en-US" sz="2000" dirty="0" err="1"/>
              <a:t>đối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1BB3A5-6195-456C-93C1-7BD0219152A1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A7556-8500-493A-833A-3BF7AD95EC9D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0480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 algn="l">
              <a:spcBef>
                <a:spcPct val="0"/>
              </a:spcBef>
              <a:defRPr/>
            </a:pPr>
            <a:r>
              <a:rPr lang="en-US" sz="2400" b="1">
                <a:solidFill>
                  <a:schemeClr val="tx2"/>
                </a:solidFill>
              </a:rPr>
              <a:t>1.3 -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Một số đặc tính của CSDL</a:t>
            </a: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800" b="1" i="1" dirty="0" err="1">
                <a:solidFill>
                  <a:schemeClr val="accent1"/>
                </a:solidFill>
              </a:rPr>
              <a:t>Hỗ</a:t>
            </a:r>
            <a:r>
              <a:rPr lang="en-US" sz="2800" b="1" i="1" dirty="0">
                <a:solidFill>
                  <a:schemeClr val="accent1"/>
                </a:solidFill>
              </a:rPr>
              <a:t> </a:t>
            </a:r>
            <a:r>
              <a:rPr lang="en-US" sz="2800" b="1" i="1" dirty="0" err="1">
                <a:solidFill>
                  <a:schemeClr val="accent1"/>
                </a:solidFill>
              </a:rPr>
              <a:t>trợ</a:t>
            </a:r>
            <a:r>
              <a:rPr lang="en-US" sz="2800" b="1" i="1" dirty="0">
                <a:solidFill>
                  <a:schemeClr val="accent1"/>
                </a:solidFill>
              </a:rPr>
              <a:t> </a:t>
            </a:r>
            <a:r>
              <a:rPr lang="en-US" sz="2800" b="1" i="1" dirty="0" err="1">
                <a:solidFill>
                  <a:schemeClr val="accent1"/>
                </a:solidFill>
              </a:rPr>
              <a:t>nhiều</a:t>
            </a:r>
            <a:r>
              <a:rPr lang="en-US" sz="2800" b="1" i="1" dirty="0">
                <a:solidFill>
                  <a:schemeClr val="accent1"/>
                </a:solidFill>
              </a:rPr>
              <a:t> </a:t>
            </a:r>
            <a:r>
              <a:rPr lang="en-US" sz="2800" b="1" i="1" err="1">
                <a:solidFill>
                  <a:schemeClr val="accent1"/>
                </a:solidFill>
              </a:rPr>
              <a:t>khung</a:t>
            </a:r>
            <a:r>
              <a:rPr lang="en-US" sz="2800" b="1" i="1">
                <a:solidFill>
                  <a:schemeClr val="accent1"/>
                </a:solidFill>
              </a:rPr>
              <a:t> nhìn</a:t>
            </a:r>
            <a:r>
              <a:rPr lang="vi-VN" sz="2800" b="1" i="1">
                <a:solidFill>
                  <a:schemeClr val="accent1"/>
                </a:solidFill>
              </a:rPr>
              <a:t> (view)</a:t>
            </a:r>
            <a:r>
              <a:rPr lang="en-US" sz="2800">
                <a:solidFill>
                  <a:schemeClr val="accent1"/>
                </a:solidFill>
              </a:rPr>
              <a:t>: </a:t>
            </a:r>
            <a:endParaRPr lang="en-US" sz="2800" dirty="0">
              <a:solidFill>
                <a:schemeClr val="accent1"/>
              </a:solidFill>
            </a:endParaRP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Hệ</a:t>
            </a:r>
            <a:r>
              <a:rPr lang="en-US" dirty="0"/>
              <a:t> CSDL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CSDL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đòi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(view)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CSDL</a:t>
            </a:r>
          </a:p>
          <a:p>
            <a:pPr lvl="1">
              <a:buFont typeface="Courier New" pitchFamily="49" charset="0"/>
              <a:buChar char="o"/>
            </a:pPr>
            <a:r>
              <a:rPr lang="en-US" err="1"/>
              <a:t>Khung</a:t>
            </a:r>
            <a:r>
              <a:rPr lang="en-US"/>
              <a:t> nhìn </a:t>
            </a:r>
            <a:r>
              <a:rPr lang="en-US" dirty="0"/>
              <a:t>: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CSDL </a:t>
            </a:r>
            <a:r>
              <a:rPr lang="en-US" dirty="0" err="1"/>
              <a:t>hoặc</a:t>
            </a:r>
            <a:r>
              <a:rPr lang="en-US" dirty="0"/>
              <a:t> 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CSDL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C21848-2FF0-400E-8B6F-6735017C51C8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2A3BD9-24EC-4ED6-8AC8-C0529B0CA57E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838200"/>
          </a:xfrm>
        </p:spPr>
        <p:txBody>
          <a:bodyPr/>
          <a:lstStyle/>
          <a:p>
            <a:r>
              <a:rPr lang="en-US" sz="3200" b="1"/>
              <a:t>1.3 - Một số đặc tính của CSDL</a:t>
            </a:r>
            <a:endParaRPr lang="en-US" sz="35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Nội dung chi tiết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05800" cy="5257800"/>
          </a:xfrm>
        </p:spPr>
        <p:txBody>
          <a:bodyPr/>
          <a:lstStyle/>
          <a:p>
            <a:r>
              <a:rPr lang="en-US" dirty="0" err="1">
                <a:solidFill>
                  <a:srgbClr val="777777"/>
                </a:solidFill>
              </a:rPr>
              <a:t>Mở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đầu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dirty="0" err="1">
                <a:solidFill>
                  <a:srgbClr val="777777"/>
                </a:solidFill>
              </a:rPr>
              <a:t>Quá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trình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phát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triển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dirty="0" err="1">
                <a:solidFill>
                  <a:srgbClr val="777777"/>
                </a:solidFill>
              </a:rPr>
              <a:t>Một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số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đặc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tính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  <a:p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CSDL</a:t>
            </a:r>
          </a:p>
          <a:p>
            <a:pPr lvl="1"/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(Database Administrator - DBA)</a:t>
            </a:r>
          </a:p>
          <a:p>
            <a:pPr lvl="1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(Database Designer)</a:t>
            </a:r>
          </a:p>
          <a:p>
            <a:pPr lvl="1"/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(End User)</a:t>
            </a:r>
            <a:endParaRPr lang="en-US" b="1" dirty="0"/>
          </a:p>
          <a:p>
            <a:r>
              <a:rPr lang="en-US" dirty="0" err="1">
                <a:solidFill>
                  <a:srgbClr val="777777"/>
                </a:solidFill>
              </a:rPr>
              <a:t>Các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khái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niệm</a:t>
            </a:r>
            <a:r>
              <a:rPr lang="en-US" dirty="0">
                <a:solidFill>
                  <a:srgbClr val="777777"/>
                </a:solidFill>
              </a:rPr>
              <a:t>: </a:t>
            </a:r>
            <a:r>
              <a:rPr lang="en-US" dirty="0" err="1">
                <a:solidFill>
                  <a:srgbClr val="777777"/>
                </a:solidFill>
              </a:rPr>
              <a:t>Mô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hình</a:t>
            </a:r>
            <a:r>
              <a:rPr lang="en-US" dirty="0">
                <a:solidFill>
                  <a:srgbClr val="777777"/>
                </a:solidFill>
              </a:rPr>
              <a:t>, </a:t>
            </a:r>
            <a:r>
              <a:rPr lang="en-US" dirty="0" err="1">
                <a:solidFill>
                  <a:srgbClr val="777777"/>
                </a:solidFill>
              </a:rPr>
              <a:t>Lược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đồ</a:t>
            </a:r>
            <a:r>
              <a:rPr lang="en-US" dirty="0">
                <a:solidFill>
                  <a:srgbClr val="777777"/>
                </a:solidFill>
              </a:rPr>
              <a:t>, </a:t>
            </a:r>
            <a:r>
              <a:rPr lang="en-US" dirty="0" err="1">
                <a:solidFill>
                  <a:srgbClr val="777777"/>
                </a:solidFill>
              </a:rPr>
              <a:t>Thể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hiện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dirty="0" err="1">
                <a:solidFill>
                  <a:srgbClr val="777777"/>
                </a:solidFill>
              </a:rPr>
              <a:t>Kiến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trúc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HQT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Các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tính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năng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HQT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Ngôn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ngữ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52924-EC47-4083-99E9-6B6FC702A631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B0F8C8-3C25-49FC-A7BC-D3E1F93B9693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</p:spTree>
  </p:cSld>
  <p:clrMapOvr>
    <a:masterClrMapping/>
  </p:clrMapOvr>
  <p:transition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620712"/>
          </a:xfrm>
        </p:spPr>
        <p:txBody>
          <a:bodyPr/>
          <a:lstStyle/>
          <a:p>
            <a:pPr>
              <a:buFont typeface="Courier New" pitchFamily="49" charset="0"/>
              <a:buChar char="o"/>
            </a:pPr>
            <a:r>
              <a:rPr lang="en-US" sz="3200"/>
              <a:t> Quản trị viên (DBA)- quản lý hệ CSDL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153400" cy="1066800"/>
          </a:xfrm>
        </p:spPr>
        <p:txBody>
          <a:bodyPr/>
          <a:lstStyle/>
          <a:p>
            <a:pPr lvl="1">
              <a:buFont typeface="Wingdings" pitchFamily="2" charset="2"/>
              <a:buChar char="ü"/>
            </a:pPr>
            <a:r>
              <a:rPr lang="en-US"/>
              <a:t>Cấp quyền truy cập CSDL</a:t>
            </a:r>
          </a:p>
          <a:p>
            <a:pPr lvl="1">
              <a:buFont typeface="Wingdings" pitchFamily="2" charset="2"/>
              <a:buChar char="ü"/>
            </a:pPr>
            <a:r>
              <a:rPr lang="en-US"/>
              <a:t>Điều phối và giám sát việc sử dụng CSDL</a:t>
            </a:r>
          </a:p>
          <a:p>
            <a:pPr lvl="1"/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E68DDE-CFC0-42E4-B634-2879CA7AD10C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902FBB-BB24-4843-8727-B8E46461A3D6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81000" y="3048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2000" b="1"/>
              <a:t>1.4  Người sử dụng CSDL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" y="3429000"/>
            <a:ext cx="8229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9763" lvl="1" indent="-246063" algn="l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/>
            </a:pPr>
            <a:r>
              <a:rPr lang="en-US" sz="2400"/>
              <a:t>Liên hệ với người dùng để nắm bắt được những yêu cầu và đưa ra một thiết kế CSDL thỏa yêu cầu này,</a:t>
            </a:r>
            <a:endParaRPr kumimoji="0" lang="vi-V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9763" marR="0" lvl="1" indent="-2460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Lựa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cấu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trúc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phù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hợp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để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lưu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liệu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9763" marR="0" lvl="1" indent="-2460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Quyết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định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những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liệu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nào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cần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được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lưu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639763" marR="0" lvl="1" indent="-2460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57200" y="26670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  <a:buFont typeface="Courier New" pitchFamily="49" charset="0"/>
              <a:buChar char="o"/>
            </a:pPr>
            <a:r>
              <a:rPr kumimoji="0" lang="en-US" sz="35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Thiết kế viên: </a:t>
            </a:r>
            <a:r>
              <a:rPr lang="en-US" sz="2400"/>
              <a:t>Chịu trách nhiệm :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</p:spTree>
  </p:cSld>
  <p:clrMapOvr>
    <a:masterClrMapping/>
  </p:clrMapOvr>
  <p:transition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620712"/>
          </a:xfrm>
        </p:spPr>
        <p:txBody>
          <a:bodyPr/>
          <a:lstStyle/>
          <a:p>
            <a:pPr>
              <a:buFont typeface="Courier New" pitchFamily="49" charset="0"/>
              <a:buChar char="o"/>
            </a:pPr>
            <a:r>
              <a:rPr lang="en-US" sz="3500"/>
              <a:t> Người dùng cuối 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35931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/>
              <a:t>Người ít sử dụng </a:t>
            </a:r>
            <a:r>
              <a:rPr lang="en-US" sz="2800"/>
              <a:t>(người quản lý)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/>
              <a:t>Ít khi truy cập CSDL, nhưng cần những thông tin khác nhau trong mỗi lần truy cập và dùng những câu truy vấn phức tạp</a:t>
            </a:r>
          </a:p>
          <a:p>
            <a:pPr>
              <a:lnSpc>
                <a:spcPct val="90000"/>
              </a:lnSpc>
            </a:pPr>
            <a:r>
              <a:rPr lang="en-US" sz="2800" i="1"/>
              <a:t>Người sử dụng thường xuyên </a:t>
            </a:r>
            <a:r>
              <a:rPr lang="en-US" sz="2800"/>
              <a:t>(nhân viên)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/>
              <a:t>Thường xuyên truy vấn và cập nhật CSDL nhờ vào một số các chức năng đã được xây dựng sẵn</a:t>
            </a:r>
          </a:p>
          <a:p>
            <a:pPr>
              <a:lnSpc>
                <a:spcPct val="90000"/>
              </a:lnSpc>
            </a:pPr>
            <a:r>
              <a:rPr lang="en-US" sz="2800" i="1"/>
              <a:t>Người sử dụng đặc biệt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/>
              <a:t>Thông thạo về HQT CSDL, tự xây dựng những truy vấn phức tạp cho công việc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</a:pPr>
            <a:r>
              <a:rPr lang="en-US"/>
              <a:t>Kỹ sư, nhà khoa học, người phân tích,…</a:t>
            </a:r>
            <a:endParaRPr lang="en-US"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272791-0B9C-4F96-885A-7BBBCA479AA2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E6B30B-B6A9-4704-9C4C-562E2D983334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81000" y="2286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2000" b="1"/>
              <a:t>1.4  Người sử dụng CSDL</a:t>
            </a:r>
          </a:p>
        </p:txBody>
      </p:sp>
    </p:spTree>
  </p:cSld>
  <p:clrMapOvr>
    <a:masterClrMapping/>
  </p:clrMapOvr>
  <p:transition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Nội dung chi tiết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05800" cy="5257800"/>
          </a:xfrm>
        </p:spPr>
        <p:txBody>
          <a:bodyPr/>
          <a:lstStyle/>
          <a:p>
            <a:r>
              <a:rPr lang="en-US" dirty="0" err="1">
                <a:solidFill>
                  <a:srgbClr val="777777"/>
                </a:solidFill>
              </a:rPr>
              <a:t>Mở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đầu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dirty="0" err="1">
                <a:solidFill>
                  <a:srgbClr val="777777"/>
                </a:solidFill>
              </a:rPr>
              <a:t>Quá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trình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phát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triển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dirty="0" err="1">
                <a:solidFill>
                  <a:srgbClr val="777777"/>
                </a:solidFill>
              </a:rPr>
              <a:t>Một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số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đặc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tính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Người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sử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dụng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khái</a:t>
            </a:r>
            <a:r>
              <a:rPr lang="en-US" b="1" dirty="0"/>
              <a:t> </a:t>
            </a:r>
            <a:r>
              <a:rPr lang="en-US" b="1" dirty="0" err="1"/>
              <a:t>niệm</a:t>
            </a:r>
            <a:r>
              <a:rPr lang="en-US" b="1" dirty="0">
                <a:solidFill>
                  <a:srgbClr val="777777"/>
                </a:solidFill>
              </a:rPr>
              <a:t>: </a:t>
            </a:r>
            <a:r>
              <a:rPr lang="en-US" dirty="0" err="1">
                <a:solidFill>
                  <a:srgbClr val="777777"/>
                </a:solidFill>
              </a:rPr>
              <a:t>Mô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hình</a:t>
            </a:r>
            <a:r>
              <a:rPr lang="en-US" dirty="0">
                <a:solidFill>
                  <a:srgbClr val="777777"/>
                </a:solidFill>
              </a:rPr>
              <a:t>, </a:t>
            </a:r>
            <a:r>
              <a:rPr lang="en-US" dirty="0" err="1">
                <a:solidFill>
                  <a:srgbClr val="777777"/>
                </a:solidFill>
              </a:rPr>
              <a:t>Lược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đồ</a:t>
            </a:r>
            <a:r>
              <a:rPr lang="en-US" dirty="0">
                <a:solidFill>
                  <a:srgbClr val="777777"/>
                </a:solidFill>
              </a:rPr>
              <a:t>, </a:t>
            </a:r>
            <a:r>
              <a:rPr lang="en-US" dirty="0" err="1">
                <a:solidFill>
                  <a:srgbClr val="777777"/>
                </a:solidFill>
              </a:rPr>
              <a:t>Thể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hiện</a:t>
            </a:r>
            <a:endParaRPr lang="en-US" dirty="0">
              <a:solidFill>
                <a:srgbClr val="777777"/>
              </a:solidFill>
            </a:endParaRPr>
          </a:p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Kiến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trúc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của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Hệ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Các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tính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năng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của</a:t>
            </a:r>
            <a:r>
              <a:rPr lang="en-US" dirty="0">
                <a:solidFill>
                  <a:srgbClr val="777777"/>
                </a:solidFill>
              </a:rPr>
              <a:t> HQT CSDL</a:t>
            </a:r>
          </a:p>
          <a:p>
            <a:r>
              <a:rPr lang="en-US" dirty="0" err="1">
                <a:solidFill>
                  <a:srgbClr val="777777"/>
                </a:solidFill>
              </a:rPr>
              <a:t>Ngôn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 err="1">
                <a:solidFill>
                  <a:srgbClr val="777777"/>
                </a:solidFill>
              </a:rPr>
              <a:t>ngữ</a:t>
            </a:r>
            <a:r>
              <a:rPr lang="en-US" dirty="0">
                <a:solidFill>
                  <a:srgbClr val="777777"/>
                </a:solidFill>
              </a:rPr>
              <a:t> CSDL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2912CF-BC13-46F3-8304-D0AE4535836E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A48860-3FDD-40D8-898F-D14E8E64E386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</p:spTree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620712"/>
          </a:xfrm>
        </p:spPr>
        <p:txBody>
          <a:bodyPr/>
          <a:lstStyle/>
          <a:p>
            <a:r>
              <a:rPr lang="en-US" sz="3200" dirty="0">
                <a:solidFill>
                  <a:schemeClr val="accent1"/>
                </a:solidFill>
              </a:rPr>
              <a:t>a. </a:t>
            </a:r>
            <a:r>
              <a:rPr lang="en-US" sz="3200" b="1" i="1" dirty="0" err="1">
                <a:solidFill>
                  <a:schemeClr val="accent1"/>
                </a:solidFill>
              </a:rPr>
              <a:t>Mô</a:t>
            </a:r>
            <a:r>
              <a:rPr lang="en-US" sz="3200" b="1" i="1" dirty="0">
                <a:solidFill>
                  <a:schemeClr val="accent1"/>
                </a:solidFill>
              </a:rPr>
              <a:t> </a:t>
            </a:r>
            <a:r>
              <a:rPr lang="en-US" sz="3200" b="1" i="1" dirty="0" err="1">
                <a:solidFill>
                  <a:schemeClr val="accent1"/>
                </a:solidFill>
              </a:rPr>
              <a:t>hình</a:t>
            </a:r>
            <a:r>
              <a:rPr lang="en-US" sz="3200" b="1" i="1" dirty="0">
                <a:solidFill>
                  <a:schemeClr val="accent1"/>
                </a:solidFill>
              </a:rPr>
              <a:t> </a:t>
            </a:r>
            <a:r>
              <a:rPr lang="en-US" sz="3200" b="1" i="1" dirty="0" err="1">
                <a:solidFill>
                  <a:schemeClr val="accent1"/>
                </a:solidFill>
              </a:rPr>
              <a:t>dữ</a:t>
            </a:r>
            <a:r>
              <a:rPr lang="en-US" sz="3200" b="1" i="1" dirty="0">
                <a:solidFill>
                  <a:schemeClr val="accent1"/>
                </a:solidFill>
              </a:rPr>
              <a:t> </a:t>
            </a:r>
            <a:r>
              <a:rPr lang="en-US" sz="3200" b="1" i="1" dirty="0" err="1">
                <a:solidFill>
                  <a:schemeClr val="accent1"/>
                </a:solidFill>
              </a:rPr>
              <a:t>liệu</a:t>
            </a:r>
            <a:endParaRPr lang="en-US" sz="3200" b="1" i="1" dirty="0">
              <a:solidFill>
                <a:schemeClr val="accent1"/>
              </a:solidFill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40094" y="1676400"/>
            <a:ext cx="8229600" cy="2971800"/>
          </a:xfrm>
        </p:spPr>
        <p:txBody>
          <a:bodyPr/>
          <a:lstStyle/>
          <a:p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dirty="0"/>
              <a:t> (Data Model) bao </a:t>
            </a:r>
            <a:r>
              <a:rPr lang="en-US" dirty="0" err="1"/>
              <a:t>gồm</a:t>
            </a:r>
            <a:r>
              <a:rPr lang="vi-VN" dirty="0"/>
              <a:t>:</a:t>
            </a:r>
            <a:endParaRPr lang="en-US" dirty="0"/>
          </a:p>
          <a:p>
            <a:pPr lvl="1">
              <a:buFont typeface="Courier New" pitchFamily="49" charset="0"/>
              <a:buChar char="o"/>
            </a:pPr>
            <a:r>
              <a:rPr lang="en-US" sz="2800" dirty="0" err="1"/>
              <a:t>Tập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khái</a:t>
            </a:r>
            <a:r>
              <a:rPr lang="en-US" sz="2800" dirty="0"/>
              <a:t> </a:t>
            </a:r>
            <a:r>
              <a:rPr lang="en-US" sz="2800" dirty="0" err="1"/>
              <a:t>niệm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trúc</a:t>
            </a:r>
            <a:r>
              <a:rPr lang="en-US" sz="2800" dirty="0"/>
              <a:t> CSDL: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vi-VN" sz="2400" dirty="0"/>
              <a:t>,</a:t>
            </a:r>
            <a:endParaRPr lang="en-US" sz="2400" dirty="0"/>
          </a:p>
          <a:p>
            <a:pPr lvl="2">
              <a:buFont typeface="Wingdings" pitchFamily="2" charset="2"/>
              <a:buChar char="§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, 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lvl="1">
              <a:buFont typeface="Courier New" pitchFamily="49" charset="0"/>
              <a:buChar char="o"/>
            </a:pP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phép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xử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8CAF9-FB57-4AB0-A65B-643C44B6E509}" type="slidenum">
              <a:rPr lang="en-US" altLang="en-US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2260E8-62CE-4E9F-8C6D-D39CD468E254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57200" y="3048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1.5 - Các</a:t>
            </a:r>
            <a:r>
              <a:rPr kumimoji="0" lang="en-US" sz="2800" b="1" i="0" u="none" strike="noStrike" kern="1200" cap="none" spc="0" normalizeH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khái niệm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A4A11D-AE08-4584-B22E-A5C5A78BEB97}"/>
              </a:ext>
            </a:extLst>
          </p:cNvPr>
          <p:cNvSpPr txBox="1"/>
          <p:nvPr/>
        </p:nvSpPr>
        <p:spPr>
          <a:xfrm>
            <a:off x="990600" y="4912996"/>
            <a:ext cx="799560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b="1" dirty="0"/>
              <a:t>Ví dụ: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dirty="0"/>
              <a:t>Mô hình quan hệ: {kn: quan hệ, bảng, cột, bộ, khóa, tham chiếu,</a:t>
            </a:r>
            <a:r>
              <a:rPr lang="en-US" dirty="0"/>
              <a:t>..;</a:t>
            </a:r>
          </a:p>
          <a:p>
            <a:pPr algn="l"/>
            <a:r>
              <a:rPr lang="en-US" dirty="0"/>
              <a:t>       </a:t>
            </a:r>
            <a:r>
              <a:rPr lang="vi-VN" dirty="0"/>
              <a:t> phép toán</a:t>
            </a:r>
            <a:r>
              <a:rPr lang="en-US" dirty="0"/>
              <a:t>: </a:t>
            </a:r>
            <a:r>
              <a:rPr lang="vi-VN" dirty="0"/>
              <a:t> ĐS QH...}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dirty="0"/>
              <a:t>Mô hình ER : {kn: thực thể, thuộc tính, liên kết,...}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2296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mức</a:t>
            </a:r>
            <a:r>
              <a:rPr lang="en-US" sz="2000" b="1" dirty="0"/>
              <a:t> </a:t>
            </a:r>
            <a:r>
              <a:rPr lang="en-US" sz="2000" b="1" dirty="0" err="1"/>
              <a:t>cao</a:t>
            </a:r>
            <a:r>
              <a:rPr lang="en-US" sz="2000" b="1" dirty="0"/>
              <a:t> </a:t>
            </a:r>
            <a:r>
              <a:rPr lang="en-US" sz="2000" dirty="0"/>
              <a:t>(</a:t>
            </a:r>
            <a:r>
              <a:rPr lang="en-US" sz="2000" b="1" i="1" dirty="0" err="1"/>
              <a:t>mức</a:t>
            </a:r>
            <a:r>
              <a:rPr lang="en-US" sz="2000" b="1" i="1" dirty="0"/>
              <a:t> </a:t>
            </a:r>
            <a:r>
              <a:rPr lang="en-US" sz="2000" b="1" i="1" dirty="0" err="1"/>
              <a:t>quan</a:t>
            </a:r>
            <a:r>
              <a:rPr lang="en-US" sz="2000" b="1" i="1" dirty="0"/>
              <a:t> </a:t>
            </a:r>
            <a:r>
              <a:rPr lang="en-US" sz="2000" b="1" i="1" dirty="0" err="1"/>
              <a:t>niệm</a:t>
            </a:r>
            <a:r>
              <a:rPr lang="en-US" sz="2000" dirty="0"/>
              <a:t>)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gần</a:t>
            </a:r>
            <a:r>
              <a:rPr lang="en-US" sz="2000" dirty="0"/>
              <a:t> </a:t>
            </a:r>
            <a:r>
              <a:rPr lang="en-US" sz="2000" dirty="0" err="1"/>
              <a:t>gũi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endParaRPr lang="en-US" sz="2000" dirty="0"/>
          </a:p>
          <a:p>
            <a:pPr lvl="1">
              <a:buFont typeface="Courier New" pitchFamily="49" charset="0"/>
              <a:buChar char="o"/>
            </a:pP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phải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nhiên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giàu</a:t>
            </a:r>
            <a:r>
              <a:rPr lang="en-US" sz="2000" dirty="0"/>
              <a:t> </a:t>
            </a:r>
            <a:r>
              <a:rPr lang="en-US" sz="2000" dirty="0" err="1"/>
              <a:t>ngữ</a:t>
            </a:r>
            <a:r>
              <a:rPr lang="en-US" sz="2000" dirty="0"/>
              <a:t> </a:t>
            </a:r>
            <a:r>
              <a:rPr lang="en-US" sz="2000" dirty="0" err="1"/>
              <a:t>nghĩa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VD: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-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(ER),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mức</a:t>
            </a:r>
            <a:r>
              <a:rPr lang="en-US" sz="2000" b="1" dirty="0"/>
              <a:t> </a:t>
            </a:r>
            <a:r>
              <a:rPr lang="en-US" sz="2000" b="1" dirty="0" err="1"/>
              <a:t>thể</a:t>
            </a:r>
            <a:r>
              <a:rPr lang="en-US" sz="2000" b="1" dirty="0"/>
              <a:t> </a:t>
            </a:r>
            <a:r>
              <a:rPr lang="en-US" sz="2000" b="1" dirty="0" err="1"/>
              <a:t>hiện</a:t>
            </a:r>
            <a:r>
              <a:rPr lang="en-US" sz="2000" b="1" dirty="0"/>
              <a:t> </a:t>
            </a:r>
            <a:r>
              <a:rPr lang="en-US" sz="2000" dirty="0"/>
              <a:t>(</a:t>
            </a:r>
            <a:r>
              <a:rPr lang="en-US" sz="2000" b="1" i="1" dirty="0" err="1"/>
              <a:t>mức</a:t>
            </a:r>
            <a:r>
              <a:rPr lang="en-US" sz="2000" b="1" i="1" dirty="0"/>
              <a:t> </a:t>
            </a:r>
            <a:r>
              <a:rPr lang="en-US" sz="2000" b="1" i="1" dirty="0" err="1"/>
              <a:t>lôgic</a:t>
            </a:r>
            <a:r>
              <a:rPr lang="en-US" sz="2000" dirty="0"/>
              <a:t>)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hiểu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nhưng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xa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tổ</a:t>
            </a:r>
            <a:r>
              <a:rPr lang="en-US" sz="2000" dirty="0"/>
              <a:t> </a:t>
            </a: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thật</a:t>
            </a:r>
            <a:r>
              <a:rPr lang="en-US" sz="2000" dirty="0"/>
              <a:t> </a:t>
            </a:r>
            <a:r>
              <a:rPr lang="en-US" sz="2000" dirty="0" err="1"/>
              <a:t>sự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: </a:t>
            </a:r>
          </a:p>
          <a:p>
            <a:pPr lvl="1">
              <a:buNone/>
            </a:pPr>
            <a:r>
              <a:rPr lang="en-US" sz="2000" dirty="0"/>
              <a:t>   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(entity),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, </a:t>
            </a:r>
            <a:r>
              <a:rPr lang="en-US" sz="2000" dirty="0" err="1"/>
              <a:t>mối</a:t>
            </a:r>
            <a:r>
              <a:rPr lang="en-US" sz="2000" dirty="0"/>
              <a:t>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(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) </a:t>
            </a:r>
            <a:r>
              <a:rPr lang="en-US" sz="2000" dirty="0" err="1"/>
              <a:t>giữa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VD: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,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mạng</a:t>
            </a:r>
            <a:r>
              <a:rPr lang="en-US" sz="2000" dirty="0"/>
              <a:t>,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mức</a:t>
            </a:r>
            <a:r>
              <a:rPr lang="en-US" sz="2000" b="1" dirty="0"/>
              <a:t> </a:t>
            </a:r>
            <a:r>
              <a:rPr lang="en-US" sz="2000" b="1" dirty="0" err="1"/>
              <a:t>thấp</a:t>
            </a:r>
            <a:r>
              <a:rPr lang="en-US" sz="2000" b="1" dirty="0"/>
              <a:t> (</a:t>
            </a:r>
            <a:r>
              <a:rPr lang="en-US" sz="2000" b="1" i="1" dirty="0" err="1"/>
              <a:t>mức</a:t>
            </a:r>
            <a:r>
              <a:rPr lang="en-US" sz="2000" b="1" i="1" dirty="0"/>
              <a:t> </a:t>
            </a:r>
            <a:r>
              <a:rPr lang="en-US" sz="2000" b="1" i="1" dirty="0" err="1"/>
              <a:t>vật</a:t>
            </a:r>
            <a:r>
              <a:rPr lang="en-US" sz="2000" b="1" i="1" dirty="0"/>
              <a:t> </a:t>
            </a:r>
            <a:r>
              <a:rPr lang="en-US" sz="2000" b="1" i="1" dirty="0" err="1"/>
              <a:t>lý</a:t>
            </a:r>
            <a:r>
              <a:rPr lang="en-US" sz="2000" b="1" dirty="0"/>
              <a:t>)</a:t>
            </a:r>
          </a:p>
          <a:p>
            <a:pPr lvl="1"/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tả</a:t>
            </a:r>
            <a:r>
              <a:rPr lang="en-US" sz="2000" dirty="0"/>
              <a:t> chi </a:t>
            </a: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thức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: </a:t>
            </a:r>
            <a:r>
              <a:rPr lang="en-US" sz="2000" dirty="0" err="1"/>
              <a:t>khuôn</a:t>
            </a:r>
            <a:r>
              <a:rPr lang="en-US" sz="2000" dirty="0"/>
              <a:t> </a:t>
            </a:r>
            <a:r>
              <a:rPr lang="en-US" sz="2000" dirty="0" err="1"/>
              <a:t>dạng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ghi</a:t>
            </a:r>
            <a:r>
              <a:rPr lang="en-US" sz="2000" dirty="0"/>
              <a:t>,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sắp</a:t>
            </a:r>
            <a:r>
              <a:rPr lang="en-US" sz="2000" dirty="0"/>
              <a:t> </a:t>
            </a:r>
            <a:r>
              <a:rPr lang="en-US" sz="2000" dirty="0" err="1"/>
              <a:t>xếp</a:t>
            </a:r>
            <a:r>
              <a:rPr lang="en-US" sz="2000" dirty="0"/>
              <a:t>, </a:t>
            </a:r>
            <a:r>
              <a:rPr lang="en-US" sz="2000" dirty="0" err="1"/>
              <a:t>đường</a:t>
            </a:r>
            <a:r>
              <a:rPr lang="en-US" sz="2000" dirty="0"/>
              <a:t> </a:t>
            </a:r>
            <a:r>
              <a:rPr lang="en-US" sz="2000" dirty="0" err="1"/>
              <a:t>truy</a:t>
            </a:r>
            <a:r>
              <a:rPr lang="en-US" sz="2000" dirty="0"/>
              <a:t> </a:t>
            </a:r>
            <a:r>
              <a:rPr lang="en-US" sz="2000" dirty="0" err="1"/>
              <a:t>cập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6C8317-5DFF-48C4-AB77-6BF161AFC6E4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EDB63C-EFAF-4AF0-9140-E8669E8FD57C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57200" y="3048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1.5 - Các</a:t>
            </a:r>
            <a:r>
              <a:rPr kumimoji="0" lang="en-US" sz="2800" b="1" i="0" u="none" strike="noStrike" kern="1200" cap="none" spc="0" normalizeH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khái niệm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457200" y="9144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a. Mô hình dữ liệu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r>
              <a:rPr lang="en-US" sz="2800"/>
              <a:t>Ví dụ mô hình ER</a:t>
            </a:r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DABC69-215B-49DD-83D5-D572D2E27BC4}" type="slidenum">
              <a:rPr lang="en-US" altLang="en-US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53253" name="AutoShape 81"/>
          <p:cNvSpPr>
            <a:spLocks noChangeAspect="1" noChangeArrowheads="1" noTextEdit="1"/>
          </p:cNvSpPr>
          <p:nvPr/>
        </p:nvSpPr>
        <p:spPr bwMode="auto">
          <a:xfrm>
            <a:off x="152400" y="1881188"/>
            <a:ext cx="8458200" cy="319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vi-VN"/>
          </a:p>
        </p:txBody>
      </p:sp>
      <p:grpSp>
        <p:nvGrpSpPr>
          <p:cNvPr id="2" name="Group 161"/>
          <p:cNvGrpSpPr>
            <a:grpSpLocks/>
          </p:cNvGrpSpPr>
          <p:nvPr/>
        </p:nvGrpSpPr>
        <p:grpSpPr bwMode="auto">
          <a:xfrm>
            <a:off x="930275" y="1981200"/>
            <a:ext cx="7662863" cy="3070225"/>
            <a:chOff x="586" y="1248"/>
            <a:chExt cx="4827" cy="1934"/>
          </a:xfrm>
        </p:grpSpPr>
        <p:sp>
          <p:nvSpPr>
            <p:cNvPr id="53255" name="Rectangle 83"/>
            <p:cNvSpPr>
              <a:spLocks noChangeArrowheads="1"/>
            </p:cNvSpPr>
            <p:nvPr/>
          </p:nvSpPr>
          <p:spPr bwMode="auto">
            <a:xfrm>
              <a:off x="1128" y="2075"/>
              <a:ext cx="729" cy="364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56" name="Rectangle 84"/>
            <p:cNvSpPr>
              <a:spLocks noChangeArrowheads="1"/>
            </p:cNvSpPr>
            <p:nvPr/>
          </p:nvSpPr>
          <p:spPr bwMode="auto">
            <a:xfrm>
              <a:off x="1359" y="2184"/>
              <a:ext cx="34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cs typeface="Tahoma" pitchFamily="34" charset="0"/>
                </a:rPr>
                <a:t>SVien</a:t>
              </a:r>
              <a:endParaRPr lang="en-US" b="1">
                <a:cs typeface="Tahoma" pitchFamily="34" charset="0"/>
              </a:endParaRPr>
            </a:p>
          </p:txBody>
        </p:sp>
        <p:sp>
          <p:nvSpPr>
            <p:cNvPr id="53257" name="Freeform 85"/>
            <p:cNvSpPr>
              <a:spLocks/>
            </p:cNvSpPr>
            <p:nvPr/>
          </p:nvSpPr>
          <p:spPr bwMode="auto">
            <a:xfrm>
              <a:off x="1083" y="1529"/>
              <a:ext cx="820" cy="273"/>
            </a:xfrm>
            <a:custGeom>
              <a:avLst/>
              <a:gdLst>
                <a:gd name="T0" fmla="*/ 0 w 820"/>
                <a:gd name="T1" fmla="*/ 137 h 273"/>
                <a:gd name="T2" fmla="*/ 409 w 820"/>
                <a:gd name="T3" fmla="*/ 0 h 273"/>
                <a:gd name="T4" fmla="*/ 820 w 820"/>
                <a:gd name="T5" fmla="*/ 137 h 273"/>
                <a:gd name="T6" fmla="*/ 409 w 820"/>
                <a:gd name="T7" fmla="*/ 273 h 273"/>
                <a:gd name="T8" fmla="*/ 0 w 820"/>
                <a:gd name="T9" fmla="*/ 137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0"/>
                <a:gd name="T16" fmla="*/ 0 h 273"/>
                <a:gd name="T17" fmla="*/ 820 w 820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0" h="273">
                  <a:moveTo>
                    <a:pt x="0" y="137"/>
                  </a:moveTo>
                  <a:lnTo>
                    <a:pt x="409" y="0"/>
                  </a:lnTo>
                  <a:lnTo>
                    <a:pt x="820" y="137"/>
                  </a:lnTo>
                  <a:lnTo>
                    <a:pt x="409" y="273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58" name="Rectangle 86"/>
            <p:cNvSpPr>
              <a:spLocks noChangeArrowheads="1"/>
            </p:cNvSpPr>
            <p:nvPr/>
          </p:nvSpPr>
          <p:spPr bwMode="auto">
            <a:xfrm>
              <a:off x="1432" y="1594"/>
              <a:ext cx="18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>
                  <a:solidFill>
                    <a:srgbClr val="000000"/>
                  </a:solidFill>
                  <a:cs typeface="Tahoma" pitchFamily="34" charset="0"/>
                </a:rPr>
                <a:t>hoc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59" name="Line 87"/>
            <p:cNvSpPr>
              <a:spLocks noChangeShapeType="1"/>
            </p:cNvSpPr>
            <p:nvPr/>
          </p:nvSpPr>
          <p:spPr bwMode="auto">
            <a:xfrm>
              <a:off x="1492" y="1802"/>
              <a:ext cx="1" cy="27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60" name="Rectangle 88"/>
            <p:cNvSpPr>
              <a:spLocks noChangeArrowheads="1"/>
            </p:cNvSpPr>
            <p:nvPr/>
          </p:nvSpPr>
          <p:spPr bwMode="auto">
            <a:xfrm>
              <a:off x="2404" y="1485"/>
              <a:ext cx="729" cy="36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61" name="Rectangle 89"/>
            <p:cNvSpPr>
              <a:spLocks noChangeArrowheads="1"/>
            </p:cNvSpPr>
            <p:nvPr/>
          </p:nvSpPr>
          <p:spPr bwMode="auto">
            <a:xfrm>
              <a:off x="2611" y="1594"/>
              <a:ext cx="39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cs typeface="Tahoma" pitchFamily="34" charset="0"/>
                </a:rPr>
                <a:t>HPhan</a:t>
              </a:r>
              <a:endParaRPr lang="en-US" b="1">
                <a:cs typeface="Tahoma" pitchFamily="34" charset="0"/>
              </a:endParaRPr>
            </a:p>
          </p:txBody>
        </p:sp>
        <p:sp>
          <p:nvSpPr>
            <p:cNvPr id="53262" name="Freeform 90"/>
            <p:cNvSpPr>
              <a:spLocks/>
            </p:cNvSpPr>
            <p:nvPr/>
          </p:nvSpPr>
          <p:spPr bwMode="auto">
            <a:xfrm>
              <a:off x="3680" y="1529"/>
              <a:ext cx="822" cy="273"/>
            </a:xfrm>
            <a:custGeom>
              <a:avLst/>
              <a:gdLst>
                <a:gd name="T0" fmla="*/ 0 w 822"/>
                <a:gd name="T1" fmla="*/ 137 h 273"/>
                <a:gd name="T2" fmla="*/ 411 w 822"/>
                <a:gd name="T3" fmla="*/ 0 h 273"/>
                <a:gd name="T4" fmla="*/ 822 w 822"/>
                <a:gd name="T5" fmla="*/ 137 h 273"/>
                <a:gd name="T6" fmla="*/ 411 w 822"/>
                <a:gd name="T7" fmla="*/ 273 h 273"/>
                <a:gd name="T8" fmla="*/ 0 w 822"/>
                <a:gd name="T9" fmla="*/ 137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2"/>
                <a:gd name="T16" fmla="*/ 0 h 273"/>
                <a:gd name="T17" fmla="*/ 822 w 822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2" h="273">
                  <a:moveTo>
                    <a:pt x="0" y="137"/>
                  </a:moveTo>
                  <a:lnTo>
                    <a:pt x="411" y="0"/>
                  </a:lnTo>
                  <a:lnTo>
                    <a:pt x="822" y="137"/>
                  </a:lnTo>
                  <a:lnTo>
                    <a:pt x="411" y="273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63" name="Rectangle 91"/>
            <p:cNvSpPr>
              <a:spLocks noChangeArrowheads="1"/>
            </p:cNvSpPr>
            <p:nvPr/>
          </p:nvSpPr>
          <p:spPr bwMode="auto">
            <a:xfrm>
              <a:off x="4041" y="1594"/>
              <a:ext cx="1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>
                  <a:solidFill>
                    <a:srgbClr val="000000"/>
                  </a:solidFill>
                  <a:cs typeface="Tahoma" pitchFamily="34" charset="0"/>
                </a:rPr>
                <a:t>mo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64" name="Rectangle 92"/>
            <p:cNvSpPr>
              <a:spLocks noChangeArrowheads="1"/>
            </p:cNvSpPr>
            <p:nvPr/>
          </p:nvSpPr>
          <p:spPr bwMode="auto">
            <a:xfrm>
              <a:off x="3726" y="2075"/>
              <a:ext cx="729" cy="364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65" name="Rectangle 93"/>
            <p:cNvSpPr>
              <a:spLocks noChangeArrowheads="1"/>
            </p:cNvSpPr>
            <p:nvPr/>
          </p:nvSpPr>
          <p:spPr bwMode="auto">
            <a:xfrm>
              <a:off x="3960" y="2184"/>
              <a:ext cx="33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cs typeface="Tahoma" pitchFamily="34" charset="0"/>
                </a:rPr>
                <a:t>MHoc</a:t>
              </a:r>
              <a:endParaRPr lang="en-US" b="1">
                <a:cs typeface="Tahoma" pitchFamily="34" charset="0"/>
              </a:endParaRPr>
            </a:p>
          </p:txBody>
        </p:sp>
        <p:sp>
          <p:nvSpPr>
            <p:cNvPr id="53266" name="Freeform 94"/>
            <p:cNvSpPr>
              <a:spLocks/>
            </p:cNvSpPr>
            <p:nvPr/>
          </p:nvSpPr>
          <p:spPr bwMode="auto">
            <a:xfrm>
              <a:off x="4593" y="2621"/>
              <a:ext cx="820" cy="273"/>
            </a:xfrm>
            <a:custGeom>
              <a:avLst/>
              <a:gdLst>
                <a:gd name="T0" fmla="*/ 0 w 820"/>
                <a:gd name="T1" fmla="*/ 137 h 273"/>
                <a:gd name="T2" fmla="*/ 409 w 820"/>
                <a:gd name="T3" fmla="*/ 0 h 273"/>
                <a:gd name="T4" fmla="*/ 820 w 820"/>
                <a:gd name="T5" fmla="*/ 137 h 273"/>
                <a:gd name="T6" fmla="*/ 409 w 820"/>
                <a:gd name="T7" fmla="*/ 273 h 273"/>
                <a:gd name="T8" fmla="*/ 0 w 820"/>
                <a:gd name="T9" fmla="*/ 137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0"/>
                <a:gd name="T16" fmla="*/ 0 h 273"/>
                <a:gd name="T17" fmla="*/ 820 w 820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0" h="273">
                  <a:moveTo>
                    <a:pt x="0" y="137"/>
                  </a:moveTo>
                  <a:lnTo>
                    <a:pt x="409" y="0"/>
                  </a:lnTo>
                  <a:lnTo>
                    <a:pt x="820" y="137"/>
                  </a:lnTo>
                  <a:lnTo>
                    <a:pt x="409" y="273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67" name="Rectangle 95"/>
            <p:cNvSpPr>
              <a:spLocks noChangeArrowheads="1"/>
            </p:cNvSpPr>
            <p:nvPr/>
          </p:nvSpPr>
          <p:spPr bwMode="auto">
            <a:xfrm>
              <a:off x="4823" y="2685"/>
              <a:ext cx="44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>
                  <a:solidFill>
                    <a:srgbClr val="000000"/>
                  </a:solidFill>
                  <a:cs typeface="Tahoma" pitchFamily="34" charset="0"/>
                </a:rPr>
                <a:t>dieukien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68" name="Freeform 96"/>
            <p:cNvSpPr>
              <a:spLocks/>
            </p:cNvSpPr>
            <p:nvPr/>
          </p:nvSpPr>
          <p:spPr bwMode="auto">
            <a:xfrm>
              <a:off x="943" y="2406"/>
              <a:ext cx="45" cy="45"/>
            </a:xfrm>
            <a:custGeom>
              <a:avLst/>
              <a:gdLst>
                <a:gd name="T0" fmla="*/ 3 w 45"/>
                <a:gd name="T1" fmla="*/ 33 h 45"/>
                <a:gd name="T2" fmla="*/ 0 w 45"/>
                <a:gd name="T3" fmla="*/ 23 h 45"/>
                <a:gd name="T4" fmla="*/ 3 w 45"/>
                <a:gd name="T5" fmla="*/ 14 h 45"/>
                <a:gd name="T6" fmla="*/ 9 w 45"/>
                <a:gd name="T7" fmla="*/ 5 h 45"/>
                <a:gd name="T8" fmla="*/ 17 w 45"/>
                <a:gd name="T9" fmla="*/ 1 h 45"/>
                <a:gd name="T10" fmla="*/ 27 w 45"/>
                <a:gd name="T11" fmla="*/ 0 h 45"/>
                <a:gd name="T12" fmla="*/ 37 w 45"/>
                <a:gd name="T13" fmla="*/ 5 h 45"/>
                <a:gd name="T14" fmla="*/ 43 w 45"/>
                <a:gd name="T15" fmla="*/ 12 h 45"/>
                <a:gd name="T16" fmla="*/ 45 w 45"/>
                <a:gd name="T17" fmla="*/ 22 h 45"/>
                <a:gd name="T18" fmla="*/ 44 w 45"/>
                <a:gd name="T19" fmla="*/ 32 h 45"/>
                <a:gd name="T20" fmla="*/ 38 w 45"/>
                <a:gd name="T21" fmla="*/ 40 h 45"/>
                <a:gd name="T22" fmla="*/ 28 w 45"/>
                <a:gd name="T23" fmla="*/ 45 h 45"/>
                <a:gd name="T24" fmla="*/ 18 w 45"/>
                <a:gd name="T25" fmla="*/ 45 h 45"/>
                <a:gd name="T26" fmla="*/ 9 w 45"/>
                <a:gd name="T27" fmla="*/ 42 h 45"/>
                <a:gd name="T28" fmla="*/ 3 w 45"/>
                <a:gd name="T29" fmla="*/ 33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5"/>
                <a:gd name="T47" fmla="*/ 45 w 45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5">
                  <a:moveTo>
                    <a:pt x="3" y="33"/>
                  </a:moveTo>
                  <a:lnTo>
                    <a:pt x="0" y="23"/>
                  </a:lnTo>
                  <a:lnTo>
                    <a:pt x="3" y="14"/>
                  </a:lnTo>
                  <a:lnTo>
                    <a:pt x="9" y="5"/>
                  </a:lnTo>
                  <a:lnTo>
                    <a:pt x="17" y="1"/>
                  </a:lnTo>
                  <a:lnTo>
                    <a:pt x="27" y="0"/>
                  </a:lnTo>
                  <a:lnTo>
                    <a:pt x="37" y="5"/>
                  </a:lnTo>
                  <a:lnTo>
                    <a:pt x="43" y="12"/>
                  </a:lnTo>
                  <a:lnTo>
                    <a:pt x="45" y="22"/>
                  </a:lnTo>
                  <a:lnTo>
                    <a:pt x="44" y="32"/>
                  </a:lnTo>
                  <a:lnTo>
                    <a:pt x="38" y="40"/>
                  </a:lnTo>
                  <a:lnTo>
                    <a:pt x="28" y="45"/>
                  </a:lnTo>
                  <a:lnTo>
                    <a:pt x="18" y="45"/>
                  </a:lnTo>
                  <a:lnTo>
                    <a:pt x="9" y="42"/>
                  </a:lnTo>
                  <a:lnTo>
                    <a:pt x="3" y="3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69" name="Line 97"/>
            <p:cNvSpPr>
              <a:spLocks noChangeShapeType="1"/>
            </p:cNvSpPr>
            <p:nvPr/>
          </p:nvSpPr>
          <p:spPr bwMode="auto">
            <a:xfrm flipV="1">
              <a:off x="986" y="2346"/>
              <a:ext cx="142" cy="7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0" name="Freeform 98"/>
            <p:cNvSpPr>
              <a:spLocks/>
            </p:cNvSpPr>
            <p:nvPr/>
          </p:nvSpPr>
          <p:spPr bwMode="auto">
            <a:xfrm>
              <a:off x="943" y="2406"/>
              <a:ext cx="45" cy="45"/>
            </a:xfrm>
            <a:custGeom>
              <a:avLst/>
              <a:gdLst>
                <a:gd name="T0" fmla="*/ 3 w 45"/>
                <a:gd name="T1" fmla="*/ 33 h 45"/>
                <a:gd name="T2" fmla="*/ 0 w 45"/>
                <a:gd name="T3" fmla="*/ 23 h 45"/>
                <a:gd name="T4" fmla="*/ 3 w 45"/>
                <a:gd name="T5" fmla="*/ 14 h 45"/>
                <a:gd name="T6" fmla="*/ 9 w 45"/>
                <a:gd name="T7" fmla="*/ 5 h 45"/>
                <a:gd name="T8" fmla="*/ 17 w 45"/>
                <a:gd name="T9" fmla="*/ 1 h 45"/>
                <a:gd name="T10" fmla="*/ 27 w 45"/>
                <a:gd name="T11" fmla="*/ 0 h 45"/>
                <a:gd name="T12" fmla="*/ 37 w 45"/>
                <a:gd name="T13" fmla="*/ 5 h 45"/>
                <a:gd name="T14" fmla="*/ 43 w 45"/>
                <a:gd name="T15" fmla="*/ 12 h 45"/>
                <a:gd name="T16" fmla="*/ 45 w 45"/>
                <a:gd name="T17" fmla="*/ 22 h 45"/>
                <a:gd name="T18" fmla="*/ 44 w 45"/>
                <a:gd name="T19" fmla="*/ 32 h 45"/>
                <a:gd name="T20" fmla="*/ 38 w 45"/>
                <a:gd name="T21" fmla="*/ 40 h 45"/>
                <a:gd name="T22" fmla="*/ 28 w 45"/>
                <a:gd name="T23" fmla="*/ 45 h 45"/>
                <a:gd name="T24" fmla="*/ 18 w 45"/>
                <a:gd name="T25" fmla="*/ 45 h 45"/>
                <a:gd name="T26" fmla="*/ 9 w 45"/>
                <a:gd name="T27" fmla="*/ 42 h 45"/>
                <a:gd name="T28" fmla="*/ 3 w 45"/>
                <a:gd name="T29" fmla="*/ 33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5"/>
                <a:gd name="T47" fmla="*/ 45 w 45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5">
                  <a:moveTo>
                    <a:pt x="3" y="33"/>
                  </a:moveTo>
                  <a:lnTo>
                    <a:pt x="0" y="23"/>
                  </a:lnTo>
                  <a:lnTo>
                    <a:pt x="3" y="14"/>
                  </a:lnTo>
                  <a:lnTo>
                    <a:pt x="9" y="5"/>
                  </a:lnTo>
                  <a:lnTo>
                    <a:pt x="17" y="1"/>
                  </a:lnTo>
                  <a:lnTo>
                    <a:pt x="27" y="0"/>
                  </a:lnTo>
                  <a:lnTo>
                    <a:pt x="37" y="5"/>
                  </a:lnTo>
                  <a:lnTo>
                    <a:pt x="43" y="12"/>
                  </a:lnTo>
                  <a:lnTo>
                    <a:pt x="45" y="22"/>
                  </a:lnTo>
                  <a:lnTo>
                    <a:pt x="44" y="32"/>
                  </a:lnTo>
                  <a:lnTo>
                    <a:pt x="38" y="40"/>
                  </a:lnTo>
                  <a:lnTo>
                    <a:pt x="28" y="45"/>
                  </a:lnTo>
                  <a:lnTo>
                    <a:pt x="18" y="45"/>
                  </a:lnTo>
                  <a:lnTo>
                    <a:pt x="9" y="42"/>
                  </a:lnTo>
                  <a:lnTo>
                    <a:pt x="3" y="3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1" name="Rectangle 99"/>
            <p:cNvSpPr>
              <a:spLocks noChangeArrowheads="1"/>
            </p:cNvSpPr>
            <p:nvPr/>
          </p:nvSpPr>
          <p:spPr bwMode="auto">
            <a:xfrm>
              <a:off x="586" y="2379"/>
              <a:ext cx="2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Nganh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72" name="Freeform 100"/>
            <p:cNvSpPr>
              <a:spLocks/>
            </p:cNvSpPr>
            <p:nvPr/>
          </p:nvSpPr>
          <p:spPr bwMode="auto">
            <a:xfrm>
              <a:off x="946" y="2104"/>
              <a:ext cx="44" cy="45"/>
            </a:xfrm>
            <a:custGeom>
              <a:avLst/>
              <a:gdLst>
                <a:gd name="T0" fmla="*/ 0 w 44"/>
                <a:gd name="T1" fmla="*/ 17 h 45"/>
                <a:gd name="T2" fmla="*/ 4 w 44"/>
                <a:gd name="T3" fmla="*/ 8 h 45"/>
                <a:gd name="T4" fmla="*/ 12 w 44"/>
                <a:gd name="T5" fmla="*/ 1 h 45"/>
                <a:gd name="T6" fmla="*/ 23 w 44"/>
                <a:gd name="T7" fmla="*/ 0 h 45"/>
                <a:gd name="T8" fmla="*/ 32 w 44"/>
                <a:gd name="T9" fmla="*/ 3 h 45"/>
                <a:gd name="T10" fmla="*/ 40 w 44"/>
                <a:gd name="T11" fmla="*/ 9 h 45"/>
                <a:gd name="T12" fmla="*/ 44 w 44"/>
                <a:gd name="T13" fmla="*/ 17 h 45"/>
                <a:gd name="T14" fmla="*/ 43 w 44"/>
                <a:gd name="T15" fmla="*/ 28 h 45"/>
                <a:gd name="T16" fmla="*/ 40 w 44"/>
                <a:gd name="T17" fmla="*/ 37 h 45"/>
                <a:gd name="T18" fmla="*/ 31 w 44"/>
                <a:gd name="T19" fmla="*/ 43 h 45"/>
                <a:gd name="T20" fmla="*/ 21 w 44"/>
                <a:gd name="T21" fmla="*/ 45 h 45"/>
                <a:gd name="T22" fmla="*/ 12 w 44"/>
                <a:gd name="T23" fmla="*/ 43 h 45"/>
                <a:gd name="T24" fmla="*/ 3 w 44"/>
                <a:gd name="T25" fmla="*/ 37 h 45"/>
                <a:gd name="T26" fmla="*/ 0 w 44"/>
                <a:gd name="T27" fmla="*/ 27 h 45"/>
                <a:gd name="T28" fmla="*/ 0 w 44"/>
                <a:gd name="T29" fmla="*/ 17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5"/>
                <a:gd name="T47" fmla="*/ 44 w 44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5">
                  <a:moveTo>
                    <a:pt x="0" y="17"/>
                  </a:moveTo>
                  <a:lnTo>
                    <a:pt x="4" y="8"/>
                  </a:lnTo>
                  <a:lnTo>
                    <a:pt x="12" y="1"/>
                  </a:lnTo>
                  <a:lnTo>
                    <a:pt x="23" y="0"/>
                  </a:lnTo>
                  <a:lnTo>
                    <a:pt x="32" y="3"/>
                  </a:lnTo>
                  <a:lnTo>
                    <a:pt x="40" y="9"/>
                  </a:lnTo>
                  <a:lnTo>
                    <a:pt x="44" y="17"/>
                  </a:lnTo>
                  <a:lnTo>
                    <a:pt x="43" y="28"/>
                  </a:lnTo>
                  <a:lnTo>
                    <a:pt x="40" y="37"/>
                  </a:lnTo>
                  <a:lnTo>
                    <a:pt x="31" y="43"/>
                  </a:lnTo>
                  <a:lnTo>
                    <a:pt x="21" y="45"/>
                  </a:lnTo>
                  <a:lnTo>
                    <a:pt x="12" y="43"/>
                  </a:lnTo>
                  <a:lnTo>
                    <a:pt x="3" y="37"/>
                  </a:lnTo>
                  <a:lnTo>
                    <a:pt x="0" y="2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3" name="Line 101"/>
            <p:cNvSpPr>
              <a:spLocks noChangeShapeType="1"/>
            </p:cNvSpPr>
            <p:nvPr/>
          </p:nvSpPr>
          <p:spPr bwMode="auto">
            <a:xfrm>
              <a:off x="989" y="2132"/>
              <a:ext cx="139" cy="3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4" name="Freeform 102"/>
            <p:cNvSpPr>
              <a:spLocks/>
            </p:cNvSpPr>
            <p:nvPr/>
          </p:nvSpPr>
          <p:spPr bwMode="auto">
            <a:xfrm>
              <a:off x="946" y="2104"/>
              <a:ext cx="44" cy="45"/>
            </a:xfrm>
            <a:custGeom>
              <a:avLst/>
              <a:gdLst>
                <a:gd name="T0" fmla="*/ 0 w 44"/>
                <a:gd name="T1" fmla="*/ 17 h 45"/>
                <a:gd name="T2" fmla="*/ 4 w 44"/>
                <a:gd name="T3" fmla="*/ 8 h 45"/>
                <a:gd name="T4" fmla="*/ 12 w 44"/>
                <a:gd name="T5" fmla="*/ 1 h 45"/>
                <a:gd name="T6" fmla="*/ 23 w 44"/>
                <a:gd name="T7" fmla="*/ 0 h 45"/>
                <a:gd name="T8" fmla="*/ 32 w 44"/>
                <a:gd name="T9" fmla="*/ 3 h 45"/>
                <a:gd name="T10" fmla="*/ 40 w 44"/>
                <a:gd name="T11" fmla="*/ 9 h 45"/>
                <a:gd name="T12" fmla="*/ 44 w 44"/>
                <a:gd name="T13" fmla="*/ 17 h 45"/>
                <a:gd name="T14" fmla="*/ 43 w 44"/>
                <a:gd name="T15" fmla="*/ 28 h 45"/>
                <a:gd name="T16" fmla="*/ 40 w 44"/>
                <a:gd name="T17" fmla="*/ 37 h 45"/>
                <a:gd name="T18" fmla="*/ 31 w 44"/>
                <a:gd name="T19" fmla="*/ 43 h 45"/>
                <a:gd name="T20" fmla="*/ 21 w 44"/>
                <a:gd name="T21" fmla="*/ 45 h 45"/>
                <a:gd name="T22" fmla="*/ 12 w 44"/>
                <a:gd name="T23" fmla="*/ 43 h 45"/>
                <a:gd name="T24" fmla="*/ 3 w 44"/>
                <a:gd name="T25" fmla="*/ 37 h 45"/>
                <a:gd name="T26" fmla="*/ 0 w 44"/>
                <a:gd name="T27" fmla="*/ 27 h 45"/>
                <a:gd name="T28" fmla="*/ 0 w 44"/>
                <a:gd name="T29" fmla="*/ 17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5"/>
                <a:gd name="T47" fmla="*/ 44 w 44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5">
                  <a:moveTo>
                    <a:pt x="0" y="17"/>
                  </a:moveTo>
                  <a:lnTo>
                    <a:pt x="4" y="8"/>
                  </a:lnTo>
                  <a:lnTo>
                    <a:pt x="12" y="1"/>
                  </a:lnTo>
                  <a:lnTo>
                    <a:pt x="23" y="0"/>
                  </a:lnTo>
                  <a:lnTo>
                    <a:pt x="32" y="3"/>
                  </a:lnTo>
                  <a:lnTo>
                    <a:pt x="40" y="9"/>
                  </a:lnTo>
                  <a:lnTo>
                    <a:pt x="44" y="17"/>
                  </a:lnTo>
                  <a:lnTo>
                    <a:pt x="43" y="28"/>
                  </a:lnTo>
                  <a:lnTo>
                    <a:pt x="40" y="37"/>
                  </a:lnTo>
                  <a:lnTo>
                    <a:pt x="31" y="43"/>
                  </a:lnTo>
                  <a:lnTo>
                    <a:pt x="21" y="45"/>
                  </a:lnTo>
                  <a:lnTo>
                    <a:pt x="12" y="43"/>
                  </a:lnTo>
                  <a:lnTo>
                    <a:pt x="3" y="37"/>
                  </a:lnTo>
                  <a:lnTo>
                    <a:pt x="0" y="27"/>
                  </a:lnTo>
                  <a:lnTo>
                    <a:pt x="0" y="17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5" name="Freeform 103"/>
            <p:cNvSpPr>
              <a:spLocks/>
            </p:cNvSpPr>
            <p:nvPr/>
          </p:nvSpPr>
          <p:spPr bwMode="auto">
            <a:xfrm>
              <a:off x="944" y="1968"/>
              <a:ext cx="45" cy="47"/>
            </a:xfrm>
            <a:custGeom>
              <a:avLst/>
              <a:gdLst>
                <a:gd name="T0" fmla="*/ 2 w 45"/>
                <a:gd name="T1" fmla="*/ 16 h 47"/>
                <a:gd name="T2" fmla="*/ 6 w 45"/>
                <a:gd name="T3" fmla="*/ 8 h 47"/>
                <a:gd name="T4" fmla="*/ 15 w 45"/>
                <a:gd name="T5" fmla="*/ 3 h 47"/>
                <a:gd name="T6" fmla="*/ 26 w 45"/>
                <a:gd name="T7" fmla="*/ 0 h 47"/>
                <a:gd name="T8" fmla="*/ 36 w 45"/>
                <a:gd name="T9" fmla="*/ 4 h 47"/>
                <a:gd name="T10" fmla="*/ 43 w 45"/>
                <a:gd name="T11" fmla="*/ 11 h 47"/>
                <a:gd name="T12" fmla="*/ 45 w 45"/>
                <a:gd name="T13" fmla="*/ 21 h 47"/>
                <a:gd name="T14" fmla="*/ 45 w 45"/>
                <a:gd name="T15" fmla="*/ 31 h 47"/>
                <a:gd name="T16" fmla="*/ 39 w 45"/>
                <a:gd name="T17" fmla="*/ 39 h 47"/>
                <a:gd name="T18" fmla="*/ 31 w 45"/>
                <a:gd name="T19" fmla="*/ 45 h 47"/>
                <a:gd name="T20" fmla="*/ 21 w 45"/>
                <a:gd name="T21" fmla="*/ 47 h 47"/>
                <a:gd name="T22" fmla="*/ 11 w 45"/>
                <a:gd name="T23" fmla="*/ 43 h 47"/>
                <a:gd name="T24" fmla="*/ 4 w 45"/>
                <a:gd name="T25" fmla="*/ 36 h 47"/>
                <a:gd name="T26" fmla="*/ 0 w 45"/>
                <a:gd name="T27" fmla="*/ 27 h 47"/>
                <a:gd name="T28" fmla="*/ 2 w 45"/>
                <a:gd name="T29" fmla="*/ 16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7"/>
                <a:gd name="T47" fmla="*/ 45 w 45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7">
                  <a:moveTo>
                    <a:pt x="2" y="16"/>
                  </a:moveTo>
                  <a:lnTo>
                    <a:pt x="6" y="8"/>
                  </a:lnTo>
                  <a:lnTo>
                    <a:pt x="15" y="3"/>
                  </a:lnTo>
                  <a:lnTo>
                    <a:pt x="26" y="0"/>
                  </a:lnTo>
                  <a:lnTo>
                    <a:pt x="36" y="4"/>
                  </a:lnTo>
                  <a:lnTo>
                    <a:pt x="43" y="11"/>
                  </a:lnTo>
                  <a:lnTo>
                    <a:pt x="45" y="21"/>
                  </a:lnTo>
                  <a:lnTo>
                    <a:pt x="45" y="31"/>
                  </a:lnTo>
                  <a:lnTo>
                    <a:pt x="39" y="39"/>
                  </a:lnTo>
                  <a:lnTo>
                    <a:pt x="31" y="45"/>
                  </a:lnTo>
                  <a:lnTo>
                    <a:pt x="21" y="47"/>
                  </a:lnTo>
                  <a:lnTo>
                    <a:pt x="11" y="43"/>
                  </a:lnTo>
                  <a:lnTo>
                    <a:pt x="4" y="36"/>
                  </a:lnTo>
                  <a:lnTo>
                    <a:pt x="0" y="27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6" name="Line 104"/>
            <p:cNvSpPr>
              <a:spLocks noChangeShapeType="1"/>
            </p:cNvSpPr>
            <p:nvPr/>
          </p:nvSpPr>
          <p:spPr bwMode="auto">
            <a:xfrm>
              <a:off x="989" y="1999"/>
              <a:ext cx="230" cy="7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7" name="Freeform 105"/>
            <p:cNvSpPr>
              <a:spLocks/>
            </p:cNvSpPr>
            <p:nvPr/>
          </p:nvSpPr>
          <p:spPr bwMode="auto">
            <a:xfrm>
              <a:off x="944" y="1968"/>
              <a:ext cx="45" cy="47"/>
            </a:xfrm>
            <a:custGeom>
              <a:avLst/>
              <a:gdLst>
                <a:gd name="T0" fmla="*/ 2 w 45"/>
                <a:gd name="T1" fmla="*/ 16 h 47"/>
                <a:gd name="T2" fmla="*/ 6 w 45"/>
                <a:gd name="T3" fmla="*/ 8 h 47"/>
                <a:gd name="T4" fmla="*/ 15 w 45"/>
                <a:gd name="T5" fmla="*/ 3 h 47"/>
                <a:gd name="T6" fmla="*/ 26 w 45"/>
                <a:gd name="T7" fmla="*/ 0 h 47"/>
                <a:gd name="T8" fmla="*/ 36 w 45"/>
                <a:gd name="T9" fmla="*/ 4 h 47"/>
                <a:gd name="T10" fmla="*/ 43 w 45"/>
                <a:gd name="T11" fmla="*/ 11 h 47"/>
                <a:gd name="T12" fmla="*/ 45 w 45"/>
                <a:gd name="T13" fmla="*/ 21 h 47"/>
                <a:gd name="T14" fmla="*/ 45 w 45"/>
                <a:gd name="T15" fmla="*/ 31 h 47"/>
                <a:gd name="T16" fmla="*/ 39 w 45"/>
                <a:gd name="T17" fmla="*/ 39 h 47"/>
                <a:gd name="T18" fmla="*/ 31 w 45"/>
                <a:gd name="T19" fmla="*/ 45 h 47"/>
                <a:gd name="T20" fmla="*/ 21 w 45"/>
                <a:gd name="T21" fmla="*/ 47 h 47"/>
                <a:gd name="T22" fmla="*/ 11 w 45"/>
                <a:gd name="T23" fmla="*/ 43 h 47"/>
                <a:gd name="T24" fmla="*/ 4 w 45"/>
                <a:gd name="T25" fmla="*/ 36 h 47"/>
                <a:gd name="T26" fmla="*/ 0 w 45"/>
                <a:gd name="T27" fmla="*/ 27 h 47"/>
                <a:gd name="T28" fmla="*/ 2 w 45"/>
                <a:gd name="T29" fmla="*/ 16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7"/>
                <a:gd name="T47" fmla="*/ 45 w 45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7">
                  <a:moveTo>
                    <a:pt x="2" y="16"/>
                  </a:moveTo>
                  <a:lnTo>
                    <a:pt x="6" y="8"/>
                  </a:lnTo>
                  <a:lnTo>
                    <a:pt x="15" y="3"/>
                  </a:lnTo>
                  <a:lnTo>
                    <a:pt x="26" y="0"/>
                  </a:lnTo>
                  <a:lnTo>
                    <a:pt x="36" y="4"/>
                  </a:lnTo>
                  <a:lnTo>
                    <a:pt x="43" y="11"/>
                  </a:lnTo>
                  <a:lnTo>
                    <a:pt x="45" y="21"/>
                  </a:lnTo>
                  <a:lnTo>
                    <a:pt x="45" y="31"/>
                  </a:lnTo>
                  <a:lnTo>
                    <a:pt x="39" y="39"/>
                  </a:lnTo>
                  <a:lnTo>
                    <a:pt x="31" y="45"/>
                  </a:lnTo>
                  <a:lnTo>
                    <a:pt x="21" y="47"/>
                  </a:lnTo>
                  <a:lnTo>
                    <a:pt x="11" y="43"/>
                  </a:lnTo>
                  <a:lnTo>
                    <a:pt x="4" y="36"/>
                  </a:lnTo>
                  <a:lnTo>
                    <a:pt x="0" y="27"/>
                  </a:lnTo>
                  <a:lnTo>
                    <a:pt x="2" y="16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78" name="Rectangle 106"/>
            <p:cNvSpPr>
              <a:spLocks noChangeArrowheads="1"/>
            </p:cNvSpPr>
            <p:nvPr/>
          </p:nvSpPr>
          <p:spPr bwMode="auto">
            <a:xfrm>
              <a:off x="617" y="1925"/>
              <a:ext cx="25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MaSV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79" name="Rectangle 107"/>
            <p:cNvSpPr>
              <a:spLocks noChangeArrowheads="1"/>
            </p:cNvSpPr>
            <p:nvPr/>
          </p:nvSpPr>
          <p:spPr bwMode="auto">
            <a:xfrm>
              <a:off x="704" y="2220"/>
              <a:ext cx="16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Lop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80" name="Freeform 108"/>
            <p:cNvSpPr>
              <a:spLocks/>
            </p:cNvSpPr>
            <p:nvPr/>
          </p:nvSpPr>
          <p:spPr bwMode="auto">
            <a:xfrm>
              <a:off x="1471" y="1303"/>
              <a:ext cx="43" cy="45"/>
            </a:xfrm>
            <a:custGeom>
              <a:avLst/>
              <a:gdLst>
                <a:gd name="T0" fmla="*/ 21 w 43"/>
                <a:gd name="T1" fmla="*/ 0 h 45"/>
                <a:gd name="T2" fmla="*/ 12 w 43"/>
                <a:gd name="T3" fmla="*/ 1 h 45"/>
                <a:gd name="T4" fmla="*/ 3 w 43"/>
                <a:gd name="T5" fmla="*/ 8 h 45"/>
                <a:gd name="T6" fmla="*/ 0 w 43"/>
                <a:gd name="T7" fmla="*/ 17 h 45"/>
                <a:gd name="T8" fmla="*/ 0 w 43"/>
                <a:gd name="T9" fmla="*/ 28 h 45"/>
                <a:gd name="T10" fmla="*/ 3 w 43"/>
                <a:gd name="T11" fmla="*/ 36 h 45"/>
                <a:gd name="T12" fmla="*/ 12 w 43"/>
                <a:gd name="T13" fmla="*/ 42 h 45"/>
                <a:gd name="T14" fmla="*/ 21 w 43"/>
                <a:gd name="T15" fmla="*/ 45 h 45"/>
                <a:gd name="T16" fmla="*/ 31 w 43"/>
                <a:gd name="T17" fmla="*/ 42 h 45"/>
                <a:gd name="T18" fmla="*/ 40 w 43"/>
                <a:gd name="T19" fmla="*/ 36 h 45"/>
                <a:gd name="T20" fmla="*/ 43 w 43"/>
                <a:gd name="T21" fmla="*/ 28 h 45"/>
                <a:gd name="T22" fmla="*/ 43 w 43"/>
                <a:gd name="T23" fmla="*/ 17 h 45"/>
                <a:gd name="T24" fmla="*/ 40 w 43"/>
                <a:gd name="T25" fmla="*/ 8 h 45"/>
                <a:gd name="T26" fmla="*/ 31 w 43"/>
                <a:gd name="T27" fmla="*/ 1 h 45"/>
                <a:gd name="T28" fmla="*/ 21 w 43"/>
                <a:gd name="T29" fmla="*/ 0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3"/>
                <a:gd name="T46" fmla="*/ 0 h 45"/>
                <a:gd name="T47" fmla="*/ 43 w 43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3" h="45">
                  <a:moveTo>
                    <a:pt x="21" y="0"/>
                  </a:moveTo>
                  <a:lnTo>
                    <a:pt x="12" y="1"/>
                  </a:lnTo>
                  <a:lnTo>
                    <a:pt x="3" y="8"/>
                  </a:lnTo>
                  <a:lnTo>
                    <a:pt x="0" y="17"/>
                  </a:lnTo>
                  <a:lnTo>
                    <a:pt x="0" y="28"/>
                  </a:lnTo>
                  <a:lnTo>
                    <a:pt x="3" y="36"/>
                  </a:lnTo>
                  <a:lnTo>
                    <a:pt x="12" y="42"/>
                  </a:lnTo>
                  <a:lnTo>
                    <a:pt x="21" y="45"/>
                  </a:lnTo>
                  <a:lnTo>
                    <a:pt x="31" y="42"/>
                  </a:lnTo>
                  <a:lnTo>
                    <a:pt x="40" y="36"/>
                  </a:lnTo>
                  <a:lnTo>
                    <a:pt x="43" y="28"/>
                  </a:lnTo>
                  <a:lnTo>
                    <a:pt x="43" y="17"/>
                  </a:lnTo>
                  <a:lnTo>
                    <a:pt x="40" y="8"/>
                  </a:lnTo>
                  <a:lnTo>
                    <a:pt x="31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1" name="Line 109"/>
            <p:cNvSpPr>
              <a:spLocks noChangeShapeType="1"/>
            </p:cNvSpPr>
            <p:nvPr/>
          </p:nvSpPr>
          <p:spPr bwMode="auto">
            <a:xfrm>
              <a:off x="1492" y="1348"/>
              <a:ext cx="1" cy="18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2" name="Freeform 110"/>
            <p:cNvSpPr>
              <a:spLocks/>
            </p:cNvSpPr>
            <p:nvPr/>
          </p:nvSpPr>
          <p:spPr bwMode="auto">
            <a:xfrm>
              <a:off x="1471" y="1303"/>
              <a:ext cx="43" cy="45"/>
            </a:xfrm>
            <a:custGeom>
              <a:avLst/>
              <a:gdLst>
                <a:gd name="T0" fmla="*/ 21 w 43"/>
                <a:gd name="T1" fmla="*/ 0 h 45"/>
                <a:gd name="T2" fmla="*/ 12 w 43"/>
                <a:gd name="T3" fmla="*/ 1 h 45"/>
                <a:gd name="T4" fmla="*/ 3 w 43"/>
                <a:gd name="T5" fmla="*/ 8 h 45"/>
                <a:gd name="T6" fmla="*/ 0 w 43"/>
                <a:gd name="T7" fmla="*/ 17 h 45"/>
                <a:gd name="T8" fmla="*/ 0 w 43"/>
                <a:gd name="T9" fmla="*/ 28 h 45"/>
                <a:gd name="T10" fmla="*/ 3 w 43"/>
                <a:gd name="T11" fmla="*/ 36 h 45"/>
                <a:gd name="T12" fmla="*/ 12 w 43"/>
                <a:gd name="T13" fmla="*/ 42 h 45"/>
                <a:gd name="T14" fmla="*/ 21 w 43"/>
                <a:gd name="T15" fmla="*/ 45 h 45"/>
                <a:gd name="T16" fmla="*/ 31 w 43"/>
                <a:gd name="T17" fmla="*/ 42 h 45"/>
                <a:gd name="T18" fmla="*/ 40 w 43"/>
                <a:gd name="T19" fmla="*/ 36 h 45"/>
                <a:gd name="T20" fmla="*/ 43 w 43"/>
                <a:gd name="T21" fmla="*/ 28 h 45"/>
                <a:gd name="T22" fmla="*/ 43 w 43"/>
                <a:gd name="T23" fmla="*/ 17 h 45"/>
                <a:gd name="T24" fmla="*/ 40 w 43"/>
                <a:gd name="T25" fmla="*/ 8 h 45"/>
                <a:gd name="T26" fmla="*/ 31 w 43"/>
                <a:gd name="T27" fmla="*/ 1 h 45"/>
                <a:gd name="T28" fmla="*/ 21 w 43"/>
                <a:gd name="T29" fmla="*/ 0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3"/>
                <a:gd name="T46" fmla="*/ 0 h 45"/>
                <a:gd name="T47" fmla="*/ 43 w 43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3" h="45">
                  <a:moveTo>
                    <a:pt x="21" y="0"/>
                  </a:moveTo>
                  <a:lnTo>
                    <a:pt x="12" y="1"/>
                  </a:lnTo>
                  <a:lnTo>
                    <a:pt x="3" y="8"/>
                  </a:lnTo>
                  <a:lnTo>
                    <a:pt x="0" y="17"/>
                  </a:lnTo>
                  <a:lnTo>
                    <a:pt x="0" y="28"/>
                  </a:lnTo>
                  <a:lnTo>
                    <a:pt x="3" y="36"/>
                  </a:lnTo>
                  <a:lnTo>
                    <a:pt x="12" y="42"/>
                  </a:lnTo>
                  <a:lnTo>
                    <a:pt x="21" y="45"/>
                  </a:lnTo>
                  <a:lnTo>
                    <a:pt x="31" y="42"/>
                  </a:lnTo>
                  <a:lnTo>
                    <a:pt x="40" y="36"/>
                  </a:lnTo>
                  <a:lnTo>
                    <a:pt x="43" y="28"/>
                  </a:lnTo>
                  <a:lnTo>
                    <a:pt x="43" y="17"/>
                  </a:lnTo>
                  <a:lnTo>
                    <a:pt x="40" y="8"/>
                  </a:lnTo>
                  <a:lnTo>
                    <a:pt x="31" y="1"/>
                  </a:lnTo>
                  <a:lnTo>
                    <a:pt x="2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3" name="Line 111"/>
            <p:cNvSpPr>
              <a:spLocks noChangeShapeType="1"/>
            </p:cNvSpPr>
            <p:nvPr/>
          </p:nvSpPr>
          <p:spPr bwMode="auto">
            <a:xfrm>
              <a:off x="1903" y="1666"/>
              <a:ext cx="501" cy="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4" name="Line 112"/>
            <p:cNvSpPr>
              <a:spLocks noChangeShapeType="1"/>
            </p:cNvSpPr>
            <p:nvPr/>
          </p:nvSpPr>
          <p:spPr bwMode="auto">
            <a:xfrm>
              <a:off x="3133" y="1666"/>
              <a:ext cx="547" cy="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5" name="Line 113"/>
            <p:cNvSpPr>
              <a:spLocks noChangeShapeType="1"/>
            </p:cNvSpPr>
            <p:nvPr/>
          </p:nvSpPr>
          <p:spPr bwMode="auto">
            <a:xfrm>
              <a:off x="4091" y="1802"/>
              <a:ext cx="1" cy="27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6" name="Freeform 114"/>
            <p:cNvSpPr>
              <a:spLocks/>
            </p:cNvSpPr>
            <p:nvPr/>
          </p:nvSpPr>
          <p:spPr bwMode="auto">
            <a:xfrm>
              <a:off x="4273" y="1939"/>
              <a:ext cx="729" cy="682"/>
            </a:xfrm>
            <a:custGeom>
              <a:avLst/>
              <a:gdLst>
                <a:gd name="T0" fmla="*/ 0 w 729"/>
                <a:gd name="T1" fmla="*/ 136 h 682"/>
                <a:gd name="T2" fmla="*/ 0 w 729"/>
                <a:gd name="T3" fmla="*/ 0 h 682"/>
                <a:gd name="T4" fmla="*/ 729 w 729"/>
                <a:gd name="T5" fmla="*/ 0 h 682"/>
                <a:gd name="T6" fmla="*/ 729 w 729"/>
                <a:gd name="T7" fmla="*/ 682 h 6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9"/>
                <a:gd name="T13" fmla="*/ 0 h 682"/>
                <a:gd name="T14" fmla="*/ 729 w 729"/>
                <a:gd name="T15" fmla="*/ 682 h 6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9" h="682">
                  <a:moveTo>
                    <a:pt x="0" y="136"/>
                  </a:moveTo>
                  <a:lnTo>
                    <a:pt x="0" y="0"/>
                  </a:lnTo>
                  <a:lnTo>
                    <a:pt x="729" y="0"/>
                  </a:lnTo>
                  <a:lnTo>
                    <a:pt x="729" y="68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7" name="Freeform 115"/>
            <p:cNvSpPr>
              <a:spLocks/>
            </p:cNvSpPr>
            <p:nvPr/>
          </p:nvSpPr>
          <p:spPr bwMode="auto">
            <a:xfrm>
              <a:off x="4273" y="2439"/>
              <a:ext cx="729" cy="592"/>
            </a:xfrm>
            <a:custGeom>
              <a:avLst/>
              <a:gdLst>
                <a:gd name="T0" fmla="*/ 0 w 729"/>
                <a:gd name="T1" fmla="*/ 0 h 592"/>
                <a:gd name="T2" fmla="*/ 0 w 729"/>
                <a:gd name="T3" fmla="*/ 592 h 592"/>
                <a:gd name="T4" fmla="*/ 729 w 729"/>
                <a:gd name="T5" fmla="*/ 592 h 592"/>
                <a:gd name="T6" fmla="*/ 729 w 729"/>
                <a:gd name="T7" fmla="*/ 455 h 5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9"/>
                <a:gd name="T13" fmla="*/ 0 h 592"/>
                <a:gd name="T14" fmla="*/ 729 w 729"/>
                <a:gd name="T15" fmla="*/ 592 h 5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9" h="592">
                  <a:moveTo>
                    <a:pt x="0" y="0"/>
                  </a:moveTo>
                  <a:lnTo>
                    <a:pt x="0" y="592"/>
                  </a:lnTo>
                  <a:lnTo>
                    <a:pt x="729" y="592"/>
                  </a:lnTo>
                  <a:lnTo>
                    <a:pt x="729" y="45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88" name="Rectangle 116"/>
            <p:cNvSpPr>
              <a:spLocks noChangeArrowheads="1"/>
            </p:cNvSpPr>
            <p:nvPr/>
          </p:nvSpPr>
          <p:spPr bwMode="auto">
            <a:xfrm>
              <a:off x="1604" y="1288"/>
              <a:ext cx="23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Diem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89" name="Rectangle 117"/>
            <p:cNvSpPr>
              <a:spLocks noChangeArrowheads="1"/>
            </p:cNvSpPr>
            <p:nvPr/>
          </p:nvSpPr>
          <p:spPr bwMode="auto">
            <a:xfrm>
              <a:off x="1595" y="1925"/>
              <a:ext cx="22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(1,n)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0" name="Rectangle 118"/>
            <p:cNvSpPr>
              <a:spLocks noChangeArrowheads="1"/>
            </p:cNvSpPr>
            <p:nvPr/>
          </p:nvSpPr>
          <p:spPr bwMode="auto">
            <a:xfrm>
              <a:off x="2159" y="1521"/>
              <a:ext cx="22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(0,n)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1" name="Rectangle 119"/>
            <p:cNvSpPr>
              <a:spLocks noChangeArrowheads="1"/>
            </p:cNvSpPr>
            <p:nvPr/>
          </p:nvSpPr>
          <p:spPr bwMode="auto">
            <a:xfrm>
              <a:off x="704" y="2066"/>
              <a:ext cx="174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Ten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2" name="Rectangle 120"/>
            <p:cNvSpPr>
              <a:spLocks noChangeArrowheads="1"/>
            </p:cNvSpPr>
            <p:nvPr/>
          </p:nvSpPr>
          <p:spPr bwMode="auto">
            <a:xfrm>
              <a:off x="3200" y="1511"/>
              <a:ext cx="22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(1,1)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3" name="Rectangle 121"/>
            <p:cNvSpPr>
              <a:spLocks noChangeArrowheads="1"/>
            </p:cNvSpPr>
            <p:nvPr/>
          </p:nvSpPr>
          <p:spPr bwMode="auto">
            <a:xfrm>
              <a:off x="4611" y="1784"/>
              <a:ext cx="483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mhoctruoc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4" name="Rectangle 122"/>
            <p:cNvSpPr>
              <a:spLocks noChangeArrowheads="1"/>
            </p:cNvSpPr>
            <p:nvPr/>
          </p:nvSpPr>
          <p:spPr bwMode="auto">
            <a:xfrm>
              <a:off x="4616" y="3057"/>
              <a:ext cx="408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mhocsau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5" name="Rectangle 123"/>
            <p:cNvSpPr>
              <a:spLocks noChangeArrowheads="1"/>
            </p:cNvSpPr>
            <p:nvPr/>
          </p:nvSpPr>
          <p:spPr bwMode="auto">
            <a:xfrm>
              <a:off x="5077" y="2470"/>
              <a:ext cx="22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(0,n)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6" name="Rectangle 124"/>
            <p:cNvSpPr>
              <a:spLocks noChangeArrowheads="1"/>
            </p:cNvSpPr>
            <p:nvPr/>
          </p:nvSpPr>
          <p:spPr bwMode="auto">
            <a:xfrm>
              <a:off x="5059" y="2885"/>
              <a:ext cx="22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(0,n)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297" name="Freeform 125"/>
            <p:cNvSpPr>
              <a:spLocks/>
            </p:cNvSpPr>
            <p:nvPr/>
          </p:nvSpPr>
          <p:spPr bwMode="auto">
            <a:xfrm>
              <a:off x="3541" y="2401"/>
              <a:ext cx="45" cy="45"/>
            </a:xfrm>
            <a:custGeom>
              <a:avLst/>
              <a:gdLst>
                <a:gd name="T0" fmla="*/ 3 w 45"/>
                <a:gd name="T1" fmla="*/ 33 h 45"/>
                <a:gd name="T2" fmla="*/ 0 w 45"/>
                <a:gd name="T3" fmla="*/ 23 h 45"/>
                <a:gd name="T4" fmla="*/ 2 w 45"/>
                <a:gd name="T5" fmla="*/ 14 h 45"/>
                <a:gd name="T6" fmla="*/ 9 w 45"/>
                <a:gd name="T7" fmla="*/ 5 h 45"/>
                <a:gd name="T8" fmla="*/ 17 w 45"/>
                <a:gd name="T9" fmla="*/ 0 h 45"/>
                <a:gd name="T10" fmla="*/ 27 w 45"/>
                <a:gd name="T11" fmla="*/ 0 h 45"/>
                <a:gd name="T12" fmla="*/ 37 w 45"/>
                <a:gd name="T13" fmla="*/ 5 h 45"/>
                <a:gd name="T14" fmla="*/ 43 w 45"/>
                <a:gd name="T15" fmla="*/ 13 h 45"/>
                <a:gd name="T16" fmla="*/ 45 w 45"/>
                <a:gd name="T17" fmla="*/ 22 h 45"/>
                <a:gd name="T18" fmla="*/ 44 w 45"/>
                <a:gd name="T19" fmla="*/ 32 h 45"/>
                <a:gd name="T20" fmla="*/ 38 w 45"/>
                <a:gd name="T21" fmla="*/ 40 h 45"/>
                <a:gd name="T22" fmla="*/ 28 w 45"/>
                <a:gd name="T23" fmla="*/ 45 h 45"/>
                <a:gd name="T24" fmla="*/ 19 w 45"/>
                <a:gd name="T25" fmla="*/ 45 h 45"/>
                <a:gd name="T26" fmla="*/ 9 w 45"/>
                <a:gd name="T27" fmla="*/ 42 h 45"/>
                <a:gd name="T28" fmla="*/ 3 w 45"/>
                <a:gd name="T29" fmla="*/ 33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5"/>
                <a:gd name="T47" fmla="*/ 45 w 45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5">
                  <a:moveTo>
                    <a:pt x="3" y="33"/>
                  </a:moveTo>
                  <a:lnTo>
                    <a:pt x="0" y="23"/>
                  </a:lnTo>
                  <a:lnTo>
                    <a:pt x="2" y="14"/>
                  </a:lnTo>
                  <a:lnTo>
                    <a:pt x="9" y="5"/>
                  </a:lnTo>
                  <a:lnTo>
                    <a:pt x="17" y="0"/>
                  </a:lnTo>
                  <a:lnTo>
                    <a:pt x="27" y="0"/>
                  </a:lnTo>
                  <a:lnTo>
                    <a:pt x="37" y="5"/>
                  </a:lnTo>
                  <a:lnTo>
                    <a:pt x="43" y="13"/>
                  </a:lnTo>
                  <a:lnTo>
                    <a:pt x="45" y="22"/>
                  </a:lnTo>
                  <a:lnTo>
                    <a:pt x="44" y="32"/>
                  </a:lnTo>
                  <a:lnTo>
                    <a:pt x="38" y="40"/>
                  </a:lnTo>
                  <a:lnTo>
                    <a:pt x="28" y="45"/>
                  </a:lnTo>
                  <a:lnTo>
                    <a:pt x="19" y="45"/>
                  </a:lnTo>
                  <a:lnTo>
                    <a:pt x="9" y="42"/>
                  </a:lnTo>
                  <a:lnTo>
                    <a:pt x="3" y="3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98" name="Line 126"/>
            <p:cNvSpPr>
              <a:spLocks noChangeShapeType="1"/>
            </p:cNvSpPr>
            <p:nvPr/>
          </p:nvSpPr>
          <p:spPr bwMode="auto">
            <a:xfrm flipV="1">
              <a:off x="3584" y="2341"/>
              <a:ext cx="142" cy="7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299" name="Freeform 127"/>
            <p:cNvSpPr>
              <a:spLocks/>
            </p:cNvSpPr>
            <p:nvPr/>
          </p:nvSpPr>
          <p:spPr bwMode="auto">
            <a:xfrm>
              <a:off x="3541" y="2401"/>
              <a:ext cx="45" cy="45"/>
            </a:xfrm>
            <a:custGeom>
              <a:avLst/>
              <a:gdLst>
                <a:gd name="T0" fmla="*/ 3 w 45"/>
                <a:gd name="T1" fmla="*/ 33 h 45"/>
                <a:gd name="T2" fmla="*/ 0 w 45"/>
                <a:gd name="T3" fmla="*/ 23 h 45"/>
                <a:gd name="T4" fmla="*/ 2 w 45"/>
                <a:gd name="T5" fmla="*/ 14 h 45"/>
                <a:gd name="T6" fmla="*/ 9 w 45"/>
                <a:gd name="T7" fmla="*/ 5 h 45"/>
                <a:gd name="T8" fmla="*/ 17 w 45"/>
                <a:gd name="T9" fmla="*/ 0 h 45"/>
                <a:gd name="T10" fmla="*/ 27 w 45"/>
                <a:gd name="T11" fmla="*/ 0 h 45"/>
                <a:gd name="T12" fmla="*/ 37 w 45"/>
                <a:gd name="T13" fmla="*/ 5 h 45"/>
                <a:gd name="T14" fmla="*/ 43 w 45"/>
                <a:gd name="T15" fmla="*/ 13 h 45"/>
                <a:gd name="T16" fmla="*/ 45 w 45"/>
                <a:gd name="T17" fmla="*/ 22 h 45"/>
                <a:gd name="T18" fmla="*/ 44 w 45"/>
                <a:gd name="T19" fmla="*/ 32 h 45"/>
                <a:gd name="T20" fmla="*/ 38 w 45"/>
                <a:gd name="T21" fmla="*/ 40 h 45"/>
                <a:gd name="T22" fmla="*/ 28 w 45"/>
                <a:gd name="T23" fmla="*/ 45 h 45"/>
                <a:gd name="T24" fmla="*/ 19 w 45"/>
                <a:gd name="T25" fmla="*/ 45 h 45"/>
                <a:gd name="T26" fmla="*/ 9 w 45"/>
                <a:gd name="T27" fmla="*/ 42 h 45"/>
                <a:gd name="T28" fmla="*/ 3 w 45"/>
                <a:gd name="T29" fmla="*/ 33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5"/>
                <a:gd name="T47" fmla="*/ 45 w 45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5">
                  <a:moveTo>
                    <a:pt x="3" y="33"/>
                  </a:moveTo>
                  <a:lnTo>
                    <a:pt x="0" y="23"/>
                  </a:lnTo>
                  <a:lnTo>
                    <a:pt x="2" y="14"/>
                  </a:lnTo>
                  <a:lnTo>
                    <a:pt x="9" y="5"/>
                  </a:lnTo>
                  <a:lnTo>
                    <a:pt x="17" y="0"/>
                  </a:lnTo>
                  <a:lnTo>
                    <a:pt x="27" y="0"/>
                  </a:lnTo>
                  <a:lnTo>
                    <a:pt x="37" y="5"/>
                  </a:lnTo>
                  <a:lnTo>
                    <a:pt x="43" y="13"/>
                  </a:lnTo>
                  <a:lnTo>
                    <a:pt x="45" y="22"/>
                  </a:lnTo>
                  <a:lnTo>
                    <a:pt x="44" y="32"/>
                  </a:lnTo>
                  <a:lnTo>
                    <a:pt x="38" y="40"/>
                  </a:lnTo>
                  <a:lnTo>
                    <a:pt x="28" y="45"/>
                  </a:lnTo>
                  <a:lnTo>
                    <a:pt x="19" y="45"/>
                  </a:lnTo>
                  <a:lnTo>
                    <a:pt x="9" y="42"/>
                  </a:lnTo>
                  <a:lnTo>
                    <a:pt x="3" y="3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00" name="Rectangle 128"/>
            <p:cNvSpPr>
              <a:spLocks noChangeArrowheads="1"/>
            </p:cNvSpPr>
            <p:nvPr/>
          </p:nvSpPr>
          <p:spPr bwMode="auto">
            <a:xfrm>
              <a:off x="3207" y="2374"/>
              <a:ext cx="273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Tinchi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01" name="Freeform 129"/>
            <p:cNvSpPr>
              <a:spLocks/>
            </p:cNvSpPr>
            <p:nvPr/>
          </p:nvSpPr>
          <p:spPr bwMode="auto">
            <a:xfrm>
              <a:off x="3544" y="2098"/>
              <a:ext cx="44" cy="46"/>
            </a:xfrm>
            <a:custGeom>
              <a:avLst/>
              <a:gdLst>
                <a:gd name="T0" fmla="*/ 0 w 44"/>
                <a:gd name="T1" fmla="*/ 18 h 46"/>
                <a:gd name="T2" fmla="*/ 5 w 44"/>
                <a:gd name="T3" fmla="*/ 9 h 46"/>
                <a:gd name="T4" fmla="*/ 12 w 44"/>
                <a:gd name="T5" fmla="*/ 3 h 46"/>
                <a:gd name="T6" fmla="*/ 22 w 44"/>
                <a:gd name="T7" fmla="*/ 0 h 46"/>
                <a:gd name="T8" fmla="*/ 33 w 44"/>
                <a:gd name="T9" fmla="*/ 3 h 46"/>
                <a:gd name="T10" fmla="*/ 40 w 44"/>
                <a:gd name="T11" fmla="*/ 10 h 46"/>
                <a:gd name="T12" fmla="*/ 44 w 44"/>
                <a:gd name="T13" fmla="*/ 18 h 46"/>
                <a:gd name="T14" fmla="*/ 44 w 44"/>
                <a:gd name="T15" fmla="*/ 29 h 46"/>
                <a:gd name="T16" fmla="*/ 40 w 44"/>
                <a:gd name="T17" fmla="*/ 38 h 46"/>
                <a:gd name="T18" fmla="*/ 31 w 44"/>
                <a:gd name="T19" fmla="*/ 44 h 46"/>
                <a:gd name="T20" fmla="*/ 22 w 44"/>
                <a:gd name="T21" fmla="*/ 46 h 46"/>
                <a:gd name="T22" fmla="*/ 12 w 44"/>
                <a:gd name="T23" fmla="*/ 44 h 46"/>
                <a:gd name="T24" fmla="*/ 4 w 44"/>
                <a:gd name="T25" fmla="*/ 38 h 46"/>
                <a:gd name="T26" fmla="*/ 0 w 44"/>
                <a:gd name="T27" fmla="*/ 28 h 46"/>
                <a:gd name="T28" fmla="*/ 0 w 44"/>
                <a:gd name="T29" fmla="*/ 18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6"/>
                <a:gd name="T47" fmla="*/ 44 w 44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6">
                  <a:moveTo>
                    <a:pt x="0" y="18"/>
                  </a:moveTo>
                  <a:lnTo>
                    <a:pt x="5" y="9"/>
                  </a:lnTo>
                  <a:lnTo>
                    <a:pt x="12" y="3"/>
                  </a:lnTo>
                  <a:lnTo>
                    <a:pt x="22" y="0"/>
                  </a:lnTo>
                  <a:lnTo>
                    <a:pt x="33" y="3"/>
                  </a:lnTo>
                  <a:lnTo>
                    <a:pt x="40" y="10"/>
                  </a:lnTo>
                  <a:lnTo>
                    <a:pt x="44" y="18"/>
                  </a:lnTo>
                  <a:lnTo>
                    <a:pt x="44" y="29"/>
                  </a:lnTo>
                  <a:lnTo>
                    <a:pt x="40" y="38"/>
                  </a:lnTo>
                  <a:lnTo>
                    <a:pt x="31" y="44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2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02" name="Line 130"/>
            <p:cNvSpPr>
              <a:spLocks noChangeShapeType="1"/>
            </p:cNvSpPr>
            <p:nvPr/>
          </p:nvSpPr>
          <p:spPr bwMode="auto">
            <a:xfrm>
              <a:off x="3588" y="2127"/>
              <a:ext cx="138" cy="3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03" name="Freeform 131"/>
            <p:cNvSpPr>
              <a:spLocks/>
            </p:cNvSpPr>
            <p:nvPr/>
          </p:nvSpPr>
          <p:spPr bwMode="auto">
            <a:xfrm>
              <a:off x="3544" y="2098"/>
              <a:ext cx="44" cy="46"/>
            </a:xfrm>
            <a:custGeom>
              <a:avLst/>
              <a:gdLst>
                <a:gd name="T0" fmla="*/ 0 w 44"/>
                <a:gd name="T1" fmla="*/ 18 h 46"/>
                <a:gd name="T2" fmla="*/ 5 w 44"/>
                <a:gd name="T3" fmla="*/ 9 h 46"/>
                <a:gd name="T4" fmla="*/ 12 w 44"/>
                <a:gd name="T5" fmla="*/ 3 h 46"/>
                <a:gd name="T6" fmla="*/ 22 w 44"/>
                <a:gd name="T7" fmla="*/ 0 h 46"/>
                <a:gd name="T8" fmla="*/ 33 w 44"/>
                <a:gd name="T9" fmla="*/ 3 h 46"/>
                <a:gd name="T10" fmla="*/ 40 w 44"/>
                <a:gd name="T11" fmla="*/ 10 h 46"/>
                <a:gd name="T12" fmla="*/ 44 w 44"/>
                <a:gd name="T13" fmla="*/ 18 h 46"/>
                <a:gd name="T14" fmla="*/ 44 w 44"/>
                <a:gd name="T15" fmla="*/ 29 h 46"/>
                <a:gd name="T16" fmla="*/ 40 w 44"/>
                <a:gd name="T17" fmla="*/ 38 h 46"/>
                <a:gd name="T18" fmla="*/ 31 w 44"/>
                <a:gd name="T19" fmla="*/ 44 h 46"/>
                <a:gd name="T20" fmla="*/ 22 w 44"/>
                <a:gd name="T21" fmla="*/ 46 h 46"/>
                <a:gd name="T22" fmla="*/ 12 w 44"/>
                <a:gd name="T23" fmla="*/ 44 h 46"/>
                <a:gd name="T24" fmla="*/ 4 w 44"/>
                <a:gd name="T25" fmla="*/ 38 h 46"/>
                <a:gd name="T26" fmla="*/ 0 w 44"/>
                <a:gd name="T27" fmla="*/ 28 h 46"/>
                <a:gd name="T28" fmla="*/ 0 w 44"/>
                <a:gd name="T29" fmla="*/ 18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6"/>
                <a:gd name="T47" fmla="*/ 44 w 44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6">
                  <a:moveTo>
                    <a:pt x="0" y="18"/>
                  </a:moveTo>
                  <a:lnTo>
                    <a:pt x="5" y="9"/>
                  </a:lnTo>
                  <a:lnTo>
                    <a:pt x="12" y="3"/>
                  </a:lnTo>
                  <a:lnTo>
                    <a:pt x="22" y="0"/>
                  </a:lnTo>
                  <a:lnTo>
                    <a:pt x="33" y="3"/>
                  </a:lnTo>
                  <a:lnTo>
                    <a:pt x="40" y="10"/>
                  </a:lnTo>
                  <a:lnTo>
                    <a:pt x="44" y="18"/>
                  </a:lnTo>
                  <a:lnTo>
                    <a:pt x="44" y="29"/>
                  </a:lnTo>
                  <a:lnTo>
                    <a:pt x="40" y="38"/>
                  </a:lnTo>
                  <a:lnTo>
                    <a:pt x="31" y="44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28"/>
                  </a:lnTo>
                  <a:lnTo>
                    <a:pt x="0" y="18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04" name="Freeform 132"/>
            <p:cNvSpPr>
              <a:spLocks/>
            </p:cNvSpPr>
            <p:nvPr/>
          </p:nvSpPr>
          <p:spPr bwMode="auto">
            <a:xfrm>
              <a:off x="3543" y="1964"/>
              <a:ext cx="45" cy="46"/>
            </a:xfrm>
            <a:custGeom>
              <a:avLst/>
              <a:gdLst>
                <a:gd name="T0" fmla="*/ 1 w 45"/>
                <a:gd name="T1" fmla="*/ 15 h 46"/>
                <a:gd name="T2" fmla="*/ 6 w 45"/>
                <a:gd name="T3" fmla="*/ 7 h 46"/>
                <a:gd name="T4" fmla="*/ 14 w 45"/>
                <a:gd name="T5" fmla="*/ 1 h 46"/>
                <a:gd name="T6" fmla="*/ 25 w 45"/>
                <a:gd name="T7" fmla="*/ 0 h 46"/>
                <a:gd name="T8" fmla="*/ 34 w 45"/>
                <a:gd name="T9" fmla="*/ 3 h 46"/>
                <a:gd name="T10" fmla="*/ 41 w 45"/>
                <a:gd name="T11" fmla="*/ 11 h 46"/>
                <a:gd name="T12" fmla="*/ 45 w 45"/>
                <a:gd name="T13" fmla="*/ 20 h 46"/>
                <a:gd name="T14" fmla="*/ 43 w 45"/>
                <a:gd name="T15" fmla="*/ 30 h 46"/>
                <a:gd name="T16" fmla="*/ 39 w 45"/>
                <a:gd name="T17" fmla="*/ 38 h 46"/>
                <a:gd name="T18" fmla="*/ 30 w 45"/>
                <a:gd name="T19" fmla="*/ 44 h 46"/>
                <a:gd name="T20" fmla="*/ 20 w 45"/>
                <a:gd name="T21" fmla="*/ 46 h 46"/>
                <a:gd name="T22" fmla="*/ 11 w 45"/>
                <a:gd name="T23" fmla="*/ 42 h 46"/>
                <a:gd name="T24" fmla="*/ 3 w 45"/>
                <a:gd name="T25" fmla="*/ 35 h 46"/>
                <a:gd name="T26" fmla="*/ 0 w 45"/>
                <a:gd name="T27" fmla="*/ 25 h 46"/>
                <a:gd name="T28" fmla="*/ 1 w 45"/>
                <a:gd name="T29" fmla="*/ 15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6"/>
                <a:gd name="T47" fmla="*/ 45 w 45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6">
                  <a:moveTo>
                    <a:pt x="1" y="15"/>
                  </a:moveTo>
                  <a:lnTo>
                    <a:pt x="6" y="7"/>
                  </a:lnTo>
                  <a:lnTo>
                    <a:pt x="14" y="1"/>
                  </a:lnTo>
                  <a:lnTo>
                    <a:pt x="25" y="0"/>
                  </a:lnTo>
                  <a:lnTo>
                    <a:pt x="34" y="3"/>
                  </a:lnTo>
                  <a:lnTo>
                    <a:pt x="41" y="11"/>
                  </a:lnTo>
                  <a:lnTo>
                    <a:pt x="45" y="20"/>
                  </a:lnTo>
                  <a:lnTo>
                    <a:pt x="43" y="30"/>
                  </a:lnTo>
                  <a:lnTo>
                    <a:pt x="39" y="38"/>
                  </a:lnTo>
                  <a:lnTo>
                    <a:pt x="30" y="44"/>
                  </a:lnTo>
                  <a:lnTo>
                    <a:pt x="20" y="46"/>
                  </a:lnTo>
                  <a:lnTo>
                    <a:pt x="11" y="42"/>
                  </a:lnTo>
                  <a:lnTo>
                    <a:pt x="3" y="35"/>
                  </a:lnTo>
                  <a:lnTo>
                    <a:pt x="0" y="25"/>
                  </a:lnTo>
                  <a:lnTo>
                    <a:pt x="1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05" name="Line 133"/>
            <p:cNvSpPr>
              <a:spLocks noChangeShapeType="1"/>
            </p:cNvSpPr>
            <p:nvPr/>
          </p:nvSpPr>
          <p:spPr bwMode="auto">
            <a:xfrm>
              <a:off x="3586" y="1994"/>
              <a:ext cx="231" cy="7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06" name="Freeform 134"/>
            <p:cNvSpPr>
              <a:spLocks/>
            </p:cNvSpPr>
            <p:nvPr/>
          </p:nvSpPr>
          <p:spPr bwMode="auto">
            <a:xfrm>
              <a:off x="3543" y="1964"/>
              <a:ext cx="45" cy="46"/>
            </a:xfrm>
            <a:custGeom>
              <a:avLst/>
              <a:gdLst>
                <a:gd name="T0" fmla="*/ 1 w 45"/>
                <a:gd name="T1" fmla="*/ 15 h 46"/>
                <a:gd name="T2" fmla="*/ 6 w 45"/>
                <a:gd name="T3" fmla="*/ 7 h 46"/>
                <a:gd name="T4" fmla="*/ 14 w 45"/>
                <a:gd name="T5" fmla="*/ 1 h 46"/>
                <a:gd name="T6" fmla="*/ 25 w 45"/>
                <a:gd name="T7" fmla="*/ 0 h 46"/>
                <a:gd name="T8" fmla="*/ 34 w 45"/>
                <a:gd name="T9" fmla="*/ 3 h 46"/>
                <a:gd name="T10" fmla="*/ 41 w 45"/>
                <a:gd name="T11" fmla="*/ 11 h 46"/>
                <a:gd name="T12" fmla="*/ 45 w 45"/>
                <a:gd name="T13" fmla="*/ 20 h 46"/>
                <a:gd name="T14" fmla="*/ 43 w 45"/>
                <a:gd name="T15" fmla="*/ 30 h 46"/>
                <a:gd name="T16" fmla="*/ 39 w 45"/>
                <a:gd name="T17" fmla="*/ 38 h 46"/>
                <a:gd name="T18" fmla="*/ 30 w 45"/>
                <a:gd name="T19" fmla="*/ 44 h 46"/>
                <a:gd name="T20" fmla="*/ 20 w 45"/>
                <a:gd name="T21" fmla="*/ 46 h 46"/>
                <a:gd name="T22" fmla="*/ 11 w 45"/>
                <a:gd name="T23" fmla="*/ 42 h 46"/>
                <a:gd name="T24" fmla="*/ 3 w 45"/>
                <a:gd name="T25" fmla="*/ 35 h 46"/>
                <a:gd name="T26" fmla="*/ 0 w 45"/>
                <a:gd name="T27" fmla="*/ 25 h 46"/>
                <a:gd name="T28" fmla="*/ 1 w 45"/>
                <a:gd name="T29" fmla="*/ 15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6"/>
                <a:gd name="T47" fmla="*/ 45 w 45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6">
                  <a:moveTo>
                    <a:pt x="1" y="15"/>
                  </a:moveTo>
                  <a:lnTo>
                    <a:pt x="6" y="7"/>
                  </a:lnTo>
                  <a:lnTo>
                    <a:pt x="14" y="1"/>
                  </a:lnTo>
                  <a:lnTo>
                    <a:pt x="25" y="0"/>
                  </a:lnTo>
                  <a:lnTo>
                    <a:pt x="34" y="3"/>
                  </a:lnTo>
                  <a:lnTo>
                    <a:pt x="41" y="11"/>
                  </a:lnTo>
                  <a:lnTo>
                    <a:pt x="45" y="20"/>
                  </a:lnTo>
                  <a:lnTo>
                    <a:pt x="43" y="30"/>
                  </a:lnTo>
                  <a:lnTo>
                    <a:pt x="39" y="38"/>
                  </a:lnTo>
                  <a:lnTo>
                    <a:pt x="30" y="44"/>
                  </a:lnTo>
                  <a:lnTo>
                    <a:pt x="20" y="46"/>
                  </a:lnTo>
                  <a:lnTo>
                    <a:pt x="11" y="42"/>
                  </a:lnTo>
                  <a:lnTo>
                    <a:pt x="3" y="35"/>
                  </a:lnTo>
                  <a:lnTo>
                    <a:pt x="0" y="25"/>
                  </a:lnTo>
                  <a:lnTo>
                    <a:pt x="1" y="15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07" name="Rectangle 135"/>
            <p:cNvSpPr>
              <a:spLocks noChangeArrowheads="1"/>
            </p:cNvSpPr>
            <p:nvPr/>
          </p:nvSpPr>
          <p:spPr bwMode="auto">
            <a:xfrm>
              <a:off x="3188" y="1920"/>
              <a:ext cx="28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MaMH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08" name="Rectangle 136"/>
            <p:cNvSpPr>
              <a:spLocks noChangeArrowheads="1"/>
            </p:cNvSpPr>
            <p:nvPr/>
          </p:nvSpPr>
          <p:spPr bwMode="auto">
            <a:xfrm>
              <a:off x="3246" y="2223"/>
              <a:ext cx="230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Khoa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09" name="Freeform 137"/>
            <p:cNvSpPr>
              <a:spLocks/>
            </p:cNvSpPr>
            <p:nvPr/>
          </p:nvSpPr>
          <p:spPr bwMode="auto">
            <a:xfrm>
              <a:off x="3544" y="2269"/>
              <a:ext cx="44" cy="46"/>
            </a:xfrm>
            <a:custGeom>
              <a:avLst/>
              <a:gdLst>
                <a:gd name="T0" fmla="*/ 0 w 44"/>
                <a:gd name="T1" fmla="*/ 29 h 46"/>
                <a:gd name="T2" fmla="*/ 0 w 44"/>
                <a:gd name="T3" fmla="*/ 18 h 46"/>
                <a:gd name="T4" fmla="*/ 4 w 44"/>
                <a:gd name="T5" fmla="*/ 10 h 46"/>
                <a:gd name="T6" fmla="*/ 12 w 44"/>
                <a:gd name="T7" fmla="*/ 3 h 46"/>
                <a:gd name="T8" fmla="*/ 22 w 44"/>
                <a:gd name="T9" fmla="*/ 0 h 46"/>
                <a:gd name="T10" fmla="*/ 31 w 44"/>
                <a:gd name="T11" fmla="*/ 3 h 46"/>
                <a:gd name="T12" fmla="*/ 40 w 44"/>
                <a:gd name="T13" fmla="*/ 9 h 46"/>
                <a:gd name="T14" fmla="*/ 44 w 44"/>
                <a:gd name="T15" fmla="*/ 18 h 46"/>
                <a:gd name="T16" fmla="*/ 44 w 44"/>
                <a:gd name="T17" fmla="*/ 28 h 46"/>
                <a:gd name="T18" fmla="*/ 40 w 44"/>
                <a:gd name="T19" fmla="*/ 37 h 46"/>
                <a:gd name="T20" fmla="*/ 33 w 44"/>
                <a:gd name="T21" fmla="*/ 44 h 46"/>
                <a:gd name="T22" fmla="*/ 22 w 44"/>
                <a:gd name="T23" fmla="*/ 46 h 46"/>
                <a:gd name="T24" fmla="*/ 12 w 44"/>
                <a:gd name="T25" fmla="*/ 44 h 46"/>
                <a:gd name="T26" fmla="*/ 5 w 44"/>
                <a:gd name="T27" fmla="*/ 38 h 46"/>
                <a:gd name="T28" fmla="*/ 0 w 44"/>
                <a:gd name="T29" fmla="*/ 29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6"/>
                <a:gd name="T47" fmla="*/ 44 w 44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6">
                  <a:moveTo>
                    <a:pt x="0" y="29"/>
                  </a:moveTo>
                  <a:lnTo>
                    <a:pt x="0" y="18"/>
                  </a:lnTo>
                  <a:lnTo>
                    <a:pt x="4" y="10"/>
                  </a:lnTo>
                  <a:lnTo>
                    <a:pt x="12" y="3"/>
                  </a:lnTo>
                  <a:lnTo>
                    <a:pt x="22" y="0"/>
                  </a:lnTo>
                  <a:lnTo>
                    <a:pt x="31" y="3"/>
                  </a:lnTo>
                  <a:lnTo>
                    <a:pt x="40" y="9"/>
                  </a:lnTo>
                  <a:lnTo>
                    <a:pt x="44" y="18"/>
                  </a:lnTo>
                  <a:lnTo>
                    <a:pt x="44" y="28"/>
                  </a:lnTo>
                  <a:lnTo>
                    <a:pt x="40" y="37"/>
                  </a:lnTo>
                  <a:lnTo>
                    <a:pt x="33" y="44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5" y="38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10" name="Line 138"/>
            <p:cNvSpPr>
              <a:spLocks noChangeShapeType="1"/>
            </p:cNvSpPr>
            <p:nvPr/>
          </p:nvSpPr>
          <p:spPr bwMode="auto">
            <a:xfrm flipV="1">
              <a:off x="3588" y="2252"/>
              <a:ext cx="138" cy="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11" name="Freeform 139"/>
            <p:cNvSpPr>
              <a:spLocks/>
            </p:cNvSpPr>
            <p:nvPr/>
          </p:nvSpPr>
          <p:spPr bwMode="auto">
            <a:xfrm>
              <a:off x="3544" y="2269"/>
              <a:ext cx="44" cy="46"/>
            </a:xfrm>
            <a:custGeom>
              <a:avLst/>
              <a:gdLst>
                <a:gd name="T0" fmla="*/ 0 w 44"/>
                <a:gd name="T1" fmla="*/ 29 h 46"/>
                <a:gd name="T2" fmla="*/ 0 w 44"/>
                <a:gd name="T3" fmla="*/ 18 h 46"/>
                <a:gd name="T4" fmla="*/ 4 w 44"/>
                <a:gd name="T5" fmla="*/ 10 h 46"/>
                <a:gd name="T6" fmla="*/ 12 w 44"/>
                <a:gd name="T7" fmla="*/ 3 h 46"/>
                <a:gd name="T8" fmla="*/ 22 w 44"/>
                <a:gd name="T9" fmla="*/ 0 h 46"/>
                <a:gd name="T10" fmla="*/ 31 w 44"/>
                <a:gd name="T11" fmla="*/ 3 h 46"/>
                <a:gd name="T12" fmla="*/ 40 w 44"/>
                <a:gd name="T13" fmla="*/ 9 h 46"/>
                <a:gd name="T14" fmla="*/ 44 w 44"/>
                <a:gd name="T15" fmla="*/ 18 h 46"/>
                <a:gd name="T16" fmla="*/ 44 w 44"/>
                <a:gd name="T17" fmla="*/ 28 h 46"/>
                <a:gd name="T18" fmla="*/ 40 w 44"/>
                <a:gd name="T19" fmla="*/ 37 h 46"/>
                <a:gd name="T20" fmla="*/ 33 w 44"/>
                <a:gd name="T21" fmla="*/ 44 h 46"/>
                <a:gd name="T22" fmla="*/ 22 w 44"/>
                <a:gd name="T23" fmla="*/ 46 h 46"/>
                <a:gd name="T24" fmla="*/ 12 w 44"/>
                <a:gd name="T25" fmla="*/ 44 h 46"/>
                <a:gd name="T26" fmla="*/ 5 w 44"/>
                <a:gd name="T27" fmla="*/ 38 h 46"/>
                <a:gd name="T28" fmla="*/ 0 w 44"/>
                <a:gd name="T29" fmla="*/ 29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6"/>
                <a:gd name="T47" fmla="*/ 44 w 44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6">
                  <a:moveTo>
                    <a:pt x="0" y="29"/>
                  </a:moveTo>
                  <a:lnTo>
                    <a:pt x="0" y="18"/>
                  </a:lnTo>
                  <a:lnTo>
                    <a:pt x="4" y="10"/>
                  </a:lnTo>
                  <a:lnTo>
                    <a:pt x="12" y="3"/>
                  </a:lnTo>
                  <a:lnTo>
                    <a:pt x="22" y="0"/>
                  </a:lnTo>
                  <a:lnTo>
                    <a:pt x="31" y="3"/>
                  </a:lnTo>
                  <a:lnTo>
                    <a:pt x="40" y="9"/>
                  </a:lnTo>
                  <a:lnTo>
                    <a:pt x="44" y="18"/>
                  </a:lnTo>
                  <a:lnTo>
                    <a:pt x="44" y="28"/>
                  </a:lnTo>
                  <a:lnTo>
                    <a:pt x="40" y="37"/>
                  </a:lnTo>
                  <a:lnTo>
                    <a:pt x="33" y="44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5" y="38"/>
                  </a:lnTo>
                  <a:lnTo>
                    <a:pt x="0" y="2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12" name="Rectangle 140"/>
            <p:cNvSpPr>
              <a:spLocks noChangeArrowheads="1"/>
            </p:cNvSpPr>
            <p:nvPr/>
          </p:nvSpPr>
          <p:spPr bwMode="auto">
            <a:xfrm>
              <a:off x="3152" y="2062"/>
              <a:ext cx="324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TenMH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13" name="Rectangle 141"/>
            <p:cNvSpPr>
              <a:spLocks noChangeArrowheads="1"/>
            </p:cNvSpPr>
            <p:nvPr/>
          </p:nvSpPr>
          <p:spPr bwMode="auto">
            <a:xfrm>
              <a:off x="3891" y="1925"/>
              <a:ext cx="22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(0,n)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14" name="Freeform 142"/>
            <p:cNvSpPr>
              <a:spLocks/>
            </p:cNvSpPr>
            <p:nvPr/>
          </p:nvSpPr>
          <p:spPr bwMode="auto">
            <a:xfrm>
              <a:off x="4069" y="1303"/>
              <a:ext cx="44" cy="45"/>
            </a:xfrm>
            <a:custGeom>
              <a:avLst/>
              <a:gdLst>
                <a:gd name="T0" fmla="*/ 22 w 44"/>
                <a:gd name="T1" fmla="*/ 0 h 45"/>
                <a:gd name="T2" fmla="*/ 12 w 44"/>
                <a:gd name="T3" fmla="*/ 1 h 45"/>
                <a:gd name="T4" fmla="*/ 4 w 44"/>
                <a:gd name="T5" fmla="*/ 8 h 45"/>
                <a:gd name="T6" fmla="*/ 0 w 44"/>
                <a:gd name="T7" fmla="*/ 17 h 45"/>
                <a:gd name="T8" fmla="*/ 0 w 44"/>
                <a:gd name="T9" fmla="*/ 28 h 45"/>
                <a:gd name="T10" fmla="*/ 4 w 44"/>
                <a:gd name="T11" fmla="*/ 36 h 45"/>
                <a:gd name="T12" fmla="*/ 12 w 44"/>
                <a:gd name="T13" fmla="*/ 42 h 45"/>
                <a:gd name="T14" fmla="*/ 22 w 44"/>
                <a:gd name="T15" fmla="*/ 45 h 45"/>
                <a:gd name="T16" fmla="*/ 32 w 44"/>
                <a:gd name="T17" fmla="*/ 42 h 45"/>
                <a:gd name="T18" fmla="*/ 40 w 44"/>
                <a:gd name="T19" fmla="*/ 36 h 45"/>
                <a:gd name="T20" fmla="*/ 44 w 44"/>
                <a:gd name="T21" fmla="*/ 28 h 45"/>
                <a:gd name="T22" fmla="*/ 44 w 44"/>
                <a:gd name="T23" fmla="*/ 17 h 45"/>
                <a:gd name="T24" fmla="*/ 40 w 44"/>
                <a:gd name="T25" fmla="*/ 8 h 45"/>
                <a:gd name="T26" fmla="*/ 32 w 44"/>
                <a:gd name="T27" fmla="*/ 1 h 45"/>
                <a:gd name="T28" fmla="*/ 22 w 44"/>
                <a:gd name="T29" fmla="*/ 0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5"/>
                <a:gd name="T47" fmla="*/ 44 w 44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5">
                  <a:moveTo>
                    <a:pt x="22" y="0"/>
                  </a:moveTo>
                  <a:lnTo>
                    <a:pt x="12" y="1"/>
                  </a:lnTo>
                  <a:lnTo>
                    <a:pt x="4" y="8"/>
                  </a:lnTo>
                  <a:lnTo>
                    <a:pt x="0" y="17"/>
                  </a:lnTo>
                  <a:lnTo>
                    <a:pt x="0" y="28"/>
                  </a:lnTo>
                  <a:lnTo>
                    <a:pt x="4" y="36"/>
                  </a:lnTo>
                  <a:lnTo>
                    <a:pt x="12" y="42"/>
                  </a:lnTo>
                  <a:lnTo>
                    <a:pt x="22" y="45"/>
                  </a:lnTo>
                  <a:lnTo>
                    <a:pt x="32" y="42"/>
                  </a:lnTo>
                  <a:lnTo>
                    <a:pt x="40" y="36"/>
                  </a:lnTo>
                  <a:lnTo>
                    <a:pt x="44" y="28"/>
                  </a:lnTo>
                  <a:lnTo>
                    <a:pt x="44" y="17"/>
                  </a:lnTo>
                  <a:lnTo>
                    <a:pt x="40" y="8"/>
                  </a:lnTo>
                  <a:lnTo>
                    <a:pt x="32" y="1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15" name="Line 143"/>
            <p:cNvSpPr>
              <a:spLocks noChangeShapeType="1"/>
            </p:cNvSpPr>
            <p:nvPr/>
          </p:nvSpPr>
          <p:spPr bwMode="auto">
            <a:xfrm>
              <a:off x="4091" y="1348"/>
              <a:ext cx="1" cy="18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16" name="Freeform 144"/>
            <p:cNvSpPr>
              <a:spLocks/>
            </p:cNvSpPr>
            <p:nvPr/>
          </p:nvSpPr>
          <p:spPr bwMode="auto">
            <a:xfrm>
              <a:off x="4069" y="1303"/>
              <a:ext cx="44" cy="45"/>
            </a:xfrm>
            <a:custGeom>
              <a:avLst/>
              <a:gdLst>
                <a:gd name="T0" fmla="*/ 22 w 44"/>
                <a:gd name="T1" fmla="*/ 0 h 45"/>
                <a:gd name="T2" fmla="*/ 12 w 44"/>
                <a:gd name="T3" fmla="*/ 1 h 45"/>
                <a:gd name="T4" fmla="*/ 4 w 44"/>
                <a:gd name="T5" fmla="*/ 8 h 45"/>
                <a:gd name="T6" fmla="*/ 0 w 44"/>
                <a:gd name="T7" fmla="*/ 17 h 45"/>
                <a:gd name="T8" fmla="*/ 0 w 44"/>
                <a:gd name="T9" fmla="*/ 28 h 45"/>
                <a:gd name="T10" fmla="*/ 4 w 44"/>
                <a:gd name="T11" fmla="*/ 36 h 45"/>
                <a:gd name="T12" fmla="*/ 12 w 44"/>
                <a:gd name="T13" fmla="*/ 42 h 45"/>
                <a:gd name="T14" fmla="*/ 22 w 44"/>
                <a:gd name="T15" fmla="*/ 45 h 45"/>
                <a:gd name="T16" fmla="*/ 32 w 44"/>
                <a:gd name="T17" fmla="*/ 42 h 45"/>
                <a:gd name="T18" fmla="*/ 40 w 44"/>
                <a:gd name="T19" fmla="*/ 36 h 45"/>
                <a:gd name="T20" fmla="*/ 44 w 44"/>
                <a:gd name="T21" fmla="*/ 28 h 45"/>
                <a:gd name="T22" fmla="*/ 44 w 44"/>
                <a:gd name="T23" fmla="*/ 17 h 45"/>
                <a:gd name="T24" fmla="*/ 40 w 44"/>
                <a:gd name="T25" fmla="*/ 8 h 45"/>
                <a:gd name="T26" fmla="*/ 32 w 44"/>
                <a:gd name="T27" fmla="*/ 1 h 45"/>
                <a:gd name="T28" fmla="*/ 22 w 44"/>
                <a:gd name="T29" fmla="*/ 0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5"/>
                <a:gd name="T47" fmla="*/ 44 w 44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5">
                  <a:moveTo>
                    <a:pt x="22" y="0"/>
                  </a:moveTo>
                  <a:lnTo>
                    <a:pt x="12" y="1"/>
                  </a:lnTo>
                  <a:lnTo>
                    <a:pt x="4" y="8"/>
                  </a:lnTo>
                  <a:lnTo>
                    <a:pt x="0" y="17"/>
                  </a:lnTo>
                  <a:lnTo>
                    <a:pt x="0" y="28"/>
                  </a:lnTo>
                  <a:lnTo>
                    <a:pt x="4" y="36"/>
                  </a:lnTo>
                  <a:lnTo>
                    <a:pt x="12" y="42"/>
                  </a:lnTo>
                  <a:lnTo>
                    <a:pt x="22" y="45"/>
                  </a:lnTo>
                  <a:lnTo>
                    <a:pt x="32" y="42"/>
                  </a:lnTo>
                  <a:lnTo>
                    <a:pt x="40" y="36"/>
                  </a:lnTo>
                  <a:lnTo>
                    <a:pt x="44" y="28"/>
                  </a:lnTo>
                  <a:lnTo>
                    <a:pt x="44" y="17"/>
                  </a:lnTo>
                  <a:lnTo>
                    <a:pt x="40" y="8"/>
                  </a:lnTo>
                  <a:lnTo>
                    <a:pt x="32" y="1"/>
                  </a:lnTo>
                  <a:lnTo>
                    <a:pt x="2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17" name="Rectangle 145"/>
            <p:cNvSpPr>
              <a:spLocks noChangeArrowheads="1"/>
            </p:cNvSpPr>
            <p:nvPr/>
          </p:nvSpPr>
          <p:spPr bwMode="auto">
            <a:xfrm>
              <a:off x="4201" y="1288"/>
              <a:ext cx="278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Hocky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18" name="Freeform 146"/>
            <p:cNvSpPr>
              <a:spLocks/>
            </p:cNvSpPr>
            <p:nvPr/>
          </p:nvSpPr>
          <p:spPr bwMode="auto">
            <a:xfrm>
              <a:off x="3862" y="1508"/>
              <a:ext cx="46" cy="43"/>
            </a:xfrm>
            <a:custGeom>
              <a:avLst/>
              <a:gdLst>
                <a:gd name="T0" fmla="*/ 0 w 46"/>
                <a:gd name="T1" fmla="*/ 21 h 43"/>
                <a:gd name="T2" fmla="*/ 3 w 46"/>
                <a:gd name="T3" fmla="*/ 31 h 43"/>
                <a:gd name="T4" fmla="*/ 9 w 46"/>
                <a:gd name="T5" fmla="*/ 40 h 43"/>
                <a:gd name="T6" fmla="*/ 19 w 46"/>
                <a:gd name="T7" fmla="*/ 43 h 43"/>
                <a:gd name="T8" fmla="*/ 28 w 46"/>
                <a:gd name="T9" fmla="*/ 43 h 43"/>
                <a:gd name="T10" fmla="*/ 38 w 46"/>
                <a:gd name="T11" fmla="*/ 40 h 43"/>
                <a:gd name="T12" fmla="*/ 44 w 46"/>
                <a:gd name="T13" fmla="*/ 31 h 43"/>
                <a:gd name="T14" fmla="*/ 46 w 46"/>
                <a:gd name="T15" fmla="*/ 21 h 43"/>
                <a:gd name="T16" fmla="*/ 44 w 46"/>
                <a:gd name="T17" fmla="*/ 12 h 43"/>
                <a:gd name="T18" fmla="*/ 38 w 46"/>
                <a:gd name="T19" fmla="*/ 4 h 43"/>
                <a:gd name="T20" fmla="*/ 28 w 46"/>
                <a:gd name="T21" fmla="*/ 0 h 43"/>
                <a:gd name="T22" fmla="*/ 19 w 46"/>
                <a:gd name="T23" fmla="*/ 0 h 43"/>
                <a:gd name="T24" fmla="*/ 9 w 46"/>
                <a:gd name="T25" fmla="*/ 4 h 43"/>
                <a:gd name="T26" fmla="*/ 3 w 46"/>
                <a:gd name="T27" fmla="*/ 12 h 43"/>
                <a:gd name="T28" fmla="*/ 0 w 46"/>
                <a:gd name="T29" fmla="*/ 21 h 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6"/>
                <a:gd name="T46" fmla="*/ 0 h 43"/>
                <a:gd name="T47" fmla="*/ 46 w 46"/>
                <a:gd name="T48" fmla="*/ 43 h 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6" h="43">
                  <a:moveTo>
                    <a:pt x="0" y="21"/>
                  </a:moveTo>
                  <a:lnTo>
                    <a:pt x="3" y="31"/>
                  </a:lnTo>
                  <a:lnTo>
                    <a:pt x="9" y="40"/>
                  </a:lnTo>
                  <a:lnTo>
                    <a:pt x="19" y="43"/>
                  </a:lnTo>
                  <a:lnTo>
                    <a:pt x="28" y="43"/>
                  </a:lnTo>
                  <a:lnTo>
                    <a:pt x="38" y="40"/>
                  </a:lnTo>
                  <a:lnTo>
                    <a:pt x="44" y="31"/>
                  </a:lnTo>
                  <a:lnTo>
                    <a:pt x="46" y="21"/>
                  </a:lnTo>
                  <a:lnTo>
                    <a:pt x="44" y="12"/>
                  </a:lnTo>
                  <a:lnTo>
                    <a:pt x="38" y="4"/>
                  </a:lnTo>
                  <a:lnTo>
                    <a:pt x="28" y="0"/>
                  </a:lnTo>
                  <a:lnTo>
                    <a:pt x="19" y="0"/>
                  </a:lnTo>
                  <a:lnTo>
                    <a:pt x="9" y="4"/>
                  </a:lnTo>
                  <a:lnTo>
                    <a:pt x="3" y="12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19" name="Line 147"/>
            <p:cNvSpPr>
              <a:spLocks noChangeShapeType="1"/>
            </p:cNvSpPr>
            <p:nvPr/>
          </p:nvSpPr>
          <p:spPr bwMode="auto">
            <a:xfrm>
              <a:off x="3908" y="1529"/>
              <a:ext cx="183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0" name="Freeform 148"/>
            <p:cNvSpPr>
              <a:spLocks/>
            </p:cNvSpPr>
            <p:nvPr/>
          </p:nvSpPr>
          <p:spPr bwMode="auto">
            <a:xfrm>
              <a:off x="3862" y="1508"/>
              <a:ext cx="46" cy="43"/>
            </a:xfrm>
            <a:custGeom>
              <a:avLst/>
              <a:gdLst>
                <a:gd name="T0" fmla="*/ 0 w 46"/>
                <a:gd name="T1" fmla="*/ 21 h 43"/>
                <a:gd name="T2" fmla="*/ 3 w 46"/>
                <a:gd name="T3" fmla="*/ 31 h 43"/>
                <a:gd name="T4" fmla="*/ 9 w 46"/>
                <a:gd name="T5" fmla="*/ 40 h 43"/>
                <a:gd name="T6" fmla="*/ 19 w 46"/>
                <a:gd name="T7" fmla="*/ 43 h 43"/>
                <a:gd name="T8" fmla="*/ 28 w 46"/>
                <a:gd name="T9" fmla="*/ 43 h 43"/>
                <a:gd name="T10" fmla="*/ 38 w 46"/>
                <a:gd name="T11" fmla="*/ 40 h 43"/>
                <a:gd name="T12" fmla="*/ 44 w 46"/>
                <a:gd name="T13" fmla="*/ 31 h 43"/>
                <a:gd name="T14" fmla="*/ 46 w 46"/>
                <a:gd name="T15" fmla="*/ 21 h 43"/>
                <a:gd name="T16" fmla="*/ 44 w 46"/>
                <a:gd name="T17" fmla="*/ 12 h 43"/>
                <a:gd name="T18" fmla="*/ 38 w 46"/>
                <a:gd name="T19" fmla="*/ 4 h 43"/>
                <a:gd name="T20" fmla="*/ 28 w 46"/>
                <a:gd name="T21" fmla="*/ 0 h 43"/>
                <a:gd name="T22" fmla="*/ 19 w 46"/>
                <a:gd name="T23" fmla="*/ 0 h 43"/>
                <a:gd name="T24" fmla="*/ 9 w 46"/>
                <a:gd name="T25" fmla="*/ 4 h 43"/>
                <a:gd name="T26" fmla="*/ 3 w 46"/>
                <a:gd name="T27" fmla="*/ 12 h 43"/>
                <a:gd name="T28" fmla="*/ 0 w 46"/>
                <a:gd name="T29" fmla="*/ 21 h 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6"/>
                <a:gd name="T46" fmla="*/ 0 h 43"/>
                <a:gd name="T47" fmla="*/ 46 w 46"/>
                <a:gd name="T48" fmla="*/ 43 h 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6" h="43">
                  <a:moveTo>
                    <a:pt x="0" y="21"/>
                  </a:moveTo>
                  <a:lnTo>
                    <a:pt x="3" y="31"/>
                  </a:lnTo>
                  <a:lnTo>
                    <a:pt x="9" y="40"/>
                  </a:lnTo>
                  <a:lnTo>
                    <a:pt x="19" y="43"/>
                  </a:lnTo>
                  <a:lnTo>
                    <a:pt x="28" y="43"/>
                  </a:lnTo>
                  <a:lnTo>
                    <a:pt x="38" y="40"/>
                  </a:lnTo>
                  <a:lnTo>
                    <a:pt x="44" y="31"/>
                  </a:lnTo>
                  <a:lnTo>
                    <a:pt x="46" y="21"/>
                  </a:lnTo>
                  <a:lnTo>
                    <a:pt x="44" y="12"/>
                  </a:lnTo>
                  <a:lnTo>
                    <a:pt x="38" y="4"/>
                  </a:lnTo>
                  <a:lnTo>
                    <a:pt x="28" y="0"/>
                  </a:lnTo>
                  <a:lnTo>
                    <a:pt x="19" y="0"/>
                  </a:lnTo>
                  <a:lnTo>
                    <a:pt x="9" y="4"/>
                  </a:lnTo>
                  <a:lnTo>
                    <a:pt x="3" y="12"/>
                  </a:lnTo>
                  <a:lnTo>
                    <a:pt x="0" y="2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1" name="Freeform 149"/>
            <p:cNvSpPr>
              <a:spLocks/>
            </p:cNvSpPr>
            <p:nvPr/>
          </p:nvSpPr>
          <p:spPr bwMode="auto">
            <a:xfrm>
              <a:off x="4273" y="1508"/>
              <a:ext cx="45" cy="43"/>
            </a:xfrm>
            <a:custGeom>
              <a:avLst/>
              <a:gdLst>
                <a:gd name="T0" fmla="*/ 45 w 45"/>
                <a:gd name="T1" fmla="*/ 21 h 43"/>
                <a:gd name="T2" fmla="*/ 44 w 45"/>
                <a:gd name="T3" fmla="*/ 31 h 43"/>
                <a:gd name="T4" fmla="*/ 37 w 45"/>
                <a:gd name="T5" fmla="*/ 40 h 43"/>
                <a:gd name="T6" fmla="*/ 28 w 45"/>
                <a:gd name="T7" fmla="*/ 43 h 43"/>
                <a:gd name="T8" fmla="*/ 18 w 45"/>
                <a:gd name="T9" fmla="*/ 43 h 43"/>
                <a:gd name="T10" fmla="*/ 9 w 45"/>
                <a:gd name="T11" fmla="*/ 40 h 43"/>
                <a:gd name="T12" fmla="*/ 3 w 45"/>
                <a:gd name="T13" fmla="*/ 31 h 43"/>
                <a:gd name="T14" fmla="*/ 0 w 45"/>
                <a:gd name="T15" fmla="*/ 21 h 43"/>
                <a:gd name="T16" fmla="*/ 3 w 45"/>
                <a:gd name="T17" fmla="*/ 12 h 43"/>
                <a:gd name="T18" fmla="*/ 9 w 45"/>
                <a:gd name="T19" fmla="*/ 4 h 43"/>
                <a:gd name="T20" fmla="*/ 18 w 45"/>
                <a:gd name="T21" fmla="*/ 0 h 43"/>
                <a:gd name="T22" fmla="*/ 28 w 45"/>
                <a:gd name="T23" fmla="*/ 0 h 43"/>
                <a:gd name="T24" fmla="*/ 37 w 45"/>
                <a:gd name="T25" fmla="*/ 4 h 43"/>
                <a:gd name="T26" fmla="*/ 44 w 45"/>
                <a:gd name="T27" fmla="*/ 12 h 43"/>
                <a:gd name="T28" fmla="*/ 45 w 45"/>
                <a:gd name="T29" fmla="*/ 21 h 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3"/>
                <a:gd name="T47" fmla="*/ 45 w 45"/>
                <a:gd name="T48" fmla="*/ 43 h 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3">
                  <a:moveTo>
                    <a:pt x="45" y="21"/>
                  </a:moveTo>
                  <a:lnTo>
                    <a:pt x="44" y="31"/>
                  </a:lnTo>
                  <a:lnTo>
                    <a:pt x="37" y="40"/>
                  </a:lnTo>
                  <a:lnTo>
                    <a:pt x="28" y="43"/>
                  </a:lnTo>
                  <a:lnTo>
                    <a:pt x="18" y="43"/>
                  </a:lnTo>
                  <a:lnTo>
                    <a:pt x="9" y="40"/>
                  </a:lnTo>
                  <a:lnTo>
                    <a:pt x="3" y="31"/>
                  </a:lnTo>
                  <a:lnTo>
                    <a:pt x="0" y="21"/>
                  </a:lnTo>
                  <a:lnTo>
                    <a:pt x="3" y="12"/>
                  </a:lnTo>
                  <a:lnTo>
                    <a:pt x="9" y="4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7" y="4"/>
                  </a:lnTo>
                  <a:lnTo>
                    <a:pt x="44" y="12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2" name="Line 150"/>
            <p:cNvSpPr>
              <a:spLocks noChangeShapeType="1"/>
            </p:cNvSpPr>
            <p:nvPr/>
          </p:nvSpPr>
          <p:spPr bwMode="auto">
            <a:xfrm flipH="1">
              <a:off x="4091" y="1529"/>
              <a:ext cx="182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3" name="Freeform 151"/>
            <p:cNvSpPr>
              <a:spLocks/>
            </p:cNvSpPr>
            <p:nvPr/>
          </p:nvSpPr>
          <p:spPr bwMode="auto">
            <a:xfrm>
              <a:off x="4273" y="1508"/>
              <a:ext cx="45" cy="43"/>
            </a:xfrm>
            <a:custGeom>
              <a:avLst/>
              <a:gdLst>
                <a:gd name="T0" fmla="*/ 45 w 45"/>
                <a:gd name="T1" fmla="*/ 21 h 43"/>
                <a:gd name="T2" fmla="*/ 44 w 45"/>
                <a:gd name="T3" fmla="*/ 31 h 43"/>
                <a:gd name="T4" fmla="*/ 37 w 45"/>
                <a:gd name="T5" fmla="*/ 40 h 43"/>
                <a:gd name="T6" fmla="*/ 28 w 45"/>
                <a:gd name="T7" fmla="*/ 43 h 43"/>
                <a:gd name="T8" fmla="*/ 18 w 45"/>
                <a:gd name="T9" fmla="*/ 43 h 43"/>
                <a:gd name="T10" fmla="*/ 9 w 45"/>
                <a:gd name="T11" fmla="*/ 40 h 43"/>
                <a:gd name="T12" fmla="*/ 3 w 45"/>
                <a:gd name="T13" fmla="*/ 31 h 43"/>
                <a:gd name="T14" fmla="*/ 0 w 45"/>
                <a:gd name="T15" fmla="*/ 21 h 43"/>
                <a:gd name="T16" fmla="*/ 3 w 45"/>
                <a:gd name="T17" fmla="*/ 12 h 43"/>
                <a:gd name="T18" fmla="*/ 9 w 45"/>
                <a:gd name="T19" fmla="*/ 4 h 43"/>
                <a:gd name="T20" fmla="*/ 18 w 45"/>
                <a:gd name="T21" fmla="*/ 0 h 43"/>
                <a:gd name="T22" fmla="*/ 28 w 45"/>
                <a:gd name="T23" fmla="*/ 0 h 43"/>
                <a:gd name="T24" fmla="*/ 37 w 45"/>
                <a:gd name="T25" fmla="*/ 4 h 43"/>
                <a:gd name="T26" fmla="*/ 44 w 45"/>
                <a:gd name="T27" fmla="*/ 12 h 43"/>
                <a:gd name="T28" fmla="*/ 45 w 45"/>
                <a:gd name="T29" fmla="*/ 21 h 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3"/>
                <a:gd name="T47" fmla="*/ 45 w 45"/>
                <a:gd name="T48" fmla="*/ 43 h 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3">
                  <a:moveTo>
                    <a:pt x="45" y="21"/>
                  </a:moveTo>
                  <a:lnTo>
                    <a:pt x="44" y="31"/>
                  </a:lnTo>
                  <a:lnTo>
                    <a:pt x="37" y="40"/>
                  </a:lnTo>
                  <a:lnTo>
                    <a:pt x="28" y="43"/>
                  </a:lnTo>
                  <a:lnTo>
                    <a:pt x="18" y="43"/>
                  </a:lnTo>
                  <a:lnTo>
                    <a:pt x="9" y="40"/>
                  </a:lnTo>
                  <a:lnTo>
                    <a:pt x="3" y="31"/>
                  </a:lnTo>
                  <a:lnTo>
                    <a:pt x="0" y="21"/>
                  </a:lnTo>
                  <a:lnTo>
                    <a:pt x="3" y="12"/>
                  </a:lnTo>
                  <a:lnTo>
                    <a:pt x="9" y="4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7" y="4"/>
                  </a:lnTo>
                  <a:lnTo>
                    <a:pt x="44" y="12"/>
                  </a:lnTo>
                  <a:lnTo>
                    <a:pt x="45" y="2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4" name="Rectangle 152"/>
            <p:cNvSpPr>
              <a:spLocks noChangeArrowheads="1"/>
            </p:cNvSpPr>
            <p:nvPr/>
          </p:nvSpPr>
          <p:spPr bwMode="auto">
            <a:xfrm>
              <a:off x="4433" y="1470"/>
              <a:ext cx="258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Gvien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25" name="Rectangle 153"/>
            <p:cNvSpPr>
              <a:spLocks noChangeArrowheads="1"/>
            </p:cNvSpPr>
            <p:nvPr/>
          </p:nvSpPr>
          <p:spPr bwMode="auto">
            <a:xfrm>
              <a:off x="3630" y="1470"/>
              <a:ext cx="211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Nam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3326" name="Freeform 154"/>
            <p:cNvSpPr>
              <a:spLocks/>
            </p:cNvSpPr>
            <p:nvPr/>
          </p:nvSpPr>
          <p:spPr bwMode="auto">
            <a:xfrm>
              <a:off x="946" y="2274"/>
              <a:ext cx="44" cy="46"/>
            </a:xfrm>
            <a:custGeom>
              <a:avLst/>
              <a:gdLst>
                <a:gd name="T0" fmla="*/ 0 w 44"/>
                <a:gd name="T1" fmla="*/ 29 h 46"/>
                <a:gd name="T2" fmla="*/ 0 w 44"/>
                <a:gd name="T3" fmla="*/ 18 h 46"/>
                <a:gd name="T4" fmla="*/ 3 w 44"/>
                <a:gd name="T5" fmla="*/ 10 h 46"/>
                <a:gd name="T6" fmla="*/ 12 w 44"/>
                <a:gd name="T7" fmla="*/ 3 h 46"/>
                <a:gd name="T8" fmla="*/ 21 w 44"/>
                <a:gd name="T9" fmla="*/ 0 h 46"/>
                <a:gd name="T10" fmla="*/ 31 w 44"/>
                <a:gd name="T11" fmla="*/ 3 h 46"/>
                <a:gd name="T12" fmla="*/ 40 w 44"/>
                <a:gd name="T13" fmla="*/ 9 h 46"/>
                <a:gd name="T14" fmla="*/ 43 w 44"/>
                <a:gd name="T15" fmla="*/ 18 h 46"/>
                <a:gd name="T16" fmla="*/ 44 w 44"/>
                <a:gd name="T17" fmla="*/ 28 h 46"/>
                <a:gd name="T18" fmla="*/ 40 w 44"/>
                <a:gd name="T19" fmla="*/ 38 h 46"/>
                <a:gd name="T20" fmla="*/ 32 w 44"/>
                <a:gd name="T21" fmla="*/ 44 h 46"/>
                <a:gd name="T22" fmla="*/ 23 w 44"/>
                <a:gd name="T23" fmla="*/ 46 h 46"/>
                <a:gd name="T24" fmla="*/ 12 w 44"/>
                <a:gd name="T25" fmla="*/ 44 h 46"/>
                <a:gd name="T26" fmla="*/ 4 w 44"/>
                <a:gd name="T27" fmla="*/ 38 h 46"/>
                <a:gd name="T28" fmla="*/ 0 w 44"/>
                <a:gd name="T29" fmla="*/ 29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6"/>
                <a:gd name="T47" fmla="*/ 44 w 44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6">
                  <a:moveTo>
                    <a:pt x="0" y="29"/>
                  </a:moveTo>
                  <a:lnTo>
                    <a:pt x="0" y="18"/>
                  </a:lnTo>
                  <a:lnTo>
                    <a:pt x="3" y="10"/>
                  </a:lnTo>
                  <a:lnTo>
                    <a:pt x="12" y="3"/>
                  </a:lnTo>
                  <a:lnTo>
                    <a:pt x="21" y="0"/>
                  </a:lnTo>
                  <a:lnTo>
                    <a:pt x="31" y="3"/>
                  </a:lnTo>
                  <a:lnTo>
                    <a:pt x="40" y="9"/>
                  </a:lnTo>
                  <a:lnTo>
                    <a:pt x="43" y="18"/>
                  </a:lnTo>
                  <a:lnTo>
                    <a:pt x="44" y="28"/>
                  </a:lnTo>
                  <a:lnTo>
                    <a:pt x="40" y="38"/>
                  </a:lnTo>
                  <a:lnTo>
                    <a:pt x="32" y="44"/>
                  </a:lnTo>
                  <a:lnTo>
                    <a:pt x="23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7" name="Line 155"/>
            <p:cNvSpPr>
              <a:spLocks noChangeShapeType="1"/>
            </p:cNvSpPr>
            <p:nvPr/>
          </p:nvSpPr>
          <p:spPr bwMode="auto">
            <a:xfrm flipV="1">
              <a:off x="989" y="2257"/>
              <a:ext cx="139" cy="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8" name="Freeform 156"/>
            <p:cNvSpPr>
              <a:spLocks/>
            </p:cNvSpPr>
            <p:nvPr/>
          </p:nvSpPr>
          <p:spPr bwMode="auto">
            <a:xfrm>
              <a:off x="946" y="2274"/>
              <a:ext cx="44" cy="46"/>
            </a:xfrm>
            <a:custGeom>
              <a:avLst/>
              <a:gdLst>
                <a:gd name="T0" fmla="*/ 0 w 44"/>
                <a:gd name="T1" fmla="*/ 29 h 46"/>
                <a:gd name="T2" fmla="*/ 0 w 44"/>
                <a:gd name="T3" fmla="*/ 18 h 46"/>
                <a:gd name="T4" fmla="*/ 3 w 44"/>
                <a:gd name="T5" fmla="*/ 10 h 46"/>
                <a:gd name="T6" fmla="*/ 12 w 44"/>
                <a:gd name="T7" fmla="*/ 3 h 46"/>
                <a:gd name="T8" fmla="*/ 21 w 44"/>
                <a:gd name="T9" fmla="*/ 0 h 46"/>
                <a:gd name="T10" fmla="*/ 31 w 44"/>
                <a:gd name="T11" fmla="*/ 3 h 46"/>
                <a:gd name="T12" fmla="*/ 40 w 44"/>
                <a:gd name="T13" fmla="*/ 9 h 46"/>
                <a:gd name="T14" fmla="*/ 43 w 44"/>
                <a:gd name="T15" fmla="*/ 18 h 46"/>
                <a:gd name="T16" fmla="*/ 44 w 44"/>
                <a:gd name="T17" fmla="*/ 28 h 46"/>
                <a:gd name="T18" fmla="*/ 40 w 44"/>
                <a:gd name="T19" fmla="*/ 38 h 46"/>
                <a:gd name="T20" fmla="*/ 32 w 44"/>
                <a:gd name="T21" fmla="*/ 44 h 46"/>
                <a:gd name="T22" fmla="*/ 23 w 44"/>
                <a:gd name="T23" fmla="*/ 46 h 46"/>
                <a:gd name="T24" fmla="*/ 12 w 44"/>
                <a:gd name="T25" fmla="*/ 44 h 46"/>
                <a:gd name="T26" fmla="*/ 4 w 44"/>
                <a:gd name="T27" fmla="*/ 38 h 46"/>
                <a:gd name="T28" fmla="*/ 0 w 44"/>
                <a:gd name="T29" fmla="*/ 29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4"/>
                <a:gd name="T46" fmla="*/ 0 h 46"/>
                <a:gd name="T47" fmla="*/ 44 w 44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4" h="46">
                  <a:moveTo>
                    <a:pt x="0" y="29"/>
                  </a:moveTo>
                  <a:lnTo>
                    <a:pt x="0" y="18"/>
                  </a:lnTo>
                  <a:lnTo>
                    <a:pt x="3" y="10"/>
                  </a:lnTo>
                  <a:lnTo>
                    <a:pt x="12" y="3"/>
                  </a:lnTo>
                  <a:lnTo>
                    <a:pt x="21" y="0"/>
                  </a:lnTo>
                  <a:lnTo>
                    <a:pt x="31" y="3"/>
                  </a:lnTo>
                  <a:lnTo>
                    <a:pt x="40" y="9"/>
                  </a:lnTo>
                  <a:lnTo>
                    <a:pt x="43" y="18"/>
                  </a:lnTo>
                  <a:lnTo>
                    <a:pt x="44" y="28"/>
                  </a:lnTo>
                  <a:lnTo>
                    <a:pt x="40" y="38"/>
                  </a:lnTo>
                  <a:lnTo>
                    <a:pt x="32" y="44"/>
                  </a:lnTo>
                  <a:lnTo>
                    <a:pt x="23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2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29" name="Freeform 157"/>
            <p:cNvSpPr>
              <a:spLocks/>
            </p:cNvSpPr>
            <p:nvPr/>
          </p:nvSpPr>
          <p:spPr bwMode="auto">
            <a:xfrm>
              <a:off x="2747" y="1257"/>
              <a:ext cx="45" cy="46"/>
            </a:xfrm>
            <a:custGeom>
              <a:avLst/>
              <a:gdLst>
                <a:gd name="T0" fmla="*/ 22 w 45"/>
                <a:gd name="T1" fmla="*/ 0 h 46"/>
                <a:gd name="T2" fmla="*/ 31 w 45"/>
                <a:gd name="T3" fmla="*/ 2 h 46"/>
                <a:gd name="T4" fmla="*/ 40 w 45"/>
                <a:gd name="T5" fmla="*/ 8 h 46"/>
                <a:gd name="T6" fmla="*/ 45 w 45"/>
                <a:gd name="T7" fmla="*/ 18 h 46"/>
                <a:gd name="T8" fmla="*/ 45 w 45"/>
                <a:gd name="T9" fmla="*/ 27 h 46"/>
                <a:gd name="T10" fmla="*/ 40 w 45"/>
                <a:gd name="T11" fmla="*/ 37 h 46"/>
                <a:gd name="T12" fmla="*/ 31 w 45"/>
                <a:gd name="T13" fmla="*/ 43 h 46"/>
                <a:gd name="T14" fmla="*/ 22 w 45"/>
                <a:gd name="T15" fmla="*/ 46 h 46"/>
                <a:gd name="T16" fmla="*/ 12 w 45"/>
                <a:gd name="T17" fmla="*/ 43 h 46"/>
                <a:gd name="T18" fmla="*/ 4 w 45"/>
                <a:gd name="T19" fmla="*/ 37 h 46"/>
                <a:gd name="T20" fmla="*/ 0 w 45"/>
                <a:gd name="T21" fmla="*/ 27 h 46"/>
                <a:gd name="T22" fmla="*/ 0 w 45"/>
                <a:gd name="T23" fmla="*/ 18 h 46"/>
                <a:gd name="T24" fmla="*/ 4 w 45"/>
                <a:gd name="T25" fmla="*/ 8 h 46"/>
                <a:gd name="T26" fmla="*/ 12 w 45"/>
                <a:gd name="T27" fmla="*/ 2 h 46"/>
                <a:gd name="T28" fmla="*/ 22 w 45"/>
                <a:gd name="T29" fmla="*/ 0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6"/>
                <a:gd name="T47" fmla="*/ 45 w 45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6">
                  <a:moveTo>
                    <a:pt x="22" y="0"/>
                  </a:moveTo>
                  <a:lnTo>
                    <a:pt x="31" y="2"/>
                  </a:lnTo>
                  <a:lnTo>
                    <a:pt x="40" y="8"/>
                  </a:lnTo>
                  <a:lnTo>
                    <a:pt x="45" y="18"/>
                  </a:lnTo>
                  <a:lnTo>
                    <a:pt x="45" y="27"/>
                  </a:lnTo>
                  <a:lnTo>
                    <a:pt x="40" y="37"/>
                  </a:lnTo>
                  <a:lnTo>
                    <a:pt x="31" y="43"/>
                  </a:lnTo>
                  <a:lnTo>
                    <a:pt x="22" y="46"/>
                  </a:lnTo>
                  <a:lnTo>
                    <a:pt x="12" y="43"/>
                  </a:lnTo>
                  <a:lnTo>
                    <a:pt x="4" y="37"/>
                  </a:lnTo>
                  <a:lnTo>
                    <a:pt x="0" y="27"/>
                  </a:lnTo>
                  <a:lnTo>
                    <a:pt x="0" y="18"/>
                  </a:lnTo>
                  <a:lnTo>
                    <a:pt x="4" y="8"/>
                  </a:lnTo>
                  <a:lnTo>
                    <a:pt x="12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30" name="Line 158"/>
            <p:cNvSpPr>
              <a:spLocks noChangeShapeType="1"/>
            </p:cNvSpPr>
            <p:nvPr/>
          </p:nvSpPr>
          <p:spPr bwMode="auto">
            <a:xfrm>
              <a:off x="2769" y="1303"/>
              <a:ext cx="1" cy="18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31" name="Freeform 159"/>
            <p:cNvSpPr>
              <a:spLocks/>
            </p:cNvSpPr>
            <p:nvPr/>
          </p:nvSpPr>
          <p:spPr bwMode="auto">
            <a:xfrm>
              <a:off x="2747" y="1257"/>
              <a:ext cx="45" cy="46"/>
            </a:xfrm>
            <a:custGeom>
              <a:avLst/>
              <a:gdLst>
                <a:gd name="T0" fmla="*/ 22 w 45"/>
                <a:gd name="T1" fmla="*/ 0 h 46"/>
                <a:gd name="T2" fmla="*/ 31 w 45"/>
                <a:gd name="T3" fmla="*/ 2 h 46"/>
                <a:gd name="T4" fmla="*/ 40 w 45"/>
                <a:gd name="T5" fmla="*/ 8 h 46"/>
                <a:gd name="T6" fmla="*/ 45 w 45"/>
                <a:gd name="T7" fmla="*/ 18 h 46"/>
                <a:gd name="T8" fmla="*/ 45 w 45"/>
                <a:gd name="T9" fmla="*/ 27 h 46"/>
                <a:gd name="T10" fmla="*/ 40 w 45"/>
                <a:gd name="T11" fmla="*/ 37 h 46"/>
                <a:gd name="T12" fmla="*/ 31 w 45"/>
                <a:gd name="T13" fmla="*/ 43 h 46"/>
                <a:gd name="T14" fmla="*/ 22 w 45"/>
                <a:gd name="T15" fmla="*/ 46 h 46"/>
                <a:gd name="T16" fmla="*/ 12 w 45"/>
                <a:gd name="T17" fmla="*/ 43 h 46"/>
                <a:gd name="T18" fmla="*/ 4 w 45"/>
                <a:gd name="T19" fmla="*/ 37 h 46"/>
                <a:gd name="T20" fmla="*/ 0 w 45"/>
                <a:gd name="T21" fmla="*/ 27 h 46"/>
                <a:gd name="T22" fmla="*/ 0 w 45"/>
                <a:gd name="T23" fmla="*/ 18 h 46"/>
                <a:gd name="T24" fmla="*/ 4 w 45"/>
                <a:gd name="T25" fmla="*/ 8 h 46"/>
                <a:gd name="T26" fmla="*/ 12 w 45"/>
                <a:gd name="T27" fmla="*/ 2 h 46"/>
                <a:gd name="T28" fmla="*/ 22 w 45"/>
                <a:gd name="T29" fmla="*/ 0 h 4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"/>
                <a:gd name="T46" fmla="*/ 0 h 46"/>
                <a:gd name="T47" fmla="*/ 45 w 45"/>
                <a:gd name="T48" fmla="*/ 46 h 4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" h="46">
                  <a:moveTo>
                    <a:pt x="22" y="0"/>
                  </a:moveTo>
                  <a:lnTo>
                    <a:pt x="31" y="2"/>
                  </a:lnTo>
                  <a:lnTo>
                    <a:pt x="40" y="8"/>
                  </a:lnTo>
                  <a:lnTo>
                    <a:pt x="45" y="18"/>
                  </a:lnTo>
                  <a:lnTo>
                    <a:pt x="45" y="27"/>
                  </a:lnTo>
                  <a:lnTo>
                    <a:pt x="40" y="37"/>
                  </a:lnTo>
                  <a:lnTo>
                    <a:pt x="31" y="43"/>
                  </a:lnTo>
                  <a:lnTo>
                    <a:pt x="22" y="46"/>
                  </a:lnTo>
                  <a:lnTo>
                    <a:pt x="12" y="43"/>
                  </a:lnTo>
                  <a:lnTo>
                    <a:pt x="4" y="37"/>
                  </a:lnTo>
                  <a:lnTo>
                    <a:pt x="0" y="27"/>
                  </a:lnTo>
                  <a:lnTo>
                    <a:pt x="0" y="18"/>
                  </a:lnTo>
                  <a:lnTo>
                    <a:pt x="4" y="8"/>
                  </a:lnTo>
                  <a:lnTo>
                    <a:pt x="12" y="2"/>
                  </a:lnTo>
                  <a:lnTo>
                    <a:pt x="2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3332" name="Rectangle 160"/>
            <p:cNvSpPr>
              <a:spLocks noChangeArrowheads="1"/>
            </p:cNvSpPr>
            <p:nvPr/>
          </p:nvSpPr>
          <p:spPr bwMode="auto">
            <a:xfrm>
              <a:off x="2479" y="1248"/>
              <a:ext cx="2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cs typeface="Tahoma" pitchFamily="34" charset="0"/>
                </a:rPr>
                <a:t>MaHP</a:t>
              </a:r>
              <a:endParaRPr lang="en-US">
                <a:cs typeface="Tahoma" pitchFamily="34" charset="0"/>
              </a:endParaRPr>
            </a:p>
          </p:txBody>
        </p:sp>
      </p:grp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7" name="Date Placeholder 8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04C366-02F2-4196-BB6B-118A541E296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88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381000"/>
          </a:xfrm>
        </p:spPr>
        <p:txBody>
          <a:bodyPr/>
          <a:lstStyle/>
          <a:p>
            <a:r>
              <a:rPr lang="en-US" sz="3200">
                <a:solidFill>
                  <a:schemeClr val="accent1"/>
                </a:solidFill>
              </a:rPr>
              <a:t>Ví dụ mô hình đối tượng</a:t>
            </a:r>
          </a:p>
        </p:txBody>
      </p:sp>
      <p:sp>
        <p:nvSpPr>
          <p:cNvPr id="1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B07CAA-6911-4BF0-A230-4CEB5344AEBA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grpSp>
        <p:nvGrpSpPr>
          <p:cNvPr id="2" name="Group 110"/>
          <p:cNvGrpSpPr>
            <a:grpSpLocks/>
          </p:cNvGrpSpPr>
          <p:nvPr/>
        </p:nvGrpSpPr>
        <p:grpSpPr bwMode="auto">
          <a:xfrm>
            <a:off x="1752600" y="1524000"/>
            <a:ext cx="5438775" cy="4497388"/>
            <a:chOff x="1152" y="1010"/>
            <a:chExt cx="3426" cy="2833"/>
          </a:xfrm>
        </p:grpSpPr>
        <p:sp>
          <p:nvSpPr>
            <p:cNvPr id="54278" name="Rectangle 10"/>
            <p:cNvSpPr>
              <a:spLocks noChangeArrowheads="1"/>
            </p:cNvSpPr>
            <p:nvPr/>
          </p:nvSpPr>
          <p:spPr bwMode="auto">
            <a:xfrm>
              <a:off x="1186" y="1010"/>
              <a:ext cx="732" cy="898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279" name="Rectangle 11"/>
            <p:cNvSpPr>
              <a:spLocks noChangeArrowheads="1"/>
            </p:cNvSpPr>
            <p:nvPr/>
          </p:nvSpPr>
          <p:spPr bwMode="auto">
            <a:xfrm>
              <a:off x="1441" y="1039"/>
              <a:ext cx="27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cs typeface="Tahoma" pitchFamily="34" charset="0"/>
                </a:rPr>
                <a:t>SVien</a:t>
              </a:r>
              <a:endParaRPr lang="en-US" b="1">
                <a:cs typeface="Tahoma" pitchFamily="34" charset="0"/>
              </a:endParaRPr>
            </a:p>
          </p:txBody>
        </p:sp>
        <p:sp>
          <p:nvSpPr>
            <p:cNvPr id="54280" name="Rectangle 12"/>
            <p:cNvSpPr>
              <a:spLocks noChangeArrowheads="1"/>
            </p:cNvSpPr>
            <p:nvPr/>
          </p:nvSpPr>
          <p:spPr bwMode="auto">
            <a:xfrm>
              <a:off x="1186" y="1163"/>
              <a:ext cx="732" cy="745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281" name="Rectangle 13"/>
            <p:cNvSpPr>
              <a:spLocks noChangeArrowheads="1"/>
            </p:cNvSpPr>
            <p:nvPr/>
          </p:nvSpPr>
          <p:spPr bwMode="auto">
            <a:xfrm>
              <a:off x="1186" y="1572"/>
              <a:ext cx="732" cy="336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pic>
          <p:nvPicPr>
            <p:cNvPr id="54282" name="Picture 1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08" y="1178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83" name="Picture 1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08" y="1178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84" name="Picture 1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08" y="1178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85" name="Rectangle 17"/>
            <p:cNvSpPr>
              <a:spLocks noChangeArrowheads="1"/>
            </p:cNvSpPr>
            <p:nvPr/>
          </p:nvSpPr>
          <p:spPr bwMode="auto">
            <a:xfrm>
              <a:off x="1343" y="1178"/>
              <a:ext cx="16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Ten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286" name="Picture 1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08" y="1295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87" name="Picture 19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08" y="1295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88" name="Picture 2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08" y="1295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89" name="Rectangle 21"/>
            <p:cNvSpPr>
              <a:spLocks noChangeArrowheads="1"/>
            </p:cNvSpPr>
            <p:nvPr/>
          </p:nvSpPr>
          <p:spPr bwMode="auto">
            <a:xfrm>
              <a:off x="1347" y="1295"/>
              <a:ext cx="1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Lop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290" name="Picture 2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08" y="1412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91" name="Picture 2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08" y="1412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92" name="Picture 2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08" y="1412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93" name="Rectangle 25"/>
            <p:cNvSpPr>
              <a:spLocks noChangeArrowheads="1"/>
            </p:cNvSpPr>
            <p:nvPr/>
          </p:nvSpPr>
          <p:spPr bwMode="auto">
            <a:xfrm>
              <a:off x="1345" y="1412"/>
              <a:ext cx="275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Nganh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294" name="Picture 2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52" y="1645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95" name="Picture 2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152" y="1645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96" name="Picture 2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52" y="1645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97" name="Rectangle 29"/>
            <p:cNvSpPr>
              <a:spLocks noChangeArrowheads="1"/>
            </p:cNvSpPr>
            <p:nvPr/>
          </p:nvSpPr>
          <p:spPr bwMode="auto">
            <a:xfrm>
              <a:off x="1291" y="1645"/>
              <a:ext cx="39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LapTKB()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298" name="Picture 3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52" y="1762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99" name="Picture 3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152" y="1762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00" name="Picture 3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52" y="1762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01" name="Rectangle 33"/>
            <p:cNvSpPr>
              <a:spLocks noChangeArrowheads="1"/>
            </p:cNvSpPr>
            <p:nvPr/>
          </p:nvSpPr>
          <p:spPr bwMode="auto">
            <a:xfrm>
              <a:off x="1278" y="1762"/>
              <a:ext cx="59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InBangDiem()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02" name="Rectangle 34"/>
            <p:cNvSpPr>
              <a:spLocks noChangeArrowheads="1"/>
            </p:cNvSpPr>
            <p:nvPr/>
          </p:nvSpPr>
          <p:spPr bwMode="auto">
            <a:xfrm>
              <a:off x="1998" y="2039"/>
              <a:ext cx="607" cy="782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03" name="Rectangle 35"/>
            <p:cNvSpPr>
              <a:spLocks noChangeArrowheads="1"/>
            </p:cNvSpPr>
            <p:nvPr/>
          </p:nvSpPr>
          <p:spPr bwMode="auto">
            <a:xfrm>
              <a:off x="2202" y="2069"/>
              <a:ext cx="25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cs typeface="Tahoma" pitchFamily="34" charset="0"/>
                </a:rPr>
                <a:t>Diem</a:t>
              </a:r>
              <a:endParaRPr lang="en-US" b="1">
                <a:cs typeface="Tahoma" pitchFamily="34" charset="0"/>
              </a:endParaRPr>
            </a:p>
          </p:txBody>
        </p:sp>
        <p:sp>
          <p:nvSpPr>
            <p:cNvPr id="54304" name="Rectangle 36"/>
            <p:cNvSpPr>
              <a:spLocks noChangeArrowheads="1"/>
            </p:cNvSpPr>
            <p:nvPr/>
          </p:nvSpPr>
          <p:spPr bwMode="auto">
            <a:xfrm>
              <a:off x="1998" y="2193"/>
              <a:ext cx="607" cy="628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05" name="Rectangle 37"/>
            <p:cNvSpPr>
              <a:spLocks noChangeArrowheads="1"/>
            </p:cNvSpPr>
            <p:nvPr/>
          </p:nvSpPr>
          <p:spPr bwMode="auto">
            <a:xfrm>
              <a:off x="1998" y="2602"/>
              <a:ext cx="607" cy="219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pic>
          <p:nvPicPr>
            <p:cNvPr id="54306" name="Picture 3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20" y="2207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07" name="Picture 39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20" y="2207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08" name="Picture 4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20" y="2207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09" name="Rectangle 41"/>
            <p:cNvSpPr>
              <a:spLocks noChangeArrowheads="1"/>
            </p:cNvSpPr>
            <p:nvPr/>
          </p:nvSpPr>
          <p:spPr bwMode="auto">
            <a:xfrm>
              <a:off x="2156" y="2207"/>
              <a:ext cx="34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DiemTH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310" name="Picture 4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20" y="2324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11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20" y="2324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12" name="Picture 4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20" y="2324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13" name="Rectangle 45"/>
            <p:cNvSpPr>
              <a:spLocks noChangeArrowheads="1"/>
            </p:cNvSpPr>
            <p:nvPr/>
          </p:nvSpPr>
          <p:spPr bwMode="auto">
            <a:xfrm>
              <a:off x="2158" y="2324"/>
              <a:ext cx="3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DiemLT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314" name="Picture 4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20" y="2441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15" name="Picture 4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20" y="2441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16" name="Picture 4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20" y="2441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17" name="Rectangle 49"/>
            <p:cNvSpPr>
              <a:spLocks noChangeArrowheads="1"/>
            </p:cNvSpPr>
            <p:nvPr/>
          </p:nvSpPr>
          <p:spPr bwMode="auto">
            <a:xfrm>
              <a:off x="2160" y="2441"/>
              <a:ext cx="33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DiemPrj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318" name="Picture 5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68" y="2675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19" name="Picture 5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968" y="2675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20" name="Picture 5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68" y="2675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21" name="Rectangle 53"/>
            <p:cNvSpPr>
              <a:spLocks noChangeArrowheads="1"/>
            </p:cNvSpPr>
            <p:nvPr/>
          </p:nvSpPr>
          <p:spPr bwMode="auto">
            <a:xfrm>
              <a:off x="2104" y="2675"/>
              <a:ext cx="45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SuaDiem()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22" name="Rectangle 54"/>
            <p:cNvSpPr>
              <a:spLocks noChangeArrowheads="1"/>
            </p:cNvSpPr>
            <p:nvPr/>
          </p:nvSpPr>
          <p:spPr bwMode="auto">
            <a:xfrm>
              <a:off x="3029" y="1185"/>
              <a:ext cx="491" cy="548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23" name="Rectangle 55"/>
            <p:cNvSpPr>
              <a:spLocks noChangeArrowheads="1"/>
            </p:cNvSpPr>
            <p:nvPr/>
          </p:nvSpPr>
          <p:spPr bwMode="auto">
            <a:xfrm>
              <a:off x="3139" y="1214"/>
              <a:ext cx="315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cs typeface="Tahoma" pitchFamily="34" charset="0"/>
                </a:rPr>
                <a:t>HPhan</a:t>
              </a:r>
              <a:endParaRPr lang="en-US" b="1">
                <a:cs typeface="Tahoma" pitchFamily="34" charset="0"/>
              </a:endParaRPr>
            </a:p>
          </p:txBody>
        </p:sp>
        <p:sp>
          <p:nvSpPr>
            <p:cNvPr id="54324" name="Rectangle 56"/>
            <p:cNvSpPr>
              <a:spLocks noChangeArrowheads="1"/>
            </p:cNvSpPr>
            <p:nvPr/>
          </p:nvSpPr>
          <p:spPr bwMode="auto">
            <a:xfrm>
              <a:off x="3029" y="1339"/>
              <a:ext cx="491" cy="394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25" name="Rectangle 57"/>
            <p:cNvSpPr>
              <a:spLocks noChangeArrowheads="1"/>
            </p:cNvSpPr>
            <p:nvPr/>
          </p:nvSpPr>
          <p:spPr bwMode="auto">
            <a:xfrm>
              <a:off x="3029" y="1631"/>
              <a:ext cx="491" cy="102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pic>
          <p:nvPicPr>
            <p:cNvPr id="54326" name="Picture 5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51" y="1353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27" name="Picture 59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51" y="1353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28" name="Picture 6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51" y="1353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29" name="Rectangle 61"/>
            <p:cNvSpPr>
              <a:spLocks noChangeArrowheads="1"/>
            </p:cNvSpPr>
            <p:nvPr/>
          </p:nvSpPr>
          <p:spPr bwMode="auto">
            <a:xfrm>
              <a:off x="3186" y="1353"/>
              <a:ext cx="16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Ten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330" name="Picture 6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51" y="1470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31" name="Picture 6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51" y="1470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32" name="Picture 6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51" y="1470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33" name="Rectangle 65"/>
            <p:cNvSpPr>
              <a:spLocks noChangeArrowheads="1"/>
            </p:cNvSpPr>
            <p:nvPr/>
          </p:nvSpPr>
          <p:spPr bwMode="auto">
            <a:xfrm>
              <a:off x="3193" y="1470"/>
              <a:ext cx="31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SLuong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34" name="Line 66"/>
            <p:cNvSpPr>
              <a:spLocks noChangeShapeType="1"/>
            </p:cNvSpPr>
            <p:nvPr/>
          </p:nvSpPr>
          <p:spPr bwMode="auto">
            <a:xfrm>
              <a:off x="2474" y="1463"/>
              <a:ext cx="555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35" name="Rectangle 67"/>
            <p:cNvSpPr>
              <a:spLocks noChangeArrowheads="1"/>
            </p:cNvSpPr>
            <p:nvPr/>
          </p:nvSpPr>
          <p:spPr bwMode="auto">
            <a:xfrm>
              <a:off x="2839" y="1528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36" name="Line 68"/>
            <p:cNvSpPr>
              <a:spLocks noChangeShapeType="1"/>
            </p:cNvSpPr>
            <p:nvPr/>
          </p:nvSpPr>
          <p:spPr bwMode="auto">
            <a:xfrm flipH="1">
              <a:off x="1918" y="1463"/>
              <a:ext cx="5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37" name="Rectangle 69"/>
            <p:cNvSpPr>
              <a:spLocks noChangeArrowheads="1"/>
            </p:cNvSpPr>
            <p:nvPr/>
          </p:nvSpPr>
          <p:spPr bwMode="auto">
            <a:xfrm>
              <a:off x="1954" y="1528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1..*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38" name="Rectangle 70"/>
            <p:cNvSpPr>
              <a:spLocks noChangeArrowheads="1"/>
            </p:cNvSpPr>
            <p:nvPr/>
          </p:nvSpPr>
          <p:spPr bwMode="auto">
            <a:xfrm>
              <a:off x="2423" y="1266"/>
              <a:ext cx="15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i="1">
                  <a:solidFill>
                    <a:srgbClr val="000000"/>
                  </a:solidFill>
                  <a:cs typeface="Tahoma" pitchFamily="34" charset="0"/>
                </a:rPr>
                <a:t>hoc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39" name="Line 71"/>
            <p:cNvSpPr>
              <a:spLocks noChangeShapeType="1"/>
            </p:cNvSpPr>
            <p:nvPr/>
          </p:nvSpPr>
          <p:spPr bwMode="auto">
            <a:xfrm flipH="1">
              <a:off x="2371" y="1463"/>
              <a:ext cx="103" cy="569"/>
            </a:xfrm>
            <a:prstGeom prst="line">
              <a:avLst/>
            </a:prstGeom>
            <a:noFill/>
            <a:ln w="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40" name="Rectangle 72"/>
            <p:cNvSpPr>
              <a:spLocks noChangeArrowheads="1"/>
            </p:cNvSpPr>
            <p:nvPr/>
          </p:nvSpPr>
          <p:spPr bwMode="auto">
            <a:xfrm>
              <a:off x="2839" y="1528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41" name="Rectangle 73"/>
            <p:cNvSpPr>
              <a:spLocks noChangeArrowheads="1"/>
            </p:cNvSpPr>
            <p:nvPr/>
          </p:nvSpPr>
          <p:spPr bwMode="auto">
            <a:xfrm>
              <a:off x="1954" y="1528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1..*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42" name="Rectangle 74"/>
            <p:cNvSpPr>
              <a:spLocks noChangeArrowheads="1"/>
            </p:cNvSpPr>
            <p:nvPr/>
          </p:nvSpPr>
          <p:spPr bwMode="auto">
            <a:xfrm>
              <a:off x="2890" y="2748"/>
              <a:ext cx="768" cy="781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43" name="Rectangle 75"/>
            <p:cNvSpPr>
              <a:spLocks noChangeArrowheads="1"/>
            </p:cNvSpPr>
            <p:nvPr/>
          </p:nvSpPr>
          <p:spPr bwMode="auto">
            <a:xfrm>
              <a:off x="3165" y="2777"/>
              <a:ext cx="26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cs typeface="Tahoma" pitchFamily="34" charset="0"/>
                </a:rPr>
                <a:t>MHoc</a:t>
              </a:r>
              <a:endParaRPr lang="en-US" b="1">
                <a:cs typeface="Tahoma" pitchFamily="34" charset="0"/>
              </a:endParaRPr>
            </a:p>
          </p:txBody>
        </p:sp>
        <p:sp>
          <p:nvSpPr>
            <p:cNvPr id="54344" name="Rectangle 76"/>
            <p:cNvSpPr>
              <a:spLocks noChangeArrowheads="1"/>
            </p:cNvSpPr>
            <p:nvPr/>
          </p:nvSpPr>
          <p:spPr bwMode="auto">
            <a:xfrm>
              <a:off x="2890" y="2901"/>
              <a:ext cx="768" cy="628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45" name="Rectangle 77"/>
            <p:cNvSpPr>
              <a:spLocks noChangeArrowheads="1"/>
            </p:cNvSpPr>
            <p:nvPr/>
          </p:nvSpPr>
          <p:spPr bwMode="auto">
            <a:xfrm>
              <a:off x="2890" y="3310"/>
              <a:ext cx="768" cy="219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pic>
          <p:nvPicPr>
            <p:cNvPr id="54346" name="Picture 7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12" y="2915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47" name="Picture 79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12" y="2915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48" name="Picture 8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12" y="2915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49" name="Rectangle 81"/>
            <p:cNvSpPr>
              <a:spLocks noChangeArrowheads="1"/>
            </p:cNvSpPr>
            <p:nvPr/>
          </p:nvSpPr>
          <p:spPr bwMode="auto">
            <a:xfrm>
              <a:off x="3047" y="2915"/>
              <a:ext cx="16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Ten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350" name="Picture 8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12" y="3032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51" name="Picture 8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12" y="3032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52" name="Picture 8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12" y="3032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53" name="Rectangle 85"/>
            <p:cNvSpPr>
              <a:spLocks noChangeArrowheads="1"/>
            </p:cNvSpPr>
            <p:nvPr/>
          </p:nvSpPr>
          <p:spPr bwMode="auto">
            <a:xfrm>
              <a:off x="3054" y="3032"/>
              <a:ext cx="21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Khoa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354" name="Picture 8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12" y="3149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55" name="Picture 8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12" y="3149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56" name="Picture 8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12" y="3149"/>
              <a:ext cx="11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57" name="Rectangle 89"/>
            <p:cNvSpPr>
              <a:spLocks noChangeArrowheads="1"/>
            </p:cNvSpPr>
            <p:nvPr/>
          </p:nvSpPr>
          <p:spPr bwMode="auto">
            <a:xfrm>
              <a:off x="3055" y="3149"/>
              <a:ext cx="37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SoTinChi</a:t>
              </a:r>
              <a:endParaRPr lang="en-US">
                <a:cs typeface="Tahoma" pitchFamily="34" charset="0"/>
              </a:endParaRPr>
            </a:p>
          </p:txBody>
        </p:sp>
        <p:pic>
          <p:nvPicPr>
            <p:cNvPr id="54358" name="Picture 9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89" y="3383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59" name="Picture 9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889" y="3383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360" name="Picture 9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89" y="3383"/>
              <a:ext cx="117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61" name="Rectangle 93"/>
            <p:cNvSpPr>
              <a:spLocks noChangeArrowheads="1"/>
            </p:cNvSpPr>
            <p:nvPr/>
          </p:nvSpPr>
          <p:spPr bwMode="auto">
            <a:xfrm>
              <a:off x="3030" y="3383"/>
              <a:ext cx="60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CapNhatSTC()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62" name="Line 94"/>
            <p:cNvSpPr>
              <a:spLocks noChangeShapeType="1"/>
            </p:cNvSpPr>
            <p:nvPr/>
          </p:nvSpPr>
          <p:spPr bwMode="auto">
            <a:xfrm>
              <a:off x="3278" y="2236"/>
              <a:ext cx="1" cy="512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63" name="Rectangle 95"/>
            <p:cNvSpPr>
              <a:spLocks noChangeArrowheads="1"/>
            </p:cNvSpPr>
            <p:nvPr/>
          </p:nvSpPr>
          <p:spPr bwMode="auto">
            <a:xfrm>
              <a:off x="3409" y="2558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64" name="Line 96"/>
            <p:cNvSpPr>
              <a:spLocks noChangeShapeType="1"/>
            </p:cNvSpPr>
            <p:nvPr/>
          </p:nvSpPr>
          <p:spPr bwMode="auto">
            <a:xfrm flipV="1">
              <a:off x="3278" y="1733"/>
              <a:ext cx="1" cy="503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65" name="Rectangle 97"/>
            <p:cNvSpPr>
              <a:spLocks noChangeArrowheads="1"/>
            </p:cNvSpPr>
            <p:nvPr/>
          </p:nvSpPr>
          <p:spPr bwMode="auto">
            <a:xfrm>
              <a:off x="3402" y="1806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1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66" name="Rectangle 98"/>
            <p:cNvSpPr>
              <a:spLocks noChangeArrowheads="1"/>
            </p:cNvSpPr>
            <p:nvPr/>
          </p:nvSpPr>
          <p:spPr bwMode="auto">
            <a:xfrm>
              <a:off x="3409" y="2558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67" name="Rectangle 99"/>
            <p:cNvSpPr>
              <a:spLocks noChangeArrowheads="1"/>
            </p:cNvSpPr>
            <p:nvPr/>
          </p:nvSpPr>
          <p:spPr bwMode="auto">
            <a:xfrm>
              <a:off x="3402" y="1806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1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68" name="Rectangle 100"/>
            <p:cNvSpPr>
              <a:spLocks noChangeArrowheads="1"/>
            </p:cNvSpPr>
            <p:nvPr/>
          </p:nvSpPr>
          <p:spPr bwMode="auto">
            <a:xfrm>
              <a:off x="3336" y="2156"/>
              <a:ext cx="13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i="1">
                  <a:solidFill>
                    <a:srgbClr val="000000"/>
                  </a:solidFill>
                  <a:cs typeface="Tahoma" pitchFamily="34" charset="0"/>
                </a:rPr>
                <a:t>mo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69" name="Freeform 101"/>
            <p:cNvSpPr>
              <a:spLocks/>
            </p:cNvSpPr>
            <p:nvPr/>
          </p:nvSpPr>
          <p:spPr bwMode="auto">
            <a:xfrm>
              <a:off x="3278" y="3529"/>
              <a:ext cx="1083" cy="314"/>
            </a:xfrm>
            <a:custGeom>
              <a:avLst/>
              <a:gdLst>
                <a:gd name="T0" fmla="*/ 148 w 148"/>
                <a:gd name="T1" fmla="*/ 23 h 43"/>
                <a:gd name="T2" fmla="*/ 148 w 148"/>
                <a:gd name="T3" fmla="*/ 43 h 43"/>
                <a:gd name="T4" fmla="*/ 0 w 148"/>
                <a:gd name="T5" fmla="*/ 43 h 43"/>
                <a:gd name="T6" fmla="*/ 0 w 148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43"/>
                <a:gd name="T14" fmla="*/ 148 w 148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43">
                  <a:moveTo>
                    <a:pt x="148" y="23"/>
                  </a:moveTo>
                  <a:lnTo>
                    <a:pt x="148" y="43"/>
                  </a:lnTo>
                  <a:lnTo>
                    <a:pt x="0" y="43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70" name="Rectangle 102"/>
            <p:cNvSpPr>
              <a:spLocks noChangeArrowheads="1"/>
            </p:cNvSpPr>
            <p:nvPr/>
          </p:nvSpPr>
          <p:spPr bwMode="auto">
            <a:xfrm>
              <a:off x="3080" y="3551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71" name="Freeform 103"/>
            <p:cNvSpPr>
              <a:spLocks/>
            </p:cNvSpPr>
            <p:nvPr/>
          </p:nvSpPr>
          <p:spPr bwMode="auto">
            <a:xfrm>
              <a:off x="3658" y="3142"/>
              <a:ext cx="703" cy="555"/>
            </a:xfrm>
            <a:custGeom>
              <a:avLst/>
              <a:gdLst>
                <a:gd name="T0" fmla="*/ 96 w 96"/>
                <a:gd name="T1" fmla="*/ 76 h 76"/>
                <a:gd name="T2" fmla="*/ 96 w 96"/>
                <a:gd name="T3" fmla="*/ 0 h 76"/>
                <a:gd name="T4" fmla="*/ 0 w 96"/>
                <a:gd name="T5" fmla="*/ 0 h 76"/>
                <a:gd name="T6" fmla="*/ 0 60000 65536"/>
                <a:gd name="T7" fmla="*/ 0 60000 65536"/>
                <a:gd name="T8" fmla="*/ 0 60000 65536"/>
                <a:gd name="T9" fmla="*/ 0 w 96"/>
                <a:gd name="T10" fmla="*/ 0 h 76"/>
                <a:gd name="T11" fmla="*/ 96 w 96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76">
                  <a:moveTo>
                    <a:pt x="96" y="76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4372" name="Rectangle 104"/>
            <p:cNvSpPr>
              <a:spLocks noChangeArrowheads="1"/>
            </p:cNvSpPr>
            <p:nvPr/>
          </p:nvSpPr>
          <p:spPr bwMode="auto">
            <a:xfrm>
              <a:off x="3731" y="3207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73" name="Rectangle 105"/>
            <p:cNvSpPr>
              <a:spLocks noChangeArrowheads="1"/>
            </p:cNvSpPr>
            <p:nvPr/>
          </p:nvSpPr>
          <p:spPr bwMode="auto">
            <a:xfrm>
              <a:off x="4180" y="3507"/>
              <a:ext cx="39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i="1">
                  <a:solidFill>
                    <a:srgbClr val="000000"/>
                  </a:solidFill>
                  <a:cs typeface="Tahoma" pitchFamily="34" charset="0"/>
                </a:rPr>
                <a:t>Dieu kien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74" name="Rectangle 106"/>
            <p:cNvSpPr>
              <a:spLocks noChangeArrowheads="1"/>
            </p:cNvSpPr>
            <p:nvPr/>
          </p:nvSpPr>
          <p:spPr bwMode="auto">
            <a:xfrm>
              <a:off x="3657" y="2988"/>
              <a:ext cx="55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+MHoc truoc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75" name="Rectangle 107"/>
            <p:cNvSpPr>
              <a:spLocks noChangeArrowheads="1"/>
            </p:cNvSpPr>
            <p:nvPr/>
          </p:nvSpPr>
          <p:spPr bwMode="auto">
            <a:xfrm>
              <a:off x="2923" y="3675"/>
              <a:ext cx="48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+MHoc sau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76" name="Rectangle 108"/>
            <p:cNvSpPr>
              <a:spLocks noChangeArrowheads="1"/>
            </p:cNvSpPr>
            <p:nvPr/>
          </p:nvSpPr>
          <p:spPr bwMode="auto">
            <a:xfrm>
              <a:off x="3731" y="3207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  <p:sp>
          <p:nvSpPr>
            <p:cNvPr id="54377" name="Rectangle 109"/>
            <p:cNvSpPr>
              <a:spLocks noChangeArrowheads="1"/>
            </p:cNvSpPr>
            <p:nvPr/>
          </p:nvSpPr>
          <p:spPr bwMode="auto">
            <a:xfrm>
              <a:off x="3080" y="3551"/>
              <a:ext cx="16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ahoma" pitchFamily="34" charset="0"/>
                </a:rPr>
                <a:t>0..*</a:t>
              </a:r>
              <a:endParaRPr lang="en-US">
                <a:cs typeface="Tahoma" pitchFamily="34" charset="0"/>
              </a:endParaRPr>
            </a:p>
          </p:txBody>
        </p:sp>
      </p:grpSp>
      <p:sp>
        <p:nvSpPr>
          <p:cNvPr id="107" name="Footer Placeholder 10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108" name="Date Placeholder 10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80FC5A-77C3-4342-A0A3-15373C6AB8BB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109" name="Picture 3"/>
          <p:cNvPicPr preferRelativeResize="0"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457200"/>
          </a:xfrm>
        </p:spPr>
        <p:txBody>
          <a:bodyPr/>
          <a:lstStyle/>
          <a:p>
            <a:r>
              <a:rPr lang="en-US" sz="3200">
                <a:solidFill>
                  <a:schemeClr val="accent1"/>
                </a:solidFill>
              </a:rPr>
              <a:t>Ví dụ mô hình quan hệ</a:t>
            </a:r>
          </a:p>
        </p:txBody>
      </p:sp>
      <p:sp>
        <p:nvSpPr>
          <p:cNvPr id="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80C7F0-1B38-4C59-AC21-FDE7F1F05B61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  <p:grpSp>
        <p:nvGrpSpPr>
          <p:cNvPr id="2" name="Group 130"/>
          <p:cNvGrpSpPr>
            <a:grpSpLocks/>
          </p:cNvGrpSpPr>
          <p:nvPr/>
        </p:nvGrpSpPr>
        <p:grpSpPr bwMode="auto">
          <a:xfrm>
            <a:off x="1447800" y="1905000"/>
            <a:ext cx="5964237" cy="3733800"/>
            <a:chOff x="816" y="1200"/>
            <a:chExt cx="3757" cy="2352"/>
          </a:xfrm>
        </p:grpSpPr>
        <p:grpSp>
          <p:nvGrpSpPr>
            <p:cNvPr id="3" name="Group 87"/>
            <p:cNvGrpSpPr>
              <a:grpSpLocks/>
            </p:cNvGrpSpPr>
            <p:nvPr/>
          </p:nvGrpSpPr>
          <p:grpSpPr bwMode="auto">
            <a:xfrm>
              <a:off x="816" y="1200"/>
              <a:ext cx="729" cy="1056"/>
              <a:chOff x="528" y="1440"/>
              <a:chExt cx="729" cy="1056"/>
            </a:xfrm>
          </p:grpSpPr>
          <p:sp>
            <p:nvSpPr>
              <p:cNvPr id="55337" name="Rectangle 4"/>
              <p:cNvSpPr>
                <a:spLocks noChangeArrowheads="1"/>
              </p:cNvSpPr>
              <p:nvPr/>
            </p:nvSpPr>
            <p:spPr bwMode="auto">
              <a:xfrm>
                <a:off x="528" y="1440"/>
                <a:ext cx="729" cy="1056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55338" name="Rectangle 5"/>
              <p:cNvSpPr>
                <a:spLocks noChangeArrowheads="1"/>
              </p:cNvSpPr>
              <p:nvPr/>
            </p:nvSpPr>
            <p:spPr bwMode="auto">
              <a:xfrm>
                <a:off x="576" y="1488"/>
                <a:ext cx="62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sz="1500" b="1">
                    <a:solidFill>
                      <a:srgbClr val="000000"/>
                    </a:solidFill>
                    <a:cs typeface="Tahoma" pitchFamily="34" charset="0"/>
                  </a:rPr>
                  <a:t>SVien</a:t>
                </a:r>
                <a:endParaRPr lang="en-US" b="1">
                  <a:cs typeface="Tahoma" pitchFamily="34" charset="0"/>
                </a:endParaRPr>
              </a:p>
            </p:txBody>
          </p:sp>
          <p:sp>
            <p:nvSpPr>
              <p:cNvPr id="55339" name="Line 82"/>
              <p:cNvSpPr>
                <a:spLocks noChangeShapeType="1"/>
              </p:cNvSpPr>
              <p:nvPr/>
            </p:nvSpPr>
            <p:spPr bwMode="auto">
              <a:xfrm>
                <a:off x="528" y="168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5340" name="Rectangle 83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 u="sng">
                    <a:solidFill>
                      <a:srgbClr val="000000"/>
                    </a:solidFill>
                    <a:cs typeface="Tahoma" pitchFamily="34" charset="0"/>
                  </a:rPr>
                  <a:t>MaSV</a:t>
                </a:r>
                <a:endParaRPr lang="en-US" u="sng">
                  <a:cs typeface="Tahoma" pitchFamily="34" charset="0"/>
                </a:endParaRPr>
              </a:p>
            </p:txBody>
          </p:sp>
          <p:sp>
            <p:nvSpPr>
              <p:cNvPr id="55341" name="Rectangle 84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Ten</a:t>
                </a:r>
                <a:endParaRPr lang="en-US">
                  <a:cs typeface="Tahoma" pitchFamily="34" charset="0"/>
                </a:endParaRPr>
              </a:p>
            </p:txBody>
          </p:sp>
          <p:sp>
            <p:nvSpPr>
              <p:cNvPr id="55342" name="Rectangle 85"/>
              <p:cNvSpPr>
                <a:spLocks noChangeArrowheads="1"/>
              </p:cNvSpPr>
              <p:nvPr/>
            </p:nvSpPr>
            <p:spPr bwMode="auto">
              <a:xfrm>
                <a:off x="624" y="2112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Lop</a:t>
                </a:r>
                <a:endParaRPr lang="en-US">
                  <a:cs typeface="Tahoma" pitchFamily="34" charset="0"/>
                </a:endParaRPr>
              </a:p>
            </p:txBody>
          </p:sp>
          <p:sp>
            <p:nvSpPr>
              <p:cNvPr id="55343" name="Rectangle 86"/>
              <p:cNvSpPr>
                <a:spLocks noChangeArrowheads="1"/>
              </p:cNvSpPr>
              <p:nvPr/>
            </p:nvSpPr>
            <p:spPr bwMode="auto">
              <a:xfrm>
                <a:off x="624" y="2304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Nganh</a:t>
                </a:r>
                <a:endParaRPr lang="en-US">
                  <a:cs typeface="Tahoma" pitchFamily="34" charset="0"/>
                </a:endParaRPr>
              </a:p>
            </p:txBody>
          </p:sp>
        </p:grpSp>
        <p:grpSp>
          <p:nvGrpSpPr>
            <p:cNvPr id="4" name="Group 90"/>
            <p:cNvGrpSpPr>
              <a:grpSpLocks/>
            </p:cNvGrpSpPr>
            <p:nvPr/>
          </p:nvGrpSpPr>
          <p:grpSpPr bwMode="auto">
            <a:xfrm>
              <a:off x="2343" y="1200"/>
              <a:ext cx="729" cy="1056"/>
              <a:chOff x="528" y="1440"/>
              <a:chExt cx="729" cy="1056"/>
            </a:xfrm>
          </p:grpSpPr>
          <p:sp>
            <p:nvSpPr>
              <p:cNvPr id="55330" name="Rectangle 91"/>
              <p:cNvSpPr>
                <a:spLocks noChangeArrowheads="1"/>
              </p:cNvSpPr>
              <p:nvPr/>
            </p:nvSpPr>
            <p:spPr bwMode="auto">
              <a:xfrm>
                <a:off x="528" y="1440"/>
                <a:ext cx="729" cy="1056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55331" name="Rectangle 92"/>
              <p:cNvSpPr>
                <a:spLocks noChangeArrowheads="1"/>
              </p:cNvSpPr>
              <p:nvPr/>
            </p:nvSpPr>
            <p:spPr bwMode="auto">
              <a:xfrm>
                <a:off x="576" y="1488"/>
                <a:ext cx="62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sz="1500" b="1">
                    <a:solidFill>
                      <a:srgbClr val="000000"/>
                    </a:solidFill>
                    <a:cs typeface="Tahoma" pitchFamily="34" charset="0"/>
                  </a:rPr>
                  <a:t>Hoc</a:t>
                </a:r>
                <a:endParaRPr lang="en-US" b="1">
                  <a:cs typeface="Tahoma" pitchFamily="34" charset="0"/>
                </a:endParaRPr>
              </a:p>
            </p:txBody>
          </p:sp>
          <p:sp>
            <p:nvSpPr>
              <p:cNvPr id="55332" name="Line 93"/>
              <p:cNvSpPr>
                <a:spLocks noChangeShapeType="1"/>
              </p:cNvSpPr>
              <p:nvPr/>
            </p:nvSpPr>
            <p:spPr bwMode="auto">
              <a:xfrm>
                <a:off x="528" y="168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5333" name="Rectangle 94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 u="sng">
                    <a:solidFill>
                      <a:srgbClr val="000000"/>
                    </a:solidFill>
                    <a:cs typeface="Tahoma" pitchFamily="34" charset="0"/>
                  </a:rPr>
                  <a:t>MaSV</a:t>
                </a:r>
                <a:endParaRPr lang="en-US" u="sng">
                  <a:cs typeface="Tahoma" pitchFamily="34" charset="0"/>
                </a:endParaRPr>
              </a:p>
            </p:txBody>
          </p:sp>
          <p:sp>
            <p:nvSpPr>
              <p:cNvPr id="55334" name="Rectangle 95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 u="sng">
                    <a:solidFill>
                      <a:srgbClr val="000000"/>
                    </a:solidFill>
                    <a:cs typeface="Tahoma" pitchFamily="34" charset="0"/>
                  </a:rPr>
                  <a:t>MaHP</a:t>
                </a:r>
                <a:endParaRPr lang="en-US" u="sng">
                  <a:cs typeface="Tahoma" pitchFamily="34" charset="0"/>
                </a:endParaRPr>
              </a:p>
            </p:txBody>
          </p:sp>
          <p:sp>
            <p:nvSpPr>
              <p:cNvPr id="55335" name="Rectangle 96"/>
              <p:cNvSpPr>
                <a:spLocks noChangeArrowheads="1"/>
              </p:cNvSpPr>
              <p:nvPr/>
            </p:nvSpPr>
            <p:spPr bwMode="auto">
              <a:xfrm>
                <a:off x="624" y="2112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DiemLT</a:t>
                </a:r>
                <a:endParaRPr lang="en-US">
                  <a:cs typeface="Tahoma" pitchFamily="34" charset="0"/>
                </a:endParaRPr>
              </a:p>
            </p:txBody>
          </p:sp>
          <p:sp>
            <p:nvSpPr>
              <p:cNvPr id="55336" name="Rectangle 97"/>
              <p:cNvSpPr>
                <a:spLocks noChangeArrowheads="1"/>
              </p:cNvSpPr>
              <p:nvPr/>
            </p:nvSpPr>
            <p:spPr bwMode="auto">
              <a:xfrm>
                <a:off x="624" y="2304"/>
                <a:ext cx="480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DiemTH</a:t>
                </a:r>
                <a:endParaRPr lang="en-US">
                  <a:cs typeface="Tahoma" pitchFamily="34" charset="0"/>
                </a:endParaRPr>
              </a:p>
            </p:txBody>
          </p:sp>
        </p:grpSp>
        <p:sp>
          <p:nvSpPr>
            <p:cNvPr id="55304" name="Line 102"/>
            <p:cNvSpPr>
              <a:spLocks noChangeShapeType="1"/>
            </p:cNvSpPr>
            <p:nvPr/>
          </p:nvSpPr>
          <p:spPr bwMode="auto">
            <a:xfrm flipH="1">
              <a:off x="1440" y="1584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5305" name="Line 103"/>
            <p:cNvSpPr>
              <a:spLocks noChangeShapeType="1"/>
            </p:cNvSpPr>
            <p:nvPr/>
          </p:nvSpPr>
          <p:spPr bwMode="auto">
            <a:xfrm flipV="1">
              <a:off x="2832" y="1584"/>
              <a:ext cx="100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grpSp>
          <p:nvGrpSpPr>
            <p:cNvPr id="5" name="Group 113"/>
            <p:cNvGrpSpPr>
              <a:grpSpLocks/>
            </p:cNvGrpSpPr>
            <p:nvPr/>
          </p:nvGrpSpPr>
          <p:grpSpPr bwMode="auto">
            <a:xfrm>
              <a:off x="3840" y="1200"/>
              <a:ext cx="733" cy="912"/>
              <a:chOff x="3360" y="1440"/>
              <a:chExt cx="733" cy="912"/>
            </a:xfrm>
          </p:grpSpPr>
          <p:sp>
            <p:nvSpPr>
              <p:cNvPr id="55324" name="Rectangle 9"/>
              <p:cNvSpPr>
                <a:spLocks noChangeArrowheads="1"/>
              </p:cNvSpPr>
              <p:nvPr/>
            </p:nvSpPr>
            <p:spPr bwMode="auto">
              <a:xfrm>
                <a:off x="3364" y="1440"/>
                <a:ext cx="729" cy="912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55325" name="Rectangle 10"/>
              <p:cNvSpPr>
                <a:spLocks noChangeArrowheads="1"/>
              </p:cNvSpPr>
              <p:nvPr/>
            </p:nvSpPr>
            <p:spPr bwMode="auto">
              <a:xfrm>
                <a:off x="3538" y="1491"/>
                <a:ext cx="39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 b="1">
                    <a:solidFill>
                      <a:srgbClr val="000000"/>
                    </a:solidFill>
                    <a:cs typeface="Tahoma" pitchFamily="34" charset="0"/>
                  </a:rPr>
                  <a:t>HPhan</a:t>
                </a:r>
                <a:endParaRPr lang="en-US" b="1">
                  <a:cs typeface="Tahoma" pitchFamily="34" charset="0"/>
                </a:endParaRPr>
              </a:p>
            </p:txBody>
          </p:sp>
          <p:sp>
            <p:nvSpPr>
              <p:cNvPr id="55326" name="Rectangle 81"/>
              <p:cNvSpPr>
                <a:spLocks noChangeArrowheads="1"/>
              </p:cNvSpPr>
              <p:nvPr/>
            </p:nvSpPr>
            <p:spPr bwMode="auto">
              <a:xfrm>
                <a:off x="3456" y="1731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 u="sng">
                    <a:solidFill>
                      <a:srgbClr val="000000"/>
                    </a:solidFill>
                    <a:cs typeface="Tahoma" pitchFamily="34" charset="0"/>
                  </a:rPr>
                  <a:t>MaHP</a:t>
                </a:r>
                <a:endParaRPr lang="en-US" sz="1500" u="sng">
                  <a:cs typeface="Tahoma" pitchFamily="34" charset="0"/>
                </a:endParaRPr>
              </a:p>
            </p:txBody>
          </p:sp>
          <p:sp>
            <p:nvSpPr>
              <p:cNvPr id="55327" name="Line 88"/>
              <p:cNvSpPr>
                <a:spLocks noChangeShapeType="1"/>
              </p:cNvSpPr>
              <p:nvPr/>
            </p:nvSpPr>
            <p:spPr bwMode="auto">
              <a:xfrm>
                <a:off x="3360" y="1683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5328" name="Rectangle 89"/>
              <p:cNvSpPr>
                <a:spLocks noChangeArrowheads="1"/>
              </p:cNvSpPr>
              <p:nvPr/>
            </p:nvSpPr>
            <p:spPr bwMode="auto">
              <a:xfrm>
                <a:off x="3456" y="1923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SLuong</a:t>
                </a:r>
                <a:endParaRPr lang="en-US" sz="1500">
                  <a:cs typeface="Tahoma" pitchFamily="34" charset="0"/>
                </a:endParaRPr>
              </a:p>
            </p:txBody>
          </p:sp>
          <p:sp>
            <p:nvSpPr>
              <p:cNvPr id="55329" name="Rectangle 104"/>
              <p:cNvSpPr>
                <a:spLocks noChangeArrowheads="1"/>
              </p:cNvSpPr>
              <p:nvPr/>
            </p:nvSpPr>
            <p:spPr bwMode="auto">
              <a:xfrm>
                <a:off x="3456" y="2112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MaMH</a:t>
                </a:r>
                <a:endParaRPr lang="en-US" sz="1500">
                  <a:cs typeface="Tahoma" pitchFamily="34" charset="0"/>
                </a:endParaRPr>
              </a:p>
            </p:txBody>
          </p:sp>
        </p:grpSp>
        <p:sp>
          <p:nvSpPr>
            <p:cNvPr id="55307" name="Line 105"/>
            <p:cNvSpPr>
              <a:spLocks noChangeShapeType="1"/>
            </p:cNvSpPr>
            <p:nvPr/>
          </p:nvSpPr>
          <p:spPr bwMode="auto">
            <a:xfrm flipH="1">
              <a:off x="3456" y="2016"/>
              <a:ext cx="72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grpSp>
          <p:nvGrpSpPr>
            <p:cNvPr id="6" name="Group 128"/>
            <p:cNvGrpSpPr>
              <a:grpSpLocks/>
            </p:cNvGrpSpPr>
            <p:nvPr/>
          </p:nvGrpSpPr>
          <p:grpSpPr bwMode="auto">
            <a:xfrm>
              <a:off x="2775" y="2496"/>
              <a:ext cx="729" cy="1056"/>
              <a:chOff x="2775" y="2496"/>
              <a:chExt cx="729" cy="1056"/>
            </a:xfrm>
          </p:grpSpPr>
          <p:sp>
            <p:nvSpPr>
              <p:cNvPr id="55317" name="Rectangle 13"/>
              <p:cNvSpPr>
                <a:spLocks noChangeArrowheads="1"/>
              </p:cNvSpPr>
              <p:nvPr/>
            </p:nvSpPr>
            <p:spPr bwMode="auto">
              <a:xfrm>
                <a:off x="2775" y="2496"/>
                <a:ext cx="729" cy="1056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55318" name="Rectangle 14"/>
              <p:cNvSpPr>
                <a:spLocks noChangeArrowheads="1"/>
              </p:cNvSpPr>
              <p:nvPr/>
            </p:nvSpPr>
            <p:spPr bwMode="auto">
              <a:xfrm>
                <a:off x="2784" y="2533"/>
                <a:ext cx="67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sz="1500" b="1">
                    <a:solidFill>
                      <a:srgbClr val="000000"/>
                    </a:solidFill>
                    <a:cs typeface="Tahoma" pitchFamily="34" charset="0"/>
                  </a:rPr>
                  <a:t>MHoc</a:t>
                </a:r>
                <a:endParaRPr lang="en-US" b="1">
                  <a:cs typeface="Tahoma" pitchFamily="34" charset="0"/>
                </a:endParaRPr>
              </a:p>
            </p:txBody>
          </p:sp>
          <p:sp>
            <p:nvSpPr>
              <p:cNvPr id="55319" name="Line 98"/>
              <p:cNvSpPr>
                <a:spLocks noChangeShapeType="1"/>
              </p:cNvSpPr>
              <p:nvPr/>
            </p:nvSpPr>
            <p:spPr bwMode="auto">
              <a:xfrm>
                <a:off x="2784" y="2725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5320" name="Rectangle 99"/>
              <p:cNvSpPr>
                <a:spLocks noChangeArrowheads="1"/>
              </p:cNvSpPr>
              <p:nvPr/>
            </p:nvSpPr>
            <p:spPr bwMode="auto">
              <a:xfrm>
                <a:off x="2832" y="2773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 u="sng">
                    <a:solidFill>
                      <a:srgbClr val="000000"/>
                    </a:solidFill>
                    <a:cs typeface="Tahoma" pitchFamily="34" charset="0"/>
                  </a:rPr>
                  <a:t>MaMH</a:t>
                </a:r>
                <a:endParaRPr lang="en-US" sz="1500" u="sng">
                  <a:cs typeface="Tahoma" pitchFamily="34" charset="0"/>
                </a:endParaRPr>
              </a:p>
            </p:txBody>
          </p:sp>
          <p:sp>
            <p:nvSpPr>
              <p:cNvPr id="55321" name="Rectangle 100"/>
              <p:cNvSpPr>
                <a:spLocks noChangeArrowheads="1"/>
              </p:cNvSpPr>
              <p:nvPr/>
            </p:nvSpPr>
            <p:spPr bwMode="auto">
              <a:xfrm>
                <a:off x="2832" y="2965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TenMH</a:t>
                </a:r>
                <a:endParaRPr lang="en-US" sz="1500">
                  <a:cs typeface="Tahoma" pitchFamily="34" charset="0"/>
                </a:endParaRPr>
              </a:p>
            </p:txBody>
          </p:sp>
          <p:sp>
            <p:nvSpPr>
              <p:cNvPr id="55322" name="Rectangle 107"/>
              <p:cNvSpPr>
                <a:spLocks noChangeArrowheads="1"/>
              </p:cNvSpPr>
              <p:nvPr/>
            </p:nvSpPr>
            <p:spPr bwMode="auto">
              <a:xfrm>
                <a:off x="2832" y="3157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Khoa</a:t>
                </a:r>
                <a:endParaRPr lang="en-US" sz="1500">
                  <a:cs typeface="Tahoma" pitchFamily="34" charset="0"/>
                </a:endParaRPr>
              </a:p>
            </p:txBody>
          </p:sp>
          <p:sp>
            <p:nvSpPr>
              <p:cNvPr id="55323" name="Rectangle 108"/>
              <p:cNvSpPr>
                <a:spLocks noChangeArrowheads="1"/>
              </p:cNvSpPr>
              <p:nvPr/>
            </p:nvSpPr>
            <p:spPr bwMode="auto">
              <a:xfrm>
                <a:off x="2832" y="3360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>
                    <a:solidFill>
                      <a:srgbClr val="000000"/>
                    </a:solidFill>
                    <a:cs typeface="Tahoma" pitchFamily="34" charset="0"/>
                  </a:rPr>
                  <a:t>TinChi</a:t>
                </a:r>
                <a:endParaRPr lang="en-US" sz="1500">
                  <a:cs typeface="Tahoma" pitchFamily="34" charset="0"/>
                </a:endParaRPr>
              </a:p>
            </p:txBody>
          </p:sp>
        </p:grpSp>
        <p:grpSp>
          <p:nvGrpSpPr>
            <p:cNvPr id="7" name="Group 129"/>
            <p:cNvGrpSpPr>
              <a:grpSpLocks/>
            </p:cNvGrpSpPr>
            <p:nvPr/>
          </p:nvGrpSpPr>
          <p:grpSpPr bwMode="auto">
            <a:xfrm>
              <a:off x="1344" y="2592"/>
              <a:ext cx="729" cy="720"/>
              <a:chOff x="1344" y="2592"/>
              <a:chExt cx="729" cy="720"/>
            </a:xfrm>
          </p:grpSpPr>
          <p:sp>
            <p:nvSpPr>
              <p:cNvPr id="55312" name="Rectangle 118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729" cy="72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55313" name="Rectangle 119"/>
              <p:cNvSpPr>
                <a:spLocks noChangeArrowheads="1"/>
              </p:cNvSpPr>
              <p:nvPr/>
            </p:nvSpPr>
            <p:spPr bwMode="auto">
              <a:xfrm>
                <a:off x="1353" y="2629"/>
                <a:ext cx="67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sz="1500" b="1">
                    <a:solidFill>
                      <a:srgbClr val="000000"/>
                    </a:solidFill>
                    <a:cs typeface="Tahoma" pitchFamily="34" charset="0"/>
                  </a:rPr>
                  <a:t>DKien</a:t>
                </a:r>
                <a:endParaRPr lang="en-US" b="1">
                  <a:cs typeface="Tahoma" pitchFamily="34" charset="0"/>
                </a:endParaRPr>
              </a:p>
            </p:txBody>
          </p:sp>
          <p:sp>
            <p:nvSpPr>
              <p:cNvPr id="55314" name="Line 120"/>
              <p:cNvSpPr>
                <a:spLocks noChangeShapeType="1"/>
              </p:cNvSpPr>
              <p:nvPr/>
            </p:nvSpPr>
            <p:spPr bwMode="auto">
              <a:xfrm>
                <a:off x="1353" y="2821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5315" name="Rectangle 121"/>
              <p:cNvSpPr>
                <a:spLocks noChangeArrowheads="1"/>
              </p:cNvSpPr>
              <p:nvPr/>
            </p:nvSpPr>
            <p:spPr bwMode="auto">
              <a:xfrm>
                <a:off x="1401" y="2869"/>
                <a:ext cx="43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 u="sng">
                    <a:solidFill>
                      <a:srgbClr val="000000"/>
                    </a:solidFill>
                    <a:cs typeface="Tahoma" pitchFamily="34" charset="0"/>
                  </a:rPr>
                  <a:t>MaMH</a:t>
                </a:r>
                <a:endParaRPr lang="en-US" sz="1500" u="sng">
                  <a:cs typeface="Tahoma" pitchFamily="34" charset="0"/>
                </a:endParaRPr>
              </a:p>
            </p:txBody>
          </p:sp>
          <p:sp>
            <p:nvSpPr>
              <p:cNvPr id="55316" name="Rectangle 123"/>
              <p:cNvSpPr>
                <a:spLocks noChangeArrowheads="1"/>
              </p:cNvSpPr>
              <p:nvPr/>
            </p:nvSpPr>
            <p:spPr bwMode="auto">
              <a:xfrm>
                <a:off x="1401" y="3072"/>
                <a:ext cx="67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l"/>
                <a:r>
                  <a:rPr lang="en-US" sz="1500" u="sng">
                    <a:solidFill>
                      <a:srgbClr val="000000"/>
                    </a:solidFill>
                    <a:cs typeface="Tahoma" pitchFamily="34" charset="0"/>
                  </a:rPr>
                  <a:t>MaMHTruoc</a:t>
                </a:r>
                <a:endParaRPr lang="en-US" sz="1500" u="sng">
                  <a:cs typeface="Tahoma" pitchFamily="34" charset="0"/>
                </a:endParaRPr>
              </a:p>
            </p:txBody>
          </p:sp>
        </p:grpSp>
        <p:sp>
          <p:nvSpPr>
            <p:cNvPr id="55310" name="Line 126"/>
            <p:cNvSpPr>
              <a:spLocks noChangeShapeType="1"/>
            </p:cNvSpPr>
            <p:nvPr/>
          </p:nvSpPr>
          <p:spPr bwMode="auto">
            <a:xfrm flipV="1">
              <a:off x="1920" y="2832"/>
              <a:ext cx="91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5311" name="Line 127"/>
            <p:cNvSpPr>
              <a:spLocks noChangeShapeType="1"/>
            </p:cNvSpPr>
            <p:nvPr/>
          </p:nvSpPr>
          <p:spPr bwMode="auto">
            <a:xfrm flipV="1">
              <a:off x="2016" y="2880"/>
              <a:ext cx="81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49" name="Footer Placeholder 4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50" name="Date Placeholder 4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FEC2A9-3EFA-40B9-BAEF-26A25FFF1E5A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51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609600"/>
          </a:xfrm>
        </p:spPr>
        <p:txBody>
          <a:bodyPr/>
          <a:lstStyle/>
          <a:p>
            <a:r>
              <a:rPr lang="en-US" sz="3200">
                <a:solidFill>
                  <a:schemeClr val="accent1"/>
                </a:solidFill>
              </a:rPr>
              <a:t>Ví dụ mô hình mạng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93E4C-EFD0-45FA-B077-C192645B5328}" type="slidenum">
              <a:rPr lang="en-US" altLang="en-US"/>
              <a:pPr>
                <a:defRPr/>
              </a:pPr>
              <a:t>36</a:t>
            </a:fld>
            <a:endParaRPr lang="en-US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090613" y="1828800"/>
            <a:ext cx="6937375" cy="3660775"/>
            <a:chOff x="432" y="1018"/>
            <a:chExt cx="5194" cy="2626"/>
          </a:xfrm>
        </p:grpSpPr>
        <p:sp>
          <p:nvSpPr>
            <p:cNvPr id="56326" name="Rectangle 3"/>
            <p:cNvSpPr>
              <a:spLocks noChangeArrowheads="1"/>
            </p:cNvSpPr>
            <p:nvPr/>
          </p:nvSpPr>
          <p:spPr bwMode="auto">
            <a:xfrm>
              <a:off x="432" y="1107"/>
              <a:ext cx="1066" cy="234"/>
            </a:xfrm>
            <a:prstGeom prst="rect">
              <a:avLst/>
            </a:prstGeom>
            <a:noFill/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500" b="1"/>
                <a:t>SVien</a:t>
              </a:r>
            </a:p>
          </p:txBody>
        </p:sp>
        <p:sp>
          <p:nvSpPr>
            <p:cNvPr id="56327" name="Rectangle 4"/>
            <p:cNvSpPr>
              <a:spLocks noChangeArrowheads="1"/>
            </p:cNvSpPr>
            <p:nvPr/>
          </p:nvSpPr>
          <p:spPr bwMode="auto">
            <a:xfrm>
              <a:off x="2878" y="1018"/>
              <a:ext cx="1065" cy="332"/>
            </a:xfrm>
            <a:prstGeom prst="rect">
              <a:avLst/>
            </a:prstGeom>
            <a:noFill/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500" b="1"/>
                <a:t>MHoc     </a:t>
              </a:r>
              <a:r>
                <a:rPr lang="en-US" sz="2400"/>
                <a:t>   </a:t>
              </a:r>
            </a:p>
          </p:txBody>
        </p:sp>
        <p:sp>
          <p:nvSpPr>
            <p:cNvPr id="56328" name="Rectangle 5"/>
            <p:cNvSpPr>
              <a:spLocks noChangeArrowheads="1"/>
            </p:cNvSpPr>
            <p:nvPr/>
          </p:nvSpPr>
          <p:spPr bwMode="auto">
            <a:xfrm>
              <a:off x="2811" y="2356"/>
              <a:ext cx="1197" cy="235"/>
            </a:xfrm>
            <a:prstGeom prst="rect">
              <a:avLst/>
            </a:prstGeom>
            <a:noFill/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500" b="1"/>
                <a:t>HPhan</a:t>
              </a:r>
            </a:p>
          </p:txBody>
        </p:sp>
        <p:sp>
          <p:nvSpPr>
            <p:cNvPr id="56329" name="Rectangle 6"/>
            <p:cNvSpPr>
              <a:spLocks noChangeArrowheads="1"/>
            </p:cNvSpPr>
            <p:nvPr/>
          </p:nvSpPr>
          <p:spPr bwMode="auto">
            <a:xfrm>
              <a:off x="1700" y="3409"/>
              <a:ext cx="1001" cy="235"/>
            </a:xfrm>
            <a:prstGeom prst="rect">
              <a:avLst/>
            </a:prstGeom>
            <a:noFill/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500" b="1"/>
                <a:t>KQua</a:t>
              </a:r>
            </a:p>
          </p:txBody>
        </p:sp>
        <p:sp>
          <p:nvSpPr>
            <p:cNvPr id="56330" name="Rectangle 7"/>
            <p:cNvSpPr>
              <a:spLocks noChangeArrowheads="1"/>
            </p:cNvSpPr>
            <p:nvPr/>
          </p:nvSpPr>
          <p:spPr bwMode="auto">
            <a:xfrm>
              <a:off x="4525" y="2356"/>
              <a:ext cx="1101" cy="235"/>
            </a:xfrm>
            <a:prstGeom prst="rect">
              <a:avLst/>
            </a:prstGeom>
            <a:noFill/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500" b="1"/>
                <a:t>DKien</a:t>
              </a:r>
            </a:p>
          </p:txBody>
        </p:sp>
        <p:sp>
          <p:nvSpPr>
            <p:cNvPr id="56331" name="Line 8"/>
            <p:cNvSpPr>
              <a:spLocks noChangeShapeType="1"/>
            </p:cNvSpPr>
            <p:nvPr/>
          </p:nvSpPr>
          <p:spPr bwMode="auto">
            <a:xfrm>
              <a:off x="960" y="1392"/>
              <a:ext cx="1248" cy="196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6332" name="Line 9"/>
            <p:cNvSpPr>
              <a:spLocks noChangeShapeType="1"/>
            </p:cNvSpPr>
            <p:nvPr/>
          </p:nvSpPr>
          <p:spPr bwMode="auto">
            <a:xfrm>
              <a:off x="3408" y="1344"/>
              <a:ext cx="0" cy="9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6333" name="Line 10"/>
            <p:cNvSpPr>
              <a:spLocks noChangeShapeType="1"/>
            </p:cNvSpPr>
            <p:nvPr/>
          </p:nvSpPr>
          <p:spPr bwMode="auto">
            <a:xfrm flipH="1">
              <a:off x="2544" y="2640"/>
              <a:ext cx="864" cy="72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6334" name="Line 11"/>
            <p:cNvSpPr>
              <a:spLocks noChangeShapeType="1"/>
            </p:cNvSpPr>
            <p:nvPr/>
          </p:nvSpPr>
          <p:spPr bwMode="auto">
            <a:xfrm>
              <a:off x="3792" y="1344"/>
              <a:ext cx="1152" cy="9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6335" name="Line 12"/>
            <p:cNvSpPr>
              <a:spLocks noChangeShapeType="1"/>
            </p:cNvSpPr>
            <p:nvPr/>
          </p:nvSpPr>
          <p:spPr bwMode="auto">
            <a:xfrm flipH="1" flipV="1">
              <a:off x="3936" y="1200"/>
              <a:ext cx="1344" cy="110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6336" name="Text Box 13"/>
            <p:cNvSpPr txBox="1">
              <a:spLocks noChangeArrowheads="1"/>
            </p:cNvSpPr>
            <p:nvPr/>
          </p:nvSpPr>
          <p:spPr bwMode="auto">
            <a:xfrm>
              <a:off x="492" y="2273"/>
              <a:ext cx="841" cy="208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300"/>
                <a:t>SVIEN_DIEM</a:t>
              </a:r>
            </a:p>
          </p:txBody>
        </p:sp>
        <p:sp>
          <p:nvSpPr>
            <p:cNvPr id="56337" name="Text Box 14"/>
            <p:cNvSpPr txBox="1">
              <a:spLocks noChangeArrowheads="1"/>
            </p:cNvSpPr>
            <p:nvPr/>
          </p:nvSpPr>
          <p:spPr bwMode="auto">
            <a:xfrm>
              <a:off x="2581" y="1676"/>
              <a:ext cx="728" cy="209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300"/>
                <a:t>MHOC_MO</a:t>
              </a:r>
            </a:p>
          </p:txBody>
        </p:sp>
        <p:sp>
          <p:nvSpPr>
            <p:cNvPr id="56338" name="Text Box 15"/>
            <p:cNvSpPr txBox="1">
              <a:spLocks noChangeArrowheads="1"/>
            </p:cNvSpPr>
            <p:nvPr/>
          </p:nvSpPr>
          <p:spPr bwMode="auto">
            <a:xfrm>
              <a:off x="4647" y="1435"/>
              <a:ext cx="769" cy="208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300"/>
                <a:t>MHOC_SAU</a:t>
              </a:r>
            </a:p>
          </p:txBody>
        </p:sp>
        <p:sp>
          <p:nvSpPr>
            <p:cNvPr id="56339" name="Text Box 16"/>
            <p:cNvSpPr txBox="1">
              <a:spLocks noChangeArrowheads="1"/>
            </p:cNvSpPr>
            <p:nvPr/>
          </p:nvSpPr>
          <p:spPr bwMode="auto">
            <a:xfrm>
              <a:off x="3654" y="2060"/>
              <a:ext cx="938" cy="208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300"/>
                <a:t>MHOC_TRUOC</a:t>
              </a:r>
            </a:p>
          </p:txBody>
        </p:sp>
        <p:sp>
          <p:nvSpPr>
            <p:cNvPr id="56340" name="Text Box 17"/>
            <p:cNvSpPr txBox="1">
              <a:spLocks noChangeArrowheads="1"/>
            </p:cNvSpPr>
            <p:nvPr/>
          </p:nvSpPr>
          <p:spPr bwMode="auto">
            <a:xfrm>
              <a:off x="3125" y="2925"/>
              <a:ext cx="911" cy="209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300"/>
                <a:t>KQUA_HPHAN</a:t>
              </a:r>
            </a:p>
          </p:txBody>
        </p:sp>
      </p:grp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71C9A3-0389-49B3-9C19-335A55AF0185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24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484187"/>
          </a:xfrm>
        </p:spPr>
        <p:txBody>
          <a:bodyPr/>
          <a:lstStyle/>
          <a:p>
            <a:r>
              <a:rPr lang="en-US" sz="2800">
                <a:solidFill>
                  <a:schemeClr val="accent1"/>
                </a:solidFill>
              </a:rPr>
              <a:t>Ví dụ mô hình phân cấp</a:t>
            </a:r>
          </a:p>
        </p:txBody>
      </p:sp>
      <p:graphicFrame>
        <p:nvGraphicFramePr>
          <p:cNvPr id="226505" name="Group 201"/>
          <p:cNvGraphicFramePr>
            <a:graphicFrameLocks noGrp="1"/>
          </p:cNvGraphicFramePr>
          <p:nvPr>
            <p:ph type="tbl" idx="1"/>
          </p:nvPr>
        </p:nvGraphicFramePr>
        <p:xfrm>
          <a:off x="3581400" y="1490663"/>
          <a:ext cx="1981200" cy="762001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5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KQua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DiemTH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DiemLT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0FC84-EAAA-4F75-8CE2-7F07F834D856}" type="slidenum">
              <a:rPr lang="en-US" altLang="en-US"/>
              <a:pPr>
                <a:defRPr/>
              </a:pPr>
              <a:t>37</a:t>
            </a:fld>
            <a:endParaRPr lang="en-US" altLang="en-US"/>
          </a:p>
        </p:txBody>
      </p:sp>
      <p:graphicFrame>
        <p:nvGraphicFramePr>
          <p:cNvPr id="226461" name="Group 157"/>
          <p:cNvGraphicFramePr>
            <a:graphicFrameLocks noGrp="1"/>
          </p:cNvGraphicFramePr>
          <p:nvPr/>
        </p:nvGraphicFramePr>
        <p:xfrm>
          <a:off x="4876800" y="3243263"/>
          <a:ext cx="2438400" cy="685800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02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SVien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TenSV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Lop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Nganh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6471" name="Group 167"/>
          <p:cNvGraphicFramePr>
            <a:graphicFrameLocks noGrp="1"/>
          </p:cNvGraphicFramePr>
          <p:nvPr/>
        </p:nvGraphicFramePr>
        <p:xfrm>
          <a:off x="2743200" y="3243263"/>
          <a:ext cx="1676400" cy="762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HPhan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TenHP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SLuong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6485" name="Group 181"/>
          <p:cNvGraphicFramePr>
            <a:graphicFrameLocks noGrp="1"/>
          </p:cNvGraphicFramePr>
          <p:nvPr/>
        </p:nvGraphicFramePr>
        <p:xfrm>
          <a:off x="2514600" y="5257800"/>
          <a:ext cx="2209800" cy="72009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30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MHoc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TenMH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Khoa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TinChi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393" name="Line 80"/>
          <p:cNvSpPr>
            <a:spLocks noChangeShapeType="1"/>
          </p:cNvSpPr>
          <p:nvPr/>
        </p:nvSpPr>
        <p:spPr bwMode="auto">
          <a:xfrm>
            <a:off x="3657600" y="4005263"/>
            <a:ext cx="0" cy="12192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57394" name="Line 81"/>
          <p:cNvSpPr>
            <a:spLocks noChangeShapeType="1"/>
          </p:cNvSpPr>
          <p:nvPr/>
        </p:nvSpPr>
        <p:spPr bwMode="auto">
          <a:xfrm>
            <a:off x="4724400" y="2252663"/>
            <a:ext cx="0" cy="5334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57395" name="Text Box 82"/>
          <p:cNvSpPr txBox="1">
            <a:spLocks noChangeArrowheads="1"/>
          </p:cNvSpPr>
          <p:nvPr/>
        </p:nvSpPr>
        <p:spPr bwMode="auto">
          <a:xfrm>
            <a:off x="795338" y="3505200"/>
            <a:ext cx="804862" cy="33655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/>
              <a:t>Mức 2:</a:t>
            </a:r>
          </a:p>
        </p:txBody>
      </p:sp>
      <p:sp>
        <p:nvSpPr>
          <p:cNvPr id="57396" name="Text Box 83"/>
          <p:cNvSpPr txBox="1">
            <a:spLocks noChangeArrowheads="1"/>
          </p:cNvSpPr>
          <p:nvPr/>
        </p:nvSpPr>
        <p:spPr bwMode="auto">
          <a:xfrm>
            <a:off x="795338" y="1752600"/>
            <a:ext cx="804862" cy="33655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/>
              <a:t>Mức 1:</a:t>
            </a:r>
          </a:p>
        </p:txBody>
      </p:sp>
      <p:sp>
        <p:nvSpPr>
          <p:cNvPr id="57397" name="Text Box 84"/>
          <p:cNvSpPr txBox="1">
            <a:spLocks noChangeArrowheads="1"/>
          </p:cNvSpPr>
          <p:nvPr/>
        </p:nvSpPr>
        <p:spPr bwMode="auto">
          <a:xfrm>
            <a:off x="795338" y="5424488"/>
            <a:ext cx="804862" cy="33655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/>
              <a:t>Mức 3:</a:t>
            </a:r>
          </a:p>
        </p:txBody>
      </p:sp>
      <p:sp>
        <p:nvSpPr>
          <p:cNvPr id="57398" name="Line 202"/>
          <p:cNvSpPr>
            <a:spLocks noChangeShapeType="1"/>
          </p:cNvSpPr>
          <p:nvPr/>
        </p:nvSpPr>
        <p:spPr bwMode="auto">
          <a:xfrm>
            <a:off x="3733800" y="2786063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57399" name="Line 203"/>
          <p:cNvSpPr>
            <a:spLocks noChangeShapeType="1"/>
          </p:cNvSpPr>
          <p:nvPr/>
        </p:nvSpPr>
        <p:spPr bwMode="auto">
          <a:xfrm>
            <a:off x="3733800" y="2786063"/>
            <a:ext cx="0" cy="4572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57400" name="Line 204"/>
          <p:cNvSpPr>
            <a:spLocks noChangeShapeType="1"/>
          </p:cNvSpPr>
          <p:nvPr/>
        </p:nvSpPr>
        <p:spPr bwMode="auto">
          <a:xfrm>
            <a:off x="6019800" y="2786063"/>
            <a:ext cx="0" cy="4572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B527A8-3A7D-46B2-9516-19C7A6A1EC85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1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620712"/>
          </a:xfrm>
        </p:spPr>
        <p:txBody>
          <a:bodyPr/>
          <a:lstStyle/>
          <a:p>
            <a:r>
              <a:rPr lang="en-US" sz="3500"/>
              <a:t>b. </a:t>
            </a:r>
            <a:r>
              <a:rPr lang="en-US" sz="3500" b="1" i="1"/>
              <a:t>Lược đồ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96394"/>
            <a:ext cx="8534400" cy="1722397"/>
          </a:xfrm>
        </p:spPr>
        <p:txBody>
          <a:bodyPr/>
          <a:lstStyle/>
          <a:p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CSDL (Database Schema):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 CSDL (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)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EF471B-AECF-4769-A223-8E8C70A54A23}" type="slidenum">
              <a:rPr lang="en-US" altLang="en-US"/>
              <a:pPr>
                <a:defRPr/>
              </a:pPr>
              <a:t>38</a:t>
            </a:fld>
            <a:endParaRPr lang="en-US" altLang="en-US"/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1234751" y="3040103"/>
            <a:ext cx="5468937" cy="3733800"/>
            <a:chOff x="816" y="1335"/>
            <a:chExt cx="3445" cy="2481"/>
          </a:xfrm>
        </p:grpSpPr>
        <p:grpSp>
          <p:nvGrpSpPr>
            <p:cNvPr id="3" name="Group 57"/>
            <p:cNvGrpSpPr>
              <a:grpSpLocks/>
            </p:cNvGrpSpPr>
            <p:nvPr/>
          </p:nvGrpSpPr>
          <p:grpSpPr bwMode="auto">
            <a:xfrm>
              <a:off x="864" y="1680"/>
              <a:ext cx="2400" cy="240"/>
              <a:chOff x="528" y="1680"/>
              <a:chExt cx="2400" cy="240"/>
            </a:xfrm>
          </p:grpSpPr>
          <p:sp>
            <p:nvSpPr>
              <p:cNvPr id="58417" name="Rectangle 7"/>
              <p:cNvSpPr>
                <a:spLocks noChangeArrowheads="1"/>
              </p:cNvSpPr>
              <p:nvPr/>
            </p:nvSpPr>
            <p:spPr bwMode="auto">
              <a:xfrm>
                <a:off x="1056" y="1680"/>
                <a:ext cx="1872" cy="24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18" name="Rectangle 8"/>
              <p:cNvSpPr>
                <a:spLocks noChangeArrowheads="1"/>
              </p:cNvSpPr>
              <p:nvPr/>
            </p:nvSpPr>
            <p:spPr bwMode="auto">
              <a:xfrm>
                <a:off x="528" y="1680"/>
                <a:ext cx="471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SVien</a:t>
                </a:r>
              </a:p>
            </p:txBody>
          </p:sp>
          <p:sp>
            <p:nvSpPr>
              <p:cNvPr id="58419" name="Rectangle 9"/>
              <p:cNvSpPr>
                <a:spLocks noChangeArrowheads="1"/>
              </p:cNvSpPr>
              <p:nvPr/>
            </p:nvSpPr>
            <p:spPr bwMode="auto">
              <a:xfrm>
                <a:off x="1056" y="1680"/>
                <a:ext cx="471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Ten</a:t>
                </a:r>
              </a:p>
            </p:txBody>
          </p:sp>
          <p:sp>
            <p:nvSpPr>
              <p:cNvPr id="58420" name="Rectangle 10"/>
              <p:cNvSpPr>
                <a:spLocks noChangeArrowheads="1"/>
              </p:cNvSpPr>
              <p:nvPr/>
            </p:nvSpPr>
            <p:spPr bwMode="auto">
              <a:xfrm>
                <a:off x="1536" y="1680"/>
                <a:ext cx="471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u="sng"/>
                  <a:t>MaSV</a:t>
                </a:r>
              </a:p>
            </p:txBody>
          </p:sp>
          <p:sp>
            <p:nvSpPr>
              <p:cNvPr id="58421" name="Rectangle 11"/>
              <p:cNvSpPr>
                <a:spLocks noChangeArrowheads="1"/>
              </p:cNvSpPr>
              <p:nvPr/>
            </p:nvSpPr>
            <p:spPr bwMode="auto">
              <a:xfrm>
                <a:off x="2016" y="1680"/>
                <a:ext cx="471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Nam</a:t>
                </a:r>
              </a:p>
            </p:txBody>
          </p:sp>
          <p:sp>
            <p:nvSpPr>
              <p:cNvPr id="58422" name="Rectangle 12"/>
              <p:cNvSpPr>
                <a:spLocks noChangeArrowheads="1"/>
              </p:cNvSpPr>
              <p:nvPr/>
            </p:nvSpPr>
            <p:spPr bwMode="auto">
              <a:xfrm>
                <a:off x="2448" y="1680"/>
                <a:ext cx="471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Khoa</a:t>
                </a:r>
              </a:p>
            </p:txBody>
          </p:sp>
          <p:sp>
            <p:nvSpPr>
              <p:cNvPr id="58423" name="Line 13"/>
              <p:cNvSpPr>
                <a:spLocks noChangeShapeType="1"/>
              </p:cNvSpPr>
              <p:nvPr/>
            </p:nvSpPr>
            <p:spPr bwMode="auto">
              <a:xfrm>
                <a:off x="1536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24" name="Line 15"/>
              <p:cNvSpPr>
                <a:spLocks noChangeShapeType="1"/>
              </p:cNvSpPr>
              <p:nvPr/>
            </p:nvSpPr>
            <p:spPr bwMode="auto">
              <a:xfrm>
                <a:off x="2016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25" name="Line 16"/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grpSp>
          <p:nvGrpSpPr>
            <p:cNvPr id="4" name="Group 58"/>
            <p:cNvGrpSpPr>
              <a:grpSpLocks/>
            </p:cNvGrpSpPr>
            <p:nvPr/>
          </p:nvGrpSpPr>
          <p:grpSpPr bwMode="auto">
            <a:xfrm>
              <a:off x="864" y="2112"/>
              <a:ext cx="2640" cy="240"/>
              <a:chOff x="528" y="2112"/>
              <a:chExt cx="2640" cy="240"/>
            </a:xfrm>
          </p:grpSpPr>
          <p:sp>
            <p:nvSpPr>
              <p:cNvPr id="58408" name="Rectangle 17"/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112" cy="24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09" name="Rectangle 18"/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57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TenMH</a:t>
                </a:r>
              </a:p>
            </p:txBody>
          </p:sp>
          <p:sp>
            <p:nvSpPr>
              <p:cNvPr id="58410" name="Rectangle 19"/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52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u="sng"/>
                  <a:t>MaMH</a:t>
                </a:r>
              </a:p>
            </p:txBody>
          </p:sp>
          <p:sp>
            <p:nvSpPr>
              <p:cNvPr id="58411" name="Rectangle 20"/>
              <p:cNvSpPr>
                <a:spLocks noChangeArrowheads="1"/>
              </p:cNvSpPr>
              <p:nvPr/>
            </p:nvSpPr>
            <p:spPr bwMode="auto">
              <a:xfrm>
                <a:off x="2160" y="2112"/>
                <a:ext cx="52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TinChi</a:t>
                </a:r>
              </a:p>
            </p:txBody>
          </p:sp>
          <p:sp>
            <p:nvSpPr>
              <p:cNvPr id="58412" name="Rectangle 21"/>
              <p:cNvSpPr>
                <a:spLocks noChangeArrowheads="1"/>
              </p:cNvSpPr>
              <p:nvPr/>
            </p:nvSpPr>
            <p:spPr bwMode="auto">
              <a:xfrm>
                <a:off x="2688" y="2112"/>
                <a:ext cx="471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Khoa</a:t>
                </a:r>
              </a:p>
            </p:txBody>
          </p:sp>
          <p:sp>
            <p:nvSpPr>
              <p:cNvPr id="58413" name="Line 22"/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14" name="Line 23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15" name="Line 24"/>
              <p:cNvSpPr>
                <a:spLocks noChangeShapeType="1"/>
              </p:cNvSpPr>
              <p:nvPr/>
            </p:nvSpPr>
            <p:spPr bwMode="auto">
              <a:xfrm>
                <a:off x="2688" y="211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16" name="Rectangle 25"/>
              <p:cNvSpPr>
                <a:spLocks noChangeArrowheads="1"/>
              </p:cNvSpPr>
              <p:nvPr/>
            </p:nvSpPr>
            <p:spPr bwMode="auto">
              <a:xfrm>
                <a:off x="528" y="2121"/>
                <a:ext cx="471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Mhoc</a:t>
                </a:r>
              </a:p>
            </p:txBody>
          </p:sp>
        </p:grpSp>
        <p:grpSp>
          <p:nvGrpSpPr>
            <p:cNvPr id="5" name="Group 59"/>
            <p:cNvGrpSpPr>
              <a:grpSpLocks/>
            </p:cNvGrpSpPr>
            <p:nvPr/>
          </p:nvGrpSpPr>
          <p:grpSpPr bwMode="auto">
            <a:xfrm>
              <a:off x="816" y="2544"/>
              <a:ext cx="2112" cy="240"/>
              <a:chOff x="480" y="2544"/>
              <a:chExt cx="2112" cy="240"/>
            </a:xfrm>
          </p:grpSpPr>
          <p:sp>
            <p:nvSpPr>
              <p:cNvPr id="58403" name="Rectangle 26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1536" cy="24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04" name="Rectangle 27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57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u="sng"/>
                  <a:t>MaMH</a:t>
                </a:r>
              </a:p>
            </p:txBody>
          </p:sp>
          <p:sp>
            <p:nvSpPr>
              <p:cNvPr id="58405" name="Rectangle 28"/>
              <p:cNvSpPr>
                <a:spLocks noChangeArrowheads="1"/>
              </p:cNvSpPr>
              <p:nvPr/>
            </p:nvSpPr>
            <p:spPr bwMode="auto">
              <a:xfrm>
                <a:off x="1632" y="2545"/>
                <a:ext cx="960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u="sng"/>
                  <a:t>MaMH_Truoc</a:t>
                </a:r>
              </a:p>
            </p:txBody>
          </p:sp>
          <p:sp>
            <p:nvSpPr>
              <p:cNvPr id="58406" name="Line 31"/>
              <p:cNvSpPr>
                <a:spLocks noChangeShapeType="1"/>
              </p:cNvSpPr>
              <p:nvPr/>
            </p:nvSpPr>
            <p:spPr bwMode="auto">
              <a:xfrm>
                <a:off x="1632" y="2544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07" name="Rectangle 34"/>
              <p:cNvSpPr>
                <a:spLocks noChangeArrowheads="1"/>
              </p:cNvSpPr>
              <p:nvPr/>
            </p:nvSpPr>
            <p:spPr bwMode="auto">
              <a:xfrm>
                <a:off x="480" y="2553"/>
                <a:ext cx="519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DKien</a:t>
                </a:r>
              </a:p>
            </p:txBody>
          </p:sp>
        </p:grpSp>
        <p:grpSp>
          <p:nvGrpSpPr>
            <p:cNvPr id="6" name="Group 60"/>
            <p:cNvGrpSpPr>
              <a:grpSpLocks/>
            </p:cNvGrpSpPr>
            <p:nvPr/>
          </p:nvGrpSpPr>
          <p:grpSpPr bwMode="auto">
            <a:xfrm>
              <a:off x="816" y="2976"/>
              <a:ext cx="3120" cy="240"/>
              <a:chOff x="480" y="2976"/>
              <a:chExt cx="3120" cy="240"/>
            </a:xfrm>
          </p:grpSpPr>
          <p:sp>
            <p:nvSpPr>
              <p:cNvPr id="58392" name="Rectangle 35"/>
              <p:cNvSpPr>
                <a:spLocks noChangeArrowheads="1"/>
              </p:cNvSpPr>
              <p:nvPr/>
            </p:nvSpPr>
            <p:spPr bwMode="auto">
              <a:xfrm>
                <a:off x="1056" y="2976"/>
                <a:ext cx="2544" cy="24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393" name="Rectangle 36"/>
              <p:cNvSpPr>
                <a:spLocks noChangeArrowheads="1"/>
              </p:cNvSpPr>
              <p:nvPr/>
            </p:nvSpPr>
            <p:spPr bwMode="auto">
              <a:xfrm>
                <a:off x="1056" y="2976"/>
                <a:ext cx="57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u="sng"/>
                  <a:t>MaKH</a:t>
                </a:r>
              </a:p>
            </p:txBody>
          </p:sp>
          <p:sp>
            <p:nvSpPr>
              <p:cNvPr id="58394" name="Rectangle 37"/>
              <p:cNvSpPr>
                <a:spLocks noChangeArrowheads="1"/>
              </p:cNvSpPr>
              <p:nvPr/>
            </p:nvSpPr>
            <p:spPr bwMode="auto">
              <a:xfrm>
                <a:off x="1632" y="2976"/>
                <a:ext cx="52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MaMH</a:t>
                </a:r>
              </a:p>
            </p:txBody>
          </p:sp>
          <p:sp>
            <p:nvSpPr>
              <p:cNvPr id="58395" name="Line 38"/>
              <p:cNvSpPr>
                <a:spLocks noChangeShapeType="1"/>
              </p:cNvSpPr>
              <p:nvPr/>
            </p:nvSpPr>
            <p:spPr bwMode="auto">
              <a:xfrm>
                <a:off x="1632" y="2976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396" name="Rectangle 39"/>
              <p:cNvSpPr>
                <a:spLocks noChangeArrowheads="1"/>
              </p:cNvSpPr>
              <p:nvPr/>
            </p:nvSpPr>
            <p:spPr bwMode="auto">
              <a:xfrm>
                <a:off x="480" y="2985"/>
                <a:ext cx="519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KHoc</a:t>
                </a:r>
              </a:p>
            </p:txBody>
          </p:sp>
          <p:sp>
            <p:nvSpPr>
              <p:cNvPr id="58397" name="Line 40"/>
              <p:cNvSpPr>
                <a:spLocks noChangeShapeType="1"/>
              </p:cNvSpPr>
              <p:nvPr/>
            </p:nvSpPr>
            <p:spPr bwMode="auto">
              <a:xfrm>
                <a:off x="2160" y="2976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398" name="Rectangle 41"/>
              <p:cNvSpPr>
                <a:spLocks noChangeArrowheads="1"/>
              </p:cNvSpPr>
              <p:nvPr/>
            </p:nvSpPr>
            <p:spPr bwMode="auto">
              <a:xfrm>
                <a:off x="2160" y="2976"/>
                <a:ext cx="52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dirty="0" err="1"/>
                  <a:t>HocKy</a:t>
                </a:r>
                <a:endParaRPr lang="en-US" dirty="0"/>
              </a:p>
            </p:txBody>
          </p:sp>
          <p:sp>
            <p:nvSpPr>
              <p:cNvPr id="58399" name="Line 42"/>
              <p:cNvSpPr>
                <a:spLocks noChangeShapeType="1"/>
              </p:cNvSpPr>
              <p:nvPr/>
            </p:nvSpPr>
            <p:spPr bwMode="auto">
              <a:xfrm>
                <a:off x="3168" y="2976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00" name="Rectangle 43"/>
              <p:cNvSpPr>
                <a:spLocks noChangeArrowheads="1"/>
              </p:cNvSpPr>
              <p:nvPr/>
            </p:nvSpPr>
            <p:spPr bwMode="auto">
              <a:xfrm>
                <a:off x="2688" y="2976"/>
                <a:ext cx="480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Nam</a:t>
                </a:r>
              </a:p>
            </p:txBody>
          </p:sp>
          <p:sp>
            <p:nvSpPr>
              <p:cNvPr id="58401" name="Line 44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402" name="Rectangle 45"/>
              <p:cNvSpPr>
                <a:spLocks noChangeArrowheads="1"/>
              </p:cNvSpPr>
              <p:nvPr/>
            </p:nvSpPr>
            <p:spPr bwMode="auto">
              <a:xfrm>
                <a:off x="3168" y="2976"/>
                <a:ext cx="432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GV</a:t>
                </a:r>
              </a:p>
            </p:txBody>
          </p:sp>
        </p:grpSp>
        <p:grpSp>
          <p:nvGrpSpPr>
            <p:cNvPr id="7" name="Group 61"/>
            <p:cNvGrpSpPr>
              <a:grpSpLocks/>
            </p:cNvGrpSpPr>
            <p:nvPr/>
          </p:nvGrpSpPr>
          <p:grpSpPr bwMode="auto">
            <a:xfrm>
              <a:off x="816" y="3408"/>
              <a:ext cx="2208" cy="240"/>
              <a:chOff x="480" y="3408"/>
              <a:chExt cx="2208" cy="240"/>
            </a:xfrm>
          </p:grpSpPr>
          <p:sp>
            <p:nvSpPr>
              <p:cNvPr id="58385" name="Rectangle 46"/>
              <p:cNvSpPr>
                <a:spLocks noChangeArrowheads="1"/>
              </p:cNvSpPr>
              <p:nvPr/>
            </p:nvSpPr>
            <p:spPr bwMode="auto">
              <a:xfrm>
                <a:off x="1056" y="3408"/>
                <a:ext cx="1632" cy="24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386" name="Rectangle 47"/>
              <p:cNvSpPr>
                <a:spLocks noChangeArrowheads="1"/>
              </p:cNvSpPr>
              <p:nvPr/>
            </p:nvSpPr>
            <p:spPr bwMode="auto">
              <a:xfrm>
                <a:off x="1056" y="3408"/>
                <a:ext cx="57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u="sng"/>
                  <a:t>MaKH</a:t>
                </a:r>
              </a:p>
            </p:txBody>
          </p:sp>
          <p:sp>
            <p:nvSpPr>
              <p:cNvPr id="58387" name="Rectangle 48"/>
              <p:cNvSpPr>
                <a:spLocks noChangeArrowheads="1"/>
              </p:cNvSpPr>
              <p:nvPr/>
            </p:nvSpPr>
            <p:spPr bwMode="auto">
              <a:xfrm>
                <a:off x="1632" y="3408"/>
                <a:ext cx="52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u="sng"/>
                  <a:t>MaSV</a:t>
                </a:r>
              </a:p>
            </p:txBody>
          </p:sp>
          <p:sp>
            <p:nvSpPr>
              <p:cNvPr id="58388" name="Line 49"/>
              <p:cNvSpPr>
                <a:spLocks noChangeShapeType="1"/>
              </p:cNvSpPr>
              <p:nvPr/>
            </p:nvSpPr>
            <p:spPr bwMode="auto">
              <a:xfrm>
                <a:off x="1632" y="3408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389" name="Rectangle 50"/>
              <p:cNvSpPr>
                <a:spLocks noChangeArrowheads="1"/>
              </p:cNvSpPr>
              <p:nvPr/>
            </p:nvSpPr>
            <p:spPr bwMode="auto">
              <a:xfrm>
                <a:off x="480" y="3417"/>
                <a:ext cx="519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KQua</a:t>
                </a:r>
              </a:p>
            </p:txBody>
          </p:sp>
          <p:sp>
            <p:nvSpPr>
              <p:cNvPr id="58390" name="Line 51"/>
              <p:cNvSpPr>
                <a:spLocks noChangeShapeType="1"/>
              </p:cNvSpPr>
              <p:nvPr/>
            </p:nvSpPr>
            <p:spPr bwMode="auto">
              <a:xfrm>
                <a:off x="2160" y="3408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8391" name="Rectangle 52"/>
              <p:cNvSpPr>
                <a:spLocks noChangeArrowheads="1"/>
              </p:cNvSpPr>
              <p:nvPr/>
            </p:nvSpPr>
            <p:spPr bwMode="auto">
              <a:xfrm>
                <a:off x="2160" y="3408"/>
                <a:ext cx="52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/>
                  <a:t>Diem</a:t>
                </a:r>
              </a:p>
            </p:txBody>
          </p:sp>
        </p:grpSp>
        <p:sp>
          <p:nvSpPr>
            <p:cNvPr id="58380" name="Line 62"/>
            <p:cNvSpPr>
              <a:spLocks noChangeShapeType="1"/>
            </p:cNvSpPr>
            <p:nvPr/>
          </p:nvSpPr>
          <p:spPr bwMode="auto">
            <a:xfrm flipV="1">
              <a:off x="1680" y="2352"/>
              <a:ext cx="43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58381" name="Line 63"/>
            <p:cNvSpPr>
              <a:spLocks noChangeShapeType="1"/>
            </p:cNvSpPr>
            <p:nvPr/>
          </p:nvSpPr>
          <p:spPr bwMode="auto">
            <a:xfrm flipH="1" flipV="1">
              <a:off x="2256" y="23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8382" name="Line 64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58383" name="Freeform 68"/>
            <p:cNvSpPr>
              <a:spLocks/>
            </p:cNvSpPr>
            <p:nvPr/>
          </p:nvSpPr>
          <p:spPr bwMode="auto">
            <a:xfrm>
              <a:off x="2304" y="2352"/>
              <a:ext cx="925" cy="624"/>
            </a:xfrm>
            <a:custGeom>
              <a:avLst/>
              <a:gdLst>
                <a:gd name="T0" fmla="*/ 0 w 925"/>
                <a:gd name="T1" fmla="*/ 624 h 624"/>
                <a:gd name="T2" fmla="*/ 464 w 925"/>
                <a:gd name="T3" fmla="*/ 552 h 624"/>
                <a:gd name="T4" fmla="*/ 864 w 925"/>
                <a:gd name="T5" fmla="*/ 432 h 624"/>
                <a:gd name="T6" fmla="*/ 824 w 925"/>
                <a:gd name="T7" fmla="*/ 136 h 624"/>
                <a:gd name="T8" fmla="*/ 256 w 925"/>
                <a:gd name="T9" fmla="*/ 80 h 624"/>
                <a:gd name="T10" fmla="*/ 96 w 925"/>
                <a:gd name="T11" fmla="*/ 0 h 6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25"/>
                <a:gd name="T19" fmla="*/ 0 h 624"/>
                <a:gd name="T20" fmla="*/ 925 w 925"/>
                <a:gd name="T21" fmla="*/ 624 h 6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25" h="624">
                  <a:moveTo>
                    <a:pt x="0" y="624"/>
                  </a:moveTo>
                  <a:cubicBezTo>
                    <a:pt x="77" y="612"/>
                    <a:pt x="320" y="584"/>
                    <a:pt x="464" y="552"/>
                  </a:cubicBezTo>
                  <a:cubicBezTo>
                    <a:pt x="608" y="520"/>
                    <a:pt x="804" y="501"/>
                    <a:pt x="864" y="432"/>
                  </a:cubicBezTo>
                  <a:cubicBezTo>
                    <a:pt x="924" y="363"/>
                    <a:pt x="925" y="195"/>
                    <a:pt x="824" y="136"/>
                  </a:cubicBezTo>
                  <a:cubicBezTo>
                    <a:pt x="723" y="77"/>
                    <a:pt x="377" y="103"/>
                    <a:pt x="256" y="80"/>
                  </a:cubicBezTo>
                  <a:cubicBezTo>
                    <a:pt x="135" y="57"/>
                    <a:pt x="129" y="17"/>
                    <a:pt x="96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58384" name="Freeform 70"/>
            <p:cNvSpPr>
              <a:spLocks/>
            </p:cNvSpPr>
            <p:nvPr/>
          </p:nvSpPr>
          <p:spPr bwMode="auto">
            <a:xfrm>
              <a:off x="2064" y="1335"/>
              <a:ext cx="2197" cy="2481"/>
            </a:xfrm>
            <a:custGeom>
              <a:avLst/>
              <a:gdLst>
                <a:gd name="T0" fmla="*/ 152 w 2197"/>
                <a:gd name="T1" fmla="*/ 2321 h 2481"/>
                <a:gd name="T2" fmla="*/ 1872 w 2197"/>
                <a:gd name="T3" fmla="*/ 2353 h 2481"/>
                <a:gd name="T4" fmla="*/ 2104 w 2197"/>
                <a:gd name="T5" fmla="*/ 1553 h 2481"/>
                <a:gd name="T6" fmla="*/ 1632 w 2197"/>
                <a:gd name="T7" fmla="*/ 201 h 2481"/>
                <a:gd name="T8" fmla="*/ 0 w 2197"/>
                <a:gd name="T9" fmla="*/ 345 h 24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97"/>
                <a:gd name="T16" fmla="*/ 0 h 2481"/>
                <a:gd name="T17" fmla="*/ 2197 w 2197"/>
                <a:gd name="T18" fmla="*/ 2481 h 24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97" h="2481">
                  <a:moveTo>
                    <a:pt x="152" y="2321"/>
                  </a:moveTo>
                  <a:cubicBezTo>
                    <a:pt x="437" y="2326"/>
                    <a:pt x="1547" y="2481"/>
                    <a:pt x="1872" y="2353"/>
                  </a:cubicBezTo>
                  <a:cubicBezTo>
                    <a:pt x="2197" y="2225"/>
                    <a:pt x="2144" y="1912"/>
                    <a:pt x="2104" y="1553"/>
                  </a:cubicBezTo>
                  <a:cubicBezTo>
                    <a:pt x="2064" y="1194"/>
                    <a:pt x="1983" y="402"/>
                    <a:pt x="1632" y="201"/>
                  </a:cubicBezTo>
                  <a:cubicBezTo>
                    <a:pt x="1281" y="0"/>
                    <a:pt x="636" y="173"/>
                    <a:pt x="0" y="3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59" name="Footer Placeholder 58"/>
          <p:cNvSpPr>
            <a:spLocks noGrp="1"/>
          </p:cNvSpPr>
          <p:nvPr>
            <p:ph type="ftr" sz="quarter" idx="11"/>
          </p:nvPr>
        </p:nvSpPr>
        <p:spPr>
          <a:xfrm>
            <a:off x="2590800" y="6327220"/>
            <a:ext cx="3352800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60" name="Date Placeholder 5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47F4F6-DD21-49CE-BEE2-43D19AB6410A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61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62" name="Rectangle 2"/>
          <p:cNvSpPr txBox="1">
            <a:spLocks noChangeArrowheads="1"/>
          </p:cNvSpPr>
          <p:nvPr/>
        </p:nvSpPr>
        <p:spPr bwMode="auto">
          <a:xfrm>
            <a:off x="304800" y="3048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1.5 - Các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khái niệm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>
              <a:buNone/>
            </a:pPr>
            <a:r>
              <a:rPr lang="en-US" sz="3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c. </a:t>
            </a:r>
            <a:r>
              <a:rPr lang="en-US" sz="3500" b="1" i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Thể</a:t>
            </a:r>
            <a:r>
              <a:rPr lang="en-US" sz="35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i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hiện</a:t>
            </a:r>
            <a:r>
              <a:rPr lang="en-US" sz="35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CSDL </a:t>
            </a:r>
            <a:r>
              <a:rPr lang="en-US" dirty="0"/>
              <a:t>(</a:t>
            </a:r>
            <a:r>
              <a:rPr lang="en-US" sz="2400" i="1" dirty="0"/>
              <a:t>Database Instance</a:t>
            </a:r>
            <a:r>
              <a:rPr lang="en-US" dirty="0"/>
              <a:t>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CSDL ở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CSDL</a:t>
            </a:r>
          </a:p>
        </p:txBody>
      </p:sp>
      <p:sp>
        <p:nvSpPr>
          <p:cNvPr id="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09E22C-38E7-46F2-93CA-557BEE4C8833}" type="slidenum">
              <a:rPr lang="en-US" altLang="en-US"/>
              <a:pPr>
                <a:defRPr/>
              </a:pPr>
              <a:t>39</a:t>
            </a:fld>
            <a:endParaRPr lang="en-US" altLang="en-US"/>
          </a:p>
        </p:txBody>
      </p:sp>
      <p:grpSp>
        <p:nvGrpSpPr>
          <p:cNvPr id="2" name="Group 159"/>
          <p:cNvGrpSpPr>
            <a:grpSpLocks/>
          </p:cNvGrpSpPr>
          <p:nvPr/>
        </p:nvGrpSpPr>
        <p:grpSpPr bwMode="auto">
          <a:xfrm>
            <a:off x="914400" y="5105400"/>
            <a:ext cx="3352800" cy="838200"/>
            <a:chOff x="672" y="1968"/>
            <a:chExt cx="2112" cy="528"/>
          </a:xfrm>
        </p:grpSpPr>
        <p:sp>
          <p:nvSpPr>
            <p:cNvPr id="59466" name="Rectangle 101"/>
            <p:cNvSpPr>
              <a:spLocks noChangeArrowheads="1"/>
            </p:cNvSpPr>
            <p:nvPr/>
          </p:nvSpPr>
          <p:spPr bwMode="auto">
            <a:xfrm>
              <a:off x="1152" y="1968"/>
              <a:ext cx="1632" cy="52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67" name="Text Box 102"/>
            <p:cNvSpPr txBox="1">
              <a:spLocks noChangeArrowheads="1"/>
            </p:cNvSpPr>
            <p:nvPr/>
          </p:nvSpPr>
          <p:spPr bwMode="auto">
            <a:xfrm>
              <a:off x="1152" y="1968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</a:t>
              </a:r>
            </a:p>
          </p:txBody>
        </p:sp>
        <p:sp>
          <p:nvSpPr>
            <p:cNvPr id="59468" name="Text Box 103"/>
            <p:cNvSpPr txBox="1">
              <a:spLocks noChangeArrowheads="1"/>
            </p:cNvSpPr>
            <p:nvPr/>
          </p:nvSpPr>
          <p:spPr bwMode="auto">
            <a:xfrm>
              <a:off x="1488" y="196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MaSV</a:t>
              </a:r>
            </a:p>
          </p:txBody>
        </p:sp>
        <p:sp>
          <p:nvSpPr>
            <p:cNvPr id="59469" name="Text Box 104"/>
            <p:cNvSpPr txBox="1">
              <a:spLocks noChangeArrowheads="1"/>
            </p:cNvSpPr>
            <p:nvPr/>
          </p:nvSpPr>
          <p:spPr bwMode="auto">
            <a:xfrm>
              <a:off x="1920" y="196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59470" name="Text Box 105"/>
            <p:cNvSpPr txBox="1">
              <a:spLocks noChangeArrowheads="1"/>
            </p:cNvSpPr>
            <p:nvPr/>
          </p:nvSpPr>
          <p:spPr bwMode="auto">
            <a:xfrm>
              <a:off x="2352" y="196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Khoa</a:t>
              </a:r>
            </a:p>
          </p:txBody>
        </p:sp>
        <p:grpSp>
          <p:nvGrpSpPr>
            <p:cNvPr id="3" name="Group 137"/>
            <p:cNvGrpSpPr>
              <a:grpSpLocks/>
            </p:cNvGrpSpPr>
            <p:nvPr/>
          </p:nvGrpSpPr>
          <p:grpSpPr bwMode="auto">
            <a:xfrm>
              <a:off x="1488" y="1968"/>
              <a:ext cx="864" cy="528"/>
              <a:chOff x="1488" y="1968"/>
              <a:chExt cx="864" cy="576"/>
            </a:xfrm>
          </p:grpSpPr>
          <p:sp>
            <p:nvSpPr>
              <p:cNvPr id="59482" name="Line 106"/>
              <p:cNvSpPr>
                <a:spLocks noChangeShapeType="1"/>
              </p:cNvSpPr>
              <p:nvPr/>
            </p:nvSpPr>
            <p:spPr bwMode="auto">
              <a:xfrm>
                <a:off x="1488" y="196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9483" name="Line 107"/>
              <p:cNvSpPr>
                <a:spLocks noChangeShapeType="1"/>
              </p:cNvSpPr>
              <p:nvPr/>
            </p:nvSpPr>
            <p:spPr bwMode="auto">
              <a:xfrm>
                <a:off x="1920" y="196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59484" name="Line 108"/>
              <p:cNvSpPr>
                <a:spLocks noChangeShapeType="1"/>
              </p:cNvSpPr>
              <p:nvPr/>
            </p:nvSpPr>
            <p:spPr bwMode="auto">
              <a:xfrm>
                <a:off x="2352" y="196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59472" name="Line 109"/>
            <p:cNvSpPr>
              <a:spLocks noChangeShapeType="1"/>
            </p:cNvSpPr>
            <p:nvPr/>
          </p:nvSpPr>
          <p:spPr bwMode="auto">
            <a:xfrm>
              <a:off x="1152" y="2168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73" name="Text Box 110"/>
            <p:cNvSpPr txBox="1">
              <a:spLocks noChangeArrowheads="1"/>
            </p:cNvSpPr>
            <p:nvPr/>
          </p:nvSpPr>
          <p:spPr bwMode="auto">
            <a:xfrm>
              <a:off x="1152" y="2160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Son</a:t>
              </a:r>
            </a:p>
          </p:txBody>
        </p:sp>
        <p:sp>
          <p:nvSpPr>
            <p:cNvPr id="59474" name="Text Box 111"/>
            <p:cNvSpPr txBox="1">
              <a:spLocks noChangeArrowheads="1"/>
            </p:cNvSpPr>
            <p:nvPr/>
          </p:nvSpPr>
          <p:spPr bwMode="auto">
            <a:xfrm>
              <a:off x="1488" y="216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17</a:t>
              </a:r>
            </a:p>
          </p:txBody>
        </p:sp>
        <p:sp>
          <p:nvSpPr>
            <p:cNvPr id="59475" name="Text Box 112"/>
            <p:cNvSpPr txBox="1">
              <a:spLocks noChangeArrowheads="1"/>
            </p:cNvSpPr>
            <p:nvPr/>
          </p:nvSpPr>
          <p:spPr bwMode="auto">
            <a:xfrm>
              <a:off x="1920" y="216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59476" name="Text Box 113"/>
            <p:cNvSpPr txBox="1">
              <a:spLocks noChangeArrowheads="1"/>
            </p:cNvSpPr>
            <p:nvPr/>
          </p:nvSpPr>
          <p:spPr bwMode="auto">
            <a:xfrm>
              <a:off x="2352" y="216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CNTT</a:t>
              </a:r>
            </a:p>
          </p:txBody>
        </p:sp>
        <p:sp>
          <p:nvSpPr>
            <p:cNvPr id="59477" name="Text Box 114"/>
            <p:cNvSpPr txBox="1">
              <a:spLocks noChangeArrowheads="1"/>
            </p:cNvSpPr>
            <p:nvPr/>
          </p:nvSpPr>
          <p:spPr bwMode="auto">
            <a:xfrm>
              <a:off x="1152" y="2304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Bao</a:t>
              </a:r>
            </a:p>
          </p:txBody>
        </p:sp>
        <p:sp>
          <p:nvSpPr>
            <p:cNvPr id="59478" name="Text Box 115"/>
            <p:cNvSpPr txBox="1">
              <a:spLocks noChangeArrowheads="1"/>
            </p:cNvSpPr>
            <p:nvPr/>
          </p:nvSpPr>
          <p:spPr bwMode="auto">
            <a:xfrm>
              <a:off x="1488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59479" name="Text Box 116"/>
            <p:cNvSpPr txBox="1">
              <a:spLocks noChangeArrowheads="1"/>
            </p:cNvSpPr>
            <p:nvPr/>
          </p:nvSpPr>
          <p:spPr bwMode="auto">
            <a:xfrm>
              <a:off x="1920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59480" name="Text Box 117"/>
            <p:cNvSpPr txBox="1">
              <a:spLocks noChangeArrowheads="1"/>
            </p:cNvSpPr>
            <p:nvPr/>
          </p:nvSpPr>
          <p:spPr bwMode="auto">
            <a:xfrm>
              <a:off x="2352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CNTT</a:t>
              </a:r>
            </a:p>
          </p:txBody>
        </p:sp>
        <p:sp>
          <p:nvSpPr>
            <p:cNvPr id="59481" name="Text Box 118"/>
            <p:cNvSpPr txBox="1">
              <a:spLocks noChangeArrowheads="1"/>
            </p:cNvSpPr>
            <p:nvPr/>
          </p:nvSpPr>
          <p:spPr bwMode="auto">
            <a:xfrm>
              <a:off x="672" y="1968"/>
              <a:ext cx="480" cy="2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/>
                <a:t>SVien</a:t>
              </a:r>
            </a:p>
          </p:txBody>
        </p:sp>
      </p:grpSp>
      <p:grpSp>
        <p:nvGrpSpPr>
          <p:cNvPr id="4" name="Group 158"/>
          <p:cNvGrpSpPr>
            <a:grpSpLocks/>
          </p:cNvGrpSpPr>
          <p:nvPr/>
        </p:nvGrpSpPr>
        <p:grpSpPr bwMode="auto">
          <a:xfrm>
            <a:off x="228600" y="3124200"/>
            <a:ext cx="5105400" cy="1524000"/>
            <a:chOff x="672" y="2688"/>
            <a:chExt cx="3216" cy="960"/>
          </a:xfrm>
        </p:grpSpPr>
        <p:sp>
          <p:nvSpPr>
            <p:cNvPr id="59440" name="Rectangle 119"/>
            <p:cNvSpPr>
              <a:spLocks noChangeArrowheads="1"/>
            </p:cNvSpPr>
            <p:nvPr/>
          </p:nvSpPr>
          <p:spPr bwMode="auto">
            <a:xfrm>
              <a:off x="1152" y="2688"/>
              <a:ext cx="2736" cy="96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41" name="Text Box 120"/>
            <p:cNvSpPr txBox="1">
              <a:spLocks noChangeArrowheads="1"/>
            </p:cNvSpPr>
            <p:nvPr/>
          </p:nvSpPr>
          <p:spPr bwMode="auto">
            <a:xfrm>
              <a:off x="1152" y="2688"/>
              <a:ext cx="105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TenMH</a:t>
              </a:r>
            </a:p>
          </p:txBody>
        </p:sp>
        <p:sp>
          <p:nvSpPr>
            <p:cNvPr id="59442" name="Line 127"/>
            <p:cNvSpPr>
              <a:spLocks noChangeShapeType="1"/>
            </p:cNvSpPr>
            <p:nvPr/>
          </p:nvSpPr>
          <p:spPr bwMode="auto">
            <a:xfrm>
              <a:off x="1152" y="2888"/>
              <a:ext cx="27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43" name="Text Box 128"/>
            <p:cNvSpPr txBox="1">
              <a:spLocks noChangeArrowheads="1"/>
            </p:cNvSpPr>
            <p:nvPr/>
          </p:nvSpPr>
          <p:spPr bwMode="auto">
            <a:xfrm>
              <a:off x="1152" y="2880"/>
              <a:ext cx="110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400"/>
                <a:t>Nhap mon tin hoc</a:t>
              </a:r>
            </a:p>
          </p:txBody>
        </p:sp>
        <p:sp>
          <p:nvSpPr>
            <p:cNvPr id="59444" name="Text Box 132"/>
            <p:cNvSpPr txBox="1">
              <a:spLocks noChangeArrowheads="1"/>
            </p:cNvSpPr>
            <p:nvPr/>
          </p:nvSpPr>
          <p:spPr bwMode="auto">
            <a:xfrm>
              <a:off x="1152" y="3072"/>
              <a:ext cx="105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400"/>
                <a:t>Cau truc du lieu</a:t>
              </a:r>
            </a:p>
          </p:txBody>
        </p:sp>
        <p:sp>
          <p:nvSpPr>
            <p:cNvPr id="59445" name="Text Box 136"/>
            <p:cNvSpPr txBox="1">
              <a:spLocks noChangeArrowheads="1"/>
            </p:cNvSpPr>
            <p:nvPr/>
          </p:nvSpPr>
          <p:spPr bwMode="auto">
            <a:xfrm>
              <a:off x="672" y="2688"/>
              <a:ext cx="480" cy="2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/>
                <a:t>Mhoc</a:t>
              </a:r>
            </a:p>
          </p:txBody>
        </p:sp>
        <p:sp>
          <p:nvSpPr>
            <p:cNvPr id="59446" name="Line 138"/>
            <p:cNvSpPr>
              <a:spLocks noChangeShapeType="1"/>
            </p:cNvSpPr>
            <p:nvPr/>
          </p:nvSpPr>
          <p:spPr bwMode="auto">
            <a:xfrm>
              <a:off x="2160" y="2688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47" name="Text Box 139"/>
            <p:cNvSpPr txBox="1">
              <a:spLocks noChangeArrowheads="1"/>
            </p:cNvSpPr>
            <p:nvPr/>
          </p:nvSpPr>
          <p:spPr bwMode="auto">
            <a:xfrm>
              <a:off x="1152" y="3264"/>
              <a:ext cx="110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400"/>
                <a:t>Toan roi rac</a:t>
              </a:r>
            </a:p>
          </p:txBody>
        </p:sp>
        <p:sp>
          <p:nvSpPr>
            <p:cNvPr id="59448" name="Text Box 140"/>
            <p:cNvSpPr txBox="1">
              <a:spLocks noChangeArrowheads="1"/>
            </p:cNvSpPr>
            <p:nvPr/>
          </p:nvSpPr>
          <p:spPr bwMode="auto">
            <a:xfrm>
              <a:off x="1152" y="3456"/>
              <a:ext cx="105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400"/>
                <a:t>Co so du lieu</a:t>
              </a:r>
            </a:p>
          </p:txBody>
        </p:sp>
        <p:sp>
          <p:nvSpPr>
            <p:cNvPr id="59449" name="Text Box 141"/>
            <p:cNvSpPr txBox="1">
              <a:spLocks noChangeArrowheads="1"/>
            </p:cNvSpPr>
            <p:nvPr/>
          </p:nvSpPr>
          <p:spPr bwMode="auto">
            <a:xfrm>
              <a:off x="2160" y="2688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MaMH</a:t>
              </a:r>
            </a:p>
          </p:txBody>
        </p:sp>
        <p:sp>
          <p:nvSpPr>
            <p:cNvPr id="59450" name="Text Box 142"/>
            <p:cNvSpPr txBox="1">
              <a:spLocks noChangeArrowheads="1"/>
            </p:cNvSpPr>
            <p:nvPr/>
          </p:nvSpPr>
          <p:spPr bwMode="auto">
            <a:xfrm>
              <a:off x="2160" y="28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COSC1310</a:t>
              </a:r>
            </a:p>
          </p:txBody>
        </p:sp>
        <p:sp>
          <p:nvSpPr>
            <p:cNvPr id="59451" name="Text Box 143"/>
            <p:cNvSpPr txBox="1">
              <a:spLocks noChangeArrowheads="1"/>
            </p:cNvSpPr>
            <p:nvPr/>
          </p:nvSpPr>
          <p:spPr bwMode="auto">
            <a:xfrm>
              <a:off x="2160" y="307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COSC3320</a:t>
              </a:r>
            </a:p>
          </p:txBody>
        </p:sp>
        <p:sp>
          <p:nvSpPr>
            <p:cNvPr id="59452" name="Text Box 144"/>
            <p:cNvSpPr txBox="1">
              <a:spLocks noChangeArrowheads="1"/>
            </p:cNvSpPr>
            <p:nvPr/>
          </p:nvSpPr>
          <p:spPr bwMode="auto">
            <a:xfrm>
              <a:off x="2160" y="326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MATH2410</a:t>
              </a:r>
            </a:p>
          </p:txBody>
        </p:sp>
        <p:sp>
          <p:nvSpPr>
            <p:cNvPr id="59453" name="Text Box 145"/>
            <p:cNvSpPr txBox="1">
              <a:spLocks noChangeArrowheads="1"/>
            </p:cNvSpPr>
            <p:nvPr/>
          </p:nvSpPr>
          <p:spPr bwMode="auto">
            <a:xfrm>
              <a:off x="2160" y="345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COSC3380</a:t>
              </a:r>
            </a:p>
          </p:txBody>
        </p:sp>
        <p:sp>
          <p:nvSpPr>
            <p:cNvPr id="59454" name="Line 146"/>
            <p:cNvSpPr>
              <a:spLocks noChangeShapeType="1"/>
            </p:cNvSpPr>
            <p:nvPr/>
          </p:nvSpPr>
          <p:spPr bwMode="auto">
            <a:xfrm>
              <a:off x="2832" y="2688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55" name="Text Box 147"/>
            <p:cNvSpPr txBox="1">
              <a:spLocks noChangeArrowheads="1"/>
            </p:cNvSpPr>
            <p:nvPr/>
          </p:nvSpPr>
          <p:spPr bwMode="auto">
            <a:xfrm>
              <a:off x="2832" y="2688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TinChi</a:t>
              </a:r>
            </a:p>
          </p:txBody>
        </p:sp>
        <p:sp>
          <p:nvSpPr>
            <p:cNvPr id="59456" name="Text Box 148"/>
            <p:cNvSpPr txBox="1">
              <a:spLocks noChangeArrowheads="1"/>
            </p:cNvSpPr>
            <p:nvPr/>
          </p:nvSpPr>
          <p:spPr bwMode="auto">
            <a:xfrm>
              <a:off x="3312" y="2688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Khoa</a:t>
              </a:r>
            </a:p>
          </p:txBody>
        </p:sp>
        <p:sp>
          <p:nvSpPr>
            <p:cNvPr id="59457" name="Line 149"/>
            <p:cNvSpPr>
              <a:spLocks noChangeShapeType="1"/>
            </p:cNvSpPr>
            <p:nvPr/>
          </p:nvSpPr>
          <p:spPr bwMode="auto">
            <a:xfrm>
              <a:off x="3312" y="2688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58" name="Text Box 150"/>
            <p:cNvSpPr txBox="1">
              <a:spLocks noChangeArrowheads="1"/>
            </p:cNvSpPr>
            <p:nvPr/>
          </p:nvSpPr>
          <p:spPr bwMode="auto">
            <a:xfrm>
              <a:off x="2832" y="288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59459" name="Text Box 151"/>
            <p:cNvSpPr txBox="1">
              <a:spLocks noChangeArrowheads="1"/>
            </p:cNvSpPr>
            <p:nvPr/>
          </p:nvSpPr>
          <p:spPr bwMode="auto">
            <a:xfrm>
              <a:off x="2832" y="3072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59460" name="Text Box 152"/>
            <p:cNvSpPr txBox="1">
              <a:spLocks noChangeArrowheads="1"/>
            </p:cNvSpPr>
            <p:nvPr/>
          </p:nvSpPr>
          <p:spPr bwMode="auto">
            <a:xfrm>
              <a:off x="2832" y="326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59461" name="Text Box 153"/>
            <p:cNvSpPr txBox="1">
              <a:spLocks noChangeArrowheads="1"/>
            </p:cNvSpPr>
            <p:nvPr/>
          </p:nvSpPr>
          <p:spPr bwMode="auto">
            <a:xfrm>
              <a:off x="2832" y="3456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59462" name="Text Box 154"/>
            <p:cNvSpPr txBox="1">
              <a:spLocks noChangeArrowheads="1"/>
            </p:cNvSpPr>
            <p:nvPr/>
          </p:nvSpPr>
          <p:spPr bwMode="auto">
            <a:xfrm>
              <a:off x="3312" y="2880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CNTT</a:t>
              </a:r>
            </a:p>
          </p:txBody>
        </p:sp>
        <p:sp>
          <p:nvSpPr>
            <p:cNvPr id="59463" name="Text Box 155"/>
            <p:cNvSpPr txBox="1">
              <a:spLocks noChangeArrowheads="1"/>
            </p:cNvSpPr>
            <p:nvPr/>
          </p:nvSpPr>
          <p:spPr bwMode="auto">
            <a:xfrm>
              <a:off x="3312" y="307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CNTT</a:t>
              </a:r>
            </a:p>
          </p:txBody>
        </p:sp>
        <p:sp>
          <p:nvSpPr>
            <p:cNvPr id="59464" name="Text Box 156"/>
            <p:cNvSpPr txBox="1">
              <a:spLocks noChangeArrowheads="1"/>
            </p:cNvSpPr>
            <p:nvPr/>
          </p:nvSpPr>
          <p:spPr bwMode="auto">
            <a:xfrm>
              <a:off x="3312" y="326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TOAN</a:t>
              </a:r>
            </a:p>
          </p:txBody>
        </p:sp>
        <p:sp>
          <p:nvSpPr>
            <p:cNvPr id="59465" name="Text Box 157"/>
            <p:cNvSpPr txBox="1">
              <a:spLocks noChangeArrowheads="1"/>
            </p:cNvSpPr>
            <p:nvPr/>
          </p:nvSpPr>
          <p:spPr bwMode="auto">
            <a:xfrm>
              <a:off x="3312" y="3456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CNTT</a:t>
              </a:r>
            </a:p>
          </p:txBody>
        </p:sp>
      </p:grpSp>
      <p:grpSp>
        <p:nvGrpSpPr>
          <p:cNvPr id="5" name="Group 189"/>
          <p:cNvGrpSpPr>
            <a:grpSpLocks/>
          </p:cNvGrpSpPr>
          <p:nvPr/>
        </p:nvGrpSpPr>
        <p:grpSpPr bwMode="auto">
          <a:xfrm>
            <a:off x="4876800" y="5181600"/>
            <a:ext cx="3200400" cy="1066800"/>
            <a:chOff x="3504" y="2064"/>
            <a:chExt cx="2016" cy="672"/>
          </a:xfrm>
        </p:grpSpPr>
        <p:sp>
          <p:nvSpPr>
            <p:cNvPr id="59428" name="Rectangle 161"/>
            <p:cNvSpPr>
              <a:spLocks noChangeArrowheads="1"/>
            </p:cNvSpPr>
            <p:nvPr/>
          </p:nvSpPr>
          <p:spPr bwMode="auto">
            <a:xfrm>
              <a:off x="3984" y="2064"/>
              <a:ext cx="1536" cy="67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29" name="Text Box 162"/>
            <p:cNvSpPr txBox="1">
              <a:spLocks noChangeArrowheads="1"/>
            </p:cNvSpPr>
            <p:nvPr/>
          </p:nvSpPr>
          <p:spPr bwMode="auto">
            <a:xfrm>
              <a:off x="3984" y="206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MaMH</a:t>
              </a:r>
            </a:p>
          </p:txBody>
        </p:sp>
        <p:sp>
          <p:nvSpPr>
            <p:cNvPr id="59430" name="Text Box 163"/>
            <p:cNvSpPr txBox="1">
              <a:spLocks noChangeArrowheads="1"/>
            </p:cNvSpPr>
            <p:nvPr/>
          </p:nvSpPr>
          <p:spPr bwMode="auto">
            <a:xfrm>
              <a:off x="4704" y="2064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MaMH_Truoc</a:t>
              </a:r>
            </a:p>
          </p:txBody>
        </p:sp>
        <p:sp>
          <p:nvSpPr>
            <p:cNvPr id="59431" name="Line 170"/>
            <p:cNvSpPr>
              <a:spLocks noChangeShapeType="1"/>
            </p:cNvSpPr>
            <p:nvPr/>
          </p:nvSpPr>
          <p:spPr bwMode="auto">
            <a:xfrm>
              <a:off x="3984" y="2264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32" name="Text Box 179"/>
            <p:cNvSpPr txBox="1">
              <a:spLocks noChangeArrowheads="1"/>
            </p:cNvSpPr>
            <p:nvPr/>
          </p:nvSpPr>
          <p:spPr bwMode="auto">
            <a:xfrm>
              <a:off x="3504" y="2064"/>
              <a:ext cx="480" cy="2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/>
                <a:t>DKien</a:t>
              </a:r>
            </a:p>
          </p:txBody>
        </p:sp>
        <p:sp>
          <p:nvSpPr>
            <p:cNvPr id="59433" name="Text Box 181"/>
            <p:cNvSpPr txBox="1">
              <a:spLocks noChangeArrowheads="1"/>
            </p:cNvSpPr>
            <p:nvPr/>
          </p:nvSpPr>
          <p:spPr bwMode="auto">
            <a:xfrm>
              <a:off x="3984" y="225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COSC3380</a:t>
              </a:r>
            </a:p>
          </p:txBody>
        </p:sp>
        <p:sp>
          <p:nvSpPr>
            <p:cNvPr id="59434" name="Text Box 182"/>
            <p:cNvSpPr txBox="1">
              <a:spLocks noChangeArrowheads="1"/>
            </p:cNvSpPr>
            <p:nvPr/>
          </p:nvSpPr>
          <p:spPr bwMode="auto">
            <a:xfrm>
              <a:off x="4704" y="2256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COSC3320</a:t>
              </a:r>
            </a:p>
          </p:txBody>
        </p:sp>
        <p:sp>
          <p:nvSpPr>
            <p:cNvPr id="59435" name="Text Box 183"/>
            <p:cNvSpPr txBox="1">
              <a:spLocks noChangeArrowheads="1"/>
            </p:cNvSpPr>
            <p:nvPr/>
          </p:nvSpPr>
          <p:spPr bwMode="auto">
            <a:xfrm>
              <a:off x="3984" y="240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COSC3380</a:t>
              </a:r>
            </a:p>
          </p:txBody>
        </p:sp>
        <p:sp>
          <p:nvSpPr>
            <p:cNvPr id="59436" name="Text Box 184"/>
            <p:cNvSpPr txBox="1">
              <a:spLocks noChangeArrowheads="1"/>
            </p:cNvSpPr>
            <p:nvPr/>
          </p:nvSpPr>
          <p:spPr bwMode="auto">
            <a:xfrm>
              <a:off x="4704" y="2400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MATH2410</a:t>
              </a:r>
            </a:p>
          </p:txBody>
        </p:sp>
        <p:sp>
          <p:nvSpPr>
            <p:cNvPr id="59437" name="Text Box 185"/>
            <p:cNvSpPr txBox="1">
              <a:spLocks noChangeArrowheads="1"/>
            </p:cNvSpPr>
            <p:nvPr/>
          </p:nvSpPr>
          <p:spPr bwMode="auto">
            <a:xfrm>
              <a:off x="3984" y="254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COSC3320</a:t>
              </a:r>
            </a:p>
          </p:txBody>
        </p:sp>
        <p:sp>
          <p:nvSpPr>
            <p:cNvPr id="59438" name="Text Box 186"/>
            <p:cNvSpPr txBox="1">
              <a:spLocks noChangeArrowheads="1"/>
            </p:cNvSpPr>
            <p:nvPr/>
          </p:nvSpPr>
          <p:spPr bwMode="auto">
            <a:xfrm>
              <a:off x="4704" y="2544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COSC3380</a:t>
              </a:r>
            </a:p>
          </p:txBody>
        </p:sp>
        <p:sp>
          <p:nvSpPr>
            <p:cNvPr id="59439" name="Line 188"/>
            <p:cNvSpPr>
              <a:spLocks noChangeShapeType="1"/>
            </p:cNvSpPr>
            <p:nvPr/>
          </p:nvSpPr>
          <p:spPr bwMode="auto">
            <a:xfrm>
              <a:off x="4704" y="206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grpSp>
        <p:nvGrpSpPr>
          <p:cNvPr id="6" name="Group 227"/>
          <p:cNvGrpSpPr>
            <a:grpSpLocks/>
          </p:cNvGrpSpPr>
          <p:nvPr/>
        </p:nvGrpSpPr>
        <p:grpSpPr bwMode="auto">
          <a:xfrm>
            <a:off x="5638800" y="3124200"/>
            <a:ext cx="2971800" cy="1752600"/>
            <a:chOff x="192" y="2976"/>
            <a:chExt cx="1872" cy="1104"/>
          </a:xfrm>
        </p:grpSpPr>
        <p:sp>
          <p:nvSpPr>
            <p:cNvPr id="59402" name="Rectangle 191"/>
            <p:cNvSpPr>
              <a:spLocks noChangeArrowheads="1"/>
            </p:cNvSpPr>
            <p:nvPr/>
          </p:nvSpPr>
          <p:spPr bwMode="auto">
            <a:xfrm>
              <a:off x="672" y="2976"/>
              <a:ext cx="1392" cy="1104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03" name="Text Box 192"/>
            <p:cNvSpPr txBox="1">
              <a:spLocks noChangeArrowheads="1"/>
            </p:cNvSpPr>
            <p:nvPr/>
          </p:nvSpPr>
          <p:spPr bwMode="auto">
            <a:xfrm>
              <a:off x="672" y="297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MaSV</a:t>
              </a:r>
            </a:p>
          </p:txBody>
        </p:sp>
        <p:sp>
          <p:nvSpPr>
            <p:cNvPr id="59404" name="Text Box 195"/>
            <p:cNvSpPr txBox="1">
              <a:spLocks noChangeArrowheads="1"/>
            </p:cNvSpPr>
            <p:nvPr/>
          </p:nvSpPr>
          <p:spPr bwMode="auto">
            <a:xfrm>
              <a:off x="1632" y="297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Diem</a:t>
              </a:r>
            </a:p>
          </p:txBody>
        </p:sp>
        <p:sp>
          <p:nvSpPr>
            <p:cNvPr id="59405" name="Line 200"/>
            <p:cNvSpPr>
              <a:spLocks noChangeShapeType="1"/>
            </p:cNvSpPr>
            <p:nvPr/>
          </p:nvSpPr>
          <p:spPr bwMode="auto">
            <a:xfrm>
              <a:off x="672" y="3176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06" name="Text Box 201"/>
            <p:cNvSpPr txBox="1">
              <a:spLocks noChangeArrowheads="1"/>
            </p:cNvSpPr>
            <p:nvPr/>
          </p:nvSpPr>
          <p:spPr bwMode="auto">
            <a:xfrm>
              <a:off x="672" y="316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17</a:t>
              </a:r>
            </a:p>
          </p:txBody>
        </p:sp>
        <p:sp>
          <p:nvSpPr>
            <p:cNvPr id="59407" name="Text Box 204"/>
            <p:cNvSpPr txBox="1">
              <a:spLocks noChangeArrowheads="1"/>
            </p:cNvSpPr>
            <p:nvPr/>
          </p:nvSpPr>
          <p:spPr bwMode="auto">
            <a:xfrm>
              <a:off x="1632" y="316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59408" name="Text Box 205"/>
            <p:cNvSpPr txBox="1">
              <a:spLocks noChangeArrowheads="1"/>
            </p:cNvSpPr>
            <p:nvPr/>
          </p:nvSpPr>
          <p:spPr bwMode="auto">
            <a:xfrm>
              <a:off x="672" y="331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17</a:t>
              </a:r>
            </a:p>
          </p:txBody>
        </p:sp>
        <p:sp>
          <p:nvSpPr>
            <p:cNvPr id="59409" name="Text Box 208"/>
            <p:cNvSpPr txBox="1">
              <a:spLocks noChangeArrowheads="1"/>
            </p:cNvSpPr>
            <p:nvPr/>
          </p:nvSpPr>
          <p:spPr bwMode="auto">
            <a:xfrm>
              <a:off x="1632" y="331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6</a:t>
              </a:r>
            </a:p>
          </p:txBody>
        </p:sp>
        <p:sp>
          <p:nvSpPr>
            <p:cNvPr id="59410" name="Text Box 209"/>
            <p:cNvSpPr txBox="1">
              <a:spLocks noChangeArrowheads="1"/>
            </p:cNvSpPr>
            <p:nvPr/>
          </p:nvSpPr>
          <p:spPr bwMode="auto">
            <a:xfrm>
              <a:off x="192" y="2976"/>
              <a:ext cx="480" cy="2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/>
                <a:t>KQua</a:t>
              </a:r>
            </a:p>
          </p:txBody>
        </p:sp>
        <p:sp>
          <p:nvSpPr>
            <p:cNvPr id="59411" name="Text Box 210"/>
            <p:cNvSpPr txBox="1">
              <a:spLocks noChangeArrowheads="1"/>
            </p:cNvSpPr>
            <p:nvPr/>
          </p:nvSpPr>
          <p:spPr bwMode="auto">
            <a:xfrm>
              <a:off x="1104" y="297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MaKH</a:t>
              </a:r>
            </a:p>
          </p:txBody>
        </p:sp>
        <p:sp>
          <p:nvSpPr>
            <p:cNvPr id="59412" name="Line 211"/>
            <p:cNvSpPr>
              <a:spLocks noChangeShapeType="1"/>
            </p:cNvSpPr>
            <p:nvPr/>
          </p:nvSpPr>
          <p:spPr bwMode="auto">
            <a:xfrm>
              <a:off x="1104" y="2976"/>
              <a:ext cx="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13" name="Line 212"/>
            <p:cNvSpPr>
              <a:spLocks noChangeShapeType="1"/>
            </p:cNvSpPr>
            <p:nvPr/>
          </p:nvSpPr>
          <p:spPr bwMode="auto">
            <a:xfrm>
              <a:off x="1632" y="2976"/>
              <a:ext cx="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59414" name="Text Box 213"/>
            <p:cNvSpPr txBox="1">
              <a:spLocks noChangeArrowheads="1"/>
            </p:cNvSpPr>
            <p:nvPr/>
          </p:nvSpPr>
          <p:spPr bwMode="auto">
            <a:xfrm>
              <a:off x="672" y="345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59415" name="Text Box 214"/>
            <p:cNvSpPr txBox="1">
              <a:spLocks noChangeArrowheads="1"/>
            </p:cNvSpPr>
            <p:nvPr/>
          </p:nvSpPr>
          <p:spPr bwMode="auto">
            <a:xfrm>
              <a:off x="672" y="360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59416" name="Text Box 215"/>
            <p:cNvSpPr txBox="1">
              <a:spLocks noChangeArrowheads="1"/>
            </p:cNvSpPr>
            <p:nvPr/>
          </p:nvSpPr>
          <p:spPr bwMode="auto">
            <a:xfrm>
              <a:off x="672" y="374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59417" name="Text Box 216"/>
            <p:cNvSpPr txBox="1">
              <a:spLocks noChangeArrowheads="1"/>
            </p:cNvSpPr>
            <p:nvPr/>
          </p:nvSpPr>
          <p:spPr bwMode="auto">
            <a:xfrm>
              <a:off x="672" y="388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59418" name="Text Box 217"/>
            <p:cNvSpPr txBox="1">
              <a:spLocks noChangeArrowheads="1"/>
            </p:cNvSpPr>
            <p:nvPr/>
          </p:nvSpPr>
          <p:spPr bwMode="auto">
            <a:xfrm>
              <a:off x="1104" y="316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112</a:t>
              </a:r>
            </a:p>
          </p:txBody>
        </p:sp>
        <p:sp>
          <p:nvSpPr>
            <p:cNvPr id="59419" name="Text Box 218"/>
            <p:cNvSpPr txBox="1">
              <a:spLocks noChangeArrowheads="1"/>
            </p:cNvSpPr>
            <p:nvPr/>
          </p:nvSpPr>
          <p:spPr bwMode="auto">
            <a:xfrm>
              <a:off x="1104" y="331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119</a:t>
              </a:r>
            </a:p>
          </p:txBody>
        </p:sp>
        <p:sp>
          <p:nvSpPr>
            <p:cNvPr id="59420" name="Text Box 219"/>
            <p:cNvSpPr txBox="1">
              <a:spLocks noChangeArrowheads="1"/>
            </p:cNvSpPr>
            <p:nvPr/>
          </p:nvSpPr>
          <p:spPr bwMode="auto">
            <a:xfrm>
              <a:off x="1104" y="345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85</a:t>
              </a:r>
            </a:p>
          </p:txBody>
        </p:sp>
        <p:sp>
          <p:nvSpPr>
            <p:cNvPr id="59421" name="Text Box 220"/>
            <p:cNvSpPr txBox="1">
              <a:spLocks noChangeArrowheads="1"/>
            </p:cNvSpPr>
            <p:nvPr/>
          </p:nvSpPr>
          <p:spPr bwMode="auto">
            <a:xfrm>
              <a:off x="1104" y="360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92</a:t>
              </a:r>
            </a:p>
          </p:txBody>
        </p:sp>
        <p:sp>
          <p:nvSpPr>
            <p:cNvPr id="59422" name="Text Box 221"/>
            <p:cNvSpPr txBox="1">
              <a:spLocks noChangeArrowheads="1"/>
            </p:cNvSpPr>
            <p:nvPr/>
          </p:nvSpPr>
          <p:spPr bwMode="auto">
            <a:xfrm>
              <a:off x="1104" y="374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102</a:t>
              </a:r>
            </a:p>
          </p:txBody>
        </p:sp>
        <p:sp>
          <p:nvSpPr>
            <p:cNvPr id="59423" name="Text Box 222"/>
            <p:cNvSpPr txBox="1">
              <a:spLocks noChangeArrowheads="1"/>
            </p:cNvSpPr>
            <p:nvPr/>
          </p:nvSpPr>
          <p:spPr bwMode="auto">
            <a:xfrm>
              <a:off x="1104" y="388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135</a:t>
              </a:r>
            </a:p>
          </p:txBody>
        </p:sp>
        <p:sp>
          <p:nvSpPr>
            <p:cNvPr id="59424" name="Text Box 223"/>
            <p:cNvSpPr txBox="1">
              <a:spLocks noChangeArrowheads="1"/>
            </p:cNvSpPr>
            <p:nvPr/>
          </p:nvSpPr>
          <p:spPr bwMode="auto">
            <a:xfrm>
              <a:off x="1632" y="345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59425" name="Text Box 224"/>
            <p:cNvSpPr txBox="1">
              <a:spLocks noChangeArrowheads="1"/>
            </p:cNvSpPr>
            <p:nvPr/>
          </p:nvSpPr>
          <p:spPr bwMode="auto">
            <a:xfrm>
              <a:off x="1632" y="360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9</a:t>
              </a:r>
            </a:p>
          </p:txBody>
        </p:sp>
        <p:sp>
          <p:nvSpPr>
            <p:cNvPr id="59426" name="Text Box 225"/>
            <p:cNvSpPr txBox="1">
              <a:spLocks noChangeArrowheads="1"/>
            </p:cNvSpPr>
            <p:nvPr/>
          </p:nvSpPr>
          <p:spPr bwMode="auto">
            <a:xfrm>
              <a:off x="1632" y="374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59427" name="Text Box 226"/>
            <p:cNvSpPr txBox="1">
              <a:spLocks noChangeArrowheads="1"/>
            </p:cNvSpPr>
            <p:nvPr/>
          </p:nvSpPr>
          <p:spPr bwMode="auto">
            <a:xfrm>
              <a:off x="1632" y="388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</p:grpSp>
      <p:sp>
        <p:nvSpPr>
          <p:cNvPr id="94" name="Footer Placeholder 9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95" name="Date Placeholder 9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994D33-1A66-455F-9BE2-8FA1484A1B25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6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97" name="Rectangle 2"/>
          <p:cNvSpPr txBox="1">
            <a:spLocks noChangeArrowheads="1"/>
          </p:cNvSpPr>
          <p:nvPr/>
        </p:nvSpPr>
        <p:spPr bwMode="auto">
          <a:xfrm>
            <a:off x="533400" y="228600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1.5 - Các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khái niệm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200" b="1" dirty="0"/>
              <a:t>1.6- </a:t>
            </a:r>
            <a:r>
              <a:rPr lang="en-US" sz="3200" b="1" dirty="0" err="1"/>
              <a:t>Kiến</a:t>
            </a:r>
            <a:r>
              <a:rPr lang="en-US" sz="3200" b="1" dirty="0"/>
              <a:t> </a:t>
            </a:r>
            <a:r>
              <a:rPr lang="en-US" sz="3200" b="1" dirty="0" err="1"/>
              <a:t>trúc</a:t>
            </a:r>
            <a:r>
              <a:rPr lang="en-US" sz="3200" b="1" dirty="0"/>
              <a:t> 3 </a:t>
            </a:r>
            <a:r>
              <a:rPr lang="en-US" sz="3200" b="1" dirty="0" err="1"/>
              <a:t>mức</a:t>
            </a:r>
            <a:r>
              <a:rPr lang="en-US" sz="3200" b="1" dirty="0"/>
              <a:t> (</a:t>
            </a:r>
            <a:r>
              <a:rPr lang="en-US" sz="3200" b="1" dirty="0" err="1"/>
              <a:t>lược</a:t>
            </a:r>
            <a:r>
              <a:rPr lang="en-US" sz="3200" b="1" dirty="0"/>
              <a:t> </a:t>
            </a:r>
            <a:r>
              <a:rPr lang="en-US" sz="3200" b="1" dirty="0" err="1"/>
              <a:t>đồ</a:t>
            </a:r>
            <a:r>
              <a:rPr lang="en-US" sz="3200" b="1" dirty="0"/>
              <a:t>)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Hệ</a:t>
            </a:r>
            <a:r>
              <a:rPr lang="en-US" sz="3200" b="1" dirty="0"/>
              <a:t> CSDL 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 b="1"/>
              <a:t>Kiến trúc 3 lược đồ </a:t>
            </a:r>
            <a:r>
              <a:rPr lang="en-US"/>
              <a:t>(</a:t>
            </a:r>
            <a:r>
              <a:rPr lang="en-US" sz="2000"/>
              <a:t>3 mức - theo ANSI/SPARC</a:t>
            </a:r>
            <a:r>
              <a:rPr lang="en-US"/>
              <a:t>)</a:t>
            </a:r>
          </a:p>
        </p:txBody>
      </p:sp>
      <p:sp>
        <p:nvSpPr>
          <p:cNvPr id="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5FB88-0DE8-4081-82A1-7962AE234B65}" type="slidenum">
              <a:rPr lang="en-US" altLang="en-US"/>
              <a:pPr>
                <a:defRPr/>
              </a:pPr>
              <a:t>40</a:t>
            </a:fld>
            <a:endParaRPr lang="en-US" altLang="en-US"/>
          </a:p>
        </p:txBody>
      </p:sp>
      <p:grpSp>
        <p:nvGrpSpPr>
          <p:cNvPr id="38918" name="Group 4"/>
          <p:cNvGrpSpPr>
            <a:grpSpLocks/>
          </p:cNvGrpSpPr>
          <p:nvPr/>
        </p:nvGrpSpPr>
        <p:grpSpPr bwMode="auto">
          <a:xfrm>
            <a:off x="457200" y="1828800"/>
            <a:ext cx="8305800" cy="4648200"/>
            <a:chOff x="288" y="1152"/>
            <a:chExt cx="5280" cy="2928"/>
          </a:xfrm>
        </p:grpSpPr>
        <p:sp>
          <p:nvSpPr>
            <p:cNvPr id="38919" name="Rectangle 5"/>
            <p:cNvSpPr>
              <a:spLocks noChangeArrowheads="1"/>
            </p:cNvSpPr>
            <p:nvPr/>
          </p:nvSpPr>
          <p:spPr bwMode="auto">
            <a:xfrm>
              <a:off x="288" y="2112"/>
              <a:ext cx="5280" cy="912"/>
            </a:xfrm>
            <a:prstGeom prst="rect">
              <a:avLst/>
            </a:prstGeom>
            <a:solidFill>
              <a:srgbClr val="FF99CC">
                <a:alpha val="54901"/>
              </a:srgbClr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8920" name="Rectangle 6"/>
            <p:cNvSpPr>
              <a:spLocks noChangeArrowheads="1"/>
            </p:cNvSpPr>
            <p:nvPr/>
          </p:nvSpPr>
          <p:spPr bwMode="auto">
            <a:xfrm>
              <a:off x="288" y="3024"/>
              <a:ext cx="5280" cy="1056"/>
            </a:xfrm>
            <a:prstGeom prst="rect">
              <a:avLst/>
            </a:prstGeom>
            <a:solidFill>
              <a:srgbClr val="FFCC99">
                <a:alpha val="54901"/>
              </a:srgbClr>
            </a:solidFill>
            <a:ln w="12700" algn="ctr">
              <a:solidFill>
                <a:srgbClr val="FFCC99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8921" name="Rectangle 7"/>
            <p:cNvSpPr>
              <a:spLocks noChangeArrowheads="1"/>
            </p:cNvSpPr>
            <p:nvPr/>
          </p:nvSpPr>
          <p:spPr bwMode="auto">
            <a:xfrm>
              <a:off x="288" y="1152"/>
              <a:ext cx="5280" cy="960"/>
            </a:xfrm>
            <a:prstGeom prst="rect">
              <a:avLst/>
            </a:prstGeom>
            <a:solidFill>
              <a:srgbClr val="99CCFF">
                <a:alpha val="54901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grpSp>
          <p:nvGrpSpPr>
            <p:cNvPr id="38922" name="Group 8"/>
            <p:cNvGrpSpPr>
              <a:grpSpLocks/>
            </p:cNvGrpSpPr>
            <p:nvPr/>
          </p:nvGrpSpPr>
          <p:grpSpPr bwMode="auto">
            <a:xfrm>
              <a:off x="2255" y="1201"/>
              <a:ext cx="720" cy="575"/>
              <a:chOff x="2880" y="1391"/>
              <a:chExt cx="720" cy="575"/>
            </a:xfrm>
          </p:grpSpPr>
          <p:grpSp>
            <p:nvGrpSpPr>
              <p:cNvPr id="38955" name="Group 9"/>
              <p:cNvGrpSpPr>
                <a:grpSpLocks/>
              </p:cNvGrpSpPr>
              <p:nvPr/>
            </p:nvGrpSpPr>
            <p:grpSpPr bwMode="auto">
              <a:xfrm>
                <a:off x="3107" y="1391"/>
                <a:ext cx="205" cy="385"/>
                <a:chOff x="515" y="1775"/>
                <a:chExt cx="239" cy="529"/>
              </a:xfrm>
            </p:grpSpPr>
            <p:sp>
              <p:nvSpPr>
                <p:cNvPr id="38957" name="Oval 10"/>
                <p:cNvSpPr>
                  <a:spLocks noChangeArrowheads="1"/>
                </p:cNvSpPr>
                <p:nvPr/>
              </p:nvSpPr>
              <p:spPr bwMode="auto">
                <a:xfrm>
                  <a:off x="534" y="1775"/>
                  <a:ext cx="200" cy="197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grpSp>
              <p:nvGrpSpPr>
                <p:cNvPr id="38958" name="Group 11"/>
                <p:cNvGrpSpPr>
                  <a:grpSpLocks/>
                </p:cNvGrpSpPr>
                <p:nvPr/>
              </p:nvGrpSpPr>
              <p:grpSpPr bwMode="auto">
                <a:xfrm>
                  <a:off x="515" y="2146"/>
                  <a:ext cx="239" cy="158"/>
                  <a:chOff x="515" y="2146"/>
                  <a:chExt cx="239" cy="158"/>
                </a:xfrm>
              </p:grpSpPr>
              <p:sp>
                <p:nvSpPr>
                  <p:cNvPr id="38962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5" y="2146"/>
                    <a:ext cx="120" cy="15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  <p:sp>
                <p:nvSpPr>
                  <p:cNvPr id="3896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34" y="2146"/>
                    <a:ext cx="120" cy="15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</p:grpSp>
            <p:grpSp>
              <p:nvGrpSpPr>
                <p:cNvPr id="38959" name="Group 14"/>
                <p:cNvGrpSpPr>
                  <a:grpSpLocks/>
                </p:cNvGrpSpPr>
                <p:nvPr/>
              </p:nvGrpSpPr>
              <p:grpSpPr bwMode="auto">
                <a:xfrm>
                  <a:off x="516" y="1980"/>
                  <a:ext cx="237" cy="162"/>
                  <a:chOff x="516" y="1980"/>
                  <a:chExt cx="237" cy="162"/>
                </a:xfrm>
              </p:grpSpPr>
              <p:sp>
                <p:nvSpPr>
                  <p:cNvPr id="38960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634" y="1980"/>
                    <a:ext cx="0" cy="1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  <p:sp>
                <p:nvSpPr>
                  <p:cNvPr id="38961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516" y="2040"/>
                    <a:ext cx="237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</p:grpSp>
          </p:grpSp>
          <p:sp>
            <p:nvSpPr>
              <p:cNvPr id="38956" name="Rectangle 17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720" cy="19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lang="fr-FR" sz="1400">
                    <a:latin typeface="Arial" charset="0"/>
                  </a:rPr>
                  <a:t>Người dùng</a:t>
                </a:r>
              </a:p>
            </p:txBody>
          </p:sp>
        </p:grpSp>
        <p:sp>
          <p:nvSpPr>
            <p:cNvPr id="38923" name="Rectangle 18"/>
            <p:cNvSpPr>
              <a:spLocks noChangeArrowheads="1"/>
            </p:cNvSpPr>
            <p:nvPr/>
          </p:nvSpPr>
          <p:spPr bwMode="auto">
            <a:xfrm>
              <a:off x="2010" y="1825"/>
              <a:ext cx="1162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/>
                <a:t>Lược đồ ngoài 1</a:t>
              </a:r>
            </a:p>
          </p:txBody>
        </p:sp>
        <p:sp>
          <p:nvSpPr>
            <p:cNvPr id="38924" name="Rectangle 19"/>
            <p:cNvSpPr>
              <a:spLocks noChangeArrowheads="1"/>
            </p:cNvSpPr>
            <p:nvPr/>
          </p:nvSpPr>
          <p:spPr bwMode="auto">
            <a:xfrm>
              <a:off x="3978" y="1825"/>
              <a:ext cx="1163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/>
                <a:t>Lược đồ ngoài n</a:t>
              </a:r>
            </a:p>
          </p:txBody>
        </p:sp>
        <p:sp>
          <p:nvSpPr>
            <p:cNvPr id="38925" name="Text Box 20"/>
            <p:cNvSpPr txBox="1">
              <a:spLocks noChangeArrowheads="1"/>
            </p:cNvSpPr>
            <p:nvPr/>
          </p:nvSpPr>
          <p:spPr bwMode="auto">
            <a:xfrm>
              <a:off x="3311" y="1825"/>
              <a:ext cx="57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…</a:t>
              </a:r>
            </a:p>
          </p:txBody>
        </p:sp>
        <p:sp>
          <p:nvSpPr>
            <p:cNvPr id="38926" name="Rectangle 21"/>
            <p:cNvSpPr>
              <a:spLocks noChangeArrowheads="1"/>
            </p:cNvSpPr>
            <p:nvPr/>
          </p:nvSpPr>
          <p:spPr bwMode="auto">
            <a:xfrm>
              <a:off x="2869" y="2448"/>
              <a:ext cx="1365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/>
                <a:t>Lược đồ quan niệm</a:t>
              </a:r>
            </a:p>
          </p:txBody>
        </p:sp>
        <p:sp>
          <p:nvSpPr>
            <p:cNvPr id="38927" name="Rectangle 22"/>
            <p:cNvSpPr>
              <a:spLocks noChangeArrowheads="1"/>
            </p:cNvSpPr>
            <p:nvPr/>
          </p:nvSpPr>
          <p:spPr bwMode="auto">
            <a:xfrm>
              <a:off x="3066" y="3121"/>
              <a:ext cx="1029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/>
                <a:t>Lược đồ trong</a:t>
              </a:r>
            </a:p>
          </p:txBody>
        </p:sp>
        <p:grpSp>
          <p:nvGrpSpPr>
            <p:cNvPr id="38928" name="Group 23"/>
            <p:cNvGrpSpPr>
              <a:grpSpLocks/>
            </p:cNvGrpSpPr>
            <p:nvPr/>
          </p:nvGrpSpPr>
          <p:grpSpPr bwMode="auto">
            <a:xfrm>
              <a:off x="2927" y="3600"/>
              <a:ext cx="1296" cy="432"/>
              <a:chOff x="2208" y="3552"/>
              <a:chExt cx="1296" cy="432"/>
            </a:xfrm>
          </p:grpSpPr>
          <p:sp>
            <p:nvSpPr>
              <p:cNvPr id="38952" name="AutoShape 24"/>
              <p:cNvSpPr>
                <a:spLocks noChangeArrowheads="1"/>
              </p:cNvSpPr>
              <p:nvPr/>
            </p:nvSpPr>
            <p:spPr bwMode="auto">
              <a:xfrm>
                <a:off x="2208" y="3552"/>
                <a:ext cx="336" cy="432"/>
              </a:xfrm>
              <a:prstGeom prst="flowChartMagneticDisk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8953" name="AutoShape 25"/>
              <p:cNvSpPr>
                <a:spLocks noChangeArrowheads="1"/>
              </p:cNvSpPr>
              <p:nvPr/>
            </p:nvSpPr>
            <p:spPr bwMode="auto">
              <a:xfrm>
                <a:off x="2688" y="3552"/>
                <a:ext cx="336" cy="432"/>
              </a:xfrm>
              <a:prstGeom prst="flowChartMagneticDisk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8954" name="AutoShape 26"/>
              <p:cNvSpPr>
                <a:spLocks noChangeArrowheads="1"/>
              </p:cNvSpPr>
              <p:nvPr/>
            </p:nvSpPr>
            <p:spPr bwMode="auto">
              <a:xfrm>
                <a:off x="3168" y="3552"/>
                <a:ext cx="336" cy="432"/>
              </a:xfrm>
              <a:prstGeom prst="flowChartMagneticDisk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8929" name="Line 27"/>
            <p:cNvSpPr>
              <a:spLocks noChangeShapeType="1"/>
            </p:cNvSpPr>
            <p:nvPr/>
          </p:nvSpPr>
          <p:spPr bwMode="auto">
            <a:xfrm>
              <a:off x="3599" y="2688"/>
              <a:ext cx="1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8930" name="Line 28"/>
            <p:cNvSpPr>
              <a:spLocks noChangeShapeType="1"/>
            </p:cNvSpPr>
            <p:nvPr/>
          </p:nvSpPr>
          <p:spPr bwMode="auto">
            <a:xfrm>
              <a:off x="2639" y="2064"/>
              <a:ext cx="43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8931" name="Line 29"/>
            <p:cNvSpPr>
              <a:spLocks noChangeShapeType="1"/>
            </p:cNvSpPr>
            <p:nvPr/>
          </p:nvSpPr>
          <p:spPr bwMode="auto">
            <a:xfrm flipH="1">
              <a:off x="4031" y="2064"/>
              <a:ext cx="528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grpSp>
          <p:nvGrpSpPr>
            <p:cNvPr id="38932" name="Group 30"/>
            <p:cNvGrpSpPr>
              <a:grpSpLocks/>
            </p:cNvGrpSpPr>
            <p:nvPr/>
          </p:nvGrpSpPr>
          <p:grpSpPr bwMode="auto">
            <a:xfrm>
              <a:off x="4223" y="1201"/>
              <a:ext cx="720" cy="575"/>
              <a:chOff x="2880" y="1391"/>
              <a:chExt cx="720" cy="575"/>
            </a:xfrm>
          </p:grpSpPr>
          <p:grpSp>
            <p:nvGrpSpPr>
              <p:cNvPr id="38943" name="Group 31"/>
              <p:cNvGrpSpPr>
                <a:grpSpLocks/>
              </p:cNvGrpSpPr>
              <p:nvPr/>
            </p:nvGrpSpPr>
            <p:grpSpPr bwMode="auto">
              <a:xfrm>
                <a:off x="3107" y="1391"/>
                <a:ext cx="205" cy="385"/>
                <a:chOff x="515" y="1775"/>
                <a:chExt cx="239" cy="529"/>
              </a:xfrm>
            </p:grpSpPr>
            <p:sp>
              <p:nvSpPr>
                <p:cNvPr id="38945" name="Oval 32"/>
                <p:cNvSpPr>
                  <a:spLocks noChangeArrowheads="1"/>
                </p:cNvSpPr>
                <p:nvPr/>
              </p:nvSpPr>
              <p:spPr bwMode="auto">
                <a:xfrm>
                  <a:off x="534" y="1775"/>
                  <a:ext cx="200" cy="197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grpSp>
              <p:nvGrpSpPr>
                <p:cNvPr id="38946" name="Group 33"/>
                <p:cNvGrpSpPr>
                  <a:grpSpLocks/>
                </p:cNvGrpSpPr>
                <p:nvPr/>
              </p:nvGrpSpPr>
              <p:grpSpPr bwMode="auto">
                <a:xfrm>
                  <a:off x="515" y="2146"/>
                  <a:ext cx="239" cy="158"/>
                  <a:chOff x="515" y="2146"/>
                  <a:chExt cx="239" cy="158"/>
                </a:xfrm>
              </p:grpSpPr>
              <p:sp>
                <p:nvSpPr>
                  <p:cNvPr id="38950" name="Line 3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15" y="2146"/>
                    <a:ext cx="120" cy="15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  <p:sp>
                <p:nvSpPr>
                  <p:cNvPr id="38951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634" y="2146"/>
                    <a:ext cx="120" cy="15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</p:grpSp>
            <p:grpSp>
              <p:nvGrpSpPr>
                <p:cNvPr id="38947" name="Group 36"/>
                <p:cNvGrpSpPr>
                  <a:grpSpLocks/>
                </p:cNvGrpSpPr>
                <p:nvPr/>
              </p:nvGrpSpPr>
              <p:grpSpPr bwMode="auto">
                <a:xfrm>
                  <a:off x="516" y="1980"/>
                  <a:ext cx="237" cy="162"/>
                  <a:chOff x="516" y="1980"/>
                  <a:chExt cx="237" cy="162"/>
                </a:xfrm>
              </p:grpSpPr>
              <p:sp>
                <p:nvSpPr>
                  <p:cNvPr id="38948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634" y="1980"/>
                    <a:ext cx="0" cy="1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  <p:sp>
                <p:nvSpPr>
                  <p:cNvPr id="38949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516" y="2040"/>
                    <a:ext cx="237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vi-VN"/>
                  </a:p>
                </p:txBody>
              </p:sp>
            </p:grpSp>
          </p:grpSp>
          <p:sp>
            <p:nvSpPr>
              <p:cNvPr id="38944" name="Rectangle 39"/>
              <p:cNvSpPr>
                <a:spLocks noChangeArrowheads="1"/>
              </p:cNvSpPr>
              <p:nvPr/>
            </p:nvSpPr>
            <p:spPr bwMode="auto">
              <a:xfrm>
                <a:off x="2880" y="1776"/>
                <a:ext cx="720" cy="19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lang="fr-FR" sz="1400">
                    <a:latin typeface="Arial" charset="0"/>
                  </a:rPr>
                  <a:t>Người dùng</a:t>
                </a:r>
              </a:p>
            </p:txBody>
          </p:sp>
        </p:grpSp>
        <p:sp>
          <p:nvSpPr>
            <p:cNvPr id="38933" name="Text Box 40"/>
            <p:cNvSpPr txBox="1">
              <a:spLocks noChangeArrowheads="1"/>
            </p:cNvSpPr>
            <p:nvPr/>
          </p:nvSpPr>
          <p:spPr bwMode="auto">
            <a:xfrm>
              <a:off x="1631" y="2160"/>
              <a:ext cx="1104" cy="32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Ánh xạ ngoài/</a:t>
              </a:r>
              <a:br>
                <a:rPr lang="en-US" sz="1400"/>
              </a:br>
              <a:r>
                <a:rPr lang="en-US" sz="1400"/>
                <a:t>Ánh xạ quan niệm</a:t>
              </a:r>
            </a:p>
          </p:txBody>
        </p:sp>
        <p:sp>
          <p:nvSpPr>
            <p:cNvPr id="38934" name="Text Box 41"/>
            <p:cNvSpPr txBox="1">
              <a:spLocks noChangeArrowheads="1"/>
            </p:cNvSpPr>
            <p:nvPr/>
          </p:nvSpPr>
          <p:spPr bwMode="auto">
            <a:xfrm>
              <a:off x="432" y="1584"/>
              <a:ext cx="96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400" b="1"/>
                <a:t>Mức ngoài</a:t>
              </a:r>
            </a:p>
          </p:txBody>
        </p:sp>
        <p:sp>
          <p:nvSpPr>
            <p:cNvPr id="38935" name="Text Box 42"/>
            <p:cNvSpPr txBox="1">
              <a:spLocks noChangeArrowheads="1"/>
            </p:cNvSpPr>
            <p:nvPr/>
          </p:nvSpPr>
          <p:spPr bwMode="auto">
            <a:xfrm>
              <a:off x="431" y="2448"/>
              <a:ext cx="110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400" b="1"/>
                <a:t>Mức quan niệm</a:t>
              </a:r>
            </a:p>
          </p:txBody>
        </p:sp>
        <p:sp>
          <p:nvSpPr>
            <p:cNvPr id="38936" name="Text Box 43"/>
            <p:cNvSpPr txBox="1">
              <a:spLocks noChangeArrowheads="1"/>
            </p:cNvSpPr>
            <p:nvPr/>
          </p:nvSpPr>
          <p:spPr bwMode="auto">
            <a:xfrm>
              <a:off x="432" y="3408"/>
              <a:ext cx="110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400" b="1"/>
                <a:t>Mức trong</a:t>
              </a:r>
            </a:p>
          </p:txBody>
        </p:sp>
        <p:sp>
          <p:nvSpPr>
            <p:cNvPr id="38937" name="Text Box 44"/>
            <p:cNvSpPr txBox="1">
              <a:spLocks noChangeArrowheads="1"/>
            </p:cNvSpPr>
            <p:nvPr/>
          </p:nvSpPr>
          <p:spPr bwMode="auto">
            <a:xfrm>
              <a:off x="1679" y="2688"/>
              <a:ext cx="1104" cy="32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Ánh xạ quan niệm/</a:t>
              </a:r>
              <a:br>
                <a:rPr lang="en-US" sz="1400"/>
              </a:br>
              <a:r>
                <a:rPr lang="en-US" sz="1400"/>
                <a:t>Ánh xạ trong</a:t>
              </a:r>
            </a:p>
          </p:txBody>
        </p:sp>
        <p:grpSp>
          <p:nvGrpSpPr>
            <p:cNvPr id="38938" name="Group 45"/>
            <p:cNvGrpSpPr>
              <a:grpSpLocks/>
            </p:cNvGrpSpPr>
            <p:nvPr/>
          </p:nvGrpSpPr>
          <p:grpSpPr bwMode="auto">
            <a:xfrm>
              <a:off x="3071" y="3360"/>
              <a:ext cx="1009" cy="288"/>
              <a:chOff x="3167" y="3360"/>
              <a:chExt cx="1009" cy="288"/>
            </a:xfrm>
          </p:grpSpPr>
          <p:sp>
            <p:nvSpPr>
              <p:cNvPr id="38939" name="Line 46"/>
              <p:cNvSpPr>
                <a:spLocks noChangeShapeType="1"/>
              </p:cNvSpPr>
              <p:nvPr/>
            </p:nvSpPr>
            <p:spPr bwMode="auto">
              <a:xfrm>
                <a:off x="3167" y="3504"/>
                <a:ext cx="10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8940" name="Line 47"/>
              <p:cNvSpPr>
                <a:spLocks noChangeShapeType="1"/>
              </p:cNvSpPr>
              <p:nvPr/>
            </p:nvSpPr>
            <p:spPr bwMode="auto">
              <a:xfrm flipH="1">
                <a:off x="3167" y="3504"/>
                <a:ext cx="1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8941" name="Line 48"/>
              <p:cNvSpPr>
                <a:spLocks noChangeShapeType="1"/>
              </p:cNvSpPr>
              <p:nvPr/>
            </p:nvSpPr>
            <p:spPr bwMode="auto">
              <a:xfrm flipH="1">
                <a:off x="4175" y="3504"/>
                <a:ext cx="1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8942" name="Line 49"/>
              <p:cNvSpPr>
                <a:spLocks noChangeShapeType="1"/>
              </p:cNvSpPr>
              <p:nvPr/>
            </p:nvSpPr>
            <p:spPr bwMode="auto">
              <a:xfrm>
                <a:off x="3696" y="336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</p:grpSp>
      </p:grpSp>
      <p:sp>
        <p:nvSpPr>
          <p:cNvPr id="53" name="Footer Placeholder 5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54" name="Date Placeholder 5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5F1EB1-DE4E-4FC9-912F-A33ACA009CE4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55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 b="1" i="1" dirty="0" err="1"/>
              <a:t>Mức</a:t>
            </a:r>
            <a:r>
              <a:rPr lang="en-US" b="1" i="1" dirty="0"/>
              <a:t> </a:t>
            </a:r>
            <a:r>
              <a:rPr lang="en-US" b="1" i="1" dirty="0" err="1"/>
              <a:t>trong</a:t>
            </a:r>
            <a:r>
              <a:rPr lang="en-US" b="1" i="1" dirty="0"/>
              <a:t> </a:t>
            </a:r>
            <a:r>
              <a:rPr lang="en-US" dirty="0"/>
              <a:t>(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CSDL</a:t>
            </a:r>
          </a:p>
          <a:p>
            <a:r>
              <a:rPr lang="en-US" b="1" i="1" dirty="0" err="1"/>
              <a:t>Mức</a:t>
            </a:r>
            <a:r>
              <a:rPr lang="en-US" b="1" i="1" dirty="0"/>
              <a:t> </a:t>
            </a:r>
            <a:r>
              <a:rPr lang="en-US" b="1" i="1" dirty="0" err="1"/>
              <a:t>quan</a:t>
            </a:r>
            <a:r>
              <a:rPr lang="en-US" b="1" i="1" dirty="0"/>
              <a:t> </a:t>
            </a:r>
            <a:r>
              <a:rPr lang="en-US" b="1" i="1" dirty="0" err="1"/>
              <a:t>niệm</a:t>
            </a:r>
            <a:r>
              <a:rPr lang="en-US" b="1" i="1" dirty="0"/>
              <a:t> </a:t>
            </a:r>
            <a:r>
              <a:rPr lang="en-US" dirty="0"/>
              <a:t>(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CSDL </a:t>
            </a:r>
            <a:r>
              <a:rPr lang="en-US" dirty="0" err="1"/>
              <a:t>cho</a:t>
            </a:r>
            <a:r>
              <a:rPr lang="en-US" dirty="0"/>
              <a:t> 1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Che </a:t>
            </a:r>
            <a:r>
              <a:rPr lang="en-US" dirty="0" err="1"/>
              <a:t>bớt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r>
              <a:rPr lang="en-US" b="1" i="1" dirty="0" err="1"/>
              <a:t>Mức</a:t>
            </a:r>
            <a:r>
              <a:rPr lang="en-US" b="1" i="1" dirty="0"/>
              <a:t> </a:t>
            </a:r>
            <a:r>
              <a:rPr lang="en-US" b="1" i="1" dirty="0" err="1"/>
              <a:t>ngoài</a:t>
            </a:r>
            <a:r>
              <a:rPr lang="en-US" b="1" i="1" dirty="0"/>
              <a:t> </a:t>
            </a:r>
            <a:r>
              <a:rPr lang="en-US" dirty="0"/>
              <a:t>(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(view)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CSDL </a:t>
            </a:r>
            <a:r>
              <a:rPr lang="en-US" dirty="0" err="1"/>
              <a:t>mà</a:t>
            </a:r>
            <a:r>
              <a:rPr lang="en-US" dirty="0"/>
              <a:t> 1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giấu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CSDL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38377C-50E0-481E-A6E5-4682BD5545E8}" type="slidenum">
              <a:rPr lang="en-US" altLang="en-US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01B6FF-463C-446E-AB51-1E80F35B6333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200" b="1"/>
              <a:t>1.6- Kiến trúc 3 mức của Hệ CSDL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 b="1" i="1" dirty="0" err="1"/>
              <a:t>Kiến</a:t>
            </a:r>
            <a:r>
              <a:rPr lang="en-US" b="1" i="1" dirty="0"/>
              <a:t> </a:t>
            </a:r>
            <a:r>
              <a:rPr lang="en-US" b="1" i="1" dirty="0" err="1"/>
              <a:t>trúc</a:t>
            </a:r>
            <a:r>
              <a:rPr lang="en-US" b="1" i="1" dirty="0"/>
              <a:t> 3 </a:t>
            </a:r>
            <a:r>
              <a:rPr lang="en-US" b="1" i="1" dirty="0" err="1"/>
              <a:t>mức</a:t>
            </a:r>
            <a:r>
              <a:rPr lang="en-US" b="1" i="1" dirty="0"/>
              <a:t> </a:t>
            </a:r>
            <a:r>
              <a:rPr lang="en-US" b="1" i="1" dirty="0" err="1"/>
              <a:t>nhằm</a:t>
            </a:r>
            <a:r>
              <a:rPr lang="en-US" b="1" i="1" dirty="0"/>
              <a:t> </a:t>
            </a:r>
            <a:r>
              <a:rPr lang="en-US" b="1" i="1" dirty="0" err="1"/>
              <a:t>đảm</a:t>
            </a:r>
            <a:r>
              <a:rPr lang="en-US" b="1" i="1" dirty="0"/>
              <a:t> </a:t>
            </a:r>
            <a:r>
              <a:rPr lang="en-US" b="1" i="1" dirty="0" err="1"/>
              <a:t>bảo</a:t>
            </a:r>
            <a:r>
              <a:rPr lang="en-US" b="1" i="1" dirty="0"/>
              <a:t> </a:t>
            </a:r>
            <a:r>
              <a:rPr lang="en-US" b="1" i="1" dirty="0" err="1"/>
              <a:t>Độc</a:t>
            </a:r>
            <a:r>
              <a:rPr lang="en-US" b="1" i="1" dirty="0"/>
              <a:t> </a:t>
            </a:r>
            <a:r>
              <a:rPr lang="en-US" b="1" i="1" dirty="0" err="1"/>
              <a:t>lập</a:t>
            </a:r>
            <a:r>
              <a:rPr lang="en-US" b="1" i="1" dirty="0"/>
              <a:t> </a:t>
            </a:r>
            <a:r>
              <a:rPr lang="en-US" b="1" i="1" dirty="0" err="1"/>
              <a:t>dữ</a:t>
            </a:r>
            <a:r>
              <a:rPr lang="en-US" b="1" i="1" dirty="0"/>
              <a:t> </a:t>
            </a:r>
            <a:r>
              <a:rPr lang="en-US" b="1" i="1" dirty="0" err="1"/>
              <a:t>liệu</a:t>
            </a:r>
            <a:r>
              <a:rPr lang="en-US" b="1" i="1" dirty="0"/>
              <a:t> </a:t>
            </a:r>
          </a:p>
          <a:p>
            <a:pPr lvl="1">
              <a:buFont typeface="Courier New" pitchFamily="49" charset="0"/>
              <a:buChar char="o"/>
            </a:pPr>
            <a:r>
              <a:rPr lang="en-US" i="1" dirty="0" err="1"/>
              <a:t>Độc</a:t>
            </a:r>
            <a:r>
              <a:rPr lang="en-US" i="1" dirty="0"/>
              <a:t> </a:t>
            </a:r>
            <a:r>
              <a:rPr lang="en-US" i="1" dirty="0" err="1"/>
              <a:t>lập</a:t>
            </a:r>
            <a:r>
              <a:rPr lang="en-US" i="1" dirty="0"/>
              <a:t> logic</a:t>
            </a:r>
          </a:p>
          <a:p>
            <a:pPr lvl="2"/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>
              <a:buFont typeface="Courier New" pitchFamily="49" charset="0"/>
              <a:buChar char="o"/>
            </a:pPr>
            <a:r>
              <a:rPr lang="en-US" i="1" dirty="0" err="1"/>
              <a:t>Độc</a:t>
            </a:r>
            <a:r>
              <a:rPr lang="en-US" i="1" dirty="0"/>
              <a:t> </a:t>
            </a:r>
            <a:r>
              <a:rPr lang="en-US" i="1" dirty="0" err="1"/>
              <a:t>lập</a:t>
            </a:r>
            <a:r>
              <a:rPr lang="en-US" i="1" dirty="0"/>
              <a:t> </a:t>
            </a:r>
            <a:r>
              <a:rPr lang="en-US" i="1" dirty="0" err="1"/>
              <a:t>vật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endParaRPr lang="en-US" i="1" dirty="0"/>
          </a:p>
          <a:p>
            <a:pPr lvl="2"/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ngoài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F003FE-F9AF-45C2-8F58-8DC78033D286}" type="slidenum">
              <a:rPr lang="en-US" altLang="en-US"/>
              <a:pPr>
                <a:defRPr/>
              </a:pPr>
              <a:t>42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DF78CB-8CB4-4E5C-9FD5-B0D78BBD4F98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200" b="1" dirty="0"/>
              <a:t>1.6- </a:t>
            </a:r>
            <a:r>
              <a:rPr lang="en-US" sz="3200" b="1" dirty="0" err="1"/>
              <a:t>Kiến</a:t>
            </a:r>
            <a:r>
              <a:rPr lang="en-US" sz="3200" b="1" dirty="0"/>
              <a:t> </a:t>
            </a:r>
            <a:r>
              <a:rPr lang="en-US" sz="3200" b="1" dirty="0" err="1"/>
              <a:t>trúc</a:t>
            </a:r>
            <a:r>
              <a:rPr lang="en-US" sz="3200" b="1" dirty="0"/>
              <a:t> 3 </a:t>
            </a:r>
            <a:r>
              <a:rPr lang="en-US" sz="3200" b="1" dirty="0" err="1"/>
              <a:t>mức</a:t>
            </a:r>
            <a:r>
              <a:rPr lang="en-US" sz="3200" b="1" dirty="0"/>
              <a:t>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Hệ</a:t>
            </a:r>
            <a:r>
              <a:rPr lang="en-US" sz="3200" b="1" dirty="0"/>
              <a:t> CSDL </a:t>
            </a:r>
          </a:p>
        </p:txBody>
      </p:sp>
    </p:spTree>
  </p:cSld>
  <p:clrMapOvr>
    <a:masterClrMapping/>
  </p:clrMapOvr>
  <p:transition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Nội dung chi tiết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05800" cy="5257800"/>
          </a:xfrm>
        </p:spPr>
        <p:txBody>
          <a:bodyPr/>
          <a:lstStyle/>
          <a:p>
            <a:r>
              <a:rPr lang="en-US">
                <a:solidFill>
                  <a:srgbClr val="777777"/>
                </a:solidFill>
              </a:rPr>
              <a:t>Giới thiệu</a:t>
            </a:r>
          </a:p>
          <a:p>
            <a:r>
              <a:rPr lang="en-US">
                <a:solidFill>
                  <a:srgbClr val="777777"/>
                </a:solidFill>
              </a:rPr>
              <a:t>Quá trình phát triển</a:t>
            </a:r>
          </a:p>
          <a:p>
            <a:r>
              <a:rPr lang="en-US">
                <a:solidFill>
                  <a:srgbClr val="777777"/>
                </a:solidFill>
              </a:rPr>
              <a:t>Một số đặc tính của CSDL</a:t>
            </a:r>
          </a:p>
          <a:p>
            <a:r>
              <a:rPr lang="en-US">
                <a:solidFill>
                  <a:srgbClr val="777777"/>
                </a:solidFill>
              </a:rPr>
              <a:t>Người sử dụng CSDL</a:t>
            </a:r>
          </a:p>
          <a:p>
            <a:r>
              <a:rPr lang="en-US">
                <a:solidFill>
                  <a:srgbClr val="777777"/>
                </a:solidFill>
              </a:rPr>
              <a:t>Các khái niệm</a:t>
            </a:r>
          </a:p>
          <a:p>
            <a:r>
              <a:rPr lang="en-US">
                <a:solidFill>
                  <a:srgbClr val="777777"/>
                </a:solidFill>
              </a:rPr>
              <a:t>Kiến trúc của Hệ CSDL</a:t>
            </a:r>
          </a:p>
          <a:p>
            <a:r>
              <a:rPr lang="en-US" b="1"/>
              <a:t>Các tính năng của HQT CSDL</a:t>
            </a:r>
          </a:p>
          <a:p>
            <a:r>
              <a:rPr lang="en-US">
                <a:solidFill>
                  <a:srgbClr val="777777"/>
                </a:solidFill>
              </a:rPr>
              <a:t>Ngôn ngữ CSDL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530213-DEA2-449C-B3DC-FED9BC8194A5}" type="slidenum">
              <a:rPr lang="en-US" altLang="en-US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5192B1-9EA4-4101-8DF6-75269DD1274F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</p:spTree>
  </p:cSld>
  <p:clrMapOvr>
    <a:masterClrMapping/>
  </p:clrMapOvr>
  <p:transition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2000" b="1"/>
              <a:t>1.7 </a:t>
            </a:r>
            <a:r>
              <a:rPr lang="en-US" sz="2800" b="1"/>
              <a:t>- Các tính năng của HQT CSDL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/>
              <a:t>1. </a:t>
            </a:r>
            <a:r>
              <a:rPr lang="en-US" b="1" i="1"/>
              <a:t>Kiểm soát được tính dư thừa của dữ liệu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Tích hợp các nhu cầu dữ liệu của người dùng để xây dựng một CSDL thống nhất</a:t>
            </a:r>
          </a:p>
          <a:p>
            <a:pPr>
              <a:buNone/>
            </a:pPr>
            <a:r>
              <a:rPr lang="en-US"/>
              <a:t>2. </a:t>
            </a:r>
            <a:r>
              <a:rPr lang="en-US" b="1" i="1"/>
              <a:t>Chia sẻ dữ liệu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Trong môi trường đa người dùng, các HQT phải cho phép truy xuất dữ liệu đồng thời</a:t>
            </a:r>
          </a:p>
          <a:p>
            <a:pPr>
              <a:buNone/>
            </a:pPr>
            <a:r>
              <a:rPr lang="en-US"/>
              <a:t>3. </a:t>
            </a:r>
            <a:r>
              <a:rPr lang="en-US" b="1" i="1"/>
              <a:t>Hạn chế những truy cập không hợp lệ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Từng người dùng và nhóm người dùng có một quyền (tài khoản và mật mã) nhất định để truy xuất dữ liệu</a:t>
            </a:r>
          </a:p>
          <a:p>
            <a:pPr>
              <a:buNone/>
            </a:pPr>
            <a:r>
              <a:rPr lang="en-US"/>
              <a:t>4. </a:t>
            </a:r>
            <a:r>
              <a:rPr lang="en-US" b="1" i="1"/>
              <a:t>Cung cấp nhiều giao diện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HQT cung cấp ngôn ngữ giữa CSDL và người dùng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920406-4CE5-4FFA-824B-13A3EF1E4168}" type="slidenum">
              <a:rPr lang="en-US" altLang="en-US"/>
              <a:pPr>
                <a:defRPr/>
              </a:pPr>
              <a:t>44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7F419B-E1EE-41CA-8E28-C0452CF7C253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 sz="2000"/>
              <a:t>5. </a:t>
            </a:r>
            <a:r>
              <a:rPr lang="en-US" b="1" i="1"/>
              <a:t>Đảm bảo các ràng buộc toàn vẹn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RBTV (</a:t>
            </a:r>
            <a:r>
              <a:rPr lang="en-US" sz="1800" i="1"/>
              <a:t>Integrity Constraints</a:t>
            </a:r>
            <a:r>
              <a:rPr lang="en-US"/>
              <a:t>) là những qui định cần được thỏa mãn để đảm bảo dữ liệu luôn phản ánh đúng ngữ nghĩa của thế giới thực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Một số ràng buộc có thể được khai báo với HQT và HQT sẽ tự động kiểm tra. 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Một số ràng buộc khác được kiểm tra nhờ chương trình ứng dụng</a:t>
            </a:r>
          </a:p>
          <a:p>
            <a:pPr>
              <a:buNone/>
            </a:pPr>
            <a:r>
              <a:rPr lang="en-US" sz="1800"/>
              <a:t>6</a:t>
            </a:r>
            <a:r>
              <a:rPr lang="en-US"/>
              <a:t>. </a:t>
            </a:r>
            <a:r>
              <a:rPr lang="en-US" b="1" i="1"/>
              <a:t>Khả năng sao lưu, phục hồi khi gặp sự cố</a:t>
            </a:r>
          </a:p>
          <a:p>
            <a:pPr lvl="1">
              <a:buFont typeface="Courier New" pitchFamily="49" charset="0"/>
              <a:buChar char="o"/>
            </a:pPr>
            <a:r>
              <a:rPr lang="en-US"/>
              <a:t>Có khả năng khôi phục dữ liệu khi có sự hư hỏng về phần cứng hoặc phần mềm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673DC9-536B-41D2-8A20-839ED48049BF}" type="slidenum">
              <a:rPr lang="en-US" altLang="en-US"/>
              <a:pPr>
                <a:defRPr/>
              </a:pPr>
              <a:t>45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15B612-4683-4228-ABDE-3943793AEED2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57200" y="354013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1.7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 Các tính năng của HQT CSDL</a:t>
            </a:r>
          </a:p>
        </p:txBody>
      </p:sp>
    </p:spTree>
  </p:cSld>
  <p:clrMapOvr>
    <a:masterClrMapping/>
  </p:clrMapOvr>
  <p:transition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 b="1" i="1" dirty="0" err="1"/>
              <a:t>Các</a:t>
            </a:r>
            <a:r>
              <a:rPr lang="en-US" b="1" i="1" dirty="0"/>
              <a:t> </a:t>
            </a:r>
            <a:r>
              <a:rPr lang="en-US" b="1" i="1" dirty="0" err="1"/>
              <a:t>tính</a:t>
            </a:r>
            <a:r>
              <a:rPr lang="en-US" b="1" i="1" dirty="0"/>
              <a:t> </a:t>
            </a:r>
            <a:r>
              <a:rPr lang="en-US" b="1" i="1" dirty="0" err="1"/>
              <a:t>năng</a:t>
            </a:r>
            <a:r>
              <a:rPr lang="en-US" b="1" i="1" dirty="0"/>
              <a:t> </a:t>
            </a:r>
            <a:r>
              <a:rPr lang="en-US" b="1" i="1" dirty="0" err="1"/>
              <a:t>khác</a:t>
            </a:r>
            <a:endParaRPr lang="en-US" b="1" i="1" dirty="0"/>
          </a:p>
          <a:p>
            <a:pPr lvl="1"/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(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DBA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pPr lvl="1"/>
            <a:r>
              <a:rPr lang="en-US" dirty="0" err="1"/>
              <a:t>Uyển</a:t>
            </a:r>
            <a:r>
              <a:rPr lang="en-US" dirty="0"/>
              <a:t> </a:t>
            </a:r>
            <a:r>
              <a:rPr lang="en-US" dirty="0" err="1"/>
              <a:t>chuyển</a:t>
            </a:r>
            <a:endParaRPr lang="en-US" dirty="0"/>
          </a:p>
          <a:p>
            <a:pPr lvl="2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,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CSDL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, HQT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/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2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CSDL,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71EB4E-7CA5-4E06-B666-A01D48939931}" type="slidenum">
              <a:rPr lang="en-US" altLang="en-US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DEF264-C24D-4C7D-B883-B28E30719E77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2000" b="1"/>
              <a:t>1.7 </a:t>
            </a:r>
            <a:r>
              <a:rPr lang="en-US" sz="2800" b="1"/>
              <a:t>- Các tính năng của HQT CSDL</a:t>
            </a:r>
          </a:p>
        </p:txBody>
      </p:sp>
    </p:spTree>
  </p:cSld>
  <p:clrMapOvr>
    <a:masterClrMapping/>
  </p:clrMapOvr>
  <p:transition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/>
              <a:t>Phân loại HQTCSDL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i="1"/>
              <a:t>Theo mô hình </a:t>
            </a:r>
            <a:r>
              <a:rPr lang="en-US" i="1"/>
              <a:t>: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mô hình mạng,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mô hình phân cấp,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mô hình quan hệ,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mô hình đối tượng,…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i="1"/>
              <a:t>Theo số người dùng</a:t>
            </a:r>
            <a:r>
              <a:rPr lang="en-US" i="1"/>
              <a:t>: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đơn người dùng,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đa người dùng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i="1"/>
              <a:t>Theo sự phân tán của dữ liệu</a:t>
            </a:r>
            <a:r>
              <a:rPr lang="en-US" i="1"/>
              <a:t>: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tập trung, 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phân tán (thuần nhất hoặc không thuần nhất)</a:t>
            </a:r>
          </a:p>
          <a:p>
            <a:pPr lv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71EB4E-7CA5-4E06-B666-A01D48939931}" type="slidenum">
              <a:rPr lang="en-US" altLang="en-US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DEF264-C24D-4C7D-B883-B28E30719E77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2000" b="1"/>
              <a:t>1.7 </a:t>
            </a:r>
            <a:r>
              <a:rPr lang="en-US" sz="2800" b="1"/>
              <a:t>- Các tính năng của HQT CSDL</a:t>
            </a:r>
          </a:p>
        </p:txBody>
      </p:sp>
    </p:spTree>
  </p:cSld>
  <p:clrMapOvr>
    <a:masterClrMapping/>
  </p:clrMapOvr>
  <p:transition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Nội dung chi tiết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05800" cy="5257800"/>
          </a:xfrm>
        </p:spPr>
        <p:txBody>
          <a:bodyPr/>
          <a:lstStyle/>
          <a:p>
            <a:r>
              <a:rPr lang="en-US">
                <a:solidFill>
                  <a:srgbClr val="777777"/>
                </a:solidFill>
              </a:rPr>
              <a:t>Giới thiệu</a:t>
            </a:r>
          </a:p>
          <a:p>
            <a:r>
              <a:rPr lang="en-US">
                <a:solidFill>
                  <a:srgbClr val="777777"/>
                </a:solidFill>
              </a:rPr>
              <a:t>Quá trình phát triển</a:t>
            </a:r>
          </a:p>
          <a:p>
            <a:r>
              <a:rPr lang="en-US">
                <a:solidFill>
                  <a:srgbClr val="777777"/>
                </a:solidFill>
              </a:rPr>
              <a:t>Một số đặc tính của CSDL</a:t>
            </a:r>
          </a:p>
          <a:p>
            <a:r>
              <a:rPr lang="en-US">
                <a:solidFill>
                  <a:srgbClr val="777777"/>
                </a:solidFill>
              </a:rPr>
              <a:t>Người sử dụng CSDL</a:t>
            </a:r>
          </a:p>
          <a:p>
            <a:r>
              <a:rPr lang="en-US">
                <a:solidFill>
                  <a:srgbClr val="777777"/>
                </a:solidFill>
              </a:rPr>
              <a:t>Các khái niệm</a:t>
            </a:r>
          </a:p>
          <a:p>
            <a:r>
              <a:rPr lang="en-US">
                <a:solidFill>
                  <a:srgbClr val="777777"/>
                </a:solidFill>
              </a:rPr>
              <a:t>Kiến trúc của Hệ CSDL</a:t>
            </a:r>
          </a:p>
          <a:p>
            <a:r>
              <a:rPr lang="en-US">
                <a:solidFill>
                  <a:srgbClr val="777777"/>
                </a:solidFill>
              </a:rPr>
              <a:t>Các tính năng của HQT CSDL</a:t>
            </a:r>
          </a:p>
          <a:p>
            <a:r>
              <a:rPr lang="en-US" b="1"/>
              <a:t>Ngôn ngữ CSDL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0BF249-4F7F-4A2E-B86F-D30A92EFECD7}" type="slidenum">
              <a:rPr lang="en-US" altLang="en-US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B47D8-0DAF-49E0-BEBF-AFF120126AC0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2400" b="1"/>
              <a:t>1.8- </a:t>
            </a:r>
            <a:r>
              <a:rPr lang="en-US" sz="3200" b="1"/>
              <a:t>Ngôn ngữ CSDL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 dirty="0"/>
              <a:t>1. </a:t>
            </a:r>
            <a:r>
              <a:rPr lang="en-US" b="1" i="1" dirty="0" err="1"/>
              <a:t>Ngôn</a:t>
            </a:r>
            <a:r>
              <a:rPr lang="en-US" b="1" i="1" dirty="0"/>
              <a:t> </a:t>
            </a:r>
            <a:r>
              <a:rPr lang="en-US" b="1" i="1" dirty="0" err="1"/>
              <a:t>ngữ</a:t>
            </a:r>
            <a:r>
              <a:rPr lang="en-US" b="1" i="1" dirty="0"/>
              <a:t> </a:t>
            </a:r>
            <a:r>
              <a:rPr lang="en-US" b="1" i="1" dirty="0" err="1"/>
              <a:t>định</a:t>
            </a:r>
            <a:r>
              <a:rPr lang="en-US" b="1" i="1" dirty="0"/>
              <a:t> </a:t>
            </a:r>
            <a:r>
              <a:rPr lang="en-US" b="1" i="1" dirty="0" err="1"/>
              <a:t>nghĩa</a:t>
            </a:r>
            <a:r>
              <a:rPr lang="en-US" b="1" i="1" dirty="0"/>
              <a:t> </a:t>
            </a:r>
            <a:r>
              <a:rPr lang="en-US" b="1" i="1" dirty="0" err="1"/>
              <a:t>dữ</a:t>
            </a:r>
            <a:r>
              <a:rPr lang="en-US" b="1" i="1" dirty="0"/>
              <a:t> </a:t>
            </a:r>
            <a:r>
              <a:rPr lang="en-US" b="1" i="1" dirty="0" err="1"/>
              <a:t>liệu</a:t>
            </a:r>
            <a:r>
              <a:rPr lang="en-US" b="1" i="1" dirty="0"/>
              <a:t> </a:t>
            </a:r>
            <a:r>
              <a:rPr lang="en-US" sz="2000" dirty="0"/>
              <a:t>(DDL – Data Definition Language)</a:t>
            </a:r>
            <a:endParaRPr lang="en-US" dirty="0"/>
          </a:p>
          <a:p>
            <a:pPr lvl="2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csdl</a:t>
            </a:r>
            <a:r>
              <a:rPr lang="en-US" dirty="0"/>
              <a:t>  </a:t>
            </a:r>
          </a:p>
          <a:p>
            <a:pPr lvl="2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DBA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DBMS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DDL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en-US" dirty="0"/>
          </a:p>
          <a:p>
            <a:pPr>
              <a:buNone/>
            </a:pPr>
            <a:r>
              <a:rPr lang="en-US" sz="2000" b="1" i="1" dirty="0" err="1"/>
              <a:t>Ví</a:t>
            </a:r>
            <a:r>
              <a:rPr lang="en-US" sz="2000" b="1" i="1" dirty="0"/>
              <a:t> </a:t>
            </a:r>
            <a:r>
              <a:rPr lang="en-US" sz="2000" b="1" i="1" dirty="0" err="1"/>
              <a:t>dụ</a:t>
            </a:r>
            <a:r>
              <a:rPr lang="en-US" sz="2000" b="1" i="1" dirty="0"/>
              <a:t>: </a:t>
            </a:r>
          </a:p>
          <a:p>
            <a:pPr lvl="1">
              <a:buFont typeface="Arial" charset="0"/>
              <a:buNone/>
            </a:pPr>
            <a:r>
              <a:rPr lang="en-US" dirty="0"/>
              <a:t>CREATE TABLE employees ( </a:t>
            </a:r>
          </a:p>
          <a:p>
            <a:pPr lvl="1">
              <a:buFont typeface="Arial" charset="0"/>
              <a:buNone/>
            </a:pPr>
            <a:r>
              <a:rPr lang="en-US" dirty="0"/>
              <a:t>					id INTEGER PRIMARY KEY, </a:t>
            </a:r>
          </a:p>
          <a:p>
            <a:pPr lvl="1">
              <a:buFont typeface="Arial" charset="0"/>
              <a:buNone/>
            </a:pPr>
            <a:r>
              <a:rPr lang="en-US" dirty="0"/>
              <a:t>					</a:t>
            </a:r>
            <a:r>
              <a:rPr lang="en-US" dirty="0" err="1"/>
              <a:t>first_name</a:t>
            </a:r>
            <a:r>
              <a:rPr lang="en-US" dirty="0"/>
              <a:t> CHAR(50) null, </a:t>
            </a:r>
          </a:p>
          <a:p>
            <a:pPr lvl="1">
              <a:buFont typeface="Arial" charset="0"/>
              <a:buNone/>
            </a:pPr>
            <a:r>
              <a:rPr lang="en-US" dirty="0"/>
              <a:t>					</a:t>
            </a:r>
            <a:r>
              <a:rPr lang="en-US" dirty="0" err="1"/>
              <a:t>last_name</a:t>
            </a:r>
            <a:r>
              <a:rPr lang="en-US" dirty="0"/>
              <a:t> CHAR(75) not null, </a:t>
            </a:r>
          </a:p>
          <a:p>
            <a:pPr lvl="1">
              <a:buFont typeface="Arial" charset="0"/>
              <a:buNone/>
            </a:pPr>
            <a:r>
              <a:rPr lang="en-US" dirty="0"/>
              <a:t>					</a:t>
            </a:r>
            <a:r>
              <a:rPr lang="en-US" dirty="0" err="1"/>
              <a:t>date_of_birth</a:t>
            </a:r>
            <a:r>
              <a:rPr lang="en-US" dirty="0"/>
              <a:t> DATE null );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CF5DA5-B6DB-4C59-8606-A3A86BD7C1FB}" type="slidenum">
              <a:rPr lang="en-US" altLang="en-US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BAA6D5-BD1B-4C22-B6E8-0C2CD7BBB37C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/>
              <a:t>2. </a:t>
            </a:r>
            <a:r>
              <a:rPr lang="en-US" b="1" i="1"/>
              <a:t>Ngôn ngữ thao tác dữ liệu </a:t>
            </a:r>
            <a:r>
              <a:rPr lang="en-US" sz="2000"/>
              <a:t>(DML – Data Manipulation Language)</a:t>
            </a:r>
            <a:endParaRPr lang="en-US"/>
          </a:p>
          <a:p>
            <a:pPr lvl="2"/>
            <a:r>
              <a:rPr lang="en-US"/>
              <a:t>Cho phép truy xuất, thêm, xóa, sửa dữ liệu</a:t>
            </a:r>
          </a:p>
          <a:p>
            <a:pPr lvl="2"/>
            <a:r>
              <a:rPr lang="en-US"/>
              <a:t>Mức cao (phi thủ tục): SQL</a:t>
            </a:r>
          </a:p>
          <a:p>
            <a:pPr lvl="2"/>
            <a:r>
              <a:rPr lang="en-US"/>
              <a:t>Mức thấp (thủ tục): được nhúng trong một ngôn ngữ lập trình “vạn năng”.</a:t>
            </a:r>
          </a:p>
          <a:p>
            <a:pPr lvl="1"/>
            <a:endParaRPr lang="en-US"/>
          </a:p>
          <a:p>
            <a:pPr>
              <a:buNone/>
            </a:pPr>
            <a:r>
              <a:rPr lang="en-US"/>
              <a:t>Ví dụ </a:t>
            </a:r>
          </a:p>
          <a:p>
            <a:pPr lvl="1"/>
            <a:r>
              <a:rPr lang="en-US"/>
              <a:t>Các câu lệnh trong SQL: SELECT, INSERT, UPDATE, và DELETE,..</a:t>
            </a:r>
          </a:p>
          <a:p>
            <a:pPr lvl="1"/>
            <a:r>
              <a:rPr lang="en-US"/>
              <a:t>SELECT id, last_name FROM employees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804A6-6D93-4FA1-B687-0DDB65D31626}" type="slidenum">
              <a:rPr lang="en-US" altLang="en-US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26B5C2-B415-41DA-958C-CEC52474398D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57200" y="354013"/>
            <a:ext cx="82296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1.8-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Ngôn ngữ CSDL</a:t>
            </a:r>
          </a:p>
        </p:txBody>
      </p:sp>
    </p:spTree>
  </p:cSld>
  <p:clrMapOvr>
    <a:masterClrMapping/>
  </p:clrMapOvr>
  <p:transition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1"/>
            <a:ext cx="8229600" cy="4800600"/>
          </a:xfrm>
        </p:spPr>
        <p:txBody>
          <a:bodyPr/>
          <a:lstStyle/>
          <a:p>
            <a:pPr>
              <a:buNone/>
            </a:pPr>
            <a:r>
              <a:rPr lang="en-US"/>
              <a:t>3. </a:t>
            </a:r>
            <a:r>
              <a:rPr lang="en-US" b="1" i="1"/>
              <a:t>Ngôn ngữ điều khiển giao dịch </a:t>
            </a:r>
            <a:r>
              <a:rPr lang="en-US" sz="2000"/>
              <a:t>(Transaction Control Language - TCL)</a:t>
            </a:r>
            <a:endParaRPr lang="en-US"/>
          </a:p>
          <a:p>
            <a:pPr lvl="1"/>
            <a:r>
              <a:rPr lang="en-US" sz="2100"/>
              <a:t>Đảm bảo tính toàn vẹn dữ liệu khi thực hiện các tác vụ có sự thay đổi dữ liệu</a:t>
            </a:r>
          </a:p>
          <a:p>
            <a:pPr lvl="1"/>
            <a:r>
              <a:rPr lang="en-US" sz="2100"/>
              <a:t>Các câu lệnh SQL tương ứng: </a:t>
            </a:r>
          </a:p>
          <a:p>
            <a:pPr lvl="2"/>
            <a:r>
              <a:rPr lang="en-US" sz="1800"/>
              <a:t>COMMIT, ROLLBACK, và SAVEPOINT.  </a:t>
            </a:r>
          </a:p>
          <a:p>
            <a:pPr lvl="2"/>
            <a:endParaRPr lang="en-US" sz="1800"/>
          </a:p>
          <a:p>
            <a:pPr>
              <a:buNone/>
            </a:pPr>
            <a:r>
              <a:rPr lang="en-US"/>
              <a:t>4. </a:t>
            </a:r>
            <a:r>
              <a:rPr lang="en-US" b="1" i="1"/>
              <a:t>Ngôn ngữ điều khiển dữ liệu </a:t>
            </a:r>
            <a:r>
              <a:rPr lang="en-US" sz="1800"/>
              <a:t>(Data Control Language - DCL) </a:t>
            </a:r>
            <a:endParaRPr lang="en-US"/>
          </a:p>
          <a:p>
            <a:pPr lvl="1"/>
            <a:r>
              <a:rPr lang="en-US" sz="2100"/>
              <a:t>Cung cấp các tính năng bảo vệ cho các đối tượng của CSDL</a:t>
            </a:r>
          </a:p>
          <a:p>
            <a:pPr lvl="1"/>
            <a:r>
              <a:rPr lang="en-US" sz="2100"/>
              <a:t>Các câu lệnh SQL tương ứng: </a:t>
            </a:r>
          </a:p>
          <a:p>
            <a:pPr lvl="2"/>
            <a:r>
              <a:rPr lang="en-US" sz="1800"/>
              <a:t>GRANT và REVOKE.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6EDE3F-FF0D-486D-BFF4-03855D0DFEEB}" type="slidenum">
              <a:rPr lang="en-US" altLang="en-US"/>
              <a:pPr>
                <a:defRPr/>
              </a:pPr>
              <a:t>51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A6E12D-512C-480A-98ED-73FFF58F0A16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2400" b="1"/>
              <a:t>1.8- </a:t>
            </a:r>
            <a:r>
              <a:rPr lang="en-US" sz="3200" b="1"/>
              <a:t>Ngôn ngữ CSDL</a:t>
            </a:r>
          </a:p>
        </p:txBody>
      </p:sp>
    </p:spTree>
  </p:cSld>
  <p:clrMapOvr>
    <a:masterClrMapping/>
  </p:clrMapOvr>
  <p:transition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2800" b="1" i="1"/>
              <a:t>Câu hỏi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marL="1125537" lvl="2" indent="-457200">
              <a:buAutoNum type="arabicPeriod"/>
            </a:pPr>
            <a:r>
              <a:rPr lang="en-US"/>
              <a:t>Phân biệt các khái niệm: dữ liệu, cơ sở dữ liệu, hệ quản trị cơ sở dữ liệu, hệ cơ sở dữ liệu.</a:t>
            </a:r>
          </a:p>
          <a:p>
            <a:pPr marL="1125537" lvl="2" indent="-457200">
              <a:buAutoNum type="arabicPeriod"/>
            </a:pPr>
            <a:r>
              <a:rPr lang="en-US"/>
              <a:t>Thế nào là độc lập dữ liệu, độc lập logic và độc lập vật lý.</a:t>
            </a:r>
          </a:p>
          <a:p>
            <a:pPr marL="1125537" lvl="2" indent="-457200">
              <a:buAutoNum type="arabicPeriod"/>
            </a:pPr>
            <a:r>
              <a:rPr lang="en-US"/>
              <a:t>Khái niệm mô hình, lược đồ, thể hiện của cơ sở dữ liệu.</a:t>
            </a:r>
          </a:p>
          <a:p>
            <a:pPr marL="1125537" lvl="2" indent="-457200">
              <a:buAutoNum type="arabicPeriod"/>
            </a:pPr>
            <a:r>
              <a:rPr lang="en-US"/>
              <a:t>Các tính năng chính của HQTCSDL</a:t>
            </a:r>
          </a:p>
          <a:p>
            <a:pPr marL="1125537" lvl="2" indent="-457200">
              <a:buAutoNum type="arabicPeriod"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5C7DB7-B63C-4E0D-AE77-F2A2C0CEAB77}" type="slidenum">
              <a:rPr lang="en-US" altLang="en-US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F8BEAB-2940-464B-BA5B-1C210528D661}" type="datetime13">
              <a:rPr lang="vi-VN" altLang="en-US" smtClean="0"/>
              <a:pPr>
                <a:defRPr/>
              </a:pPr>
              <a:t>11:20:51</a:t>
            </a:fld>
            <a:endParaRPr lang="en-US" altLang="en-US"/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8334</TotalTime>
  <Words>5013</Words>
  <Application>Microsoft Office PowerPoint</Application>
  <PresentationFormat>On-screen Show (4:3)</PresentationFormat>
  <Paragraphs>1137</Paragraphs>
  <Slides>52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Calibri</vt:lpstr>
      <vt:lpstr>Constantia</vt:lpstr>
      <vt:lpstr>Courier New</vt:lpstr>
      <vt:lpstr>Tahoma</vt:lpstr>
      <vt:lpstr>Times New Roman</vt:lpstr>
      <vt:lpstr>Verdana</vt:lpstr>
      <vt:lpstr>Wingdings</vt:lpstr>
      <vt:lpstr>Wingdings 2</vt:lpstr>
      <vt:lpstr>Flow</vt:lpstr>
      <vt:lpstr>Nội dung lý thuyết 45 giờ (lt + bt + tự học):   1. Mở đầu: Một số khái niệm  2. KN Mô hình, lược đồ  3. Mô hình thực thể - liên kết  4. Mô hình quan hệ  5. Phụ thuộc hàm  6. Đại số quan hệ  7. Các dạng chuẩn và chuẩn hóa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1.1 Mở đầu</vt:lpstr>
      <vt:lpstr>1.1 Mở đầu</vt:lpstr>
      <vt:lpstr>1.1 Mở đầu</vt:lpstr>
      <vt:lpstr>1.1 Mở đầu</vt:lpstr>
      <vt:lpstr>1.1 Mở đầu</vt:lpstr>
      <vt:lpstr>Một ví dụ về CSDL: Quản lý Đào tạo</vt:lpstr>
      <vt:lpstr>Một ví dụ về CSDL: Quản lý Đào tạo</vt:lpstr>
      <vt:lpstr>Một ví dụ về CSDL: Quản lý Đào tạo</vt:lpstr>
      <vt:lpstr>Một ví dụ về CSDL: Quản lý Dự án</vt:lpstr>
      <vt:lpstr>PowerPoint Presentation</vt:lpstr>
      <vt:lpstr>Nội dung chi tiết</vt:lpstr>
      <vt:lpstr>1.2 Quá trình phát triển</vt:lpstr>
      <vt:lpstr>1.2 Quá trình phát triển</vt:lpstr>
      <vt:lpstr>1.2 Quá trình phát triển</vt:lpstr>
      <vt:lpstr>1.2 Quá trình phát triển </vt:lpstr>
      <vt:lpstr>Nội dung chi tiết</vt:lpstr>
      <vt:lpstr>1.3- Một số đặc tính của CSDL</vt:lpstr>
      <vt:lpstr>   Tính độc lập</vt:lpstr>
      <vt:lpstr>PowerPoint Presentation</vt:lpstr>
      <vt:lpstr>1.3 - Một số đặc tính của CSDL</vt:lpstr>
      <vt:lpstr>Nội dung chi tiết</vt:lpstr>
      <vt:lpstr> Quản trị viên (DBA)- quản lý hệ CSDL</vt:lpstr>
      <vt:lpstr> Người dùng cuối </vt:lpstr>
      <vt:lpstr>Nội dung chi tiết</vt:lpstr>
      <vt:lpstr>a. Mô hình dữ liệu</vt:lpstr>
      <vt:lpstr>PowerPoint Presentation</vt:lpstr>
      <vt:lpstr>Ví dụ mô hình ER</vt:lpstr>
      <vt:lpstr>Ví dụ mô hình đối tượng</vt:lpstr>
      <vt:lpstr>Ví dụ mô hình quan hệ</vt:lpstr>
      <vt:lpstr>Ví dụ mô hình mạng</vt:lpstr>
      <vt:lpstr>Ví dụ mô hình phân cấp</vt:lpstr>
      <vt:lpstr>b. Lược đồ </vt:lpstr>
      <vt:lpstr>PowerPoint Presentation</vt:lpstr>
      <vt:lpstr>1.6- Kiến trúc 3 mức (lược đồ) của Hệ CSDL </vt:lpstr>
      <vt:lpstr>1.6- Kiến trúc 3 mức của Hệ CSDL </vt:lpstr>
      <vt:lpstr>1.6- Kiến trúc 3 mức của Hệ CSDL </vt:lpstr>
      <vt:lpstr>Nội dung chi tiết</vt:lpstr>
      <vt:lpstr>1.7 - Các tính năng của HQT CSDL</vt:lpstr>
      <vt:lpstr>PowerPoint Presentation</vt:lpstr>
      <vt:lpstr>1.7 - Các tính năng của HQT CSDL</vt:lpstr>
      <vt:lpstr>1.7 - Các tính năng của HQT CSDL</vt:lpstr>
      <vt:lpstr>Nội dung chi tiết</vt:lpstr>
      <vt:lpstr>1.8- Ngôn ngữ CSDL</vt:lpstr>
      <vt:lpstr>PowerPoint Presentation</vt:lpstr>
      <vt:lpstr>1.8- Ngôn ngữ CSDL</vt:lpstr>
      <vt:lpstr>Câu hỏi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Asuman Dogac</dc:creator>
  <cp:lastModifiedBy>Vũ Bá Duy</cp:lastModifiedBy>
  <cp:revision>519</cp:revision>
  <dcterms:created xsi:type="dcterms:W3CDTF">2003-05-25T12:47:52Z</dcterms:created>
  <dcterms:modified xsi:type="dcterms:W3CDTF">2025-09-08T04:22:04Z</dcterms:modified>
</cp:coreProperties>
</file>